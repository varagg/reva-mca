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569" r:id="rId2"/>
    <p:sldId id="574" r:id="rId3"/>
    <p:sldId id="575" r:id="rId4"/>
    <p:sldId id="576" r:id="rId5"/>
    <p:sldId id="580" r:id="rId6"/>
    <p:sldId id="581" r:id="rId7"/>
    <p:sldId id="577" r:id="rId8"/>
    <p:sldId id="578" r:id="rId9"/>
    <p:sldId id="579" r:id="rId10"/>
    <p:sldId id="582" r:id="rId11"/>
    <p:sldId id="583" r:id="rId12"/>
    <p:sldId id="584" r:id="rId13"/>
    <p:sldId id="585" r:id="rId14"/>
    <p:sldId id="595" r:id="rId15"/>
    <p:sldId id="596" r:id="rId16"/>
    <p:sldId id="597" r:id="rId17"/>
    <p:sldId id="598" r:id="rId18"/>
    <p:sldId id="599" r:id="rId19"/>
    <p:sldId id="600" r:id="rId20"/>
    <p:sldId id="601" r:id="rId21"/>
    <p:sldId id="602" r:id="rId22"/>
    <p:sldId id="603" r:id="rId23"/>
    <p:sldId id="604" r:id="rId24"/>
    <p:sldId id="606" r:id="rId25"/>
    <p:sldId id="605" r:id="rId26"/>
    <p:sldId id="586" r:id="rId27"/>
    <p:sldId id="588" r:id="rId28"/>
    <p:sldId id="589" r:id="rId29"/>
    <p:sldId id="590" r:id="rId30"/>
    <p:sldId id="587" r:id="rId31"/>
    <p:sldId id="591" r:id="rId32"/>
    <p:sldId id="592" r:id="rId33"/>
    <p:sldId id="593" r:id="rId34"/>
    <p:sldId id="59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Devi A" initials="DDA" lastIdx="1" clrIdx="0">
    <p:extLst>
      <p:ext uri="{19B8F6BF-5375-455C-9EA6-DF929625EA0E}">
        <p15:presenceInfo xmlns:p15="http://schemas.microsoft.com/office/powerpoint/2012/main" userId="S-1-5-21-969686828-2199199562-1439795035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682F"/>
    <a:srgbClr val="5F5F5F"/>
    <a:srgbClr val="0099CC"/>
    <a:srgbClr val="0000FF"/>
    <a:srgbClr val="006699"/>
    <a:srgbClr val="009999"/>
    <a:srgbClr val="0066CC"/>
    <a:srgbClr val="666699"/>
    <a:srgbClr val="FF66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7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7F2447-4073-FE62-C0C3-75D4390947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C40709-3B98-DC67-4913-E586452CBC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C1F9DF-F3CA-418C-8E48-F7B356B78758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CC38A7-E20B-80B0-8BDE-9E37E2123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7C110-7488-6D5F-B40E-46432C8E31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0F109-BA63-4FD6-8A99-1DB5A29DE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59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05635-CFDF-4CA2-8B84-BD1C1EA85B42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4DDDD-252C-42DB-9D94-D46AFA65F6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550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BD7640-3F72-24D1-7443-2282E8CF1706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56E71-EFCF-9F91-A1BB-8FF373E9F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6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D2130-1B1B-ECF5-E934-C051E93F35C9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0ACDD3-80A2-5245-41A0-3EEB52FA07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7AB47A-A374-AE7C-0E11-8E938CD7B43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99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30D09D-960A-1FCA-82AD-1AA292596FBC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4041FD-DC37-3C20-CEE8-010358848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051374-8A08-B2B5-3D4C-458F584ABF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51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38F5E-6DEF-DD58-5C51-CC0FD276BE3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2F77F8-A456-895C-D404-686DA178C4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25F6B9-8F21-2505-0C36-2BE496B8F6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25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97826-FBF2-F6D8-DDCB-D7EF39D820EE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10A869-58B9-3E31-676F-453FA039DF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436E55-F0A2-BF53-8A61-8C70589982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8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B07A2F-75A8-D7CF-8C39-3499BD055D2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B4DAFF-CFFD-765D-F0B1-849B4901C0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503B0F-9755-A213-7AF2-71B2FC5C90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61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66D0D-F54B-0ABB-B75C-613FEBEA1E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"/>
            <a:ext cx="12192000" cy="685421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F7C8214-5533-BE70-7D3B-39BA071A7619}"/>
              </a:ext>
            </a:extLst>
          </p:cNvPr>
          <p:cNvSpPr/>
          <p:nvPr userDrawn="1"/>
        </p:nvSpPr>
        <p:spPr>
          <a:xfrm>
            <a:off x="10305288" y="5907024"/>
            <a:ext cx="1316736" cy="4493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33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24B4EC-6E74-E11C-04B5-48BC193690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91"/>
            <a:ext cx="12192000" cy="685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487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8A7419-0EE5-8818-BC14-5E5937C761D0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02B01-8388-1906-BE4B-25D724EFF7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BBF8F9-5BA7-01F4-CF6A-956300CB8E5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0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31F74B-A620-BED1-8083-ACD3C2222B33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6FE7B0-A325-9F6B-5DEA-6CFFB2DBBC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5AD06A-BD56-1758-E059-92C1C7C458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15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F13F31-6E9D-2B76-A67F-6671E18E0B01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20BC5-158B-FBD7-0661-46090C9DD1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9CD942-F6EE-95F6-92C9-66D686A7E0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96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7443-035D-4263-A7FA-C4F2145FEE00}" type="datetimeFigureOut">
              <a:rPr lang="en-IN" smtClean="0"/>
              <a:t>02-07-2025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613ED-840F-189B-6184-7C2E83F74658}"/>
              </a:ext>
            </a:extLst>
          </p:cNvPr>
          <p:cNvSpPr/>
          <p:nvPr userDrawn="1"/>
        </p:nvSpPr>
        <p:spPr>
          <a:xfrm flipV="1">
            <a:off x="0" y="270165"/>
            <a:ext cx="12192000" cy="45719"/>
          </a:xfrm>
          <a:prstGeom prst="rect">
            <a:avLst/>
          </a:prstGeom>
          <a:solidFill>
            <a:srgbClr val="ED68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EC0B6F-B947-A6A9-12AC-258AD1C53B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267" y="5378909"/>
            <a:ext cx="1210733" cy="1479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962AF7-6154-320D-76CC-8BC30D776C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75" y="6117296"/>
            <a:ext cx="2033314" cy="5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73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4" y="3124201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3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3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76670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1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363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66405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49000"/>
            </a:schemeClr>
          </a:solidFill>
          <a:ln w="381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619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Roboto Medium" pitchFamily="2" charset="0"/>
              <a:ea typeface="Roboto Medium" pitchFamily="2" charset="0"/>
              <a:cs typeface="Arial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109728" tIns="54864" rIns="109728" bIns="54864" anchor="ctr"/>
          <a:lstStyle>
            <a:lvl1pPr>
              <a:defRPr sz="7833" b="1" i="0" spc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35B185-C39F-9B4A-B035-864981C32176}"/>
              </a:ext>
            </a:extLst>
          </p:cNvPr>
          <p:cNvSpPr/>
          <p:nvPr userDrawn="1"/>
        </p:nvSpPr>
        <p:spPr>
          <a:xfrm>
            <a:off x="489087" y="2348880"/>
            <a:ext cx="85060" cy="1920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500" b="0" i="0" dirty="0">
              <a:solidFill>
                <a:schemeClr val="tx1"/>
              </a:solidFill>
              <a:latin typeface="Nobel-Book" panose="0200050304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7324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F56EE-BA8C-49DD-9007-330E7C7B6D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3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  <p:sldLayoutId id="2147483662" r:id="rId14"/>
    <p:sldLayoutId id="2147483666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2970171"/>
            <a:ext cx="10795000" cy="1539847"/>
          </a:xfrm>
        </p:spPr>
        <p:txBody>
          <a:bodyPr>
            <a:normAutofit fontScale="90000"/>
          </a:bodyPr>
          <a:lstStyle/>
          <a:p>
            <a:br>
              <a:rPr lang="en-US" sz="2667" b="1" dirty="0"/>
            </a:br>
            <a:br>
              <a:rPr lang="en-US" sz="2667" b="1" dirty="0"/>
            </a:br>
            <a:r>
              <a:rPr lang="en-US" sz="2667" b="1" dirty="0">
                <a:solidFill>
                  <a:srgbClr val="FFFF00"/>
                </a:solidFill>
              </a:rPr>
              <a:t>M23DE0202</a:t>
            </a:r>
            <a:r>
              <a:rPr lang="en-US" sz="2667" dirty="0">
                <a:solidFill>
                  <a:srgbClr val="FFFF00"/>
                </a:solidFill>
              </a:rPr>
              <a:t> – Object Oriented Programming using JAVA </a:t>
            </a:r>
            <a:br>
              <a:rPr lang="en-US" sz="2667" dirty="0">
                <a:solidFill>
                  <a:srgbClr val="FFFF00"/>
                </a:solidFill>
              </a:rPr>
            </a:br>
            <a:br>
              <a:rPr lang="en-US" sz="3200" dirty="0"/>
            </a:br>
            <a:r>
              <a:rPr lang="en-IN" sz="2400" dirty="0">
                <a:solidFill>
                  <a:schemeClr val="accent5">
                    <a:lumMod val="90000"/>
                  </a:schemeClr>
                </a:solidFill>
              </a:rPr>
              <a:t> </a:t>
            </a:r>
            <a:r>
              <a:rPr lang="en-IN" sz="2400" b="1" dirty="0">
                <a:solidFill>
                  <a:srgbClr val="FFFF00"/>
                </a:solidFill>
              </a:rPr>
              <a:t>II Semester MCA - D   Academic Year : 2024 - 2025 </a:t>
            </a:r>
            <a:br>
              <a:rPr lang="en-IN" sz="2400" dirty="0">
                <a:solidFill>
                  <a:srgbClr val="E7E6E6">
                    <a:lumMod val="10000"/>
                  </a:srgbClr>
                </a:solidFill>
              </a:rPr>
            </a:b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894010" y="4510017"/>
            <a:ext cx="9657940" cy="4594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School of Computer Science and Applications</a:t>
            </a:r>
          </a:p>
        </p:txBody>
      </p:sp>
      <p:sp>
        <p:nvSpPr>
          <p:cNvPr id="4" name="TextBox 3"/>
          <p:cNvSpPr txBox="1"/>
          <p:nvPr/>
        </p:nvSpPr>
        <p:spPr>
          <a:xfrm flipH="1">
            <a:off x="894010" y="4969469"/>
            <a:ext cx="456279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spc="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rPr>
              <a:t>Prasanna Kumar R B           </a:t>
            </a:r>
          </a:p>
          <a:p>
            <a:r>
              <a:rPr lang="en-IN" sz="2500" b="1" spc="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rPr>
              <a:t>Assistant 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IV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C6F9BAB-5754-4D43-A491-61E0E67BBF4A}"/>
              </a:ext>
            </a:extLst>
          </p:cNvPr>
          <p:cNvSpPr/>
          <p:nvPr/>
        </p:nvSpPr>
        <p:spPr>
          <a:xfrm>
            <a:off x="213673" y="286556"/>
            <a:ext cx="11594969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dirty="0">
                <a:cs typeface="Times New Roman" panose="02020603050405020304" pitchFamily="18" charset="0"/>
              </a:rPr>
              <a:t>Java Swing is a part of Java Foundation Classes (JFC) and is used for building graphical user interfaces (GUIs) in Java applications. </a:t>
            </a:r>
          </a:p>
          <a:p>
            <a:pPr algn="just"/>
            <a:r>
              <a:rPr lang="en-US" sz="2800" dirty="0">
                <a:cs typeface="Times New Roman" panose="02020603050405020304" pitchFamily="18" charset="0"/>
              </a:rPr>
              <a:t>It provides a set of "lightweight" (all-Java language) components that, unlike the earlier AWT (Abstract Window Toolkit) components, are platform-independent. Here's an introduction to Java Swing:</a:t>
            </a:r>
          </a:p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Key Features of Java Swing</a:t>
            </a:r>
          </a:p>
          <a:p>
            <a:pPr algn="just"/>
            <a:endParaRPr lang="en-US" sz="2800" b="1" dirty="0"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Platform Independence: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cs typeface="Times New Roman" panose="02020603050405020304" pitchFamily="18" charset="0"/>
              </a:rPr>
              <a:t>Swing components are written entirely in Java and thus run consistently on any platform that supports Java.</a:t>
            </a:r>
          </a:p>
          <a:p>
            <a:pPr algn="just"/>
            <a:endParaRPr lang="en-US" sz="2800" b="1" dirty="0"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Rich Set of Components: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cs typeface="Times New Roman" panose="02020603050405020304" pitchFamily="18" charset="0"/>
              </a:rPr>
              <a:t>Swing offers a wide range of components, including buttons, labels, text fields, tables, trees, and more complex components like tabbed panes and scroll panes.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80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A25A5F-3AED-468C-9E71-20B1AD9B20AD}"/>
              </a:ext>
            </a:extLst>
          </p:cNvPr>
          <p:cNvSpPr/>
          <p:nvPr/>
        </p:nvSpPr>
        <p:spPr>
          <a:xfrm>
            <a:off x="361360" y="395283"/>
            <a:ext cx="11648387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Customization: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cs typeface="Times New Roman" panose="02020603050405020304" pitchFamily="18" charset="0"/>
              </a:rPr>
              <a:t>Swing components are highly customizable. You can change the look and feel of the components using the pluggable look and feel (PLAF) architecture.</a:t>
            </a:r>
          </a:p>
          <a:p>
            <a:pPr algn="just"/>
            <a:r>
              <a:rPr lang="en-US" sz="2800" b="1" dirty="0">
                <a:cs typeface="Times New Roman" panose="02020603050405020304" pitchFamily="18" charset="0"/>
              </a:rPr>
              <a:t>Event-Driven Programming: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cs typeface="Times New Roman" panose="02020603050405020304" pitchFamily="18" charset="0"/>
              </a:rPr>
              <a:t>Swing is based on the Model-View-Controller (MVC) architecture. This means that the data (model), presentation (view), and user input handling (controller) are separated, making it easier to manage and maintain applications.</a:t>
            </a:r>
          </a:p>
          <a:p>
            <a:pPr algn="just"/>
            <a:r>
              <a:rPr lang="en-US" sz="2800" b="1" dirty="0"/>
              <a:t>Lightweight Components:</a:t>
            </a:r>
            <a:endParaRPr lang="en-US" sz="28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/>
              <a:t>Swing components are lightweight in the sense that they are written entirely in Java and do not rely on native code. This makes them more flexible and portable.</a:t>
            </a:r>
          </a:p>
          <a:p>
            <a:pPr algn="just"/>
            <a:r>
              <a:rPr lang="en-US" sz="2800" b="1" dirty="0"/>
              <a:t>Basic Swing Components</a:t>
            </a:r>
          </a:p>
          <a:p>
            <a:pPr algn="just"/>
            <a:r>
              <a:rPr lang="en-US" sz="2800" dirty="0"/>
              <a:t>Here are some basic Swing components and their uses:</a:t>
            </a:r>
          </a:p>
          <a:p>
            <a:pPr algn="just">
              <a:buFont typeface="+mj-lt"/>
              <a:buAutoNum type="arabicPeriod"/>
            </a:pPr>
            <a:r>
              <a:rPr lang="en-US" sz="2800" b="1" dirty="0" err="1"/>
              <a:t>JFrame</a:t>
            </a:r>
            <a:r>
              <a:rPr lang="en-US" sz="2800" b="1" dirty="0"/>
              <a:t>:</a:t>
            </a:r>
            <a:endParaRPr lang="en-US" sz="2800" dirty="0"/>
          </a:p>
          <a:p>
            <a:pPr marL="742950" lvl="1" indent="-285750" algn="just">
              <a:buFont typeface="+mj-lt"/>
              <a:buAutoNum type="arabicPeriod"/>
            </a:pPr>
            <a:r>
              <a:rPr lang="en-US" sz="2800" dirty="0"/>
              <a:t>The main window container in a Swing application.</a:t>
            </a:r>
            <a:endParaRPr lang="en-US" sz="2800" dirty="0"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24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A57707-3B60-4CE1-B618-6958D988E610}"/>
              </a:ext>
            </a:extLst>
          </p:cNvPr>
          <p:cNvSpPr/>
          <p:nvPr/>
        </p:nvSpPr>
        <p:spPr>
          <a:xfrm>
            <a:off x="160256" y="384391"/>
            <a:ext cx="12031743" cy="10864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800" dirty="0" err="1"/>
              <a:t>JFrame</a:t>
            </a:r>
            <a:r>
              <a:rPr lang="en-IN" sz="2800" dirty="0"/>
              <a:t> frame = new </a:t>
            </a:r>
            <a:r>
              <a:rPr lang="en-IN" sz="2800" dirty="0" err="1"/>
              <a:t>JFrame</a:t>
            </a:r>
            <a:r>
              <a:rPr lang="en-IN" sz="2800" dirty="0"/>
              <a:t>("My Swing Application"); </a:t>
            </a:r>
          </a:p>
          <a:p>
            <a:pPr algn="just"/>
            <a:r>
              <a:rPr lang="en-IN" sz="2800" dirty="0" err="1"/>
              <a:t>frame.setSize</a:t>
            </a:r>
            <a:r>
              <a:rPr lang="en-IN" sz="2800" dirty="0"/>
              <a:t>(400,300); </a:t>
            </a:r>
            <a:r>
              <a:rPr lang="en-IN" sz="2800" dirty="0" err="1"/>
              <a:t>frame.setDefaultCloseOperation</a:t>
            </a:r>
            <a:r>
              <a:rPr lang="en-IN" sz="2800" dirty="0"/>
              <a:t>(</a:t>
            </a:r>
            <a:r>
              <a:rPr lang="en-IN" sz="2800" dirty="0" err="1"/>
              <a:t>JFrame.EXIT_ON_CLOSE</a:t>
            </a:r>
            <a:r>
              <a:rPr lang="en-IN" sz="2800" dirty="0"/>
              <a:t>); </a:t>
            </a:r>
          </a:p>
          <a:p>
            <a:pPr algn="just"/>
            <a:r>
              <a:rPr lang="en-IN" sz="2800" dirty="0" err="1"/>
              <a:t>frame.setVisible</a:t>
            </a:r>
            <a:r>
              <a:rPr lang="en-IN" sz="2800" dirty="0"/>
              <a:t>(true);</a:t>
            </a:r>
            <a:endParaRPr lang="en-US" sz="2800" b="1" dirty="0"/>
          </a:p>
          <a:p>
            <a:r>
              <a:rPr lang="en-US" sz="2800" b="1" dirty="0" err="1"/>
              <a:t>JPanel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A generic container for grouping other components.</a:t>
            </a:r>
          </a:p>
          <a:p>
            <a:pPr algn="just"/>
            <a:r>
              <a:rPr lang="en-US" sz="2800" dirty="0" err="1"/>
              <a:t>JPanel</a:t>
            </a:r>
            <a:r>
              <a:rPr lang="en-US" sz="2800" dirty="0"/>
              <a:t> panel = new </a:t>
            </a:r>
            <a:r>
              <a:rPr lang="en-US" sz="2800" dirty="0" err="1"/>
              <a:t>JPanel</a:t>
            </a:r>
            <a:r>
              <a:rPr lang="en-US" sz="2800" dirty="0"/>
              <a:t>();</a:t>
            </a:r>
          </a:p>
          <a:p>
            <a:pPr algn="just"/>
            <a:r>
              <a:rPr lang="en-US" sz="2800" dirty="0" err="1"/>
              <a:t>frame.add</a:t>
            </a:r>
            <a:r>
              <a:rPr lang="en-US" sz="2800" dirty="0"/>
              <a:t>(panel);</a:t>
            </a:r>
            <a:endParaRPr lang="en-US" sz="2800" b="1" dirty="0"/>
          </a:p>
          <a:p>
            <a:r>
              <a:rPr lang="en-US" sz="2800" b="1" dirty="0" err="1"/>
              <a:t>JButton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A button component that can trigger actions when clicked.</a:t>
            </a:r>
          </a:p>
          <a:p>
            <a:pPr algn="just"/>
            <a:r>
              <a:rPr lang="en-US" sz="2800" dirty="0" err="1"/>
              <a:t>JButton</a:t>
            </a:r>
            <a:r>
              <a:rPr lang="en-US" sz="2800" dirty="0"/>
              <a:t> button = new </a:t>
            </a:r>
            <a:r>
              <a:rPr lang="en-US" sz="2800" dirty="0" err="1"/>
              <a:t>JButton</a:t>
            </a:r>
            <a:r>
              <a:rPr lang="en-US" sz="2800" dirty="0"/>
              <a:t>("Click Me"); </a:t>
            </a:r>
          </a:p>
          <a:p>
            <a:pPr algn="just"/>
            <a:r>
              <a:rPr lang="en-US" sz="2800" dirty="0" err="1"/>
              <a:t>panel.add</a:t>
            </a:r>
            <a:r>
              <a:rPr lang="en-US" sz="2800" dirty="0"/>
              <a:t>(button);</a:t>
            </a:r>
          </a:p>
          <a:p>
            <a:r>
              <a:rPr lang="en-US" sz="2800" b="1" dirty="0" err="1"/>
              <a:t>JLabel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A text or image display area.</a:t>
            </a:r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Example: Simple Swing Application</a:t>
            </a:r>
          </a:p>
          <a:p>
            <a:pPr algn="just"/>
            <a:r>
              <a:rPr lang="en-US" sz="2800" dirty="0"/>
              <a:t>Here's a complete example of a simple Swing application that includes a button and a text field:</a:t>
            </a:r>
          </a:p>
        </p:txBody>
      </p:sp>
    </p:spTree>
    <p:extLst>
      <p:ext uri="{BB962C8B-B14F-4D97-AF65-F5344CB8AC3E}">
        <p14:creationId xmlns:p14="http://schemas.microsoft.com/office/powerpoint/2010/main" val="358905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D5C0DD-6F41-46FE-B771-B44361F3F42A}"/>
              </a:ext>
            </a:extLst>
          </p:cNvPr>
          <p:cNvSpPr/>
          <p:nvPr/>
        </p:nvSpPr>
        <p:spPr>
          <a:xfrm>
            <a:off x="186450" y="454000"/>
            <a:ext cx="11719604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/>
              <a:t>JLabel</a:t>
            </a:r>
            <a:r>
              <a:rPr lang="en-IN" sz="2800" dirty="0"/>
              <a:t> label = new </a:t>
            </a:r>
            <a:r>
              <a:rPr lang="en-IN" sz="2800" dirty="0" err="1"/>
              <a:t>JLabel</a:t>
            </a:r>
            <a:r>
              <a:rPr lang="en-IN" sz="2800" dirty="0"/>
              <a:t>("Hello, Swing!");</a:t>
            </a:r>
          </a:p>
          <a:p>
            <a:r>
              <a:rPr lang="en-IN" sz="2800" dirty="0" err="1"/>
              <a:t>panel.add</a:t>
            </a:r>
            <a:r>
              <a:rPr lang="en-IN" sz="2800" dirty="0"/>
              <a:t>(label);</a:t>
            </a:r>
          </a:p>
          <a:p>
            <a:r>
              <a:rPr lang="en-US" sz="2800" b="1" dirty="0" err="1"/>
              <a:t>JTextField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A single-line text input field.</a:t>
            </a:r>
          </a:p>
          <a:p>
            <a:r>
              <a:rPr lang="en-US" sz="2800" dirty="0" err="1"/>
              <a:t>JTextField</a:t>
            </a:r>
            <a:r>
              <a:rPr lang="en-US" sz="2800" dirty="0"/>
              <a:t> </a:t>
            </a:r>
            <a:r>
              <a:rPr lang="en-US" sz="2800" dirty="0" err="1"/>
              <a:t>textField</a:t>
            </a:r>
            <a:r>
              <a:rPr lang="en-US" sz="2800" dirty="0"/>
              <a:t> = new </a:t>
            </a:r>
            <a:r>
              <a:rPr lang="en-US" sz="2800" dirty="0" err="1"/>
              <a:t>JTextField</a:t>
            </a:r>
            <a:r>
              <a:rPr lang="en-US" sz="2800" dirty="0"/>
              <a:t>(20);</a:t>
            </a:r>
          </a:p>
          <a:p>
            <a:r>
              <a:rPr lang="en-US" sz="2800" dirty="0" err="1"/>
              <a:t>panel.add</a:t>
            </a:r>
            <a:r>
              <a:rPr lang="en-US" sz="2800" dirty="0"/>
              <a:t>(</a:t>
            </a:r>
            <a:r>
              <a:rPr lang="en-US" sz="2800" dirty="0" err="1"/>
              <a:t>textField</a:t>
            </a:r>
            <a:r>
              <a:rPr lang="en-US" sz="2800" dirty="0"/>
              <a:t>);</a:t>
            </a:r>
          </a:p>
          <a:p>
            <a:r>
              <a:rPr lang="en-US" sz="2800" b="1" dirty="0" err="1"/>
              <a:t>JTextArea</a:t>
            </a:r>
            <a:r>
              <a:rPr lang="en-US" sz="2800" b="1" dirty="0"/>
              <a:t>:</a:t>
            </a:r>
            <a:endParaRPr lang="en-US" sz="2800" dirty="0"/>
          </a:p>
          <a:p>
            <a:r>
              <a:rPr lang="en-US" sz="2800" dirty="0"/>
              <a:t>A multi-line text input area.</a:t>
            </a:r>
          </a:p>
          <a:p>
            <a:r>
              <a:rPr lang="en-IN" sz="2800" dirty="0" err="1"/>
              <a:t>JTextArea</a:t>
            </a:r>
            <a:r>
              <a:rPr lang="en-IN" sz="2800" dirty="0"/>
              <a:t> </a:t>
            </a:r>
            <a:r>
              <a:rPr lang="en-IN" sz="2800" dirty="0" err="1"/>
              <a:t>textArea</a:t>
            </a:r>
            <a:r>
              <a:rPr lang="en-IN" sz="2800" dirty="0"/>
              <a:t> = new </a:t>
            </a:r>
            <a:r>
              <a:rPr lang="en-IN" sz="2800" dirty="0" err="1"/>
              <a:t>JTextArea</a:t>
            </a:r>
            <a:r>
              <a:rPr lang="en-IN" sz="2800" dirty="0"/>
              <a:t>(5, 20); </a:t>
            </a:r>
            <a:r>
              <a:rPr lang="en-IN" sz="2800" dirty="0" err="1"/>
              <a:t>panel.add</a:t>
            </a:r>
            <a:r>
              <a:rPr lang="en-IN" sz="2800" dirty="0"/>
              <a:t>(new </a:t>
            </a:r>
            <a:r>
              <a:rPr lang="en-IN" sz="2800" dirty="0" err="1"/>
              <a:t>JScrollPane</a:t>
            </a:r>
            <a:r>
              <a:rPr lang="en-IN" sz="2800" dirty="0"/>
              <a:t>(</a:t>
            </a:r>
            <a:r>
              <a:rPr lang="en-IN" sz="2800" dirty="0" err="1"/>
              <a:t>textArea</a:t>
            </a:r>
            <a:r>
              <a:rPr lang="en-IN" sz="2800" dirty="0"/>
              <a:t>));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1742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9EF6D9-73E4-42DE-948E-FC41B9DB462C}"/>
              </a:ext>
            </a:extLst>
          </p:cNvPr>
          <p:cNvSpPr/>
          <p:nvPr/>
        </p:nvSpPr>
        <p:spPr>
          <a:xfrm>
            <a:off x="716437" y="0"/>
            <a:ext cx="9803876" cy="726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import </a:t>
            </a:r>
            <a:r>
              <a:rPr lang="en-IN" sz="2800" dirty="0" err="1"/>
              <a:t>javax.swing</a:t>
            </a:r>
            <a:r>
              <a:rPr lang="en-IN" sz="2800" dirty="0"/>
              <a:t>.*; </a:t>
            </a:r>
          </a:p>
          <a:p>
            <a:r>
              <a:rPr lang="en-IN" sz="2800" dirty="0"/>
              <a:t>import </a:t>
            </a:r>
            <a:r>
              <a:rPr lang="en-IN" sz="2800" dirty="0" err="1"/>
              <a:t>java.awt.event.ActionEvent</a:t>
            </a:r>
            <a:r>
              <a:rPr lang="en-IN" sz="2800" dirty="0"/>
              <a:t>;</a:t>
            </a:r>
          </a:p>
          <a:p>
            <a:r>
              <a:rPr lang="en-IN" sz="2800" dirty="0"/>
              <a:t>import </a:t>
            </a:r>
            <a:r>
              <a:rPr lang="en-IN" sz="2800" dirty="0" err="1"/>
              <a:t>java.awt.event.ActionListener</a:t>
            </a:r>
            <a:r>
              <a:rPr lang="en-IN" sz="2800" dirty="0"/>
              <a:t>; </a:t>
            </a:r>
          </a:p>
          <a:p>
            <a:r>
              <a:rPr lang="en-IN" sz="2800" dirty="0"/>
              <a:t>public class </a:t>
            </a:r>
            <a:r>
              <a:rPr lang="en-IN" sz="2800" dirty="0" err="1"/>
              <a:t>SimpleSwingApp</a:t>
            </a:r>
            <a:r>
              <a:rPr lang="en-IN" sz="2800" dirty="0"/>
              <a:t> </a:t>
            </a:r>
          </a:p>
          <a:p>
            <a:r>
              <a:rPr lang="en-IN" sz="2800" dirty="0"/>
              <a:t>{</a:t>
            </a:r>
          </a:p>
          <a:p>
            <a:r>
              <a:rPr lang="en-IN" sz="2800" dirty="0"/>
              <a:t> public static void main(String[] </a:t>
            </a:r>
            <a:r>
              <a:rPr lang="en-IN" sz="2800" dirty="0" err="1"/>
              <a:t>args</a:t>
            </a:r>
            <a:r>
              <a:rPr lang="en-IN" sz="2800" dirty="0"/>
              <a:t>)</a:t>
            </a:r>
          </a:p>
          <a:p>
            <a:r>
              <a:rPr lang="en-IN" sz="2800" dirty="0"/>
              <a:t> { </a:t>
            </a:r>
          </a:p>
          <a:p>
            <a:r>
              <a:rPr lang="en-IN" sz="2800" dirty="0"/>
              <a:t>// Create the main frame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JFrame</a:t>
            </a:r>
            <a:r>
              <a:rPr lang="en-IN" sz="2800" dirty="0"/>
              <a:t> frame = new </a:t>
            </a:r>
            <a:r>
              <a:rPr lang="en-IN" sz="2800" dirty="0" err="1"/>
              <a:t>JFrame</a:t>
            </a:r>
            <a:r>
              <a:rPr lang="en-IN" sz="2800" dirty="0"/>
              <a:t>("Simple Swing App"); </a:t>
            </a:r>
          </a:p>
          <a:p>
            <a:r>
              <a:rPr lang="en-IN" sz="2800" dirty="0" err="1"/>
              <a:t>frame.setSize</a:t>
            </a:r>
            <a:r>
              <a:rPr lang="en-IN" sz="2800" dirty="0"/>
              <a:t>(400, 300);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frame.setDefaultCloseOperation</a:t>
            </a:r>
            <a:r>
              <a:rPr lang="en-IN" sz="2800" dirty="0"/>
              <a:t>(</a:t>
            </a:r>
            <a:r>
              <a:rPr lang="en-IN" sz="2800" dirty="0" err="1"/>
              <a:t>JFrame.EXIT_ON_CLOSE</a:t>
            </a:r>
            <a:r>
              <a:rPr lang="en-IN" sz="2800" dirty="0"/>
              <a:t>);</a:t>
            </a:r>
          </a:p>
          <a:p>
            <a:r>
              <a:rPr lang="en-IN" sz="2800" dirty="0"/>
              <a:t> // Create a panel to hold components </a:t>
            </a:r>
          </a:p>
          <a:p>
            <a:r>
              <a:rPr lang="en-IN" sz="2800" dirty="0" err="1"/>
              <a:t>JPanel</a:t>
            </a:r>
            <a:r>
              <a:rPr lang="en-IN" sz="2800" dirty="0"/>
              <a:t> panel = new </a:t>
            </a:r>
            <a:r>
              <a:rPr lang="en-IN" sz="2800" dirty="0" err="1"/>
              <a:t>JPanel</a:t>
            </a:r>
            <a:r>
              <a:rPr lang="en-IN" sz="2800" dirty="0"/>
              <a:t>(); </a:t>
            </a:r>
          </a:p>
          <a:p>
            <a:r>
              <a:rPr lang="en-IN" sz="2800" dirty="0" err="1"/>
              <a:t>frame.add</a:t>
            </a:r>
            <a:r>
              <a:rPr lang="en-IN" sz="2800" dirty="0"/>
              <a:t>(panel); </a:t>
            </a:r>
            <a:r>
              <a:rPr lang="en-IN" sz="2800" dirty="0" err="1"/>
              <a:t>placeComponents</a:t>
            </a:r>
            <a:r>
              <a:rPr lang="en-IN" sz="2800" dirty="0"/>
              <a:t>(panel); // Display the frame </a:t>
            </a:r>
            <a:r>
              <a:rPr lang="en-IN" sz="2800" dirty="0" err="1"/>
              <a:t>frame.setVisible</a:t>
            </a:r>
            <a:r>
              <a:rPr lang="en-IN" sz="2800" dirty="0"/>
              <a:t>(true); </a:t>
            </a:r>
          </a:p>
          <a:p>
            <a:r>
              <a:rPr lang="en-IN" sz="2800" dirty="0"/>
              <a:t>}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9309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0BD12-6C8B-4A14-90BC-8C402EEC595A}"/>
              </a:ext>
            </a:extLst>
          </p:cNvPr>
          <p:cNvSpPr/>
          <p:nvPr/>
        </p:nvSpPr>
        <p:spPr>
          <a:xfrm>
            <a:off x="386499" y="1012954"/>
            <a:ext cx="10878532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private static void </a:t>
            </a:r>
            <a:r>
              <a:rPr lang="en-IN" sz="2800" dirty="0" err="1"/>
              <a:t>placeComponents</a:t>
            </a:r>
            <a:r>
              <a:rPr lang="en-IN" sz="2800" dirty="0"/>
              <a:t>(</a:t>
            </a:r>
            <a:r>
              <a:rPr lang="en-IN" sz="2800" dirty="0" err="1"/>
              <a:t>JPanel</a:t>
            </a:r>
            <a:r>
              <a:rPr lang="en-IN" sz="2800" dirty="0"/>
              <a:t> panel)</a:t>
            </a:r>
          </a:p>
          <a:p>
            <a:r>
              <a:rPr lang="en-IN" sz="2800" dirty="0"/>
              <a:t> {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panel.setLayout</a:t>
            </a:r>
            <a:r>
              <a:rPr lang="en-IN" sz="2800" dirty="0"/>
              <a:t>(null); </a:t>
            </a:r>
          </a:p>
          <a:p>
            <a:r>
              <a:rPr lang="en-IN" sz="2800" dirty="0"/>
              <a:t>// Create a label </a:t>
            </a:r>
          </a:p>
          <a:p>
            <a:r>
              <a:rPr lang="en-IN" sz="2800" dirty="0" err="1"/>
              <a:t>JLabel</a:t>
            </a:r>
            <a:r>
              <a:rPr lang="en-IN" sz="2800" dirty="0"/>
              <a:t> </a:t>
            </a:r>
            <a:r>
              <a:rPr lang="en-IN" sz="2800" dirty="0" err="1"/>
              <a:t>userLabel</a:t>
            </a:r>
            <a:r>
              <a:rPr lang="en-IN" sz="2800" dirty="0"/>
              <a:t> = new </a:t>
            </a:r>
            <a:r>
              <a:rPr lang="en-IN" sz="2800" dirty="0" err="1"/>
              <a:t>JLabel</a:t>
            </a:r>
            <a:r>
              <a:rPr lang="en-IN" sz="2800" dirty="0"/>
              <a:t>("User:");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userLabel.setBounds</a:t>
            </a:r>
            <a:r>
              <a:rPr lang="en-IN" sz="2800" dirty="0"/>
              <a:t>(10, 20, 80, 25);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userLabel</a:t>
            </a:r>
            <a:r>
              <a:rPr lang="en-IN" sz="2800" dirty="0"/>
              <a:t>); </a:t>
            </a:r>
          </a:p>
          <a:p>
            <a:r>
              <a:rPr lang="en-IN" sz="2800" dirty="0"/>
              <a:t>// Create a text field</a:t>
            </a:r>
          </a:p>
          <a:p>
            <a:r>
              <a:rPr lang="en-IN" sz="2800" dirty="0"/>
              <a:t> </a:t>
            </a:r>
            <a:r>
              <a:rPr lang="en-IN" sz="2800" dirty="0" err="1"/>
              <a:t>JTextField</a:t>
            </a:r>
            <a:r>
              <a:rPr lang="en-IN" sz="2800" dirty="0"/>
              <a:t> </a:t>
            </a:r>
            <a:r>
              <a:rPr lang="en-IN" sz="2800" dirty="0" err="1"/>
              <a:t>userText</a:t>
            </a:r>
            <a:r>
              <a:rPr lang="en-IN" sz="2800" dirty="0"/>
              <a:t> = new </a:t>
            </a:r>
            <a:r>
              <a:rPr lang="en-IN" sz="2800" dirty="0" err="1"/>
              <a:t>JTextField</a:t>
            </a:r>
            <a:r>
              <a:rPr lang="en-IN" sz="2800" dirty="0"/>
              <a:t>(20); </a:t>
            </a:r>
            <a:r>
              <a:rPr lang="en-IN" sz="2800" dirty="0" err="1"/>
              <a:t>userText.setBounds</a:t>
            </a:r>
            <a:r>
              <a:rPr lang="en-IN" sz="2800" dirty="0"/>
              <a:t>(100, 20, 165, 25); </a:t>
            </a:r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userText</a:t>
            </a:r>
            <a:r>
              <a:rPr lang="en-IN" sz="2800" dirty="0"/>
              <a:t>);</a:t>
            </a:r>
          </a:p>
          <a:p>
            <a:r>
              <a:rPr lang="en-IN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4685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1A256F-73A7-4EA3-88B6-A3E31A6729FA}"/>
              </a:ext>
            </a:extLst>
          </p:cNvPr>
          <p:cNvSpPr/>
          <p:nvPr/>
        </p:nvSpPr>
        <p:spPr>
          <a:xfrm>
            <a:off x="1002382" y="960891"/>
            <a:ext cx="931996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// Create a button </a:t>
            </a:r>
          </a:p>
          <a:p>
            <a:r>
              <a:rPr lang="en-IN" sz="2800" dirty="0" err="1"/>
              <a:t>JButton</a:t>
            </a:r>
            <a:r>
              <a:rPr lang="en-IN" sz="2800" dirty="0"/>
              <a:t> </a:t>
            </a:r>
            <a:r>
              <a:rPr lang="en-IN" sz="2800" dirty="0" err="1"/>
              <a:t>loginButton</a:t>
            </a:r>
            <a:r>
              <a:rPr lang="en-IN" sz="2800" dirty="0"/>
              <a:t> = new </a:t>
            </a:r>
            <a:r>
              <a:rPr lang="en-IN" sz="2800" dirty="0" err="1"/>
              <a:t>JButton</a:t>
            </a:r>
            <a:r>
              <a:rPr lang="en-IN" sz="2800" dirty="0"/>
              <a:t>("Login");</a:t>
            </a:r>
          </a:p>
          <a:p>
            <a:r>
              <a:rPr lang="en-IN" sz="2800" dirty="0" err="1"/>
              <a:t>loginButton.setBounds</a:t>
            </a:r>
            <a:r>
              <a:rPr lang="en-IN" sz="2800" dirty="0"/>
              <a:t>(10, 80, 80, 25); </a:t>
            </a:r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loginButton</a:t>
            </a:r>
            <a:r>
              <a:rPr lang="en-IN" sz="2800" dirty="0"/>
              <a:t>); // Add action listener to button </a:t>
            </a:r>
            <a:r>
              <a:rPr lang="en-IN" sz="2800" dirty="0" err="1"/>
              <a:t>loginButton.addActionListener</a:t>
            </a:r>
            <a:r>
              <a:rPr lang="en-IN" sz="2800" dirty="0"/>
              <a:t>(new ActionListener()</a:t>
            </a:r>
          </a:p>
          <a:p>
            <a:r>
              <a:rPr lang="en-IN" sz="2800" dirty="0"/>
              <a:t> { </a:t>
            </a:r>
          </a:p>
          <a:p>
            <a:r>
              <a:rPr lang="en-IN" sz="2800" dirty="0"/>
              <a:t>public void </a:t>
            </a:r>
            <a:r>
              <a:rPr lang="en-IN" sz="2800" dirty="0" err="1"/>
              <a:t>actionPerformed</a:t>
            </a:r>
            <a:r>
              <a:rPr lang="en-IN" sz="2800" dirty="0"/>
              <a:t>(</a:t>
            </a:r>
            <a:r>
              <a:rPr lang="en-IN" sz="2800" dirty="0" err="1"/>
              <a:t>ActionEvent</a:t>
            </a:r>
            <a:r>
              <a:rPr lang="en-IN" sz="2800" dirty="0"/>
              <a:t> e)</a:t>
            </a:r>
          </a:p>
          <a:p>
            <a:r>
              <a:rPr lang="en-IN" sz="2800" dirty="0"/>
              <a:t> { </a:t>
            </a:r>
          </a:p>
          <a:p>
            <a:r>
              <a:rPr lang="en-IN" sz="2800" dirty="0" err="1"/>
              <a:t>JOptionPane.showMessageDialog</a:t>
            </a:r>
            <a:r>
              <a:rPr lang="en-IN" sz="2800" dirty="0"/>
              <a:t>(null, "Button Clicked!"); } }); } }</a:t>
            </a:r>
          </a:p>
        </p:txBody>
      </p:sp>
    </p:spTree>
    <p:extLst>
      <p:ext uri="{BB962C8B-B14F-4D97-AF65-F5344CB8AC3E}">
        <p14:creationId xmlns:p14="http://schemas.microsoft.com/office/powerpoint/2010/main" val="3184372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3EF62B-2F0D-4ACE-B8B0-EC005C3E2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33" y="735901"/>
            <a:ext cx="11934334" cy="4980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the Application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run this application: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the code to a file named SimpleSwingApp.java.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Compile the file using the command: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SimpleSwingApp.java.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 the compiled class using: java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SimpleSwingApp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This application creates a simple window with a text field and a button. When the button is clicked, a dialog box is displayed.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35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576AEC-B57E-4699-B43F-08C032E88124}"/>
              </a:ext>
            </a:extLst>
          </p:cNvPr>
          <p:cNvSpPr/>
          <p:nvPr/>
        </p:nvSpPr>
        <p:spPr>
          <a:xfrm>
            <a:off x="3741988" y="454000"/>
            <a:ext cx="55211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a typeface="Arial Unicode MS"/>
              </a:rPr>
              <a:t>Introduction to basic Widgets in Java</a:t>
            </a:r>
            <a:endParaRPr lang="en-IN" sz="2800" dirty="0">
              <a:solidFill>
                <a:srgbClr val="FF0000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74476C-95AA-4443-8074-A3DF62BCA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235" y="1038775"/>
            <a:ext cx="1165153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 Swing provides a wide variety of widgets (components) that can be used to build graphical user interfaces (GUIs).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Here's an introduction to some basic and commonly used Swing widgets:</a:t>
            </a:r>
            <a:endParaRPr kumimoji="0" lang="en-US" altLang="en-US" sz="2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endParaRPr kumimoji="0" lang="en-US" altLang="en-US" sz="2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main window container for a Swing application.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provides a window with borders, a title, and buttons to close, minimize, and maximize.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700" dirty="0"/>
              <a:t>import </a:t>
            </a:r>
            <a:r>
              <a:rPr lang="en-IN" sz="2700" dirty="0" err="1"/>
              <a:t>javax.swing.JFrame</a:t>
            </a:r>
            <a:r>
              <a:rPr lang="en-IN" sz="2700" dirty="0"/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700" dirty="0"/>
              <a:t>public class </a:t>
            </a:r>
            <a:r>
              <a:rPr lang="en-IN" sz="2700" dirty="0" err="1"/>
              <a:t>MyFrame</a:t>
            </a:r>
            <a:r>
              <a:rPr lang="en-IN" sz="2700" dirty="0"/>
              <a:t>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700" dirty="0"/>
              <a:t>public static void main(String[] </a:t>
            </a:r>
            <a:r>
              <a:rPr lang="en-IN" sz="2700" dirty="0" err="1"/>
              <a:t>args</a:t>
            </a:r>
            <a:r>
              <a:rPr lang="en-IN" sz="2700" dirty="0"/>
              <a:t>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700" dirty="0" err="1"/>
              <a:t>JFrame</a:t>
            </a:r>
            <a:r>
              <a:rPr lang="en-IN" sz="2700" dirty="0"/>
              <a:t> frame = new </a:t>
            </a:r>
            <a:r>
              <a:rPr lang="en-IN" sz="2700" dirty="0" err="1"/>
              <a:t>JFrame</a:t>
            </a:r>
            <a:r>
              <a:rPr lang="en-IN" sz="2700" dirty="0"/>
              <a:t>("My First Frame");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700" dirty="0" err="1"/>
              <a:t>frame.setSize</a:t>
            </a:r>
            <a:r>
              <a:rPr lang="en-IN" sz="2700" dirty="0"/>
              <a:t>(400, 300); </a:t>
            </a:r>
            <a:r>
              <a:rPr lang="en-IN" sz="2700" dirty="0" err="1"/>
              <a:t>frame.setDefaultCloseOperation</a:t>
            </a:r>
            <a:r>
              <a:rPr lang="en-IN" sz="2700" dirty="0"/>
              <a:t>(</a:t>
            </a:r>
            <a:r>
              <a:rPr lang="en-IN" sz="2700" dirty="0" err="1"/>
              <a:t>JFrame.EXIT_ON_CLOSE</a:t>
            </a:r>
            <a:r>
              <a:rPr lang="en-IN" sz="2700" dirty="0"/>
              <a:t>); </a:t>
            </a:r>
            <a:r>
              <a:rPr lang="en-IN" sz="2700" dirty="0" err="1"/>
              <a:t>frame.setVisible</a:t>
            </a:r>
            <a:r>
              <a:rPr lang="en-IN" sz="2700" dirty="0"/>
              <a:t>(true); } }</a:t>
            </a: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1363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B367F7-B770-4067-A284-DEA93F4A9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917" y="112511"/>
            <a:ext cx="11312165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generic container that can hold other components.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helps to organize and group components within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8D0D41-CF1F-4278-B9EE-E02F358C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325" y="1344435"/>
            <a:ext cx="10903669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javax.swing.JFrame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javax.swing.JPanel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class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public static void main(String[]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frame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("Panel Example");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panel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frame.add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(400, 300);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frame.setDefaultCloseOperation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JFrame.EXIT_ON_CLOSE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frame.setVisible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(true); } }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JButton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JButton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button that can trigger an action when clicked.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" name="Object 3" descr="Swing Component&#10;">
            <a:extLst>
              <a:ext uri="{FF2B5EF4-FFF2-40B4-BE49-F238E27FC236}">
                <a16:creationId xmlns:a16="http://schemas.microsoft.com/office/drawing/2014/main" id="{89058195-0F23-4BDB-AB2E-E8D4200A280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194927"/>
              </p:ext>
            </p:extLst>
          </p:nvPr>
        </p:nvGraphicFramePr>
        <p:xfrm>
          <a:off x="9180896" y="1525167"/>
          <a:ext cx="1714901" cy="141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597" imgH="806311" progId="Word.Document.12">
                  <p:embed/>
                </p:oleObj>
              </mc:Choice>
              <mc:Fallback>
                <p:oleObj name="Document" showAsIcon="1" r:id="rId2" imgW="914597" imgH="806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80896" y="1525167"/>
                        <a:ext cx="1714901" cy="1410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2803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A156B9-CE5E-4E60-A3F5-687BC2930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6507"/>
            <a:ext cx="1013381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JTextField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JTextField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single-line text input field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5FC8B1-6149-4F07-AB21-652AADAA2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66830"/>
            <a:ext cx="817304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JLabel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JLabel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display area for a short text string or an image.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EABFA-C400-4EC6-B421-566947E66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6987E2-8A52-4CC1-AC9E-84714958C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6502"/>
            <a:ext cx="808067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JCheckBox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JCheckBox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component that can be either selected or deselected.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1ED92-B160-4CCD-AF4E-014E3F3CB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36940"/>
            <a:ext cx="1098222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JRadioButton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JRadioButton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button that can be selected or deselected, and is usually used in a group where only one button can be selected at a time.</a:t>
            </a:r>
          </a:p>
        </p:txBody>
      </p:sp>
    </p:spTree>
    <p:extLst>
      <p:ext uri="{BB962C8B-B14F-4D97-AF65-F5344CB8AC3E}">
        <p14:creationId xmlns:p14="http://schemas.microsoft.com/office/powerpoint/2010/main" val="2930971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0C79D6-3D2A-4A1B-9CCF-8BE2B4E01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5" y="-453545"/>
            <a:ext cx="11708090" cy="514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JComboBox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JComboBox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drop-down list that allows the user to choose one item from a list.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These basic widgets provide the foundation for creating user interfaces in Java Swing. You can combine them, customize their appearance, and add functionality to create rich and interactive applications.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3887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860884-8097-49FB-BB8D-3AEC55212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015" y="609663"/>
            <a:ext cx="10982425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Java Swing is a powerful toolkit for building graphical user interfaces (GUIs) in Java applications.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Let's dive into creating a simple Java Swing application step-by-step to understand the basics.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We'll build an application with a few common Swing components: a frame, panel, button, text field, label, and some event handling.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Step-by-Step Example: Simple Swing Application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1. Setting Up the Main Frame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the main window of the application. We'll set up a basic frame with a title, size, and a close operation.</a:t>
            </a:r>
          </a:p>
        </p:txBody>
      </p:sp>
    </p:spTree>
    <p:extLst>
      <p:ext uri="{BB962C8B-B14F-4D97-AF65-F5344CB8AC3E}">
        <p14:creationId xmlns:p14="http://schemas.microsoft.com/office/powerpoint/2010/main" val="1812988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AD567-3B56-44DE-AD98-0873AB40C1EF}"/>
              </a:ext>
            </a:extLst>
          </p:cNvPr>
          <p:cNvSpPr/>
          <p:nvPr/>
        </p:nvSpPr>
        <p:spPr>
          <a:xfrm>
            <a:off x="222985" y="380274"/>
            <a:ext cx="1174603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800" dirty="0"/>
              <a:t>import </a:t>
            </a:r>
            <a:r>
              <a:rPr lang="en-IN" sz="2800" dirty="0" err="1"/>
              <a:t>javax.swing.JFrame</a:t>
            </a:r>
            <a:r>
              <a:rPr lang="en-IN" sz="2800" dirty="0"/>
              <a:t>;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public class </a:t>
            </a:r>
            <a:r>
              <a:rPr lang="en-IN" sz="2800" dirty="0" err="1"/>
              <a:t>SimpleSwingApp</a:t>
            </a:r>
            <a:r>
              <a:rPr lang="en-IN" sz="2800" dirty="0"/>
              <a:t> {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public static void main(String[] </a:t>
            </a:r>
            <a:r>
              <a:rPr lang="en-IN" sz="2800" dirty="0" err="1"/>
              <a:t>args</a:t>
            </a:r>
            <a:r>
              <a:rPr lang="en-IN" sz="2800" dirty="0"/>
              <a:t>) { </a:t>
            </a:r>
          </a:p>
          <a:p>
            <a:pPr>
              <a:lnSpc>
                <a:spcPct val="200000"/>
              </a:lnSpc>
            </a:pPr>
            <a:r>
              <a:rPr lang="en-IN" sz="2800" dirty="0" err="1"/>
              <a:t>JFrame</a:t>
            </a:r>
            <a:r>
              <a:rPr lang="en-IN" sz="2800" dirty="0"/>
              <a:t> frame = new </a:t>
            </a:r>
            <a:r>
              <a:rPr lang="en-IN" sz="2800" dirty="0" err="1"/>
              <a:t>JFrame</a:t>
            </a:r>
            <a:r>
              <a:rPr lang="en-IN" sz="2800" dirty="0"/>
              <a:t>("Simple Swing App");</a:t>
            </a:r>
          </a:p>
          <a:p>
            <a:pPr>
              <a:lnSpc>
                <a:spcPct val="200000"/>
              </a:lnSpc>
            </a:pPr>
            <a:r>
              <a:rPr lang="en-IN" sz="2800" dirty="0" err="1"/>
              <a:t>frame.setSize</a:t>
            </a:r>
            <a:r>
              <a:rPr lang="en-IN" sz="2800" dirty="0"/>
              <a:t>(400, 300); </a:t>
            </a:r>
            <a:r>
              <a:rPr lang="en-IN" sz="2800" dirty="0" err="1"/>
              <a:t>frame.setDefaultCloseOperation</a:t>
            </a:r>
            <a:r>
              <a:rPr lang="en-IN" sz="2800" dirty="0"/>
              <a:t>(</a:t>
            </a:r>
            <a:r>
              <a:rPr lang="en-IN" sz="2800" dirty="0" err="1"/>
              <a:t>JFrame.EXIT_ON_CLOSE</a:t>
            </a:r>
            <a:r>
              <a:rPr lang="en-IN" sz="2800" dirty="0"/>
              <a:t>);</a:t>
            </a:r>
          </a:p>
          <a:p>
            <a:pPr>
              <a:lnSpc>
                <a:spcPct val="200000"/>
              </a:lnSpc>
            </a:pPr>
            <a:r>
              <a:rPr lang="en-IN" sz="2800" dirty="0" err="1"/>
              <a:t>frame.setVisible</a:t>
            </a:r>
            <a:r>
              <a:rPr lang="en-IN" sz="2800" dirty="0"/>
              <a:t>(true); } }</a:t>
            </a:r>
          </a:p>
          <a:p>
            <a:endParaRPr lang="en-US" sz="2800" dirty="0"/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18825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FC95C0-5BA6-4A46-A61F-F65C502AD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012" y="1422031"/>
            <a:ext cx="9211377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2.Adding a Panel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Next, we add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the frame. A panel is a container that can hold other components.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javax.swing.JFrame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javax.swing.JPanel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public class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SimpleSwingApp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 public static void main(String[]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frame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("Simple Swing App");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(400, 300);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frame.setDefaultCloseOperation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JFrame.EXIT_ON_CLOSE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panel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frame.add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frame.setVisible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(true); } }</a:t>
            </a:r>
          </a:p>
        </p:txBody>
      </p:sp>
    </p:spTree>
    <p:extLst>
      <p:ext uri="{BB962C8B-B14F-4D97-AF65-F5344CB8AC3E}">
        <p14:creationId xmlns:p14="http://schemas.microsoft.com/office/powerpoint/2010/main" val="3179970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FB73B1-C6EB-4E79-87DA-FBD012B62C18}"/>
              </a:ext>
            </a:extLst>
          </p:cNvPr>
          <p:cNvSpPr/>
          <p:nvPr/>
        </p:nvSpPr>
        <p:spPr>
          <a:xfrm>
            <a:off x="-1" y="420386"/>
            <a:ext cx="12079705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3.Adding Components to the Panel</a:t>
            </a:r>
          </a:p>
          <a:p>
            <a:r>
              <a:rPr lang="en-US" sz="2800" dirty="0"/>
              <a:t>We'll add a label, text field, and button to the panel.</a:t>
            </a:r>
          </a:p>
          <a:p>
            <a:r>
              <a:rPr lang="en-IN" sz="2800" dirty="0"/>
              <a:t>import </a:t>
            </a:r>
            <a:r>
              <a:rPr lang="en-IN" sz="2800" dirty="0" err="1"/>
              <a:t>javax.swing</a:t>
            </a:r>
            <a:r>
              <a:rPr lang="en-IN" sz="2800" dirty="0"/>
              <a:t>.*; </a:t>
            </a:r>
          </a:p>
          <a:p>
            <a:r>
              <a:rPr lang="en-IN" sz="2800" dirty="0"/>
              <a:t>public class </a:t>
            </a:r>
            <a:r>
              <a:rPr lang="en-IN" sz="2800" dirty="0" err="1"/>
              <a:t>SimpleSwingApp</a:t>
            </a:r>
            <a:r>
              <a:rPr lang="en-IN" sz="2800" dirty="0"/>
              <a:t> { </a:t>
            </a:r>
          </a:p>
          <a:p>
            <a:r>
              <a:rPr lang="en-IN" sz="2800" dirty="0"/>
              <a:t>public static void main(String[] </a:t>
            </a:r>
            <a:r>
              <a:rPr lang="en-IN" sz="2800" dirty="0" err="1"/>
              <a:t>args</a:t>
            </a:r>
            <a:r>
              <a:rPr lang="en-IN" sz="2800" dirty="0"/>
              <a:t>) { </a:t>
            </a:r>
          </a:p>
          <a:p>
            <a:r>
              <a:rPr lang="en-IN" sz="2800" dirty="0" err="1"/>
              <a:t>JFrame</a:t>
            </a:r>
            <a:r>
              <a:rPr lang="en-IN" sz="2800" dirty="0"/>
              <a:t> frame = new </a:t>
            </a:r>
            <a:r>
              <a:rPr lang="en-IN" sz="2800" dirty="0" err="1"/>
              <a:t>JFrame</a:t>
            </a:r>
            <a:r>
              <a:rPr lang="en-IN" sz="2800" dirty="0"/>
              <a:t>("Simple Swing App"); </a:t>
            </a:r>
          </a:p>
          <a:p>
            <a:r>
              <a:rPr lang="en-IN" sz="2800" dirty="0" err="1"/>
              <a:t>frame.setSize</a:t>
            </a:r>
            <a:r>
              <a:rPr lang="en-IN" sz="2800" dirty="0"/>
              <a:t>(400, 300); </a:t>
            </a:r>
            <a:r>
              <a:rPr lang="en-IN" sz="2800" dirty="0" err="1"/>
              <a:t>frame.setDefaultCloseOperation</a:t>
            </a:r>
            <a:r>
              <a:rPr lang="en-IN" sz="2800" dirty="0"/>
              <a:t>(</a:t>
            </a:r>
            <a:r>
              <a:rPr lang="en-IN" sz="2800" dirty="0" err="1"/>
              <a:t>JFrame.EXIT_ON_CLOSE</a:t>
            </a:r>
            <a:r>
              <a:rPr lang="en-IN" sz="2800" dirty="0"/>
              <a:t>); </a:t>
            </a:r>
          </a:p>
          <a:p>
            <a:r>
              <a:rPr lang="en-IN" sz="2800" dirty="0" err="1"/>
              <a:t>JPanel</a:t>
            </a:r>
            <a:r>
              <a:rPr lang="en-IN" sz="2800" dirty="0"/>
              <a:t> panel = new </a:t>
            </a:r>
            <a:r>
              <a:rPr lang="en-IN" sz="2800" dirty="0" err="1"/>
              <a:t>JPanel</a:t>
            </a:r>
            <a:r>
              <a:rPr lang="en-IN" sz="2800" dirty="0"/>
              <a:t>();</a:t>
            </a:r>
          </a:p>
          <a:p>
            <a:r>
              <a:rPr lang="en-IN" sz="2800" dirty="0" err="1"/>
              <a:t>frame.add</a:t>
            </a:r>
            <a:r>
              <a:rPr lang="en-IN" sz="2800" dirty="0"/>
              <a:t>(panel); </a:t>
            </a:r>
          </a:p>
          <a:p>
            <a:r>
              <a:rPr lang="en-IN" sz="2800" dirty="0" err="1"/>
              <a:t>placeComponents</a:t>
            </a:r>
            <a:r>
              <a:rPr lang="en-IN" sz="2800" dirty="0"/>
              <a:t>(panel); </a:t>
            </a:r>
          </a:p>
          <a:p>
            <a:r>
              <a:rPr lang="en-IN" sz="2800" dirty="0" err="1"/>
              <a:t>frame.setVisible</a:t>
            </a:r>
            <a:r>
              <a:rPr lang="en-IN" sz="2800" dirty="0"/>
              <a:t>(true); </a:t>
            </a:r>
          </a:p>
          <a:p>
            <a:r>
              <a:rPr lang="en-IN" sz="2800" dirty="0"/>
              <a:t>} private static void </a:t>
            </a:r>
            <a:r>
              <a:rPr lang="en-IN" sz="2800" dirty="0" err="1"/>
              <a:t>placeComponents</a:t>
            </a:r>
            <a:r>
              <a:rPr lang="en-IN" sz="2800" dirty="0"/>
              <a:t>(</a:t>
            </a:r>
            <a:r>
              <a:rPr lang="en-IN" sz="2800" dirty="0" err="1"/>
              <a:t>JPanel</a:t>
            </a:r>
            <a:r>
              <a:rPr lang="en-IN" sz="2800" dirty="0"/>
              <a:t> panel) </a:t>
            </a:r>
          </a:p>
          <a:p>
            <a:r>
              <a:rPr lang="en-IN" sz="2800" dirty="0"/>
              <a:t>{ </a:t>
            </a:r>
          </a:p>
          <a:p>
            <a:r>
              <a:rPr lang="en-IN" sz="2800" dirty="0" err="1"/>
              <a:t>panel.setLayout</a:t>
            </a:r>
            <a:r>
              <a:rPr lang="en-IN" sz="2800" dirty="0"/>
              <a:t>(null); </a:t>
            </a:r>
            <a:r>
              <a:rPr lang="en-IN" sz="2800" dirty="0" err="1"/>
              <a:t>JLabel</a:t>
            </a:r>
            <a:r>
              <a:rPr lang="en-IN" sz="2800" dirty="0"/>
              <a:t> </a:t>
            </a:r>
            <a:r>
              <a:rPr lang="en-IN" sz="2800" dirty="0" err="1"/>
              <a:t>userLabel</a:t>
            </a:r>
            <a:r>
              <a:rPr lang="en-IN" sz="2800" dirty="0"/>
              <a:t> = new </a:t>
            </a:r>
            <a:r>
              <a:rPr lang="en-IN" sz="2800" dirty="0" err="1"/>
              <a:t>JLabel</a:t>
            </a:r>
            <a:r>
              <a:rPr lang="en-IN" sz="2800" dirty="0"/>
              <a:t>("User:");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06549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C0498F-63E0-41D8-9C7F-43B58EBF2F20}"/>
              </a:ext>
            </a:extLst>
          </p:cNvPr>
          <p:cNvSpPr/>
          <p:nvPr/>
        </p:nvSpPr>
        <p:spPr>
          <a:xfrm>
            <a:off x="121920" y="516070"/>
            <a:ext cx="11794156" cy="8340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/>
              <a:t>userLabel.setBounds</a:t>
            </a:r>
            <a:r>
              <a:rPr lang="en-IN" sz="2800" dirty="0"/>
              <a:t>(10, 20, 80, 25); </a:t>
            </a:r>
          </a:p>
          <a:p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userLabel</a:t>
            </a:r>
            <a:r>
              <a:rPr lang="en-IN" sz="2800" dirty="0"/>
              <a:t>); </a:t>
            </a:r>
          </a:p>
          <a:p>
            <a:r>
              <a:rPr lang="en-IN" sz="2800" dirty="0" err="1"/>
              <a:t>JTextField</a:t>
            </a:r>
            <a:r>
              <a:rPr lang="en-IN" sz="2800" dirty="0"/>
              <a:t> </a:t>
            </a:r>
            <a:r>
              <a:rPr lang="en-IN" sz="2800" dirty="0" err="1"/>
              <a:t>userText</a:t>
            </a:r>
            <a:r>
              <a:rPr lang="en-IN" sz="2800" dirty="0"/>
              <a:t> = new </a:t>
            </a:r>
            <a:r>
              <a:rPr lang="en-IN" sz="2800" dirty="0" err="1"/>
              <a:t>JTextField</a:t>
            </a:r>
            <a:r>
              <a:rPr lang="en-IN" sz="2800" dirty="0"/>
              <a:t>(20); </a:t>
            </a:r>
          </a:p>
          <a:p>
            <a:r>
              <a:rPr lang="en-IN" sz="2800" dirty="0" err="1"/>
              <a:t>userText.setBounds</a:t>
            </a:r>
            <a:r>
              <a:rPr lang="en-IN" sz="2800" dirty="0"/>
              <a:t>(100, 20, 165, 25); </a:t>
            </a:r>
          </a:p>
          <a:p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userText</a:t>
            </a:r>
            <a:r>
              <a:rPr lang="en-IN" sz="2800" dirty="0"/>
              <a:t>); </a:t>
            </a:r>
          </a:p>
          <a:p>
            <a:r>
              <a:rPr lang="en-IN" sz="2800" dirty="0" err="1"/>
              <a:t>JButton</a:t>
            </a:r>
            <a:r>
              <a:rPr lang="en-IN" sz="2800" dirty="0"/>
              <a:t> </a:t>
            </a:r>
            <a:r>
              <a:rPr lang="en-IN" sz="2800" dirty="0" err="1"/>
              <a:t>loginButton</a:t>
            </a:r>
            <a:r>
              <a:rPr lang="en-IN" sz="2800" dirty="0"/>
              <a:t> = new </a:t>
            </a:r>
            <a:r>
              <a:rPr lang="en-IN" sz="2800" dirty="0" err="1"/>
              <a:t>JButton</a:t>
            </a:r>
            <a:r>
              <a:rPr lang="en-IN" sz="2800" dirty="0"/>
              <a:t>("Login");</a:t>
            </a:r>
          </a:p>
          <a:p>
            <a:r>
              <a:rPr lang="en-IN" sz="2800" dirty="0" err="1"/>
              <a:t>loginButton.setBounds</a:t>
            </a:r>
            <a:r>
              <a:rPr lang="en-IN" sz="2800" dirty="0"/>
              <a:t>(10, 80, 80, 25); </a:t>
            </a:r>
          </a:p>
          <a:p>
            <a:r>
              <a:rPr lang="en-IN" sz="2800" dirty="0" err="1"/>
              <a:t>panel.add</a:t>
            </a:r>
            <a:r>
              <a:rPr lang="en-IN" sz="2800" dirty="0"/>
              <a:t>(</a:t>
            </a:r>
            <a:r>
              <a:rPr lang="en-IN" sz="2800" dirty="0" err="1"/>
              <a:t>loginButton</a:t>
            </a:r>
            <a:r>
              <a:rPr lang="en-IN" sz="2800" dirty="0"/>
              <a:t>); } }</a:t>
            </a:r>
          </a:p>
          <a:p>
            <a:endParaRPr lang="en-US" sz="2800" dirty="0"/>
          </a:p>
          <a:p>
            <a:r>
              <a:rPr lang="en-US" sz="2800" b="1" dirty="0"/>
              <a:t>Adding Event Handling</a:t>
            </a:r>
          </a:p>
          <a:p>
            <a:r>
              <a:rPr lang="en-US" sz="2800" dirty="0"/>
              <a:t>Finally, we'll add an action listener to the button to display a message when it is clicked.</a:t>
            </a:r>
          </a:p>
          <a:p>
            <a:endParaRPr lang="en-US" sz="2800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171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80DE60-8EA4-4FA9-9855-D6B66C2B2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755" y="1145148"/>
            <a:ext cx="11405937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.*;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java.awt.event.ActionEvent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java.awt.event.ActionListener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class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SimpleSwingApp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{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static void main(String[]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frame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("Simple Swing App");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(400,300);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frame.setDefaultCloseOperation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JFrame.EXIT_ON_CLOSE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panel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frame.add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placeComponents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frame.setVisible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(true);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40159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4BDEB2-ADDF-4320-B826-8D24E649A752}"/>
              </a:ext>
            </a:extLst>
          </p:cNvPr>
          <p:cNvSpPr/>
          <p:nvPr/>
        </p:nvSpPr>
        <p:spPr>
          <a:xfrm>
            <a:off x="202131" y="500515"/>
            <a:ext cx="11781322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private static void </a:t>
            </a:r>
            <a:r>
              <a:rPr lang="en-US" altLang="en-US" sz="2800" dirty="0" err="1"/>
              <a:t>placeComponents</a:t>
            </a:r>
            <a:r>
              <a:rPr lang="en-US" altLang="en-US" sz="2800" dirty="0"/>
              <a:t>(</a:t>
            </a:r>
            <a:r>
              <a:rPr lang="en-US" altLang="en-US" sz="2800" dirty="0" err="1"/>
              <a:t>JPanel</a:t>
            </a:r>
            <a:r>
              <a:rPr lang="en-US" altLang="en-US" sz="2800" dirty="0"/>
              <a:t> panel)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{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panel.setLayout</a:t>
            </a:r>
            <a:r>
              <a:rPr lang="en-US" altLang="en-US" sz="2800" dirty="0"/>
              <a:t>(null);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JLabel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userLabel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JLabel</a:t>
            </a:r>
            <a:r>
              <a:rPr lang="en-US" altLang="en-US" sz="2800" dirty="0"/>
              <a:t>("User:");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userLabel.setBounds</a:t>
            </a:r>
            <a:r>
              <a:rPr lang="en-US" altLang="en-US" sz="2800" dirty="0"/>
              <a:t>(10, 20, 80, 25);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userLabel</a:t>
            </a:r>
            <a:r>
              <a:rPr lang="en-US" altLang="en-US" sz="2800" dirty="0"/>
              <a:t>);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JTextField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userText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JTextField</a:t>
            </a:r>
            <a:r>
              <a:rPr lang="en-US" altLang="en-US" sz="2800" dirty="0"/>
              <a:t>(20);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userText.setBounds</a:t>
            </a:r>
            <a:r>
              <a:rPr lang="en-US" altLang="en-US" sz="2800" dirty="0"/>
              <a:t>(100, 20, 165, 25);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userText</a:t>
            </a:r>
            <a:r>
              <a:rPr lang="en-US" altLang="en-US" sz="2800" dirty="0"/>
              <a:t>); </a:t>
            </a:r>
            <a:r>
              <a:rPr lang="en-US" altLang="en-US" sz="2800" dirty="0" err="1"/>
              <a:t>JButton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loginButton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JButton</a:t>
            </a:r>
            <a:r>
              <a:rPr lang="en-US" altLang="en-US" sz="2800" dirty="0"/>
              <a:t>("Login");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loginButton.setBounds</a:t>
            </a:r>
            <a:r>
              <a:rPr lang="en-US" altLang="en-US" sz="2800" dirty="0"/>
              <a:t>(10,80,80,25);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loginButton</a:t>
            </a:r>
            <a:r>
              <a:rPr lang="en-US" altLang="en-US" sz="2800" dirty="0"/>
              <a:t>); </a:t>
            </a:r>
            <a:r>
              <a:rPr lang="en-US" altLang="en-US" sz="2800" dirty="0" err="1"/>
              <a:t>loginButton.addActionListener</a:t>
            </a:r>
            <a:r>
              <a:rPr lang="en-US" altLang="en-US" sz="2800" dirty="0"/>
              <a:t>(new ActionListener()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{</a:t>
            </a:r>
          </a:p>
        </p:txBody>
      </p:sp>
    </p:spTree>
    <p:extLst>
      <p:ext uri="{BB962C8B-B14F-4D97-AF65-F5344CB8AC3E}">
        <p14:creationId xmlns:p14="http://schemas.microsoft.com/office/powerpoint/2010/main" val="129235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DE0481-D39D-4578-8B88-EAFEF42ACEE7}"/>
              </a:ext>
            </a:extLst>
          </p:cNvPr>
          <p:cNvSpPr/>
          <p:nvPr/>
        </p:nvSpPr>
        <p:spPr>
          <a:xfrm>
            <a:off x="0" y="372782"/>
            <a:ext cx="11935326" cy="914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public void </a:t>
            </a:r>
            <a:r>
              <a:rPr lang="en-US" altLang="en-US" sz="2800" dirty="0" err="1"/>
              <a:t>actionPerformed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ActionEvent</a:t>
            </a:r>
            <a:r>
              <a:rPr lang="en-US" altLang="en-US" sz="2800" dirty="0"/>
              <a:t> e)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{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 String username = </a:t>
            </a:r>
            <a:r>
              <a:rPr lang="en-US" altLang="en-US" sz="2800" dirty="0" err="1"/>
              <a:t>userText.getText</a:t>
            </a:r>
            <a:r>
              <a:rPr lang="en-US" altLang="en-US" sz="2800" dirty="0"/>
              <a:t>(); </a:t>
            </a:r>
            <a:r>
              <a:rPr lang="en-US" altLang="en-US" sz="2800" dirty="0" err="1"/>
              <a:t>JOptionPane.showMessageDialog</a:t>
            </a:r>
            <a:r>
              <a:rPr lang="en-US" altLang="en-US" sz="2800" dirty="0"/>
              <a:t>(null, "Hello, " + username + "!"); } }); } } </a:t>
            </a:r>
            <a:endParaRPr lang="en-US" altLang="en-US" sz="2800" b="1" dirty="0"/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Complete Code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Here is the complete code for the simple Swing application: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200444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AB5BB-39A7-49AA-9A33-92541F1A7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17" y="86919"/>
            <a:ext cx="11874366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javax.swing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.*;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java.awt.event.ActionEvent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java.awt.event.ActionListener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public class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SimpleSwingApp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public static void main(String[]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args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frame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("Simple Swing App");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frame.setSize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(400, 300);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frame.setDefaultCloseOperation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JFrame.EXIT_ON_CLOSE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panel = new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frame.add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placeComponents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(panel);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frame.setVisible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(true);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private static void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placeComponents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panel)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panel.setLayout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(null);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18267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8DF48-FC62-47F8-A613-68ACBF8DFD77}"/>
              </a:ext>
            </a:extLst>
          </p:cNvPr>
          <p:cNvSpPr/>
          <p:nvPr/>
        </p:nvSpPr>
        <p:spPr>
          <a:xfrm>
            <a:off x="152400" y="-144379"/>
            <a:ext cx="118872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sz="2800" dirty="0" err="1"/>
              <a:t>JLabel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userLabel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JLabel</a:t>
            </a:r>
            <a:r>
              <a:rPr lang="en-US" altLang="en-US" sz="2800" dirty="0"/>
              <a:t>("User:"); </a:t>
            </a:r>
          </a:p>
          <a:p>
            <a:pPr algn="just"/>
            <a:r>
              <a:rPr lang="en-US" altLang="en-US" sz="2800" dirty="0" err="1"/>
              <a:t>userLabel.setBounds</a:t>
            </a:r>
            <a:r>
              <a:rPr lang="en-US" altLang="en-US" sz="2800" dirty="0"/>
              <a:t>(10, 20, 80, 25); </a:t>
            </a:r>
          </a:p>
          <a:p>
            <a:pPr algn="just"/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userLabel</a:t>
            </a:r>
            <a:r>
              <a:rPr lang="en-US" altLang="en-US" sz="2800" dirty="0"/>
              <a:t>); </a:t>
            </a:r>
          </a:p>
          <a:p>
            <a:pPr algn="just"/>
            <a:r>
              <a:rPr lang="en-US" altLang="en-US" sz="2800" dirty="0" err="1"/>
              <a:t>JTextField</a:t>
            </a:r>
            <a:r>
              <a:rPr lang="en-US" altLang="en-US" sz="2800" dirty="0"/>
              <a:t> </a:t>
            </a:r>
            <a:r>
              <a:rPr lang="en-US" altLang="en-US" sz="2800" dirty="0" err="1"/>
              <a:t>userText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JTextField</a:t>
            </a:r>
            <a:r>
              <a:rPr lang="en-US" altLang="en-US" sz="2800" dirty="0"/>
              <a:t>(20); </a:t>
            </a:r>
          </a:p>
          <a:p>
            <a:pPr algn="just"/>
            <a:r>
              <a:rPr lang="en-US" altLang="en-US" sz="2800" dirty="0" err="1"/>
              <a:t>userText.setBounds</a:t>
            </a:r>
            <a:r>
              <a:rPr lang="en-US" altLang="en-US" sz="2800" dirty="0"/>
              <a:t>(100, 20, 165, 25); </a:t>
            </a:r>
          </a:p>
          <a:p>
            <a:pPr algn="just"/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userText</a:t>
            </a:r>
            <a:r>
              <a:rPr lang="en-US" altLang="en-US" sz="2800" dirty="0"/>
              <a:t>); </a:t>
            </a:r>
          </a:p>
          <a:p>
            <a:pPr algn="just"/>
            <a:r>
              <a:rPr lang="en-US" altLang="en-US" sz="2800" dirty="0" err="1"/>
              <a:t>JButton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loginButton</a:t>
            </a:r>
            <a:r>
              <a:rPr lang="en-US" altLang="en-US" sz="2800" dirty="0"/>
              <a:t> = new </a:t>
            </a:r>
            <a:r>
              <a:rPr lang="en-US" altLang="en-US" sz="2800" dirty="0" err="1"/>
              <a:t>JButton</a:t>
            </a:r>
            <a:r>
              <a:rPr lang="en-US" altLang="en-US" sz="2800" dirty="0"/>
              <a:t>("Login"); </a:t>
            </a:r>
          </a:p>
          <a:p>
            <a:pPr algn="just"/>
            <a:r>
              <a:rPr lang="en-US" altLang="en-US" sz="2800" dirty="0" err="1"/>
              <a:t>loginButton.setBounds</a:t>
            </a:r>
            <a:r>
              <a:rPr lang="en-US" altLang="en-US" sz="2800" dirty="0"/>
              <a:t>(10, 80, 80, 25); </a:t>
            </a:r>
          </a:p>
          <a:p>
            <a:pPr algn="just"/>
            <a:r>
              <a:rPr lang="en-US" altLang="en-US" sz="2800" dirty="0" err="1"/>
              <a:t>panel.add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loginButton</a:t>
            </a:r>
            <a:r>
              <a:rPr lang="en-US" altLang="en-US" sz="2800" dirty="0"/>
              <a:t>); </a:t>
            </a:r>
          </a:p>
          <a:p>
            <a:pPr algn="just"/>
            <a:r>
              <a:rPr lang="en-US" altLang="en-US" sz="2800" dirty="0" err="1"/>
              <a:t>loginButton.addActionListener</a:t>
            </a:r>
            <a:r>
              <a:rPr lang="en-US" altLang="en-US" sz="2800" dirty="0"/>
              <a:t>(new ActionListener()</a:t>
            </a:r>
          </a:p>
          <a:p>
            <a:pPr algn="just"/>
            <a:r>
              <a:rPr lang="en-US" altLang="en-US" sz="2800" dirty="0"/>
              <a:t>{</a:t>
            </a:r>
          </a:p>
          <a:p>
            <a:pPr algn="just"/>
            <a:r>
              <a:rPr lang="en-US" altLang="en-US" sz="2800" dirty="0"/>
              <a:t> public void </a:t>
            </a:r>
            <a:r>
              <a:rPr lang="en-US" altLang="en-US" sz="2800" dirty="0" err="1"/>
              <a:t>actionPerformed</a:t>
            </a:r>
            <a:r>
              <a:rPr lang="en-US" altLang="en-US" sz="2800" dirty="0"/>
              <a:t>(</a:t>
            </a:r>
            <a:r>
              <a:rPr lang="en-US" altLang="en-US" sz="2800" dirty="0" err="1"/>
              <a:t>ActionEvent</a:t>
            </a:r>
            <a:r>
              <a:rPr lang="en-US" altLang="en-US" sz="2800" dirty="0"/>
              <a:t> e) </a:t>
            </a:r>
          </a:p>
          <a:p>
            <a:pPr algn="just"/>
            <a:r>
              <a:rPr lang="en-US" altLang="en-US" sz="2800" dirty="0"/>
              <a:t>{ </a:t>
            </a:r>
          </a:p>
          <a:p>
            <a:pPr algn="just"/>
            <a:r>
              <a:rPr lang="en-US" altLang="en-US" sz="2800" dirty="0"/>
              <a:t>String username = </a:t>
            </a:r>
            <a:r>
              <a:rPr lang="en-US" altLang="en-US" sz="2800" dirty="0" err="1"/>
              <a:t>userText.getText</a:t>
            </a:r>
            <a:r>
              <a:rPr lang="en-US" altLang="en-US" sz="2800" dirty="0"/>
              <a:t>(); </a:t>
            </a:r>
          </a:p>
          <a:p>
            <a:pPr algn="just"/>
            <a:r>
              <a:rPr lang="en-US" altLang="en-US" sz="2800" dirty="0" err="1"/>
              <a:t>JOptionPane.showMessageDialog</a:t>
            </a:r>
            <a:r>
              <a:rPr lang="en-US" altLang="en-US" sz="2800" dirty="0"/>
              <a:t>(null, "Hello, " + username + "!"); } }); } }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89655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689D5A-87A6-41AD-8B4A-965C4B67FA0E}"/>
              </a:ext>
            </a:extLst>
          </p:cNvPr>
          <p:cNvSpPr/>
          <p:nvPr/>
        </p:nvSpPr>
        <p:spPr>
          <a:xfrm>
            <a:off x="154004" y="433137"/>
            <a:ext cx="11858324" cy="5196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Running the Application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To run this application: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800" dirty="0"/>
              <a:t>Save the code to a file named SimpleSwingApp.java.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800" dirty="0"/>
              <a:t>Compile the file using the command: </a:t>
            </a:r>
            <a:r>
              <a:rPr lang="en-US" altLang="en-US" sz="2800" dirty="0" err="1"/>
              <a:t>javac</a:t>
            </a:r>
            <a:r>
              <a:rPr lang="en-US" altLang="en-US" sz="2800" dirty="0"/>
              <a:t> SimpleSwingApp.java.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800" dirty="0"/>
              <a:t>Run the compiled class using: java </a:t>
            </a:r>
            <a:r>
              <a:rPr lang="en-US" altLang="en-US" sz="2800" dirty="0" err="1"/>
              <a:t>SimpleSwingApp</a:t>
            </a:r>
            <a:r>
              <a:rPr lang="en-US" altLang="en-US" sz="2800" dirty="0"/>
              <a:t>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This application creates a simple window with a text field and a button. When the button is clicked, a dialog box displays a message with the entered username.</a:t>
            </a:r>
          </a:p>
        </p:txBody>
      </p:sp>
    </p:spTree>
    <p:extLst>
      <p:ext uri="{BB962C8B-B14F-4D97-AF65-F5344CB8AC3E}">
        <p14:creationId xmlns:p14="http://schemas.microsoft.com/office/powerpoint/2010/main" val="25893896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1FE991-6B6E-4D1C-AD11-7F2CF7025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26" y="648498"/>
            <a:ext cx="11790948" cy="5142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Layout managers in Java Swing are used to arrange components within a container (such as 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JFrame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JPanel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 control the size and position of the components, making it easier to create complex and responsive user interfaces.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Here’s an overview of the most commonly used layout managers in Swing: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976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C40F3A-4662-49C5-A820-2F1BC42EB8BA}"/>
              </a:ext>
            </a:extLst>
          </p:cNvPr>
          <p:cNvSpPr/>
          <p:nvPr/>
        </p:nvSpPr>
        <p:spPr>
          <a:xfrm>
            <a:off x="176463" y="488093"/>
            <a:ext cx="11839074" cy="55245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Java Database Connectivity (JDBC) is a Java-based API that allows Java applications to interact with databases. JDBC provides a standard interface for connecting to relational databases, executing SQL queries, and retrieving results. Here's an introduction to JDBC, covering the basics you need to get started.</a:t>
            </a:r>
            <a:endParaRPr lang="en-US" altLang="en-US" sz="9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/>
              <a:t>Key Components of JDBC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300" b="1" dirty="0"/>
              <a:t>JDBC Driver</a:t>
            </a:r>
            <a:endParaRPr lang="en-US" altLang="en-US" sz="23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A JDBC driver is a software component that enables Java applications to interact with a database. Different databases require different JDBC drivers.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Types of JDBC Drivers: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Type 1: JDBC-ODBC Bridge Driver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Type 2: Native-API Driver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Type 3: Network Protocol Driver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Type 4: Thin Driver (Pure Java driver)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300" b="1" dirty="0"/>
              <a:t>Connection</a:t>
            </a:r>
            <a:endParaRPr lang="en-US" altLang="en-US" sz="23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Represents a connection to a specific database. It is used to create statements and manage transactions.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Example: Connection conn = </a:t>
            </a:r>
            <a:r>
              <a:rPr lang="en-US" altLang="en-US" sz="2300" dirty="0" err="1"/>
              <a:t>DriverManager.getConnection</a:t>
            </a:r>
            <a:r>
              <a:rPr lang="en-US" altLang="en-US" sz="2300" dirty="0"/>
              <a:t>(</a:t>
            </a:r>
            <a:r>
              <a:rPr lang="en-US" altLang="en-US" sz="2300" dirty="0" err="1"/>
              <a:t>url</a:t>
            </a:r>
            <a:r>
              <a:rPr lang="en-US" altLang="en-US" sz="2300" dirty="0"/>
              <a:t>, user, password);</a:t>
            </a:r>
          </a:p>
        </p:txBody>
      </p:sp>
    </p:spTree>
    <p:extLst>
      <p:ext uri="{BB962C8B-B14F-4D97-AF65-F5344CB8AC3E}">
        <p14:creationId xmlns:p14="http://schemas.microsoft.com/office/powerpoint/2010/main" val="1592340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6B25B3-A704-421C-9C3E-4922416A426A}"/>
              </a:ext>
            </a:extLst>
          </p:cNvPr>
          <p:cNvSpPr/>
          <p:nvPr/>
        </p:nvSpPr>
        <p:spPr>
          <a:xfrm>
            <a:off x="163630" y="413886"/>
            <a:ext cx="11502190" cy="9679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800" b="1" dirty="0"/>
              <a:t>Statement</a:t>
            </a:r>
            <a:endParaRPr lang="en-US" altLang="en-US" sz="28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Used to execute SQL queries against the database. There are three types: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Statement: Used for simple SQL statements without parameters.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/>
              <a:t>PreparedStatement</a:t>
            </a:r>
            <a:r>
              <a:rPr lang="en-US" altLang="en-US" sz="2800" dirty="0"/>
              <a:t>: Used for precompiled SQL statements with parameters.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 err="1"/>
              <a:t>CallableStatement</a:t>
            </a:r>
            <a:r>
              <a:rPr lang="en-US" altLang="en-US" sz="2800" dirty="0"/>
              <a:t>: Used to execute stored procedures.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800" b="1" dirty="0" err="1">
                <a:latin typeface="Arial" panose="020B0604020202020204" pitchFamily="34" charset="0"/>
              </a:rPr>
              <a:t>ResultSet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Represents the result set of a query. It is used to iterate over the data returned by the query.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Example: </a:t>
            </a:r>
            <a:r>
              <a:rPr lang="en-US" altLang="en-US" sz="2800" dirty="0" err="1"/>
              <a:t>ResultSet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rs</a:t>
            </a:r>
            <a:r>
              <a:rPr lang="en-US" altLang="en-US" sz="2800" dirty="0"/>
              <a:t> = </a:t>
            </a:r>
            <a:r>
              <a:rPr lang="en-US" altLang="en-US" sz="2800" dirty="0" err="1"/>
              <a:t>stmt.executeQuery</a:t>
            </a:r>
            <a:r>
              <a:rPr lang="en-US" altLang="en-US" sz="2800" dirty="0"/>
              <a:t>("SELECT * FROM users");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1668943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000A7E-408A-4F77-B0F6-A442B8A2219A}"/>
              </a:ext>
            </a:extLst>
          </p:cNvPr>
          <p:cNvSpPr/>
          <p:nvPr/>
        </p:nvSpPr>
        <p:spPr>
          <a:xfrm>
            <a:off x="330467" y="1071801"/>
            <a:ext cx="11531065" cy="57861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400" b="1" dirty="0"/>
              <a:t>Load the JDBC Driver</a:t>
            </a:r>
            <a:endParaRPr lang="en-US" altLang="en-US" sz="24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Ensure that the JDBC driver is available in your </a:t>
            </a:r>
            <a:r>
              <a:rPr lang="en-US" altLang="en-US" sz="2400" dirty="0" err="1"/>
              <a:t>classpath</a:t>
            </a:r>
            <a:r>
              <a:rPr lang="en-US" altLang="en-US" sz="2400" dirty="0"/>
              <a:t>. For example, for MySQL, you would need mysql-connector-java.jar.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/>
              <a:t>Load the driver class (not necessary for newer JDBC versions as the driver auto-registers).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/>
              <a:t>try { </a:t>
            </a:r>
            <a:r>
              <a:rPr lang="en-US" altLang="en-US" sz="2400" dirty="0" err="1"/>
              <a:t>Class.forName</a:t>
            </a:r>
            <a:r>
              <a:rPr lang="en-US" altLang="en-US" sz="2400" dirty="0"/>
              <a:t>("</a:t>
            </a:r>
            <a:r>
              <a:rPr lang="en-US" altLang="en-US" sz="2400" dirty="0" err="1"/>
              <a:t>com.mysql.cj.jdbc.Driver</a:t>
            </a:r>
            <a:r>
              <a:rPr lang="en-US" altLang="en-US" sz="2400" dirty="0"/>
              <a:t>"); } catch (</a:t>
            </a:r>
            <a:r>
              <a:rPr lang="en-US" altLang="en-US" sz="2400" dirty="0" err="1"/>
              <a:t>ClassNotFoundException</a:t>
            </a:r>
            <a:r>
              <a:rPr lang="en-US" altLang="en-US" sz="2400" dirty="0"/>
              <a:t> e) { </a:t>
            </a:r>
            <a:r>
              <a:rPr lang="en-US" altLang="en-US" sz="2400" dirty="0" err="1"/>
              <a:t>e.printStackTrace</a:t>
            </a:r>
            <a:r>
              <a:rPr lang="en-US" altLang="en-US" sz="2400" dirty="0"/>
              <a:t>(); }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b="1" dirty="0">
                <a:latin typeface="Arial" panose="020B0604020202020204" pitchFamily="34" charset="0"/>
              </a:rPr>
              <a:t>Establish a Connection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300" dirty="0"/>
              <a:t>Use </a:t>
            </a:r>
            <a:r>
              <a:rPr lang="en-US" altLang="en-US" sz="2300" dirty="0" err="1"/>
              <a:t>DriverManager.getConnection</a:t>
            </a:r>
            <a:r>
              <a:rPr lang="en-US" altLang="en-US" sz="2300" dirty="0"/>
              <a:t>() to establish a connection to the database.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java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String </a:t>
            </a:r>
            <a:r>
              <a:rPr lang="en-US" altLang="en-US" sz="2300" dirty="0" err="1"/>
              <a:t>url</a:t>
            </a:r>
            <a:r>
              <a:rPr lang="en-US" altLang="en-US" sz="2300" dirty="0"/>
              <a:t> = "</a:t>
            </a:r>
            <a:r>
              <a:rPr lang="en-US" altLang="en-US" sz="2300" dirty="0" err="1"/>
              <a:t>jdbc:mysql</a:t>
            </a:r>
            <a:r>
              <a:rPr lang="en-US" altLang="en-US" sz="2300" dirty="0"/>
              <a:t>://localhost:3306/</a:t>
            </a:r>
            <a:r>
              <a:rPr lang="en-US" altLang="en-US" sz="2300" dirty="0" err="1"/>
              <a:t>mydatabase</a:t>
            </a:r>
            <a:r>
              <a:rPr lang="en-US" altLang="en-US" sz="2300" dirty="0"/>
              <a:t>";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String user = "username";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String password = "password";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Connection conn = null;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dirty="0"/>
              <a:t> try { conn = </a:t>
            </a:r>
            <a:r>
              <a:rPr lang="en-US" altLang="en-US" sz="2300" dirty="0" err="1"/>
              <a:t>DriverManager.getConnection</a:t>
            </a:r>
            <a:r>
              <a:rPr lang="en-US" altLang="en-US" sz="2300" dirty="0"/>
              <a:t>(</a:t>
            </a:r>
            <a:r>
              <a:rPr lang="en-US" altLang="en-US" sz="2300" dirty="0" err="1"/>
              <a:t>url</a:t>
            </a:r>
            <a:r>
              <a:rPr lang="en-US" altLang="en-US" sz="2300" dirty="0"/>
              <a:t>, user, password); } catch (</a:t>
            </a:r>
            <a:r>
              <a:rPr lang="en-US" altLang="en-US" sz="2300" dirty="0" err="1"/>
              <a:t>SQLException</a:t>
            </a:r>
            <a:r>
              <a:rPr lang="en-US" altLang="en-US" sz="2300" dirty="0"/>
              <a:t> e) { </a:t>
            </a:r>
            <a:r>
              <a:rPr lang="en-US" altLang="en-US" sz="2300" dirty="0" err="1"/>
              <a:t>e.printStackTrace</a:t>
            </a:r>
            <a:r>
              <a:rPr lang="en-US" altLang="en-US" sz="2300" dirty="0"/>
              <a:t>(); 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E365C0-AB7E-4302-B2BD-51ABF2A37C71}"/>
              </a:ext>
            </a:extLst>
          </p:cNvPr>
          <p:cNvSpPr/>
          <p:nvPr/>
        </p:nvSpPr>
        <p:spPr>
          <a:xfrm>
            <a:off x="3663730" y="404881"/>
            <a:ext cx="437336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Basic Steps to Use JDBC</a:t>
            </a:r>
          </a:p>
        </p:txBody>
      </p:sp>
    </p:spTree>
    <p:extLst>
      <p:ext uri="{BB962C8B-B14F-4D97-AF65-F5344CB8AC3E}">
        <p14:creationId xmlns:p14="http://schemas.microsoft.com/office/powerpoint/2010/main" val="2840946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A3125F-304E-4122-A123-6019EAB73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891" y="400195"/>
            <a:ext cx="11357811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 a Statement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the Connection object to create a Statement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Statement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stmt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null; try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stmt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conn.createStatement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} catch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e)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e.printStackTrace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Execute a Query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Execute SQL queries using the Statement object and obtain the result.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ResultSet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null; try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stmt.executeQuery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("SELECT * FROM users"); } catch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e)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e.printStackTrace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Process the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ResultSet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Iterate over the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ResultSet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process the data returned by the query.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try { while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rs.next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()) { int id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rs.getInt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("id"); String name =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rs.getString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("name");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System.out.println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("ID: " + id + ", Name: " + name); } } catch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SQLException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e) {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e.printStackTrace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(); } </a:t>
            </a:r>
          </a:p>
        </p:txBody>
      </p:sp>
    </p:spTree>
    <p:extLst>
      <p:ext uri="{BB962C8B-B14F-4D97-AF65-F5344CB8AC3E}">
        <p14:creationId xmlns:p14="http://schemas.microsoft.com/office/powerpoint/2010/main" val="28956929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794A9-5A26-4316-852C-A58F86DEAB23}"/>
              </a:ext>
            </a:extLst>
          </p:cNvPr>
          <p:cNvSpPr/>
          <p:nvPr/>
        </p:nvSpPr>
        <p:spPr>
          <a:xfrm>
            <a:off x="492492" y="978547"/>
            <a:ext cx="11207016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6"/>
            </a:pPr>
            <a:r>
              <a:rPr lang="en-US" altLang="en-US" sz="2800" b="1" dirty="0">
                <a:latin typeface="Arial" panose="020B0604020202020204" pitchFamily="34" charset="0"/>
              </a:rPr>
              <a:t>Close the Resources</a:t>
            </a:r>
            <a:endParaRPr lang="en-US" altLang="en-US" sz="2800" dirty="0"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/>
              <a:t>Close the </a:t>
            </a:r>
            <a:r>
              <a:rPr lang="en-US" altLang="en-US" sz="2800" dirty="0" err="1"/>
              <a:t>ResultSet</a:t>
            </a:r>
            <a:r>
              <a:rPr lang="en-US" altLang="en-US" sz="2800" dirty="0"/>
              <a:t>, Statement, and Connection objects to free up resources.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try { if (</a:t>
            </a:r>
            <a:r>
              <a:rPr lang="en-US" altLang="en-US" sz="2800" dirty="0" err="1"/>
              <a:t>rs</a:t>
            </a:r>
            <a:r>
              <a:rPr lang="en-US" altLang="en-US" sz="2800" dirty="0"/>
              <a:t> != null) </a:t>
            </a:r>
            <a:r>
              <a:rPr lang="en-US" altLang="en-US" sz="2800" dirty="0" err="1"/>
              <a:t>rs.close</a:t>
            </a:r>
            <a:r>
              <a:rPr lang="en-US" altLang="en-US" sz="2800" dirty="0"/>
              <a:t>(); if (</a:t>
            </a:r>
            <a:r>
              <a:rPr lang="en-US" altLang="en-US" sz="2800" dirty="0" err="1"/>
              <a:t>stmt</a:t>
            </a:r>
            <a:r>
              <a:rPr lang="en-US" altLang="en-US" sz="2800" dirty="0"/>
              <a:t> != null) </a:t>
            </a:r>
            <a:r>
              <a:rPr lang="en-US" altLang="en-US" sz="2800" dirty="0" err="1"/>
              <a:t>stmt.close</a:t>
            </a:r>
            <a:r>
              <a:rPr lang="en-US" altLang="en-US" sz="2800" dirty="0"/>
              <a:t>(); if (conn != null) </a:t>
            </a:r>
            <a:r>
              <a:rPr lang="en-US" altLang="en-US" sz="2800" dirty="0" err="1"/>
              <a:t>conn.close</a:t>
            </a:r>
            <a:r>
              <a:rPr lang="en-US" altLang="en-US" sz="2800" dirty="0"/>
              <a:t>(); } catch (</a:t>
            </a:r>
            <a:r>
              <a:rPr lang="en-US" altLang="en-US" sz="2800" dirty="0" err="1"/>
              <a:t>SQLException</a:t>
            </a:r>
            <a:r>
              <a:rPr lang="en-US" altLang="en-US" sz="2800" dirty="0"/>
              <a:t> e) { </a:t>
            </a:r>
            <a:r>
              <a:rPr lang="en-US" altLang="en-US" sz="2800" dirty="0" err="1"/>
              <a:t>e.printStackTrace</a:t>
            </a:r>
            <a:r>
              <a:rPr lang="en-US" altLang="en-US" sz="2800" dirty="0"/>
              <a:t>(); }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/>
              <a:t>Example: JDBC Program to Query a Database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/>
              <a:t>Here's a complete example that demonstrates how to use JDBC to connect to a MySQL database, execute a query, and process the results: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205202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3688B4-0316-43F2-AFA9-CC7E3D0826D4}"/>
              </a:ext>
            </a:extLst>
          </p:cNvPr>
          <p:cNvSpPr/>
          <p:nvPr/>
        </p:nvSpPr>
        <p:spPr>
          <a:xfrm>
            <a:off x="173255" y="612845"/>
            <a:ext cx="11713945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import </a:t>
            </a:r>
            <a:r>
              <a:rPr lang="en-US" altLang="en-US" dirty="0" err="1"/>
              <a:t>java.sql.Connection</a:t>
            </a:r>
            <a:r>
              <a:rPr lang="en-US" altLang="en-US" dirty="0"/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import </a:t>
            </a:r>
            <a:r>
              <a:rPr lang="en-US" altLang="en-US" dirty="0" err="1"/>
              <a:t>java.sql.DriverManager</a:t>
            </a:r>
            <a:r>
              <a:rPr lang="en-US" altLang="en-US" dirty="0"/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import </a:t>
            </a:r>
            <a:r>
              <a:rPr lang="en-US" altLang="en-US" dirty="0" err="1"/>
              <a:t>java.sql.ResultSet</a:t>
            </a:r>
            <a:r>
              <a:rPr lang="en-US" altLang="en-US" dirty="0"/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import </a:t>
            </a:r>
            <a:r>
              <a:rPr lang="en-US" altLang="en-US" dirty="0" err="1"/>
              <a:t>java.sql.SQLException</a:t>
            </a:r>
            <a:r>
              <a:rPr lang="en-US" altLang="en-US" dirty="0"/>
              <a:t>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import </a:t>
            </a:r>
            <a:r>
              <a:rPr lang="en-US" altLang="en-US" dirty="0" err="1"/>
              <a:t>java.sql.Statement</a:t>
            </a:r>
            <a:r>
              <a:rPr lang="en-US" altLang="en-US" dirty="0"/>
              <a:t>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public class </a:t>
            </a:r>
            <a:r>
              <a:rPr lang="en-US" altLang="en-US" dirty="0" err="1"/>
              <a:t>JdbcExample</a:t>
            </a:r>
            <a:r>
              <a:rPr lang="en-US" altLang="en-US" dirty="0"/>
              <a:t>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public static void main(String[] </a:t>
            </a:r>
            <a:r>
              <a:rPr lang="en-US" altLang="en-US" dirty="0" err="1"/>
              <a:t>args</a:t>
            </a:r>
            <a:r>
              <a:rPr lang="en-US" altLang="en-US" dirty="0"/>
              <a:t>) {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 Database URL String </a:t>
            </a:r>
            <a:r>
              <a:rPr lang="en-US" altLang="en-US" dirty="0" err="1"/>
              <a:t>url</a:t>
            </a:r>
            <a:r>
              <a:rPr lang="en-US" altLang="en-US" dirty="0"/>
              <a:t> = "</a:t>
            </a:r>
            <a:r>
              <a:rPr lang="en-US" altLang="en-US" dirty="0" err="1"/>
              <a:t>jdbc:mysql</a:t>
            </a:r>
            <a:r>
              <a:rPr lang="en-US" altLang="en-US" dirty="0"/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//localhost:3306/</a:t>
            </a:r>
            <a:r>
              <a:rPr lang="en-US" altLang="en-US" dirty="0" err="1"/>
              <a:t>mydatabase</a:t>
            </a:r>
            <a:r>
              <a:rPr lang="en-US" altLang="en-US" dirty="0"/>
              <a:t>";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String user = "username"; String password = "password";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Connection conn = null; Statement </a:t>
            </a:r>
            <a:r>
              <a:rPr lang="en-US" altLang="en-US" dirty="0" err="1"/>
              <a:t>stmt</a:t>
            </a:r>
            <a:r>
              <a:rPr lang="en-US" altLang="en-US" dirty="0"/>
              <a:t> = null; </a:t>
            </a:r>
            <a:r>
              <a:rPr lang="en-US" altLang="en-US" dirty="0" err="1"/>
              <a:t>ResultSet</a:t>
            </a:r>
            <a:r>
              <a:rPr lang="en-US" altLang="en-US" dirty="0"/>
              <a:t> </a:t>
            </a:r>
            <a:r>
              <a:rPr lang="en-US" altLang="en-US" dirty="0" err="1"/>
              <a:t>rs</a:t>
            </a:r>
            <a:r>
              <a:rPr lang="en-US" altLang="en-US" dirty="0"/>
              <a:t> = null;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try { // Load the JDBC driver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</a:t>
            </a:r>
            <a:r>
              <a:rPr lang="en-US" altLang="en-US" dirty="0" err="1"/>
              <a:t>Class.forName</a:t>
            </a:r>
            <a:r>
              <a:rPr lang="en-US" altLang="en-US" dirty="0"/>
              <a:t>("</a:t>
            </a:r>
            <a:r>
              <a:rPr lang="en-US" altLang="en-US" dirty="0" err="1"/>
              <a:t>com.mysql.cj.jdbc.Driver</a:t>
            </a:r>
            <a:r>
              <a:rPr lang="en-US" altLang="en-US" dirty="0"/>
              <a:t>");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 Establish a connection conn = </a:t>
            </a:r>
            <a:r>
              <a:rPr lang="en-US" altLang="en-US" dirty="0" err="1"/>
              <a:t>DriverManager.getConnection</a:t>
            </a:r>
            <a:r>
              <a:rPr lang="en-US" altLang="en-US" dirty="0"/>
              <a:t>(</a:t>
            </a:r>
            <a:r>
              <a:rPr lang="en-US" altLang="en-US" dirty="0" err="1"/>
              <a:t>url</a:t>
            </a:r>
            <a:r>
              <a:rPr lang="en-US" altLang="en-US" dirty="0"/>
              <a:t>, user, password);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 Create a statement </a:t>
            </a:r>
            <a:r>
              <a:rPr lang="en-US" altLang="en-US" dirty="0" err="1"/>
              <a:t>stmt</a:t>
            </a:r>
            <a:r>
              <a:rPr lang="en-US" altLang="en-US" dirty="0"/>
              <a:t> = </a:t>
            </a:r>
            <a:r>
              <a:rPr lang="en-US" altLang="en-US" dirty="0" err="1"/>
              <a:t>conn.createStatement</a:t>
            </a:r>
            <a:r>
              <a:rPr lang="en-US" altLang="en-US" dirty="0"/>
              <a:t>();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 Execute a query </a:t>
            </a:r>
            <a:r>
              <a:rPr lang="en-US" altLang="en-US" dirty="0" err="1"/>
              <a:t>rs</a:t>
            </a:r>
            <a:r>
              <a:rPr lang="en-US" altLang="en-US" dirty="0"/>
              <a:t> = </a:t>
            </a:r>
            <a:r>
              <a:rPr lang="en-US" altLang="en-US" dirty="0" err="1"/>
              <a:t>stmt.executeQuery</a:t>
            </a:r>
            <a:r>
              <a:rPr lang="en-US" altLang="en-US" dirty="0"/>
              <a:t>("SELECT * FROM users");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// Process the result set while (</a:t>
            </a:r>
            <a:r>
              <a:rPr lang="en-US" altLang="en-US" dirty="0" err="1"/>
              <a:t>rs.next</a:t>
            </a:r>
            <a:r>
              <a:rPr lang="en-US" altLang="en-US" dirty="0"/>
              <a:t>()) { int id = </a:t>
            </a:r>
            <a:r>
              <a:rPr lang="en-US" altLang="en-US" dirty="0" err="1"/>
              <a:t>rs.getInt</a:t>
            </a:r>
            <a:r>
              <a:rPr lang="en-US" altLang="en-US" dirty="0"/>
              <a:t>("id"); String name = </a:t>
            </a:r>
            <a:r>
              <a:rPr lang="en-US" altLang="en-US" dirty="0" err="1"/>
              <a:t>rs.getString</a:t>
            </a:r>
            <a:r>
              <a:rPr lang="en-US" altLang="en-US" dirty="0"/>
              <a:t>("name");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/>
              <a:t>System.out.println</a:t>
            </a:r>
            <a:r>
              <a:rPr lang="en-US" altLang="en-US" dirty="0"/>
              <a:t>("ID: " + id + ", Name: " + name); } } catch (</a:t>
            </a:r>
            <a:r>
              <a:rPr lang="en-US" altLang="en-US" dirty="0" err="1"/>
              <a:t>ClassNotFoundException</a:t>
            </a:r>
            <a:r>
              <a:rPr lang="en-US" altLang="en-US" dirty="0"/>
              <a:t> e) { </a:t>
            </a:r>
            <a:r>
              <a:rPr lang="en-US" altLang="en-US" dirty="0" err="1"/>
              <a:t>e.printStackTrace</a:t>
            </a:r>
            <a:r>
              <a:rPr lang="en-US" altLang="en-US" dirty="0"/>
              <a:t>();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 } catch (</a:t>
            </a:r>
            <a:r>
              <a:rPr lang="en-US" altLang="en-US" dirty="0" err="1"/>
              <a:t>SQLException</a:t>
            </a:r>
            <a:r>
              <a:rPr lang="en-US" altLang="en-US" dirty="0"/>
              <a:t> e) { </a:t>
            </a:r>
            <a:r>
              <a:rPr lang="en-US" altLang="en-US" dirty="0" err="1"/>
              <a:t>e.printStackTrace</a:t>
            </a:r>
            <a:r>
              <a:rPr lang="en-US" altLang="en-US" dirty="0"/>
              <a:t>();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} finally { // Close the resources try { if (</a:t>
            </a:r>
            <a:r>
              <a:rPr lang="en-US" altLang="en-US" dirty="0" err="1"/>
              <a:t>rs</a:t>
            </a:r>
            <a:r>
              <a:rPr lang="en-US" altLang="en-US" dirty="0"/>
              <a:t> != null) </a:t>
            </a:r>
            <a:r>
              <a:rPr lang="en-US" altLang="en-US" dirty="0" err="1"/>
              <a:t>rs.close</a:t>
            </a:r>
            <a:r>
              <a:rPr lang="en-US" altLang="en-US" dirty="0"/>
              <a:t>(); if (</a:t>
            </a:r>
            <a:r>
              <a:rPr lang="en-US" altLang="en-US" dirty="0" err="1"/>
              <a:t>stmt</a:t>
            </a:r>
            <a:r>
              <a:rPr lang="en-US" altLang="en-US" dirty="0"/>
              <a:t> != null) </a:t>
            </a:r>
            <a:r>
              <a:rPr lang="en-US" altLang="en-US" dirty="0" err="1"/>
              <a:t>stmt.close</a:t>
            </a:r>
            <a:r>
              <a:rPr lang="en-US" altLang="en-US" dirty="0"/>
              <a:t>();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if (conn != null) </a:t>
            </a:r>
            <a:r>
              <a:rPr lang="en-US" altLang="en-US" dirty="0" err="1"/>
              <a:t>conn.close</a:t>
            </a:r>
            <a:r>
              <a:rPr lang="en-US" altLang="en-US" dirty="0"/>
              <a:t>();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} catch (</a:t>
            </a:r>
            <a:r>
              <a:rPr lang="en-US" altLang="en-US" dirty="0" err="1"/>
              <a:t>SQLException</a:t>
            </a:r>
            <a:r>
              <a:rPr lang="en-US" altLang="en-US" dirty="0"/>
              <a:t> e) { </a:t>
            </a:r>
            <a:r>
              <a:rPr lang="en-US" altLang="en-US" dirty="0" err="1"/>
              <a:t>e.printStackTrace</a:t>
            </a:r>
            <a:r>
              <a:rPr lang="en-US" altLang="en-US" dirty="0"/>
              <a:t>(); } } } }</a:t>
            </a:r>
          </a:p>
        </p:txBody>
      </p:sp>
    </p:spTree>
    <p:extLst>
      <p:ext uri="{BB962C8B-B14F-4D97-AF65-F5344CB8AC3E}">
        <p14:creationId xmlns:p14="http://schemas.microsoft.com/office/powerpoint/2010/main" val="4095364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4E2B0C-7D99-420E-AB20-9FB161921F45}"/>
              </a:ext>
            </a:extLst>
          </p:cNvPr>
          <p:cNvSpPr/>
          <p:nvPr/>
        </p:nvSpPr>
        <p:spPr>
          <a:xfrm>
            <a:off x="93044" y="513825"/>
            <a:ext cx="11505397" cy="5342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3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1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JDBC-ODBC Bridge (rarely used, deprecated in Java 8).</a:t>
            </a:r>
          </a:p>
          <a:p>
            <a:pPr marL="342900" lvl="0" indent="-342900">
              <a:lnSpc>
                <a:spcPct val="3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2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Native-API Driver (platform-dependent, requires native libraries).</a:t>
            </a:r>
          </a:p>
          <a:p>
            <a:pPr marL="342900" lvl="0" indent="-342900">
              <a:lnSpc>
                <a:spcPct val="3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3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Network Protocol Driver (uses middleware server).</a:t>
            </a:r>
          </a:p>
          <a:p>
            <a:pPr marL="342900" lvl="0" indent="-342900">
              <a:lnSpc>
                <a:spcPct val="3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Type 4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Thin Driver (pure Java, recommended for most applications).</a:t>
            </a:r>
          </a:p>
        </p:txBody>
      </p:sp>
    </p:spTree>
    <p:extLst>
      <p:ext uri="{BB962C8B-B14F-4D97-AF65-F5344CB8AC3E}">
        <p14:creationId xmlns:p14="http://schemas.microsoft.com/office/powerpoint/2010/main" val="2772062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E8FC58-0387-474C-96F0-AFB758377360}"/>
              </a:ext>
            </a:extLst>
          </p:cNvPr>
          <p:cNvSpPr/>
          <p:nvPr/>
        </p:nvSpPr>
        <p:spPr>
          <a:xfrm>
            <a:off x="3861244" y="607011"/>
            <a:ext cx="33384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ea typeface="Arial Unicode MS"/>
              </a:rPr>
              <a:t>DB Connectivity Steps</a:t>
            </a:r>
            <a:endParaRPr lang="en-IN" sz="2800" dirty="0">
              <a:solidFill>
                <a:srgbClr val="FF0000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9D6FE85-533F-4B29-A207-C17A50F4E7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565576"/>
              </p:ext>
            </p:extLst>
          </p:nvPr>
        </p:nvGraphicFramePr>
        <p:xfrm>
          <a:off x="5678488" y="3060700"/>
          <a:ext cx="83502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834480" imgH="732240" progId="Word.Document.12">
                  <p:embed/>
                </p:oleObj>
              </mc:Choice>
              <mc:Fallback>
                <p:oleObj name="Document" showAsIcon="1" r:id="rId2" imgW="834480" imgH="7322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78488" y="3060700"/>
                        <a:ext cx="835025" cy="7318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8842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977</TotalTime>
  <Words>3208</Words>
  <Application>Microsoft Office PowerPoint</Application>
  <PresentationFormat>Widescreen</PresentationFormat>
  <Paragraphs>340</Paragraphs>
  <Slides>34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Arial Unicode MS</vt:lpstr>
      <vt:lpstr>Calibri</vt:lpstr>
      <vt:lpstr>Calibri Light</vt:lpstr>
      <vt:lpstr>Nobel-Book</vt:lpstr>
      <vt:lpstr>Roboto Medium</vt:lpstr>
      <vt:lpstr>Symbol</vt:lpstr>
      <vt:lpstr>Times New Roman</vt:lpstr>
      <vt:lpstr>Office Theme</vt:lpstr>
      <vt:lpstr>Document</vt:lpstr>
      <vt:lpstr>  M23DE0202 – Object Oriented Programming using JAVA    II Semester MCA - D   Academic Year : 2024 - 2025  </vt:lpstr>
      <vt:lpstr>Unit IV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Dileep Suresha Naik</dc:creator>
  <cp:lastModifiedBy>Prasanna Kumar R B</cp:lastModifiedBy>
  <cp:revision>140</cp:revision>
  <dcterms:created xsi:type="dcterms:W3CDTF">2023-08-10T08:59:21Z</dcterms:created>
  <dcterms:modified xsi:type="dcterms:W3CDTF">2025-07-02T09:31:07Z</dcterms:modified>
</cp:coreProperties>
</file>