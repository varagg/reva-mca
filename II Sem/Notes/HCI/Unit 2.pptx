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8.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35"/>
  </p:notesMasterIdLst>
  <p:handoutMasterIdLst>
    <p:handoutMasterId r:id="rId36"/>
  </p:handoutMasterIdLst>
  <p:sldIdLst>
    <p:sldId id="569" r:id="rId13"/>
    <p:sldId id="607" r:id="rId14"/>
    <p:sldId id="664" r:id="rId15"/>
    <p:sldId id="665" r:id="rId16"/>
    <p:sldId id="610" r:id="rId17"/>
    <p:sldId id="352" r:id="rId18"/>
    <p:sldId id="666" r:id="rId19"/>
    <p:sldId id="605" r:id="rId20"/>
    <p:sldId id="606" r:id="rId21"/>
    <p:sldId id="612" r:id="rId22"/>
    <p:sldId id="613" r:id="rId23"/>
    <p:sldId id="667" r:id="rId24"/>
    <p:sldId id="614" r:id="rId25"/>
    <p:sldId id="615" r:id="rId26"/>
    <p:sldId id="618" r:id="rId27"/>
    <p:sldId id="619" r:id="rId28"/>
    <p:sldId id="620" r:id="rId29"/>
    <p:sldId id="622" r:id="rId30"/>
    <p:sldId id="621" r:id="rId31"/>
    <p:sldId id="623" r:id="rId32"/>
    <p:sldId id="624" r:id="rId33"/>
    <p:sldId id="625" r:id="rId34"/>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A5A5A5"/>
    <a:srgbClr val="F9950F"/>
    <a:srgbClr val="E7E6E6"/>
    <a:srgbClr val="48367D"/>
    <a:srgbClr val="4C5252"/>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86391"/>
  </p:normalViewPr>
  <p:slideViewPr>
    <p:cSldViewPr>
      <p:cViewPr varScale="1">
        <p:scale>
          <a:sx n="72" d="100"/>
          <a:sy n="72" d="100"/>
        </p:scale>
        <p:origin x="412" y="60"/>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viewProps" Target="viewProps.xml"/><Relationship Id="rId21" Type="http://schemas.openxmlformats.org/officeDocument/2006/relationships/slide" Target="slides/slide9.xml"/><Relationship Id="rId34" Type="http://schemas.openxmlformats.org/officeDocument/2006/relationships/slide" Target="slides/slide22.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notesMaster" Target="notesMasters/notes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11/07/2025</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11/07/2025</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jpeg"/><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4" tIns="54862" rIns="109724" bIns="54862" rtlCol="0" anchor="ctr"/>
          <a:lstStyle/>
          <a:p>
            <a:pPr algn="l"/>
            <a:endParaRPr lang="en-US" b="0" i="0" dirty="0">
              <a:latin typeface="Roboto Medium" pitchFamily="2" charset="0"/>
              <a:ea typeface="Roboto Medium" pitchFamily="2" charset="0"/>
            </a:endParaRPr>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50627" y="474943"/>
            <a:ext cx="6274468" cy="1005842"/>
          </a:xfrm>
          <a:prstGeom prst="rect">
            <a:avLst/>
          </a:prstGeom>
        </p:spPr>
        <p:txBody>
          <a:bodyPr lIns="109724" tIns="54862" rIns="109724" bIns="54862"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Table page</a:t>
            </a:r>
          </a:p>
        </p:txBody>
      </p:sp>
      <p:sp>
        <p:nvSpPr>
          <p:cNvPr id="10"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3"/>
            <a:ext cx="11181332" cy="1036915"/>
          </a:xfrm>
          <a:prstGeom prst="rect">
            <a:avLst/>
          </a:prstGeom>
        </p:spPr>
        <p:txBody>
          <a:bodyPr lIns="109724" tIns="54862" rIns="109724" bIns="54862" anchor="ctr"/>
          <a:lstStyle>
            <a:lvl1pPr marL="0" indent="0" algn="l">
              <a:buNone/>
              <a:defRPr lang="en-US" sz="2900" dirty="0">
                <a:solidFill>
                  <a:schemeClr val="tx1"/>
                </a:solidFill>
                <a:latin typeface="Roboto Medium" pitchFamily="2" charset="0"/>
                <a:ea typeface="Roboto Medium" pitchFamily="2" charset="0"/>
                <a:cs typeface="Roboto Medium" pitchFamily="2" charset="0"/>
              </a:defRPr>
            </a:lvl1pPr>
          </a:lstStyle>
          <a:p>
            <a:pPr lvl="0">
              <a:spcAft>
                <a:spcPts val="0"/>
              </a:spcAft>
            </a:pPr>
            <a:r>
              <a:rPr lang="en-US" dirty="0"/>
              <a:t>Edit Master text styles</a:t>
            </a:r>
          </a:p>
        </p:txBody>
      </p:sp>
      <p:sp>
        <p:nvSpPr>
          <p:cNvPr id="11" name="Media Placeholder 2">
            <a:extLst>
              <a:ext uri="{FF2B5EF4-FFF2-40B4-BE49-F238E27FC236}">
                <a16:creationId xmlns:a16="http://schemas.microsoft.com/office/drawing/2014/main" id="{81443669-69D1-A047-A6ED-8EB4E5995CD1}"/>
              </a:ext>
            </a:extLst>
          </p:cNvPr>
          <p:cNvSpPr>
            <a:spLocks noGrp="1"/>
          </p:cNvSpPr>
          <p:nvPr>
            <p:ph type="media" sz="quarter" idx="19"/>
          </p:nvPr>
        </p:nvSpPr>
        <p:spPr>
          <a:xfrm>
            <a:off x="748666" y="2819402"/>
            <a:ext cx="10153796" cy="3581399"/>
          </a:xfrm>
          <a:prstGeom prst="rect">
            <a:avLst/>
          </a:prstGeom>
        </p:spPr>
        <p:txBody>
          <a:bodyPr lIns="109724" tIns="54862" rIns="109724" bIns="54862"/>
          <a:lstStyle>
            <a:lvl1pPr algn="l">
              <a:defRPr>
                <a:solidFill>
                  <a:schemeClr val="tx1"/>
                </a:solidFill>
                <a:latin typeface="Roboto Medium" pitchFamily="2" charset="0"/>
                <a:ea typeface="Roboto Medium" pitchFamily="2" charset="0"/>
                <a:cs typeface="Roboto Medium" pitchFamily="2" charset="0"/>
              </a:defRPr>
            </a:lvl1pPr>
          </a:lstStyle>
          <a:p>
            <a:endParaRPr lang="en-US"/>
          </a:p>
        </p:txBody>
      </p:sp>
      <p:pic>
        <p:nvPicPr>
          <p:cNvPr id="12" name="Picture 2" descr="C:\Users\Admin\Downloads\Logo-01.png"/>
          <p:cNvPicPr>
            <a:picLocks noChangeAspect="1" noChangeArrowheads="1"/>
          </p:cNvPicPr>
          <p:nvPr userDrawn="1"/>
        </p:nvPicPr>
        <p:blipFill>
          <a:blip r:embed="rId2" cstate="print"/>
          <a:srcRect r="72727"/>
          <a:stretch>
            <a:fillRect/>
          </a:stretch>
        </p:blipFill>
        <p:spPr bwMode="auto">
          <a:xfrm>
            <a:off x="443553" y="5081098"/>
            <a:ext cx="971550" cy="1776902"/>
          </a:xfrm>
          <a:prstGeom prst="rect">
            <a:avLst/>
          </a:prstGeom>
          <a:noFill/>
        </p:spPr>
      </p:pic>
    </p:spTree>
    <p:extLst>
      <p:ext uri="{BB962C8B-B14F-4D97-AF65-F5344CB8AC3E}">
        <p14:creationId xmlns:p14="http://schemas.microsoft.com/office/powerpoint/2010/main" val="2356588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9809" y="274638"/>
            <a:ext cx="10722591" cy="1143000"/>
          </a:xfrm>
        </p:spPr>
        <p:txBody>
          <a:bodyPr>
            <a:normAutofit/>
          </a:bodyPr>
          <a:lstStyle>
            <a:lvl1pPr algn="l">
              <a:defRPr lang="en-US" sz="3400" kern="1200" cap="all" spc="0" baseline="0" dirty="0">
                <a:solidFill>
                  <a:schemeClr val="tx1"/>
                </a:solidFill>
                <a:latin typeface="Roboto Medium" pitchFamily="2" charset="0"/>
                <a:ea typeface="Roboto Medium" pitchFamily="2" charset="0"/>
                <a:cs typeface="Roboto Medium" pitchFamily="2"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lang="en-US" sz="2900" kern="1200" dirty="0" smtClean="0">
                <a:solidFill>
                  <a:schemeClr val="tx1"/>
                </a:solidFill>
                <a:latin typeface="Roboto Medium" pitchFamily="2" charset="0"/>
                <a:ea typeface="Roboto Medium" pitchFamily="2" charset="0"/>
                <a:cs typeface="Roboto Medium" pitchFamily="2" charset="0"/>
              </a:defRPr>
            </a:lvl1pPr>
            <a:lvl2pPr>
              <a:defRPr lang="en-US" sz="2900" kern="1200" dirty="0" smtClean="0">
                <a:solidFill>
                  <a:schemeClr val="tx1"/>
                </a:solidFill>
                <a:latin typeface="Roboto Medium" pitchFamily="2" charset="0"/>
                <a:ea typeface="Roboto Medium" pitchFamily="2" charset="0"/>
                <a:cs typeface="Roboto Medium" pitchFamily="2" charset="0"/>
              </a:defRPr>
            </a:lvl2pPr>
            <a:lvl3pPr>
              <a:defRPr lang="en-US" sz="2900" kern="1200" dirty="0" smtClean="0">
                <a:solidFill>
                  <a:schemeClr val="tx1"/>
                </a:solidFill>
                <a:latin typeface="Roboto Medium" pitchFamily="2" charset="0"/>
                <a:ea typeface="Roboto Medium" pitchFamily="2" charset="0"/>
                <a:cs typeface="Roboto Medium" pitchFamily="2" charset="0"/>
              </a:defRPr>
            </a:lvl3pPr>
            <a:lvl4pPr>
              <a:defRPr lang="en-US" sz="2900" kern="1200" dirty="0" smtClean="0">
                <a:solidFill>
                  <a:schemeClr val="tx1"/>
                </a:solidFill>
                <a:latin typeface="Roboto Medium" pitchFamily="2" charset="0"/>
                <a:ea typeface="Roboto Medium" pitchFamily="2" charset="0"/>
                <a:cs typeface="Roboto Medium" pitchFamily="2" charset="0"/>
              </a:defRPr>
            </a:lvl4pPr>
            <a:lvl5pPr>
              <a:defRPr lang="en-US" sz="2900" kern="1200" dirty="0">
                <a:solidFill>
                  <a:schemeClr val="tx1"/>
                </a:solidFill>
                <a:latin typeface="Roboto Medium" pitchFamily="2" charset="0"/>
                <a:ea typeface="Roboto Medium" pitchFamily="2" charset="0"/>
                <a:cs typeface="Roboto Medium"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74536675-CD15-A94E-808B-8D6F84477752}"/>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4" tIns="54862" rIns="109724" bIns="54862" rtlCol="0" anchor="ctr"/>
          <a:lstStyle/>
          <a:p>
            <a:pPr algn="l"/>
            <a:endParaRPr lang="en-US" b="0" i="0" dirty="0">
              <a:latin typeface="Roboto Medium" pitchFamily="2" charset="0"/>
              <a:ea typeface="Roboto Medium" pitchFamily="2" charset="0"/>
            </a:endParaRPr>
          </a:p>
        </p:txBody>
      </p:sp>
      <p:pic>
        <p:nvPicPr>
          <p:cNvPr id="8" name="Picture 2" descr="C:\Users\Admin\Downloads\Logo-01.png"/>
          <p:cNvPicPr>
            <a:picLocks noChangeAspect="1" noChangeArrowheads="1"/>
          </p:cNvPicPr>
          <p:nvPr userDrawn="1"/>
        </p:nvPicPr>
        <p:blipFill>
          <a:blip r:embed="rId2" cstate="print"/>
          <a:srcRect r="72727"/>
          <a:stretch>
            <a:fillRect/>
          </a:stretch>
        </p:blipFill>
        <p:spPr bwMode="auto">
          <a:xfrm>
            <a:off x="184245" y="5081098"/>
            <a:ext cx="971550" cy="1776902"/>
          </a:xfrm>
          <a:prstGeom prst="rect">
            <a:avLst/>
          </a:prstGeom>
          <a:noFill/>
        </p:spPr>
      </p:pic>
    </p:spTree>
    <p:extLst>
      <p:ext uri="{BB962C8B-B14F-4D97-AF65-F5344CB8AC3E}">
        <p14:creationId xmlns:p14="http://schemas.microsoft.com/office/powerpoint/2010/main" val="332676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C0822-42F2-CECD-FCB4-0E606CCD95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8F68BB-474C-B585-7FAF-0148A51087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16C9E4-AC1B-8670-B66D-B7912262D66F}"/>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7ECBA84-DBCD-D6F1-BE45-BB2D130A7EC4}"/>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AD00C454-BB79-2253-B19E-3B13799D2367}"/>
              </a:ext>
            </a:extLst>
          </p:cNvPr>
          <p:cNvSpPr>
            <a:spLocks noGrp="1"/>
          </p:cNvSpPr>
          <p:nvPr>
            <p:ph type="sldNum" sz="quarter" idx="12"/>
          </p:nvPr>
        </p:nvSpPr>
        <p:spPr/>
        <p:txBody>
          <a:bodyPr/>
          <a:lstStyle>
            <a:lvl1pPr>
              <a:defRPr/>
            </a:lvl1pPr>
          </a:lstStyle>
          <a:p>
            <a:fld id="{659912E9-96BE-4547-8CE9-44CF8F025E9F}" type="slidenum">
              <a:rPr lang="en-GB" altLang="en-US"/>
              <a:pPr/>
              <a:t>‹#›</a:t>
            </a:fld>
            <a:endParaRPr lang="en-GB" altLang="en-US"/>
          </a:p>
        </p:txBody>
      </p:sp>
    </p:spTree>
    <p:extLst>
      <p:ext uri="{BB962C8B-B14F-4D97-AF65-F5344CB8AC3E}">
        <p14:creationId xmlns:p14="http://schemas.microsoft.com/office/powerpoint/2010/main" val="3788975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E67A-AA73-BF66-79FB-A0B8DB0E15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F37A27-F147-C2BA-2FB0-A5BB74257BB9}"/>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8608199D-4BD1-647C-7774-52193B28ABA0}"/>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225F8D4F-2D67-DDD1-4CBC-845104798FE6}"/>
              </a:ext>
            </a:extLst>
          </p:cNvPr>
          <p:cNvSpPr>
            <a:spLocks noGrp="1"/>
          </p:cNvSpPr>
          <p:nvPr>
            <p:ph type="sldNum" sz="quarter" idx="12"/>
          </p:nvPr>
        </p:nvSpPr>
        <p:spPr/>
        <p:txBody>
          <a:bodyPr/>
          <a:lstStyle>
            <a:lvl1pPr>
              <a:defRPr/>
            </a:lvl1pPr>
          </a:lstStyle>
          <a:p>
            <a:fld id="{470FF946-BF7F-4841-B6D0-1FE4EE6069EC}" type="slidenum">
              <a:rPr lang="en-GB" altLang="en-US"/>
              <a:pPr/>
              <a:t>‹#›</a:t>
            </a:fld>
            <a:endParaRPr lang="en-GB" altLang="en-US"/>
          </a:p>
        </p:txBody>
      </p:sp>
    </p:spTree>
    <p:extLst>
      <p:ext uri="{BB962C8B-B14F-4D97-AF65-F5344CB8AC3E}">
        <p14:creationId xmlns:p14="http://schemas.microsoft.com/office/powerpoint/2010/main" val="3605084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3FAD2-A43D-C999-820A-D2BEF5B572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9E4570-7DC7-E7EA-4CD4-0DC7748015B5}"/>
              </a:ext>
            </a:extLst>
          </p:cNvPr>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7422CB-D0C4-8552-AA11-859DBB1726BF}"/>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D0D98D-F855-C222-F822-DFB3120F3DBC}"/>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7F0995F8-49C9-80BA-0356-4F10361841CA}"/>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F6BC05DB-B975-4BBC-03A0-96AB54B73750}"/>
              </a:ext>
            </a:extLst>
          </p:cNvPr>
          <p:cNvSpPr>
            <a:spLocks noGrp="1"/>
          </p:cNvSpPr>
          <p:nvPr>
            <p:ph type="sldNum" sz="quarter" idx="12"/>
          </p:nvPr>
        </p:nvSpPr>
        <p:spPr/>
        <p:txBody>
          <a:bodyPr/>
          <a:lstStyle>
            <a:lvl1pPr>
              <a:defRPr/>
            </a:lvl1pPr>
          </a:lstStyle>
          <a:p>
            <a:fld id="{BAD61D8A-8779-49B1-9F0F-814BC8A32559}" type="slidenum">
              <a:rPr lang="en-GB" altLang="en-US"/>
              <a:pPr/>
              <a:t>‹#›</a:t>
            </a:fld>
            <a:endParaRPr lang="en-GB" altLang="en-US"/>
          </a:p>
        </p:txBody>
      </p:sp>
    </p:spTree>
    <p:extLst>
      <p:ext uri="{BB962C8B-B14F-4D97-AF65-F5344CB8AC3E}">
        <p14:creationId xmlns:p14="http://schemas.microsoft.com/office/powerpoint/2010/main" val="3768194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4.xml"/><Relationship Id="rId4"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5.xml"/><Relationship Id="rId4"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5" Type="http://schemas.openxmlformats.org/officeDocument/2006/relationships/theme" Target="../theme/theme6.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theme" Target="../theme/theme7.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5" Type="http://schemas.openxmlformats.org/officeDocument/2006/relationships/theme" Target="../theme/theme9.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 id="2147484010" r:id="rId5"/>
    <p:sldLayoutId id="2147484011" r:id="rId6"/>
    <p:sldLayoutId id="2147484013" r:id="rId7"/>
    <p:sldLayoutId id="2147484014" r:id="rId8"/>
    <p:sldLayoutId id="2147484015"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www.greatdreams.com/"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COMPUTER INTERACTION</a:t>
            </a:r>
            <a:br>
              <a:rPr lang="en-US" b="1" dirty="0"/>
            </a:br>
            <a:r>
              <a:rPr lang="en-US" b="1" dirty="0"/>
              <a:t>(M23DES212)</a:t>
            </a:r>
            <a:br>
              <a:rPr lang="en-US" b="1" dirty="0"/>
            </a:br>
            <a:r>
              <a:rPr lang="en-US" dirty="0"/>
              <a:t>School of CSA /MCA- </a:t>
            </a:r>
            <a:r>
              <a:rPr lang="en-US" dirty="0" err="1"/>
              <a:t>IInd</a:t>
            </a:r>
            <a:r>
              <a:rPr lang="en-US" dirty="0"/>
              <a:t> </a:t>
            </a:r>
            <a:r>
              <a:rPr lang="en-US" dirty="0" err="1"/>
              <a:t>sem</a:t>
            </a:r>
            <a:endParaRPr lang="en-US" dirty="0"/>
          </a:p>
        </p:txBody>
      </p:sp>
      <p:sp>
        <p:nvSpPr>
          <p:cNvPr id="3" name="Text Placeholder 2"/>
          <p:cNvSpPr>
            <a:spLocks noGrp="1"/>
          </p:cNvSpPr>
          <p:nvPr>
            <p:ph type="body" sz="quarter" idx="10"/>
          </p:nvPr>
        </p:nvSpPr>
        <p:spPr/>
        <p:txBody>
          <a:bodyPr/>
          <a:lstStyle/>
          <a:p>
            <a:r>
              <a:rPr lang="en-US" dirty="0"/>
              <a:t>Dr. Ambili P 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743AF9-01C8-AF4D-0D42-224C570D63B9}"/>
              </a:ext>
            </a:extLst>
          </p:cNvPr>
          <p:cNvSpPr>
            <a:spLocks noGrp="1"/>
          </p:cNvSpPr>
          <p:nvPr>
            <p:ph type="title"/>
          </p:nvPr>
        </p:nvSpPr>
        <p:spPr/>
        <p:txBody>
          <a:bodyPr/>
          <a:lstStyle/>
          <a:p>
            <a:r>
              <a:rPr lang="en-IN" dirty="0"/>
              <a:t>Unit- ii contents</a:t>
            </a:r>
          </a:p>
        </p:txBody>
      </p:sp>
      <p:sp>
        <p:nvSpPr>
          <p:cNvPr id="3" name="TextBox 2">
            <a:extLst>
              <a:ext uri="{FF2B5EF4-FFF2-40B4-BE49-F238E27FC236}">
                <a16:creationId xmlns:a16="http://schemas.microsoft.com/office/drawing/2014/main" id="{A3B54706-8307-C7EA-3F1A-B2319D722FD2}"/>
              </a:ext>
            </a:extLst>
          </p:cNvPr>
          <p:cNvSpPr txBox="1"/>
          <p:nvPr/>
        </p:nvSpPr>
        <p:spPr>
          <a:xfrm>
            <a:off x="1271464" y="1412776"/>
            <a:ext cx="9721080" cy="3108543"/>
          </a:xfrm>
          <a:prstGeom prst="rect">
            <a:avLst/>
          </a:prstGeom>
          <a:noFill/>
        </p:spPr>
        <p:txBody>
          <a:bodyPr wrap="square">
            <a:spAutoFit/>
          </a:bodyPr>
          <a:lstStyle/>
          <a:p>
            <a:pPr algn="just"/>
            <a:r>
              <a:rPr lang="en-US" sz="2800" b="1" dirty="0">
                <a:effectLst/>
                <a:latin typeface="Times New Roman" panose="02020603050405020304" pitchFamily="18" charset="0"/>
                <a:ea typeface="Arial Unicode MS"/>
              </a:rPr>
              <a:t>Design Process : </a:t>
            </a:r>
            <a:r>
              <a:rPr lang="en-US" sz="2800" dirty="0">
                <a:effectLst/>
                <a:latin typeface="Times New Roman" panose="02020603050405020304" pitchFamily="18" charset="0"/>
                <a:ea typeface="Arial Unicode MS"/>
              </a:rPr>
              <a:t>Design process – Human interaction with computers, importance of human characteristics human consideration, Human interaction speeds, understanding business junctions, Screen Designing:- Design goals – Screen planning and purpose, organizing screen elements, ordering of screen data and content – screen navigation and flow – Visually pleasing composition – amount of information – focus and emphasis.</a:t>
            </a:r>
            <a:endParaRPr lang="en-IN" sz="2800" dirty="0"/>
          </a:p>
        </p:txBody>
      </p:sp>
    </p:spTree>
    <p:extLst>
      <p:ext uri="{BB962C8B-B14F-4D97-AF65-F5344CB8AC3E}">
        <p14:creationId xmlns:p14="http://schemas.microsoft.com/office/powerpoint/2010/main" val="1006631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44DD7-C613-6017-5488-9EDFB6554C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AECB69-1A2D-2B86-5BAA-2BE02CDFE3FB}"/>
              </a:ext>
            </a:extLst>
          </p:cNvPr>
          <p:cNvSpPr>
            <a:spLocks noGrp="1"/>
          </p:cNvSpPr>
          <p:nvPr>
            <p:ph type="title"/>
          </p:nvPr>
        </p:nvSpPr>
        <p:spPr>
          <a:xfrm>
            <a:off x="695400" y="395786"/>
            <a:ext cx="8496944" cy="838202"/>
          </a:xfrm>
        </p:spPr>
        <p:txBody>
          <a:bodyPr/>
          <a:lstStyle/>
          <a:p>
            <a:r>
              <a:rPr lang="en-IN" dirty="0"/>
              <a:t>INTERACTION DESIGN BASICS</a:t>
            </a:r>
          </a:p>
        </p:txBody>
      </p:sp>
      <p:sp>
        <p:nvSpPr>
          <p:cNvPr id="5" name="Text Placeholder 4">
            <a:extLst>
              <a:ext uri="{FF2B5EF4-FFF2-40B4-BE49-F238E27FC236}">
                <a16:creationId xmlns:a16="http://schemas.microsoft.com/office/drawing/2014/main" id="{89D22859-7893-A518-2B28-51F73A511A76}"/>
              </a:ext>
            </a:extLst>
          </p:cNvPr>
          <p:cNvSpPr>
            <a:spLocks noGrp="1"/>
          </p:cNvSpPr>
          <p:nvPr>
            <p:ph type="body" sz="quarter" idx="17"/>
          </p:nvPr>
        </p:nvSpPr>
        <p:spPr>
          <a:xfrm>
            <a:off x="623392" y="1340768"/>
            <a:ext cx="10801201" cy="4320480"/>
          </a:xfrm>
        </p:spPr>
        <p:txBody>
          <a:bodyPr/>
          <a:lstStyle/>
          <a:p>
            <a:pPr marL="0" indent="0" algn="l">
              <a:buNone/>
            </a:pPr>
            <a:r>
              <a:rPr lang="en-US" sz="2200" dirty="0">
                <a:solidFill>
                  <a:schemeClr val="tx1"/>
                </a:solidFill>
              </a:rPr>
              <a:t>Interaction design is about creating interventions in often complex situations using technology of many kinds including PC  software, the web and physical devices.</a:t>
            </a:r>
          </a:p>
          <a:p>
            <a:pPr marL="0" indent="0" algn="l">
              <a:buNone/>
            </a:pPr>
            <a:r>
              <a:rPr lang="en-US" sz="2200" dirty="0">
                <a:solidFill>
                  <a:schemeClr val="tx1"/>
                </a:solidFill>
              </a:rPr>
              <a:t>Interaction design is not just about the artifact that is produced, whether a physical device or a computer program, but about understanding and choosing  how that is going to affect the way people work. </a:t>
            </a:r>
          </a:p>
          <a:p>
            <a:pPr marL="0" indent="0" algn="l">
              <a:buNone/>
            </a:pPr>
            <a:endParaRPr lang="en-US" sz="2200" dirty="0">
              <a:solidFill>
                <a:schemeClr val="tx1"/>
              </a:solidFill>
            </a:endParaRPr>
          </a:p>
          <a:p>
            <a:pPr marL="0" indent="0" algn="l">
              <a:buNone/>
            </a:pPr>
            <a:r>
              <a:rPr lang="en-US" sz="2200" dirty="0">
                <a:solidFill>
                  <a:schemeClr val="tx1"/>
                </a:solidFill>
              </a:rPr>
              <a:t>Design involves:</a:t>
            </a:r>
          </a:p>
          <a:p>
            <a:pPr marL="0" indent="0" algn="l">
              <a:buNone/>
            </a:pPr>
            <a:r>
              <a:rPr lang="en-US" sz="2200" dirty="0">
                <a:solidFill>
                  <a:schemeClr val="tx1"/>
                </a:solidFill>
              </a:rPr>
              <a:t>– achieving goals within constraints</a:t>
            </a:r>
          </a:p>
          <a:p>
            <a:pPr marL="0" indent="0" algn="l">
              <a:buNone/>
            </a:pPr>
            <a:r>
              <a:rPr lang="en-US" sz="2200" dirty="0">
                <a:solidFill>
                  <a:schemeClr val="tx1"/>
                </a:solidFill>
              </a:rPr>
              <a:t>– understanding the raw materials: computer and human</a:t>
            </a:r>
          </a:p>
          <a:p>
            <a:pPr marL="0" indent="0" algn="l">
              <a:buNone/>
            </a:pPr>
            <a:r>
              <a:rPr lang="en-US" sz="2200" dirty="0">
                <a:solidFill>
                  <a:schemeClr val="tx1"/>
                </a:solidFill>
              </a:rPr>
              <a:t>– accepting limitations of humans and of design.</a:t>
            </a:r>
          </a:p>
          <a:p>
            <a:pPr algn="l"/>
            <a:endParaRPr lang="en-IN" sz="1800" b="0" i="0" u="none" strike="noStrike" baseline="0" dirty="0">
              <a:latin typeface="Minion-Regular"/>
            </a:endParaRPr>
          </a:p>
          <a:p>
            <a:pPr algn="l"/>
            <a:endParaRPr lang="en-IN" dirty="0"/>
          </a:p>
        </p:txBody>
      </p:sp>
    </p:spTree>
    <p:extLst>
      <p:ext uri="{BB962C8B-B14F-4D97-AF65-F5344CB8AC3E}">
        <p14:creationId xmlns:p14="http://schemas.microsoft.com/office/powerpoint/2010/main" val="414098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3" end="3"/>
                                            </p:txEl>
                                          </p:spTgt>
                                        </p:tgtEl>
                                        <p:attrNameLst>
                                          <p:attrName>style.visibility</p:attrName>
                                        </p:attrNameLst>
                                      </p:cBhvr>
                                      <p:to>
                                        <p:strVal val="visible"/>
                                      </p:to>
                                    </p:set>
                                    <p:animEffect transition="in" filter="fade">
                                      <p:cBhvr>
                                        <p:cTn id="14" dur="1000"/>
                                        <p:tgtEl>
                                          <p:spTgt spid="5">
                                            <p:txEl>
                                              <p:pRg st="3" end="3"/>
                                            </p:txEl>
                                          </p:spTgt>
                                        </p:tgtEl>
                                      </p:cBhvr>
                                    </p:animEffect>
                                    <p:anim calcmode="lin" valueType="num">
                                      <p:cBhvr>
                                        <p:cTn id="1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1000"/>
                                        <p:tgtEl>
                                          <p:spTgt spid="5">
                                            <p:txEl>
                                              <p:pRg st="4" end="4"/>
                                            </p:txEl>
                                          </p:spTgt>
                                        </p:tgtEl>
                                      </p:cBhvr>
                                    </p:animEffect>
                                    <p:anim calcmode="lin" valueType="num">
                                      <p:cBhvr>
                                        <p:cTn id="2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1000"/>
                                        <p:tgtEl>
                                          <p:spTgt spid="5">
                                            <p:txEl>
                                              <p:pRg st="5" end="5"/>
                                            </p:txEl>
                                          </p:spTgt>
                                        </p:tgtEl>
                                      </p:cBhvr>
                                    </p:animEffect>
                                    <p:anim calcmode="lin" valueType="num">
                                      <p:cBhvr>
                                        <p:cTn id="2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1000"/>
                                        <p:tgtEl>
                                          <p:spTgt spid="5">
                                            <p:txEl>
                                              <p:pRg st="6" end="6"/>
                                            </p:txEl>
                                          </p:spTgt>
                                        </p:tgtEl>
                                      </p:cBhvr>
                                    </p:animEffect>
                                    <p:anim calcmode="lin" valueType="num">
                                      <p:cBhvr>
                                        <p:cTn id="3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25FA4-8C2F-7385-BF32-A82379B06F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FEA802-C725-3CCA-9134-48954C39991D}"/>
              </a:ext>
            </a:extLst>
          </p:cNvPr>
          <p:cNvSpPr>
            <a:spLocks noGrp="1"/>
          </p:cNvSpPr>
          <p:nvPr>
            <p:ph type="title"/>
          </p:nvPr>
        </p:nvSpPr>
        <p:spPr>
          <a:xfrm>
            <a:off x="695400" y="395786"/>
            <a:ext cx="8496944" cy="838202"/>
          </a:xfrm>
        </p:spPr>
        <p:txBody>
          <a:bodyPr/>
          <a:lstStyle/>
          <a:p>
            <a:r>
              <a:rPr lang="en-IN" dirty="0"/>
              <a:t>INTERACTION DESIGN BASICS</a:t>
            </a:r>
          </a:p>
        </p:txBody>
      </p:sp>
      <p:sp>
        <p:nvSpPr>
          <p:cNvPr id="5" name="Text Placeholder 4">
            <a:extLst>
              <a:ext uri="{FF2B5EF4-FFF2-40B4-BE49-F238E27FC236}">
                <a16:creationId xmlns:a16="http://schemas.microsoft.com/office/drawing/2014/main" id="{8DC8F2C3-E46B-CECE-8307-A4B7822ECCF4}"/>
              </a:ext>
            </a:extLst>
          </p:cNvPr>
          <p:cNvSpPr>
            <a:spLocks noGrp="1"/>
          </p:cNvSpPr>
          <p:nvPr>
            <p:ph type="body" sz="quarter" idx="17"/>
          </p:nvPr>
        </p:nvSpPr>
        <p:spPr>
          <a:xfrm>
            <a:off x="623392" y="1340768"/>
            <a:ext cx="10801201" cy="4320480"/>
          </a:xfrm>
        </p:spPr>
        <p:txBody>
          <a:bodyPr/>
          <a:lstStyle/>
          <a:p>
            <a:pPr marL="0" indent="0" algn="l">
              <a:buNone/>
            </a:pPr>
            <a:r>
              <a:rPr lang="en-US" sz="2200" dirty="0">
                <a:solidFill>
                  <a:schemeClr val="tx1"/>
                </a:solidFill>
              </a:rPr>
              <a:t>The design process has several stages and is iterative and never complete.</a:t>
            </a:r>
          </a:p>
          <a:p>
            <a:pPr marL="0" indent="0" algn="l">
              <a:buNone/>
            </a:pPr>
            <a:r>
              <a:rPr lang="en-US" sz="2200" dirty="0">
                <a:solidFill>
                  <a:schemeClr val="tx1"/>
                </a:solidFill>
              </a:rPr>
              <a:t>Interaction starts with getting to know the users and their context:</a:t>
            </a:r>
          </a:p>
          <a:p>
            <a:pPr marL="0" indent="0" algn="l">
              <a:buNone/>
            </a:pPr>
            <a:r>
              <a:rPr lang="en-US" sz="2200" dirty="0">
                <a:solidFill>
                  <a:schemeClr val="tx1"/>
                </a:solidFill>
              </a:rPr>
              <a:t>– finding out who they are and what they are like... probably not like you!</a:t>
            </a:r>
          </a:p>
          <a:p>
            <a:pPr marL="0" indent="0" algn="l">
              <a:buNone/>
            </a:pPr>
            <a:r>
              <a:rPr lang="en-US" sz="2200" dirty="0">
                <a:solidFill>
                  <a:schemeClr val="tx1"/>
                </a:solidFill>
              </a:rPr>
              <a:t>– talking to them, watching them.</a:t>
            </a:r>
          </a:p>
          <a:p>
            <a:pPr algn="l"/>
            <a:endParaRPr lang="en-IN" sz="1800" b="0" i="0" u="none" strike="noStrike" baseline="0" dirty="0">
              <a:latin typeface="Minion-Regular"/>
            </a:endParaRPr>
          </a:p>
          <a:p>
            <a:pPr algn="l"/>
            <a:endParaRPr lang="en-IN" dirty="0"/>
          </a:p>
        </p:txBody>
      </p:sp>
    </p:spTree>
    <p:extLst>
      <p:ext uri="{BB962C8B-B14F-4D97-AF65-F5344CB8AC3E}">
        <p14:creationId xmlns:p14="http://schemas.microsoft.com/office/powerpoint/2010/main" val="3188848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17A4BA-48B7-AEF6-36DE-50224DF46A35}"/>
              </a:ext>
            </a:extLst>
          </p:cNvPr>
          <p:cNvSpPr>
            <a:spLocks noGrp="1"/>
          </p:cNvSpPr>
          <p:nvPr>
            <p:ph type="sldNum" sz="quarter" idx="14"/>
          </p:nvPr>
        </p:nvSpPr>
        <p:spPr/>
        <p:txBody>
          <a:bodyPr/>
          <a:lstStyle/>
          <a:p>
            <a:fld id="{45A3C14A-F937-4231-B6F1-40B429FAFB2F}" type="slidenum">
              <a:rPr lang="en-NZ" smtClean="0"/>
              <a:pPr/>
              <a:t>5</a:t>
            </a:fld>
            <a:endParaRPr lang="en-NZ" dirty="0"/>
          </a:p>
        </p:txBody>
      </p:sp>
      <p:sp>
        <p:nvSpPr>
          <p:cNvPr id="3" name="Title 2">
            <a:extLst>
              <a:ext uri="{FF2B5EF4-FFF2-40B4-BE49-F238E27FC236}">
                <a16:creationId xmlns:a16="http://schemas.microsoft.com/office/drawing/2014/main" id="{51400578-9B38-0892-FE1A-6ACC59C48109}"/>
              </a:ext>
            </a:extLst>
          </p:cNvPr>
          <p:cNvSpPr>
            <a:spLocks noGrp="1"/>
          </p:cNvSpPr>
          <p:nvPr>
            <p:ph type="title"/>
          </p:nvPr>
        </p:nvSpPr>
        <p:spPr/>
        <p:txBody>
          <a:bodyPr/>
          <a:lstStyle/>
          <a:p>
            <a:r>
              <a:rPr lang="en-IN" dirty="0"/>
              <a:t>THE PROCESS OF DESIGN</a:t>
            </a:r>
          </a:p>
        </p:txBody>
      </p:sp>
      <p:pic>
        <p:nvPicPr>
          <p:cNvPr id="6" name="Picture 5">
            <a:extLst>
              <a:ext uri="{FF2B5EF4-FFF2-40B4-BE49-F238E27FC236}">
                <a16:creationId xmlns:a16="http://schemas.microsoft.com/office/drawing/2014/main" id="{056DE281-7BFB-A69C-CFAC-E7B3DFE7F2FC}"/>
              </a:ext>
            </a:extLst>
          </p:cNvPr>
          <p:cNvPicPr>
            <a:picLocks noChangeAspect="1"/>
          </p:cNvPicPr>
          <p:nvPr/>
        </p:nvPicPr>
        <p:blipFill>
          <a:blip r:embed="rId2"/>
          <a:stretch>
            <a:fillRect/>
          </a:stretch>
        </p:blipFill>
        <p:spPr>
          <a:xfrm>
            <a:off x="1199456" y="1525147"/>
            <a:ext cx="9182100" cy="4181475"/>
          </a:xfrm>
          <a:prstGeom prst="rect">
            <a:avLst/>
          </a:prstGeom>
        </p:spPr>
      </p:pic>
      <p:sp>
        <p:nvSpPr>
          <p:cNvPr id="7" name="TextBox 6">
            <a:extLst>
              <a:ext uri="{FF2B5EF4-FFF2-40B4-BE49-F238E27FC236}">
                <a16:creationId xmlns:a16="http://schemas.microsoft.com/office/drawing/2014/main" id="{20F09C11-1920-4D08-2F60-32274D0E9B3F}"/>
              </a:ext>
            </a:extLst>
          </p:cNvPr>
          <p:cNvSpPr txBox="1"/>
          <p:nvPr/>
        </p:nvSpPr>
        <p:spPr>
          <a:xfrm>
            <a:off x="263352" y="1340481"/>
            <a:ext cx="3312368" cy="369332"/>
          </a:xfrm>
          <a:prstGeom prst="rect">
            <a:avLst/>
          </a:prstGeom>
          <a:solidFill>
            <a:schemeClr val="accent5">
              <a:lumMod val="90000"/>
            </a:schemeClr>
          </a:solidFill>
        </p:spPr>
        <p:txBody>
          <a:bodyPr wrap="square">
            <a:spAutoFit/>
          </a:bodyPr>
          <a:lstStyle/>
          <a:p>
            <a:r>
              <a:rPr lang="en-IN" dirty="0"/>
              <a:t> </a:t>
            </a:r>
            <a:r>
              <a:rPr lang="en-IN" b="1" dirty="0"/>
              <a:t>Requirements</a:t>
            </a:r>
            <a:r>
              <a:rPr lang="en-IN" dirty="0"/>
              <a:t> – what is wanted</a:t>
            </a:r>
          </a:p>
        </p:txBody>
      </p:sp>
    </p:spTree>
    <p:extLst>
      <p:ext uri="{BB962C8B-B14F-4D97-AF65-F5344CB8AC3E}">
        <p14:creationId xmlns:p14="http://schemas.microsoft.com/office/powerpoint/2010/main" val="427982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7"/>
          </p:nvPr>
        </p:nvSpPr>
        <p:spPr>
          <a:xfrm>
            <a:off x="360017" y="836712"/>
            <a:ext cx="11305256" cy="4319360"/>
          </a:xfrm>
        </p:spPr>
        <p:txBody>
          <a:bodyPr/>
          <a:lstStyle/>
          <a:p>
            <a:pPr>
              <a:buNone/>
            </a:pPr>
            <a:r>
              <a:rPr lang="en-US" sz="2800" dirty="0"/>
              <a:t>Obstacles and Pitfalls in the Development Path: </a:t>
            </a:r>
          </a:p>
          <a:p>
            <a:pPr algn="just">
              <a:buFont typeface="Wingdings" pitchFamily="2" charset="2"/>
              <a:buChar char="§"/>
            </a:pPr>
            <a:r>
              <a:rPr lang="en-US" sz="2200" dirty="0">
                <a:solidFill>
                  <a:schemeClr val="tx1"/>
                </a:solidFill>
              </a:rPr>
              <a:t>Gould (1988) </a:t>
            </a:r>
            <a:r>
              <a:rPr lang="en-US" sz="2200" dirty="0"/>
              <a:t>has made these general observations about design:</a:t>
            </a:r>
          </a:p>
          <a:p>
            <a:pPr lvl="1">
              <a:buFont typeface="Arial" panose="020B0604020202020204" pitchFamily="34" charset="0"/>
              <a:buChar char="•"/>
            </a:pPr>
            <a:r>
              <a:rPr lang="en-US" sz="1800" dirty="0">
                <a:solidFill>
                  <a:schemeClr val="tx1"/>
                </a:solidFill>
              </a:rPr>
              <a:t>Nobody ever gets it right the first time.</a:t>
            </a:r>
          </a:p>
          <a:p>
            <a:pPr lvl="1">
              <a:buFont typeface="Arial" panose="020B0604020202020204" pitchFamily="34" charset="0"/>
              <a:buChar char="•"/>
            </a:pPr>
            <a:r>
              <a:rPr lang="en-US" sz="1800" dirty="0">
                <a:solidFill>
                  <a:schemeClr val="tx1"/>
                </a:solidFill>
              </a:rPr>
              <a:t>Development is chock-full of surprises.</a:t>
            </a:r>
          </a:p>
          <a:p>
            <a:pPr marL="242888" lvl="1" indent="0">
              <a:buNone/>
            </a:pPr>
            <a:r>
              <a:rPr lang="en-US" sz="1600" dirty="0"/>
              <a:t>A software team designing a new AI chatbot for customer support realizes late in development that users expect voice interaction, not just text — requiring major changes. </a:t>
            </a:r>
          </a:p>
          <a:p>
            <a:pPr marL="242888" lvl="1" indent="0">
              <a:buNone/>
            </a:pPr>
            <a:r>
              <a:rPr lang="en-US" sz="1800" dirty="0">
                <a:solidFill>
                  <a:schemeClr val="tx1"/>
                </a:solidFill>
              </a:rPr>
              <a:t>Good design requires living in a sea of changes.</a:t>
            </a:r>
          </a:p>
          <a:p>
            <a:pPr marL="242888" lvl="1" indent="0">
              <a:buNone/>
            </a:pPr>
            <a:r>
              <a:rPr lang="en-US" sz="1600" dirty="0"/>
              <a:t>A ride-sharing app like Uber frequently updates its UI/UX to adapt to new regulations (e.g., adding emergency button, showing driver mask compliance), user preferences, or to include sustainability features like ride-sharing.</a:t>
            </a:r>
          </a:p>
          <a:p>
            <a:pPr lvl="1">
              <a:buFont typeface="Arial" panose="020B0604020202020204" pitchFamily="34" charset="0"/>
              <a:buChar char="•"/>
            </a:pPr>
            <a:r>
              <a:rPr lang="en-US" sz="1800" dirty="0">
                <a:solidFill>
                  <a:schemeClr val="tx1"/>
                </a:solidFill>
              </a:rPr>
              <a:t>Making contracts to ignore change will never eliminate the need for change.</a:t>
            </a:r>
          </a:p>
          <a:p>
            <a:pPr marL="242888" lvl="1" indent="0">
              <a:buNone/>
            </a:pPr>
            <a:r>
              <a:rPr lang="en-US" sz="1600" dirty="0"/>
              <a:t>A government portal was developed with fixed contracts for 5 years, disallowing interface changes. But due to a sudden surge in usage during a pandemic, user complaints forced emergency redesigns for accessibility and responsiveness, despite the initial contract.</a:t>
            </a:r>
          </a:p>
        </p:txBody>
      </p:sp>
      <p:sp>
        <p:nvSpPr>
          <p:cNvPr id="6" name="Title 5"/>
          <p:cNvSpPr>
            <a:spLocks noGrp="1"/>
          </p:cNvSpPr>
          <p:nvPr>
            <p:ph type="title"/>
          </p:nvPr>
        </p:nvSpPr>
        <p:spPr>
          <a:xfrm>
            <a:off x="523757" y="116632"/>
            <a:ext cx="6211927" cy="838202"/>
          </a:xfrm>
        </p:spPr>
        <p:txBody>
          <a:bodyPr/>
          <a:lstStyle/>
          <a:p>
            <a:r>
              <a:rPr lang="en-US" dirty="0"/>
              <a:t>Design Process</a:t>
            </a:r>
          </a:p>
        </p:txBody>
      </p:sp>
      <p:sp>
        <p:nvSpPr>
          <p:cNvPr id="2" name="Slide Number Placeholder 1">
            <a:extLst>
              <a:ext uri="{FF2B5EF4-FFF2-40B4-BE49-F238E27FC236}">
                <a16:creationId xmlns:a16="http://schemas.microsoft.com/office/drawing/2014/main" id="{BC77CC15-59D3-8E68-1A36-F2FA47464BB7}"/>
              </a:ext>
            </a:extLst>
          </p:cNvPr>
          <p:cNvSpPr>
            <a:spLocks noGrp="1"/>
          </p:cNvSpPr>
          <p:nvPr>
            <p:ph type="sldNum" sz="quarter" idx="14"/>
          </p:nvPr>
        </p:nvSpPr>
        <p:spPr/>
        <p:txBody>
          <a:bodyPr/>
          <a:lstStyle/>
          <a:p>
            <a:fld id="{45A3C14A-F937-4231-B6F1-40B429FAFB2F}" type="slidenum">
              <a:rPr lang="en-NZ" smtClean="0"/>
              <a:pPr/>
              <a:t>6</a:t>
            </a:fld>
            <a:endParaRPr lang="en-NZ"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1000"/>
                                        <p:tgtEl>
                                          <p:spTgt spid="7">
                                            <p:txEl>
                                              <p:pRg st="5" end="5"/>
                                            </p:txEl>
                                          </p:spTgt>
                                        </p:tgtEl>
                                      </p:cBhvr>
                                    </p:animEffect>
                                    <p:anim calcmode="lin" valueType="num">
                                      <p:cBhvr>
                                        <p:cTn id="2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fade">
                                      <p:cBhvr>
                                        <p:cTn id="35" dur="1000"/>
                                        <p:tgtEl>
                                          <p:spTgt spid="7">
                                            <p:txEl>
                                              <p:pRg st="6" end="6"/>
                                            </p:txEl>
                                          </p:spTgt>
                                        </p:tgtEl>
                                      </p:cBhvr>
                                    </p:animEffect>
                                    <p:anim calcmode="lin" valueType="num">
                                      <p:cBhvr>
                                        <p:cTn id="36"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1000"/>
                                        <p:tgtEl>
                                          <p:spTgt spid="7">
                                            <p:txEl>
                                              <p:pRg st="7" end="7"/>
                                            </p:txEl>
                                          </p:spTgt>
                                        </p:tgtEl>
                                      </p:cBhvr>
                                    </p:animEffect>
                                    <p:anim calcmode="lin" valueType="num">
                                      <p:cBhvr>
                                        <p:cTn id="43"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Effect transition="in" filter="fade">
                                      <p:cBhvr>
                                        <p:cTn id="49" dur="1000"/>
                                        <p:tgtEl>
                                          <p:spTgt spid="7">
                                            <p:txEl>
                                              <p:pRg st="8" end="8"/>
                                            </p:txEl>
                                          </p:spTgt>
                                        </p:tgtEl>
                                      </p:cBhvr>
                                    </p:animEffect>
                                    <p:anim calcmode="lin" valueType="num">
                                      <p:cBhvr>
                                        <p:cTn id="5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5FE1-35EC-C85F-9CA4-374E6A3800E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DCA79E5-6F9A-5BEC-AE00-F7103A6E502E}"/>
              </a:ext>
            </a:extLst>
          </p:cNvPr>
          <p:cNvSpPr>
            <a:spLocks noGrp="1"/>
          </p:cNvSpPr>
          <p:nvPr>
            <p:ph type="body" sz="quarter" idx="17"/>
          </p:nvPr>
        </p:nvSpPr>
        <p:spPr>
          <a:xfrm>
            <a:off x="551384" y="1233988"/>
            <a:ext cx="11305256" cy="4319360"/>
          </a:xfrm>
        </p:spPr>
        <p:txBody>
          <a:bodyPr/>
          <a:lstStyle/>
          <a:p>
            <a:pPr>
              <a:buNone/>
            </a:pPr>
            <a:r>
              <a:rPr lang="en-US" sz="2800" dirty="0"/>
              <a:t>Obstacles and Pitfalls in the Development Path: </a:t>
            </a:r>
          </a:p>
          <a:p>
            <a:pPr lvl="1">
              <a:buFont typeface="Arial" panose="020B0604020202020204" pitchFamily="34" charset="0"/>
              <a:buChar char="•"/>
            </a:pPr>
            <a:r>
              <a:rPr lang="en-US" sz="1800" dirty="0">
                <a:solidFill>
                  <a:schemeClr val="tx1"/>
                </a:solidFill>
              </a:rPr>
              <a:t>Even if you have made the best system humanly possible, people will still make </a:t>
            </a:r>
            <a:r>
              <a:rPr lang="en-IN" sz="1800" dirty="0">
                <a:solidFill>
                  <a:schemeClr val="tx1"/>
                </a:solidFill>
              </a:rPr>
              <a:t>mistakes when using it.</a:t>
            </a:r>
          </a:p>
          <a:p>
            <a:pPr marL="985838" lvl="1" indent="0">
              <a:buNone/>
            </a:pPr>
            <a:r>
              <a:rPr lang="en-IN" sz="1600" dirty="0"/>
              <a:t>ATM Withdrawal Mistakes</a:t>
            </a:r>
            <a:endParaRPr lang="en-IN" sz="1600" dirty="0">
              <a:solidFill>
                <a:schemeClr val="tx1"/>
              </a:solidFill>
            </a:endParaRPr>
          </a:p>
          <a:p>
            <a:pPr lvl="1">
              <a:buFont typeface="Arial" panose="020B0604020202020204" pitchFamily="34" charset="0"/>
              <a:buChar char="•"/>
            </a:pPr>
            <a:r>
              <a:rPr lang="en-IN" sz="1800" dirty="0">
                <a:solidFill>
                  <a:schemeClr val="tx1"/>
                </a:solidFill>
              </a:rPr>
              <a:t>Designers need good tools.</a:t>
            </a:r>
          </a:p>
          <a:p>
            <a:pPr lvl="1">
              <a:buFont typeface="Arial" panose="020B0604020202020204" pitchFamily="34" charset="0"/>
              <a:buChar char="•"/>
            </a:pPr>
            <a:r>
              <a:rPr lang="en-US" sz="1800" dirty="0">
                <a:solidFill>
                  <a:schemeClr val="tx1"/>
                </a:solidFill>
              </a:rPr>
              <a:t>You must have behavioral design goals like performance design goals.</a:t>
            </a:r>
          </a:p>
          <a:p>
            <a:pPr marL="1339850" lvl="1" indent="0">
              <a:buNone/>
            </a:pPr>
            <a:r>
              <a:rPr lang="en-US" sz="1600" dirty="0"/>
              <a:t>Fitness Tracking App: </a:t>
            </a:r>
          </a:p>
          <a:p>
            <a:pPr marL="1339850" lvl="1" indent="0">
              <a:buNone/>
            </a:pPr>
            <a:r>
              <a:rPr lang="en-US" sz="1600" dirty="0"/>
              <a:t>Behavioral </a:t>
            </a:r>
            <a:r>
              <a:rPr lang="en-US" sz="1600" dirty="0" err="1"/>
              <a:t>Goal:Motivate</a:t>
            </a:r>
            <a:r>
              <a:rPr lang="en-US" sz="1600" dirty="0"/>
              <a:t> users to adopt a healthier lifestyle—like walking more, sleeping better, or reducing screen time.</a:t>
            </a:r>
          </a:p>
          <a:p>
            <a:pPr marL="1339850" lvl="1" indent="0">
              <a:buNone/>
            </a:pPr>
            <a:r>
              <a:rPr lang="en-US" sz="1600" dirty="0"/>
              <a:t>Performance </a:t>
            </a:r>
            <a:r>
              <a:rPr lang="en-US" sz="1600" dirty="0" err="1"/>
              <a:t>Goal:Accurately</a:t>
            </a:r>
            <a:r>
              <a:rPr lang="en-US" sz="1600" dirty="0"/>
              <a:t> record steps, heart rate, sleep cycles, and calories burned.</a:t>
            </a:r>
          </a:p>
        </p:txBody>
      </p:sp>
      <p:sp>
        <p:nvSpPr>
          <p:cNvPr id="6" name="Title 5">
            <a:extLst>
              <a:ext uri="{FF2B5EF4-FFF2-40B4-BE49-F238E27FC236}">
                <a16:creationId xmlns:a16="http://schemas.microsoft.com/office/drawing/2014/main" id="{A1D6DE26-3093-BF0F-ACFA-43BD770AB78E}"/>
              </a:ext>
            </a:extLst>
          </p:cNvPr>
          <p:cNvSpPr>
            <a:spLocks noGrp="1"/>
          </p:cNvSpPr>
          <p:nvPr>
            <p:ph type="title"/>
          </p:nvPr>
        </p:nvSpPr>
        <p:spPr/>
        <p:txBody>
          <a:bodyPr/>
          <a:lstStyle/>
          <a:p>
            <a:r>
              <a:rPr lang="en-US" dirty="0"/>
              <a:t>Design Process</a:t>
            </a:r>
          </a:p>
        </p:txBody>
      </p:sp>
      <p:sp>
        <p:nvSpPr>
          <p:cNvPr id="2" name="Slide Number Placeholder 1">
            <a:extLst>
              <a:ext uri="{FF2B5EF4-FFF2-40B4-BE49-F238E27FC236}">
                <a16:creationId xmlns:a16="http://schemas.microsoft.com/office/drawing/2014/main" id="{A23BA4CD-E798-6B3F-0189-2A0D803B36AE}"/>
              </a:ext>
            </a:extLst>
          </p:cNvPr>
          <p:cNvSpPr>
            <a:spLocks noGrp="1"/>
          </p:cNvSpPr>
          <p:nvPr>
            <p:ph type="sldNum" sz="quarter" idx="14"/>
          </p:nvPr>
        </p:nvSpPr>
        <p:spPr/>
        <p:txBody>
          <a:bodyPr/>
          <a:lstStyle/>
          <a:p>
            <a:fld id="{45A3C14A-F937-4231-B6F1-40B429FAFB2F}" type="slidenum">
              <a:rPr lang="en-NZ" smtClean="0"/>
              <a:pPr/>
              <a:t>7</a:t>
            </a:fld>
            <a:endParaRPr lang="en-NZ" dirty="0"/>
          </a:p>
        </p:txBody>
      </p:sp>
    </p:spTree>
    <p:extLst>
      <p:ext uri="{BB962C8B-B14F-4D97-AF65-F5344CB8AC3E}">
        <p14:creationId xmlns:p14="http://schemas.microsoft.com/office/powerpoint/2010/main" val="232569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fade">
                                      <p:cBhvr>
                                        <p:cTn id="28" dur="1000"/>
                                        <p:tgtEl>
                                          <p:spTgt spid="7">
                                            <p:txEl>
                                              <p:pRg st="4" end="4"/>
                                            </p:txEl>
                                          </p:spTgt>
                                        </p:tgtEl>
                                      </p:cBhvr>
                                    </p:animEffect>
                                    <p:anim calcmode="lin" valueType="num">
                                      <p:cBhvr>
                                        <p:cTn id="2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1000"/>
                                        <p:tgtEl>
                                          <p:spTgt spid="7">
                                            <p:txEl>
                                              <p:pRg st="5" end="5"/>
                                            </p:txEl>
                                          </p:spTgt>
                                        </p:tgtEl>
                                      </p:cBhvr>
                                    </p:animEffect>
                                    <p:anim calcmode="lin" valueType="num">
                                      <p:cBhvr>
                                        <p:cTn id="3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fade">
                                      <p:cBhvr>
                                        <p:cTn id="42" dur="1000"/>
                                        <p:tgtEl>
                                          <p:spTgt spid="7">
                                            <p:txEl>
                                              <p:pRg st="6" end="6"/>
                                            </p:txEl>
                                          </p:spTgt>
                                        </p:tgtEl>
                                      </p:cBhvr>
                                    </p:animEffect>
                                    <p:anim calcmode="lin" valueType="num">
                                      <p:cBhvr>
                                        <p:cTn id="4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908DEA2-21BD-23FD-427E-139AABED88BD}"/>
              </a:ext>
            </a:extLst>
          </p:cNvPr>
          <p:cNvSpPr>
            <a:spLocks noGrp="1"/>
          </p:cNvSpPr>
          <p:nvPr>
            <p:ph type="sldNum" sz="quarter" idx="14"/>
          </p:nvPr>
        </p:nvSpPr>
        <p:spPr/>
        <p:txBody>
          <a:bodyPr/>
          <a:lstStyle/>
          <a:p>
            <a:fld id="{45A3C14A-F937-4231-B6F1-40B429FAFB2F}" type="slidenum">
              <a:rPr lang="en-NZ" smtClean="0"/>
              <a:pPr/>
              <a:t>8</a:t>
            </a:fld>
            <a:endParaRPr lang="en-NZ" dirty="0"/>
          </a:p>
        </p:txBody>
      </p:sp>
      <p:sp>
        <p:nvSpPr>
          <p:cNvPr id="6" name="Title 5">
            <a:extLst>
              <a:ext uri="{FF2B5EF4-FFF2-40B4-BE49-F238E27FC236}">
                <a16:creationId xmlns:a16="http://schemas.microsoft.com/office/drawing/2014/main" id="{68414C41-A67C-8C9A-0233-981AF09FBD79}"/>
              </a:ext>
            </a:extLst>
          </p:cNvPr>
          <p:cNvSpPr>
            <a:spLocks noGrp="1"/>
          </p:cNvSpPr>
          <p:nvPr>
            <p:ph type="title"/>
          </p:nvPr>
        </p:nvSpPr>
        <p:spPr/>
        <p:txBody>
          <a:bodyPr/>
          <a:lstStyle/>
          <a:p>
            <a:r>
              <a:rPr lang="en-IN" dirty="0"/>
              <a:t>Design Process</a:t>
            </a:r>
          </a:p>
        </p:txBody>
      </p:sp>
      <p:sp>
        <p:nvSpPr>
          <p:cNvPr id="7" name="Text Placeholder 6">
            <a:extLst>
              <a:ext uri="{FF2B5EF4-FFF2-40B4-BE49-F238E27FC236}">
                <a16:creationId xmlns:a16="http://schemas.microsoft.com/office/drawing/2014/main" id="{38A94346-5855-B9D1-8CD9-A13946472C5E}"/>
              </a:ext>
            </a:extLst>
          </p:cNvPr>
          <p:cNvSpPr>
            <a:spLocks noGrp="1"/>
          </p:cNvSpPr>
          <p:nvPr>
            <p:ph type="body" sz="quarter" idx="17"/>
          </p:nvPr>
        </p:nvSpPr>
        <p:spPr>
          <a:xfrm>
            <a:off x="695400" y="1268760"/>
            <a:ext cx="10801201" cy="4320480"/>
          </a:xfrm>
        </p:spPr>
        <p:txBody>
          <a:bodyPr/>
          <a:lstStyle/>
          <a:p>
            <a:pPr marL="0" indent="0">
              <a:buNone/>
            </a:pPr>
            <a:r>
              <a:rPr lang="en-US" dirty="0">
                <a:solidFill>
                  <a:schemeClr val="tx1"/>
                </a:solidFill>
              </a:rPr>
              <a:t>Pitfalls</a:t>
            </a:r>
            <a:r>
              <a:rPr lang="en-US" dirty="0"/>
              <a:t> in the design process exist because of a flawed design process, including a failure to address critical design issues, an improper focus of attention, or development team organization failures.</a:t>
            </a:r>
          </a:p>
          <a:p>
            <a:pPr marL="0" indent="0">
              <a:buNone/>
            </a:pPr>
            <a:r>
              <a:rPr lang="en-US" dirty="0">
                <a:solidFill>
                  <a:schemeClr val="tx1"/>
                </a:solidFill>
              </a:rPr>
              <a:t>Common pitfalls are:</a:t>
            </a:r>
          </a:p>
          <a:p>
            <a:r>
              <a:rPr lang="en-US" dirty="0">
                <a:solidFill>
                  <a:schemeClr val="tx1"/>
                </a:solidFill>
              </a:rPr>
              <a:t>No early analysis and understanding of the user’s needs and expectations.</a:t>
            </a:r>
          </a:p>
          <a:p>
            <a:r>
              <a:rPr lang="en-US" dirty="0">
                <a:solidFill>
                  <a:schemeClr val="tx1"/>
                </a:solidFill>
              </a:rPr>
              <a:t>A focus on using design features or components that are “neat” or “glitzy.”</a:t>
            </a:r>
          </a:p>
          <a:p>
            <a:r>
              <a:rPr lang="en-US" dirty="0">
                <a:solidFill>
                  <a:schemeClr val="tx1"/>
                </a:solidFill>
              </a:rPr>
              <a:t>Little or no creation of design element prototypes.</a:t>
            </a:r>
          </a:p>
          <a:p>
            <a:r>
              <a:rPr lang="en-US" dirty="0">
                <a:solidFill>
                  <a:schemeClr val="tx1"/>
                </a:solidFill>
              </a:rPr>
              <a:t>No usability testing.</a:t>
            </a:r>
          </a:p>
          <a:p>
            <a:r>
              <a:rPr lang="en-US" dirty="0">
                <a:solidFill>
                  <a:schemeClr val="tx1"/>
                </a:solidFill>
              </a:rPr>
              <a:t>No common design team vision of user interface design goals.</a:t>
            </a:r>
          </a:p>
          <a:p>
            <a:r>
              <a:rPr lang="en-US" dirty="0">
                <a:solidFill>
                  <a:schemeClr val="tx1"/>
                </a:solidFill>
              </a:rPr>
              <a:t>Poor communication between members of the development team.</a:t>
            </a:r>
            <a:endParaRPr lang="en-IN" dirty="0">
              <a:solidFill>
                <a:schemeClr val="tx1"/>
              </a:solidFill>
            </a:endParaRPr>
          </a:p>
        </p:txBody>
      </p:sp>
    </p:spTree>
    <p:extLst>
      <p:ext uri="{BB962C8B-B14F-4D97-AF65-F5344CB8AC3E}">
        <p14:creationId xmlns:p14="http://schemas.microsoft.com/office/powerpoint/2010/main" val="2647176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CF2F97-1CCD-AF25-03BE-DA8CC4B74D92}"/>
              </a:ext>
            </a:extLst>
          </p:cNvPr>
          <p:cNvSpPr>
            <a:spLocks noGrp="1"/>
          </p:cNvSpPr>
          <p:nvPr>
            <p:ph type="sldNum" sz="quarter" idx="14"/>
          </p:nvPr>
        </p:nvSpPr>
        <p:spPr/>
        <p:txBody>
          <a:bodyPr/>
          <a:lstStyle/>
          <a:p>
            <a:fld id="{45A3C14A-F937-4231-B6F1-40B429FAFB2F}" type="slidenum">
              <a:rPr lang="en-NZ" smtClean="0"/>
              <a:pPr/>
              <a:t>9</a:t>
            </a:fld>
            <a:endParaRPr lang="en-NZ" dirty="0"/>
          </a:p>
        </p:txBody>
      </p:sp>
      <p:sp>
        <p:nvSpPr>
          <p:cNvPr id="3" name="Title 2">
            <a:extLst>
              <a:ext uri="{FF2B5EF4-FFF2-40B4-BE49-F238E27FC236}">
                <a16:creationId xmlns:a16="http://schemas.microsoft.com/office/drawing/2014/main" id="{D9859BB0-5AE5-BBDA-11D9-A47E9FFD94FC}"/>
              </a:ext>
            </a:extLst>
          </p:cNvPr>
          <p:cNvSpPr>
            <a:spLocks noGrp="1"/>
          </p:cNvSpPr>
          <p:nvPr>
            <p:ph type="title"/>
          </p:nvPr>
        </p:nvSpPr>
        <p:spPr>
          <a:xfrm>
            <a:off x="695400" y="395786"/>
            <a:ext cx="9289032" cy="838202"/>
          </a:xfrm>
        </p:spPr>
        <p:txBody>
          <a:bodyPr/>
          <a:lstStyle/>
          <a:p>
            <a:r>
              <a:rPr lang="en-US" dirty="0"/>
              <a:t>Designing for People: The Five Commandments</a:t>
            </a:r>
            <a:endParaRPr lang="en-IN" dirty="0"/>
          </a:p>
        </p:txBody>
      </p:sp>
      <p:sp>
        <p:nvSpPr>
          <p:cNvPr id="4" name="Text Placeholder 3">
            <a:extLst>
              <a:ext uri="{FF2B5EF4-FFF2-40B4-BE49-F238E27FC236}">
                <a16:creationId xmlns:a16="http://schemas.microsoft.com/office/drawing/2014/main" id="{3285BCD7-A93A-7E0C-2DF4-A6FBD145888B}"/>
              </a:ext>
            </a:extLst>
          </p:cNvPr>
          <p:cNvSpPr>
            <a:spLocks noGrp="1"/>
          </p:cNvSpPr>
          <p:nvPr>
            <p:ph type="body" sz="quarter" idx="17"/>
          </p:nvPr>
        </p:nvSpPr>
        <p:spPr/>
        <p:txBody>
          <a:bodyPr/>
          <a:lstStyle/>
          <a:p>
            <a:r>
              <a:rPr lang="en-US" b="1" i="0" u="none" strike="noStrike" baseline="0" dirty="0">
                <a:solidFill>
                  <a:srgbClr val="292526"/>
                </a:solidFill>
              </a:rPr>
              <a:t>Gain a complete understanding of users and their tasks</a:t>
            </a:r>
          </a:p>
          <a:p>
            <a:r>
              <a:rPr lang="en-US" b="1" i="0" u="none" strike="noStrike" baseline="0" dirty="0">
                <a:solidFill>
                  <a:srgbClr val="292526"/>
                </a:solidFill>
              </a:rPr>
              <a:t>Solicit early and ongoing user involvement.</a:t>
            </a:r>
            <a:endParaRPr lang="en-US" b="1" dirty="0">
              <a:solidFill>
                <a:srgbClr val="292526"/>
              </a:solidFill>
            </a:endParaRPr>
          </a:p>
          <a:p>
            <a:r>
              <a:rPr lang="en-US" b="1" i="0" u="none" strike="noStrike" baseline="0" dirty="0">
                <a:solidFill>
                  <a:srgbClr val="292526"/>
                </a:solidFill>
              </a:rPr>
              <a:t>Perform rapid prototyping and testing</a:t>
            </a:r>
          </a:p>
          <a:p>
            <a:r>
              <a:rPr lang="en-US" b="1" i="0" u="none" strike="noStrike" baseline="0" dirty="0">
                <a:solidFill>
                  <a:srgbClr val="292526"/>
                </a:solidFill>
              </a:rPr>
              <a:t>Modify and iterate the design as much as necessary</a:t>
            </a:r>
            <a:endParaRPr lang="en-US" b="1" dirty="0">
              <a:solidFill>
                <a:srgbClr val="292526"/>
              </a:solidFill>
            </a:endParaRPr>
          </a:p>
          <a:p>
            <a:r>
              <a:rPr lang="en-US" b="1" i="0" u="none" strike="noStrike" baseline="0" dirty="0">
                <a:solidFill>
                  <a:srgbClr val="292526"/>
                </a:solidFill>
              </a:rPr>
              <a:t>Integrate the design of </a:t>
            </a:r>
            <a:r>
              <a:rPr lang="en-US" b="1" i="1" u="none" strike="noStrike" baseline="0" dirty="0">
                <a:solidFill>
                  <a:srgbClr val="292526"/>
                </a:solidFill>
              </a:rPr>
              <a:t>all </a:t>
            </a:r>
            <a:r>
              <a:rPr lang="en-US" b="1" i="0" u="none" strike="noStrike" baseline="0" dirty="0">
                <a:solidFill>
                  <a:srgbClr val="292526"/>
                </a:solidFill>
              </a:rPr>
              <a:t>the system components</a:t>
            </a:r>
            <a:endParaRPr lang="en-IN" dirty="0"/>
          </a:p>
        </p:txBody>
      </p:sp>
    </p:spTree>
    <p:extLst>
      <p:ext uri="{BB962C8B-B14F-4D97-AF65-F5344CB8AC3E}">
        <p14:creationId xmlns:p14="http://schemas.microsoft.com/office/powerpoint/2010/main" val="3551306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D0664C-36F2-E58F-F17F-EAA36390E442}"/>
              </a:ext>
            </a:extLst>
          </p:cNvPr>
          <p:cNvSpPr>
            <a:spLocks noGrp="1"/>
          </p:cNvSpPr>
          <p:nvPr>
            <p:ph type="sldNum" sz="quarter" idx="14"/>
          </p:nvPr>
        </p:nvSpPr>
        <p:spPr/>
        <p:txBody>
          <a:bodyPr/>
          <a:lstStyle/>
          <a:p>
            <a:fld id="{45A3C14A-F937-4231-B6F1-40B429FAFB2F}" type="slidenum">
              <a:rPr lang="en-NZ" smtClean="0"/>
              <a:pPr/>
              <a:t>10</a:t>
            </a:fld>
            <a:endParaRPr lang="en-NZ" dirty="0"/>
          </a:p>
        </p:txBody>
      </p:sp>
      <p:sp>
        <p:nvSpPr>
          <p:cNvPr id="3" name="Title 2">
            <a:extLst>
              <a:ext uri="{FF2B5EF4-FFF2-40B4-BE49-F238E27FC236}">
                <a16:creationId xmlns:a16="http://schemas.microsoft.com/office/drawing/2014/main" id="{3FA8E50B-3967-DAEE-7FDC-95FDC2C86038}"/>
              </a:ext>
            </a:extLst>
          </p:cNvPr>
          <p:cNvSpPr>
            <a:spLocks noGrp="1"/>
          </p:cNvSpPr>
          <p:nvPr>
            <p:ph type="title"/>
          </p:nvPr>
        </p:nvSpPr>
        <p:spPr>
          <a:xfrm>
            <a:off x="479376" y="260648"/>
            <a:ext cx="8280920" cy="838202"/>
          </a:xfrm>
        </p:spPr>
        <p:txBody>
          <a:bodyPr/>
          <a:lstStyle/>
          <a:p>
            <a:r>
              <a:rPr lang="en-IN" sz="2400" b="1" i="0" u="none" strike="noStrike" baseline="0" dirty="0">
                <a:solidFill>
                  <a:schemeClr val="tx1"/>
                </a:solidFill>
                <a:latin typeface="Times New Roman" panose="02020603050405020304" pitchFamily="18" charset="0"/>
              </a:rPr>
              <a:t>HUMAN INTERACTION WITH COMPUTERS</a:t>
            </a:r>
            <a:endParaRPr lang="en-IN" sz="2400" dirty="0">
              <a:solidFill>
                <a:schemeClr val="tx1"/>
              </a:solidFill>
            </a:endParaRPr>
          </a:p>
        </p:txBody>
      </p:sp>
      <p:sp>
        <p:nvSpPr>
          <p:cNvPr id="4" name="Text Placeholder 3">
            <a:extLst>
              <a:ext uri="{FF2B5EF4-FFF2-40B4-BE49-F238E27FC236}">
                <a16:creationId xmlns:a16="http://schemas.microsoft.com/office/drawing/2014/main" id="{91D662BF-A528-8ABF-1BB6-C3D2DA8EADA0}"/>
              </a:ext>
            </a:extLst>
          </p:cNvPr>
          <p:cNvSpPr>
            <a:spLocks noGrp="1"/>
          </p:cNvSpPr>
          <p:nvPr>
            <p:ph type="body" sz="quarter" idx="17"/>
          </p:nvPr>
        </p:nvSpPr>
        <p:spPr>
          <a:xfrm>
            <a:off x="479362" y="1268760"/>
            <a:ext cx="10801201" cy="4320480"/>
          </a:xfrm>
        </p:spPr>
        <p:txBody>
          <a:bodyPr/>
          <a:lstStyle/>
          <a:p>
            <a:pPr>
              <a:buFont typeface="Arial" panose="020B0604020202020204" pitchFamily="34" charset="0"/>
              <a:buChar char="•"/>
            </a:pPr>
            <a:r>
              <a:rPr lang="en-US" dirty="0">
                <a:solidFill>
                  <a:schemeClr val="tx1"/>
                </a:solidFill>
              </a:rPr>
              <a:t>Understanding How People Interact with Computers </a:t>
            </a:r>
          </a:p>
          <a:p>
            <a:pPr>
              <a:buFont typeface="Arial" panose="020B0604020202020204" pitchFamily="34" charset="0"/>
              <a:buChar char="•"/>
            </a:pPr>
            <a:r>
              <a:rPr lang="en-US" dirty="0">
                <a:solidFill>
                  <a:schemeClr val="tx1"/>
                </a:solidFill>
              </a:rPr>
              <a:t>Characteristics of computer systems, past and present, that have caused, and are causing, people problems. </a:t>
            </a:r>
          </a:p>
          <a:p>
            <a:pPr marL="0" indent="0">
              <a:buNone/>
            </a:pPr>
            <a:r>
              <a:rPr lang="en-US" dirty="0">
                <a:solidFill>
                  <a:schemeClr val="tx1"/>
                </a:solidFill>
              </a:rPr>
              <a:t>The effect these problems have –</a:t>
            </a:r>
          </a:p>
          <a:p>
            <a:r>
              <a:rPr lang="en-US" dirty="0">
                <a:solidFill>
                  <a:schemeClr val="tx1"/>
                </a:solidFill>
              </a:rPr>
              <a:t>Why people have trouble with computers</a:t>
            </a:r>
          </a:p>
          <a:p>
            <a:r>
              <a:rPr lang="en-US" dirty="0">
                <a:solidFill>
                  <a:schemeClr val="tx1"/>
                </a:solidFill>
              </a:rPr>
              <a:t>Responses to poor design</a:t>
            </a:r>
          </a:p>
          <a:p>
            <a:r>
              <a:rPr lang="en-US" dirty="0">
                <a:solidFill>
                  <a:schemeClr val="tx1"/>
                </a:solidFill>
              </a:rPr>
              <a:t>People and their tasks</a:t>
            </a:r>
            <a:endParaRPr lang="en-IN" dirty="0">
              <a:solidFill>
                <a:schemeClr val="tx1"/>
              </a:solidFill>
            </a:endParaRPr>
          </a:p>
        </p:txBody>
      </p:sp>
    </p:spTree>
    <p:extLst>
      <p:ext uri="{BB962C8B-B14F-4D97-AF65-F5344CB8AC3E}">
        <p14:creationId xmlns:p14="http://schemas.microsoft.com/office/powerpoint/2010/main" val="806599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9BC414-AE0C-5A23-7993-064254EFB395}"/>
              </a:ext>
            </a:extLst>
          </p:cNvPr>
          <p:cNvSpPr>
            <a:spLocks noGrp="1"/>
          </p:cNvSpPr>
          <p:nvPr>
            <p:ph type="sldNum" sz="quarter" idx="14"/>
          </p:nvPr>
        </p:nvSpPr>
        <p:spPr/>
        <p:txBody>
          <a:bodyPr/>
          <a:lstStyle/>
          <a:p>
            <a:fld id="{45A3C14A-F937-4231-B6F1-40B429FAFB2F}" type="slidenum">
              <a:rPr lang="en-NZ" smtClean="0"/>
              <a:pPr/>
              <a:t>11</a:t>
            </a:fld>
            <a:endParaRPr lang="en-NZ" dirty="0"/>
          </a:p>
        </p:txBody>
      </p:sp>
      <p:sp>
        <p:nvSpPr>
          <p:cNvPr id="3" name="Title 2">
            <a:extLst>
              <a:ext uri="{FF2B5EF4-FFF2-40B4-BE49-F238E27FC236}">
                <a16:creationId xmlns:a16="http://schemas.microsoft.com/office/drawing/2014/main" id="{1C63000B-37F4-450E-EF39-27BDE0988BA2}"/>
              </a:ext>
            </a:extLst>
          </p:cNvPr>
          <p:cNvSpPr>
            <a:spLocks noGrp="1"/>
          </p:cNvSpPr>
          <p:nvPr>
            <p:ph type="title"/>
          </p:nvPr>
        </p:nvSpPr>
        <p:spPr>
          <a:xfrm>
            <a:off x="695400" y="395786"/>
            <a:ext cx="10585176" cy="838202"/>
          </a:xfrm>
        </p:spPr>
        <p:txBody>
          <a:bodyPr/>
          <a:lstStyle/>
          <a:p>
            <a:r>
              <a:rPr lang="en-US" sz="2200" b="1" i="0" u="none" strike="noStrike" baseline="0" dirty="0">
                <a:solidFill>
                  <a:schemeClr val="tx1"/>
                </a:solidFill>
              </a:rPr>
              <a:t>Why People Have Trouble with Computers</a:t>
            </a:r>
            <a:endParaRPr lang="en-IN" sz="2200" dirty="0">
              <a:solidFill>
                <a:schemeClr val="tx1"/>
              </a:solidFill>
            </a:endParaRPr>
          </a:p>
        </p:txBody>
      </p:sp>
      <p:sp>
        <p:nvSpPr>
          <p:cNvPr id="4" name="Text Placeholder 3">
            <a:extLst>
              <a:ext uri="{FF2B5EF4-FFF2-40B4-BE49-F238E27FC236}">
                <a16:creationId xmlns:a16="http://schemas.microsoft.com/office/drawing/2014/main" id="{166A9DB7-958C-65E4-E4A9-120724C8F78D}"/>
              </a:ext>
            </a:extLst>
          </p:cNvPr>
          <p:cNvSpPr>
            <a:spLocks noGrp="1"/>
          </p:cNvSpPr>
          <p:nvPr>
            <p:ph type="body" sz="quarter" idx="17"/>
          </p:nvPr>
        </p:nvSpPr>
        <p:spPr>
          <a:xfrm>
            <a:off x="695400" y="1412776"/>
            <a:ext cx="10801201" cy="4320480"/>
          </a:xfrm>
        </p:spPr>
        <p:txBody>
          <a:bodyPr/>
          <a:lstStyle/>
          <a:p>
            <a:pPr algn="l"/>
            <a:r>
              <a:rPr lang="en-US" sz="1800" b="0" i="0" u="none" strike="noStrike" baseline="0" dirty="0">
                <a:solidFill>
                  <a:schemeClr val="tx1"/>
                </a:solidFill>
              </a:rPr>
              <a:t>Extensive technical knowledge but little behavioral training.</a:t>
            </a:r>
          </a:p>
          <a:p>
            <a:pPr algn="l"/>
            <a:r>
              <a:rPr lang="en-US" sz="1800" b="0" i="0" u="none" strike="noStrike" baseline="0" dirty="0">
                <a:solidFill>
                  <a:schemeClr val="tx1"/>
                </a:solidFill>
              </a:rPr>
              <a:t>With its extensive graphical capabilities.</a:t>
            </a:r>
          </a:p>
          <a:p>
            <a:pPr algn="l"/>
            <a:r>
              <a:rPr lang="en-IN" sz="1800" b="0" i="0" u="none" strike="noStrike" baseline="0" dirty="0">
                <a:solidFill>
                  <a:schemeClr val="tx1"/>
                </a:solidFill>
              </a:rPr>
              <a:t>Poorly designed interfaces.</a:t>
            </a:r>
          </a:p>
          <a:p>
            <a:pPr algn="l"/>
            <a:r>
              <a:rPr lang="en-IN" sz="1800" b="0" i="0" u="none" strike="noStrike" baseline="0" dirty="0">
                <a:solidFill>
                  <a:schemeClr val="tx1"/>
                </a:solidFill>
              </a:rPr>
              <a:t>Use of jargon</a:t>
            </a:r>
          </a:p>
          <a:p>
            <a:pPr algn="l"/>
            <a:r>
              <a:rPr lang="en-IN" sz="1800" b="0" i="0" u="none" strike="noStrike" baseline="0" dirty="0">
                <a:solidFill>
                  <a:schemeClr val="tx1"/>
                </a:solidFill>
              </a:rPr>
              <a:t>Non-obvious design</a:t>
            </a:r>
          </a:p>
          <a:p>
            <a:pPr algn="l"/>
            <a:r>
              <a:rPr lang="en-IN" sz="1800" b="0" i="0" u="none" strike="noStrike" baseline="0" dirty="0">
                <a:solidFill>
                  <a:schemeClr val="tx1"/>
                </a:solidFill>
              </a:rPr>
              <a:t>Fine distinctions</a:t>
            </a:r>
          </a:p>
          <a:p>
            <a:pPr algn="l"/>
            <a:r>
              <a:rPr lang="en-IN" sz="1800" b="0" i="0" u="none" strike="noStrike" baseline="0" dirty="0">
                <a:solidFill>
                  <a:schemeClr val="tx1"/>
                </a:solidFill>
              </a:rPr>
              <a:t>Disparity in problem-solving strategies</a:t>
            </a:r>
          </a:p>
          <a:p>
            <a:pPr algn="l"/>
            <a:r>
              <a:rPr lang="en-IN" sz="1800" b="0" i="0" u="none" strike="noStrike" baseline="0" dirty="0">
                <a:solidFill>
                  <a:schemeClr val="tx1"/>
                </a:solidFill>
              </a:rPr>
              <a:t>an "error-preventing" strategy</a:t>
            </a:r>
          </a:p>
          <a:p>
            <a:pPr algn="l"/>
            <a:r>
              <a:rPr lang="en-IN" sz="1800" b="0" i="0" u="none" strike="noStrike" baseline="0" dirty="0">
                <a:solidFill>
                  <a:schemeClr val="tx1"/>
                </a:solidFill>
              </a:rPr>
              <a:t>Design inconsistency</a:t>
            </a:r>
            <a:endParaRPr lang="en-IN" dirty="0">
              <a:solidFill>
                <a:schemeClr val="tx1"/>
              </a:solidFill>
            </a:endParaRPr>
          </a:p>
        </p:txBody>
      </p:sp>
    </p:spTree>
    <p:extLst>
      <p:ext uri="{BB962C8B-B14F-4D97-AF65-F5344CB8AC3E}">
        <p14:creationId xmlns:p14="http://schemas.microsoft.com/office/powerpoint/2010/main" val="869402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72538-C968-00B3-BBF6-7E0BFD92EEA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74828A-5238-CBA5-6827-E2E15F50EDAB}"/>
              </a:ext>
            </a:extLst>
          </p:cNvPr>
          <p:cNvSpPr>
            <a:spLocks noGrp="1"/>
          </p:cNvSpPr>
          <p:nvPr>
            <p:ph type="sldNum" sz="quarter" idx="14"/>
          </p:nvPr>
        </p:nvSpPr>
        <p:spPr/>
        <p:txBody>
          <a:bodyPr/>
          <a:lstStyle/>
          <a:p>
            <a:fld id="{45A3C14A-F937-4231-B6F1-40B429FAFB2F}" type="slidenum">
              <a:rPr lang="en-NZ" smtClean="0"/>
              <a:pPr/>
              <a:t>12</a:t>
            </a:fld>
            <a:endParaRPr lang="en-NZ" dirty="0"/>
          </a:p>
        </p:txBody>
      </p:sp>
      <p:sp>
        <p:nvSpPr>
          <p:cNvPr id="3" name="Title 2">
            <a:extLst>
              <a:ext uri="{FF2B5EF4-FFF2-40B4-BE49-F238E27FC236}">
                <a16:creationId xmlns:a16="http://schemas.microsoft.com/office/drawing/2014/main" id="{F3B4FF63-7471-3DE8-DC01-05D5116EC5F7}"/>
              </a:ext>
            </a:extLst>
          </p:cNvPr>
          <p:cNvSpPr>
            <a:spLocks noGrp="1"/>
          </p:cNvSpPr>
          <p:nvPr>
            <p:ph type="title"/>
          </p:nvPr>
        </p:nvSpPr>
        <p:spPr>
          <a:xfrm>
            <a:off x="119336" y="116632"/>
            <a:ext cx="9289032" cy="440926"/>
          </a:xfrm>
        </p:spPr>
        <p:txBody>
          <a:bodyPr/>
          <a:lstStyle/>
          <a:p>
            <a:r>
              <a:rPr lang="en-US" sz="2400" b="1" i="0" u="none" strike="noStrike" baseline="0" dirty="0">
                <a:solidFill>
                  <a:schemeClr val="tx1"/>
                </a:solidFill>
              </a:rPr>
              <a:t>Typical psychological responses to poor design</a:t>
            </a:r>
            <a:endParaRPr lang="en-IN" sz="2400" dirty="0">
              <a:solidFill>
                <a:schemeClr val="tx1"/>
              </a:solidFill>
            </a:endParaRPr>
          </a:p>
        </p:txBody>
      </p:sp>
      <p:sp>
        <p:nvSpPr>
          <p:cNvPr id="4" name="Text Placeholder 3">
            <a:extLst>
              <a:ext uri="{FF2B5EF4-FFF2-40B4-BE49-F238E27FC236}">
                <a16:creationId xmlns:a16="http://schemas.microsoft.com/office/drawing/2014/main" id="{1D79B5C9-A803-955F-68B0-CFE4BC030A2B}"/>
              </a:ext>
            </a:extLst>
          </p:cNvPr>
          <p:cNvSpPr>
            <a:spLocks noGrp="1"/>
          </p:cNvSpPr>
          <p:nvPr>
            <p:ph type="body" sz="quarter" idx="17"/>
          </p:nvPr>
        </p:nvSpPr>
        <p:spPr>
          <a:xfrm>
            <a:off x="335360" y="620688"/>
            <a:ext cx="11449272" cy="4715292"/>
          </a:xfrm>
        </p:spPr>
        <p:txBody>
          <a:bodyPr/>
          <a:lstStyle/>
          <a:p>
            <a:pPr algn="l">
              <a:buFont typeface="Arial" panose="020B0604020202020204" pitchFamily="34" charset="0"/>
              <a:buChar char="•"/>
            </a:pPr>
            <a:r>
              <a:rPr lang="en-US" sz="2200" b="1" i="0" u="none" strike="noStrike" baseline="0" dirty="0">
                <a:solidFill>
                  <a:schemeClr val="tx1"/>
                </a:solidFill>
              </a:rPr>
              <a:t>Confusion</a:t>
            </a:r>
            <a:r>
              <a:rPr lang="en-US" sz="2200" b="0" i="0" u="none" strike="noStrike" baseline="0" dirty="0">
                <a:solidFill>
                  <a:schemeClr val="tx1"/>
                </a:solidFill>
              </a:rPr>
              <a:t>: Detail overwhelms the perceived structure. Meaningful patterns are difficult to ascertain, and the conceptual model or underlying framework cannot be </a:t>
            </a:r>
            <a:r>
              <a:rPr lang="en-IN" sz="2200" b="0" i="0" u="none" strike="noStrike" baseline="0" dirty="0">
                <a:solidFill>
                  <a:schemeClr val="tx1"/>
                </a:solidFill>
              </a:rPr>
              <a:t>understood or established.</a:t>
            </a:r>
          </a:p>
          <a:p>
            <a:pPr lvl="1">
              <a:buFont typeface="Arial" panose="020B0604020202020204" pitchFamily="34" charset="0"/>
              <a:buChar char="•"/>
            </a:pPr>
            <a:r>
              <a:rPr lang="en-US" sz="2200" dirty="0">
                <a:solidFill>
                  <a:schemeClr val="tx1"/>
                </a:solidFill>
              </a:rPr>
              <a:t>An </a:t>
            </a:r>
            <a:r>
              <a:rPr lang="en-US" sz="2000" dirty="0">
                <a:solidFill>
                  <a:schemeClr val="tx1"/>
                </a:solidFill>
              </a:rPr>
              <a:t>online banking dashboard displays all transactions, billers, investment options, and ads on the homepage without proper categorization. New users struggle to find where to initiate a fund transfer.</a:t>
            </a:r>
            <a:endParaRPr lang="en-IN" sz="2000" b="0" i="0" u="none" strike="noStrike" baseline="0" dirty="0">
              <a:solidFill>
                <a:schemeClr val="tx1"/>
              </a:solidFill>
            </a:endParaRPr>
          </a:p>
          <a:p>
            <a:pPr algn="l">
              <a:buFont typeface="Arial" panose="020B0604020202020204" pitchFamily="34" charset="0"/>
              <a:buChar char="•"/>
            </a:pPr>
            <a:r>
              <a:rPr lang="en-US" sz="2200" b="1" i="0" u="none" strike="noStrike" baseline="0" dirty="0">
                <a:solidFill>
                  <a:schemeClr val="tx1"/>
                </a:solidFill>
              </a:rPr>
              <a:t>Annoyance</a:t>
            </a:r>
            <a:r>
              <a:rPr lang="en-US" sz="2200" b="0" i="0" u="none" strike="noStrike" baseline="0" dirty="0">
                <a:solidFill>
                  <a:schemeClr val="tx1"/>
                </a:solidFill>
              </a:rPr>
              <a:t>: Inconsistencies in design, slow computer reaction times, difficulties in quickly finding information, outdated information, and visual screen distractions are a few of the many things that may </a:t>
            </a:r>
            <a:r>
              <a:rPr lang="en-IN" sz="2200" b="0" i="0" u="none" strike="noStrike" baseline="0" dirty="0">
                <a:solidFill>
                  <a:schemeClr val="tx1"/>
                </a:solidFill>
              </a:rPr>
              <a:t>annoy users.</a:t>
            </a:r>
          </a:p>
          <a:p>
            <a:pPr lvl="1">
              <a:buFont typeface="Arial" panose="020B0604020202020204" pitchFamily="34" charset="0"/>
              <a:buChar char="•"/>
            </a:pPr>
            <a:r>
              <a:rPr lang="en-US" sz="2000" dirty="0">
                <a:solidFill>
                  <a:schemeClr val="tx1"/>
                </a:solidFill>
              </a:rPr>
              <a:t>An e-commerce app displays items as "in stock," but when users try to purchase them, the items are actually unavailable. The inconsistent feedback causes repeated failed attempts.</a:t>
            </a:r>
            <a:endParaRPr lang="en-IN" sz="2000" b="0" i="0" u="none" strike="noStrike" baseline="0" dirty="0">
              <a:solidFill>
                <a:schemeClr val="tx1"/>
              </a:solidFill>
            </a:endParaRPr>
          </a:p>
          <a:p>
            <a:pPr algn="l">
              <a:buFont typeface="Arial" panose="020B0604020202020204" pitchFamily="34" charset="0"/>
              <a:buChar char="•"/>
            </a:pPr>
            <a:r>
              <a:rPr lang="en-US" sz="2200" b="1" i="0" u="none" strike="noStrike" baseline="0" dirty="0">
                <a:solidFill>
                  <a:schemeClr val="tx1"/>
                </a:solidFill>
              </a:rPr>
              <a:t>Frustration</a:t>
            </a:r>
            <a:r>
              <a:rPr lang="en-US" sz="2200" b="0" i="0" u="none" strike="noStrike" baseline="0" dirty="0">
                <a:solidFill>
                  <a:schemeClr val="tx1"/>
                </a:solidFill>
              </a:rPr>
              <a:t>: Frustration is heightened if an unexpected computer response cannot be undone or if what really took place cannot be determined: Inflexible and unforgiving systems are a major source of frustration.</a:t>
            </a:r>
          </a:p>
          <a:p>
            <a:pPr lvl="1">
              <a:buFont typeface="Arial" panose="020B0604020202020204" pitchFamily="34" charset="0"/>
              <a:buChar char="•"/>
            </a:pPr>
            <a:r>
              <a:rPr lang="en-US" sz="2000" dirty="0">
                <a:solidFill>
                  <a:schemeClr val="tx1"/>
                </a:solidFill>
              </a:rPr>
              <a:t>A form on a government website resets all fields if the user makes a mistake in one entry, with no error explanation. Users are forced to re-enter everything from scratch, unsure what went wrong.</a:t>
            </a:r>
            <a:endParaRPr lang="en-US" sz="2000" b="0" i="0" u="none" strike="noStrike" baseline="0" dirty="0">
              <a:solidFill>
                <a:schemeClr val="tx1"/>
              </a:solidFill>
            </a:endParaRPr>
          </a:p>
          <a:p>
            <a:pPr algn="l">
              <a:buFont typeface="Arial" panose="020B0604020202020204" pitchFamily="34" charset="0"/>
              <a:buChar char="•"/>
            </a:pPr>
            <a:endParaRPr lang="en-IN" sz="2200" b="0" i="0" u="none" strike="noStrike" baseline="0" dirty="0">
              <a:solidFill>
                <a:schemeClr val="tx1"/>
              </a:solidFill>
            </a:endParaRPr>
          </a:p>
        </p:txBody>
      </p:sp>
    </p:spTree>
    <p:extLst>
      <p:ext uri="{BB962C8B-B14F-4D97-AF65-F5344CB8AC3E}">
        <p14:creationId xmlns:p14="http://schemas.microsoft.com/office/powerpoint/2010/main" val="333652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5EBD45-A418-7481-3D5F-6D0D0D85F510}"/>
              </a:ext>
            </a:extLst>
          </p:cNvPr>
          <p:cNvSpPr>
            <a:spLocks noGrp="1"/>
          </p:cNvSpPr>
          <p:nvPr>
            <p:ph type="sldNum" sz="quarter" idx="14"/>
          </p:nvPr>
        </p:nvSpPr>
        <p:spPr/>
        <p:txBody>
          <a:bodyPr/>
          <a:lstStyle/>
          <a:p>
            <a:fld id="{45A3C14A-F937-4231-B6F1-40B429FAFB2F}" type="slidenum">
              <a:rPr lang="en-NZ" smtClean="0"/>
              <a:pPr/>
              <a:t>13</a:t>
            </a:fld>
            <a:endParaRPr lang="en-NZ" dirty="0"/>
          </a:p>
        </p:txBody>
      </p:sp>
      <p:sp>
        <p:nvSpPr>
          <p:cNvPr id="3" name="Title 2">
            <a:extLst>
              <a:ext uri="{FF2B5EF4-FFF2-40B4-BE49-F238E27FC236}">
                <a16:creationId xmlns:a16="http://schemas.microsoft.com/office/drawing/2014/main" id="{5E5E39D5-1B5E-32EF-7C65-C995B3E456FC}"/>
              </a:ext>
            </a:extLst>
          </p:cNvPr>
          <p:cNvSpPr>
            <a:spLocks noGrp="1"/>
          </p:cNvSpPr>
          <p:nvPr>
            <p:ph type="title"/>
          </p:nvPr>
        </p:nvSpPr>
        <p:spPr>
          <a:xfrm>
            <a:off x="119336" y="116632"/>
            <a:ext cx="9289032" cy="440926"/>
          </a:xfrm>
        </p:spPr>
        <p:txBody>
          <a:bodyPr/>
          <a:lstStyle/>
          <a:p>
            <a:r>
              <a:rPr lang="en-US" sz="2400" b="1" i="0" u="none" strike="noStrike" baseline="0" dirty="0">
                <a:solidFill>
                  <a:schemeClr val="tx1"/>
                </a:solidFill>
              </a:rPr>
              <a:t>Typical psychological responses to poor design</a:t>
            </a:r>
            <a:endParaRPr lang="en-IN" sz="2400" dirty="0">
              <a:solidFill>
                <a:schemeClr val="tx1"/>
              </a:solidFill>
            </a:endParaRPr>
          </a:p>
        </p:txBody>
      </p:sp>
      <p:sp>
        <p:nvSpPr>
          <p:cNvPr id="4" name="Text Placeholder 3">
            <a:extLst>
              <a:ext uri="{FF2B5EF4-FFF2-40B4-BE49-F238E27FC236}">
                <a16:creationId xmlns:a16="http://schemas.microsoft.com/office/drawing/2014/main" id="{C6E6D8ED-58E4-39EF-9AE6-EB4B3E52F55D}"/>
              </a:ext>
            </a:extLst>
          </p:cNvPr>
          <p:cNvSpPr>
            <a:spLocks noGrp="1"/>
          </p:cNvSpPr>
          <p:nvPr>
            <p:ph type="body" sz="quarter" idx="17"/>
          </p:nvPr>
        </p:nvSpPr>
        <p:spPr>
          <a:xfrm>
            <a:off x="335360" y="620688"/>
            <a:ext cx="11449272" cy="4715292"/>
          </a:xfrm>
        </p:spPr>
        <p:txBody>
          <a:bodyPr/>
          <a:lstStyle/>
          <a:p>
            <a:pPr algn="l">
              <a:buFont typeface="Arial" panose="020B0604020202020204" pitchFamily="34" charset="0"/>
              <a:buChar char="•"/>
            </a:pPr>
            <a:r>
              <a:rPr lang="en-US" sz="2200" b="1" i="0" u="none" strike="noStrike" baseline="0" dirty="0">
                <a:solidFill>
                  <a:schemeClr val="tx1"/>
                </a:solidFill>
              </a:rPr>
              <a:t>Panic or stress</a:t>
            </a:r>
            <a:r>
              <a:rPr lang="en-US" sz="2200" b="0" i="0" u="none" strike="noStrike" baseline="0" dirty="0">
                <a:solidFill>
                  <a:schemeClr val="tx1"/>
                </a:solidFill>
              </a:rPr>
              <a:t>: Unexpectedly long delays during times of severe or unusual pressure may introduce panic or stress. Some typical causes are unavailable systems or long response times when the user is operating under a deadline or dealing with </a:t>
            </a:r>
            <a:r>
              <a:rPr lang="en-IN" sz="2200" b="0" i="0" u="none" strike="noStrike" baseline="0" dirty="0">
                <a:solidFill>
                  <a:schemeClr val="tx1"/>
                </a:solidFill>
              </a:rPr>
              <a:t>an irate customer.</a:t>
            </a:r>
          </a:p>
          <a:p>
            <a:pPr lvl="1">
              <a:buFont typeface="Arial" panose="020B0604020202020204" pitchFamily="34" charset="0"/>
              <a:buChar char="•"/>
            </a:pPr>
            <a:r>
              <a:rPr lang="en-US" sz="2000" dirty="0">
                <a:solidFill>
                  <a:schemeClr val="tx1"/>
                </a:solidFill>
              </a:rPr>
              <a:t>Example: Online Exam Portals During a competitive online exam (e.g., GATE, NEET, or a university final exam). </a:t>
            </a:r>
            <a:endParaRPr lang="en-IN" sz="2000" b="0" i="0" u="none" strike="noStrike" baseline="0" dirty="0">
              <a:solidFill>
                <a:schemeClr val="tx1"/>
              </a:solidFill>
            </a:endParaRPr>
          </a:p>
          <a:p>
            <a:pPr algn="l">
              <a:buFont typeface="Arial" panose="020B0604020202020204" pitchFamily="34" charset="0"/>
              <a:buChar char="•"/>
            </a:pPr>
            <a:r>
              <a:rPr lang="en-US" sz="2200" b="1" i="0" u="none" strike="noStrike" baseline="0" dirty="0">
                <a:solidFill>
                  <a:schemeClr val="tx1"/>
                </a:solidFill>
              </a:rPr>
              <a:t>Boredom</a:t>
            </a:r>
            <a:r>
              <a:rPr lang="en-US" sz="2200" b="0" i="0" u="none" strike="noStrike" baseline="0" dirty="0">
                <a:solidFill>
                  <a:schemeClr val="tx1"/>
                </a:solidFill>
              </a:rPr>
              <a:t>: Boredom results from improper computer pacing (slow response times or long download times) or overly simplistic jobs.</a:t>
            </a:r>
          </a:p>
          <a:p>
            <a:pPr lvl="1">
              <a:buFont typeface="Arial" panose="020B0604020202020204" pitchFamily="34" charset="0"/>
              <a:buChar char="•"/>
            </a:pPr>
            <a:r>
              <a:rPr lang="en-US" sz="2000" dirty="0">
                <a:solidFill>
                  <a:schemeClr val="tx1"/>
                </a:solidFill>
              </a:rPr>
              <a:t>A data entry employee working with outdated legacy software has to wait 5–10 seconds between screen transitions. The monotonous wait drains attention and motivation.</a:t>
            </a:r>
            <a:endParaRPr lang="en-IN" sz="2000" b="0" i="0" u="none" strike="noStrike" baseline="0" dirty="0">
              <a:solidFill>
                <a:schemeClr val="tx1"/>
              </a:solidFill>
            </a:endParaRPr>
          </a:p>
        </p:txBody>
      </p:sp>
      <p:sp>
        <p:nvSpPr>
          <p:cNvPr id="6" name="TextBox 5">
            <a:extLst>
              <a:ext uri="{FF2B5EF4-FFF2-40B4-BE49-F238E27FC236}">
                <a16:creationId xmlns:a16="http://schemas.microsoft.com/office/drawing/2014/main" id="{2ED6AF7E-3181-E61D-C50B-88F4CF669850}"/>
              </a:ext>
            </a:extLst>
          </p:cNvPr>
          <p:cNvSpPr txBox="1"/>
          <p:nvPr/>
        </p:nvSpPr>
        <p:spPr>
          <a:xfrm>
            <a:off x="5868880" y="4869160"/>
            <a:ext cx="6094520" cy="369332"/>
          </a:xfrm>
          <a:prstGeom prst="rect">
            <a:avLst/>
          </a:prstGeom>
          <a:noFill/>
        </p:spPr>
        <p:txBody>
          <a:bodyPr wrap="square">
            <a:spAutoFit/>
          </a:bodyPr>
          <a:lstStyle/>
          <a:p>
            <a:r>
              <a:rPr lang="en-US" dirty="0">
                <a:hlinkClick r:id="rId2"/>
              </a:rPr>
              <a:t>DREAMS OF THE GREAT EARTH CHANGES</a:t>
            </a:r>
            <a:endParaRPr lang="en-IN" dirty="0"/>
          </a:p>
        </p:txBody>
      </p:sp>
    </p:spTree>
    <p:extLst>
      <p:ext uri="{BB962C8B-B14F-4D97-AF65-F5344CB8AC3E}">
        <p14:creationId xmlns:p14="http://schemas.microsoft.com/office/powerpoint/2010/main" val="407457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85E352-4656-C4E1-8035-B48F2C58563B}"/>
              </a:ext>
            </a:extLst>
          </p:cNvPr>
          <p:cNvSpPr>
            <a:spLocks noGrp="1"/>
          </p:cNvSpPr>
          <p:nvPr>
            <p:ph type="sldNum" sz="quarter" idx="14"/>
          </p:nvPr>
        </p:nvSpPr>
        <p:spPr/>
        <p:txBody>
          <a:bodyPr/>
          <a:lstStyle/>
          <a:p>
            <a:fld id="{45A3C14A-F937-4231-B6F1-40B429FAFB2F}" type="slidenum">
              <a:rPr lang="en-NZ" smtClean="0"/>
              <a:pPr/>
              <a:t>14</a:t>
            </a:fld>
            <a:endParaRPr lang="en-NZ" dirty="0"/>
          </a:p>
        </p:txBody>
      </p:sp>
      <p:sp>
        <p:nvSpPr>
          <p:cNvPr id="4" name="Text Placeholder 3">
            <a:extLst>
              <a:ext uri="{FF2B5EF4-FFF2-40B4-BE49-F238E27FC236}">
                <a16:creationId xmlns:a16="http://schemas.microsoft.com/office/drawing/2014/main" id="{E4BEEA11-DA39-97AE-3B29-6D236D2FC185}"/>
              </a:ext>
            </a:extLst>
          </p:cNvPr>
          <p:cNvSpPr>
            <a:spLocks noGrp="1"/>
          </p:cNvSpPr>
          <p:nvPr>
            <p:ph type="body" sz="quarter" idx="17"/>
          </p:nvPr>
        </p:nvSpPr>
        <p:spPr>
          <a:xfrm>
            <a:off x="565945" y="1124744"/>
            <a:ext cx="10801201" cy="4320480"/>
          </a:xfrm>
        </p:spPr>
        <p:txBody>
          <a:bodyPr/>
          <a:lstStyle/>
          <a:p>
            <a:pPr marL="0" indent="0" algn="l">
              <a:buNone/>
            </a:pPr>
            <a:r>
              <a:rPr lang="en-US" sz="2200" b="0" i="0" u="none" strike="noStrike" baseline="0" dirty="0">
                <a:solidFill>
                  <a:schemeClr val="tx1"/>
                </a:solidFill>
              </a:rPr>
              <a:t>These psychological responses diminish user effectiveness because they are severe </a:t>
            </a:r>
            <a:r>
              <a:rPr lang="en-IN" sz="2200" b="0" i="0" u="none" strike="noStrike" baseline="0" dirty="0">
                <a:solidFill>
                  <a:schemeClr val="tx1"/>
                </a:solidFill>
              </a:rPr>
              <a:t>blocks to concentration.</a:t>
            </a:r>
          </a:p>
          <a:p>
            <a:pPr lvl="2">
              <a:buFont typeface="Arial" panose="020B0604020202020204" pitchFamily="34" charset="0"/>
              <a:buChar char="•"/>
            </a:pPr>
            <a:r>
              <a:rPr lang="en-US" sz="2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rPr>
              <a:t>Thoughts irrelevant to the task at hand are forced to the user’s attention, and necessary concentration is impossible.</a:t>
            </a:r>
          </a:p>
          <a:p>
            <a:pPr lvl="2">
              <a:buFont typeface="Arial" panose="020B0604020202020204" pitchFamily="34" charset="0"/>
              <a:buChar char="•"/>
            </a:pPr>
            <a:r>
              <a:rPr lang="en-US" sz="2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rPr>
              <a:t>The result, in addition to higher error rates, is poor performance, anxiety, and dissatisfaction. </a:t>
            </a:r>
            <a:r>
              <a:rPr lang="en-US" dirty="0"/>
              <a:t>Physical.</a:t>
            </a:r>
          </a:p>
          <a:p>
            <a:pPr marL="0" indent="0" algn="l">
              <a:buNone/>
            </a:pPr>
            <a:endParaRPr lang="en-IN" dirty="0"/>
          </a:p>
        </p:txBody>
      </p:sp>
      <p:sp>
        <p:nvSpPr>
          <p:cNvPr id="7" name="Title 2">
            <a:extLst>
              <a:ext uri="{FF2B5EF4-FFF2-40B4-BE49-F238E27FC236}">
                <a16:creationId xmlns:a16="http://schemas.microsoft.com/office/drawing/2014/main" id="{E257AE44-5D0E-D118-063D-C7233BFF87CA}"/>
              </a:ext>
            </a:extLst>
          </p:cNvPr>
          <p:cNvSpPr>
            <a:spLocks noGrp="1"/>
          </p:cNvSpPr>
          <p:nvPr>
            <p:ph type="title"/>
          </p:nvPr>
        </p:nvSpPr>
        <p:spPr>
          <a:xfrm>
            <a:off x="191344" y="260648"/>
            <a:ext cx="9289032" cy="440926"/>
          </a:xfrm>
        </p:spPr>
        <p:txBody>
          <a:bodyPr/>
          <a:lstStyle/>
          <a:p>
            <a:r>
              <a:rPr lang="en-US" sz="2400" b="1" i="0" u="none" strike="noStrike" baseline="0" dirty="0">
                <a:solidFill>
                  <a:schemeClr val="tx1"/>
                </a:solidFill>
              </a:rPr>
              <a:t>psychological responses to poor design</a:t>
            </a:r>
            <a:endParaRPr lang="en-IN" sz="2400" dirty="0">
              <a:solidFill>
                <a:schemeClr val="tx1"/>
              </a:solidFill>
            </a:endParaRPr>
          </a:p>
        </p:txBody>
      </p:sp>
    </p:spTree>
    <p:extLst>
      <p:ext uri="{BB962C8B-B14F-4D97-AF65-F5344CB8AC3E}">
        <p14:creationId xmlns:p14="http://schemas.microsoft.com/office/powerpoint/2010/main" val="3660701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50670-7369-0211-D7DB-D685265370C5}"/>
              </a:ext>
            </a:extLst>
          </p:cNvPr>
          <p:cNvSpPr>
            <a:spLocks noGrp="1"/>
          </p:cNvSpPr>
          <p:nvPr>
            <p:ph type="sldNum" sz="quarter" idx="14"/>
          </p:nvPr>
        </p:nvSpPr>
        <p:spPr/>
        <p:txBody>
          <a:bodyPr/>
          <a:lstStyle/>
          <a:p>
            <a:fld id="{45A3C14A-F937-4231-B6F1-40B429FAFB2F}" type="slidenum">
              <a:rPr lang="en-NZ" smtClean="0"/>
              <a:pPr/>
              <a:t>15</a:t>
            </a:fld>
            <a:endParaRPr lang="en-NZ" dirty="0"/>
          </a:p>
        </p:txBody>
      </p:sp>
      <p:sp>
        <p:nvSpPr>
          <p:cNvPr id="3" name="Title 2">
            <a:extLst>
              <a:ext uri="{FF2B5EF4-FFF2-40B4-BE49-F238E27FC236}">
                <a16:creationId xmlns:a16="http://schemas.microsoft.com/office/drawing/2014/main" id="{9787FD19-BBD4-3398-AD9F-6F130F160F6F}"/>
              </a:ext>
            </a:extLst>
          </p:cNvPr>
          <p:cNvSpPr>
            <a:spLocks noGrp="1"/>
          </p:cNvSpPr>
          <p:nvPr>
            <p:ph type="title"/>
          </p:nvPr>
        </p:nvSpPr>
        <p:spPr>
          <a:xfrm>
            <a:off x="695400" y="395786"/>
            <a:ext cx="10153128" cy="838202"/>
          </a:xfrm>
        </p:spPr>
        <p:txBody>
          <a:bodyPr/>
          <a:lstStyle/>
          <a:p>
            <a:r>
              <a:rPr lang="en-US" dirty="0"/>
              <a:t>Important Human Characteristics in Design</a:t>
            </a:r>
            <a:endParaRPr lang="en-IN" dirty="0"/>
          </a:p>
        </p:txBody>
      </p:sp>
      <p:sp>
        <p:nvSpPr>
          <p:cNvPr id="4" name="Text Placeholder 3">
            <a:extLst>
              <a:ext uri="{FF2B5EF4-FFF2-40B4-BE49-F238E27FC236}">
                <a16:creationId xmlns:a16="http://schemas.microsoft.com/office/drawing/2014/main" id="{B634D30C-B89C-F207-5B4D-A896AA129947}"/>
              </a:ext>
            </a:extLst>
          </p:cNvPr>
          <p:cNvSpPr>
            <a:spLocks noGrp="1"/>
          </p:cNvSpPr>
          <p:nvPr>
            <p:ph type="body" sz="quarter" idx="17"/>
          </p:nvPr>
        </p:nvSpPr>
        <p:spPr>
          <a:xfrm>
            <a:off x="695399" y="1340768"/>
            <a:ext cx="10801201" cy="4320480"/>
          </a:xfrm>
        </p:spPr>
        <p:txBody>
          <a:bodyPr/>
          <a:lstStyle/>
          <a:p>
            <a:pPr marL="0" indent="0">
              <a:buNone/>
            </a:pPr>
            <a:r>
              <a:rPr lang="en-US" dirty="0"/>
              <a:t>Importance in design are </a:t>
            </a:r>
          </a:p>
          <a:p>
            <a:pPr marL="342900" indent="-342900">
              <a:buFont typeface="Arial" panose="020B0604020202020204" pitchFamily="34" charset="0"/>
              <a:buChar char="•"/>
            </a:pPr>
            <a:r>
              <a:rPr lang="en-US" sz="2200" dirty="0"/>
              <a:t>perception,</a:t>
            </a:r>
          </a:p>
          <a:p>
            <a:pPr marL="342900" indent="-342900">
              <a:buFont typeface="Arial" panose="020B0604020202020204" pitchFamily="34" charset="0"/>
              <a:buChar char="•"/>
            </a:pPr>
            <a:r>
              <a:rPr lang="en-US" sz="2200" dirty="0"/>
              <a:t>memory, </a:t>
            </a:r>
          </a:p>
          <a:p>
            <a:pPr marL="342900" indent="-342900">
              <a:buFont typeface="Arial" panose="020B0604020202020204" pitchFamily="34" charset="0"/>
              <a:buChar char="•"/>
            </a:pPr>
            <a:r>
              <a:rPr lang="en-US" sz="2200" dirty="0"/>
              <a:t>visual acuity, </a:t>
            </a:r>
          </a:p>
          <a:p>
            <a:pPr marL="342900" indent="-342900">
              <a:buFont typeface="Arial" panose="020B0604020202020204" pitchFamily="34" charset="0"/>
              <a:buChar char="•"/>
            </a:pPr>
            <a:r>
              <a:rPr lang="en-US" sz="2200" dirty="0"/>
              <a:t>foveal and peripheral vision, </a:t>
            </a:r>
          </a:p>
          <a:p>
            <a:pPr marL="342900" indent="-342900">
              <a:buFont typeface="Arial" panose="020B0604020202020204" pitchFamily="34" charset="0"/>
              <a:buChar char="•"/>
            </a:pPr>
            <a:r>
              <a:rPr lang="en-US" sz="2200" dirty="0"/>
              <a:t>sensory storage, </a:t>
            </a:r>
          </a:p>
          <a:p>
            <a:pPr marL="342900" indent="-342900">
              <a:buFont typeface="Arial" panose="020B0604020202020204" pitchFamily="34" charset="0"/>
              <a:buChar char="•"/>
            </a:pPr>
            <a:r>
              <a:rPr lang="en-US" sz="2200" dirty="0"/>
              <a:t>information processing,</a:t>
            </a:r>
          </a:p>
          <a:p>
            <a:pPr marL="342900" indent="-342900">
              <a:buFont typeface="Arial" panose="020B0604020202020204" pitchFamily="34" charset="0"/>
              <a:buChar char="•"/>
            </a:pPr>
            <a:r>
              <a:rPr lang="en-US" sz="2200" dirty="0"/>
              <a:t>learning, </a:t>
            </a:r>
          </a:p>
          <a:p>
            <a:pPr marL="342900" indent="-342900">
              <a:buFont typeface="Arial" panose="020B0604020202020204" pitchFamily="34" charset="0"/>
              <a:buChar char="•"/>
            </a:pPr>
            <a:r>
              <a:rPr lang="en-US" sz="2200" dirty="0"/>
              <a:t>skill, and </a:t>
            </a:r>
          </a:p>
          <a:p>
            <a:pPr marL="342900" indent="-342900">
              <a:buFont typeface="Arial" panose="020B0604020202020204" pitchFamily="34" charset="0"/>
              <a:buChar char="•"/>
            </a:pPr>
            <a:r>
              <a:rPr lang="en-US" sz="2200" dirty="0"/>
              <a:t>individual differences</a:t>
            </a:r>
            <a:endParaRPr lang="en-IN" sz="2200" dirty="0"/>
          </a:p>
        </p:txBody>
      </p:sp>
    </p:spTree>
    <p:extLst>
      <p:ext uri="{BB962C8B-B14F-4D97-AF65-F5344CB8AC3E}">
        <p14:creationId xmlns:p14="http://schemas.microsoft.com/office/powerpoint/2010/main" val="350600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946989-E6F8-DE11-0B00-47BDA95E962E}"/>
              </a:ext>
            </a:extLst>
          </p:cNvPr>
          <p:cNvSpPr>
            <a:spLocks noGrp="1"/>
          </p:cNvSpPr>
          <p:nvPr>
            <p:ph type="sldNum" sz="quarter" idx="14"/>
          </p:nvPr>
        </p:nvSpPr>
        <p:spPr/>
        <p:txBody>
          <a:bodyPr/>
          <a:lstStyle/>
          <a:p>
            <a:fld id="{45A3C14A-F937-4231-B6F1-40B429FAFB2F}" type="slidenum">
              <a:rPr lang="en-NZ" smtClean="0"/>
              <a:pPr/>
              <a:t>16</a:t>
            </a:fld>
            <a:endParaRPr lang="en-NZ" dirty="0"/>
          </a:p>
        </p:txBody>
      </p:sp>
      <p:sp>
        <p:nvSpPr>
          <p:cNvPr id="3" name="Title 2">
            <a:extLst>
              <a:ext uri="{FF2B5EF4-FFF2-40B4-BE49-F238E27FC236}">
                <a16:creationId xmlns:a16="http://schemas.microsoft.com/office/drawing/2014/main" id="{E05EF5F0-2668-26AF-C225-325CC2174C88}"/>
              </a:ext>
            </a:extLst>
          </p:cNvPr>
          <p:cNvSpPr>
            <a:spLocks noGrp="1"/>
          </p:cNvSpPr>
          <p:nvPr>
            <p:ph type="title"/>
          </p:nvPr>
        </p:nvSpPr>
        <p:spPr/>
        <p:txBody>
          <a:bodyPr/>
          <a:lstStyle/>
          <a:p>
            <a:r>
              <a:rPr lang="en-IN" dirty="0"/>
              <a:t>Perception</a:t>
            </a:r>
          </a:p>
        </p:txBody>
      </p:sp>
      <p:sp>
        <p:nvSpPr>
          <p:cNvPr id="4" name="Text Placeholder 3">
            <a:extLst>
              <a:ext uri="{FF2B5EF4-FFF2-40B4-BE49-F238E27FC236}">
                <a16:creationId xmlns:a16="http://schemas.microsoft.com/office/drawing/2014/main" id="{151BAAE3-6656-A356-E86B-1297E6D4365E}"/>
              </a:ext>
            </a:extLst>
          </p:cNvPr>
          <p:cNvSpPr>
            <a:spLocks noGrp="1"/>
          </p:cNvSpPr>
          <p:nvPr>
            <p:ph type="body" sz="quarter" idx="17"/>
          </p:nvPr>
        </p:nvSpPr>
        <p:spPr/>
        <p:txBody>
          <a:bodyPr/>
          <a:lstStyle/>
          <a:p>
            <a:pPr>
              <a:buFont typeface="Arial" panose="020B0604020202020204" pitchFamily="34" charset="0"/>
              <a:buChar char="•"/>
            </a:pPr>
            <a:r>
              <a:rPr lang="en-US" sz="2200" dirty="0"/>
              <a:t>Perception is our awareness and understanding of the elements and objects of our environment through the physical sensation of our various senses, including sight, sound, smell, and so forth.</a:t>
            </a:r>
          </a:p>
          <a:p>
            <a:pPr>
              <a:buFont typeface="Arial" panose="020B0604020202020204" pitchFamily="34" charset="0"/>
              <a:buChar char="•"/>
            </a:pPr>
            <a:r>
              <a:rPr lang="en-US" sz="2200" dirty="0"/>
              <a:t>Perceptual characteristics include the following</a:t>
            </a:r>
            <a:r>
              <a:rPr lang="en-US" dirty="0"/>
              <a:t>:</a:t>
            </a:r>
          </a:p>
          <a:p>
            <a:pPr lvl="1">
              <a:buFont typeface="Arial" panose="020B0604020202020204" pitchFamily="34" charset="0"/>
              <a:buChar char="•"/>
            </a:pPr>
            <a:r>
              <a:rPr lang="en-IN" sz="1800" b="1" i="0" u="none" strike="noStrike" baseline="0" dirty="0">
                <a:solidFill>
                  <a:srgbClr val="292526"/>
                </a:solidFill>
                <a:latin typeface="Palatino-Bold"/>
              </a:rPr>
              <a:t>Proximity</a:t>
            </a:r>
            <a:r>
              <a:rPr lang="en-IN" sz="1800" b="0" i="0" u="none" strike="noStrike" baseline="0" dirty="0">
                <a:solidFill>
                  <a:srgbClr val="292526"/>
                </a:solidFill>
                <a:latin typeface="Palatino-Roman"/>
              </a:rPr>
              <a:t>.</a:t>
            </a:r>
            <a:endParaRPr lang="en-US" sz="1800" b="0" i="0" u="none" strike="noStrike" baseline="0"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Similarity</a:t>
            </a:r>
            <a:r>
              <a:rPr lang="en-IN" sz="1800" b="0" i="0" u="none" strike="noStrike" baseline="0" dirty="0">
                <a:solidFill>
                  <a:srgbClr val="292526"/>
                </a:solidFill>
                <a:latin typeface="Palatino-Roman"/>
              </a:rPr>
              <a:t>.</a:t>
            </a:r>
            <a:endParaRPr lang="en-US" sz="1800"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Matching patterns</a:t>
            </a:r>
            <a:endParaRPr lang="en-US" sz="1800" b="1" i="0" u="none" strike="noStrike" baseline="0"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Succinctness.</a:t>
            </a:r>
            <a:endParaRPr lang="en-US" sz="1800" b="1"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Closure.</a:t>
            </a:r>
            <a:endParaRPr lang="en-US" sz="1800" b="1" i="0" u="none" strike="noStrike" baseline="0"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Unity.</a:t>
            </a:r>
            <a:endParaRPr lang="en-US" sz="1800" b="1" dirty="0">
              <a:solidFill>
                <a:srgbClr val="292526"/>
              </a:solidFill>
              <a:latin typeface="Palatino-Roman"/>
            </a:endParaRPr>
          </a:p>
          <a:p>
            <a:pPr lvl="1">
              <a:buFont typeface="Arial" panose="020B0604020202020204" pitchFamily="34" charset="0"/>
              <a:buChar char="•"/>
            </a:pPr>
            <a:r>
              <a:rPr lang="en-IN" sz="1800" b="1" i="0" u="none" strike="noStrike" baseline="0" dirty="0">
                <a:solidFill>
                  <a:srgbClr val="292526"/>
                </a:solidFill>
                <a:latin typeface="Palatino-Bold"/>
              </a:rPr>
              <a:t>Continuity</a:t>
            </a:r>
            <a:r>
              <a:rPr lang="en-IN" sz="1800" b="0" i="0" u="none" strike="noStrike" baseline="0" dirty="0">
                <a:solidFill>
                  <a:srgbClr val="292526"/>
                </a:solidFill>
                <a:latin typeface="Palatino-Roman"/>
              </a:rPr>
              <a:t>.</a:t>
            </a:r>
            <a:endParaRPr lang="en-IN" dirty="0"/>
          </a:p>
        </p:txBody>
      </p:sp>
    </p:spTree>
    <p:extLst>
      <p:ext uri="{BB962C8B-B14F-4D97-AF65-F5344CB8AC3E}">
        <p14:creationId xmlns:p14="http://schemas.microsoft.com/office/powerpoint/2010/main" val="356194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1B2014-4C71-578E-327C-91CCC0A38577}"/>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3" name="Title 2">
            <a:extLst>
              <a:ext uri="{FF2B5EF4-FFF2-40B4-BE49-F238E27FC236}">
                <a16:creationId xmlns:a16="http://schemas.microsoft.com/office/drawing/2014/main" id="{1E17F046-E0A7-005F-4316-5FC2A501763E}"/>
              </a:ext>
            </a:extLst>
          </p:cNvPr>
          <p:cNvSpPr>
            <a:spLocks noGrp="1"/>
          </p:cNvSpPr>
          <p:nvPr>
            <p:ph type="title"/>
          </p:nvPr>
        </p:nvSpPr>
        <p:spPr/>
        <p:txBody>
          <a:bodyPr/>
          <a:lstStyle/>
          <a:p>
            <a:r>
              <a:rPr lang="en-IN" dirty="0"/>
              <a:t>Memory</a:t>
            </a:r>
          </a:p>
        </p:txBody>
      </p:sp>
      <p:sp>
        <p:nvSpPr>
          <p:cNvPr id="4" name="Text Placeholder 3">
            <a:extLst>
              <a:ext uri="{FF2B5EF4-FFF2-40B4-BE49-F238E27FC236}">
                <a16:creationId xmlns:a16="http://schemas.microsoft.com/office/drawing/2014/main" id="{C8B27FB2-C9E0-1B0C-6F07-BA704D1ACBD8}"/>
              </a:ext>
            </a:extLst>
          </p:cNvPr>
          <p:cNvSpPr>
            <a:spLocks noGrp="1"/>
          </p:cNvSpPr>
          <p:nvPr>
            <p:ph type="body" sz="quarter" idx="17"/>
          </p:nvPr>
        </p:nvSpPr>
        <p:spPr/>
        <p:txBody>
          <a:bodyPr/>
          <a:lstStyle/>
          <a:p>
            <a:r>
              <a:rPr lang="en-US" dirty="0"/>
              <a:t>Memory is not the most stable of human attributes, as anyone who has forgotten why they walked into a room, or forgotten a very important birthday, can attest.</a:t>
            </a:r>
          </a:p>
          <a:p>
            <a:r>
              <a:rPr lang="en-US" dirty="0"/>
              <a:t>memory is viewed as consisting of two components, long-term and short-term (or working) memory</a:t>
            </a:r>
          </a:p>
          <a:p>
            <a:r>
              <a:rPr lang="en-US" dirty="0">
                <a:solidFill>
                  <a:srgbClr val="FF0000"/>
                </a:solidFill>
              </a:rPr>
              <a:t>Short-term, or working, memory </a:t>
            </a:r>
            <a:r>
              <a:rPr lang="en-US" dirty="0"/>
              <a:t>receives information from either the senses or </a:t>
            </a:r>
            <a:r>
              <a:rPr lang="en-US" dirty="0" err="1"/>
              <a:t>longterm</a:t>
            </a:r>
            <a:r>
              <a:rPr lang="en-US" dirty="0"/>
              <a:t> memory, but usually cannot receive both at once, the senses being processed separately.</a:t>
            </a:r>
          </a:p>
          <a:p>
            <a:r>
              <a:rPr lang="en-US" dirty="0">
                <a:solidFill>
                  <a:srgbClr val="FF0000"/>
                </a:solidFill>
              </a:rPr>
              <a:t>Long-term memory </a:t>
            </a:r>
            <a:r>
              <a:rPr lang="en-US" dirty="0"/>
              <a:t>contains the knowledge we possess. Information received in short-term memory is transferred to it and encoded within it, a process we call learning.</a:t>
            </a:r>
            <a:endParaRPr lang="en-IN" dirty="0"/>
          </a:p>
        </p:txBody>
      </p:sp>
    </p:spTree>
    <p:extLst>
      <p:ext uri="{BB962C8B-B14F-4D97-AF65-F5344CB8AC3E}">
        <p14:creationId xmlns:p14="http://schemas.microsoft.com/office/powerpoint/2010/main" val="4118682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8628FD-BC9E-BA10-3D88-D42D2A284127}"/>
              </a:ext>
            </a:extLst>
          </p:cNvPr>
          <p:cNvSpPr>
            <a:spLocks noGrp="1"/>
          </p:cNvSpPr>
          <p:nvPr>
            <p:ph type="sldNum" sz="quarter" idx="14"/>
          </p:nvPr>
        </p:nvSpPr>
        <p:spPr/>
        <p:txBody>
          <a:bodyPr/>
          <a:lstStyle/>
          <a:p>
            <a:fld id="{45A3C14A-F937-4231-B6F1-40B429FAFB2F}" type="slidenum">
              <a:rPr lang="en-NZ" smtClean="0"/>
              <a:pPr/>
              <a:t>18</a:t>
            </a:fld>
            <a:endParaRPr lang="en-NZ" dirty="0"/>
          </a:p>
        </p:txBody>
      </p:sp>
      <p:sp>
        <p:nvSpPr>
          <p:cNvPr id="3" name="Title 2">
            <a:extLst>
              <a:ext uri="{FF2B5EF4-FFF2-40B4-BE49-F238E27FC236}">
                <a16:creationId xmlns:a16="http://schemas.microsoft.com/office/drawing/2014/main" id="{F62C8F1A-05A0-97E9-2AFE-956528A28FED}"/>
              </a:ext>
            </a:extLst>
          </p:cNvPr>
          <p:cNvSpPr>
            <a:spLocks noGrp="1"/>
          </p:cNvSpPr>
          <p:nvPr>
            <p:ph type="title"/>
          </p:nvPr>
        </p:nvSpPr>
        <p:spPr/>
        <p:txBody>
          <a:bodyPr/>
          <a:lstStyle/>
          <a:p>
            <a:r>
              <a:rPr lang="en-IN" dirty="0"/>
              <a:t>Sensory Storage</a:t>
            </a:r>
          </a:p>
        </p:txBody>
      </p:sp>
      <p:sp>
        <p:nvSpPr>
          <p:cNvPr id="4" name="Text Placeholder 3">
            <a:extLst>
              <a:ext uri="{FF2B5EF4-FFF2-40B4-BE49-F238E27FC236}">
                <a16:creationId xmlns:a16="http://schemas.microsoft.com/office/drawing/2014/main" id="{DB5EC170-C1CF-BAAC-4F60-31715E355DAB}"/>
              </a:ext>
            </a:extLst>
          </p:cNvPr>
          <p:cNvSpPr>
            <a:spLocks noGrp="1"/>
          </p:cNvSpPr>
          <p:nvPr>
            <p:ph type="body" sz="quarter" idx="17"/>
          </p:nvPr>
        </p:nvSpPr>
        <p:spPr/>
        <p:txBody>
          <a:bodyPr/>
          <a:lstStyle/>
          <a:p>
            <a:pPr algn="l"/>
            <a:r>
              <a:rPr lang="en-US" sz="1800" b="0" i="0" u="none" strike="noStrike" baseline="0" dirty="0">
                <a:solidFill>
                  <a:srgbClr val="292526"/>
                </a:solidFill>
                <a:latin typeface="Palatino-Roman"/>
              </a:rPr>
              <a:t>Sensory storage is the buffer where the automatic processing of information collected from our senses takes place. </a:t>
            </a:r>
          </a:p>
          <a:p>
            <a:pPr algn="l"/>
            <a:r>
              <a:rPr lang="en-US" sz="1800" b="0" i="0" u="none" strike="noStrike" baseline="0" dirty="0">
                <a:solidFill>
                  <a:srgbClr val="292526"/>
                </a:solidFill>
                <a:latin typeface="Palatino-Roman"/>
              </a:rPr>
              <a:t>It is an unconscious process, large, attentive to the </a:t>
            </a:r>
            <a:r>
              <a:rPr lang="en-US" sz="1800" b="0" i="0" u="none" strike="noStrike" baseline="0" dirty="0" err="1">
                <a:solidFill>
                  <a:srgbClr val="292526"/>
                </a:solidFill>
                <a:latin typeface="Palatino-Roman"/>
              </a:rPr>
              <a:t>environment,quick</a:t>
            </a:r>
            <a:r>
              <a:rPr lang="en-US" sz="1800" b="0" i="0" u="none" strike="noStrike" baseline="0" dirty="0">
                <a:solidFill>
                  <a:srgbClr val="292526"/>
                </a:solidFill>
                <a:latin typeface="Palatino-Roman"/>
              </a:rPr>
              <a:t> to detect changes, and constantly being replaced by newly gathered stimuli. In a sense, it acts like radar, constantly scanning the environment for things that are important to pass on to higher memory</a:t>
            </a:r>
            <a:endParaRPr lang="en-IN" dirty="0"/>
          </a:p>
        </p:txBody>
      </p:sp>
    </p:spTree>
    <p:extLst>
      <p:ext uri="{BB962C8B-B14F-4D97-AF65-F5344CB8AC3E}">
        <p14:creationId xmlns:p14="http://schemas.microsoft.com/office/powerpoint/2010/main" val="901904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E53C77-07BE-0641-32DD-CC0517FAFD48}"/>
              </a:ext>
            </a:extLst>
          </p:cNvPr>
          <p:cNvSpPr>
            <a:spLocks noGrp="1"/>
          </p:cNvSpPr>
          <p:nvPr>
            <p:ph type="sldNum" sz="quarter" idx="14"/>
          </p:nvPr>
        </p:nvSpPr>
        <p:spPr/>
        <p:txBody>
          <a:bodyPr/>
          <a:lstStyle/>
          <a:p>
            <a:fld id="{45A3C14A-F937-4231-B6F1-40B429FAFB2F}" type="slidenum">
              <a:rPr lang="en-NZ" smtClean="0"/>
              <a:pPr/>
              <a:t>19</a:t>
            </a:fld>
            <a:endParaRPr lang="en-NZ" dirty="0"/>
          </a:p>
        </p:txBody>
      </p:sp>
      <p:sp>
        <p:nvSpPr>
          <p:cNvPr id="3" name="Title 2">
            <a:extLst>
              <a:ext uri="{FF2B5EF4-FFF2-40B4-BE49-F238E27FC236}">
                <a16:creationId xmlns:a16="http://schemas.microsoft.com/office/drawing/2014/main" id="{7352CB85-6BAF-7EE7-F189-34832ED8CC40}"/>
              </a:ext>
            </a:extLst>
          </p:cNvPr>
          <p:cNvSpPr>
            <a:spLocks noGrp="1"/>
          </p:cNvSpPr>
          <p:nvPr>
            <p:ph type="title"/>
          </p:nvPr>
        </p:nvSpPr>
        <p:spPr/>
        <p:txBody>
          <a:bodyPr/>
          <a:lstStyle/>
          <a:p>
            <a:r>
              <a:rPr lang="en-IN" dirty="0"/>
              <a:t>Memory</a:t>
            </a:r>
          </a:p>
        </p:txBody>
      </p:sp>
      <p:sp>
        <p:nvSpPr>
          <p:cNvPr id="4" name="Text Placeholder 3">
            <a:extLst>
              <a:ext uri="{FF2B5EF4-FFF2-40B4-BE49-F238E27FC236}">
                <a16:creationId xmlns:a16="http://schemas.microsoft.com/office/drawing/2014/main" id="{F9FD24C7-39CC-0D93-DDFE-946D03E74D54}"/>
              </a:ext>
            </a:extLst>
          </p:cNvPr>
          <p:cNvSpPr>
            <a:spLocks noGrp="1"/>
          </p:cNvSpPr>
          <p:nvPr>
            <p:ph type="body" sz="quarter" idx="17"/>
          </p:nvPr>
        </p:nvSpPr>
        <p:spPr/>
        <p:txBody>
          <a:bodyPr/>
          <a:lstStyle/>
          <a:p>
            <a:pPr lvl="1"/>
            <a:r>
              <a:rPr lang="en-US" sz="1800" b="1" i="0" u="none" strike="noStrike" baseline="0" dirty="0">
                <a:solidFill>
                  <a:srgbClr val="292526"/>
                </a:solidFill>
                <a:latin typeface="Formata-Medium"/>
              </a:rPr>
              <a:t>Minimize the need for a mighty memory.</a:t>
            </a:r>
          </a:p>
          <a:p>
            <a:pPr algn="l"/>
            <a:r>
              <a:rPr lang="en-US" sz="1800" b="0" i="0" u="none" strike="noStrike" baseline="0" dirty="0">
                <a:solidFill>
                  <a:srgbClr val="292526"/>
                </a:solidFill>
                <a:latin typeface="Palatino-Roman"/>
              </a:rPr>
              <a:t>Other general ways to reduce user memory loads, reduce the need for mental integration, and expand working memory, thus enhancing system usability include:</a:t>
            </a:r>
          </a:p>
          <a:p>
            <a:pPr algn="l"/>
            <a:r>
              <a:rPr lang="en-US" sz="1800" b="0" i="0" u="none" strike="noStrike" baseline="0" dirty="0">
                <a:solidFill>
                  <a:srgbClr val="292526"/>
                </a:solidFill>
                <a:latin typeface="Palatino-Roman"/>
              </a:rPr>
              <a:t>Presenting information in an organized, structured, familiar, and meaningful </a:t>
            </a:r>
            <a:r>
              <a:rPr lang="en-IN" sz="1800" b="0" i="0" u="none" strike="noStrike" baseline="0" dirty="0">
                <a:solidFill>
                  <a:srgbClr val="292526"/>
                </a:solidFill>
                <a:latin typeface="Palatino-Roman"/>
              </a:rPr>
              <a:t>way.</a:t>
            </a:r>
          </a:p>
          <a:p>
            <a:pPr algn="l"/>
            <a:r>
              <a:rPr lang="en-US" sz="1800" b="0" i="0" u="none" strike="noStrike" baseline="0" dirty="0">
                <a:solidFill>
                  <a:srgbClr val="292526"/>
                </a:solidFill>
                <a:latin typeface="Palatino-Roman"/>
              </a:rPr>
              <a:t>Placing all required information for task performance in close physical proximity. </a:t>
            </a:r>
          </a:p>
          <a:p>
            <a:pPr algn="l"/>
            <a:r>
              <a:rPr lang="en-US" sz="1800" b="0" i="0" u="none" strike="noStrike" baseline="0" dirty="0">
                <a:solidFill>
                  <a:srgbClr val="292526"/>
                </a:solidFill>
                <a:latin typeface="Palatino-Roman"/>
              </a:rPr>
              <a:t>Giving the user control over the pace of information presentation.</a:t>
            </a:r>
            <a:endParaRPr lang="en-IN" dirty="0"/>
          </a:p>
        </p:txBody>
      </p:sp>
    </p:spTree>
    <p:extLst>
      <p:ext uri="{BB962C8B-B14F-4D97-AF65-F5344CB8AC3E}">
        <p14:creationId xmlns:p14="http://schemas.microsoft.com/office/powerpoint/2010/main" val="512546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C73A17-27B2-A92D-5659-EBF733BC521C}"/>
              </a:ext>
            </a:extLst>
          </p:cNvPr>
          <p:cNvSpPr>
            <a:spLocks noGrp="1"/>
          </p:cNvSpPr>
          <p:nvPr>
            <p:ph type="sldNum" sz="quarter" idx="14"/>
          </p:nvPr>
        </p:nvSpPr>
        <p:spPr/>
        <p:txBody>
          <a:bodyPr/>
          <a:lstStyle/>
          <a:p>
            <a:fld id="{45A3C14A-F937-4231-B6F1-40B429FAFB2F}" type="slidenum">
              <a:rPr lang="en-NZ" smtClean="0"/>
              <a:pPr/>
              <a:t>20</a:t>
            </a:fld>
            <a:endParaRPr lang="en-NZ" dirty="0"/>
          </a:p>
        </p:txBody>
      </p:sp>
      <p:sp>
        <p:nvSpPr>
          <p:cNvPr id="3" name="Title 2">
            <a:extLst>
              <a:ext uri="{FF2B5EF4-FFF2-40B4-BE49-F238E27FC236}">
                <a16:creationId xmlns:a16="http://schemas.microsoft.com/office/drawing/2014/main" id="{EDB8C539-9025-A60D-7C5A-0E4D7C3D9452}"/>
              </a:ext>
            </a:extLst>
          </p:cNvPr>
          <p:cNvSpPr>
            <a:spLocks noGrp="1"/>
          </p:cNvSpPr>
          <p:nvPr>
            <p:ph type="title"/>
          </p:nvPr>
        </p:nvSpPr>
        <p:spPr/>
        <p:txBody>
          <a:bodyPr/>
          <a:lstStyle/>
          <a:p>
            <a:r>
              <a:rPr lang="en-IN" dirty="0"/>
              <a:t>Visual Acuity</a:t>
            </a:r>
          </a:p>
        </p:txBody>
      </p:sp>
      <p:sp>
        <p:nvSpPr>
          <p:cNvPr id="4" name="Text Placeholder 3">
            <a:extLst>
              <a:ext uri="{FF2B5EF4-FFF2-40B4-BE49-F238E27FC236}">
                <a16:creationId xmlns:a16="http://schemas.microsoft.com/office/drawing/2014/main" id="{6875100C-7633-802F-43D1-C0D032D5E403}"/>
              </a:ext>
            </a:extLst>
          </p:cNvPr>
          <p:cNvSpPr>
            <a:spLocks noGrp="1"/>
          </p:cNvSpPr>
          <p:nvPr>
            <p:ph type="body" sz="quarter" idx="17"/>
          </p:nvPr>
        </p:nvSpPr>
        <p:spPr/>
        <p:txBody>
          <a:bodyPr/>
          <a:lstStyle/>
          <a:p>
            <a:pPr algn="l"/>
            <a:r>
              <a:rPr lang="en-US" sz="1800" b="0" i="0" u="none" strike="noStrike" baseline="0" dirty="0">
                <a:solidFill>
                  <a:srgbClr val="292526"/>
                </a:solidFill>
                <a:latin typeface="Palatino-Roman"/>
              </a:rPr>
              <a:t>The capacity of the eye to resolve details is called </a:t>
            </a:r>
            <a:r>
              <a:rPr lang="en-US" sz="1800" b="0" i="1" u="none" strike="noStrike" baseline="0" dirty="0">
                <a:solidFill>
                  <a:srgbClr val="292526"/>
                </a:solidFill>
                <a:latin typeface="Palatino-Italic"/>
              </a:rPr>
              <a:t>visual acuity</a:t>
            </a:r>
            <a:r>
              <a:rPr lang="en-US" sz="1800" b="0" i="0" u="none" strike="noStrike" baseline="0" dirty="0">
                <a:solidFill>
                  <a:srgbClr val="292526"/>
                </a:solidFill>
                <a:latin typeface="Palatino-Roman"/>
              </a:rPr>
              <a:t>. </a:t>
            </a:r>
          </a:p>
          <a:p>
            <a:pPr algn="l"/>
            <a:r>
              <a:rPr lang="en-US" sz="1800" b="0" i="0" u="none" strike="noStrike" baseline="0" dirty="0">
                <a:solidFill>
                  <a:srgbClr val="292526"/>
                </a:solidFill>
                <a:latin typeface="Palatino-Roman"/>
              </a:rPr>
              <a:t>It is the phenomenon that results in an object becoming more distinct as we turn our eyes toward it and rapidly losing distinctness as we turn our eyes away</a:t>
            </a:r>
          </a:p>
          <a:p>
            <a:pPr algn="l"/>
            <a:r>
              <a:rPr lang="en-US" sz="1800" b="0" i="0" u="none" strike="noStrike" baseline="0" dirty="0">
                <a:solidFill>
                  <a:srgbClr val="292526"/>
                </a:solidFill>
                <a:latin typeface="Palatino-Roman"/>
              </a:rPr>
              <a:t>It has been shown that relative visual acuity is approximately halved at a distance of 2.5 degrees from the point of eye fixation (Bouma, 1970).</a:t>
            </a:r>
          </a:p>
          <a:p>
            <a:pPr algn="l"/>
            <a:r>
              <a:rPr lang="en-US" sz="1800" b="0" i="0" u="none" strike="noStrike" baseline="0" dirty="0">
                <a:solidFill>
                  <a:srgbClr val="292526"/>
                </a:solidFill>
                <a:latin typeface="Palatino-Roman"/>
              </a:rPr>
              <a:t>Therefore, a five-degree diameter circle centered around an eye fixation character on a display has been recommended as the area near that character (Tullis, 1983) or the maximum length for a displayed word (</a:t>
            </a:r>
            <a:r>
              <a:rPr lang="en-US" sz="1800" b="0" i="0" u="none" strike="noStrike" baseline="0" dirty="0" err="1">
                <a:solidFill>
                  <a:srgbClr val="292526"/>
                </a:solidFill>
                <a:latin typeface="Palatino-Roman"/>
              </a:rPr>
              <a:t>Danchak</a:t>
            </a:r>
            <a:r>
              <a:rPr lang="en-US" sz="1800" b="0" i="0" u="none" strike="noStrike" baseline="0" dirty="0">
                <a:solidFill>
                  <a:srgbClr val="292526"/>
                </a:solidFill>
                <a:latin typeface="Palatino-Roman"/>
              </a:rPr>
              <a:t>, 1976).</a:t>
            </a:r>
          </a:p>
          <a:p>
            <a:pPr algn="l"/>
            <a:r>
              <a:rPr lang="en-US" sz="1800" b="0" i="0" u="none" strike="noStrike" baseline="0" dirty="0">
                <a:solidFill>
                  <a:srgbClr val="292526"/>
                </a:solidFill>
                <a:latin typeface="Palatino-Roman"/>
              </a:rPr>
              <a:t>If one assumes that the average viewing distance of a display screen is 19 inches (475 mm), the size of the area on the screen of optimum visual acuity is 1.67 inches (41.8 </a:t>
            </a:r>
            <a:r>
              <a:rPr lang="en-IN" sz="1800" b="0" i="0" u="none" strike="noStrike" baseline="0" dirty="0">
                <a:solidFill>
                  <a:srgbClr val="292526"/>
                </a:solidFill>
                <a:latin typeface="Palatino-Roman"/>
              </a:rPr>
              <a:t>mm) in diameter.</a:t>
            </a:r>
            <a:endParaRPr lang="en-IN" dirty="0"/>
          </a:p>
        </p:txBody>
      </p:sp>
    </p:spTree>
    <p:extLst>
      <p:ext uri="{BB962C8B-B14F-4D97-AF65-F5344CB8AC3E}">
        <p14:creationId xmlns:p14="http://schemas.microsoft.com/office/powerpoint/2010/main" val="2296192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677F83-EB77-A1C7-C7C8-52950B599770}"/>
              </a:ext>
            </a:extLst>
          </p:cNvPr>
          <p:cNvSpPr>
            <a:spLocks noGrp="1"/>
          </p:cNvSpPr>
          <p:nvPr>
            <p:ph type="sldNum" sz="quarter" idx="14"/>
          </p:nvPr>
        </p:nvSpPr>
        <p:spPr/>
        <p:txBody>
          <a:bodyPr/>
          <a:lstStyle/>
          <a:p>
            <a:fld id="{45A3C14A-F937-4231-B6F1-40B429FAFB2F}" type="slidenum">
              <a:rPr lang="en-NZ" smtClean="0"/>
              <a:pPr/>
              <a:t>21</a:t>
            </a:fld>
            <a:endParaRPr lang="en-NZ" dirty="0"/>
          </a:p>
        </p:txBody>
      </p:sp>
      <p:sp>
        <p:nvSpPr>
          <p:cNvPr id="3" name="Title 2">
            <a:extLst>
              <a:ext uri="{FF2B5EF4-FFF2-40B4-BE49-F238E27FC236}">
                <a16:creationId xmlns:a16="http://schemas.microsoft.com/office/drawing/2014/main" id="{31551F74-661B-E6D4-B93A-5784148054A3}"/>
              </a:ext>
            </a:extLst>
          </p:cNvPr>
          <p:cNvSpPr>
            <a:spLocks noGrp="1"/>
          </p:cNvSpPr>
          <p:nvPr>
            <p:ph type="title"/>
          </p:nvPr>
        </p:nvSpPr>
        <p:spPr/>
        <p:txBody>
          <a:bodyPr/>
          <a:lstStyle/>
          <a:p>
            <a:r>
              <a:rPr lang="en-IN" dirty="0"/>
              <a:t>Visual Acuity</a:t>
            </a:r>
          </a:p>
        </p:txBody>
      </p:sp>
      <p:sp>
        <p:nvSpPr>
          <p:cNvPr id="4" name="Text Placeholder 3">
            <a:extLst>
              <a:ext uri="{FF2B5EF4-FFF2-40B4-BE49-F238E27FC236}">
                <a16:creationId xmlns:a16="http://schemas.microsoft.com/office/drawing/2014/main" id="{1F1EA529-BA9B-4C9A-BF3D-CE5384AEC60C}"/>
              </a:ext>
            </a:extLst>
          </p:cNvPr>
          <p:cNvSpPr>
            <a:spLocks noGrp="1"/>
          </p:cNvSpPr>
          <p:nvPr>
            <p:ph type="body" sz="quarter" idx="17"/>
          </p:nvPr>
        </p:nvSpPr>
        <p:spPr>
          <a:xfrm>
            <a:off x="695401" y="1773936"/>
            <a:ext cx="7632848" cy="4320480"/>
          </a:xfrm>
        </p:spPr>
        <p:txBody>
          <a:bodyPr/>
          <a:lstStyle/>
          <a:p>
            <a:pPr algn="l"/>
            <a:r>
              <a:rPr lang="en-US" sz="1800" b="0" i="0" u="none" strike="noStrike" baseline="0" dirty="0">
                <a:solidFill>
                  <a:srgbClr val="292526"/>
                </a:solidFill>
                <a:latin typeface="Palatino-Roman"/>
              </a:rPr>
              <a:t>The eye’s sensitivity increases for those characters closest to the fixation point (the “0”) and decreases for those characters at the extreme edges of the circle (a 50/50 chance exists for getting these characters correctly identified).</a:t>
            </a:r>
          </a:p>
          <a:p>
            <a:pPr algn="l"/>
            <a:endParaRPr lang="en-IN" dirty="0"/>
          </a:p>
        </p:txBody>
      </p:sp>
      <p:pic>
        <p:nvPicPr>
          <p:cNvPr id="6" name="Picture 5">
            <a:extLst>
              <a:ext uri="{FF2B5EF4-FFF2-40B4-BE49-F238E27FC236}">
                <a16:creationId xmlns:a16="http://schemas.microsoft.com/office/drawing/2014/main" id="{ECA6E1CC-1346-EAF9-E914-8B839B7B186A}"/>
              </a:ext>
            </a:extLst>
          </p:cNvPr>
          <p:cNvPicPr>
            <a:picLocks noChangeAspect="1"/>
          </p:cNvPicPr>
          <p:nvPr/>
        </p:nvPicPr>
        <p:blipFill>
          <a:blip r:embed="rId2"/>
          <a:stretch>
            <a:fillRect/>
          </a:stretch>
        </p:blipFill>
        <p:spPr>
          <a:xfrm>
            <a:off x="8544272" y="1978325"/>
            <a:ext cx="2710705" cy="2744589"/>
          </a:xfrm>
          <a:prstGeom prst="rect">
            <a:avLst/>
          </a:prstGeom>
        </p:spPr>
      </p:pic>
    </p:spTree>
    <p:extLst>
      <p:ext uri="{BB962C8B-B14F-4D97-AF65-F5344CB8AC3E}">
        <p14:creationId xmlns:p14="http://schemas.microsoft.com/office/powerpoint/2010/main" val="2010470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29306-115A-3C2D-29DC-D5C604C2B4B4}"/>
              </a:ext>
            </a:extLst>
          </p:cNvPr>
          <p:cNvSpPr>
            <a:spLocks noGrp="1"/>
          </p:cNvSpPr>
          <p:nvPr>
            <p:ph type="sldNum" sz="quarter" idx="14"/>
          </p:nvPr>
        </p:nvSpPr>
        <p:spPr/>
        <p:txBody>
          <a:bodyPr/>
          <a:lstStyle/>
          <a:p>
            <a:fld id="{45A3C14A-F937-4231-B6F1-40B429FAFB2F}" type="slidenum">
              <a:rPr lang="en-NZ" smtClean="0"/>
              <a:pPr/>
              <a:t>22</a:t>
            </a:fld>
            <a:endParaRPr lang="en-NZ" dirty="0"/>
          </a:p>
        </p:txBody>
      </p:sp>
      <p:sp>
        <p:nvSpPr>
          <p:cNvPr id="3" name="Title 2">
            <a:extLst>
              <a:ext uri="{FF2B5EF4-FFF2-40B4-BE49-F238E27FC236}">
                <a16:creationId xmlns:a16="http://schemas.microsoft.com/office/drawing/2014/main" id="{B7B89871-CFBE-E14F-D355-01EB565DF3B2}"/>
              </a:ext>
            </a:extLst>
          </p:cNvPr>
          <p:cNvSpPr>
            <a:spLocks noGrp="1"/>
          </p:cNvSpPr>
          <p:nvPr>
            <p:ph type="title"/>
          </p:nvPr>
        </p:nvSpPr>
        <p:spPr/>
        <p:txBody>
          <a:bodyPr/>
          <a:lstStyle/>
          <a:p>
            <a:r>
              <a:rPr lang="en-IN" dirty="0"/>
              <a:t>Foveal and Peripheral Vision</a:t>
            </a:r>
          </a:p>
        </p:txBody>
      </p:sp>
      <p:sp>
        <p:nvSpPr>
          <p:cNvPr id="4" name="Text Placeholder 3">
            <a:extLst>
              <a:ext uri="{FF2B5EF4-FFF2-40B4-BE49-F238E27FC236}">
                <a16:creationId xmlns:a16="http://schemas.microsoft.com/office/drawing/2014/main" id="{CE8F5B35-D870-1769-A21B-EA25F2796966}"/>
              </a:ext>
            </a:extLst>
          </p:cNvPr>
          <p:cNvSpPr>
            <a:spLocks noGrp="1"/>
          </p:cNvSpPr>
          <p:nvPr>
            <p:ph type="body" sz="quarter" idx="17"/>
          </p:nvPr>
        </p:nvSpPr>
        <p:spPr/>
        <p:txBody>
          <a:bodyPr/>
          <a:lstStyle/>
          <a:p>
            <a:pPr algn="just"/>
            <a:r>
              <a:rPr lang="en-US" sz="1800" b="0" i="1" u="none" strike="noStrike" baseline="0" dirty="0">
                <a:solidFill>
                  <a:srgbClr val="292526"/>
                </a:solidFill>
                <a:latin typeface="Palatino-Italic"/>
              </a:rPr>
              <a:t>Foveal vision </a:t>
            </a:r>
            <a:r>
              <a:rPr lang="en-US" sz="1800" b="0" i="0" u="none" strike="noStrike" baseline="0" dirty="0">
                <a:solidFill>
                  <a:srgbClr val="292526"/>
                </a:solidFill>
                <a:latin typeface="Palatino-Roman"/>
              </a:rPr>
              <a:t>is used to focus directly on something; </a:t>
            </a:r>
            <a:r>
              <a:rPr lang="en-US" sz="1800" b="0" i="1" u="none" strike="noStrike" baseline="0" dirty="0">
                <a:solidFill>
                  <a:srgbClr val="292526"/>
                </a:solidFill>
                <a:latin typeface="Palatino-Italic"/>
              </a:rPr>
              <a:t>peripheral vision </a:t>
            </a:r>
            <a:r>
              <a:rPr lang="en-US" sz="1800" b="0" i="0" u="none" strike="noStrike" baseline="0" dirty="0">
                <a:solidFill>
                  <a:srgbClr val="292526"/>
                </a:solidFill>
                <a:latin typeface="Palatino-Roman"/>
              </a:rPr>
              <a:t>senses anything in the area surrounding the location we are looking at, but what is there cannot be clearly resolved because of the limitations in visual acuity just described. </a:t>
            </a:r>
          </a:p>
          <a:p>
            <a:pPr algn="just"/>
            <a:r>
              <a:rPr lang="en-US" sz="1800" b="0" i="0" u="none" strike="noStrike" baseline="0" dirty="0">
                <a:solidFill>
                  <a:srgbClr val="292526"/>
                </a:solidFill>
                <a:latin typeface="Palatino-Roman"/>
              </a:rPr>
              <a:t>Foveal and peripheral vision maintain, at the same time, a cooperative and a competitive relationship. Peripheral vision can aid a visual search, but can also be distracting.</a:t>
            </a:r>
          </a:p>
          <a:p>
            <a:pPr algn="l"/>
            <a:r>
              <a:rPr lang="en-US" sz="1800" b="0" i="0" u="none" strike="noStrike" baseline="0" dirty="0">
                <a:solidFill>
                  <a:srgbClr val="292526"/>
                </a:solidFill>
                <a:latin typeface="Palatino-Roman"/>
              </a:rPr>
              <a:t>In its cooperative nature, peripheral vision is thought to provide clues to where the eye should go next in the visual search of a screen. </a:t>
            </a:r>
          </a:p>
          <a:p>
            <a:pPr algn="l"/>
            <a:r>
              <a:rPr lang="en-US" sz="1800" b="0" i="0" u="none" strike="noStrike" baseline="0" dirty="0">
                <a:solidFill>
                  <a:srgbClr val="292526"/>
                </a:solidFill>
                <a:latin typeface="Palatino-Roman"/>
              </a:rPr>
              <a:t>In its competitive nature, peripheral vision can compete with foveal vision for attention.</a:t>
            </a:r>
          </a:p>
          <a:p>
            <a:pPr algn="l"/>
            <a:r>
              <a:rPr lang="en-US" sz="1800" b="0" i="0" u="none" strike="noStrike" baseline="0" dirty="0">
                <a:solidFill>
                  <a:srgbClr val="292526"/>
                </a:solidFill>
                <a:latin typeface="Palatino-Roman"/>
              </a:rPr>
              <a:t>Mori and Hayashi (1993) experimentally evaluated the effect of windows in both a foveal and peripheral relationship and found that performance on a foveal window deteriorates when there are peripheral windows, and the performance degradation is even greater if the information in the peripheral is dynamic or moving.</a:t>
            </a:r>
            <a:endParaRPr lang="en-IN" dirty="0"/>
          </a:p>
        </p:txBody>
      </p:sp>
    </p:spTree>
    <p:extLst>
      <p:ext uri="{BB962C8B-B14F-4D97-AF65-F5344CB8AC3E}">
        <p14:creationId xmlns:p14="http://schemas.microsoft.com/office/powerpoint/2010/main" val="3699338450"/>
      </p:ext>
    </p:extLst>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2.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4916671-0E7D-4594-8037-60C70BF44351}">
  <ds:schemaRefs>
    <ds:schemaRef ds:uri="http://schemas.microsoft.com/office/2006/documentManagement/types"/>
    <ds:schemaRef ds:uri="http://purl.org/dc/terms/"/>
    <ds:schemaRef ds:uri="http://schemas.microsoft.com/office/infopath/2007/PartnerControls"/>
    <ds:schemaRef ds:uri="http://www.w3.org/XML/1998/namespace"/>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REVA REVISED PPT TEMPLATE</Template>
  <TotalTime>3081</TotalTime>
  <Words>1875</Words>
  <Application>Microsoft Office PowerPoint</Application>
  <PresentationFormat>Widescreen</PresentationFormat>
  <Paragraphs>154</Paragraphs>
  <Slides>22</Slides>
  <Notes>0</Notes>
  <HiddenSlides>0</HiddenSlides>
  <MMClips>0</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22</vt:i4>
      </vt:variant>
    </vt:vector>
  </HeadingPairs>
  <TitlesOfParts>
    <vt:vector size="41" baseType="lpstr">
      <vt:lpstr>Arial</vt:lpstr>
      <vt:lpstr>Formata-Medium</vt:lpstr>
      <vt:lpstr>Minion-Regular</vt:lpstr>
      <vt:lpstr>Nobel-Book</vt:lpstr>
      <vt:lpstr>Palatino-Bold</vt:lpstr>
      <vt:lpstr>Palatino-Italic</vt:lpstr>
      <vt:lpstr>Palatino-Roman</vt:lpstr>
      <vt:lpstr>Roboto Medium</vt:lpstr>
      <vt:lpstr>Times New Roman</vt:lpstr>
      <vt:lpstr>Wingdings</vt:lpstr>
      <vt:lpstr>REVA Powerpoint Template - NEW</vt:lpstr>
      <vt:lpstr>Agenda</vt:lpstr>
      <vt:lpstr>Divider</vt:lpstr>
      <vt:lpstr>Media / Video Slide</vt:lpstr>
      <vt:lpstr>Copy Slides</vt:lpstr>
      <vt:lpstr>Copy and Image</vt:lpstr>
      <vt:lpstr>Table &amp; Graphs Slide</vt:lpstr>
      <vt:lpstr>Flow Slides</vt:lpstr>
      <vt:lpstr>Thank You </vt:lpstr>
      <vt:lpstr>HUMAN COMPUTER INTERACTION (M23DES212) School of CSA /MCA- IInd sem</vt:lpstr>
      <vt:lpstr>Unit- ii contents</vt:lpstr>
      <vt:lpstr>INTERACTION DESIGN BASICS</vt:lpstr>
      <vt:lpstr>INTERACTION DESIGN BASICS</vt:lpstr>
      <vt:lpstr>THE PROCESS OF DESIGN</vt:lpstr>
      <vt:lpstr>Design Process</vt:lpstr>
      <vt:lpstr>Design Process</vt:lpstr>
      <vt:lpstr>Design Process</vt:lpstr>
      <vt:lpstr>Designing for People: The Five Commandments</vt:lpstr>
      <vt:lpstr>HUMAN INTERACTION WITH COMPUTERS</vt:lpstr>
      <vt:lpstr>Why People Have Trouble with Computers</vt:lpstr>
      <vt:lpstr>Typical psychological responses to poor design</vt:lpstr>
      <vt:lpstr>Typical psychological responses to poor design</vt:lpstr>
      <vt:lpstr>psychological responses to poor design</vt:lpstr>
      <vt:lpstr>Important Human Characteristics in Design</vt:lpstr>
      <vt:lpstr>Perception</vt:lpstr>
      <vt:lpstr>Memory</vt:lpstr>
      <vt:lpstr>Sensory Storage</vt:lpstr>
      <vt:lpstr>Memory</vt:lpstr>
      <vt:lpstr>Visual Acuity</vt:lpstr>
      <vt:lpstr>Visual Acuity</vt:lpstr>
      <vt:lpstr>Foveal and Peripheral 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 OF THINGS (M21DGS223)</dc:title>
  <dc:creator>urwithrajeev@gmail.com</dc:creator>
  <cp:lastModifiedBy>Dr. Ambili PS</cp:lastModifiedBy>
  <cp:revision>65</cp:revision>
  <cp:lastPrinted>2018-09-28T07:11:06Z</cp:lastPrinted>
  <dcterms:created xsi:type="dcterms:W3CDTF">2022-04-19T05:16:11Z</dcterms:created>
  <dcterms:modified xsi:type="dcterms:W3CDTF">2025-07-11T08:39:25Z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