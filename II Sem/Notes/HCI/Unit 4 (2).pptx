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8.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63"/>
  </p:notesMasterIdLst>
  <p:handoutMasterIdLst>
    <p:handoutMasterId r:id="rId64"/>
  </p:handoutMasterIdLst>
  <p:sldIdLst>
    <p:sldId id="712" r:id="rId13"/>
    <p:sldId id="798" r:id="rId14"/>
    <p:sldId id="793" r:id="rId15"/>
    <p:sldId id="794" r:id="rId16"/>
    <p:sldId id="713" r:id="rId17"/>
    <p:sldId id="795" r:id="rId18"/>
    <p:sldId id="796" r:id="rId19"/>
    <p:sldId id="797" r:id="rId20"/>
    <p:sldId id="715" r:id="rId21"/>
    <p:sldId id="716" r:id="rId22"/>
    <p:sldId id="735" r:id="rId23"/>
    <p:sldId id="737" r:id="rId24"/>
    <p:sldId id="736" r:id="rId25"/>
    <p:sldId id="738" r:id="rId26"/>
    <p:sldId id="739" r:id="rId27"/>
    <p:sldId id="799" r:id="rId28"/>
    <p:sldId id="742" r:id="rId29"/>
    <p:sldId id="748" r:id="rId30"/>
    <p:sldId id="749" r:id="rId31"/>
    <p:sldId id="750" r:id="rId32"/>
    <p:sldId id="751" r:id="rId33"/>
    <p:sldId id="752" r:id="rId34"/>
    <p:sldId id="754" r:id="rId35"/>
    <p:sldId id="756" r:id="rId36"/>
    <p:sldId id="800" r:id="rId37"/>
    <p:sldId id="765" r:id="rId38"/>
    <p:sldId id="762" r:id="rId39"/>
    <p:sldId id="761" r:id="rId40"/>
    <p:sldId id="768" r:id="rId41"/>
    <p:sldId id="769" r:id="rId42"/>
    <p:sldId id="770" r:id="rId43"/>
    <p:sldId id="771" r:id="rId44"/>
    <p:sldId id="773" r:id="rId45"/>
    <p:sldId id="774" r:id="rId46"/>
    <p:sldId id="801" r:id="rId47"/>
    <p:sldId id="780" r:id="rId48"/>
    <p:sldId id="779" r:id="rId49"/>
    <p:sldId id="784" r:id="rId50"/>
    <p:sldId id="781" r:id="rId51"/>
    <p:sldId id="783" r:id="rId52"/>
    <p:sldId id="782" r:id="rId53"/>
    <p:sldId id="785" r:id="rId54"/>
    <p:sldId id="786" r:id="rId55"/>
    <p:sldId id="788" r:id="rId56"/>
    <p:sldId id="789" r:id="rId57"/>
    <p:sldId id="787" r:id="rId58"/>
    <p:sldId id="790" r:id="rId59"/>
    <p:sldId id="791" r:id="rId60"/>
    <p:sldId id="792" r:id="rId61"/>
    <p:sldId id="602" r:id="rId62"/>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A5A5A5"/>
    <a:srgbClr val="F9950F"/>
    <a:srgbClr val="E7E6E6"/>
    <a:srgbClr val="48367D"/>
    <a:srgbClr val="4C5252"/>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3030" autoAdjust="0"/>
  </p:normalViewPr>
  <p:slideViewPr>
    <p:cSldViewPr>
      <p:cViewPr varScale="1">
        <p:scale>
          <a:sx n="56" d="100"/>
          <a:sy n="56" d="100"/>
        </p:scale>
        <p:origin x="1024" y="52"/>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viewProps" Target="view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9/09/2025</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9/09/2025</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jpeg"/><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425103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4" tIns="54862" rIns="109724" bIns="54862" rtlCol="0" anchor="ctr"/>
          <a:lstStyle/>
          <a:p>
            <a:pPr algn="l"/>
            <a:endParaRPr lang="en-US" b="0" i="0" dirty="0">
              <a:latin typeface="Roboto Medium" pitchFamily="2" charset="0"/>
              <a:ea typeface="Roboto Medium" pitchFamily="2" charset="0"/>
            </a:endParaRPr>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50627" y="474943"/>
            <a:ext cx="6274468" cy="1005842"/>
          </a:xfrm>
          <a:prstGeom prst="rect">
            <a:avLst/>
          </a:prstGeom>
        </p:spPr>
        <p:txBody>
          <a:bodyPr lIns="109724" tIns="54862" rIns="109724" bIns="54862"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Table page</a:t>
            </a:r>
          </a:p>
        </p:txBody>
      </p:sp>
      <p:sp>
        <p:nvSpPr>
          <p:cNvPr id="10"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3"/>
            <a:ext cx="11181332" cy="1036915"/>
          </a:xfrm>
          <a:prstGeom prst="rect">
            <a:avLst/>
          </a:prstGeom>
        </p:spPr>
        <p:txBody>
          <a:bodyPr lIns="109724" tIns="54862" rIns="109724" bIns="54862" anchor="ctr"/>
          <a:lstStyle>
            <a:lvl1pPr marL="0" indent="0" algn="l">
              <a:buNone/>
              <a:defRPr lang="en-US" sz="2900" dirty="0">
                <a:solidFill>
                  <a:schemeClr val="tx1"/>
                </a:solidFill>
                <a:latin typeface="Roboto Medium" pitchFamily="2" charset="0"/>
                <a:ea typeface="Roboto Medium" pitchFamily="2" charset="0"/>
                <a:cs typeface="Roboto Medium" pitchFamily="2" charset="0"/>
              </a:defRPr>
            </a:lvl1pPr>
          </a:lstStyle>
          <a:p>
            <a:pPr lvl="0">
              <a:spcAft>
                <a:spcPts val="0"/>
              </a:spcAft>
            </a:pPr>
            <a:r>
              <a:rPr lang="en-US" dirty="0"/>
              <a:t>Edit Master text styles</a:t>
            </a:r>
          </a:p>
        </p:txBody>
      </p:sp>
      <p:sp>
        <p:nvSpPr>
          <p:cNvPr id="11" name="Media Placeholder 2">
            <a:extLst>
              <a:ext uri="{FF2B5EF4-FFF2-40B4-BE49-F238E27FC236}">
                <a16:creationId xmlns:a16="http://schemas.microsoft.com/office/drawing/2014/main" id="{81443669-69D1-A047-A6ED-8EB4E5995CD1}"/>
              </a:ext>
            </a:extLst>
          </p:cNvPr>
          <p:cNvSpPr>
            <a:spLocks noGrp="1"/>
          </p:cNvSpPr>
          <p:nvPr>
            <p:ph type="media" sz="quarter" idx="19"/>
          </p:nvPr>
        </p:nvSpPr>
        <p:spPr>
          <a:xfrm>
            <a:off x="748666" y="2819402"/>
            <a:ext cx="10153796" cy="3581399"/>
          </a:xfrm>
          <a:prstGeom prst="rect">
            <a:avLst/>
          </a:prstGeom>
        </p:spPr>
        <p:txBody>
          <a:bodyPr lIns="109724" tIns="54862" rIns="109724" bIns="54862"/>
          <a:lstStyle>
            <a:lvl1pPr algn="l">
              <a:defRPr>
                <a:solidFill>
                  <a:schemeClr val="tx1"/>
                </a:solidFill>
                <a:latin typeface="Roboto Medium" pitchFamily="2" charset="0"/>
                <a:ea typeface="Roboto Medium" pitchFamily="2" charset="0"/>
                <a:cs typeface="Roboto Medium" pitchFamily="2" charset="0"/>
              </a:defRPr>
            </a:lvl1pPr>
          </a:lstStyle>
          <a:p>
            <a:endParaRPr lang="en-US"/>
          </a:p>
        </p:txBody>
      </p:sp>
      <p:pic>
        <p:nvPicPr>
          <p:cNvPr id="12" name="Picture 2" descr="C:\Users\Admin\Downloads\Logo-01.png"/>
          <p:cNvPicPr>
            <a:picLocks noChangeAspect="1" noChangeArrowheads="1"/>
          </p:cNvPicPr>
          <p:nvPr userDrawn="1"/>
        </p:nvPicPr>
        <p:blipFill>
          <a:blip r:embed="rId2" cstate="print"/>
          <a:srcRect r="72727"/>
          <a:stretch>
            <a:fillRect/>
          </a:stretch>
        </p:blipFill>
        <p:spPr bwMode="auto">
          <a:xfrm>
            <a:off x="443553" y="5081098"/>
            <a:ext cx="971550" cy="1776902"/>
          </a:xfrm>
          <a:prstGeom prst="rect">
            <a:avLst/>
          </a:prstGeom>
          <a:noFill/>
        </p:spPr>
      </p:pic>
    </p:spTree>
    <p:extLst>
      <p:ext uri="{BB962C8B-B14F-4D97-AF65-F5344CB8AC3E}">
        <p14:creationId xmlns:p14="http://schemas.microsoft.com/office/powerpoint/2010/main" val="2356588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9809" y="274638"/>
            <a:ext cx="10722591" cy="1143000"/>
          </a:xfrm>
        </p:spPr>
        <p:txBody>
          <a:bodyPr>
            <a:normAutofit/>
          </a:bodyPr>
          <a:lstStyle>
            <a:lvl1pPr algn="l">
              <a:defRPr lang="en-US" sz="3400" kern="1200" cap="all" spc="0" baseline="0" dirty="0">
                <a:solidFill>
                  <a:schemeClr val="tx1"/>
                </a:solidFill>
                <a:latin typeface="Roboto Medium" pitchFamily="2" charset="0"/>
                <a:ea typeface="Roboto Medium" pitchFamily="2" charset="0"/>
                <a:cs typeface="Roboto Medium" pitchFamily="2"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lang="en-US" sz="2900" kern="1200" dirty="0" smtClean="0">
                <a:solidFill>
                  <a:schemeClr val="tx1"/>
                </a:solidFill>
                <a:latin typeface="Roboto Medium" pitchFamily="2" charset="0"/>
                <a:ea typeface="Roboto Medium" pitchFamily="2" charset="0"/>
                <a:cs typeface="Roboto Medium" pitchFamily="2" charset="0"/>
              </a:defRPr>
            </a:lvl1pPr>
            <a:lvl2pPr>
              <a:defRPr lang="en-US" sz="2900" kern="1200" dirty="0" smtClean="0">
                <a:solidFill>
                  <a:schemeClr val="tx1"/>
                </a:solidFill>
                <a:latin typeface="Roboto Medium" pitchFamily="2" charset="0"/>
                <a:ea typeface="Roboto Medium" pitchFamily="2" charset="0"/>
                <a:cs typeface="Roboto Medium" pitchFamily="2" charset="0"/>
              </a:defRPr>
            </a:lvl2pPr>
            <a:lvl3pPr>
              <a:defRPr lang="en-US" sz="2900" kern="1200" dirty="0" smtClean="0">
                <a:solidFill>
                  <a:schemeClr val="tx1"/>
                </a:solidFill>
                <a:latin typeface="Roboto Medium" pitchFamily="2" charset="0"/>
                <a:ea typeface="Roboto Medium" pitchFamily="2" charset="0"/>
                <a:cs typeface="Roboto Medium" pitchFamily="2" charset="0"/>
              </a:defRPr>
            </a:lvl3pPr>
            <a:lvl4pPr>
              <a:defRPr lang="en-US" sz="2900" kern="1200" dirty="0" smtClean="0">
                <a:solidFill>
                  <a:schemeClr val="tx1"/>
                </a:solidFill>
                <a:latin typeface="Roboto Medium" pitchFamily="2" charset="0"/>
                <a:ea typeface="Roboto Medium" pitchFamily="2" charset="0"/>
                <a:cs typeface="Roboto Medium" pitchFamily="2" charset="0"/>
              </a:defRPr>
            </a:lvl4pPr>
            <a:lvl5pPr>
              <a:defRPr lang="en-US" sz="2900" kern="1200" dirty="0">
                <a:solidFill>
                  <a:schemeClr val="tx1"/>
                </a:solidFill>
                <a:latin typeface="Roboto Medium" pitchFamily="2" charset="0"/>
                <a:ea typeface="Roboto Medium" pitchFamily="2" charset="0"/>
                <a:cs typeface="Roboto Medium"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74536675-CD15-A94E-808B-8D6F84477752}"/>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4" tIns="54862" rIns="109724" bIns="54862" rtlCol="0" anchor="ctr"/>
          <a:lstStyle/>
          <a:p>
            <a:pPr algn="l"/>
            <a:endParaRPr lang="en-US" b="0" i="0" dirty="0">
              <a:latin typeface="Roboto Medium" pitchFamily="2" charset="0"/>
              <a:ea typeface="Roboto Medium" pitchFamily="2" charset="0"/>
            </a:endParaRPr>
          </a:p>
        </p:txBody>
      </p:sp>
      <p:pic>
        <p:nvPicPr>
          <p:cNvPr id="8" name="Picture 2" descr="C:\Users\Admin\Downloads\Logo-01.png"/>
          <p:cNvPicPr>
            <a:picLocks noChangeAspect="1" noChangeArrowheads="1"/>
          </p:cNvPicPr>
          <p:nvPr userDrawn="1"/>
        </p:nvPicPr>
        <p:blipFill>
          <a:blip r:embed="rId2" cstate="print"/>
          <a:srcRect r="72727"/>
          <a:stretch>
            <a:fillRect/>
          </a:stretch>
        </p:blipFill>
        <p:spPr bwMode="auto">
          <a:xfrm>
            <a:off x="184245" y="5081098"/>
            <a:ext cx="971550" cy="1776902"/>
          </a:xfrm>
          <a:prstGeom prst="rect">
            <a:avLst/>
          </a:prstGeom>
          <a:noFill/>
        </p:spPr>
      </p:pic>
    </p:spTree>
    <p:extLst>
      <p:ext uri="{BB962C8B-B14F-4D97-AF65-F5344CB8AC3E}">
        <p14:creationId xmlns:p14="http://schemas.microsoft.com/office/powerpoint/2010/main" val="33267689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C0822-42F2-CECD-FCB4-0E606CCD95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8F68BB-474C-B585-7FAF-0148A51087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16C9E4-AC1B-8670-B66D-B7912262D66F}"/>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7ECBA84-DBCD-D6F1-BE45-BB2D130A7EC4}"/>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AD00C454-BB79-2253-B19E-3B13799D2367}"/>
              </a:ext>
            </a:extLst>
          </p:cNvPr>
          <p:cNvSpPr>
            <a:spLocks noGrp="1"/>
          </p:cNvSpPr>
          <p:nvPr>
            <p:ph type="sldNum" sz="quarter" idx="12"/>
          </p:nvPr>
        </p:nvSpPr>
        <p:spPr/>
        <p:txBody>
          <a:bodyPr/>
          <a:lstStyle>
            <a:lvl1pPr>
              <a:defRPr/>
            </a:lvl1pPr>
          </a:lstStyle>
          <a:p>
            <a:fld id="{659912E9-96BE-4547-8CE9-44CF8F025E9F}" type="slidenum">
              <a:rPr lang="en-GB" altLang="en-US"/>
              <a:pPr/>
              <a:t>‹#›</a:t>
            </a:fld>
            <a:endParaRPr lang="en-GB" altLang="en-US"/>
          </a:p>
        </p:txBody>
      </p:sp>
    </p:spTree>
    <p:extLst>
      <p:ext uri="{BB962C8B-B14F-4D97-AF65-F5344CB8AC3E}">
        <p14:creationId xmlns:p14="http://schemas.microsoft.com/office/powerpoint/2010/main" val="3788975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E67A-AA73-BF66-79FB-A0B8DB0E15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F37A27-F147-C2BA-2FB0-A5BB74257BB9}"/>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8608199D-4BD1-647C-7774-52193B28ABA0}"/>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225F8D4F-2D67-DDD1-4CBC-845104798FE6}"/>
              </a:ext>
            </a:extLst>
          </p:cNvPr>
          <p:cNvSpPr>
            <a:spLocks noGrp="1"/>
          </p:cNvSpPr>
          <p:nvPr>
            <p:ph type="sldNum" sz="quarter" idx="12"/>
          </p:nvPr>
        </p:nvSpPr>
        <p:spPr/>
        <p:txBody>
          <a:bodyPr/>
          <a:lstStyle>
            <a:lvl1pPr>
              <a:defRPr/>
            </a:lvl1pPr>
          </a:lstStyle>
          <a:p>
            <a:fld id="{470FF946-BF7F-4841-B6D0-1FE4EE6069EC}" type="slidenum">
              <a:rPr lang="en-GB" altLang="en-US"/>
              <a:pPr/>
              <a:t>‹#›</a:t>
            </a:fld>
            <a:endParaRPr lang="en-GB" altLang="en-US"/>
          </a:p>
        </p:txBody>
      </p:sp>
    </p:spTree>
    <p:extLst>
      <p:ext uri="{BB962C8B-B14F-4D97-AF65-F5344CB8AC3E}">
        <p14:creationId xmlns:p14="http://schemas.microsoft.com/office/powerpoint/2010/main" val="3605084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3FAD2-A43D-C999-820A-D2BEF5B572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9E4570-7DC7-E7EA-4CD4-0DC7748015B5}"/>
              </a:ext>
            </a:extLst>
          </p:cNvPr>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7422CB-D0C4-8552-AA11-859DBB1726BF}"/>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D0D98D-F855-C222-F822-DFB3120F3DBC}"/>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7F0995F8-49C9-80BA-0356-4F10361841CA}"/>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F6BC05DB-B975-4BBC-03A0-96AB54B73750}"/>
              </a:ext>
            </a:extLst>
          </p:cNvPr>
          <p:cNvSpPr>
            <a:spLocks noGrp="1"/>
          </p:cNvSpPr>
          <p:nvPr>
            <p:ph type="sldNum" sz="quarter" idx="12"/>
          </p:nvPr>
        </p:nvSpPr>
        <p:spPr/>
        <p:txBody>
          <a:bodyPr/>
          <a:lstStyle>
            <a:lvl1pPr>
              <a:defRPr/>
            </a:lvl1pPr>
          </a:lstStyle>
          <a:p>
            <a:fld id="{BAD61D8A-8779-49B1-9F0F-814BC8A32559}" type="slidenum">
              <a:rPr lang="en-GB" altLang="en-US"/>
              <a:pPr/>
              <a:t>‹#›</a:t>
            </a:fld>
            <a:endParaRPr lang="en-GB" altLang="en-US"/>
          </a:p>
        </p:txBody>
      </p:sp>
    </p:spTree>
    <p:extLst>
      <p:ext uri="{BB962C8B-B14F-4D97-AF65-F5344CB8AC3E}">
        <p14:creationId xmlns:p14="http://schemas.microsoft.com/office/powerpoint/2010/main" val="3768194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theme" Target="../theme/theme4.xml"/><Relationship Id="rId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theme" Target="../theme/theme6.xml"/><Relationship Id="rId4" Type="http://schemas.openxmlformats.org/officeDocument/2006/relationships/slideLayout" Target="../slideLayouts/slideLayout30.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8.xml"/><Relationship Id="rId1" Type="http://schemas.openxmlformats.org/officeDocument/2006/relationships/slideLayout" Target="../slideLayouts/slideLayout37.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theme" Target="../theme/theme9.xml"/><Relationship Id="rId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 id="2147484016"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 id="2147484010" r:id="rId5"/>
    <p:sldLayoutId id="2147484011" r:id="rId6"/>
    <p:sldLayoutId id="2147484013" r:id="rId7"/>
    <p:sldLayoutId id="2147484014" r:id="rId8"/>
    <p:sldLayoutId id="2147484015"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COMPUTER INTERACTION</a:t>
            </a:r>
            <a:br>
              <a:rPr lang="en-US" b="1" dirty="0"/>
            </a:br>
            <a:r>
              <a:rPr lang="en-US" b="1" dirty="0"/>
              <a:t>(M23DES212)</a:t>
            </a:r>
            <a:br>
              <a:rPr lang="en-US" b="1" dirty="0"/>
            </a:br>
            <a:r>
              <a:rPr lang="en-US" dirty="0"/>
              <a:t>School of CSA /MCA- </a:t>
            </a:r>
            <a:r>
              <a:rPr lang="en-US" dirty="0" err="1"/>
              <a:t>IInd</a:t>
            </a:r>
            <a:r>
              <a:rPr lang="en-US" dirty="0"/>
              <a:t> </a:t>
            </a:r>
            <a:r>
              <a:rPr lang="en-US" dirty="0" err="1"/>
              <a:t>sem</a:t>
            </a:r>
            <a:endParaRPr lang="en-US" dirty="0"/>
          </a:p>
        </p:txBody>
      </p:sp>
      <p:sp>
        <p:nvSpPr>
          <p:cNvPr id="3" name="Text Placeholder 2"/>
          <p:cNvSpPr>
            <a:spLocks noGrp="1"/>
          </p:cNvSpPr>
          <p:nvPr>
            <p:ph type="body" sz="quarter" idx="10"/>
          </p:nvPr>
        </p:nvSpPr>
        <p:spPr/>
        <p:txBody>
          <a:bodyPr/>
          <a:lstStyle/>
          <a:p>
            <a:r>
              <a:rPr lang="en-US" dirty="0"/>
              <a:t>Dr. Ambili P 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6CAC-B2D2-DACA-0E8F-12677BD6FF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49BA6A-7CED-EF08-94C7-DD81C7394DF5}"/>
              </a:ext>
            </a:extLst>
          </p:cNvPr>
          <p:cNvSpPr>
            <a:spLocks noGrp="1"/>
          </p:cNvSpPr>
          <p:nvPr>
            <p:ph type="sldNum" sz="quarter" idx="14"/>
          </p:nvPr>
        </p:nvSpPr>
        <p:spPr/>
        <p:txBody>
          <a:bodyPr/>
          <a:lstStyle/>
          <a:p>
            <a:fld id="{45A3C14A-F937-4231-B6F1-40B429FAFB2F}" type="slidenum">
              <a:rPr lang="en-NZ" smtClean="0"/>
              <a:pPr/>
              <a:t>2</a:t>
            </a:fld>
            <a:endParaRPr lang="en-NZ" dirty="0"/>
          </a:p>
        </p:txBody>
      </p:sp>
      <p:sp>
        <p:nvSpPr>
          <p:cNvPr id="3" name="Title 2">
            <a:extLst>
              <a:ext uri="{FF2B5EF4-FFF2-40B4-BE49-F238E27FC236}">
                <a16:creationId xmlns:a16="http://schemas.microsoft.com/office/drawing/2014/main" id="{90B63280-0C16-D9CC-97E4-6E6B050B9443}"/>
              </a:ext>
            </a:extLst>
          </p:cNvPr>
          <p:cNvSpPr>
            <a:spLocks noGrp="1"/>
          </p:cNvSpPr>
          <p:nvPr>
            <p:ph type="title"/>
          </p:nvPr>
        </p:nvSpPr>
        <p:spPr/>
        <p:txBody>
          <a:bodyPr/>
          <a:lstStyle/>
          <a:p>
            <a:r>
              <a:rPr lang="en-IN" dirty="0"/>
              <a:t>Unit 4</a:t>
            </a:r>
          </a:p>
        </p:txBody>
      </p:sp>
      <p:graphicFrame>
        <p:nvGraphicFramePr>
          <p:cNvPr id="10" name="Table 9">
            <a:extLst>
              <a:ext uri="{FF2B5EF4-FFF2-40B4-BE49-F238E27FC236}">
                <a16:creationId xmlns:a16="http://schemas.microsoft.com/office/drawing/2014/main" id="{AB5D5790-B5C0-26E4-4DE7-5C0CE3F38F51}"/>
              </a:ext>
            </a:extLst>
          </p:cNvPr>
          <p:cNvGraphicFramePr>
            <a:graphicFrameLocks noGrp="1"/>
          </p:cNvGraphicFramePr>
          <p:nvPr>
            <p:extLst>
              <p:ext uri="{D42A27DB-BD31-4B8C-83A1-F6EECF244321}">
                <p14:modId xmlns:p14="http://schemas.microsoft.com/office/powerpoint/2010/main" val="3729938995"/>
              </p:ext>
            </p:extLst>
          </p:nvPr>
        </p:nvGraphicFramePr>
        <p:xfrm>
          <a:off x="1127448" y="1448781"/>
          <a:ext cx="9505056" cy="4386617"/>
        </p:xfrm>
        <a:graphic>
          <a:graphicData uri="http://schemas.openxmlformats.org/drawingml/2006/table">
            <a:tbl>
              <a:tblPr firstRow="1" firstCol="1" bandRow="1"/>
              <a:tblGrid>
                <a:gridCol w="1926869">
                  <a:extLst>
                    <a:ext uri="{9D8B030D-6E8A-4147-A177-3AD203B41FA5}">
                      <a16:colId xmlns:a16="http://schemas.microsoft.com/office/drawing/2014/main" val="3001989518"/>
                    </a:ext>
                  </a:extLst>
                </a:gridCol>
                <a:gridCol w="7578187">
                  <a:extLst>
                    <a:ext uri="{9D8B030D-6E8A-4147-A177-3AD203B41FA5}">
                      <a16:colId xmlns:a16="http://schemas.microsoft.com/office/drawing/2014/main" val="2639937164"/>
                    </a:ext>
                  </a:extLst>
                </a:gridCol>
              </a:tblGrid>
              <a:tr h="600813">
                <a:tc>
                  <a:txBody>
                    <a:bodyPr/>
                    <a:lstStyle/>
                    <a:p>
                      <a:pPr algn="l">
                        <a:lnSpc>
                          <a:spcPct val="115000"/>
                        </a:lnSpc>
                        <a:spcAft>
                          <a:spcPts val="1000"/>
                        </a:spcAft>
                        <a:buNone/>
                      </a:pPr>
                      <a:r>
                        <a:rPr lang="en-US" sz="2500" b="1">
                          <a:effectLst/>
                          <a:latin typeface="Times New Roman" panose="02020603050405020304" pitchFamily="18" charset="0"/>
                          <a:ea typeface="Times New Roman" panose="02020603050405020304" pitchFamily="18" charset="0"/>
                          <a:cs typeface="Times New Roman" panose="02020603050405020304" pitchFamily="18" charset="0"/>
                        </a:rPr>
                        <a:t>Unit Title</a:t>
                      </a:r>
                      <a:endParaRPr lang="en-IN" sz="2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l">
                        <a:lnSpc>
                          <a:spcPct val="115000"/>
                        </a:lnSpc>
                        <a:spcAft>
                          <a:spcPts val="1000"/>
                        </a:spcAft>
                        <a:buNone/>
                      </a:pPr>
                      <a:r>
                        <a:rPr lang="en-US" sz="2500" b="1">
                          <a:effectLst/>
                          <a:latin typeface="Times New Roman" panose="02020603050405020304" pitchFamily="18" charset="0"/>
                          <a:ea typeface="Times New Roman" panose="02020603050405020304" pitchFamily="18" charset="0"/>
                          <a:cs typeface="Times New Roman" panose="02020603050405020304" pitchFamily="18" charset="0"/>
                        </a:rPr>
                        <a:t>Design and Development</a:t>
                      </a:r>
                      <a:endParaRPr lang="en-IN" sz="2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241136168"/>
                  </a:ext>
                </a:extLst>
              </a:tr>
              <a:tr h="803342">
                <a:tc gridSpan="2">
                  <a:txBody>
                    <a:bodyPr/>
                    <a:lstStyle/>
                    <a:p>
                      <a:pPr algn="l">
                        <a:lnSpc>
                          <a:spcPct val="115000"/>
                        </a:lnSpc>
                        <a:spcAft>
                          <a:spcPts val="1000"/>
                        </a:spcAft>
                        <a:buNone/>
                      </a:pPr>
                      <a:r>
                        <a:rPr lang="en-US" sz="25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Employing User Personas</a:t>
                      </a:r>
                      <a:endParaRPr lang="en-IN" sz="2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581238474"/>
                  </a:ext>
                </a:extLst>
              </a:tr>
              <a:tr h="864096">
                <a:tc gridSpan="2">
                  <a:txBody>
                    <a:bodyPr/>
                    <a:lstStyle/>
                    <a:p>
                      <a:pPr algn="l">
                        <a:lnSpc>
                          <a:spcPct val="115000"/>
                        </a:lnSpc>
                        <a:spcAft>
                          <a:spcPts val="1000"/>
                        </a:spcAft>
                        <a:buNone/>
                      </a:pPr>
                      <a:r>
                        <a:rPr lang="en-US" sz="25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Prototyping Tools and Techniques</a:t>
                      </a:r>
                      <a:endParaRPr lang="en-IN" sz="2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1509175940"/>
                  </a:ext>
                </a:extLst>
              </a:tr>
              <a:tr h="832822">
                <a:tc gridSpan="2">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2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Scenario-Based Design, Participatory Design</a:t>
                      </a:r>
                      <a:endParaRPr lang="en-IN" sz="25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lnSpc>
                          <a:spcPct val="115000"/>
                        </a:lnSpc>
                        <a:spcAft>
                          <a:spcPts val="1000"/>
                        </a:spcAft>
                        <a:buNone/>
                      </a:pPr>
                      <a:endParaRPr lang="en-IN" sz="2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2121797133"/>
                  </a:ext>
                </a:extLst>
              </a:tr>
              <a:tr h="1140783">
                <a:tc gridSpan="2">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2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Application-/Domain-Specific Design:  Health Care, Aerospace, kids</a:t>
                      </a:r>
                      <a:endParaRPr lang="en-IN" sz="25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lnSpc>
                          <a:spcPct val="115000"/>
                        </a:lnSpc>
                        <a:spcAft>
                          <a:spcPts val="1000"/>
                        </a:spcAft>
                        <a:buNone/>
                      </a:pPr>
                      <a:endParaRPr lang="en-IN" sz="2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3012390790"/>
                  </a:ext>
                </a:extLst>
              </a:tr>
            </a:tbl>
          </a:graphicData>
        </a:graphic>
      </p:graphicFrame>
    </p:spTree>
    <p:extLst>
      <p:ext uri="{BB962C8B-B14F-4D97-AF65-F5344CB8AC3E}">
        <p14:creationId xmlns:p14="http://schemas.microsoft.com/office/powerpoint/2010/main" val="913084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9403D-F8FA-E230-4DC4-209BB9F647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0F060B-4494-8880-6606-F38BF252E540}"/>
              </a:ext>
            </a:extLst>
          </p:cNvPr>
          <p:cNvSpPr>
            <a:spLocks noGrp="1"/>
          </p:cNvSpPr>
          <p:nvPr>
            <p:ph type="sldNum" sz="quarter" idx="14"/>
          </p:nvPr>
        </p:nvSpPr>
        <p:spPr/>
        <p:txBody>
          <a:bodyPr/>
          <a:lstStyle/>
          <a:p>
            <a:fld id="{45A3C14A-F937-4231-B6F1-40B429FAFB2F}" type="slidenum">
              <a:rPr lang="en-NZ" smtClean="0"/>
              <a:pPr/>
              <a:t>3</a:t>
            </a:fld>
            <a:endParaRPr lang="en-NZ" dirty="0"/>
          </a:p>
        </p:txBody>
      </p:sp>
      <p:sp>
        <p:nvSpPr>
          <p:cNvPr id="3" name="Title 2">
            <a:extLst>
              <a:ext uri="{FF2B5EF4-FFF2-40B4-BE49-F238E27FC236}">
                <a16:creationId xmlns:a16="http://schemas.microsoft.com/office/drawing/2014/main" id="{91AAC3D2-CA50-B0FA-08DB-73D369FBAC36}"/>
              </a:ext>
            </a:extLst>
          </p:cNvPr>
          <p:cNvSpPr>
            <a:spLocks noGrp="1"/>
          </p:cNvSpPr>
          <p:nvPr>
            <p:ph type="title"/>
          </p:nvPr>
        </p:nvSpPr>
        <p:spPr>
          <a:xfrm>
            <a:off x="119336" y="246941"/>
            <a:ext cx="6211927" cy="512934"/>
          </a:xfrm>
        </p:spPr>
        <p:txBody>
          <a:bodyPr/>
          <a:lstStyle/>
          <a:p>
            <a:r>
              <a:rPr lang="en-IN" dirty="0"/>
              <a:t>User Personas</a:t>
            </a:r>
          </a:p>
        </p:txBody>
      </p:sp>
      <p:pic>
        <p:nvPicPr>
          <p:cNvPr id="6" name="Picture 5">
            <a:extLst>
              <a:ext uri="{FF2B5EF4-FFF2-40B4-BE49-F238E27FC236}">
                <a16:creationId xmlns:a16="http://schemas.microsoft.com/office/drawing/2014/main" id="{74FC24D4-5E14-949F-82EA-8360FF76AC36}"/>
              </a:ext>
            </a:extLst>
          </p:cNvPr>
          <p:cNvPicPr>
            <a:picLocks noChangeAspect="1"/>
          </p:cNvPicPr>
          <p:nvPr/>
        </p:nvPicPr>
        <p:blipFill>
          <a:blip r:embed="rId2"/>
          <a:stretch>
            <a:fillRect/>
          </a:stretch>
        </p:blipFill>
        <p:spPr>
          <a:xfrm>
            <a:off x="1271464" y="692696"/>
            <a:ext cx="9937104" cy="5976664"/>
          </a:xfrm>
          <a:prstGeom prst="rect">
            <a:avLst/>
          </a:prstGeom>
        </p:spPr>
      </p:pic>
    </p:spTree>
    <p:extLst>
      <p:ext uri="{BB962C8B-B14F-4D97-AF65-F5344CB8AC3E}">
        <p14:creationId xmlns:p14="http://schemas.microsoft.com/office/powerpoint/2010/main" val="68764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7D7D-2F16-12C0-578F-C11BE00D1D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F30F49-1752-1A28-6CC5-A5681A71E50C}"/>
              </a:ext>
            </a:extLst>
          </p:cNvPr>
          <p:cNvSpPr>
            <a:spLocks noGrp="1"/>
          </p:cNvSpPr>
          <p:nvPr>
            <p:ph type="sldNum" sz="quarter" idx="14"/>
          </p:nvPr>
        </p:nvSpPr>
        <p:spPr/>
        <p:txBody>
          <a:bodyPr/>
          <a:lstStyle/>
          <a:p>
            <a:fld id="{45A3C14A-F937-4231-B6F1-40B429FAFB2F}" type="slidenum">
              <a:rPr lang="en-NZ" smtClean="0"/>
              <a:pPr/>
              <a:t>4</a:t>
            </a:fld>
            <a:endParaRPr lang="en-NZ" dirty="0"/>
          </a:p>
        </p:txBody>
      </p:sp>
      <p:sp>
        <p:nvSpPr>
          <p:cNvPr id="3" name="Title 2">
            <a:extLst>
              <a:ext uri="{FF2B5EF4-FFF2-40B4-BE49-F238E27FC236}">
                <a16:creationId xmlns:a16="http://schemas.microsoft.com/office/drawing/2014/main" id="{C1A144D0-10CB-55FA-457A-C627F715E681}"/>
              </a:ext>
            </a:extLst>
          </p:cNvPr>
          <p:cNvSpPr>
            <a:spLocks noGrp="1"/>
          </p:cNvSpPr>
          <p:nvPr>
            <p:ph type="title"/>
          </p:nvPr>
        </p:nvSpPr>
        <p:spPr>
          <a:xfrm>
            <a:off x="119336" y="246941"/>
            <a:ext cx="6211927" cy="512934"/>
          </a:xfrm>
        </p:spPr>
        <p:txBody>
          <a:bodyPr/>
          <a:lstStyle/>
          <a:p>
            <a:r>
              <a:rPr lang="en-IN" dirty="0"/>
              <a:t>User Personas</a:t>
            </a:r>
          </a:p>
        </p:txBody>
      </p:sp>
      <p:sp>
        <p:nvSpPr>
          <p:cNvPr id="4" name="Text Placeholder 3">
            <a:extLst>
              <a:ext uri="{FF2B5EF4-FFF2-40B4-BE49-F238E27FC236}">
                <a16:creationId xmlns:a16="http://schemas.microsoft.com/office/drawing/2014/main" id="{60E89B8F-E377-9793-3D15-600669590EAB}"/>
              </a:ext>
            </a:extLst>
          </p:cNvPr>
          <p:cNvSpPr>
            <a:spLocks noGrp="1"/>
          </p:cNvSpPr>
          <p:nvPr>
            <p:ph type="body" sz="quarter" idx="17"/>
          </p:nvPr>
        </p:nvSpPr>
        <p:spPr>
          <a:xfrm>
            <a:off x="345564" y="1012637"/>
            <a:ext cx="11295051" cy="4320480"/>
          </a:xfrm>
        </p:spPr>
        <p:txBody>
          <a:bodyPr/>
          <a:lstStyle/>
          <a:p>
            <a:pPr marL="0" indent="0" algn="just">
              <a:buNone/>
            </a:pPr>
            <a:r>
              <a:rPr lang="en-US" dirty="0">
                <a:solidFill>
                  <a:schemeClr val="accent6">
                    <a:lumMod val="50000"/>
                  </a:schemeClr>
                </a:solidFill>
              </a:rPr>
              <a:t>Personas Move Us Beyond the Word “User”</a:t>
            </a:r>
            <a:endParaRPr lang="en-IN" dirty="0">
              <a:solidFill>
                <a:schemeClr val="accent6">
                  <a:lumMod val="50000"/>
                </a:schemeClr>
              </a:solidFill>
            </a:endParaRPr>
          </a:p>
          <a:p>
            <a:pPr algn="just"/>
            <a:r>
              <a:rPr lang="en-US" sz="2000" dirty="0"/>
              <a:t>Personas are fictitious, specific, concrete representations of target users. </a:t>
            </a:r>
          </a:p>
          <a:p>
            <a:pPr algn="just"/>
            <a:r>
              <a:rPr lang="en-US" sz="2000" dirty="0"/>
              <a:t> Personas put a face on the user; a memorable, engaging, and actionable image to serve as a design target. </a:t>
            </a:r>
          </a:p>
          <a:p>
            <a:pPr algn="just"/>
            <a:r>
              <a:rPr lang="en-US" sz="2000" dirty="0"/>
              <a:t>Personas add the detail and specificity needed to provide product development teams the understanding needed to create user centered products.</a:t>
            </a:r>
            <a:endParaRPr lang="en-IN" sz="2000" dirty="0"/>
          </a:p>
          <a:p>
            <a:pPr algn="just"/>
            <a:r>
              <a:rPr lang="en-US" sz="2000" dirty="0"/>
              <a:t>Personas humanize vast and disparate data sources, capitalize on our ability to remember details about individual people, and, in so doing, provide a usable and useful alternative to referring to “the  user.” </a:t>
            </a:r>
          </a:p>
          <a:p>
            <a:pPr algn="just"/>
            <a:r>
              <a:rPr lang="en-US" sz="2000" dirty="0"/>
              <a:t>Personas create a concrete, focused, and stable definition of a specific audience.</a:t>
            </a:r>
          </a:p>
          <a:p>
            <a:pPr algn="just"/>
            <a:r>
              <a:rPr lang="en-US" sz="2000" dirty="0"/>
              <a:t>Personas were born out of a short tradition in the User- Centered Design (UCD) community toward user and system modeling and out of a somewhat longer tradition in marketing around market definition and customer representation.</a:t>
            </a:r>
          </a:p>
          <a:p>
            <a:pPr algn="just"/>
            <a:endParaRPr lang="en-US" sz="2000" dirty="0"/>
          </a:p>
          <a:p>
            <a:pPr algn="just"/>
            <a:endParaRPr lang="en-IN" sz="2000" dirty="0"/>
          </a:p>
        </p:txBody>
      </p:sp>
    </p:spTree>
    <p:extLst>
      <p:ext uri="{BB962C8B-B14F-4D97-AF65-F5344CB8AC3E}">
        <p14:creationId xmlns:p14="http://schemas.microsoft.com/office/powerpoint/2010/main" val="58810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1000"/>
                                        <p:tgtEl>
                                          <p:spTgt spid="4">
                                            <p:txEl>
                                              <p:pRg st="5" end="5"/>
                                            </p:txEl>
                                          </p:spTgt>
                                        </p:tgtEl>
                                      </p:cBhvr>
                                    </p:animEffect>
                                    <p:anim calcmode="lin" valueType="num">
                                      <p:cBhvr>
                                        <p:cTn id="4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1000"/>
                                        <p:tgtEl>
                                          <p:spTgt spid="4">
                                            <p:txEl>
                                              <p:pRg st="6" end="6"/>
                                            </p:txEl>
                                          </p:spTgt>
                                        </p:tgtEl>
                                      </p:cBhvr>
                                    </p:animEffect>
                                    <p:anim calcmode="lin" valueType="num">
                                      <p:cBhvr>
                                        <p:cTn id="4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A60F43-D585-9FA9-5D9C-03A52A1242FA}"/>
              </a:ext>
            </a:extLst>
          </p:cNvPr>
          <p:cNvSpPr>
            <a:spLocks noGrp="1"/>
          </p:cNvSpPr>
          <p:nvPr>
            <p:ph type="sldNum" sz="quarter" idx="14"/>
          </p:nvPr>
        </p:nvSpPr>
        <p:spPr/>
        <p:txBody>
          <a:bodyPr/>
          <a:lstStyle/>
          <a:p>
            <a:fld id="{45A3C14A-F937-4231-B6F1-40B429FAFB2F}" type="slidenum">
              <a:rPr lang="en-NZ" smtClean="0"/>
              <a:pPr/>
              <a:t>5</a:t>
            </a:fld>
            <a:endParaRPr lang="en-NZ" dirty="0"/>
          </a:p>
        </p:txBody>
      </p:sp>
      <p:sp>
        <p:nvSpPr>
          <p:cNvPr id="3" name="Title 2">
            <a:extLst>
              <a:ext uri="{FF2B5EF4-FFF2-40B4-BE49-F238E27FC236}">
                <a16:creationId xmlns:a16="http://schemas.microsoft.com/office/drawing/2014/main" id="{B9D7F9C8-960B-36AB-0FE2-0CA16415DD6F}"/>
              </a:ext>
            </a:extLst>
          </p:cNvPr>
          <p:cNvSpPr>
            <a:spLocks noGrp="1"/>
          </p:cNvSpPr>
          <p:nvPr>
            <p:ph type="title"/>
          </p:nvPr>
        </p:nvSpPr>
        <p:spPr>
          <a:xfrm>
            <a:off x="263352" y="260648"/>
            <a:ext cx="6211927" cy="584942"/>
          </a:xfrm>
        </p:spPr>
        <p:txBody>
          <a:bodyPr/>
          <a:lstStyle/>
          <a:p>
            <a:r>
              <a:rPr lang="en-IN" dirty="0"/>
              <a:t>User Centric Design</a:t>
            </a:r>
          </a:p>
        </p:txBody>
      </p:sp>
      <p:sp>
        <p:nvSpPr>
          <p:cNvPr id="4" name="Text Placeholder 3">
            <a:extLst>
              <a:ext uri="{FF2B5EF4-FFF2-40B4-BE49-F238E27FC236}">
                <a16:creationId xmlns:a16="http://schemas.microsoft.com/office/drawing/2014/main" id="{A6F9AA99-1DCE-C046-2F96-CA200ABCCBA6}"/>
              </a:ext>
            </a:extLst>
          </p:cNvPr>
          <p:cNvSpPr>
            <a:spLocks noGrp="1"/>
          </p:cNvSpPr>
          <p:nvPr>
            <p:ph type="body" sz="quarter" idx="17"/>
          </p:nvPr>
        </p:nvSpPr>
        <p:spPr>
          <a:xfrm>
            <a:off x="407368" y="980728"/>
            <a:ext cx="10959778" cy="4320480"/>
          </a:xfrm>
        </p:spPr>
        <p:txBody>
          <a:bodyPr/>
          <a:lstStyle/>
          <a:p>
            <a:pPr algn="just">
              <a:buFont typeface="Arial" panose="020B0604020202020204" pitchFamily="34" charset="0"/>
              <a:buChar char="•"/>
            </a:pPr>
            <a:r>
              <a:rPr lang="en-US" dirty="0"/>
              <a:t>User-centered design is a concept that aims to prioritize the needs of all users in product development. </a:t>
            </a:r>
          </a:p>
          <a:p>
            <a:pPr marL="0" indent="0" algn="just">
              <a:buNone/>
            </a:pPr>
            <a:r>
              <a:rPr lang="en-US" dirty="0"/>
              <a:t>It is challenging to achieve this due to several factors. </a:t>
            </a:r>
          </a:p>
          <a:p>
            <a:pPr lvl="1" algn="just"/>
            <a:r>
              <a:rPr lang="en-US" dirty="0"/>
              <a:t>Firstly, being user-centered is not natural, as our natural tendency is to design based on our own wants and needs. </a:t>
            </a:r>
          </a:p>
          <a:p>
            <a:pPr lvl="1" algn="just"/>
            <a:r>
              <a:rPr lang="en-US" dirty="0"/>
              <a:t>Second, users are complex and varied, and understanding their needs, desires, preferences, and behaviors is crucial. </a:t>
            </a:r>
          </a:p>
          <a:p>
            <a:pPr lvl="1" algn="just"/>
            <a:r>
              <a:rPr lang="en-US" dirty="0"/>
              <a:t>Third, those conducting user and market research are not typically the people designing and building the product. </a:t>
            </a:r>
          </a:p>
          <a:p>
            <a:pPr algn="just">
              <a:buFont typeface="Arial" panose="020B0604020202020204" pitchFamily="34" charset="0"/>
              <a:buChar char="•"/>
            </a:pPr>
            <a:r>
              <a:rPr lang="en-US" dirty="0"/>
              <a:t> If every one in the organization doesn’t have a clear and consistent understanding of whom they are building the product for, the  product can fail.</a:t>
            </a:r>
            <a:endParaRPr lang="en-IN" dirty="0"/>
          </a:p>
        </p:txBody>
      </p:sp>
    </p:spTree>
    <p:extLst>
      <p:ext uri="{BB962C8B-B14F-4D97-AF65-F5344CB8AC3E}">
        <p14:creationId xmlns:p14="http://schemas.microsoft.com/office/powerpoint/2010/main" val="355661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00"/>
                                        <p:tgtEl>
                                          <p:spTgt spid="4">
                                            <p:txEl>
                                              <p:pRg st="5" end="5"/>
                                            </p:txEl>
                                          </p:spTgt>
                                        </p:tgtEl>
                                      </p:cBhvr>
                                    </p:animEffect>
                                    <p:anim calcmode="lin" valueType="num">
                                      <p:cBhvr>
                                        <p:cTn id="2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0F18-B8C6-15A9-39B4-ED26A6C4C7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D5CB13-908D-CAC2-9D14-009F9E92B0CE}"/>
              </a:ext>
            </a:extLst>
          </p:cNvPr>
          <p:cNvSpPr>
            <a:spLocks noGrp="1"/>
          </p:cNvSpPr>
          <p:nvPr>
            <p:ph type="sldNum" sz="quarter" idx="14"/>
          </p:nvPr>
        </p:nvSpPr>
        <p:spPr/>
        <p:txBody>
          <a:bodyPr/>
          <a:lstStyle/>
          <a:p>
            <a:fld id="{45A3C14A-F937-4231-B6F1-40B429FAFB2F}" type="slidenum">
              <a:rPr lang="en-NZ" smtClean="0"/>
              <a:pPr/>
              <a:t>6</a:t>
            </a:fld>
            <a:endParaRPr lang="en-NZ" dirty="0"/>
          </a:p>
        </p:txBody>
      </p:sp>
      <p:sp>
        <p:nvSpPr>
          <p:cNvPr id="3" name="Title 2">
            <a:extLst>
              <a:ext uri="{FF2B5EF4-FFF2-40B4-BE49-F238E27FC236}">
                <a16:creationId xmlns:a16="http://schemas.microsoft.com/office/drawing/2014/main" id="{4A0DE7A8-613F-7E4B-5201-C23AF4926BE6}"/>
              </a:ext>
            </a:extLst>
          </p:cNvPr>
          <p:cNvSpPr>
            <a:spLocks noGrp="1"/>
          </p:cNvSpPr>
          <p:nvPr>
            <p:ph type="title"/>
          </p:nvPr>
        </p:nvSpPr>
        <p:spPr>
          <a:xfrm>
            <a:off x="335360" y="260648"/>
            <a:ext cx="6211927" cy="512934"/>
          </a:xfrm>
        </p:spPr>
        <p:txBody>
          <a:bodyPr/>
          <a:lstStyle/>
          <a:p>
            <a:r>
              <a:rPr lang="en-IN" dirty="0"/>
              <a:t>Examples: Health care domain</a:t>
            </a:r>
          </a:p>
        </p:txBody>
      </p:sp>
      <p:sp>
        <p:nvSpPr>
          <p:cNvPr id="10" name="TextBox 9">
            <a:extLst>
              <a:ext uri="{FF2B5EF4-FFF2-40B4-BE49-F238E27FC236}">
                <a16:creationId xmlns:a16="http://schemas.microsoft.com/office/drawing/2014/main" id="{5E2690B4-B75E-5C5D-9669-CEF7F8743E08}"/>
              </a:ext>
            </a:extLst>
          </p:cNvPr>
          <p:cNvSpPr txBox="1"/>
          <p:nvPr/>
        </p:nvSpPr>
        <p:spPr>
          <a:xfrm>
            <a:off x="1487488" y="1235217"/>
            <a:ext cx="9217024" cy="4340419"/>
          </a:xfrm>
          <a:prstGeom prst="rect">
            <a:avLst/>
          </a:prstGeom>
          <a:noFill/>
        </p:spPr>
        <p:txBody>
          <a:bodyPr wrap="square">
            <a:spAutoFit/>
          </a:bodyPr>
          <a:lstStyle/>
          <a:p>
            <a:pPr>
              <a:lnSpc>
                <a:spcPct val="107000"/>
              </a:lnSpc>
              <a:spcAft>
                <a:spcPts val="800"/>
              </a:spcAft>
              <a:buNone/>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Persona: Dr. Meera Sharma</a:t>
            </a:r>
            <a:endParaRPr lang="en-IN"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Age</a:t>
            </a: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 38</a:t>
            </a: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Role</a:t>
            </a: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 General Physician at a government hospital</a:t>
            </a: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Tech Use</a:t>
            </a: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 Laptop + smartphone for patient consultations</a:t>
            </a: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Goals</a:t>
            </a: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 Quickly review patient history, conduct online consultations, and prescribe digitally</a:t>
            </a: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Times New Roman" panose="02020603050405020304" pitchFamily="18" charset="0"/>
                <a:ea typeface="Aptos" panose="020B0004020202020204" pitchFamily="34" charset="0"/>
                <a:cs typeface="Times New Roman" panose="02020603050405020304" pitchFamily="18" charset="0"/>
              </a:rPr>
              <a:t>Frustrations</a:t>
            </a: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Patients often don’t upload correct health records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App interfaces are cluttered with too many options</a:t>
            </a:r>
          </a:p>
        </p:txBody>
      </p:sp>
    </p:spTree>
    <p:extLst>
      <p:ext uri="{BB962C8B-B14F-4D97-AF65-F5344CB8AC3E}">
        <p14:creationId xmlns:p14="http://schemas.microsoft.com/office/powerpoint/2010/main" val="3817873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BA2D-2F4B-FB87-8E82-359D599C30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79EA6C-C534-9E89-772A-D695B6F5EAAE}"/>
              </a:ext>
            </a:extLst>
          </p:cNvPr>
          <p:cNvSpPr>
            <a:spLocks noGrp="1"/>
          </p:cNvSpPr>
          <p:nvPr>
            <p:ph type="sldNum" sz="quarter" idx="14"/>
          </p:nvPr>
        </p:nvSpPr>
        <p:spPr/>
        <p:txBody>
          <a:bodyPr/>
          <a:lstStyle/>
          <a:p>
            <a:fld id="{45A3C14A-F937-4231-B6F1-40B429FAFB2F}" type="slidenum">
              <a:rPr lang="en-NZ" smtClean="0"/>
              <a:pPr/>
              <a:t>7</a:t>
            </a:fld>
            <a:endParaRPr lang="en-NZ" dirty="0"/>
          </a:p>
        </p:txBody>
      </p:sp>
      <p:sp>
        <p:nvSpPr>
          <p:cNvPr id="3" name="Title 2">
            <a:extLst>
              <a:ext uri="{FF2B5EF4-FFF2-40B4-BE49-F238E27FC236}">
                <a16:creationId xmlns:a16="http://schemas.microsoft.com/office/drawing/2014/main" id="{11EF7528-954A-19C3-9E4D-635F1BC0FB1B}"/>
              </a:ext>
            </a:extLst>
          </p:cNvPr>
          <p:cNvSpPr>
            <a:spLocks noGrp="1"/>
          </p:cNvSpPr>
          <p:nvPr>
            <p:ph type="title"/>
          </p:nvPr>
        </p:nvSpPr>
        <p:spPr>
          <a:xfrm>
            <a:off x="335360" y="260648"/>
            <a:ext cx="6211927" cy="512934"/>
          </a:xfrm>
        </p:spPr>
        <p:txBody>
          <a:bodyPr/>
          <a:lstStyle/>
          <a:p>
            <a:r>
              <a:rPr lang="en-IN" dirty="0"/>
              <a:t>Examples: Aerospace Domain</a:t>
            </a:r>
          </a:p>
        </p:txBody>
      </p:sp>
      <p:sp>
        <p:nvSpPr>
          <p:cNvPr id="10" name="TextBox 9">
            <a:extLst>
              <a:ext uri="{FF2B5EF4-FFF2-40B4-BE49-F238E27FC236}">
                <a16:creationId xmlns:a16="http://schemas.microsoft.com/office/drawing/2014/main" id="{EB93CF4F-C66A-4E54-F8D0-EC08747622E3}"/>
              </a:ext>
            </a:extLst>
          </p:cNvPr>
          <p:cNvSpPr txBox="1"/>
          <p:nvPr/>
        </p:nvSpPr>
        <p:spPr>
          <a:xfrm>
            <a:off x="1487488" y="1235217"/>
            <a:ext cx="9433048" cy="415421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Persona: Captain James Miller</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Age</a:t>
            </a:r>
            <a:r>
              <a:rPr lang="en-US" sz="2400" dirty="0">
                <a:latin typeface="Times New Roman" panose="02020603050405020304" pitchFamily="18" charset="0"/>
                <a:cs typeface="Times New Roman" panose="02020603050405020304" pitchFamily="18" charset="0"/>
              </a:rPr>
              <a:t>: 45</a:t>
            </a:r>
          </a:p>
          <a:p>
            <a:r>
              <a:rPr lang="en-US" sz="2400" b="1" dirty="0">
                <a:latin typeface="Times New Roman" panose="02020603050405020304" pitchFamily="18" charset="0"/>
                <a:cs typeface="Times New Roman" panose="02020603050405020304" pitchFamily="18" charset="0"/>
              </a:rPr>
              <a:t>Role</a:t>
            </a:r>
            <a:r>
              <a:rPr lang="en-US" sz="2400" dirty="0">
                <a:latin typeface="Times New Roman" panose="02020603050405020304" pitchFamily="18" charset="0"/>
                <a:cs typeface="Times New Roman" panose="02020603050405020304" pitchFamily="18" charset="0"/>
              </a:rPr>
              <a:t>: Commercial Airline Pilot (15 years experience)</a:t>
            </a:r>
          </a:p>
          <a:p>
            <a:r>
              <a:rPr lang="en-US" sz="2400" b="1" dirty="0">
                <a:latin typeface="Times New Roman" panose="02020603050405020304" pitchFamily="18" charset="0"/>
                <a:cs typeface="Times New Roman" panose="02020603050405020304" pitchFamily="18" charset="0"/>
              </a:rPr>
              <a:t>Tech Use</a:t>
            </a:r>
            <a:r>
              <a:rPr lang="en-US" sz="2400" dirty="0">
                <a:latin typeface="Times New Roman" panose="02020603050405020304" pitchFamily="18" charset="0"/>
                <a:cs typeface="Times New Roman" panose="02020603050405020304" pitchFamily="18" charset="0"/>
              </a:rPr>
              <a:t>: Cockpit displays, flight management systems</a:t>
            </a:r>
          </a:p>
          <a:p>
            <a:r>
              <a:rPr lang="en-US" sz="2400" b="1" dirty="0">
                <a:latin typeface="Times New Roman" panose="02020603050405020304" pitchFamily="18" charset="0"/>
                <a:cs typeface="Times New Roman" panose="02020603050405020304" pitchFamily="18" charset="0"/>
              </a:rPr>
              <a:t>Goals</a:t>
            </a:r>
            <a:r>
              <a:rPr lang="en-US" sz="2400" dirty="0">
                <a:latin typeface="Times New Roman" panose="02020603050405020304" pitchFamily="18" charset="0"/>
                <a:cs typeface="Times New Roman" panose="02020603050405020304" pitchFamily="18" charset="0"/>
              </a:rPr>
              <a:t>: Respond to alerts quickly, maintain flight safety, reduce cognitive overload</a:t>
            </a:r>
          </a:p>
          <a:p>
            <a:r>
              <a:rPr lang="en-US" sz="2400" b="1" dirty="0">
                <a:latin typeface="Times New Roman" panose="02020603050405020304" pitchFamily="18" charset="0"/>
                <a:cs typeface="Times New Roman" panose="02020603050405020304" pitchFamily="18" charset="0"/>
              </a:rPr>
              <a:t>Frustrations</a:t>
            </a:r>
            <a:r>
              <a:rPr lang="en-US" sz="2400" dirty="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Too many alerts with similar sounds → hard to prioritize in emergencies</a:t>
            </a:r>
          </a:p>
          <a:p>
            <a:pPr lvl="1"/>
            <a:r>
              <a:rPr lang="en-US" sz="2400" dirty="0">
                <a:latin typeface="Times New Roman" panose="02020603050405020304" pitchFamily="18" charset="0"/>
                <a:cs typeface="Times New Roman" panose="02020603050405020304" pitchFamily="18" charset="0"/>
              </a:rPr>
              <a:t>Critical data sometimes buried in menus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2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98608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1ED8-AFE1-6EB0-4D56-2202241946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B5AE3E-DD05-BAA3-59F5-9E00F344A6F7}"/>
              </a:ext>
            </a:extLst>
          </p:cNvPr>
          <p:cNvSpPr>
            <a:spLocks noGrp="1"/>
          </p:cNvSpPr>
          <p:nvPr>
            <p:ph type="sldNum" sz="quarter" idx="14"/>
          </p:nvPr>
        </p:nvSpPr>
        <p:spPr/>
        <p:txBody>
          <a:bodyPr/>
          <a:lstStyle/>
          <a:p>
            <a:fld id="{45A3C14A-F937-4231-B6F1-40B429FAFB2F}" type="slidenum">
              <a:rPr lang="en-NZ" smtClean="0"/>
              <a:pPr/>
              <a:t>8</a:t>
            </a:fld>
            <a:endParaRPr lang="en-NZ" dirty="0"/>
          </a:p>
        </p:txBody>
      </p:sp>
      <p:sp>
        <p:nvSpPr>
          <p:cNvPr id="3" name="Title 2">
            <a:extLst>
              <a:ext uri="{FF2B5EF4-FFF2-40B4-BE49-F238E27FC236}">
                <a16:creationId xmlns:a16="http://schemas.microsoft.com/office/drawing/2014/main" id="{14776A28-0D0A-0DDA-F730-8CA60ADD3046}"/>
              </a:ext>
            </a:extLst>
          </p:cNvPr>
          <p:cNvSpPr>
            <a:spLocks noGrp="1"/>
          </p:cNvSpPr>
          <p:nvPr>
            <p:ph type="title"/>
          </p:nvPr>
        </p:nvSpPr>
        <p:spPr>
          <a:xfrm>
            <a:off x="335360" y="260648"/>
            <a:ext cx="11521280" cy="512934"/>
          </a:xfrm>
        </p:spPr>
        <p:txBody>
          <a:bodyPr/>
          <a:lstStyle/>
          <a:p>
            <a:r>
              <a:rPr lang="en-IN" dirty="0"/>
              <a:t>Examples: </a:t>
            </a:r>
            <a:r>
              <a:rPr lang="en-US" dirty="0"/>
              <a:t>Designing an </a:t>
            </a:r>
            <a:r>
              <a:rPr lang="en-US" i="1" dirty="0"/>
              <a:t>educational game app for children</a:t>
            </a:r>
            <a:endParaRPr lang="en-IN" dirty="0"/>
          </a:p>
        </p:txBody>
      </p:sp>
      <p:sp>
        <p:nvSpPr>
          <p:cNvPr id="10" name="TextBox 9">
            <a:extLst>
              <a:ext uri="{FF2B5EF4-FFF2-40B4-BE49-F238E27FC236}">
                <a16:creationId xmlns:a16="http://schemas.microsoft.com/office/drawing/2014/main" id="{FC9DC0C0-2F7B-DD76-E1C3-261BEDE8407B}"/>
              </a:ext>
            </a:extLst>
          </p:cNvPr>
          <p:cNvSpPr txBox="1"/>
          <p:nvPr/>
        </p:nvSpPr>
        <p:spPr>
          <a:xfrm>
            <a:off x="1379476" y="997950"/>
            <a:ext cx="9433048" cy="4862100"/>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Persona: Aarav</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Age</a:t>
            </a:r>
            <a:r>
              <a:rPr lang="en-US" sz="2600" dirty="0">
                <a:latin typeface="Times New Roman" panose="02020603050405020304" pitchFamily="18" charset="0"/>
                <a:cs typeface="Times New Roman" panose="02020603050405020304" pitchFamily="18" charset="0"/>
              </a:rPr>
              <a:t>: 7</a:t>
            </a:r>
          </a:p>
          <a:p>
            <a:r>
              <a:rPr lang="en-US" sz="2600" b="1" dirty="0">
                <a:latin typeface="Times New Roman" panose="02020603050405020304" pitchFamily="18" charset="0"/>
                <a:cs typeface="Times New Roman" panose="02020603050405020304" pitchFamily="18" charset="0"/>
              </a:rPr>
              <a:t>Role</a:t>
            </a:r>
            <a:r>
              <a:rPr lang="en-US" sz="2600" dirty="0">
                <a:latin typeface="Times New Roman" panose="02020603050405020304" pitchFamily="18" charset="0"/>
                <a:cs typeface="Times New Roman" panose="02020603050405020304" pitchFamily="18" charset="0"/>
              </a:rPr>
              <a:t>: Primary school student</a:t>
            </a:r>
          </a:p>
          <a:p>
            <a:r>
              <a:rPr lang="en-US" sz="2600" b="1" dirty="0">
                <a:latin typeface="Times New Roman" panose="02020603050405020304" pitchFamily="18" charset="0"/>
                <a:cs typeface="Times New Roman" panose="02020603050405020304" pitchFamily="18" charset="0"/>
              </a:rPr>
              <a:t>Tech Use</a:t>
            </a:r>
            <a:r>
              <a:rPr lang="en-US" sz="2600" dirty="0">
                <a:latin typeface="Times New Roman" panose="02020603050405020304" pitchFamily="18" charset="0"/>
                <a:cs typeface="Times New Roman" panose="02020603050405020304" pitchFamily="18" charset="0"/>
              </a:rPr>
              <a:t>: Shared tablet at home, supervised by parents</a:t>
            </a:r>
          </a:p>
          <a:p>
            <a:r>
              <a:rPr lang="en-US" sz="2600" b="1" dirty="0">
                <a:latin typeface="Times New Roman" panose="02020603050405020304" pitchFamily="18" charset="0"/>
                <a:cs typeface="Times New Roman" panose="02020603050405020304" pitchFamily="18" charset="0"/>
              </a:rPr>
              <a:t>Goals</a:t>
            </a:r>
            <a:r>
              <a:rPr lang="en-US" sz="2600" dirty="0">
                <a:latin typeface="Times New Roman" panose="02020603050405020304" pitchFamily="18" charset="0"/>
                <a:cs typeface="Times New Roman" panose="02020603050405020304" pitchFamily="18" charset="0"/>
              </a:rPr>
              <a:t>: Learn math in a fun way, collect rewards/badges, play with friends</a:t>
            </a:r>
          </a:p>
          <a:p>
            <a:r>
              <a:rPr lang="en-US" sz="2600" b="1" dirty="0">
                <a:latin typeface="Times New Roman" panose="02020603050405020304" pitchFamily="18" charset="0"/>
                <a:cs typeface="Times New Roman" panose="02020603050405020304" pitchFamily="18" charset="0"/>
              </a:rPr>
              <a:t>Frustrations</a:t>
            </a:r>
            <a:r>
              <a:rPr lang="en-US" sz="2600" dirty="0">
                <a:latin typeface="Times New Roman" panose="02020603050405020304" pitchFamily="18" charset="0"/>
                <a:cs typeface="Times New Roman" panose="02020603050405020304" pitchFamily="18" charset="0"/>
              </a:rPr>
              <a:t>:</a:t>
            </a:r>
          </a:p>
          <a:p>
            <a:pPr lvl="1"/>
            <a:r>
              <a:rPr lang="en-US" sz="2600" dirty="0">
                <a:latin typeface="Times New Roman" panose="02020603050405020304" pitchFamily="18" charset="0"/>
                <a:cs typeface="Times New Roman" panose="02020603050405020304" pitchFamily="18" charset="0"/>
              </a:rPr>
              <a:t>Gets bored with too much text</a:t>
            </a:r>
          </a:p>
          <a:p>
            <a:pPr lvl="1"/>
            <a:r>
              <a:rPr lang="en-US" sz="2600" dirty="0">
                <a:latin typeface="Times New Roman" panose="02020603050405020304" pitchFamily="18" charset="0"/>
                <a:cs typeface="Times New Roman" panose="02020603050405020304" pitchFamily="18" charset="0"/>
              </a:rPr>
              <a:t>Complex instructions confuse him</a:t>
            </a:r>
          </a:p>
          <a:p>
            <a:r>
              <a:rPr lang="en-US" sz="2600" b="1" dirty="0">
                <a:latin typeface="Times New Roman" panose="02020603050405020304" pitchFamily="18" charset="0"/>
                <a:cs typeface="Times New Roman" panose="02020603050405020304" pitchFamily="18" charset="0"/>
              </a:rPr>
              <a:t>Needs</a:t>
            </a:r>
            <a:r>
              <a:rPr lang="en-US" sz="2600" dirty="0">
                <a:latin typeface="Times New Roman" panose="02020603050405020304" pitchFamily="18" charset="0"/>
                <a:cs typeface="Times New Roman" panose="02020603050405020304" pitchFamily="18" charset="0"/>
              </a:rPr>
              <a:t>: Bright visuals, simple tasks, voice instructions, instant rewards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2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7787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C48271-CC08-FF1F-6BE8-EB9136FAF558}"/>
              </a:ext>
            </a:extLst>
          </p:cNvPr>
          <p:cNvSpPr>
            <a:spLocks noGrp="1"/>
          </p:cNvSpPr>
          <p:nvPr>
            <p:ph type="sldNum" sz="quarter" idx="14"/>
          </p:nvPr>
        </p:nvSpPr>
        <p:spPr/>
        <p:txBody>
          <a:bodyPr/>
          <a:lstStyle/>
          <a:p>
            <a:fld id="{45A3C14A-F937-4231-B6F1-40B429FAFB2F}" type="slidenum">
              <a:rPr lang="en-NZ" smtClean="0"/>
              <a:pPr/>
              <a:t>9</a:t>
            </a:fld>
            <a:endParaRPr lang="en-NZ" dirty="0"/>
          </a:p>
        </p:txBody>
      </p:sp>
      <p:sp>
        <p:nvSpPr>
          <p:cNvPr id="3" name="Title 2">
            <a:extLst>
              <a:ext uri="{FF2B5EF4-FFF2-40B4-BE49-F238E27FC236}">
                <a16:creationId xmlns:a16="http://schemas.microsoft.com/office/drawing/2014/main" id="{1816BA26-965E-551E-7BD5-E51C19EEA6AE}"/>
              </a:ext>
            </a:extLst>
          </p:cNvPr>
          <p:cNvSpPr>
            <a:spLocks noGrp="1"/>
          </p:cNvSpPr>
          <p:nvPr>
            <p:ph type="title"/>
          </p:nvPr>
        </p:nvSpPr>
        <p:spPr>
          <a:xfrm>
            <a:off x="695400" y="395786"/>
            <a:ext cx="6211927" cy="440926"/>
          </a:xfrm>
        </p:spPr>
        <p:txBody>
          <a:bodyPr/>
          <a:lstStyle/>
          <a:p>
            <a:r>
              <a:rPr lang="en-IN" dirty="0"/>
              <a:t>THE PERSONA LIFECYCLE</a:t>
            </a:r>
          </a:p>
        </p:txBody>
      </p:sp>
      <p:sp>
        <p:nvSpPr>
          <p:cNvPr id="4" name="Text Placeholder 3">
            <a:extLst>
              <a:ext uri="{FF2B5EF4-FFF2-40B4-BE49-F238E27FC236}">
                <a16:creationId xmlns:a16="http://schemas.microsoft.com/office/drawing/2014/main" id="{4F0EA08E-5A06-C87C-B8BB-B12039480361}"/>
              </a:ext>
            </a:extLst>
          </p:cNvPr>
          <p:cNvSpPr>
            <a:spLocks noGrp="1"/>
          </p:cNvSpPr>
          <p:nvPr>
            <p:ph type="body" sz="quarter" idx="17"/>
          </p:nvPr>
        </p:nvSpPr>
        <p:spPr>
          <a:xfrm>
            <a:off x="335360" y="861463"/>
            <a:ext cx="11521280" cy="4320480"/>
          </a:xfrm>
        </p:spPr>
        <p:txBody>
          <a:bodyPr/>
          <a:lstStyle/>
          <a:p>
            <a:pPr>
              <a:buFont typeface="Arial" panose="020B0604020202020204" pitchFamily="34" charset="0"/>
              <a:buChar char="•"/>
            </a:pPr>
            <a:r>
              <a:rPr lang="en-US" dirty="0">
                <a:solidFill>
                  <a:schemeClr val="tx1"/>
                </a:solidFill>
              </a:rPr>
              <a:t> The persona lifecycle is a symbolic framework that breaks down persona creation and use into sequential phases that map on to the life stages of human reproduction and development.</a:t>
            </a:r>
          </a:p>
          <a:p>
            <a:pPr marL="0" indent="0">
              <a:buNone/>
            </a:pPr>
            <a:endParaRPr lang="en-US" dirty="0">
              <a:solidFill>
                <a:schemeClr val="tx1"/>
              </a:solidFill>
            </a:endParaRPr>
          </a:p>
          <a:p>
            <a:pPr marL="0" indent="0">
              <a:buNone/>
            </a:pPr>
            <a:r>
              <a:rPr lang="en-US" dirty="0">
                <a:solidFill>
                  <a:schemeClr val="tx1"/>
                </a:solidFill>
              </a:rPr>
              <a:t>This framework is composed of five phases: </a:t>
            </a:r>
          </a:p>
          <a:p>
            <a:pPr marL="893763" indent="0">
              <a:buAutoNum type="arabicParenBoth"/>
            </a:pPr>
            <a:r>
              <a:rPr lang="en-US" dirty="0">
                <a:solidFill>
                  <a:schemeClr val="tx1"/>
                </a:solidFill>
              </a:rPr>
              <a:t>Family Planning</a:t>
            </a:r>
          </a:p>
          <a:p>
            <a:pPr marL="893763" indent="0">
              <a:buNone/>
            </a:pPr>
            <a:r>
              <a:rPr lang="en-US" dirty="0">
                <a:solidFill>
                  <a:schemeClr val="tx1"/>
                </a:solidFill>
              </a:rPr>
              <a:t>(2) Conception &amp; Gestation</a:t>
            </a:r>
          </a:p>
          <a:p>
            <a:pPr marL="893763" indent="0">
              <a:buNone/>
            </a:pPr>
            <a:r>
              <a:rPr lang="en-US" dirty="0">
                <a:solidFill>
                  <a:schemeClr val="tx1"/>
                </a:solidFill>
              </a:rPr>
              <a:t>(3) Birth &amp; Maturation</a:t>
            </a:r>
          </a:p>
          <a:p>
            <a:pPr marL="893763" indent="0">
              <a:buNone/>
            </a:pPr>
            <a:r>
              <a:rPr lang="en-US" dirty="0">
                <a:solidFill>
                  <a:schemeClr val="tx1"/>
                </a:solidFill>
              </a:rPr>
              <a:t>(4) Adulthood</a:t>
            </a:r>
          </a:p>
          <a:p>
            <a:pPr marL="893763" indent="0">
              <a:buNone/>
            </a:pPr>
            <a:r>
              <a:rPr lang="en-US" dirty="0">
                <a:solidFill>
                  <a:schemeClr val="tx1"/>
                </a:solidFill>
              </a:rPr>
              <a:t>(5) Lifetime Achievement &amp; retirement </a:t>
            </a:r>
          </a:p>
        </p:txBody>
      </p:sp>
    </p:spTree>
    <p:extLst>
      <p:ext uri="{BB962C8B-B14F-4D97-AF65-F5344CB8AC3E}">
        <p14:creationId xmlns:p14="http://schemas.microsoft.com/office/powerpoint/2010/main" val="3937894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927E76-2526-9AEB-D6F4-48C9B39BB63F}"/>
              </a:ext>
            </a:extLst>
          </p:cNvPr>
          <p:cNvSpPr>
            <a:spLocks noGrp="1"/>
          </p:cNvSpPr>
          <p:nvPr>
            <p:ph type="sldNum" sz="quarter" idx="14"/>
          </p:nvPr>
        </p:nvSpPr>
        <p:spPr/>
        <p:txBody>
          <a:bodyPr/>
          <a:lstStyle/>
          <a:p>
            <a:fld id="{45A3C14A-F937-4231-B6F1-40B429FAFB2F}" type="slidenum">
              <a:rPr lang="en-NZ" smtClean="0"/>
              <a:pPr/>
              <a:t>10</a:t>
            </a:fld>
            <a:endParaRPr lang="en-NZ" dirty="0"/>
          </a:p>
        </p:txBody>
      </p:sp>
      <p:sp>
        <p:nvSpPr>
          <p:cNvPr id="3" name="Title 2">
            <a:extLst>
              <a:ext uri="{FF2B5EF4-FFF2-40B4-BE49-F238E27FC236}">
                <a16:creationId xmlns:a16="http://schemas.microsoft.com/office/drawing/2014/main" id="{F932C533-B64B-627C-C6B5-F557B5B3660F}"/>
              </a:ext>
            </a:extLst>
          </p:cNvPr>
          <p:cNvSpPr>
            <a:spLocks noGrp="1"/>
          </p:cNvSpPr>
          <p:nvPr>
            <p:ph type="title"/>
          </p:nvPr>
        </p:nvSpPr>
        <p:spPr>
          <a:xfrm>
            <a:off x="0" y="396875"/>
            <a:ext cx="6211927" cy="512934"/>
          </a:xfrm>
        </p:spPr>
        <p:txBody>
          <a:bodyPr/>
          <a:lstStyle/>
          <a:p>
            <a:r>
              <a:rPr lang="en-IN" dirty="0"/>
              <a:t>THE PERSONA LIFECYCLE</a:t>
            </a:r>
          </a:p>
        </p:txBody>
      </p:sp>
      <p:pic>
        <p:nvPicPr>
          <p:cNvPr id="6" name="Picture 5">
            <a:extLst>
              <a:ext uri="{FF2B5EF4-FFF2-40B4-BE49-F238E27FC236}">
                <a16:creationId xmlns:a16="http://schemas.microsoft.com/office/drawing/2014/main" id="{FCC03FB5-30D5-3FCC-906C-E775C2412CFE}"/>
              </a:ext>
            </a:extLst>
          </p:cNvPr>
          <p:cNvPicPr>
            <a:picLocks noChangeAspect="1"/>
          </p:cNvPicPr>
          <p:nvPr/>
        </p:nvPicPr>
        <p:blipFill>
          <a:blip r:embed="rId2"/>
          <a:stretch>
            <a:fillRect/>
          </a:stretch>
        </p:blipFill>
        <p:spPr>
          <a:xfrm>
            <a:off x="1855443" y="1111967"/>
            <a:ext cx="8712968" cy="5551316"/>
          </a:xfrm>
          <a:prstGeom prst="rect">
            <a:avLst/>
          </a:prstGeom>
        </p:spPr>
      </p:pic>
      <p:sp>
        <p:nvSpPr>
          <p:cNvPr id="5" name="TextBox 4">
            <a:extLst>
              <a:ext uri="{FF2B5EF4-FFF2-40B4-BE49-F238E27FC236}">
                <a16:creationId xmlns:a16="http://schemas.microsoft.com/office/drawing/2014/main" id="{0C61D1AF-7479-D444-6ED7-32FCC58E68C2}"/>
              </a:ext>
            </a:extLst>
          </p:cNvPr>
          <p:cNvSpPr txBox="1"/>
          <p:nvPr/>
        </p:nvSpPr>
        <p:spPr>
          <a:xfrm>
            <a:off x="453686" y="909809"/>
            <a:ext cx="11186930" cy="769441"/>
          </a:xfrm>
          <a:prstGeom prst="rect">
            <a:avLst/>
          </a:prstGeom>
          <a:noFill/>
        </p:spPr>
        <p:txBody>
          <a:bodyPr wrap="square">
            <a:spAutoFit/>
          </a:bodyPr>
          <a:lstStyle/>
          <a:p>
            <a:r>
              <a:rPr lang="en-US" sz="2200" dirty="0"/>
              <a:t>This Persona Lifecycle framework is from user-centered design research, where personas are treated like “living entities” that go through stages, just like humans do.</a:t>
            </a:r>
            <a:endParaRPr lang="en-IN" sz="2200" dirty="0"/>
          </a:p>
        </p:txBody>
      </p:sp>
    </p:spTree>
    <p:extLst>
      <p:ext uri="{BB962C8B-B14F-4D97-AF65-F5344CB8AC3E}">
        <p14:creationId xmlns:p14="http://schemas.microsoft.com/office/powerpoint/2010/main" val="2910312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C8542A-F487-3475-F8A1-43528A2F3CF1}"/>
              </a:ext>
            </a:extLst>
          </p:cNvPr>
          <p:cNvSpPr>
            <a:spLocks noGrp="1"/>
          </p:cNvSpPr>
          <p:nvPr>
            <p:ph type="sldNum" sz="quarter" idx="14"/>
          </p:nvPr>
        </p:nvSpPr>
        <p:spPr/>
        <p:txBody>
          <a:bodyPr/>
          <a:lstStyle/>
          <a:p>
            <a:fld id="{45A3C14A-F937-4231-B6F1-40B429FAFB2F}" type="slidenum">
              <a:rPr lang="en-NZ" smtClean="0"/>
              <a:pPr/>
              <a:t>11</a:t>
            </a:fld>
            <a:endParaRPr lang="en-NZ" dirty="0"/>
          </a:p>
        </p:txBody>
      </p:sp>
      <p:sp>
        <p:nvSpPr>
          <p:cNvPr id="3" name="Title 2">
            <a:extLst>
              <a:ext uri="{FF2B5EF4-FFF2-40B4-BE49-F238E27FC236}">
                <a16:creationId xmlns:a16="http://schemas.microsoft.com/office/drawing/2014/main" id="{646FC2BC-30B1-CE81-031F-EF978D671F46}"/>
              </a:ext>
            </a:extLst>
          </p:cNvPr>
          <p:cNvSpPr>
            <a:spLocks noGrp="1"/>
          </p:cNvSpPr>
          <p:nvPr>
            <p:ph type="title"/>
          </p:nvPr>
        </p:nvSpPr>
        <p:spPr/>
        <p:txBody>
          <a:bodyPr/>
          <a:lstStyle/>
          <a:p>
            <a:r>
              <a:rPr lang="en-IN" dirty="0"/>
              <a:t>MAKING PERSONAS PRACTICAL</a:t>
            </a:r>
          </a:p>
        </p:txBody>
      </p:sp>
      <p:sp>
        <p:nvSpPr>
          <p:cNvPr id="4" name="Text Placeholder 3">
            <a:extLst>
              <a:ext uri="{FF2B5EF4-FFF2-40B4-BE49-F238E27FC236}">
                <a16:creationId xmlns:a16="http://schemas.microsoft.com/office/drawing/2014/main" id="{9ACF056F-28A6-FE59-1706-2B35493DA729}"/>
              </a:ext>
            </a:extLst>
          </p:cNvPr>
          <p:cNvSpPr>
            <a:spLocks noGrp="1"/>
          </p:cNvSpPr>
          <p:nvPr>
            <p:ph type="body" sz="quarter" idx="17"/>
          </p:nvPr>
        </p:nvSpPr>
        <p:spPr/>
        <p:txBody>
          <a:bodyPr/>
          <a:lstStyle/>
          <a:p>
            <a:pPr algn="just"/>
            <a:r>
              <a:rPr lang="en-US" dirty="0"/>
              <a:t>When the first started talking to persona practitioners in 2000, it is noticed that many people in the UCD community could see the value of personas in their own work and to their organizations. </a:t>
            </a:r>
          </a:p>
          <a:p>
            <a:pPr algn="just"/>
            <a:r>
              <a:rPr lang="en-US" dirty="0"/>
              <a:t>Those that tried to create and use personas, however, were running into a somewhat consistent set of problems in their persona efforts. </a:t>
            </a:r>
          </a:p>
          <a:p>
            <a:pPr algn="just"/>
            <a:r>
              <a:rPr lang="en-US" dirty="0"/>
              <a:t>While the idea of creating a set of target users is reasonably straightforward, the </a:t>
            </a:r>
            <a:r>
              <a:rPr lang="en-US" dirty="0">
                <a:solidFill>
                  <a:srgbClr val="FF0000"/>
                </a:solidFill>
              </a:rPr>
              <a:t>actual process to create and use personas can be quite complex</a:t>
            </a:r>
            <a:r>
              <a:rPr lang="en-US" dirty="0"/>
              <a:t>.</a:t>
            </a:r>
          </a:p>
        </p:txBody>
      </p:sp>
    </p:spTree>
    <p:extLst>
      <p:ext uri="{BB962C8B-B14F-4D97-AF65-F5344CB8AC3E}">
        <p14:creationId xmlns:p14="http://schemas.microsoft.com/office/powerpoint/2010/main" val="209285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887C-6CD0-6DEB-FD6D-2BA119AAC8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D943B8-0BD8-1FFF-6DA6-6BCEF6011368}"/>
              </a:ext>
            </a:extLst>
          </p:cNvPr>
          <p:cNvSpPr>
            <a:spLocks noGrp="1"/>
          </p:cNvSpPr>
          <p:nvPr>
            <p:ph type="sldNum" sz="quarter" idx="14"/>
          </p:nvPr>
        </p:nvSpPr>
        <p:spPr/>
        <p:txBody>
          <a:bodyPr/>
          <a:lstStyle/>
          <a:p>
            <a:fld id="{45A3C14A-F937-4231-B6F1-40B429FAFB2F}" type="slidenum">
              <a:rPr lang="en-NZ" smtClean="0"/>
              <a:pPr/>
              <a:t>12</a:t>
            </a:fld>
            <a:endParaRPr lang="en-NZ" dirty="0"/>
          </a:p>
        </p:txBody>
      </p:sp>
      <p:sp>
        <p:nvSpPr>
          <p:cNvPr id="3" name="Title 2">
            <a:extLst>
              <a:ext uri="{FF2B5EF4-FFF2-40B4-BE49-F238E27FC236}">
                <a16:creationId xmlns:a16="http://schemas.microsoft.com/office/drawing/2014/main" id="{AA30DCB1-C315-124F-EF20-F8C30FA0B350}"/>
              </a:ext>
            </a:extLst>
          </p:cNvPr>
          <p:cNvSpPr>
            <a:spLocks noGrp="1"/>
          </p:cNvSpPr>
          <p:nvPr>
            <p:ph type="title"/>
          </p:nvPr>
        </p:nvSpPr>
        <p:spPr/>
        <p:txBody>
          <a:bodyPr/>
          <a:lstStyle/>
          <a:p>
            <a:r>
              <a:rPr lang="en-IN" dirty="0"/>
              <a:t>MAKING PERSONAS PRACTICAL</a:t>
            </a:r>
          </a:p>
        </p:txBody>
      </p:sp>
      <p:sp>
        <p:nvSpPr>
          <p:cNvPr id="4" name="Text Placeholder 3">
            <a:extLst>
              <a:ext uri="{FF2B5EF4-FFF2-40B4-BE49-F238E27FC236}">
                <a16:creationId xmlns:a16="http://schemas.microsoft.com/office/drawing/2014/main" id="{FD3FD9DC-3EFB-7CFB-1B74-60E50DF04E7B}"/>
              </a:ext>
            </a:extLst>
          </p:cNvPr>
          <p:cNvSpPr>
            <a:spLocks noGrp="1"/>
          </p:cNvSpPr>
          <p:nvPr>
            <p:ph type="body" sz="quarter" idx="17"/>
          </p:nvPr>
        </p:nvSpPr>
        <p:spPr/>
        <p:txBody>
          <a:bodyPr/>
          <a:lstStyle/>
          <a:p>
            <a:pPr algn="just"/>
            <a:r>
              <a:rPr lang="en-US" dirty="0"/>
              <a:t>Many of the same questions repeatedly:</a:t>
            </a:r>
          </a:p>
          <a:p>
            <a:pPr lvl="1" algn="just"/>
            <a:r>
              <a:rPr lang="en-US" dirty="0"/>
              <a:t>How do you decide whether personas are the right thing to do in your organization?</a:t>
            </a:r>
          </a:p>
          <a:p>
            <a:pPr lvl="1" algn="just"/>
            <a:r>
              <a:rPr lang="en-US" dirty="0"/>
              <a:t>How do you incorporate data into personas? What kinds of data work?</a:t>
            </a:r>
          </a:p>
          <a:p>
            <a:pPr lvl="1" algn="just"/>
            <a:r>
              <a:rPr lang="en-US" dirty="0"/>
              <a:t>How do you know if personas are worth the effort it takes to create them?</a:t>
            </a:r>
          </a:p>
          <a:p>
            <a:pPr lvl="1" algn="just"/>
            <a:r>
              <a:rPr lang="en-US" dirty="0"/>
              <a:t>How do you communicate personas once they are created?</a:t>
            </a:r>
          </a:p>
          <a:p>
            <a:pPr lvl="1" algn="just"/>
            <a:r>
              <a:rPr lang="en-US" dirty="0"/>
              <a:t>How do you use personas to design great products?</a:t>
            </a:r>
          </a:p>
          <a:p>
            <a:pPr lvl="1" algn="just"/>
            <a:r>
              <a:rPr lang="en-US" dirty="0"/>
              <a:t>What do you do with personas once a project is finished? Can you reuse personas?</a:t>
            </a:r>
            <a:endParaRPr lang="en-IN" dirty="0"/>
          </a:p>
          <a:p>
            <a:pPr algn="just"/>
            <a:endParaRPr lang="en-US" dirty="0"/>
          </a:p>
        </p:txBody>
      </p:sp>
    </p:spTree>
    <p:extLst>
      <p:ext uri="{BB962C8B-B14F-4D97-AF65-F5344CB8AC3E}">
        <p14:creationId xmlns:p14="http://schemas.microsoft.com/office/powerpoint/2010/main" val="878055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C6A984-7C3B-A244-36B0-CBD7D36E731A}"/>
              </a:ext>
            </a:extLst>
          </p:cNvPr>
          <p:cNvSpPr>
            <a:spLocks noGrp="1"/>
          </p:cNvSpPr>
          <p:nvPr>
            <p:ph type="sldNum" sz="quarter" idx="14"/>
          </p:nvPr>
        </p:nvSpPr>
        <p:spPr/>
        <p:txBody>
          <a:bodyPr/>
          <a:lstStyle/>
          <a:p>
            <a:fld id="{45A3C14A-F937-4231-B6F1-40B429FAFB2F}" type="slidenum">
              <a:rPr lang="en-NZ" smtClean="0"/>
              <a:pPr/>
              <a:t>13</a:t>
            </a:fld>
            <a:endParaRPr lang="en-NZ" dirty="0"/>
          </a:p>
        </p:txBody>
      </p:sp>
      <p:sp>
        <p:nvSpPr>
          <p:cNvPr id="3" name="Title 2">
            <a:extLst>
              <a:ext uri="{FF2B5EF4-FFF2-40B4-BE49-F238E27FC236}">
                <a16:creationId xmlns:a16="http://schemas.microsoft.com/office/drawing/2014/main" id="{A9F70EA9-59CB-C192-5ABE-A52621300F05}"/>
              </a:ext>
            </a:extLst>
          </p:cNvPr>
          <p:cNvSpPr>
            <a:spLocks noGrp="1"/>
          </p:cNvSpPr>
          <p:nvPr>
            <p:ph type="title"/>
          </p:nvPr>
        </p:nvSpPr>
        <p:spPr/>
        <p:txBody>
          <a:bodyPr/>
          <a:lstStyle/>
          <a:p>
            <a:r>
              <a:rPr lang="en-IN" dirty="0"/>
              <a:t>MAKING PERSONAS PRACTICAL</a:t>
            </a:r>
          </a:p>
        </p:txBody>
      </p:sp>
      <p:sp>
        <p:nvSpPr>
          <p:cNvPr id="4" name="Text Placeholder 3">
            <a:extLst>
              <a:ext uri="{FF2B5EF4-FFF2-40B4-BE49-F238E27FC236}">
                <a16:creationId xmlns:a16="http://schemas.microsoft.com/office/drawing/2014/main" id="{C6B0F96B-CAA3-CD0B-EF91-7F07C459E288}"/>
              </a:ext>
            </a:extLst>
          </p:cNvPr>
          <p:cNvSpPr>
            <a:spLocks noGrp="1"/>
          </p:cNvSpPr>
          <p:nvPr>
            <p:ph type="body" sz="quarter" idx="17"/>
          </p:nvPr>
        </p:nvSpPr>
        <p:spPr/>
        <p:txBody>
          <a:bodyPr/>
          <a:lstStyle/>
          <a:p>
            <a:r>
              <a:rPr lang="en-US" dirty="0"/>
              <a:t>Those that were able to create </a:t>
            </a:r>
            <a:r>
              <a:rPr lang="en-US" dirty="0" err="1"/>
              <a:t>datadriven</a:t>
            </a:r>
            <a:r>
              <a:rPr lang="en-US" dirty="0"/>
              <a:t> personas were finding that, if they are not well communicated and managed, even well-crafted personas are easy for designers and developers to ignore. </a:t>
            </a:r>
          </a:p>
          <a:p>
            <a:r>
              <a:rPr lang="en-US" dirty="0"/>
              <a:t>At worst, poorly executed persona efforts yield no increase in user-focus and leach time and resources from other UCD techniques and other methods that can improve product quality. </a:t>
            </a:r>
            <a:endParaRPr lang="en-IN" dirty="0"/>
          </a:p>
        </p:txBody>
      </p:sp>
    </p:spTree>
    <p:extLst>
      <p:ext uri="{BB962C8B-B14F-4D97-AF65-F5344CB8AC3E}">
        <p14:creationId xmlns:p14="http://schemas.microsoft.com/office/powerpoint/2010/main" val="2344262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7853-3B55-8D58-47A4-1BF51568D5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7D6466-0D6B-FC44-666D-B625A57F90F1}"/>
              </a:ext>
            </a:extLst>
          </p:cNvPr>
          <p:cNvSpPr>
            <a:spLocks noGrp="1"/>
          </p:cNvSpPr>
          <p:nvPr>
            <p:ph type="sldNum" sz="quarter" idx="14"/>
          </p:nvPr>
        </p:nvSpPr>
        <p:spPr/>
        <p:txBody>
          <a:bodyPr/>
          <a:lstStyle/>
          <a:p>
            <a:fld id="{45A3C14A-F937-4231-B6F1-40B429FAFB2F}" type="slidenum">
              <a:rPr lang="en-NZ" smtClean="0"/>
              <a:pPr/>
              <a:t>14</a:t>
            </a:fld>
            <a:endParaRPr lang="en-NZ" dirty="0"/>
          </a:p>
        </p:txBody>
      </p:sp>
      <p:sp>
        <p:nvSpPr>
          <p:cNvPr id="3" name="Title 2">
            <a:extLst>
              <a:ext uri="{FF2B5EF4-FFF2-40B4-BE49-F238E27FC236}">
                <a16:creationId xmlns:a16="http://schemas.microsoft.com/office/drawing/2014/main" id="{DEBE4A6D-C93B-58D6-21CA-450363C7B06E}"/>
              </a:ext>
            </a:extLst>
          </p:cNvPr>
          <p:cNvSpPr>
            <a:spLocks noGrp="1"/>
          </p:cNvSpPr>
          <p:nvPr>
            <p:ph type="title"/>
          </p:nvPr>
        </p:nvSpPr>
        <p:spPr/>
        <p:txBody>
          <a:bodyPr/>
          <a:lstStyle/>
          <a:p>
            <a:r>
              <a:rPr lang="en-IN" dirty="0"/>
              <a:t>MAKING PERSONAS PRACTICAL</a:t>
            </a:r>
          </a:p>
        </p:txBody>
      </p:sp>
      <p:sp>
        <p:nvSpPr>
          <p:cNvPr id="4" name="Text Placeholder 3">
            <a:extLst>
              <a:ext uri="{FF2B5EF4-FFF2-40B4-BE49-F238E27FC236}">
                <a16:creationId xmlns:a16="http://schemas.microsoft.com/office/drawing/2014/main" id="{2F84EF85-53F4-7D19-D305-3941322A2C8F}"/>
              </a:ext>
            </a:extLst>
          </p:cNvPr>
          <p:cNvSpPr>
            <a:spLocks noGrp="1"/>
          </p:cNvSpPr>
          <p:nvPr>
            <p:ph type="body" sz="quarter" idx="17"/>
          </p:nvPr>
        </p:nvSpPr>
        <p:spPr/>
        <p:txBody>
          <a:bodyPr/>
          <a:lstStyle/>
          <a:p>
            <a:r>
              <a:rPr lang="en-US" dirty="0"/>
              <a:t>It is found four common reasons for the failure of persona efforts:</a:t>
            </a:r>
          </a:p>
          <a:p>
            <a:pPr lvl="1" algn="just"/>
            <a:r>
              <a:rPr lang="en-US" dirty="0"/>
              <a:t>The effort was not accepted or supported by the leadership team,</a:t>
            </a:r>
          </a:p>
          <a:p>
            <a:pPr lvl="1"/>
            <a:r>
              <a:rPr lang="en-US" dirty="0"/>
              <a:t>The personas were not credible and not associated with methodological rigor and/or data,</a:t>
            </a:r>
          </a:p>
          <a:p>
            <a:pPr lvl="1"/>
            <a:r>
              <a:rPr lang="en-US" dirty="0"/>
              <a:t>The personas, and the techniques for using personas, were not well communicated,</a:t>
            </a:r>
          </a:p>
          <a:p>
            <a:pPr lvl="1"/>
            <a:r>
              <a:rPr lang="en-US" dirty="0"/>
              <a:t>The product design and development team did not understand how to use the personas. </a:t>
            </a:r>
          </a:p>
          <a:p>
            <a:pPr algn="just"/>
            <a:r>
              <a:rPr lang="en-US" dirty="0"/>
              <a:t>Once we fully understood the questions and common causes of failure, it is focused our attention on finding solutions based on the input and insights of dozens of persona practitioners</a:t>
            </a:r>
            <a:endParaRPr lang="en-IN" dirty="0"/>
          </a:p>
        </p:txBody>
      </p:sp>
    </p:spTree>
    <p:extLst>
      <p:ext uri="{BB962C8B-B14F-4D97-AF65-F5344CB8AC3E}">
        <p14:creationId xmlns:p14="http://schemas.microsoft.com/office/powerpoint/2010/main" val="996515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8E6029-2559-E8FD-D131-08731B359247}"/>
              </a:ext>
            </a:extLst>
          </p:cNvPr>
          <p:cNvSpPr>
            <a:spLocks noGrp="1"/>
          </p:cNvSpPr>
          <p:nvPr>
            <p:ph type="sldNum" sz="quarter" idx="14"/>
          </p:nvPr>
        </p:nvSpPr>
        <p:spPr/>
        <p:txBody>
          <a:bodyPr/>
          <a:lstStyle/>
          <a:p>
            <a:fld id="{45A3C14A-F937-4231-B6F1-40B429FAFB2F}" type="slidenum">
              <a:rPr lang="en-NZ" smtClean="0"/>
              <a:pPr/>
              <a:t>15</a:t>
            </a:fld>
            <a:endParaRPr lang="en-NZ" dirty="0"/>
          </a:p>
        </p:txBody>
      </p:sp>
      <p:sp>
        <p:nvSpPr>
          <p:cNvPr id="3" name="Title 2">
            <a:extLst>
              <a:ext uri="{FF2B5EF4-FFF2-40B4-BE49-F238E27FC236}">
                <a16:creationId xmlns:a16="http://schemas.microsoft.com/office/drawing/2014/main" id="{C46432DA-998D-CC46-DE55-DA9F76589AAC}"/>
              </a:ext>
            </a:extLst>
          </p:cNvPr>
          <p:cNvSpPr>
            <a:spLocks noGrp="1"/>
          </p:cNvSpPr>
          <p:nvPr>
            <p:ph type="title"/>
          </p:nvPr>
        </p:nvSpPr>
        <p:spPr>
          <a:xfrm>
            <a:off x="407368" y="188640"/>
            <a:ext cx="9001000" cy="510230"/>
          </a:xfrm>
        </p:spPr>
        <p:txBody>
          <a:bodyPr/>
          <a:lstStyle/>
          <a:p>
            <a:r>
              <a:rPr lang="en-IN" dirty="0"/>
              <a:t>Prototyping Tools and Techniques</a:t>
            </a:r>
          </a:p>
        </p:txBody>
      </p:sp>
      <p:sp>
        <p:nvSpPr>
          <p:cNvPr id="4" name="Text Placeholder 3">
            <a:extLst>
              <a:ext uri="{FF2B5EF4-FFF2-40B4-BE49-F238E27FC236}">
                <a16:creationId xmlns:a16="http://schemas.microsoft.com/office/drawing/2014/main" id="{84673799-C689-C640-FCCA-E5FBFBD187C9}"/>
              </a:ext>
            </a:extLst>
          </p:cNvPr>
          <p:cNvSpPr>
            <a:spLocks noGrp="1"/>
          </p:cNvSpPr>
          <p:nvPr>
            <p:ph type="body" sz="quarter" idx="17"/>
          </p:nvPr>
        </p:nvSpPr>
        <p:spPr>
          <a:xfrm>
            <a:off x="407368" y="1052736"/>
            <a:ext cx="11377264" cy="4320480"/>
          </a:xfrm>
        </p:spPr>
        <p:txBody>
          <a:bodyPr/>
          <a:lstStyle/>
          <a:p>
            <a:pPr>
              <a:buFont typeface="Wingdings" panose="05000000000000000000" pitchFamily="2" charset="2"/>
              <a:buChar char="§"/>
            </a:pPr>
            <a:r>
              <a:rPr lang="en-US" dirty="0">
                <a:solidFill>
                  <a:schemeClr val="tx1"/>
                </a:solidFill>
              </a:rPr>
              <a:t>A prototype is an early model or mock-up of a product that demonstrates its functionality, layout, or interaction flow. </a:t>
            </a:r>
          </a:p>
          <a:p>
            <a:pPr>
              <a:buFont typeface="Wingdings" panose="05000000000000000000" pitchFamily="2" charset="2"/>
              <a:buChar char="§"/>
            </a:pPr>
            <a:r>
              <a:rPr lang="en-US" dirty="0">
                <a:solidFill>
                  <a:schemeClr val="tx1"/>
                </a:solidFill>
              </a:rPr>
              <a:t>A prototype is a tangible artifact, not an abstract description that requires interpretation. </a:t>
            </a:r>
          </a:p>
        </p:txBody>
      </p:sp>
      <p:graphicFrame>
        <p:nvGraphicFramePr>
          <p:cNvPr id="11" name="Table 10">
            <a:extLst>
              <a:ext uri="{FF2B5EF4-FFF2-40B4-BE49-F238E27FC236}">
                <a16:creationId xmlns:a16="http://schemas.microsoft.com/office/drawing/2014/main" id="{3CF56293-79A2-E449-AE2E-3417482BA5BB}"/>
              </a:ext>
            </a:extLst>
          </p:cNvPr>
          <p:cNvGraphicFramePr>
            <a:graphicFrameLocks noGrp="1"/>
          </p:cNvGraphicFramePr>
          <p:nvPr>
            <p:extLst>
              <p:ext uri="{D42A27DB-BD31-4B8C-83A1-F6EECF244321}">
                <p14:modId xmlns:p14="http://schemas.microsoft.com/office/powerpoint/2010/main" val="601167476"/>
              </p:ext>
            </p:extLst>
          </p:nvPr>
        </p:nvGraphicFramePr>
        <p:xfrm>
          <a:off x="767408" y="2708920"/>
          <a:ext cx="11017223" cy="4199012"/>
        </p:xfrm>
        <a:graphic>
          <a:graphicData uri="http://schemas.openxmlformats.org/drawingml/2006/table">
            <a:tbl>
              <a:tblPr/>
              <a:tblGrid>
                <a:gridCol w="412873">
                  <a:extLst>
                    <a:ext uri="{9D8B030D-6E8A-4147-A177-3AD203B41FA5}">
                      <a16:colId xmlns:a16="http://schemas.microsoft.com/office/drawing/2014/main" val="1021571343"/>
                    </a:ext>
                  </a:extLst>
                </a:gridCol>
                <a:gridCol w="4987727">
                  <a:extLst>
                    <a:ext uri="{9D8B030D-6E8A-4147-A177-3AD203B41FA5}">
                      <a16:colId xmlns:a16="http://schemas.microsoft.com/office/drawing/2014/main" val="995185760"/>
                    </a:ext>
                  </a:extLst>
                </a:gridCol>
                <a:gridCol w="521802">
                  <a:extLst>
                    <a:ext uri="{9D8B030D-6E8A-4147-A177-3AD203B41FA5}">
                      <a16:colId xmlns:a16="http://schemas.microsoft.com/office/drawing/2014/main" val="3122551931"/>
                    </a:ext>
                  </a:extLst>
                </a:gridCol>
                <a:gridCol w="4980241">
                  <a:extLst>
                    <a:ext uri="{9D8B030D-6E8A-4147-A177-3AD203B41FA5}">
                      <a16:colId xmlns:a16="http://schemas.microsoft.com/office/drawing/2014/main" val="925616534"/>
                    </a:ext>
                  </a:extLst>
                </a:gridCol>
                <a:gridCol w="114580">
                  <a:extLst>
                    <a:ext uri="{9D8B030D-6E8A-4147-A177-3AD203B41FA5}">
                      <a16:colId xmlns:a16="http://schemas.microsoft.com/office/drawing/2014/main" val="3860352239"/>
                    </a:ext>
                  </a:extLst>
                </a:gridCol>
              </a:tblGrid>
              <a:tr h="174202">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a:txBody>
                    <a:bodyPr/>
                    <a:lstStyle/>
                    <a:p>
                      <a:pPr>
                        <a:lnSpc>
                          <a:spcPct val="107000"/>
                        </a:lnSpc>
                        <a:spcAft>
                          <a:spcPts val="800"/>
                        </a:spcAft>
                        <a:buNone/>
                      </a:pPr>
                      <a:r>
                        <a:rPr lang="en-IN" sz="2200" b="1" kern="100">
                          <a:effectLst/>
                          <a:latin typeface="Aptos" panose="020B0004020202020204" pitchFamily="34" charset="0"/>
                          <a:ea typeface="Aptos" panose="020B0004020202020204" pitchFamily="34" charset="0"/>
                          <a:cs typeface="Times New Roman" panose="02020603050405020304" pitchFamily="18" charset="0"/>
                        </a:rPr>
                        <a:t>Low-Fidelity Tools</a:t>
                      </a:r>
                      <a:endParaRPr lang="en-IN" sz="2200" kern="10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gridSpan="2">
                  <a:txBody>
                    <a:bodyPr/>
                    <a:lstStyle/>
                    <a:p>
                      <a:pPr>
                        <a:lnSpc>
                          <a:spcPct val="107000"/>
                        </a:lnSpc>
                        <a:spcAft>
                          <a:spcPts val="800"/>
                        </a:spcAft>
                        <a:buNone/>
                      </a:pPr>
                      <a:r>
                        <a:rPr lang="en-IN" sz="2200" b="1" kern="100">
                          <a:effectLst/>
                          <a:latin typeface="Aptos" panose="020B0004020202020204" pitchFamily="34" charset="0"/>
                          <a:ea typeface="Aptos" panose="020B0004020202020204" pitchFamily="34" charset="0"/>
                          <a:cs typeface="Times New Roman" panose="02020603050405020304" pitchFamily="18" charset="0"/>
                        </a:rPr>
                        <a:t>High-Fidelity Tools</a:t>
                      </a:r>
                      <a:endParaRPr lang="en-IN" sz="2200" kern="10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hMerge="1">
                  <a:txBody>
                    <a:bodyPr/>
                    <a:lstStyle/>
                    <a:p>
                      <a:endParaRPr lang="en-IN"/>
                    </a:p>
                  </a:txBody>
                  <a:tcPr>
                    <a:lnL w="12700" cmpd="sng">
                      <a:noFill/>
                      <a:prstDash val="solid"/>
                    </a:lnL>
                  </a:tcPr>
                </a:tc>
                <a:tc>
                  <a:txBody>
                    <a:bodyPr/>
                    <a:lstStyle/>
                    <a:p>
                      <a:pPr>
                        <a:lnSpc>
                          <a:spcPct val="107000"/>
                        </a:lnSpc>
                        <a:spcAft>
                          <a:spcPts val="800"/>
                        </a:spcAft>
                        <a:buNone/>
                      </a:pPr>
                      <a:r>
                        <a:rPr lang="en-IN" sz="900" kern="100">
                          <a:effectLst/>
                          <a:latin typeface="Aptos" panose="020B0004020202020204" pitchFamily="34" charset="0"/>
                          <a:ea typeface="Aptos" panose="020B0004020202020204" pitchFamily="34" charset="0"/>
                          <a:cs typeface="Times New Roman" panose="02020603050405020304" pitchFamily="18" charset="0"/>
                        </a:rPr>
                        <a:t> </a:t>
                      </a:r>
                      <a:endParaRPr lang="en-IN"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4113714035"/>
                  </a:ext>
                </a:extLst>
              </a:tr>
              <a:tr h="32727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a:txBody>
                    <a:bodyPr/>
                    <a:lstStyle/>
                    <a:p>
                      <a:pPr>
                        <a:lnSpc>
                          <a:spcPct val="107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Simple, rough, inexpensive tools for quick idea exploration.</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gridSpan="2">
                  <a:txBody>
                    <a:bodyPr/>
                    <a:lstStyle/>
                    <a:p>
                      <a:pPr>
                        <a:lnSpc>
                          <a:spcPct val="107000"/>
                        </a:lnSpc>
                        <a:spcAft>
                          <a:spcPts val="800"/>
                        </a:spcAft>
                        <a:buNone/>
                      </a:pPr>
                      <a:r>
                        <a:rPr lang="en-US" sz="2200" kern="100">
                          <a:effectLst/>
                          <a:latin typeface="Aptos" panose="020B0004020202020204" pitchFamily="34" charset="0"/>
                          <a:ea typeface="Aptos" panose="020B0004020202020204" pitchFamily="34" charset="0"/>
                          <a:cs typeface="Times New Roman" panose="02020603050405020304" pitchFamily="18" charset="0"/>
                        </a:rPr>
                        <a:t>Advanced, polished, and interactive tools that closely resemble the final product.</a:t>
                      </a:r>
                      <a:endParaRPr lang="en-IN" sz="2200" kern="10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hMerge="1">
                  <a:txBody>
                    <a:bodyPr/>
                    <a:lstStyle/>
                    <a:p>
                      <a:endParaRPr lang="en-IN"/>
                    </a:p>
                  </a:txBody>
                  <a:tcPr>
                    <a:lnL w="12700" cmpd="sng">
                      <a:noFill/>
                      <a:prstDash val="solid"/>
                    </a:lnL>
                  </a:tcPr>
                </a:tc>
                <a:tc>
                  <a:txBody>
                    <a:bodyPr/>
                    <a:lstStyle/>
                    <a:p>
                      <a:pPr>
                        <a:lnSpc>
                          <a:spcPct val="107000"/>
                        </a:lnSpc>
                        <a:spcAft>
                          <a:spcPts val="800"/>
                        </a:spcAft>
                        <a:buNone/>
                      </a:pPr>
                      <a:r>
                        <a:rPr lang="en-IN" sz="900" kern="100">
                          <a:effectLst/>
                          <a:latin typeface="Aptos" panose="020B0004020202020204" pitchFamily="34" charset="0"/>
                          <a:ea typeface="Aptos" panose="020B0004020202020204" pitchFamily="34" charset="0"/>
                          <a:cs typeface="Times New Roman" panose="02020603050405020304" pitchFamily="18" charset="0"/>
                        </a:rPr>
                        <a:t> </a:t>
                      </a:r>
                      <a:endParaRPr lang="en-IN"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35712450"/>
                  </a:ext>
                </a:extLst>
              </a:tr>
              <a:tr h="32727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a:txBody>
                    <a:bodyPr/>
                    <a:lstStyle/>
                    <a:p>
                      <a:pPr>
                        <a:lnSpc>
                          <a:spcPct val="107000"/>
                        </a:lnSpc>
                        <a:spcAft>
                          <a:spcPts val="800"/>
                        </a:spcAft>
                        <a:buNone/>
                      </a:pP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Early brainstorming, exploring concepts, checking basic structure and flow.</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gridSpan="2">
                  <a:txBody>
                    <a:bodyPr/>
                    <a:lstStyle/>
                    <a:p>
                      <a:pPr>
                        <a:lnSpc>
                          <a:spcPct val="107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Testing usability, visual design, and interactions with stakeholders or end users.</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hMerge="1">
                  <a:txBody>
                    <a:bodyPr/>
                    <a:lstStyle/>
                    <a:p>
                      <a:endParaRPr lang="en-IN"/>
                    </a:p>
                  </a:txBody>
                  <a:tcPr>
                    <a:lnL w="12700" cmpd="sng">
                      <a:noFill/>
                      <a:prstDash val="solid"/>
                    </a:lnL>
                  </a:tcPr>
                </a:tc>
                <a:tc>
                  <a:txBody>
                    <a:bodyPr/>
                    <a:lstStyle/>
                    <a:p>
                      <a:pPr>
                        <a:lnSpc>
                          <a:spcPct val="107000"/>
                        </a:lnSpc>
                        <a:spcAft>
                          <a:spcPts val="800"/>
                        </a:spcAft>
                        <a:buNone/>
                      </a:pPr>
                      <a:r>
                        <a:rPr lang="en-IN" sz="900" kern="100">
                          <a:effectLst/>
                          <a:latin typeface="Aptos" panose="020B0004020202020204" pitchFamily="34" charset="0"/>
                          <a:ea typeface="Aptos" panose="020B0004020202020204" pitchFamily="34" charset="0"/>
                          <a:cs typeface="Times New Roman" panose="02020603050405020304" pitchFamily="18" charset="0"/>
                        </a:rPr>
                        <a:t> </a:t>
                      </a:r>
                      <a:endParaRPr lang="en-IN"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L>
                      <a:noFill/>
                    </a:lnL>
                    <a:lnR>
                      <a:noFill/>
                    </a:lnR>
                    <a:lnT>
                      <a:noFill/>
                    </a:lnT>
                    <a:lnB>
                      <a:noFill/>
                    </a:lnB>
                    <a:noFill/>
                  </a:tcPr>
                </a:tc>
                <a:extLst>
                  <a:ext uri="{0D108BD9-81ED-4DB2-BD59-A6C34878D82A}">
                    <a16:rowId xmlns:a16="http://schemas.microsoft.com/office/drawing/2014/main" val="4017049122"/>
                  </a:ext>
                </a:extLst>
              </a:tr>
              <a:tr h="32727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a:txBody>
                    <a:bodyPr/>
                    <a:lstStyle/>
                    <a:p>
                      <a:pPr>
                        <a:lnSpc>
                          <a:spcPct val="107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Minimal detail – only layouts, structure, or flow (no colors/fonts).</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gridSpan="2">
                  <a:txBody>
                    <a:bodyPr/>
                    <a:lstStyle/>
                    <a:p>
                      <a:pPr>
                        <a:lnSpc>
                          <a:spcPct val="107000"/>
                        </a:lnSpc>
                        <a:spcAft>
                          <a:spcPts val="800"/>
                        </a:spcAft>
                        <a:buNone/>
                      </a:pPr>
                      <a:r>
                        <a:rPr lang="en-US" sz="2200" kern="100" dirty="0">
                          <a:effectLst/>
                          <a:latin typeface="Aptos" panose="020B0004020202020204" pitchFamily="34" charset="0"/>
                          <a:ea typeface="Aptos" panose="020B0004020202020204" pitchFamily="34" charset="0"/>
                          <a:cs typeface="Times New Roman" panose="02020603050405020304" pitchFamily="18" charset="0"/>
                        </a:rPr>
                        <a:t>Very detailed – includes UI design, colors, fonts, animations, clickable elements.</a:t>
                      </a:r>
                    </a:p>
                    <a:p>
                      <a:pPr>
                        <a:lnSpc>
                          <a:spcPct val="107000"/>
                        </a:lnSpc>
                        <a:spcAft>
                          <a:spcPts val="800"/>
                        </a:spcAft>
                        <a:buNone/>
                      </a:pP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2780" marR="32780" marT="16130" marB="16130" anchor="ctr">
                    <a:lnL>
                      <a:noFill/>
                    </a:lnL>
                    <a:lnR>
                      <a:noFill/>
                    </a:lnR>
                    <a:lnT>
                      <a:noFill/>
                    </a:lnT>
                    <a:lnB>
                      <a:noFill/>
                    </a:lnB>
                    <a:noFill/>
                  </a:tcPr>
                </a:tc>
                <a:tc hMerge="1">
                  <a:txBody>
                    <a:bodyPr/>
                    <a:lstStyle/>
                    <a:p>
                      <a:endParaRPr lang="en-IN"/>
                    </a:p>
                  </a:txBody>
                  <a:tcPr>
                    <a:lnL w="12700" cmpd="sng">
                      <a:noFill/>
                      <a:prstDash val="solid"/>
                    </a:lnL>
                  </a:tcPr>
                </a:tc>
                <a:tc>
                  <a:txBody>
                    <a:bodyPr/>
                    <a:lstStyle/>
                    <a:p>
                      <a:pPr>
                        <a:lnSpc>
                          <a:spcPct val="107000"/>
                        </a:lnSpc>
                        <a:spcAft>
                          <a:spcPts val="800"/>
                        </a:spcAft>
                        <a:buNone/>
                      </a:pPr>
                      <a:r>
                        <a:rPr lang="en-IN" sz="90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0" marR="0" marT="0" marB="0" anchor="ctr">
                    <a:lnL>
                      <a:noFill/>
                    </a:lnL>
                    <a:lnR>
                      <a:noFill/>
                    </a:lnR>
                    <a:lnT>
                      <a:noFill/>
                    </a:lnT>
                    <a:lnB>
                      <a:noFill/>
                    </a:lnB>
                    <a:noFill/>
                  </a:tcPr>
                </a:tc>
                <a:extLst>
                  <a:ext uri="{0D108BD9-81ED-4DB2-BD59-A6C34878D82A}">
                    <a16:rowId xmlns:a16="http://schemas.microsoft.com/office/drawing/2014/main" val="2759824868"/>
                  </a:ext>
                </a:extLst>
              </a:tr>
              <a:tr h="22893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gridSpan="2">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hMerge="1">
                  <a:txBody>
                    <a:bodyPr/>
                    <a:lstStyle/>
                    <a:p>
                      <a:endParaRPr lang="en-IN"/>
                    </a:p>
                  </a:txBody>
                  <a:tcPr/>
                </a:tc>
                <a:tc gridSpan="2">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B>
                      <a:noFill/>
                    </a:lnB>
                    <a:noFill/>
                  </a:tcPr>
                </a:tc>
                <a:tc hMerge="1">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T>
                      <a:noFill/>
                    </a:lnT>
                    <a:lnB>
                      <a:noFill/>
                    </a:lnB>
                    <a:noFill/>
                  </a:tcPr>
                </a:tc>
                <a:extLst>
                  <a:ext uri="{0D108BD9-81ED-4DB2-BD59-A6C34878D82A}">
                    <a16:rowId xmlns:a16="http://schemas.microsoft.com/office/drawing/2014/main" val="1126725500"/>
                  </a:ext>
                </a:extLst>
              </a:tr>
              <a:tr h="22893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gridSpan="2">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hMerge="1">
                  <a:txBody>
                    <a:bodyPr/>
                    <a:lstStyle/>
                    <a:p>
                      <a:endParaRPr lang="en-IN"/>
                    </a:p>
                  </a:txBody>
                  <a:tcPr/>
                </a:tc>
                <a:tc gridSpan="2">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T>
                      <a:noFill/>
                    </a:lnT>
                    <a:lnB>
                      <a:noFill/>
                    </a:lnB>
                    <a:noFill/>
                  </a:tcPr>
                </a:tc>
                <a:tc hMerge="1">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T>
                      <a:noFill/>
                    </a:lnT>
                    <a:lnB>
                      <a:noFill/>
                    </a:lnB>
                    <a:noFill/>
                  </a:tcPr>
                </a:tc>
                <a:extLst>
                  <a:ext uri="{0D108BD9-81ED-4DB2-BD59-A6C34878D82A}">
                    <a16:rowId xmlns:a16="http://schemas.microsoft.com/office/drawing/2014/main" val="1658462286"/>
                  </a:ext>
                </a:extLst>
              </a:tr>
              <a:tr h="228939">
                <a:tc>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gridSpan="2">
                  <a:txBody>
                    <a:bodyPr/>
                    <a:lstStyle/>
                    <a:p>
                      <a:pPr>
                        <a:lnSpc>
                          <a:spcPct val="107000"/>
                        </a:lnSpc>
                        <a:buNone/>
                      </a:pPr>
                      <a:endParaRPr lang="en-IN" sz="900" kern="100">
                        <a:effectLst/>
                        <a:latin typeface="Aptos" panose="020B0004020202020204" pitchFamily="34" charset="0"/>
                      </a:endParaRPr>
                    </a:p>
                  </a:txBody>
                  <a:tcPr marL="32780" marR="32780" marT="16130" marB="16130" anchor="ctr">
                    <a:lnL>
                      <a:noFill/>
                    </a:lnL>
                    <a:lnR>
                      <a:noFill/>
                    </a:lnR>
                    <a:lnT>
                      <a:noFill/>
                    </a:lnT>
                    <a:lnB>
                      <a:noFill/>
                    </a:lnB>
                    <a:noFill/>
                  </a:tcPr>
                </a:tc>
                <a:tc hMerge="1">
                  <a:txBody>
                    <a:bodyPr/>
                    <a:lstStyle/>
                    <a:p>
                      <a:endParaRPr lang="en-IN"/>
                    </a:p>
                  </a:txBody>
                  <a:tcPr/>
                </a:tc>
                <a:tc gridSpan="2">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T>
                      <a:noFill/>
                    </a:lnT>
                    <a:lnB>
                      <a:noFill/>
                    </a:lnB>
                    <a:noFill/>
                  </a:tcPr>
                </a:tc>
                <a:tc hMerge="1">
                  <a:txBody>
                    <a:bodyPr/>
                    <a:lstStyle/>
                    <a:p>
                      <a:pPr>
                        <a:lnSpc>
                          <a:spcPct val="107000"/>
                        </a:lnSpc>
                        <a:buNone/>
                      </a:pPr>
                      <a:endParaRPr lang="en-IN" sz="900" kern="100" dirty="0">
                        <a:effectLst/>
                        <a:latin typeface="Aptos" panose="020B0004020202020204" pitchFamily="34" charset="0"/>
                      </a:endParaRPr>
                    </a:p>
                  </a:txBody>
                  <a:tcPr marL="32780" marR="32780" marT="16130" marB="16130" anchor="ctr">
                    <a:lnL>
                      <a:noFill/>
                    </a:lnL>
                    <a:lnR>
                      <a:noFill/>
                    </a:lnR>
                    <a:lnT>
                      <a:noFill/>
                    </a:lnT>
                    <a:lnB>
                      <a:noFill/>
                    </a:lnB>
                    <a:noFill/>
                  </a:tcPr>
                </a:tc>
                <a:extLst>
                  <a:ext uri="{0D108BD9-81ED-4DB2-BD59-A6C34878D82A}">
                    <a16:rowId xmlns:a16="http://schemas.microsoft.com/office/drawing/2014/main" val="124530294"/>
                  </a:ext>
                </a:extLst>
              </a:tr>
            </a:tbl>
          </a:graphicData>
        </a:graphic>
      </p:graphicFrame>
    </p:spTree>
    <p:extLst>
      <p:ext uri="{BB962C8B-B14F-4D97-AF65-F5344CB8AC3E}">
        <p14:creationId xmlns:p14="http://schemas.microsoft.com/office/powerpoint/2010/main" val="215253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7D04-C18E-5703-6260-66ED894C65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EAE1A6-A91F-9366-B469-74D9F13C9A20}"/>
              </a:ext>
            </a:extLst>
          </p:cNvPr>
          <p:cNvSpPr>
            <a:spLocks noGrp="1"/>
          </p:cNvSpPr>
          <p:nvPr>
            <p:ph type="sldNum" sz="quarter" idx="14"/>
          </p:nvPr>
        </p:nvSpPr>
        <p:spPr/>
        <p:txBody>
          <a:bodyPr/>
          <a:lstStyle/>
          <a:p>
            <a:fld id="{45A3C14A-F937-4231-B6F1-40B429FAFB2F}" type="slidenum">
              <a:rPr lang="en-NZ" smtClean="0"/>
              <a:pPr/>
              <a:t>16</a:t>
            </a:fld>
            <a:endParaRPr lang="en-NZ" dirty="0"/>
          </a:p>
        </p:txBody>
      </p:sp>
      <p:sp>
        <p:nvSpPr>
          <p:cNvPr id="3" name="Title 2">
            <a:extLst>
              <a:ext uri="{FF2B5EF4-FFF2-40B4-BE49-F238E27FC236}">
                <a16:creationId xmlns:a16="http://schemas.microsoft.com/office/drawing/2014/main" id="{F97B7687-1CF7-8842-8A5B-A7D9F1C8D6B2}"/>
              </a:ext>
            </a:extLst>
          </p:cNvPr>
          <p:cNvSpPr>
            <a:spLocks noGrp="1"/>
          </p:cNvSpPr>
          <p:nvPr>
            <p:ph type="title"/>
          </p:nvPr>
        </p:nvSpPr>
        <p:spPr>
          <a:xfrm>
            <a:off x="407368" y="188640"/>
            <a:ext cx="9001000" cy="510230"/>
          </a:xfrm>
        </p:spPr>
        <p:txBody>
          <a:bodyPr/>
          <a:lstStyle/>
          <a:p>
            <a:r>
              <a:rPr lang="en-IN" dirty="0"/>
              <a:t>Prototyping Tools and Techniques</a:t>
            </a:r>
          </a:p>
        </p:txBody>
      </p:sp>
      <p:graphicFrame>
        <p:nvGraphicFramePr>
          <p:cNvPr id="5" name="Table 4">
            <a:extLst>
              <a:ext uri="{FF2B5EF4-FFF2-40B4-BE49-F238E27FC236}">
                <a16:creationId xmlns:a16="http://schemas.microsoft.com/office/drawing/2014/main" id="{835D8DBF-D9B7-7EE4-61D8-DECD14A2147E}"/>
              </a:ext>
            </a:extLst>
          </p:cNvPr>
          <p:cNvGraphicFramePr>
            <a:graphicFrameLocks noGrp="1"/>
          </p:cNvGraphicFramePr>
          <p:nvPr>
            <p:extLst>
              <p:ext uri="{D42A27DB-BD31-4B8C-83A1-F6EECF244321}">
                <p14:modId xmlns:p14="http://schemas.microsoft.com/office/powerpoint/2010/main" val="900966850"/>
              </p:ext>
            </p:extLst>
          </p:nvPr>
        </p:nvGraphicFramePr>
        <p:xfrm>
          <a:off x="119778" y="908875"/>
          <a:ext cx="11844064" cy="5040250"/>
        </p:xfrm>
        <a:graphic>
          <a:graphicData uri="http://schemas.openxmlformats.org/drawingml/2006/table">
            <a:tbl>
              <a:tblPr/>
              <a:tblGrid>
                <a:gridCol w="307638">
                  <a:extLst>
                    <a:ext uri="{9D8B030D-6E8A-4147-A177-3AD203B41FA5}">
                      <a16:colId xmlns:a16="http://schemas.microsoft.com/office/drawing/2014/main" val="275940458"/>
                    </a:ext>
                  </a:extLst>
                </a:gridCol>
                <a:gridCol w="5669026">
                  <a:extLst>
                    <a:ext uri="{9D8B030D-6E8A-4147-A177-3AD203B41FA5}">
                      <a16:colId xmlns:a16="http://schemas.microsoft.com/office/drawing/2014/main" val="3861399878"/>
                    </a:ext>
                  </a:extLst>
                </a:gridCol>
                <a:gridCol w="5867400">
                  <a:extLst>
                    <a:ext uri="{9D8B030D-6E8A-4147-A177-3AD203B41FA5}">
                      <a16:colId xmlns:a16="http://schemas.microsoft.com/office/drawing/2014/main" val="576926044"/>
                    </a:ext>
                  </a:extLst>
                </a:gridCol>
              </a:tblGrid>
              <a:tr h="159682">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r>
                        <a:rPr lang="en-IN" sz="2600" b="1" dirty="0"/>
                        <a:t>Low-Fidelity Tools</a:t>
                      </a:r>
                      <a:endParaRPr lang="en-IN" sz="2600" dirty="0"/>
                    </a:p>
                  </a:txBody>
                  <a:tcPr marL="39921" marR="39921" marT="19960" marB="19960" anchor="ctr">
                    <a:lnL>
                      <a:noFill/>
                    </a:lnL>
                    <a:lnR>
                      <a:noFill/>
                    </a:lnR>
                    <a:lnT>
                      <a:noFill/>
                    </a:lnT>
                    <a:lnB>
                      <a:noFill/>
                    </a:lnB>
                    <a:noFill/>
                  </a:tcPr>
                </a:tc>
                <a:tc>
                  <a:txBody>
                    <a:bodyPr/>
                    <a:lstStyle/>
                    <a:p>
                      <a:pPr>
                        <a:buNone/>
                      </a:pPr>
                      <a:r>
                        <a:rPr lang="en-IN" sz="2600" b="1"/>
                        <a:t>High-Fidelity Tools</a:t>
                      </a:r>
                      <a:endParaRPr lang="en-IN" sz="2600"/>
                    </a:p>
                  </a:txBody>
                  <a:tcPr marL="39921" marR="39921" marT="19960" marB="19960" anchor="ctr">
                    <a:lnL>
                      <a:noFill/>
                    </a:lnL>
                    <a:lnR>
                      <a:noFill/>
                    </a:lnR>
                    <a:lnT>
                      <a:noFill/>
                    </a:lnT>
                    <a:lnB>
                      <a:noFill/>
                    </a:lnB>
                    <a:noFill/>
                  </a:tcPr>
                </a:tc>
                <a:extLst>
                  <a:ext uri="{0D108BD9-81ED-4DB2-BD59-A6C34878D82A}">
                    <a16:rowId xmlns:a16="http://schemas.microsoft.com/office/drawing/2014/main" val="279045180"/>
                  </a:ext>
                </a:extLst>
              </a:tr>
              <a:tr h="399205">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r>
                        <a:rPr lang="en-US" sz="2600" dirty="0"/>
                        <a:t>Low resemblance – looks quite different from the final product.</a:t>
                      </a:r>
                    </a:p>
                  </a:txBody>
                  <a:tcPr marL="39921" marR="39921" marT="19960" marB="19960" anchor="ctr">
                    <a:lnL>
                      <a:noFill/>
                    </a:lnL>
                    <a:lnR>
                      <a:noFill/>
                    </a:lnR>
                    <a:lnT>
                      <a:noFill/>
                    </a:lnT>
                    <a:lnB>
                      <a:noFill/>
                    </a:lnB>
                    <a:noFill/>
                  </a:tcPr>
                </a:tc>
                <a:tc>
                  <a:txBody>
                    <a:bodyPr/>
                    <a:lstStyle/>
                    <a:p>
                      <a:pPr>
                        <a:buNone/>
                      </a:pPr>
                      <a:r>
                        <a:rPr lang="en-US" sz="2600" dirty="0"/>
                        <a:t>High resemblance – looks and feels like the final product.</a:t>
                      </a:r>
                    </a:p>
                  </a:txBody>
                  <a:tcPr marL="39921" marR="39921" marT="19960" marB="19960" anchor="ctr">
                    <a:lnL>
                      <a:noFill/>
                    </a:lnL>
                    <a:lnR>
                      <a:noFill/>
                    </a:lnR>
                    <a:lnT>
                      <a:noFill/>
                    </a:lnT>
                    <a:lnB>
                      <a:noFill/>
                    </a:lnB>
                    <a:noFill/>
                  </a:tcPr>
                </a:tc>
                <a:extLst>
                  <a:ext uri="{0D108BD9-81ED-4DB2-BD59-A6C34878D82A}">
                    <a16:rowId xmlns:a16="http://schemas.microsoft.com/office/drawing/2014/main" val="2496599719"/>
                  </a:ext>
                </a:extLst>
              </a:tr>
              <a:tr h="758599">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r>
                        <a:rPr lang="en-US" sz="2600" dirty="0"/>
                        <a:t>Usually static (paper sketches, simple wireframes).</a:t>
                      </a:r>
                    </a:p>
                  </a:txBody>
                  <a:tcPr marL="39921" marR="39921" marT="19960" marB="19960" anchor="ctr">
                    <a:lnL>
                      <a:noFill/>
                    </a:lnL>
                    <a:lnR>
                      <a:noFill/>
                    </a:lnR>
                    <a:lnT>
                      <a:noFill/>
                    </a:lnT>
                    <a:lnB>
                      <a:noFill/>
                    </a:lnB>
                    <a:noFill/>
                  </a:tcPr>
                </a:tc>
                <a:tc>
                  <a:txBody>
                    <a:bodyPr/>
                    <a:lstStyle/>
                    <a:p>
                      <a:pPr>
                        <a:buNone/>
                      </a:pPr>
                      <a:r>
                        <a:rPr lang="en-US" sz="2600" dirty="0"/>
                        <a:t>Highly interactive (clickable prototypes, coded demos).</a:t>
                      </a:r>
                    </a:p>
                  </a:txBody>
                  <a:tcPr marL="39921" marR="39921" marT="19960" marB="19960" anchor="ctr">
                    <a:lnL>
                      <a:noFill/>
                    </a:lnL>
                    <a:lnR>
                      <a:noFill/>
                    </a:lnR>
                    <a:lnT>
                      <a:noFill/>
                    </a:lnT>
                    <a:lnB>
                      <a:noFill/>
                    </a:lnB>
                    <a:noFill/>
                  </a:tcPr>
                </a:tc>
                <a:extLst>
                  <a:ext uri="{0D108BD9-81ED-4DB2-BD59-A6C34878D82A}">
                    <a16:rowId xmlns:a16="http://schemas.microsoft.com/office/drawing/2014/main" val="3052480770"/>
                  </a:ext>
                </a:extLst>
              </a:tr>
              <a:tr h="0">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r>
                        <a:rPr lang="en-IN" sz="2600" dirty="0"/>
                        <a:t>Balsamiq, Miro, </a:t>
                      </a:r>
                      <a:r>
                        <a:rPr lang="en-IN" sz="2600" dirty="0" err="1"/>
                        <a:t>Lucidchart</a:t>
                      </a:r>
                      <a:r>
                        <a:rPr lang="en-IN" sz="2600" dirty="0"/>
                        <a:t>.</a:t>
                      </a:r>
                    </a:p>
                  </a:txBody>
                  <a:tcPr marL="39921" marR="39921" marT="19960" marB="19960" anchor="ctr">
                    <a:lnL>
                      <a:noFill/>
                    </a:lnL>
                    <a:lnR>
                      <a:noFill/>
                    </a:lnR>
                    <a:lnT>
                      <a:noFill/>
                    </a:lnT>
                    <a:lnB>
                      <a:noFill/>
                    </a:lnB>
                    <a:noFill/>
                  </a:tcPr>
                </a:tc>
                <a:tc>
                  <a:txBody>
                    <a:bodyPr/>
                    <a:lstStyle/>
                    <a:p>
                      <a:pPr>
                        <a:buNone/>
                      </a:pPr>
                      <a:r>
                        <a:rPr lang="en-IN" sz="2600" dirty="0"/>
                        <a:t>Figma, Adobe XD, Sketch, InVision, Axure.</a:t>
                      </a:r>
                    </a:p>
                  </a:txBody>
                  <a:tcPr marL="39921" marR="39921" marT="19960" marB="19960" anchor="ctr">
                    <a:lnL>
                      <a:noFill/>
                    </a:lnL>
                    <a:lnR>
                      <a:noFill/>
                    </a:lnR>
                    <a:lnT>
                      <a:noFill/>
                    </a:lnT>
                    <a:lnB>
                      <a:noFill/>
                    </a:lnB>
                    <a:noFill/>
                  </a:tcPr>
                </a:tc>
                <a:extLst>
                  <a:ext uri="{0D108BD9-81ED-4DB2-BD59-A6C34878D82A}">
                    <a16:rowId xmlns:a16="http://schemas.microsoft.com/office/drawing/2014/main" val="13996441"/>
                  </a:ext>
                </a:extLst>
              </a:tr>
              <a:tr h="279444">
                <a:tc>
                  <a:txBody>
                    <a:bodyPr/>
                    <a:lstStyle/>
                    <a:p>
                      <a:pPr>
                        <a:buNone/>
                      </a:pPr>
                      <a:endParaRPr lang="en-US" sz="2200" dirty="0"/>
                    </a:p>
                  </a:txBody>
                  <a:tcPr marL="39921" marR="39921" marT="19960" marB="19960" anchor="ctr">
                    <a:lnL>
                      <a:noFill/>
                    </a:lnL>
                    <a:lnR>
                      <a:noFill/>
                    </a:lnR>
                    <a:lnT>
                      <a:noFill/>
                    </a:lnT>
                    <a:lnB>
                      <a:noFill/>
                    </a:lnB>
                    <a:noFill/>
                  </a:tcPr>
                </a:tc>
                <a:tc>
                  <a:txBody>
                    <a:bodyPr/>
                    <a:lstStyle/>
                    <a:p>
                      <a:pPr>
                        <a:buNone/>
                      </a:pPr>
                      <a:r>
                        <a:rPr lang="en-US" sz="2600" dirty="0"/>
                        <a:t>Paper sketches, sticky notes, whiteboard flows, cardboard mockups.</a:t>
                      </a:r>
                    </a:p>
                  </a:txBody>
                  <a:tcPr marL="39921" marR="39921" marT="19960" marB="19960" anchor="ctr">
                    <a:lnL>
                      <a:noFill/>
                    </a:lnL>
                    <a:lnR>
                      <a:noFill/>
                    </a:lnR>
                    <a:lnT>
                      <a:noFill/>
                    </a:lnT>
                    <a:lnB>
                      <a:noFill/>
                    </a:lnB>
                    <a:noFill/>
                  </a:tcPr>
                </a:tc>
                <a:tc>
                  <a:txBody>
                    <a:bodyPr/>
                    <a:lstStyle/>
                    <a:p>
                      <a:pPr>
                        <a:buNone/>
                      </a:pPr>
                      <a:r>
                        <a:rPr lang="en-IN" sz="2600" dirty="0"/>
                        <a:t>3D printing, Arduino prototypes, hardware </a:t>
                      </a:r>
                      <a:r>
                        <a:rPr lang="en-IN" sz="2600" dirty="0" err="1"/>
                        <a:t>mockups</a:t>
                      </a:r>
                      <a:r>
                        <a:rPr lang="en-IN" sz="2600" dirty="0"/>
                        <a:t>.</a:t>
                      </a:r>
                    </a:p>
                  </a:txBody>
                  <a:tcPr marL="39921" marR="39921" marT="19960" marB="19960" anchor="ctr">
                    <a:lnL>
                      <a:noFill/>
                    </a:lnL>
                    <a:lnR>
                      <a:noFill/>
                    </a:lnR>
                    <a:lnT>
                      <a:noFill/>
                    </a:lnT>
                    <a:lnB>
                      <a:noFill/>
                    </a:lnB>
                    <a:noFill/>
                  </a:tcPr>
                </a:tc>
                <a:extLst>
                  <a:ext uri="{0D108BD9-81ED-4DB2-BD59-A6C34878D82A}">
                    <a16:rowId xmlns:a16="http://schemas.microsoft.com/office/drawing/2014/main" val="4254435260"/>
                  </a:ext>
                </a:extLst>
              </a:tr>
              <a:tr h="279444">
                <a:tc>
                  <a:txBody>
                    <a:bodyPr/>
                    <a:lstStyle/>
                    <a:p>
                      <a:pPr>
                        <a:buNone/>
                      </a:pPr>
                      <a:endParaRPr lang="en-IN" sz="2200"/>
                    </a:p>
                  </a:txBody>
                  <a:tcPr marL="39921" marR="39921" marT="19960" marB="19960" anchor="ctr">
                    <a:lnL>
                      <a:noFill/>
                    </a:lnL>
                    <a:lnR>
                      <a:noFill/>
                    </a:lnR>
                    <a:lnT>
                      <a:noFill/>
                    </a:lnT>
                    <a:lnB>
                      <a:noFill/>
                    </a:lnB>
                    <a:noFill/>
                  </a:tcPr>
                </a:tc>
                <a:tc>
                  <a:txBody>
                    <a:bodyPr/>
                    <a:lstStyle/>
                    <a:p>
                      <a:pPr>
                        <a:buNone/>
                      </a:pPr>
                      <a:endParaRPr lang="en-US" sz="2600" dirty="0"/>
                    </a:p>
                  </a:txBody>
                  <a:tcPr marL="39921" marR="39921" marT="19960" marB="19960" anchor="ctr">
                    <a:lnL>
                      <a:noFill/>
                    </a:lnL>
                    <a:lnR>
                      <a:noFill/>
                    </a:lnR>
                    <a:lnT>
                      <a:noFill/>
                    </a:lnT>
                    <a:lnB>
                      <a:noFill/>
                    </a:lnB>
                    <a:noFill/>
                  </a:tcPr>
                </a:tc>
                <a:tc>
                  <a:txBody>
                    <a:bodyPr/>
                    <a:lstStyle/>
                    <a:p>
                      <a:pPr>
                        <a:buNone/>
                      </a:pPr>
                      <a:endParaRPr lang="en-IN" sz="2600" dirty="0"/>
                    </a:p>
                  </a:txBody>
                  <a:tcPr marL="39921" marR="39921" marT="19960" marB="19960" anchor="ctr">
                    <a:lnL>
                      <a:noFill/>
                    </a:lnL>
                    <a:lnR>
                      <a:noFill/>
                    </a:lnR>
                    <a:lnT>
                      <a:noFill/>
                    </a:lnT>
                    <a:lnB>
                      <a:noFill/>
                    </a:lnB>
                    <a:noFill/>
                  </a:tcPr>
                </a:tc>
                <a:extLst>
                  <a:ext uri="{0D108BD9-81ED-4DB2-BD59-A6C34878D82A}">
                    <a16:rowId xmlns:a16="http://schemas.microsoft.com/office/drawing/2014/main" val="3217964600"/>
                  </a:ext>
                </a:extLst>
              </a:tr>
              <a:tr h="279444">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endParaRPr lang="en-US" sz="2600" dirty="0"/>
                    </a:p>
                  </a:txBody>
                  <a:tcPr marL="39921" marR="39921" marT="19960" marB="19960" anchor="ctr">
                    <a:lnL>
                      <a:noFill/>
                    </a:lnL>
                    <a:lnR>
                      <a:noFill/>
                    </a:lnR>
                    <a:lnT>
                      <a:noFill/>
                    </a:lnT>
                    <a:lnB>
                      <a:noFill/>
                    </a:lnB>
                    <a:noFill/>
                  </a:tcPr>
                </a:tc>
                <a:tc>
                  <a:txBody>
                    <a:bodyPr/>
                    <a:lstStyle/>
                    <a:p>
                      <a:pPr>
                        <a:buNone/>
                      </a:pPr>
                      <a:endParaRPr lang="en-US" sz="2600" dirty="0"/>
                    </a:p>
                  </a:txBody>
                  <a:tcPr marL="39921" marR="39921" marT="19960" marB="19960" anchor="ctr">
                    <a:lnL>
                      <a:noFill/>
                    </a:lnL>
                    <a:lnR>
                      <a:noFill/>
                    </a:lnR>
                    <a:lnT>
                      <a:noFill/>
                    </a:lnT>
                    <a:lnB>
                      <a:noFill/>
                    </a:lnB>
                    <a:noFill/>
                  </a:tcPr>
                </a:tc>
                <a:extLst>
                  <a:ext uri="{0D108BD9-81ED-4DB2-BD59-A6C34878D82A}">
                    <a16:rowId xmlns:a16="http://schemas.microsoft.com/office/drawing/2014/main" val="3196856482"/>
                  </a:ext>
                </a:extLst>
              </a:tr>
              <a:tr h="399205">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endParaRPr lang="en-US" sz="2200" dirty="0"/>
                    </a:p>
                  </a:txBody>
                  <a:tcPr marL="39921" marR="39921" marT="19960" marB="19960" anchor="ctr">
                    <a:lnL>
                      <a:noFill/>
                    </a:lnL>
                    <a:lnR>
                      <a:noFill/>
                    </a:lnR>
                    <a:lnT>
                      <a:noFill/>
                    </a:lnT>
                    <a:lnB>
                      <a:noFill/>
                    </a:lnB>
                    <a:noFill/>
                  </a:tcPr>
                </a:tc>
                <a:tc>
                  <a:txBody>
                    <a:bodyPr/>
                    <a:lstStyle/>
                    <a:p>
                      <a:pPr>
                        <a:buNone/>
                      </a:pPr>
                      <a:endParaRPr lang="en-IN" sz="2200" dirty="0"/>
                    </a:p>
                  </a:txBody>
                  <a:tcPr marL="39921" marR="39921" marT="19960" marB="19960" anchor="ctr">
                    <a:lnL>
                      <a:noFill/>
                    </a:lnL>
                    <a:lnR>
                      <a:noFill/>
                    </a:lnR>
                    <a:lnT>
                      <a:noFill/>
                    </a:lnT>
                    <a:lnB>
                      <a:noFill/>
                    </a:lnB>
                    <a:noFill/>
                  </a:tcPr>
                </a:tc>
                <a:extLst>
                  <a:ext uri="{0D108BD9-81ED-4DB2-BD59-A6C34878D82A}">
                    <a16:rowId xmlns:a16="http://schemas.microsoft.com/office/drawing/2014/main" val="477521610"/>
                  </a:ext>
                </a:extLst>
              </a:tr>
              <a:tr h="399205">
                <a:tc>
                  <a:txBody>
                    <a:bodyPr/>
                    <a:lstStyle/>
                    <a:p>
                      <a:pPr>
                        <a:buNone/>
                      </a:pPr>
                      <a:endParaRPr lang="en-IN" sz="2200" dirty="0"/>
                    </a:p>
                  </a:txBody>
                  <a:tcPr marL="39921" marR="39921" marT="19960" marB="19960" anchor="ctr">
                    <a:lnL>
                      <a:noFill/>
                    </a:lnL>
                    <a:lnR>
                      <a:noFill/>
                    </a:lnR>
                    <a:lnT>
                      <a:noFill/>
                    </a:lnT>
                    <a:lnB>
                      <a:noFill/>
                    </a:lnB>
                    <a:noFill/>
                  </a:tcPr>
                </a:tc>
                <a:tc>
                  <a:txBody>
                    <a:bodyPr/>
                    <a:lstStyle/>
                    <a:p>
                      <a:pPr>
                        <a:buNone/>
                      </a:pPr>
                      <a:endParaRPr lang="en-US" sz="2200" dirty="0"/>
                    </a:p>
                  </a:txBody>
                  <a:tcPr marL="39921" marR="39921" marT="19960" marB="19960" anchor="ctr">
                    <a:lnL>
                      <a:noFill/>
                    </a:lnL>
                    <a:lnR>
                      <a:noFill/>
                    </a:lnR>
                    <a:lnT>
                      <a:noFill/>
                    </a:lnT>
                    <a:lnB>
                      <a:noFill/>
                    </a:lnB>
                    <a:noFill/>
                  </a:tcPr>
                </a:tc>
                <a:tc>
                  <a:txBody>
                    <a:bodyPr/>
                    <a:lstStyle/>
                    <a:p>
                      <a:pPr>
                        <a:buNone/>
                      </a:pPr>
                      <a:endParaRPr lang="en-US" sz="2200" dirty="0"/>
                    </a:p>
                  </a:txBody>
                  <a:tcPr marL="39921" marR="39921" marT="19960" marB="19960" anchor="ctr">
                    <a:lnL>
                      <a:noFill/>
                    </a:lnL>
                    <a:lnR>
                      <a:noFill/>
                    </a:lnR>
                    <a:lnT>
                      <a:noFill/>
                    </a:lnT>
                    <a:lnB>
                      <a:noFill/>
                    </a:lnB>
                    <a:noFill/>
                  </a:tcPr>
                </a:tc>
                <a:extLst>
                  <a:ext uri="{0D108BD9-81ED-4DB2-BD59-A6C34878D82A}">
                    <a16:rowId xmlns:a16="http://schemas.microsoft.com/office/drawing/2014/main" val="3886930492"/>
                  </a:ext>
                </a:extLst>
              </a:tr>
            </a:tbl>
          </a:graphicData>
        </a:graphic>
      </p:graphicFrame>
    </p:spTree>
    <p:extLst>
      <p:ext uri="{BB962C8B-B14F-4D97-AF65-F5344CB8AC3E}">
        <p14:creationId xmlns:p14="http://schemas.microsoft.com/office/powerpoint/2010/main" val="97144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86F4-46E3-3611-C72E-EB51066E11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104F15-2507-3880-F96C-7FFB17319F6C}"/>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3" name="Title 2">
            <a:extLst>
              <a:ext uri="{FF2B5EF4-FFF2-40B4-BE49-F238E27FC236}">
                <a16:creationId xmlns:a16="http://schemas.microsoft.com/office/drawing/2014/main" id="{6B3AA060-0BC2-BD3B-4036-B06225B9FB91}"/>
              </a:ext>
            </a:extLst>
          </p:cNvPr>
          <p:cNvSpPr>
            <a:spLocks noGrp="1"/>
          </p:cNvSpPr>
          <p:nvPr>
            <p:ph type="title"/>
          </p:nvPr>
        </p:nvSpPr>
        <p:spPr>
          <a:xfrm>
            <a:off x="695400" y="395786"/>
            <a:ext cx="11268000" cy="838202"/>
          </a:xfrm>
        </p:spPr>
        <p:txBody>
          <a:bodyPr/>
          <a:lstStyle/>
          <a:p>
            <a:r>
              <a:rPr lang="en-US" dirty="0"/>
              <a:t>PROTOTYPES AND THE DESIGN PROCESS: User-Centered Design</a:t>
            </a:r>
            <a:endParaRPr lang="en-IN" dirty="0"/>
          </a:p>
        </p:txBody>
      </p:sp>
      <p:sp>
        <p:nvSpPr>
          <p:cNvPr id="4" name="Text Placeholder 3">
            <a:extLst>
              <a:ext uri="{FF2B5EF4-FFF2-40B4-BE49-F238E27FC236}">
                <a16:creationId xmlns:a16="http://schemas.microsoft.com/office/drawing/2014/main" id="{8E16C9F5-16D1-BB71-C446-8AD05D4CADA7}"/>
              </a:ext>
            </a:extLst>
          </p:cNvPr>
          <p:cNvSpPr>
            <a:spLocks noGrp="1"/>
          </p:cNvSpPr>
          <p:nvPr>
            <p:ph type="body" sz="quarter" idx="17"/>
          </p:nvPr>
        </p:nvSpPr>
        <p:spPr>
          <a:xfrm>
            <a:off x="565945" y="1412776"/>
            <a:ext cx="10801201" cy="4320480"/>
          </a:xfrm>
        </p:spPr>
        <p:txBody>
          <a:bodyPr/>
          <a:lstStyle/>
          <a:p>
            <a:r>
              <a:rPr lang="en-US" dirty="0">
                <a:solidFill>
                  <a:schemeClr val="tx1"/>
                </a:solidFill>
              </a:rPr>
              <a:t>HCI is a user-centered and iterative field that prioritizes user experience and usability. </a:t>
            </a:r>
          </a:p>
          <a:p>
            <a:r>
              <a:rPr lang="en-US" dirty="0">
                <a:solidFill>
                  <a:schemeClr val="tx1"/>
                </a:solidFill>
              </a:rPr>
              <a:t>Prototypes help designers identify functional requirements, usability issues, and performance issues early on. </a:t>
            </a:r>
          </a:p>
          <a:p>
            <a:r>
              <a:rPr lang="en-US" dirty="0">
                <a:solidFill>
                  <a:schemeClr val="tx1"/>
                </a:solidFill>
              </a:rPr>
              <a:t>Iterative design involves multiple design-implement-test loops, allowing designers to generate and improve upon ideas. </a:t>
            </a:r>
          </a:p>
          <a:p>
            <a:r>
              <a:rPr lang="en-US" dirty="0">
                <a:solidFill>
                  <a:schemeClr val="tx1"/>
                </a:solidFill>
              </a:rPr>
              <a:t>Prototypes reveal strengths and weaknesses, can be contextualized, and can be compared with existing systems. </a:t>
            </a:r>
          </a:p>
          <a:p>
            <a:r>
              <a:rPr lang="en-US" dirty="0">
                <a:solidFill>
                  <a:schemeClr val="tx1"/>
                </a:solidFill>
              </a:rPr>
              <a:t>They help designers reanalyze user needs in the context of the system being built, enhancing the overall design process.</a:t>
            </a:r>
            <a:endParaRPr lang="en-IN" dirty="0">
              <a:solidFill>
                <a:schemeClr val="tx1"/>
              </a:solidFill>
            </a:endParaRPr>
          </a:p>
        </p:txBody>
      </p:sp>
    </p:spTree>
    <p:extLst>
      <p:ext uri="{BB962C8B-B14F-4D97-AF65-F5344CB8AC3E}">
        <p14:creationId xmlns:p14="http://schemas.microsoft.com/office/powerpoint/2010/main" val="3999337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8FE8-C6B9-16A3-F64C-5FACFBD39C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DBC067-0AB0-FF97-CF08-C646B7AC4347}"/>
              </a:ext>
            </a:extLst>
          </p:cNvPr>
          <p:cNvSpPr>
            <a:spLocks noGrp="1"/>
          </p:cNvSpPr>
          <p:nvPr>
            <p:ph type="sldNum" sz="quarter" idx="14"/>
          </p:nvPr>
        </p:nvSpPr>
        <p:spPr/>
        <p:txBody>
          <a:bodyPr/>
          <a:lstStyle/>
          <a:p>
            <a:fld id="{45A3C14A-F937-4231-B6F1-40B429FAFB2F}" type="slidenum">
              <a:rPr lang="en-NZ" smtClean="0"/>
              <a:pPr/>
              <a:t>18</a:t>
            </a:fld>
            <a:endParaRPr lang="en-NZ" dirty="0"/>
          </a:p>
        </p:txBody>
      </p:sp>
      <p:sp>
        <p:nvSpPr>
          <p:cNvPr id="3" name="Title 2">
            <a:extLst>
              <a:ext uri="{FF2B5EF4-FFF2-40B4-BE49-F238E27FC236}">
                <a16:creationId xmlns:a16="http://schemas.microsoft.com/office/drawing/2014/main" id="{ACBB3CE3-CCDD-0E78-9ED7-32C2AF20CE2A}"/>
              </a:ext>
            </a:extLst>
          </p:cNvPr>
          <p:cNvSpPr>
            <a:spLocks noGrp="1"/>
          </p:cNvSpPr>
          <p:nvPr>
            <p:ph type="title"/>
          </p:nvPr>
        </p:nvSpPr>
        <p:spPr>
          <a:xfrm>
            <a:off x="695400" y="395786"/>
            <a:ext cx="9001000" cy="838202"/>
          </a:xfrm>
        </p:spPr>
        <p:txBody>
          <a:bodyPr/>
          <a:lstStyle/>
          <a:p>
            <a:r>
              <a:rPr lang="en-IN" dirty="0"/>
              <a:t>Prototyping Strategies</a:t>
            </a:r>
          </a:p>
        </p:txBody>
      </p:sp>
      <p:sp>
        <p:nvSpPr>
          <p:cNvPr id="4" name="Text Placeholder 3">
            <a:extLst>
              <a:ext uri="{FF2B5EF4-FFF2-40B4-BE49-F238E27FC236}">
                <a16:creationId xmlns:a16="http://schemas.microsoft.com/office/drawing/2014/main" id="{5CB7E07A-8386-E3A2-A539-EACC16BBE410}"/>
              </a:ext>
            </a:extLst>
          </p:cNvPr>
          <p:cNvSpPr>
            <a:spLocks noGrp="1"/>
          </p:cNvSpPr>
          <p:nvPr>
            <p:ph type="body" sz="quarter" idx="17"/>
          </p:nvPr>
        </p:nvSpPr>
        <p:spPr>
          <a:xfrm>
            <a:off x="565945" y="1412776"/>
            <a:ext cx="10801201" cy="4320480"/>
          </a:xfrm>
        </p:spPr>
        <p:txBody>
          <a:bodyPr/>
          <a:lstStyle/>
          <a:p>
            <a:pPr algn="just"/>
            <a:r>
              <a:rPr lang="en-US" sz="2600" dirty="0">
                <a:solidFill>
                  <a:schemeClr val="tx1"/>
                </a:solidFill>
              </a:rPr>
              <a:t>Horizontal prototypes</a:t>
            </a:r>
          </a:p>
          <a:p>
            <a:pPr algn="just"/>
            <a:r>
              <a:rPr lang="en-US" sz="2600" dirty="0">
                <a:solidFill>
                  <a:schemeClr val="tx1"/>
                </a:solidFill>
              </a:rPr>
              <a:t>Vertical prototypes </a:t>
            </a:r>
          </a:p>
          <a:p>
            <a:pPr algn="just"/>
            <a:r>
              <a:rPr lang="en-US" sz="2600" dirty="0">
                <a:solidFill>
                  <a:schemeClr val="tx1"/>
                </a:solidFill>
              </a:rPr>
              <a:t>Task-oriented prototypes </a:t>
            </a:r>
          </a:p>
          <a:p>
            <a:pPr algn="just"/>
            <a:r>
              <a:rPr lang="en-US" sz="2600" dirty="0">
                <a:solidFill>
                  <a:schemeClr val="tx1"/>
                </a:solidFill>
              </a:rPr>
              <a:t>Scenario-based prototypes</a:t>
            </a:r>
          </a:p>
        </p:txBody>
      </p:sp>
      <p:sp>
        <p:nvSpPr>
          <p:cNvPr id="7" name="TextBox 6">
            <a:extLst>
              <a:ext uri="{FF2B5EF4-FFF2-40B4-BE49-F238E27FC236}">
                <a16:creationId xmlns:a16="http://schemas.microsoft.com/office/drawing/2014/main" id="{3E4CB07E-4F76-F9C9-E1BB-70C24F42D7E2}"/>
              </a:ext>
            </a:extLst>
          </p:cNvPr>
          <p:cNvSpPr txBox="1"/>
          <p:nvPr/>
        </p:nvSpPr>
        <p:spPr>
          <a:xfrm>
            <a:off x="1631504" y="4138444"/>
            <a:ext cx="8424936" cy="1692771"/>
          </a:xfrm>
          <a:prstGeom prst="rect">
            <a:avLst/>
          </a:prstGeom>
          <a:noFill/>
        </p:spPr>
        <p:txBody>
          <a:bodyPr wrap="square">
            <a:spAutoFit/>
          </a:bodyPr>
          <a:lstStyle/>
          <a:p>
            <a:r>
              <a:rPr lang="en-US" sz="2600" dirty="0"/>
              <a:t>Horizontal = Broad, shallow (all features, low detail).</a:t>
            </a:r>
          </a:p>
          <a:p>
            <a:r>
              <a:rPr lang="en-US" sz="2600" dirty="0"/>
              <a:t>Vertical = Narrow, deep (one feature, high detail).</a:t>
            </a:r>
          </a:p>
          <a:p>
            <a:r>
              <a:rPr lang="en-US" sz="2600" dirty="0"/>
              <a:t>Task-Oriented = Focused on specific critical tasks.</a:t>
            </a:r>
          </a:p>
          <a:p>
            <a:r>
              <a:rPr lang="en-US" sz="2600" dirty="0"/>
              <a:t>Scenario-Based = Story-driven, realistic usage context.</a:t>
            </a:r>
            <a:endParaRPr lang="en-IN" sz="2600" dirty="0"/>
          </a:p>
        </p:txBody>
      </p:sp>
    </p:spTree>
    <p:extLst>
      <p:ext uri="{BB962C8B-B14F-4D97-AF65-F5344CB8AC3E}">
        <p14:creationId xmlns:p14="http://schemas.microsoft.com/office/powerpoint/2010/main" val="208566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F900CD-C9D6-BA58-62F9-EFEBC9614F7E}"/>
              </a:ext>
            </a:extLst>
          </p:cNvPr>
          <p:cNvSpPr>
            <a:spLocks noGrp="1"/>
          </p:cNvSpPr>
          <p:nvPr>
            <p:ph type="sldNum" sz="quarter" idx="14"/>
          </p:nvPr>
        </p:nvSpPr>
        <p:spPr/>
        <p:txBody>
          <a:bodyPr/>
          <a:lstStyle/>
          <a:p>
            <a:fld id="{45A3C14A-F937-4231-B6F1-40B429FAFB2F}" type="slidenum">
              <a:rPr lang="en-NZ" smtClean="0"/>
              <a:pPr/>
              <a:t>19</a:t>
            </a:fld>
            <a:endParaRPr lang="en-NZ" dirty="0"/>
          </a:p>
        </p:txBody>
      </p:sp>
      <p:sp>
        <p:nvSpPr>
          <p:cNvPr id="3" name="Title 2">
            <a:extLst>
              <a:ext uri="{FF2B5EF4-FFF2-40B4-BE49-F238E27FC236}">
                <a16:creationId xmlns:a16="http://schemas.microsoft.com/office/drawing/2014/main" id="{0E05527D-F0D2-F0A1-32A0-036CE8F6F5A9}"/>
              </a:ext>
            </a:extLst>
          </p:cNvPr>
          <p:cNvSpPr>
            <a:spLocks noGrp="1"/>
          </p:cNvSpPr>
          <p:nvPr>
            <p:ph type="title"/>
          </p:nvPr>
        </p:nvSpPr>
        <p:spPr>
          <a:xfrm>
            <a:off x="191344" y="116632"/>
            <a:ext cx="6211927" cy="367798"/>
          </a:xfrm>
        </p:spPr>
        <p:txBody>
          <a:bodyPr/>
          <a:lstStyle/>
          <a:p>
            <a:r>
              <a:rPr lang="en-IN" dirty="0"/>
              <a:t>Horizontal prototypes</a:t>
            </a:r>
          </a:p>
        </p:txBody>
      </p:sp>
      <p:sp>
        <p:nvSpPr>
          <p:cNvPr id="4" name="Text Placeholder 3">
            <a:extLst>
              <a:ext uri="{FF2B5EF4-FFF2-40B4-BE49-F238E27FC236}">
                <a16:creationId xmlns:a16="http://schemas.microsoft.com/office/drawing/2014/main" id="{42566AE4-3685-2735-2A33-05F5BAB894A3}"/>
              </a:ext>
            </a:extLst>
          </p:cNvPr>
          <p:cNvSpPr>
            <a:spLocks noGrp="1"/>
          </p:cNvSpPr>
          <p:nvPr>
            <p:ph type="body" sz="quarter" idx="17"/>
          </p:nvPr>
        </p:nvSpPr>
        <p:spPr>
          <a:xfrm>
            <a:off x="695400" y="764704"/>
            <a:ext cx="10801201" cy="5329712"/>
          </a:xfrm>
        </p:spPr>
        <p:txBody>
          <a:bodyPr/>
          <a:lstStyle/>
          <a:p>
            <a:pPr algn="just"/>
            <a:r>
              <a:rPr lang="en-US" dirty="0">
                <a:solidFill>
                  <a:schemeClr val="tx1"/>
                </a:solidFill>
              </a:rPr>
              <a:t>Provide a broad view of the system’s features but with little or no functional depth. </a:t>
            </a:r>
          </a:p>
          <a:p>
            <a:pPr algn="just"/>
            <a:r>
              <a:rPr lang="en-US" dirty="0">
                <a:solidFill>
                  <a:schemeClr val="tx1"/>
                </a:solidFill>
              </a:rPr>
              <a:t>They are usually used for UI mockups.</a:t>
            </a:r>
          </a:p>
          <a:p>
            <a:pPr algn="just"/>
            <a:r>
              <a:rPr lang="en-US" dirty="0">
                <a:solidFill>
                  <a:schemeClr val="tx1"/>
                </a:solidFill>
              </a:rPr>
              <a:t>They help to understand the system from the user's perspective and address issues like consistency, coverage, and redundancy. </a:t>
            </a:r>
          </a:p>
          <a:p>
            <a:pPr algn="just"/>
            <a:r>
              <a:rPr lang="en-US" dirty="0">
                <a:solidFill>
                  <a:schemeClr val="tx1"/>
                </a:solidFill>
              </a:rPr>
              <a:t>These prototypes can begin with rapid prototypes and progress to working code. </a:t>
            </a:r>
          </a:p>
          <a:p>
            <a:pPr algn="just"/>
            <a:r>
              <a:rPr lang="en-US" dirty="0">
                <a:solidFill>
                  <a:schemeClr val="tx1"/>
                </a:solidFill>
              </a:rPr>
              <a:t> Show the overall navigation, layout, and major options available.</a:t>
            </a:r>
          </a:p>
          <a:p>
            <a:pPr marL="0" indent="0" algn="just">
              <a:buNone/>
            </a:pPr>
            <a:r>
              <a:rPr lang="en-US" dirty="0">
                <a:solidFill>
                  <a:schemeClr val="tx1"/>
                </a:solidFill>
              </a:rPr>
              <a:t>Example: A mobile banking app prototype that shows screens for home, transfer, bill payments, and profile, but the buttons don’t actually execute real transactions.</a:t>
            </a:r>
          </a:p>
        </p:txBody>
      </p:sp>
    </p:spTree>
    <p:extLst>
      <p:ext uri="{BB962C8B-B14F-4D97-AF65-F5344CB8AC3E}">
        <p14:creationId xmlns:p14="http://schemas.microsoft.com/office/powerpoint/2010/main" val="266188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1000"/>
                                        <p:tgtEl>
                                          <p:spTgt spid="4">
                                            <p:txEl>
                                              <p:pRg st="5" end="5"/>
                                            </p:txEl>
                                          </p:spTgt>
                                        </p:tgtEl>
                                      </p:cBhvr>
                                    </p:animEffect>
                                    <p:anim calcmode="lin" valueType="num">
                                      <p:cBhvr>
                                        <p:cTn id="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001B5-11EF-5C75-AD90-1718E9A084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6AD88-C2DC-4615-D277-BD79C76AA6F3}"/>
              </a:ext>
            </a:extLst>
          </p:cNvPr>
          <p:cNvSpPr>
            <a:spLocks noGrp="1"/>
          </p:cNvSpPr>
          <p:nvPr>
            <p:ph type="sldNum" sz="quarter" idx="14"/>
          </p:nvPr>
        </p:nvSpPr>
        <p:spPr/>
        <p:txBody>
          <a:bodyPr/>
          <a:lstStyle/>
          <a:p>
            <a:fld id="{45A3C14A-F937-4231-B6F1-40B429FAFB2F}" type="slidenum">
              <a:rPr lang="en-NZ" smtClean="0"/>
              <a:pPr/>
              <a:t>20</a:t>
            </a:fld>
            <a:endParaRPr lang="en-NZ" dirty="0"/>
          </a:p>
        </p:txBody>
      </p:sp>
      <p:sp>
        <p:nvSpPr>
          <p:cNvPr id="3" name="Title 2">
            <a:extLst>
              <a:ext uri="{FF2B5EF4-FFF2-40B4-BE49-F238E27FC236}">
                <a16:creationId xmlns:a16="http://schemas.microsoft.com/office/drawing/2014/main" id="{A11537BE-CB7B-B55E-902A-828D3EEBDA06}"/>
              </a:ext>
            </a:extLst>
          </p:cNvPr>
          <p:cNvSpPr>
            <a:spLocks noGrp="1"/>
          </p:cNvSpPr>
          <p:nvPr>
            <p:ph type="title"/>
          </p:nvPr>
        </p:nvSpPr>
        <p:spPr>
          <a:xfrm>
            <a:off x="335360" y="156968"/>
            <a:ext cx="6211927" cy="584942"/>
          </a:xfrm>
        </p:spPr>
        <p:txBody>
          <a:bodyPr/>
          <a:lstStyle/>
          <a:p>
            <a:r>
              <a:rPr lang="en-US" dirty="0"/>
              <a:t>Vertical</a:t>
            </a:r>
            <a:r>
              <a:rPr lang="en-IN" dirty="0"/>
              <a:t> prototypes</a:t>
            </a:r>
          </a:p>
        </p:txBody>
      </p:sp>
      <p:sp>
        <p:nvSpPr>
          <p:cNvPr id="4" name="Text Placeholder 3">
            <a:extLst>
              <a:ext uri="{FF2B5EF4-FFF2-40B4-BE49-F238E27FC236}">
                <a16:creationId xmlns:a16="http://schemas.microsoft.com/office/drawing/2014/main" id="{A456FA08-45DF-FFBC-9606-7D8E42E88FC4}"/>
              </a:ext>
            </a:extLst>
          </p:cNvPr>
          <p:cNvSpPr>
            <a:spLocks noGrp="1"/>
          </p:cNvSpPr>
          <p:nvPr>
            <p:ph type="body" sz="quarter" idx="17"/>
          </p:nvPr>
        </p:nvSpPr>
        <p:spPr>
          <a:xfrm>
            <a:off x="568619" y="754516"/>
            <a:ext cx="10801201" cy="5041680"/>
          </a:xfrm>
        </p:spPr>
        <p:txBody>
          <a:bodyPr/>
          <a:lstStyle/>
          <a:p>
            <a:r>
              <a:rPr lang="en-US" dirty="0">
                <a:solidFill>
                  <a:schemeClr val="tx1"/>
                </a:solidFill>
              </a:rPr>
              <a:t>Provide a deep, functional slice of one specific feature while ignoring others.</a:t>
            </a:r>
          </a:p>
          <a:p>
            <a:r>
              <a:rPr lang="en-US" dirty="0">
                <a:solidFill>
                  <a:schemeClr val="tx1"/>
                </a:solidFill>
              </a:rPr>
              <a:t>Purpose is to test the technical feasibility and user experience of a key function.</a:t>
            </a:r>
          </a:p>
          <a:p>
            <a:r>
              <a:rPr lang="en-US" dirty="0">
                <a:solidFill>
                  <a:schemeClr val="tx1"/>
                </a:solidFill>
              </a:rPr>
              <a:t>They are high-precision prototypes that validate ideas at the system level.</a:t>
            </a:r>
          </a:p>
          <a:p>
            <a:r>
              <a:rPr lang="en-US" dirty="0">
                <a:solidFill>
                  <a:schemeClr val="tx1"/>
                </a:solidFill>
              </a:rPr>
              <a:t>They are often created early in the project, before the overall architecture is decided, and focus on one design question. </a:t>
            </a:r>
          </a:p>
          <a:p>
            <a:pPr marL="0" indent="0">
              <a:buNone/>
            </a:pPr>
            <a:endParaRPr lang="en-US" dirty="0">
              <a:solidFill>
                <a:schemeClr val="tx1"/>
              </a:solidFill>
            </a:endParaRPr>
          </a:p>
          <a:p>
            <a:pPr marL="0" indent="0">
              <a:buNone/>
            </a:pPr>
            <a:r>
              <a:rPr lang="en-US" dirty="0">
                <a:solidFill>
                  <a:schemeClr val="tx1"/>
                </a:solidFill>
              </a:rPr>
              <a:t>Example: In the same mobile banking app, the prototype only focuses on the fund transfer feature, showing the step-by-step interaction and even simulating validation and confirmation, while other features are not functional.</a:t>
            </a:r>
          </a:p>
        </p:txBody>
      </p:sp>
    </p:spTree>
    <p:extLst>
      <p:ext uri="{BB962C8B-B14F-4D97-AF65-F5344CB8AC3E}">
        <p14:creationId xmlns:p14="http://schemas.microsoft.com/office/powerpoint/2010/main" val="370785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1000"/>
                                        <p:tgtEl>
                                          <p:spTgt spid="4">
                                            <p:txEl>
                                              <p:pRg st="5" end="5"/>
                                            </p:txEl>
                                          </p:spTgt>
                                        </p:tgtEl>
                                      </p:cBhvr>
                                    </p:animEffect>
                                    <p:anim calcmode="lin" valueType="num">
                                      <p:cBhvr>
                                        <p:cTn id="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E5B415-077F-C858-0BB9-D240AA6CE188}"/>
              </a:ext>
            </a:extLst>
          </p:cNvPr>
          <p:cNvSpPr>
            <a:spLocks noGrp="1"/>
          </p:cNvSpPr>
          <p:nvPr>
            <p:ph type="sldNum" sz="quarter" idx="14"/>
          </p:nvPr>
        </p:nvSpPr>
        <p:spPr/>
        <p:txBody>
          <a:bodyPr/>
          <a:lstStyle/>
          <a:p>
            <a:fld id="{45A3C14A-F937-4231-B6F1-40B429FAFB2F}" type="slidenum">
              <a:rPr lang="en-NZ" smtClean="0"/>
              <a:pPr/>
              <a:t>21</a:t>
            </a:fld>
            <a:endParaRPr lang="en-NZ" dirty="0"/>
          </a:p>
        </p:txBody>
      </p:sp>
      <p:pic>
        <p:nvPicPr>
          <p:cNvPr id="6" name="Picture 5">
            <a:extLst>
              <a:ext uri="{FF2B5EF4-FFF2-40B4-BE49-F238E27FC236}">
                <a16:creationId xmlns:a16="http://schemas.microsoft.com/office/drawing/2014/main" id="{C0785E52-1317-B951-6890-13E1770BF6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528" y="814887"/>
            <a:ext cx="7900913" cy="5116782"/>
          </a:xfrm>
          <a:prstGeom prst="rect">
            <a:avLst/>
          </a:prstGeom>
        </p:spPr>
      </p:pic>
    </p:spTree>
    <p:extLst>
      <p:ext uri="{BB962C8B-B14F-4D97-AF65-F5344CB8AC3E}">
        <p14:creationId xmlns:p14="http://schemas.microsoft.com/office/powerpoint/2010/main" val="3033957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EB35EA-8F3F-5E8F-465A-EABA73AA9040}"/>
              </a:ext>
            </a:extLst>
          </p:cNvPr>
          <p:cNvSpPr>
            <a:spLocks noGrp="1"/>
          </p:cNvSpPr>
          <p:nvPr>
            <p:ph type="sldNum" sz="quarter" idx="14"/>
          </p:nvPr>
        </p:nvSpPr>
        <p:spPr/>
        <p:txBody>
          <a:bodyPr/>
          <a:lstStyle/>
          <a:p>
            <a:fld id="{45A3C14A-F937-4231-B6F1-40B429FAFB2F}" type="slidenum">
              <a:rPr lang="en-NZ" smtClean="0"/>
              <a:pPr/>
              <a:t>22</a:t>
            </a:fld>
            <a:endParaRPr lang="en-NZ" dirty="0"/>
          </a:p>
        </p:txBody>
      </p:sp>
      <p:sp>
        <p:nvSpPr>
          <p:cNvPr id="3" name="Title 2">
            <a:extLst>
              <a:ext uri="{FF2B5EF4-FFF2-40B4-BE49-F238E27FC236}">
                <a16:creationId xmlns:a16="http://schemas.microsoft.com/office/drawing/2014/main" id="{734C3878-19FA-C64A-258C-50F88A64E408}"/>
              </a:ext>
            </a:extLst>
          </p:cNvPr>
          <p:cNvSpPr>
            <a:spLocks noGrp="1"/>
          </p:cNvSpPr>
          <p:nvPr>
            <p:ph type="title"/>
          </p:nvPr>
        </p:nvSpPr>
        <p:spPr>
          <a:xfrm>
            <a:off x="531323" y="188640"/>
            <a:ext cx="6211927" cy="584942"/>
          </a:xfrm>
        </p:spPr>
        <p:txBody>
          <a:bodyPr/>
          <a:lstStyle/>
          <a:p>
            <a:r>
              <a:rPr lang="en-IN" dirty="0"/>
              <a:t>Task-oriented prototypes</a:t>
            </a:r>
          </a:p>
        </p:txBody>
      </p:sp>
      <p:sp>
        <p:nvSpPr>
          <p:cNvPr id="4" name="Text Placeholder 3">
            <a:extLst>
              <a:ext uri="{FF2B5EF4-FFF2-40B4-BE49-F238E27FC236}">
                <a16:creationId xmlns:a16="http://schemas.microsoft.com/office/drawing/2014/main" id="{998000C1-5D81-BD25-D6F7-680D42042201}"/>
              </a:ext>
            </a:extLst>
          </p:cNvPr>
          <p:cNvSpPr>
            <a:spLocks noGrp="1"/>
          </p:cNvSpPr>
          <p:nvPr>
            <p:ph type="body" sz="quarter" idx="17"/>
          </p:nvPr>
        </p:nvSpPr>
        <p:spPr>
          <a:xfrm>
            <a:off x="535475" y="1340768"/>
            <a:ext cx="10801201" cy="4320480"/>
          </a:xfrm>
        </p:spPr>
        <p:txBody>
          <a:bodyPr/>
          <a:lstStyle/>
          <a:p>
            <a:r>
              <a:rPr lang="en-US" dirty="0">
                <a:solidFill>
                  <a:schemeClr val="tx1"/>
                </a:solidFill>
              </a:rPr>
              <a:t>Task analysis is a crucial process for user interface designers to identify individual tasks that require specific system functionality. </a:t>
            </a:r>
          </a:p>
          <a:p>
            <a:r>
              <a:rPr lang="en-US" dirty="0">
                <a:solidFill>
                  <a:schemeClr val="tx1"/>
                </a:solidFill>
              </a:rPr>
              <a:t>Task-based prototypes organize tasks independently, allowing for independent testing. </a:t>
            </a:r>
          </a:p>
          <a:p>
            <a:r>
              <a:rPr lang="en-US" dirty="0">
                <a:solidFill>
                  <a:schemeClr val="tx1"/>
                </a:solidFill>
              </a:rPr>
              <a:t>Task-oriented prototypes combine horizontal and vertical prototypes, allowing for detailed analysis of task support. </a:t>
            </a:r>
          </a:p>
          <a:p>
            <a:pPr marL="0" indent="0">
              <a:buNone/>
            </a:pPr>
            <a:r>
              <a:rPr lang="en-US" dirty="0">
                <a:solidFill>
                  <a:schemeClr val="tx1"/>
                </a:solidFill>
              </a:rPr>
              <a:t>Example: In an e-commerce website, a prototype is built only for the “Add to Cart → Checkout → Payment” process, without including product reviews, recommendations, or account settings.</a:t>
            </a:r>
            <a:endParaRPr lang="en-IN" dirty="0">
              <a:solidFill>
                <a:schemeClr val="tx1"/>
              </a:solidFill>
            </a:endParaRPr>
          </a:p>
        </p:txBody>
      </p:sp>
    </p:spTree>
    <p:extLst>
      <p:ext uri="{BB962C8B-B14F-4D97-AF65-F5344CB8AC3E}">
        <p14:creationId xmlns:p14="http://schemas.microsoft.com/office/powerpoint/2010/main" val="182787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2D2ED5-9B1C-ACC8-909C-2A1B50EC624F}"/>
              </a:ext>
            </a:extLst>
          </p:cNvPr>
          <p:cNvSpPr>
            <a:spLocks noGrp="1"/>
          </p:cNvSpPr>
          <p:nvPr>
            <p:ph type="sldNum" sz="quarter" idx="14"/>
          </p:nvPr>
        </p:nvSpPr>
        <p:spPr/>
        <p:txBody>
          <a:bodyPr/>
          <a:lstStyle/>
          <a:p>
            <a:fld id="{45A3C14A-F937-4231-B6F1-40B429FAFB2F}" type="slidenum">
              <a:rPr lang="en-NZ" smtClean="0"/>
              <a:pPr/>
              <a:t>23</a:t>
            </a:fld>
            <a:endParaRPr lang="en-NZ" dirty="0"/>
          </a:p>
        </p:txBody>
      </p:sp>
      <p:sp>
        <p:nvSpPr>
          <p:cNvPr id="3" name="Title 2">
            <a:extLst>
              <a:ext uri="{FF2B5EF4-FFF2-40B4-BE49-F238E27FC236}">
                <a16:creationId xmlns:a16="http://schemas.microsoft.com/office/drawing/2014/main" id="{90960D43-87BF-E5F4-DE15-6E15B16E987C}"/>
              </a:ext>
            </a:extLst>
          </p:cNvPr>
          <p:cNvSpPr>
            <a:spLocks noGrp="1"/>
          </p:cNvSpPr>
          <p:nvPr>
            <p:ph type="title"/>
          </p:nvPr>
        </p:nvSpPr>
        <p:spPr/>
        <p:txBody>
          <a:bodyPr/>
          <a:lstStyle/>
          <a:p>
            <a:r>
              <a:rPr lang="en-IN" dirty="0"/>
              <a:t>Scenario-based prototypes</a:t>
            </a:r>
          </a:p>
        </p:txBody>
      </p:sp>
      <p:sp>
        <p:nvSpPr>
          <p:cNvPr id="4" name="Text Placeholder 3">
            <a:extLst>
              <a:ext uri="{FF2B5EF4-FFF2-40B4-BE49-F238E27FC236}">
                <a16:creationId xmlns:a16="http://schemas.microsoft.com/office/drawing/2014/main" id="{0D6A055A-0B97-BE16-0BA9-2B0BFFC1BC52}"/>
              </a:ext>
            </a:extLst>
          </p:cNvPr>
          <p:cNvSpPr>
            <a:spLocks noGrp="1"/>
          </p:cNvSpPr>
          <p:nvPr>
            <p:ph type="body" sz="quarter" idx="17"/>
          </p:nvPr>
        </p:nvSpPr>
        <p:spPr/>
        <p:txBody>
          <a:bodyPr/>
          <a:lstStyle/>
          <a:p>
            <a:r>
              <a:rPr lang="en-US" dirty="0"/>
              <a:t>Scenario-based prototypes focus on a realistic scenario of a system's use in a real-world setting, avoiding individual tasks. </a:t>
            </a:r>
          </a:p>
          <a:p>
            <a:r>
              <a:rPr lang="en-US" dirty="0"/>
              <a:t>They include both common and unusual situations and explore patterns of activity over time.</a:t>
            </a:r>
          </a:p>
          <a:p>
            <a:r>
              <a:rPr lang="en-US" dirty="0"/>
              <a:t> Anecdotes from real users are used to create use scenarios, which are then transformed into design scenarios. </a:t>
            </a:r>
          </a:p>
          <a:p>
            <a:r>
              <a:rPr lang="en-US" dirty="0"/>
              <a:t>These scenarios are used to create video or software prototypes, allowing users to experience the system in a realistic use context.</a:t>
            </a:r>
            <a:endParaRPr lang="en-IN" dirty="0"/>
          </a:p>
        </p:txBody>
      </p:sp>
    </p:spTree>
    <p:extLst>
      <p:ext uri="{BB962C8B-B14F-4D97-AF65-F5344CB8AC3E}">
        <p14:creationId xmlns:p14="http://schemas.microsoft.com/office/powerpoint/2010/main" val="1995422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5AA7B8-B0E7-0B7F-9552-71B26BEB6DD1}"/>
              </a:ext>
            </a:extLst>
          </p:cNvPr>
          <p:cNvSpPr>
            <a:spLocks noGrp="1"/>
          </p:cNvSpPr>
          <p:nvPr>
            <p:ph type="sldNum" sz="quarter" idx="14"/>
          </p:nvPr>
        </p:nvSpPr>
        <p:spPr/>
        <p:txBody>
          <a:bodyPr/>
          <a:lstStyle/>
          <a:p>
            <a:fld id="{45A3C14A-F937-4231-B6F1-40B429FAFB2F}" type="slidenum">
              <a:rPr lang="en-NZ" smtClean="0"/>
              <a:pPr/>
              <a:t>24</a:t>
            </a:fld>
            <a:endParaRPr lang="en-NZ" dirty="0"/>
          </a:p>
        </p:txBody>
      </p:sp>
      <p:sp>
        <p:nvSpPr>
          <p:cNvPr id="3" name="Title 2">
            <a:extLst>
              <a:ext uri="{FF2B5EF4-FFF2-40B4-BE49-F238E27FC236}">
                <a16:creationId xmlns:a16="http://schemas.microsoft.com/office/drawing/2014/main" id="{5E0C207A-9A36-177C-2365-6020E6243B24}"/>
              </a:ext>
            </a:extLst>
          </p:cNvPr>
          <p:cNvSpPr>
            <a:spLocks noGrp="1"/>
          </p:cNvSpPr>
          <p:nvPr>
            <p:ph type="title"/>
          </p:nvPr>
        </p:nvSpPr>
        <p:spPr/>
        <p:txBody>
          <a:bodyPr/>
          <a:lstStyle/>
          <a:p>
            <a:r>
              <a:rPr lang="en-IN" dirty="0"/>
              <a:t>Scenario-Based Design</a:t>
            </a:r>
          </a:p>
        </p:txBody>
      </p:sp>
      <p:sp>
        <p:nvSpPr>
          <p:cNvPr id="4" name="Text Placeholder 3">
            <a:extLst>
              <a:ext uri="{FF2B5EF4-FFF2-40B4-BE49-F238E27FC236}">
                <a16:creationId xmlns:a16="http://schemas.microsoft.com/office/drawing/2014/main" id="{72DE4B2A-DAD8-17A1-2B31-015575455B3F}"/>
              </a:ext>
            </a:extLst>
          </p:cNvPr>
          <p:cNvSpPr>
            <a:spLocks noGrp="1"/>
          </p:cNvSpPr>
          <p:nvPr>
            <p:ph type="body" sz="quarter" idx="17"/>
          </p:nvPr>
        </p:nvSpPr>
        <p:spPr>
          <a:xfrm>
            <a:off x="565945" y="1233988"/>
            <a:ext cx="11290695" cy="4320480"/>
          </a:xfrm>
        </p:spPr>
        <p:txBody>
          <a:bodyPr/>
          <a:lstStyle/>
          <a:p>
            <a:pPr>
              <a:buFont typeface="Arial" panose="020B0604020202020204" pitchFamily="34" charset="0"/>
              <a:buChar char="•"/>
            </a:pPr>
            <a:r>
              <a:rPr lang="en-US" dirty="0">
                <a:solidFill>
                  <a:schemeClr val="tx1"/>
                </a:solidFill>
              </a:rPr>
              <a:t>A user-centered design approach where scenarios (stories of how people use a system in real-life situations) are used to drive requirements, design, and evaluation. </a:t>
            </a:r>
          </a:p>
          <a:p>
            <a:pPr>
              <a:buFont typeface="Arial" panose="020B0604020202020204" pitchFamily="34" charset="0"/>
              <a:buChar char="•"/>
            </a:pPr>
            <a:r>
              <a:rPr lang="en-US" sz="2000" dirty="0"/>
              <a:t> </a:t>
            </a:r>
            <a:r>
              <a:rPr lang="en-US" dirty="0">
                <a:solidFill>
                  <a:schemeClr val="tx1"/>
                </a:solidFill>
              </a:rPr>
              <a:t>Scenario-based design  changes the focus of design work from defining system operations (e.g., functional specification) to describing </a:t>
            </a:r>
            <a:r>
              <a:rPr lang="en-US" dirty="0">
                <a:solidFill>
                  <a:srgbClr val="FF0000"/>
                </a:solidFill>
              </a:rPr>
              <a:t>how people will use a system to accomplish work tasks and other activities.</a:t>
            </a:r>
          </a:p>
          <a:p>
            <a:pPr>
              <a:buFont typeface="Arial" panose="020B0604020202020204" pitchFamily="34" charset="0"/>
              <a:buChar char="•"/>
            </a:pPr>
            <a:r>
              <a:rPr lang="en-US" dirty="0">
                <a:solidFill>
                  <a:schemeClr val="tx1"/>
                </a:solidFill>
              </a:rPr>
              <a:t>It emphasizes contextual use instead of just isolated features.</a:t>
            </a:r>
          </a:p>
          <a:p>
            <a:pPr>
              <a:buFont typeface="Arial" panose="020B0604020202020204" pitchFamily="34" charset="0"/>
              <a:buChar char="•"/>
            </a:pPr>
            <a:r>
              <a:rPr lang="en-US" dirty="0">
                <a:solidFill>
                  <a:schemeClr val="tx1"/>
                </a:solidFill>
              </a:rPr>
              <a:t>Scenarios describe who the user is, what they want to achieve, and how they interact with the system.</a:t>
            </a:r>
          </a:p>
          <a:p>
            <a:pPr>
              <a:buFont typeface="Arial" panose="020B0604020202020204" pitchFamily="34" charset="0"/>
              <a:buChar char="•"/>
            </a:pPr>
            <a:r>
              <a:rPr lang="en-US" dirty="0">
                <a:solidFill>
                  <a:schemeClr val="tx1"/>
                </a:solidFill>
              </a:rPr>
              <a:t>Scenarios are popular in interactive system design due to their ability to facilitate quick communication about usage possibilities and concerns among stakeholders. </a:t>
            </a: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IN" dirty="0">
              <a:solidFill>
                <a:srgbClr val="FF0000"/>
              </a:solidFill>
            </a:endParaRPr>
          </a:p>
        </p:txBody>
      </p:sp>
    </p:spTree>
    <p:extLst>
      <p:ext uri="{BB962C8B-B14F-4D97-AF65-F5344CB8AC3E}">
        <p14:creationId xmlns:p14="http://schemas.microsoft.com/office/powerpoint/2010/main" val="172883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4AF0A-1063-6180-0640-777E1450A7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67E9C-287F-8007-23DF-C7D731999B8F}"/>
              </a:ext>
            </a:extLst>
          </p:cNvPr>
          <p:cNvSpPr>
            <a:spLocks noGrp="1"/>
          </p:cNvSpPr>
          <p:nvPr>
            <p:ph type="sldNum" sz="quarter" idx="14"/>
          </p:nvPr>
        </p:nvSpPr>
        <p:spPr/>
        <p:txBody>
          <a:bodyPr/>
          <a:lstStyle/>
          <a:p>
            <a:fld id="{45A3C14A-F937-4231-B6F1-40B429FAFB2F}" type="slidenum">
              <a:rPr lang="en-NZ" smtClean="0"/>
              <a:pPr/>
              <a:t>25</a:t>
            </a:fld>
            <a:endParaRPr lang="en-NZ" dirty="0"/>
          </a:p>
        </p:txBody>
      </p:sp>
      <p:sp>
        <p:nvSpPr>
          <p:cNvPr id="3" name="Title 2">
            <a:extLst>
              <a:ext uri="{FF2B5EF4-FFF2-40B4-BE49-F238E27FC236}">
                <a16:creationId xmlns:a16="http://schemas.microsoft.com/office/drawing/2014/main" id="{67E6CF22-0834-6459-EFB8-18AD80034914}"/>
              </a:ext>
            </a:extLst>
          </p:cNvPr>
          <p:cNvSpPr>
            <a:spLocks noGrp="1"/>
          </p:cNvSpPr>
          <p:nvPr>
            <p:ph type="title"/>
          </p:nvPr>
        </p:nvSpPr>
        <p:spPr>
          <a:xfrm>
            <a:off x="695399" y="395786"/>
            <a:ext cx="10930655" cy="838202"/>
          </a:xfrm>
        </p:spPr>
        <p:txBody>
          <a:bodyPr/>
          <a:lstStyle/>
          <a:p>
            <a:r>
              <a:rPr lang="en-IN" dirty="0"/>
              <a:t>Scenario-Based Design - </a:t>
            </a:r>
            <a:r>
              <a:rPr lang="en-US" b="1" dirty="0"/>
              <a:t>Airline Entertainment System</a:t>
            </a:r>
            <a:br>
              <a:rPr lang="en-US" dirty="0"/>
            </a:br>
            <a:endParaRPr lang="en-IN" dirty="0"/>
          </a:p>
        </p:txBody>
      </p:sp>
      <p:sp>
        <p:nvSpPr>
          <p:cNvPr id="4" name="Text Placeholder 3">
            <a:extLst>
              <a:ext uri="{FF2B5EF4-FFF2-40B4-BE49-F238E27FC236}">
                <a16:creationId xmlns:a16="http://schemas.microsoft.com/office/drawing/2014/main" id="{FEA56636-8EF9-D557-BB39-727FBF7B9852}"/>
              </a:ext>
            </a:extLst>
          </p:cNvPr>
          <p:cNvSpPr>
            <a:spLocks noGrp="1"/>
          </p:cNvSpPr>
          <p:nvPr>
            <p:ph type="body" sz="quarter" idx="17"/>
          </p:nvPr>
        </p:nvSpPr>
        <p:spPr>
          <a:xfrm>
            <a:off x="191344" y="1325940"/>
            <a:ext cx="11290695" cy="4320480"/>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IN" dirty="0">
              <a:solidFill>
                <a:srgbClr val="FF0000"/>
              </a:solidFill>
            </a:endParaRPr>
          </a:p>
        </p:txBody>
      </p:sp>
      <p:sp>
        <p:nvSpPr>
          <p:cNvPr id="6" name="TextBox 5">
            <a:extLst>
              <a:ext uri="{FF2B5EF4-FFF2-40B4-BE49-F238E27FC236}">
                <a16:creationId xmlns:a16="http://schemas.microsoft.com/office/drawing/2014/main" id="{DAE6A567-EE4E-3B0A-A824-AEF6ACB6467A}"/>
              </a:ext>
            </a:extLst>
          </p:cNvPr>
          <p:cNvSpPr txBox="1"/>
          <p:nvPr/>
        </p:nvSpPr>
        <p:spPr>
          <a:xfrm>
            <a:off x="976151" y="1302628"/>
            <a:ext cx="9721080" cy="2492990"/>
          </a:xfrm>
          <a:prstGeom prst="rect">
            <a:avLst/>
          </a:prstGeom>
          <a:noFill/>
        </p:spPr>
        <p:txBody>
          <a:bodyPr wrap="square">
            <a:spAutoFit/>
          </a:bodyPr>
          <a:lstStyle/>
          <a:p>
            <a:pPr>
              <a:buFont typeface="Arial" panose="020B0604020202020204" pitchFamily="34" charset="0"/>
              <a:buChar char="•"/>
            </a:pPr>
            <a:r>
              <a:rPr lang="en-US" sz="2600" b="1" dirty="0">
                <a:latin typeface="Roboto Medium" panose="02000000000000000000" pitchFamily="2" charset="0"/>
                <a:ea typeface="Roboto Medium" panose="02000000000000000000" pitchFamily="2" charset="0"/>
                <a:cs typeface="Roboto Medium" panose="02000000000000000000" pitchFamily="2" charset="0"/>
              </a:rPr>
              <a:t>Scenario</a:t>
            </a:r>
            <a:r>
              <a:rPr lang="en-US" sz="2600" dirty="0">
                <a:latin typeface="Roboto Medium" panose="02000000000000000000" pitchFamily="2" charset="0"/>
                <a:ea typeface="Roboto Medium" panose="02000000000000000000" pitchFamily="2" charset="0"/>
                <a:cs typeface="Roboto Medium" panose="02000000000000000000" pitchFamily="2" charset="0"/>
              </a:rPr>
              <a:t>: Sarah is on a long-haul flight. She wants to watch a movie, track her flight status, and order food via the entertainment screen.</a:t>
            </a:r>
          </a:p>
          <a:p>
            <a:pPr>
              <a:buFont typeface="Arial" panose="020B0604020202020204" pitchFamily="34" charset="0"/>
              <a:buChar char="•"/>
            </a:pPr>
            <a:endParaRPr lang="en-US" sz="2600" dirty="0">
              <a:latin typeface="Roboto Medium" panose="02000000000000000000" pitchFamily="2" charset="0"/>
              <a:ea typeface="Roboto Medium" panose="02000000000000000000" pitchFamily="2" charset="0"/>
              <a:cs typeface="Roboto Medium" panose="02000000000000000000" pitchFamily="2" charset="0"/>
            </a:endParaRPr>
          </a:p>
          <a:p>
            <a:pPr>
              <a:buFont typeface="Arial" panose="020B0604020202020204" pitchFamily="34" charset="0"/>
              <a:buChar char="•"/>
            </a:pPr>
            <a:r>
              <a:rPr lang="en-US" sz="2600" b="1" dirty="0">
                <a:latin typeface="Roboto Medium" panose="02000000000000000000" pitchFamily="2" charset="0"/>
                <a:ea typeface="Roboto Medium" panose="02000000000000000000" pitchFamily="2" charset="0"/>
                <a:cs typeface="Roboto Medium" panose="02000000000000000000" pitchFamily="2" charset="0"/>
              </a:rPr>
              <a:t>Design Use</a:t>
            </a:r>
            <a:r>
              <a:rPr lang="en-US" sz="2600" dirty="0">
                <a:latin typeface="Roboto Medium" panose="02000000000000000000" pitchFamily="2" charset="0"/>
                <a:ea typeface="Roboto Medium" panose="02000000000000000000" pitchFamily="2" charset="0"/>
                <a:cs typeface="Roboto Medium" panose="02000000000000000000" pitchFamily="2" charset="0"/>
              </a:rPr>
              <a:t>: Guides the design of a </a:t>
            </a:r>
            <a:r>
              <a:rPr lang="en-US" sz="2600" b="1" dirty="0">
                <a:latin typeface="Roboto Medium" panose="02000000000000000000" pitchFamily="2" charset="0"/>
                <a:ea typeface="Roboto Medium" panose="02000000000000000000" pitchFamily="2" charset="0"/>
                <a:cs typeface="Roboto Medium" panose="02000000000000000000" pitchFamily="2" charset="0"/>
              </a:rPr>
              <a:t>menu and navigation system</a:t>
            </a:r>
            <a:r>
              <a:rPr lang="en-US" sz="2600" dirty="0">
                <a:latin typeface="Roboto Medium" panose="02000000000000000000" pitchFamily="2" charset="0"/>
                <a:ea typeface="Roboto Medium" panose="02000000000000000000" pitchFamily="2" charset="0"/>
                <a:cs typeface="Roboto Medium" panose="02000000000000000000" pitchFamily="2" charset="0"/>
              </a:rPr>
              <a:t> that supports entertainment, travel info, and food ordering.</a:t>
            </a:r>
          </a:p>
        </p:txBody>
      </p:sp>
    </p:spTree>
    <p:extLst>
      <p:ext uri="{BB962C8B-B14F-4D97-AF65-F5344CB8AC3E}">
        <p14:creationId xmlns:p14="http://schemas.microsoft.com/office/powerpoint/2010/main" val="2349366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FBB3B-AD45-AB81-9B38-ED81A8A350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C2AFE8-CA8E-0132-9737-3EFBA7503F2E}"/>
              </a:ext>
            </a:extLst>
          </p:cNvPr>
          <p:cNvSpPr>
            <a:spLocks noGrp="1"/>
          </p:cNvSpPr>
          <p:nvPr>
            <p:ph type="sldNum" sz="quarter" idx="14"/>
          </p:nvPr>
        </p:nvSpPr>
        <p:spPr/>
        <p:txBody>
          <a:bodyPr/>
          <a:lstStyle/>
          <a:p>
            <a:fld id="{45A3C14A-F937-4231-B6F1-40B429FAFB2F}" type="slidenum">
              <a:rPr lang="en-NZ" smtClean="0"/>
              <a:pPr/>
              <a:t>26</a:t>
            </a:fld>
            <a:endParaRPr lang="en-NZ" dirty="0"/>
          </a:p>
        </p:txBody>
      </p:sp>
      <p:sp>
        <p:nvSpPr>
          <p:cNvPr id="3" name="Title 2">
            <a:extLst>
              <a:ext uri="{FF2B5EF4-FFF2-40B4-BE49-F238E27FC236}">
                <a16:creationId xmlns:a16="http://schemas.microsoft.com/office/drawing/2014/main" id="{2D62541C-CC98-C991-0DD7-B26FFE3BBDFB}"/>
              </a:ext>
            </a:extLst>
          </p:cNvPr>
          <p:cNvSpPr>
            <a:spLocks noGrp="1"/>
          </p:cNvSpPr>
          <p:nvPr>
            <p:ph type="title"/>
          </p:nvPr>
        </p:nvSpPr>
        <p:spPr>
          <a:xfrm>
            <a:off x="695400" y="395786"/>
            <a:ext cx="10153128" cy="838202"/>
          </a:xfrm>
        </p:spPr>
        <p:txBody>
          <a:bodyPr/>
          <a:lstStyle/>
          <a:p>
            <a:r>
              <a:rPr lang="en-US" dirty="0"/>
              <a:t>Scenarios in the System-Development Lifecycle</a:t>
            </a:r>
            <a:endParaRPr lang="en-IN" dirty="0"/>
          </a:p>
        </p:txBody>
      </p:sp>
      <p:sp>
        <p:nvSpPr>
          <p:cNvPr id="4" name="Text Placeholder 3">
            <a:extLst>
              <a:ext uri="{FF2B5EF4-FFF2-40B4-BE49-F238E27FC236}">
                <a16:creationId xmlns:a16="http://schemas.microsoft.com/office/drawing/2014/main" id="{B867DF45-0DF5-E245-7720-03214715B838}"/>
              </a:ext>
            </a:extLst>
          </p:cNvPr>
          <p:cNvSpPr>
            <a:spLocks noGrp="1"/>
          </p:cNvSpPr>
          <p:nvPr>
            <p:ph type="body" sz="quarter" idx="17"/>
          </p:nvPr>
        </p:nvSpPr>
        <p:spPr/>
        <p:txBody>
          <a:bodyPr/>
          <a:lstStyle/>
          <a:p>
            <a:r>
              <a:rPr lang="en-US" dirty="0"/>
              <a:t>Personas and envisionment</a:t>
            </a:r>
          </a:p>
          <a:p>
            <a:r>
              <a:rPr lang="en-US" dirty="0"/>
              <a:t>Use cases and object-oriented design </a:t>
            </a:r>
          </a:p>
          <a:p>
            <a:r>
              <a:rPr lang="en-US" dirty="0"/>
              <a:t>Analyzing nonfunctional requirements</a:t>
            </a:r>
          </a:p>
          <a:p>
            <a:r>
              <a:rPr lang="en-US" dirty="0"/>
              <a:t>Evaluating systems in use .</a:t>
            </a:r>
            <a:endParaRPr lang="en-IN" dirty="0"/>
          </a:p>
        </p:txBody>
      </p:sp>
    </p:spTree>
    <p:extLst>
      <p:ext uri="{BB962C8B-B14F-4D97-AF65-F5344CB8AC3E}">
        <p14:creationId xmlns:p14="http://schemas.microsoft.com/office/powerpoint/2010/main" val="3708817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F79BA6-376F-4F04-3A80-EBCA089A5A47}"/>
              </a:ext>
            </a:extLst>
          </p:cNvPr>
          <p:cNvSpPr>
            <a:spLocks noGrp="1"/>
          </p:cNvSpPr>
          <p:nvPr>
            <p:ph type="sldNum" sz="quarter" idx="14"/>
          </p:nvPr>
        </p:nvSpPr>
        <p:spPr/>
        <p:txBody>
          <a:bodyPr/>
          <a:lstStyle/>
          <a:p>
            <a:fld id="{45A3C14A-F937-4231-B6F1-40B429FAFB2F}" type="slidenum">
              <a:rPr lang="en-NZ" smtClean="0"/>
              <a:pPr/>
              <a:t>27</a:t>
            </a:fld>
            <a:endParaRPr lang="en-NZ" dirty="0"/>
          </a:p>
        </p:txBody>
      </p:sp>
      <p:sp>
        <p:nvSpPr>
          <p:cNvPr id="3" name="Title 2">
            <a:extLst>
              <a:ext uri="{FF2B5EF4-FFF2-40B4-BE49-F238E27FC236}">
                <a16:creationId xmlns:a16="http://schemas.microsoft.com/office/drawing/2014/main" id="{9F0D92C4-BB4F-710F-A68C-46315D016E76}"/>
              </a:ext>
            </a:extLst>
          </p:cNvPr>
          <p:cNvSpPr>
            <a:spLocks noGrp="1"/>
          </p:cNvSpPr>
          <p:nvPr>
            <p:ph type="title"/>
          </p:nvPr>
        </p:nvSpPr>
        <p:spPr>
          <a:xfrm>
            <a:off x="119336" y="188640"/>
            <a:ext cx="9937104" cy="367350"/>
          </a:xfrm>
        </p:spPr>
        <p:txBody>
          <a:bodyPr/>
          <a:lstStyle/>
          <a:p>
            <a:r>
              <a:rPr lang="en-IN" dirty="0"/>
              <a:t>scenario-based design (SBD) framework.</a:t>
            </a:r>
          </a:p>
        </p:txBody>
      </p:sp>
      <p:pic>
        <p:nvPicPr>
          <p:cNvPr id="6" name="Picture 5">
            <a:extLst>
              <a:ext uri="{FF2B5EF4-FFF2-40B4-BE49-F238E27FC236}">
                <a16:creationId xmlns:a16="http://schemas.microsoft.com/office/drawing/2014/main" id="{8DB75983-E9AA-BED6-930C-7DFD8B5E1AF2}"/>
              </a:ext>
            </a:extLst>
          </p:cNvPr>
          <p:cNvPicPr>
            <a:picLocks noChangeAspect="1"/>
          </p:cNvPicPr>
          <p:nvPr/>
        </p:nvPicPr>
        <p:blipFill>
          <a:blip r:embed="rId2"/>
          <a:stretch>
            <a:fillRect/>
          </a:stretch>
        </p:blipFill>
        <p:spPr>
          <a:xfrm>
            <a:off x="2927648" y="555990"/>
            <a:ext cx="6428593" cy="5538874"/>
          </a:xfrm>
          <a:prstGeom prst="rect">
            <a:avLst/>
          </a:prstGeom>
        </p:spPr>
      </p:pic>
    </p:spTree>
    <p:extLst>
      <p:ext uri="{BB962C8B-B14F-4D97-AF65-F5344CB8AC3E}">
        <p14:creationId xmlns:p14="http://schemas.microsoft.com/office/powerpoint/2010/main" val="3988383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A6889-F3E3-382A-470B-1F8DAD1985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7C8D14-C9FE-1094-8A2E-A0D7CCA9AAFB}"/>
              </a:ext>
            </a:extLst>
          </p:cNvPr>
          <p:cNvSpPr>
            <a:spLocks noGrp="1"/>
          </p:cNvSpPr>
          <p:nvPr>
            <p:ph type="sldNum" sz="quarter" idx="14"/>
          </p:nvPr>
        </p:nvSpPr>
        <p:spPr/>
        <p:txBody>
          <a:bodyPr/>
          <a:lstStyle/>
          <a:p>
            <a:fld id="{45A3C14A-F937-4231-B6F1-40B429FAFB2F}" type="slidenum">
              <a:rPr lang="en-NZ" smtClean="0"/>
              <a:pPr/>
              <a:t>28</a:t>
            </a:fld>
            <a:endParaRPr lang="en-NZ" dirty="0"/>
          </a:p>
        </p:txBody>
      </p:sp>
      <p:sp>
        <p:nvSpPr>
          <p:cNvPr id="3" name="Title 2">
            <a:extLst>
              <a:ext uri="{FF2B5EF4-FFF2-40B4-BE49-F238E27FC236}">
                <a16:creationId xmlns:a16="http://schemas.microsoft.com/office/drawing/2014/main" id="{87954397-A6CA-082A-A8A3-2343D57B35A8}"/>
              </a:ext>
            </a:extLst>
          </p:cNvPr>
          <p:cNvSpPr>
            <a:spLocks noGrp="1"/>
          </p:cNvSpPr>
          <p:nvPr>
            <p:ph type="title"/>
          </p:nvPr>
        </p:nvSpPr>
        <p:spPr>
          <a:xfrm>
            <a:off x="695400" y="395786"/>
            <a:ext cx="9145016" cy="838202"/>
          </a:xfrm>
        </p:spPr>
        <p:txBody>
          <a:bodyPr/>
          <a:lstStyle/>
          <a:p>
            <a:r>
              <a:rPr lang="en-IN" dirty="0"/>
              <a:t>Potential Pitfalls in Scenario-Based Design</a:t>
            </a:r>
          </a:p>
        </p:txBody>
      </p:sp>
      <p:sp>
        <p:nvSpPr>
          <p:cNvPr id="4" name="Text Placeholder 3">
            <a:extLst>
              <a:ext uri="{FF2B5EF4-FFF2-40B4-BE49-F238E27FC236}">
                <a16:creationId xmlns:a16="http://schemas.microsoft.com/office/drawing/2014/main" id="{65348ABD-1744-1F56-9A55-D08467EAE6D8}"/>
              </a:ext>
            </a:extLst>
          </p:cNvPr>
          <p:cNvSpPr>
            <a:spLocks noGrp="1"/>
          </p:cNvSpPr>
          <p:nvPr>
            <p:ph type="body" sz="quarter" idx="17"/>
          </p:nvPr>
        </p:nvSpPr>
        <p:spPr/>
        <p:txBody>
          <a:bodyPr/>
          <a:lstStyle/>
          <a:p>
            <a:pPr algn="just"/>
            <a:r>
              <a:rPr lang="en-US" dirty="0">
                <a:solidFill>
                  <a:schemeClr val="tx1"/>
                </a:solidFill>
              </a:rPr>
              <a:t>Scenario envisioning and analysis can address solution-first design concerns but may introduce bias and narrow views. </a:t>
            </a:r>
          </a:p>
          <a:p>
            <a:pPr algn="just"/>
            <a:r>
              <a:rPr lang="en-US" dirty="0">
                <a:solidFill>
                  <a:schemeClr val="tx1"/>
                </a:solidFill>
              </a:rPr>
              <a:t>Designers may focus on incremental changes rather than innovative ideas. </a:t>
            </a:r>
          </a:p>
          <a:p>
            <a:pPr algn="just"/>
            <a:r>
              <a:rPr lang="en-US" dirty="0">
                <a:solidFill>
                  <a:schemeClr val="tx1"/>
                </a:solidFill>
              </a:rPr>
              <a:t>Scenario-based design may also lead to documentation burden as designers maintain and evolve large sets of design scenarios. </a:t>
            </a:r>
          </a:p>
        </p:txBody>
      </p:sp>
    </p:spTree>
    <p:extLst>
      <p:ext uri="{BB962C8B-B14F-4D97-AF65-F5344CB8AC3E}">
        <p14:creationId xmlns:p14="http://schemas.microsoft.com/office/powerpoint/2010/main" val="481881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F3A29-51D3-1F65-661A-57224C64D452}"/>
              </a:ext>
            </a:extLst>
          </p:cNvPr>
          <p:cNvSpPr>
            <a:spLocks noGrp="1"/>
          </p:cNvSpPr>
          <p:nvPr>
            <p:ph type="sldNum" sz="quarter" idx="14"/>
          </p:nvPr>
        </p:nvSpPr>
        <p:spPr/>
        <p:txBody>
          <a:bodyPr/>
          <a:lstStyle/>
          <a:p>
            <a:fld id="{45A3C14A-F937-4231-B6F1-40B429FAFB2F}" type="slidenum">
              <a:rPr lang="en-NZ" smtClean="0"/>
              <a:pPr/>
              <a:t>29</a:t>
            </a:fld>
            <a:endParaRPr lang="en-NZ" dirty="0"/>
          </a:p>
        </p:txBody>
      </p:sp>
      <p:sp>
        <p:nvSpPr>
          <p:cNvPr id="3" name="Title 2">
            <a:extLst>
              <a:ext uri="{FF2B5EF4-FFF2-40B4-BE49-F238E27FC236}">
                <a16:creationId xmlns:a16="http://schemas.microsoft.com/office/drawing/2014/main" id="{152BBAB1-5DFB-051E-7AEA-3A09421ED0D5}"/>
              </a:ext>
            </a:extLst>
          </p:cNvPr>
          <p:cNvSpPr>
            <a:spLocks noGrp="1"/>
          </p:cNvSpPr>
          <p:nvPr>
            <p:ph type="title"/>
          </p:nvPr>
        </p:nvSpPr>
        <p:spPr>
          <a:xfrm>
            <a:off x="335360" y="188640"/>
            <a:ext cx="6211927" cy="654246"/>
          </a:xfrm>
        </p:spPr>
        <p:txBody>
          <a:bodyPr/>
          <a:lstStyle/>
          <a:p>
            <a:r>
              <a:rPr lang="en-IN" dirty="0"/>
              <a:t>Participatory Design</a:t>
            </a:r>
          </a:p>
        </p:txBody>
      </p:sp>
      <p:sp>
        <p:nvSpPr>
          <p:cNvPr id="4" name="Text Placeholder 3">
            <a:extLst>
              <a:ext uri="{FF2B5EF4-FFF2-40B4-BE49-F238E27FC236}">
                <a16:creationId xmlns:a16="http://schemas.microsoft.com/office/drawing/2014/main" id="{2AD6CA5B-38ED-D322-826B-7F0001757385}"/>
              </a:ext>
            </a:extLst>
          </p:cNvPr>
          <p:cNvSpPr>
            <a:spLocks noGrp="1"/>
          </p:cNvSpPr>
          <p:nvPr>
            <p:ph type="body" sz="quarter" idx="17"/>
          </p:nvPr>
        </p:nvSpPr>
        <p:spPr>
          <a:xfrm>
            <a:off x="565945" y="980728"/>
            <a:ext cx="10801201" cy="4320480"/>
          </a:xfrm>
        </p:spPr>
        <p:txBody>
          <a:bodyPr/>
          <a:lstStyle/>
          <a:p>
            <a:r>
              <a:rPr lang="en-US" dirty="0"/>
              <a:t>Participatory design is a collaborative design approach that involves end-users in the design process. </a:t>
            </a:r>
          </a:p>
          <a:p>
            <a:r>
              <a:rPr lang="en-US" dirty="0"/>
              <a:t>Its aim is to create products and services that better meet the needs and expectations of users by applying their knowledge and experiences.</a:t>
            </a:r>
          </a:p>
          <a:p>
            <a:r>
              <a:rPr lang="en-US" dirty="0"/>
              <a:t>Participatory design is built on the principles of </a:t>
            </a:r>
            <a:r>
              <a:rPr lang="en-US" dirty="0">
                <a:solidFill>
                  <a:srgbClr val="FF0000"/>
                </a:solidFill>
              </a:rPr>
              <a:t>collaboration, co-creation, and empowerment</a:t>
            </a:r>
            <a:r>
              <a:rPr lang="en-US" dirty="0"/>
              <a:t>. </a:t>
            </a:r>
          </a:p>
          <a:p>
            <a:r>
              <a:rPr lang="en-US" dirty="0"/>
              <a:t>Users contribute to the design process : in brainstorming, sketching, prototyping, testing, and decision-making.</a:t>
            </a:r>
          </a:p>
          <a:p>
            <a:r>
              <a:rPr lang="en-US" dirty="0"/>
              <a:t>The core Idea is “Design with users”, not just for them. </a:t>
            </a:r>
          </a:p>
          <a:p>
            <a:r>
              <a:rPr lang="en-US" dirty="0"/>
              <a:t>Promotes democracy in design by ensuring the system reflects real user needs.</a:t>
            </a:r>
          </a:p>
        </p:txBody>
      </p:sp>
    </p:spTree>
    <p:extLst>
      <p:ext uri="{BB962C8B-B14F-4D97-AF65-F5344CB8AC3E}">
        <p14:creationId xmlns:p14="http://schemas.microsoft.com/office/powerpoint/2010/main" val="296777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EF52-10C2-4A57-1C5C-09F7A08A58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50A3AD-9955-1EED-DEB6-F8C209FD682D}"/>
              </a:ext>
            </a:extLst>
          </p:cNvPr>
          <p:cNvSpPr>
            <a:spLocks noGrp="1"/>
          </p:cNvSpPr>
          <p:nvPr>
            <p:ph type="sldNum" sz="quarter" idx="14"/>
          </p:nvPr>
        </p:nvSpPr>
        <p:spPr/>
        <p:txBody>
          <a:bodyPr/>
          <a:lstStyle/>
          <a:p>
            <a:fld id="{45A3C14A-F937-4231-B6F1-40B429FAFB2F}" type="slidenum">
              <a:rPr lang="en-NZ" smtClean="0"/>
              <a:pPr/>
              <a:t>30</a:t>
            </a:fld>
            <a:endParaRPr lang="en-NZ" dirty="0"/>
          </a:p>
        </p:txBody>
      </p:sp>
      <p:sp>
        <p:nvSpPr>
          <p:cNvPr id="3" name="Title 2">
            <a:extLst>
              <a:ext uri="{FF2B5EF4-FFF2-40B4-BE49-F238E27FC236}">
                <a16:creationId xmlns:a16="http://schemas.microsoft.com/office/drawing/2014/main" id="{42D7CF65-76ED-8B03-6A28-E1F2339F7B75}"/>
              </a:ext>
            </a:extLst>
          </p:cNvPr>
          <p:cNvSpPr>
            <a:spLocks noGrp="1"/>
          </p:cNvSpPr>
          <p:nvPr>
            <p:ph type="title"/>
          </p:nvPr>
        </p:nvSpPr>
        <p:spPr/>
        <p:txBody>
          <a:bodyPr/>
          <a:lstStyle/>
          <a:p>
            <a:r>
              <a:rPr lang="en-US" b="1" dirty="0"/>
              <a:t>Key Aspects of Participatory Design</a:t>
            </a:r>
          </a:p>
        </p:txBody>
      </p:sp>
      <p:sp>
        <p:nvSpPr>
          <p:cNvPr id="4" name="Text Placeholder 3">
            <a:extLst>
              <a:ext uri="{FF2B5EF4-FFF2-40B4-BE49-F238E27FC236}">
                <a16:creationId xmlns:a16="http://schemas.microsoft.com/office/drawing/2014/main" id="{B02EF875-0817-A34E-867C-907AA6EF759C}"/>
              </a:ext>
            </a:extLst>
          </p:cNvPr>
          <p:cNvSpPr>
            <a:spLocks noGrp="1"/>
          </p:cNvSpPr>
          <p:nvPr>
            <p:ph type="body" sz="quarter" idx="17"/>
          </p:nvPr>
        </p:nvSpPr>
        <p:spPr/>
        <p:txBody>
          <a:bodyPr/>
          <a:lstStyle/>
          <a:p>
            <a:pPr algn="just"/>
            <a:r>
              <a:rPr lang="en-US" b="1" dirty="0"/>
              <a:t>Inclusion:</a:t>
            </a:r>
            <a:r>
              <a:rPr lang="en-US" dirty="0"/>
              <a:t> Include a diverse range of participants who will be affected by or interact with the product, system or problem that needs to be solved. This includes end-users, designers, developers, domain experts, and other stakeholders.</a:t>
            </a:r>
          </a:p>
          <a:p>
            <a:pPr algn="just"/>
            <a:r>
              <a:rPr lang="en-US" b="1" dirty="0"/>
              <a:t>Collaboration: </a:t>
            </a:r>
            <a:r>
              <a:rPr lang="en-US" dirty="0"/>
              <a:t>Involve collaborative activities where participants can contribute their knowledge, insights, and ideas. This collaboration can take various forms, such as workshops, interviews, brainstorming sessions, and co-design exercises.</a:t>
            </a:r>
          </a:p>
          <a:p>
            <a:pPr algn="just"/>
            <a:r>
              <a:rPr lang="en-US" b="1" dirty="0"/>
              <a:t>Empowerment: </a:t>
            </a:r>
            <a:r>
              <a:rPr lang="en-US" dirty="0"/>
              <a:t>Empower users and stakeholders to actively influence design decisions. Their input and feedback are valued and incorporated into the design process, giving them as much ownership and control as designers.</a:t>
            </a:r>
          </a:p>
          <a:p>
            <a:endParaRPr lang="en-IN" dirty="0"/>
          </a:p>
        </p:txBody>
      </p:sp>
    </p:spTree>
    <p:extLst>
      <p:ext uri="{BB962C8B-B14F-4D97-AF65-F5344CB8AC3E}">
        <p14:creationId xmlns:p14="http://schemas.microsoft.com/office/powerpoint/2010/main" val="2046054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3AD03-1E38-73F2-565F-5461D8BCE8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E971E1-73D2-1D46-921C-529DCC9B1A85}"/>
              </a:ext>
            </a:extLst>
          </p:cNvPr>
          <p:cNvSpPr>
            <a:spLocks noGrp="1"/>
          </p:cNvSpPr>
          <p:nvPr>
            <p:ph type="sldNum" sz="quarter" idx="14"/>
          </p:nvPr>
        </p:nvSpPr>
        <p:spPr/>
        <p:txBody>
          <a:bodyPr/>
          <a:lstStyle/>
          <a:p>
            <a:fld id="{45A3C14A-F937-4231-B6F1-40B429FAFB2F}" type="slidenum">
              <a:rPr lang="en-NZ" smtClean="0"/>
              <a:pPr/>
              <a:t>31</a:t>
            </a:fld>
            <a:endParaRPr lang="en-NZ" dirty="0"/>
          </a:p>
        </p:txBody>
      </p:sp>
      <p:sp>
        <p:nvSpPr>
          <p:cNvPr id="3" name="Title 2">
            <a:extLst>
              <a:ext uri="{FF2B5EF4-FFF2-40B4-BE49-F238E27FC236}">
                <a16:creationId xmlns:a16="http://schemas.microsoft.com/office/drawing/2014/main" id="{7E027996-CA58-083B-6D76-B64309E180A6}"/>
              </a:ext>
            </a:extLst>
          </p:cNvPr>
          <p:cNvSpPr>
            <a:spLocks noGrp="1"/>
          </p:cNvSpPr>
          <p:nvPr>
            <p:ph type="title"/>
          </p:nvPr>
        </p:nvSpPr>
        <p:spPr/>
        <p:txBody>
          <a:bodyPr/>
          <a:lstStyle/>
          <a:p>
            <a:r>
              <a:rPr lang="en-US" b="1" dirty="0"/>
              <a:t>Key Aspects of Participatory Design</a:t>
            </a:r>
          </a:p>
        </p:txBody>
      </p:sp>
      <p:sp>
        <p:nvSpPr>
          <p:cNvPr id="4" name="Text Placeholder 3">
            <a:extLst>
              <a:ext uri="{FF2B5EF4-FFF2-40B4-BE49-F238E27FC236}">
                <a16:creationId xmlns:a16="http://schemas.microsoft.com/office/drawing/2014/main" id="{A797AA6B-8EE4-7646-A544-65463E6DE05A}"/>
              </a:ext>
            </a:extLst>
          </p:cNvPr>
          <p:cNvSpPr>
            <a:spLocks noGrp="1"/>
          </p:cNvSpPr>
          <p:nvPr>
            <p:ph type="body" sz="quarter" idx="17"/>
          </p:nvPr>
        </p:nvSpPr>
        <p:spPr/>
        <p:txBody>
          <a:bodyPr/>
          <a:lstStyle/>
          <a:p>
            <a:r>
              <a:rPr lang="en-US" b="1" dirty="0"/>
              <a:t>Iteration:</a:t>
            </a:r>
            <a:r>
              <a:rPr lang="en-US" dirty="0"/>
              <a:t> Iterate; the design process is iterative, with continuous feedback and refinement. Participants should help evaluate prototypes, provide feedback, and suggest improvements. This iterative approach helps ensure that the final design meets user needs effectively.</a:t>
            </a:r>
          </a:p>
          <a:p>
            <a:r>
              <a:rPr lang="en-US" b="1" dirty="0"/>
              <a:t>Contextual understanding:</a:t>
            </a:r>
            <a:r>
              <a:rPr lang="en-US" dirty="0"/>
              <a:t> Listen to the participants to understand the context in which the final product or system will be used. Learn the cultural, social, and environmental factors to create solutions tailored to their specific context.</a:t>
            </a:r>
          </a:p>
          <a:p>
            <a:r>
              <a:rPr lang="en-US" b="1" dirty="0"/>
              <a:t>User advocacy:</a:t>
            </a:r>
            <a:r>
              <a:rPr lang="en-US" dirty="0"/>
              <a:t> Allow users to advocate for themselves throughout the design process. Address power imbalances and ensure design decisions prioritize users' interests and goals. The goal is to create an equal and safe space for collaboration and co-design.</a:t>
            </a:r>
          </a:p>
        </p:txBody>
      </p:sp>
    </p:spTree>
    <p:extLst>
      <p:ext uri="{BB962C8B-B14F-4D97-AF65-F5344CB8AC3E}">
        <p14:creationId xmlns:p14="http://schemas.microsoft.com/office/powerpoint/2010/main" val="2913064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3D4C4-E8A2-5511-7B61-3847E4480543}"/>
              </a:ext>
            </a:extLst>
          </p:cNvPr>
          <p:cNvSpPr>
            <a:spLocks noGrp="1"/>
          </p:cNvSpPr>
          <p:nvPr>
            <p:ph type="sldNum" sz="quarter" idx="14"/>
          </p:nvPr>
        </p:nvSpPr>
        <p:spPr/>
        <p:txBody>
          <a:bodyPr/>
          <a:lstStyle/>
          <a:p>
            <a:fld id="{45A3C14A-F937-4231-B6F1-40B429FAFB2F}" type="slidenum">
              <a:rPr lang="en-NZ" smtClean="0"/>
              <a:pPr/>
              <a:t>32</a:t>
            </a:fld>
            <a:endParaRPr lang="en-NZ" dirty="0"/>
          </a:p>
        </p:txBody>
      </p:sp>
      <p:sp>
        <p:nvSpPr>
          <p:cNvPr id="3" name="Title 2">
            <a:extLst>
              <a:ext uri="{FF2B5EF4-FFF2-40B4-BE49-F238E27FC236}">
                <a16:creationId xmlns:a16="http://schemas.microsoft.com/office/drawing/2014/main" id="{41E132F6-F55A-C052-845F-1A701975D356}"/>
              </a:ext>
            </a:extLst>
          </p:cNvPr>
          <p:cNvSpPr>
            <a:spLocks noGrp="1"/>
          </p:cNvSpPr>
          <p:nvPr>
            <p:ph type="title"/>
          </p:nvPr>
        </p:nvSpPr>
        <p:spPr>
          <a:xfrm>
            <a:off x="695400" y="395786"/>
            <a:ext cx="7560840" cy="838202"/>
          </a:xfrm>
        </p:spPr>
        <p:txBody>
          <a:bodyPr/>
          <a:lstStyle/>
          <a:p>
            <a:r>
              <a:rPr lang="en-US" b="1" dirty="0"/>
              <a:t>The Benefits of Participatory Design</a:t>
            </a:r>
            <a:endParaRPr lang="en-IN" dirty="0"/>
          </a:p>
        </p:txBody>
      </p:sp>
      <p:sp>
        <p:nvSpPr>
          <p:cNvPr id="4" name="Text Placeholder 3">
            <a:extLst>
              <a:ext uri="{FF2B5EF4-FFF2-40B4-BE49-F238E27FC236}">
                <a16:creationId xmlns:a16="http://schemas.microsoft.com/office/drawing/2014/main" id="{3C173344-D77F-3986-C3E3-01DCFA57E183}"/>
              </a:ext>
            </a:extLst>
          </p:cNvPr>
          <p:cNvSpPr>
            <a:spLocks noGrp="1"/>
          </p:cNvSpPr>
          <p:nvPr>
            <p:ph type="body" sz="quarter" idx="17"/>
          </p:nvPr>
        </p:nvSpPr>
        <p:spPr/>
        <p:txBody>
          <a:bodyPr/>
          <a:lstStyle/>
          <a:p>
            <a:r>
              <a:rPr lang="en-IN" dirty="0"/>
              <a:t>Improved user satisfaction</a:t>
            </a:r>
          </a:p>
          <a:p>
            <a:r>
              <a:rPr lang="en-IN" dirty="0"/>
              <a:t>Increased user engagement</a:t>
            </a:r>
          </a:p>
          <a:p>
            <a:r>
              <a:rPr lang="en-IN" dirty="0"/>
              <a:t>Reduced development costs</a:t>
            </a:r>
          </a:p>
          <a:p>
            <a:r>
              <a:rPr lang="en-US" dirty="0"/>
              <a:t>Improved innovation</a:t>
            </a:r>
          </a:p>
          <a:p>
            <a:r>
              <a:rPr lang="en-US" dirty="0"/>
              <a:t>Increased social inclusion</a:t>
            </a:r>
          </a:p>
          <a:p>
            <a:r>
              <a:rPr lang="en-IN" dirty="0"/>
              <a:t>Reduced Rework</a:t>
            </a:r>
          </a:p>
        </p:txBody>
      </p:sp>
    </p:spTree>
    <p:extLst>
      <p:ext uri="{BB962C8B-B14F-4D97-AF65-F5344CB8AC3E}">
        <p14:creationId xmlns:p14="http://schemas.microsoft.com/office/powerpoint/2010/main" val="484381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B247FC-19CA-A7C5-CA15-25C4EA66CF4C}"/>
              </a:ext>
            </a:extLst>
          </p:cNvPr>
          <p:cNvSpPr>
            <a:spLocks noGrp="1"/>
          </p:cNvSpPr>
          <p:nvPr>
            <p:ph type="sldNum" sz="quarter" idx="14"/>
          </p:nvPr>
        </p:nvSpPr>
        <p:spPr/>
        <p:txBody>
          <a:bodyPr/>
          <a:lstStyle/>
          <a:p>
            <a:fld id="{45A3C14A-F937-4231-B6F1-40B429FAFB2F}" type="slidenum">
              <a:rPr lang="en-NZ" smtClean="0"/>
              <a:pPr/>
              <a:t>33</a:t>
            </a:fld>
            <a:endParaRPr lang="en-NZ" dirty="0"/>
          </a:p>
        </p:txBody>
      </p:sp>
      <p:sp>
        <p:nvSpPr>
          <p:cNvPr id="3" name="Title 2">
            <a:extLst>
              <a:ext uri="{FF2B5EF4-FFF2-40B4-BE49-F238E27FC236}">
                <a16:creationId xmlns:a16="http://schemas.microsoft.com/office/drawing/2014/main" id="{352C3FB0-73E7-2433-E2BF-5BA658308272}"/>
              </a:ext>
            </a:extLst>
          </p:cNvPr>
          <p:cNvSpPr>
            <a:spLocks noGrp="1"/>
          </p:cNvSpPr>
          <p:nvPr>
            <p:ph type="title"/>
          </p:nvPr>
        </p:nvSpPr>
        <p:spPr/>
        <p:txBody>
          <a:bodyPr/>
          <a:lstStyle/>
          <a:p>
            <a:r>
              <a:rPr lang="en-IN" dirty="0"/>
              <a:t>Example</a:t>
            </a:r>
          </a:p>
        </p:txBody>
      </p:sp>
      <p:sp>
        <p:nvSpPr>
          <p:cNvPr id="4" name="Text Placeholder 3">
            <a:extLst>
              <a:ext uri="{FF2B5EF4-FFF2-40B4-BE49-F238E27FC236}">
                <a16:creationId xmlns:a16="http://schemas.microsoft.com/office/drawing/2014/main" id="{875D9380-8A44-D5BE-4388-9AECDD994C2C}"/>
              </a:ext>
            </a:extLst>
          </p:cNvPr>
          <p:cNvSpPr>
            <a:spLocks noGrp="1"/>
          </p:cNvSpPr>
          <p:nvPr>
            <p:ph type="body" sz="quarter" idx="17"/>
          </p:nvPr>
        </p:nvSpPr>
        <p:spPr/>
        <p:txBody>
          <a:bodyPr/>
          <a:lstStyle/>
          <a:p>
            <a:pPr>
              <a:buFont typeface="Arial" panose="020B0604020202020204" pitchFamily="34" charset="0"/>
              <a:buChar char="•"/>
            </a:pPr>
            <a:r>
              <a:rPr lang="en-US" b="1" dirty="0"/>
              <a:t>IDEO's Design Thinking Process:</a:t>
            </a:r>
            <a:r>
              <a:rPr lang="en-US" dirty="0"/>
              <a:t> IDEO, a global design and innovation consultancy, employs a Participatory Design approach known as Design Thinking. They involve stakeholders and end-users in co-design workshops and prototyping sessions to develop innovative solutions to complex challenges.</a:t>
            </a:r>
          </a:p>
          <a:p>
            <a:pPr>
              <a:buFont typeface="Arial" panose="020B0604020202020204" pitchFamily="34" charset="0"/>
              <a:buChar char="•"/>
            </a:pPr>
            <a:r>
              <a:rPr lang="en-US" b="1" dirty="0" err="1"/>
              <a:t>OpenIDEO</a:t>
            </a:r>
            <a:r>
              <a:rPr lang="en-US" b="1" dirty="0"/>
              <a:t>:</a:t>
            </a:r>
            <a:r>
              <a:rPr lang="en-US" dirty="0"/>
              <a:t> </a:t>
            </a:r>
            <a:r>
              <a:rPr lang="en-US" dirty="0" err="1"/>
              <a:t>OpenIDEO</a:t>
            </a:r>
            <a:r>
              <a:rPr lang="en-US" dirty="0"/>
              <a:t> is an online platform that facilitates collaborative design challenges, where participants from around the world come together to co-create solutions to social and environmental issues.</a:t>
            </a:r>
          </a:p>
          <a:p>
            <a:endParaRPr lang="en-IN" dirty="0"/>
          </a:p>
        </p:txBody>
      </p:sp>
    </p:spTree>
    <p:extLst>
      <p:ext uri="{BB962C8B-B14F-4D97-AF65-F5344CB8AC3E}">
        <p14:creationId xmlns:p14="http://schemas.microsoft.com/office/powerpoint/2010/main" val="4187785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71A1E0-7E4B-BD30-6D48-C35829EBB068}"/>
              </a:ext>
            </a:extLst>
          </p:cNvPr>
          <p:cNvSpPr>
            <a:spLocks noGrp="1"/>
          </p:cNvSpPr>
          <p:nvPr>
            <p:ph type="sldNum" sz="quarter" idx="14"/>
          </p:nvPr>
        </p:nvSpPr>
        <p:spPr/>
        <p:txBody>
          <a:bodyPr/>
          <a:lstStyle/>
          <a:p>
            <a:fld id="{45A3C14A-F937-4231-B6F1-40B429FAFB2F}" type="slidenum">
              <a:rPr lang="en-NZ" smtClean="0"/>
              <a:pPr/>
              <a:t>34</a:t>
            </a:fld>
            <a:endParaRPr lang="en-NZ" dirty="0"/>
          </a:p>
        </p:txBody>
      </p:sp>
      <p:sp>
        <p:nvSpPr>
          <p:cNvPr id="3" name="Title 2">
            <a:extLst>
              <a:ext uri="{FF2B5EF4-FFF2-40B4-BE49-F238E27FC236}">
                <a16:creationId xmlns:a16="http://schemas.microsoft.com/office/drawing/2014/main" id="{C72EB801-6451-933E-1FF2-8FEAB2B8A907}"/>
              </a:ext>
            </a:extLst>
          </p:cNvPr>
          <p:cNvSpPr>
            <a:spLocks noGrp="1"/>
          </p:cNvSpPr>
          <p:nvPr>
            <p:ph type="title"/>
          </p:nvPr>
        </p:nvSpPr>
        <p:spPr/>
        <p:txBody>
          <a:bodyPr/>
          <a:lstStyle/>
          <a:p>
            <a:r>
              <a:rPr lang="en-IN" dirty="0"/>
              <a:t>HCI In HEALTHCARE</a:t>
            </a:r>
          </a:p>
        </p:txBody>
      </p:sp>
      <p:sp>
        <p:nvSpPr>
          <p:cNvPr id="4" name="Text Placeholder 3">
            <a:extLst>
              <a:ext uri="{FF2B5EF4-FFF2-40B4-BE49-F238E27FC236}">
                <a16:creationId xmlns:a16="http://schemas.microsoft.com/office/drawing/2014/main" id="{7C79EC88-DE6D-A3AB-5E9D-152DE70D1C64}"/>
              </a:ext>
            </a:extLst>
          </p:cNvPr>
          <p:cNvSpPr>
            <a:spLocks noGrp="1"/>
          </p:cNvSpPr>
          <p:nvPr>
            <p:ph type="body" sz="quarter" idx="17"/>
          </p:nvPr>
        </p:nvSpPr>
        <p:spPr/>
        <p:txBody>
          <a:bodyPr/>
          <a:lstStyle/>
          <a:p>
            <a:r>
              <a:rPr lang="en-US" dirty="0"/>
              <a:t>Human-Computer Interaction (HCI) in healthcare focuses on the design, evaluation, and implementation of interactive systems to improve patient outcomes, streamline workflows, and enhance the overall experience for patients and healthcare providers. </a:t>
            </a:r>
          </a:p>
          <a:p>
            <a:r>
              <a:rPr lang="en-US" dirty="0"/>
              <a:t>It encompasses a range of technologies, from electronic health records (EHRs) and wearable devices to telemedicine platforms and decision-support systems.</a:t>
            </a:r>
            <a:endParaRPr lang="en-IN" dirty="0"/>
          </a:p>
        </p:txBody>
      </p:sp>
    </p:spTree>
    <p:extLst>
      <p:ext uri="{BB962C8B-B14F-4D97-AF65-F5344CB8AC3E}">
        <p14:creationId xmlns:p14="http://schemas.microsoft.com/office/powerpoint/2010/main" val="1361691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9D6D1-68AE-DAF8-D3C0-D2FAD6E90F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BA9B6F-B1DF-3F7D-804C-BBB9E3E5A5DB}"/>
              </a:ext>
            </a:extLst>
          </p:cNvPr>
          <p:cNvSpPr>
            <a:spLocks noGrp="1"/>
          </p:cNvSpPr>
          <p:nvPr>
            <p:ph type="sldNum" sz="quarter" idx="14"/>
          </p:nvPr>
        </p:nvSpPr>
        <p:spPr/>
        <p:txBody>
          <a:bodyPr/>
          <a:lstStyle/>
          <a:p>
            <a:fld id="{45A3C14A-F937-4231-B6F1-40B429FAFB2F}" type="slidenum">
              <a:rPr lang="en-NZ" smtClean="0"/>
              <a:pPr/>
              <a:t>35</a:t>
            </a:fld>
            <a:endParaRPr lang="en-NZ" dirty="0"/>
          </a:p>
        </p:txBody>
      </p:sp>
      <p:sp>
        <p:nvSpPr>
          <p:cNvPr id="3" name="Title 2">
            <a:extLst>
              <a:ext uri="{FF2B5EF4-FFF2-40B4-BE49-F238E27FC236}">
                <a16:creationId xmlns:a16="http://schemas.microsoft.com/office/drawing/2014/main" id="{A2274BB4-855B-AE93-FA42-33B7930F01A1}"/>
              </a:ext>
            </a:extLst>
          </p:cNvPr>
          <p:cNvSpPr>
            <a:spLocks noGrp="1"/>
          </p:cNvSpPr>
          <p:nvPr>
            <p:ph type="title"/>
          </p:nvPr>
        </p:nvSpPr>
        <p:spPr>
          <a:xfrm>
            <a:off x="335360" y="106634"/>
            <a:ext cx="6211927" cy="656950"/>
          </a:xfrm>
        </p:spPr>
        <p:txBody>
          <a:bodyPr/>
          <a:lstStyle/>
          <a:p>
            <a:r>
              <a:rPr lang="en-IN" dirty="0"/>
              <a:t>HCI In HEALTHCARE</a:t>
            </a:r>
          </a:p>
        </p:txBody>
      </p:sp>
      <p:sp>
        <p:nvSpPr>
          <p:cNvPr id="4" name="Text Placeholder 3">
            <a:extLst>
              <a:ext uri="{FF2B5EF4-FFF2-40B4-BE49-F238E27FC236}">
                <a16:creationId xmlns:a16="http://schemas.microsoft.com/office/drawing/2014/main" id="{C5DCB7A5-E481-4E23-9F13-CA734457CD80}"/>
              </a:ext>
            </a:extLst>
          </p:cNvPr>
          <p:cNvSpPr>
            <a:spLocks noGrp="1"/>
          </p:cNvSpPr>
          <p:nvPr>
            <p:ph type="body" sz="quarter" idx="17"/>
          </p:nvPr>
        </p:nvSpPr>
        <p:spPr>
          <a:xfrm>
            <a:off x="695400" y="836712"/>
            <a:ext cx="10801201" cy="5257704"/>
          </a:xfrm>
        </p:spPr>
        <p:txBody>
          <a:bodyPr/>
          <a:lstStyle/>
          <a:p>
            <a:pPr>
              <a:buFont typeface="Arial" panose="020B0604020202020204" pitchFamily="34" charset="0"/>
              <a:buChar char="•"/>
            </a:pPr>
            <a:r>
              <a:rPr lang="en-US" dirty="0">
                <a:solidFill>
                  <a:schemeClr val="tx1"/>
                </a:solidFill>
              </a:rPr>
              <a:t>Smart Clinical Decision Support: Real-time alerts for medication errors, abnormal lab values, or critical situations at bedside.</a:t>
            </a:r>
          </a:p>
          <a:p>
            <a:pPr>
              <a:buFont typeface="Arial" panose="020B0604020202020204" pitchFamily="34" charset="0"/>
              <a:buChar char="•"/>
            </a:pPr>
            <a:r>
              <a:rPr lang="en-US" dirty="0">
                <a:solidFill>
                  <a:schemeClr val="tx1"/>
                </a:solidFill>
              </a:rPr>
              <a:t>Telemedicine Platforms: Live video consultation interfaces optimized for usability and accessibility.</a:t>
            </a:r>
          </a:p>
          <a:p>
            <a:pPr>
              <a:buFont typeface="Arial" panose="020B0604020202020204" pitchFamily="34" charset="0"/>
              <a:buChar char="•"/>
            </a:pPr>
            <a:r>
              <a:rPr lang="en-US" dirty="0">
                <a:solidFill>
                  <a:schemeClr val="tx1"/>
                </a:solidFill>
              </a:rPr>
              <a:t>Wearable Monitoring: Interfaces for real-time patient monitoring (e.g., heart rate, blood oxygen) with actionable alerts for patients/caregivers/physicians.</a:t>
            </a:r>
          </a:p>
          <a:p>
            <a:pPr>
              <a:buFont typeface="Arial" panose="020B0604020202020204" pitchFamily="34" charset="0"/>
              <a:buChar char="•"/>
            </a:pPr>
            <a:r>
              <a:rPr lang="en-US" dirty="0">
                <a:solidFill>
                  <a:schemeClr val="tx1"/>
                </a:solidFill>
              </a:rPr>
              <a:t>Operating Room Dashboards: Touchscreen or hands-free displays for surgeons providing dynamic info (vitals, images) without breaking sterility.</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576190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872808-F438-75BA-19A6-F8F413963EF8}"/>
              </a:ext>
            </a:extLst>
          </p:cNvPr>
          <p:cNvSpPr>
            <a:spLocks noGrp="1"/>
          </p:cNvSpPr>
          <p:nvPr>
            <p:ph type="sldNum" sz="quarter" idx="14"/>
          </p:nvPr>
        </p:nvSpPr>
        <p:spPr/>
        <p:txBody>
          <a:bodyPr/>
          <a:lstStyle/>
          <a:p>
            <a:fld id="{45A3C14A-F937-4231-B6F1-40B429FAFB2F}" type="slidenum">
              <a:rPr lang="en-NZ" smtClean="0"/>
              <a:pPr/>
              <a:t>36</a:t>
            </a:fld>
            <a:endParaRPr lang="en-NZ" dirty="0"/>
          </a:p>
        </p:txBody>
      </p:sp>
      <p:sp>
        <p:nvSpPr>
          <p:cNvPr id="3" name="Title 2">
            <a:extLst>
              <a:ext uri="{FF2B5EF4-FFF2-40B4-BE49-F238E27FC236}">
                <a16:creationId xmlns:a16="http://schemas.microsoft.com/office/drawing/2014/main" id="{668BB3AC-85AA-4B2C-9538-04E37725AC63}"/>
              </a:ext>
            </a:extLst>
          </p:cNvPr>
          <p:cNvSpPr>
            <a:spLocks noGrp="1"/>
          </p:cNvSpPr>
          <p:nvPr>
            <p:ph type="title"/>
          </p:nvPr>
        </p:nvSpPr>
        <p:spPr/>
        <p:txBody>
          <a:bodyPr/>
          <a:lstStyle/>
          <a:p>
            <a:r>
              <a:rPr lang="en-IN" dirty="0"/>
              <a:t>Challenges</a:t>
            </a:r>
          </a:p>
        </p:txBody>
      </p:sp>
      <p:sp>
        <p:nvSpPr>
          <p:cNvPr id="4" name="Text Placeholder 3">
            <a:extLst>
              <a:ext uri="{FF2B5EF4-FFF2-40B4-BE49-F238E27FC236}">
                <a16:creationId xmlns:a16="http://schemas.microsoft.com/office/drawing/2014/main" id="{B5F2C147-67FA-9779-F460-5792771BE9B3}"/>
              </a:ext>
            </a:extLst>
          </p:cNvPr>
          <p:cNvSpPr>
            <a:spLocks noGrp="1"/>
          </p:cNvSpPr>
          <p:nvPr>
            <p:ph type="body" sz="quarter" idx="17"/>
          </p:nvPr>
        </p:nvSpPr>
        <p:spPr/>
        <p:txBody>
          <a:bodyPr/>
          <a:lstStyle/>
          <a:p>
            <a:r>
              <a:rPr lang="en-US" b="1" dirty="0"/>
              <a:t>Interoperability</a:t>
            </a:r>
            <a:r>
              <a:rPr lang="en-US" dirty="0"/>
              <a:t>: Ensuring systems can communicate and share data effectively.</a:t>
            </a:r>
          </a:p>
          <a:p>
            <a:r>
              <a:rPr lang="en-US" b="1" dirty="0"/>
              <a:t>Privacy and Security</a:t>
            </a:r>
            <a:r>
              <a:rPr lang="en-US" dirty="0"/>
              <a:t>: Protecting sensitive patient information.</a:t>
            </a:r>
          </a:p>
          <a:p>
            <a:r>
              <a:rPr lang="en-US" b="1" dirty="0"/>
              <a:t>Accessibility</a:t>
            </a:r>
            <a:r>
              <a:rPr lang="en-US" dirty="0"/>
              <a:t>: Designing inclusive systems that cater to diverse populations.</a:t>
            </a:r>
          </a:p>
          <a:p>
            <a:r>
              <a:rPr lang="en-US" b="1" dirty="0"/>
              <a:t>Cognitive Load</a:t>
            </a:r>
            <a:r>
              <a:rPr lang="en-US" dirty="0"/>
              <a:t>: Avoiding overwhelming users with too much information.</a:t>
            </a:r>
            <a:endParaRPr lang="en-IN" dirty="0"/>
          </a:p>
        </p:txBody>
      </p:sp>
    </p:spTree>
    <p:extLst>
      <p:ext uri="{BB962C8B-B14F-4D97-AF65-F5344CB8AC3E}">
        <p14:creationId xmlns:p14="http://schemas.microsoft.com/office/powerpoint/2010/main" val="3167049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8E9E10-7011-57F3-8081-FAC83BE2AB83}"/>
              </a:ext>
            </a:extLst>
          </p:cNvPr>
          <p:cNvSpPr>
            <a:spLocks noGrp="1"/>
          </p:cNvSpPr>
          <p:nvPr>
            <p:ph type="sldNum" sz="quarter" idx="14"/>
          </p:nvPr>
        </p:nvSpPr>
        <p:spPr/>
        <p:txBody>
          <a:bodyPr/>
          <a:lstStyle/>
          <a:p>
            <a:fld id="{45A3C14A-F937-4231-B6F1-40B429FAFB2F}" type="slidenum">
              <a:rPr lang="en-NZ" smtClean="0"/>
              <a:pPr/>
              <a:t>37</a:t>
            </a:fld>
            <a:endParaRPr lang="en-NZ" dirty="0"/>
          </a:p>
        </p:txBody>
      </p:sp>
      <p:sp>
        <p:nvSpPr>
          <p:cNvPr id="3" name="Title 2">
            <a:extLst>
              <a:ext uri="{FF2B5EF4-FFF2-40B4-BE49-F238E27FC236}">
                <a16:creationId xmlns:a16="http://schemas.microsoft.com/office/drawing/2014/main" id="{DF7BEE32-B458-08B7-095F-EB71FEAF9230}"/>
              </a:ext>
            </a:extLst>
          </p:cNvPr>
          <p:cNvSpPr>
            <a:spLocks noGrp="1"/>
          </p:cNvSpPr>
          <p:nvPr>
            <p:ph type="title"/>
          </p:nvPr>
        </p:nvSpPr>
        <p:spPr>
          <a:xfrm>
            <a:off x="407368" y="188640"/>
            <a:ext cx="6211927" cy="838202"/>
          </a:xfrm>
        </p:spPr>
        <p:txBody>
          <a:bodyPr/>
          <a:lstStyle/>
          <a:p>
            <a:r>
              <a:rPr lang="en-IN" dirty="0"/>
              <a:t>HCI in Aerospace</a:t>
            </a:r>
          </a:p>
        </p:txBody>
      </p:sp>
      <p:sp>
        <p:nvSpPr>
          <p:cNvPr id="4" name="Text Placeholder 3">
            <a:extLst>
              <a:ext uri="{FF2B5EF4-FFF2-40B4-BE49-F238E27FC236}">
                <a16:creationId xmlns:a16="http://schemas.microsoft.com/office/drawing/2014/main" id="{6566A388-7D80-A52D-0EB9-B121872F184F}"/>
              </a:ext>
            </a:extLst>
          </p:cNvPr>
          <p:cNvSpPr>
            <a:spLocks noGrp="1"/>
          </p:cNvSpPr>
          <p:nvPr>
            <p:ph type="body" sz="quarter" idx="17"/>
          </p:nvPr>
        </p:nvSpPr>
        <p:spPr>
          <a:xfrm>
            <a:off x="549237" y="1268760"/>
            <a:ext cx="10801201" cy="4320480"/>
          </a:xfrm>
        </p:spPr>
        <p:txBody>
          <a:bodyPr/>
          <a:lstStyle/>
          <a:p>
            <a:pPr>
              <a:buFont typeface="Arial" panose="020B0604020202020204" pitchFamily="34" charset="0"/>
              <a:buChar char="•"/>
            </a:pPr>
            <a:r>
              <a:rPr lang="en-US" dirty="0">
                <a:solidFill>
                  <a:schemeClr val="tx1"/>
                </a:solidFill>
              </a:rPr>
              <a:t>Glass Cockpits: Real-time avionics displays integrating navigation, weather, and system health with intuitive touch/multimodal interaction.</a:t>
            </a:r>
          </a:p>
          <a:p>
            <a:pPr>
              <a:buFont typeface="Arial" panose="020B0604020202020204" pitchFamily="34" charset="0"/>
              <a:buChar char="•"/>
            </a:pPr>
            <a:r>
              <a:rPr lang="en-US" dirty="0">
                <a:solidFill>
                  <a:schemeClr val="tx1"/>
                </a:solidFill>
              </a:rPr>
              <a:t>Mission Control: Live monitoring of spacecraft, drones, and satellites with user-centered visualization and alerting.</a:t>
            </a:r>
          </a:p>
          <a:p>
            <a:pPr>
              <a:buFont typeface="Arial" panose="020B0604020202020204" pitchFamily="34" charset="0"/>
              <a:buChar char="•"/>
            </a:pPr>
            <a:r>
              <a:rPr lang="en-US" dirty="0">
                <a:solidFill>
                  <a:schemeClr val="tx1"/>
                </a:solidFill>
              </a:rPr>
              <a:t>Air Traffic Control (ATC): Large-scale, real-time human-in-the-loop systems for conflict detection and resolution, optimized for cognitive load.</a:t>
            </a:r>
          </a:p>
          <a:p>
            <a:pPr>
              <a:buFont typeface="Arial" panose="020B0604020202020204" pitchFamily="34" charset="0"/>
              <a:buChar char="•"/>
            </a:pPr>
            <a:r>
              <a:rPr lang="en-US" dirty="0">
                <a:solidFill>
                  <a:schemeClr val="tx1"/>
                </a:solidFill>
              </a:rPr>
              <a:t>Fault/Hazard Warning Interfaces: Real-time status and troubleshooting for pilots/astronauts (e.g., NASA, SpaceX Crew Dragon).</a:t>
            </a:r>
          </a:p>
          <a:p>
            <a:pPr marL="0" indent="0">
              <a:buNone/>
            </a:pPr>
            <a:endParaRPr lang="en-US" dirty="0">
              <a:solidFill>
                <a:schemeClr val="tx1"/>
              </a:solidFill>
            </a:endParaRPr>
          </a:p>
        </p:txBody>
      </p:sp>
    </p:spTree>
    <p:extLst>
      <p:ext uri="{BB962C8B-B14F-4D97-AF65-F5344CB8AC3E}">
        <p14:creationId xmlns:p14="http://schemas.microsoft.com/office/powerpoint/2010/main" val="3317747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7D4A-C1DC-02CB-E580-34C9644B16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E8A88B-C663-4298-11D3-EE439356B588}"/>
              </a:ext>
            </a:extLst>
          </p:cNvPr>
          <p:cNvSpPr>
            <a:spLocks noGrp="1"/>
          </p:cNvSpPr>
          <p:nvPr>
            <p:ph type="sldNum" sz="quarter" idx="14"/>
          </p:nvPr>
        </p:nvSpPr>
        <p:spPr/>
        <p:txBody>
          <a:bodyPr/>
          <a:lstStyle/>
          <a:p>
            <a:fld id="{45A3C14A-F937-4231-B6F1-40B429FAFB2F}" type="slidenum">
              <a:rPr lang="en-NZ" smtClean="0"/>
              <a:pPr/>
              <a:t>38</a:t>
            </a:fld>
            <a:endParaRPr lang="en-NZ" dirty="0"/>
          </a:p>
        </p:txBody>
      </p:sp>
      <p:sp>
        <p:nvSpPr>
          <p:cNvPr id="3" name="Title 2">
            <a:extLst>
              <a:ext uri="{FF2B5EF4-FFF2-40B4-BE49-F238E27FC236}">
                <a16:creationId xmlns:a16="http://schemas.microsoft.com/office/drawing/2014/main" id="{C56D69AE-4ED4-3745-078B-B240F5EEB672}"/>
              </a:ext>
            </a:extLst>
          </p:cNvPr>
          <p:cNvSpPr>
            <a:spLocks noGrp="1"/>
          </p:cNvSpPr>
          <p:nvPr>
            <p:ph type="title"/>
          </p:nvPr>
        </p:nvSpPr>
        <p:spPr/>
        <p:txBody>
          <a:bodyPr/>
          <a:lstStyle/>
          <a:p>
            <a:r>
              <a:rPr lang="en-IN" dirty="0"/>
              <a:t>HCI in Aerospace</a:t>
            </a:r>
          </a:p>
        </p:txBody>
      </p:sp>
      <p:sp>
        <p:nvSpPr>
          <p:cNvPr id="4" name="Text Placeholder 3">
            <a:extLst>
              <a:ext uri="{FF2B5EF4-FFF2-40B4-BE49-F238E27FC236}">
                <a16:creationId xmlns:a16="http://schemas.microsoft.com/office/drawing/2014/main" id="{76FC571D-70E4-A24E-EFC7-6D133BD3D2F8}"/>
              </a:ext>
            </a:extLst>
          </p:cNvPr>
          <p:cNvSpPr>
            <a:spLocks noGrp="1"/>
          </p:cNvSpPr>
          <p:nvPr>
            <p:ph type="body" sz="quarter" idx="17"/>
          </p:nvPr>
        </p:nvSpPr>
        <p:spPr/>
        <p:txBody>
          <a:bodyPr/>
          <a:lstStyle/>
          <a:p>
            <a:r>
              <a:rPr lang="en-US" b="1" dirty="0"/>
              <a:t>Cockpit Design and Avionics</a:t>
            </a:r>
          </a:p>
          <a:p>
            <a:pPr>
              <a:buFont typeface="Arial" panose="020B0604020202020204" pitchFamily="34" charset="0"/>
              <a:buChar char="•"/>
            </a:pPr>
            <a:r>
              <a:rPr lang="en-US" b="1" dirty="0"/>
              <a:t>Goal:</a:t>
            </a:r>
            <a:r>
              <a:rPr lang="en-US" dirty="0"/>
              <a:t> Create intuitive and ergonomic interfaces to ensure pilots can manage complex tasks safely and effectively.</a:t>
            </a:r>
          </a:p>
          <a:p>
            <a:pPr>
              <a:buFont typeface="Arial" panose="020B0604020202020204" pitchFamily="34" charset="0"/>
              <a:buChar char="•"/>
            </a:pPr>
            <a:r>
              <a:rPr lang="en-US" b="1" dirty="0"/>
              <a:t>Examples:</a:t>
            </a:r>
            <a:endParaRPr lang="en-US" dirty="0"/>
          </a:p>
          <a:p>
            <a:pPr marL="742950" lvl="1" indent="-285750">
              <a:buFont typeface="Arial" panose="020B0604020202020204" pitchFamily="34" charset="0"/>
              <a:buChar char="•"/>
            </a:pPr>
            <a:r>
              <a:rPr lang="en-US" dirty="0"/>
              <a:t>Glass cockpits with digital displays that adapt dynamically to changing conditions.</a:t>
            </a:r>
          </a:p>
          <a:p>
            <a:pPr marL="742950" lvl="1" indent="-285750">
              <a:buFont typeface="Arial" panose="020B0604020202020204" pitchFamily="34" charset="0"/>
              <a:buChar char="•"/>
            </a:pPr>
            <a:r>
              <a:rPr lang="en-US" dirty="0"/>
              <a:t>Heads-Up Displays (HUDs) that project critical flight information onto the windshield.</a:t>
            </a:r>
          </a:p>
          <a:p>
            <a:endParaRPr lang="en-IN" dirty="0"/>
          </a:p>
        </p:txBody>
      </p:sp>
    </p:spTree>
    <p:extLst>
      <p:ext uri="{BB962C8B-B14F-4D97-AF65-F5344CB8AC3E}">
        <p14:creationId xmlns:p14="http://schemas.microsoft.com/office/powerpoint/2010/main" val="2747874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93F6A3-159A-BFBC-84A5-F204E09D24D0}"/>
              </a:ext>
            </a:extLst>
          </p:cNvPr>
          <p:cNvSpPr>
            <a:spLocks noGrp="1"/>
          </p:cNvSpPr>
          <p:nvPr>
            <p:ph type="sldNum" sz="quarter" idx="14"/>
          </p:nvPr>
        </p:nvSpPr>
        <p:spPr/>
        <p:txBody>
          <a:bodyPr/>
          <a:lstStyle/>
          <a:p>
            <a:fld id="{45A3C14A-F937-4231-B6F1-40B429FAFB2F}" type="slidenum">
              <a:rPr lang="en-NZ" smtClean="0"/>
              <a:pPr/>
              <a:t>39</a:t>
            </a:fld>
            <a:endParaRPr lang="en-NZ" dirty="0"/>
          </a:p>
        </p:txBody>
      </p:sp>
      <p:sp>
        <p:nvSpPr>
          <p:cNvPr id="3" name="Title 2">
            <a:extLst>
              <a:ext uri="{FF2B5EF4-FFF2-40B4-BE49-F238E27FC236}">
                <a16:creationId xmlns:a16="http://schemas.microsoft.com/office/drawing/2014/main" id="{A6142C48-D9B6-89DF-ED76-7B1475C37CB1}"/>
              </a:ext>
            </a:extLst>
          </p:cNvPr>
          <p:cNvSpPr>
            <a:spLocks noGrp="1"/>
          </p:cNvSpPr>
          <p:nvPr>
            <p:ph type="title"/>
          </p:nvPr>
        </p:nvSpPr>
        <p:spPr/>
        <p:txBody>
          <a:bodyPr/>
          <a:lstStyle/>
          <a:p>
            <a:r>
              <a:rPr lang="en-IN" dirty="0"/>
              <a:t>HCI in Aerospace</a:t>
            </a:r>
          </a:p>
        </p:txBody>
      </p:sp>
      <p:sp>
        <p:nvSpPr>
          <p:cNvPr id="4" name="Text Placeholder 3">
            <a:extLst>
              <a:ext uri="{FF2B5EF4-FFF2-40B4-BE49-F238E27FC236}">
                <a16:creationId xmlns:a16="http://schemas.microsoft.com/office/drawing/2014/main" id="{9DF26920-77D3-5B07-71D2-D6E2891DBBD1}"/>
              </a:ext>
            </a:extLst>
          </p:cNvPr>
          <p:cNvSpPr>
            <a:spLocks noGrp="1"/>
          </p:cNvSpPr>
          <p:nvPr>
            <p:ph type="body" sz="quarter" idx="17"/>
          </p:nvPr>
        </p:nvSpPr>
        <p:spPr>
          <a:xfrm>
            <a:off x="677928" y="980728"/>
            <a:ext cx="10801201" cy="4320480"/>
          </a:xfrm>
        </p:spPr>
        <p:txBody>
          <a:bodyPr/>
          <a:lstStyle/>
          <a:p>
            <a:pPr marL="0" indent="0">
              <a:buNone/>
            </a:pPr>
            <a:r>
              <a:rPr lang="en-US" sz="2000" b="1" dirty="0"/>
              <a:t>2. Automation and Autonomy</a:t>
            </a:r>
          </a:p>
          <a:p>
            <a:pPr>
              <a:buFont typeface="Arial" panose="020B0604020202020204" pitchFamily="34" charset="0"/>
              <a:buChar char="•"/>
            </a:pPr>
            <a:r>
              <a:rPr lang="en-US" sz="2000" b="1" dirty="0"/>
              <a:t>Focus:</a:t>
            </a:r>
            <a:r>
              <a:rPr lang="en-US" sz="2000" dirty="0"/>
              <a:t> Balancing automated systems with human control to avoid over-reliance or loss of situational awareness.</a:t>
            </a:r>
          </a:p>
          <a:p>
            <a:pPr>
              <a:buFont typeface="Arial" panose="020B0604020202020204" pitchFamily="34" charset="0"/>
              <a:buChar char="•"/>
            </a:pPr>
            <a:r>
              <a:rPr lang="en-US" sz="2000" b="1" dirty="0"/>
              <a:t>Examples:</a:t>
            </a:r>
            <a:endParaRPr lang="en-US" sz="2000" dirty="0"/>
          </a:p>
          <a:p>
            <a:pPr marL="742950" lvl="1" indent="-285750">
              <a:buFont typeface="Arial" panose="020B0604020202020204" pitchFamily="34" charset="0"/>
              <a:buChar char="•"/>
            </a:pPr>
            <a:r>
              <a:rPr lang="en-US" sz="2000" dirty="0"/>
              <a:t>Autopilot systems that allow for manual override when necessary.</a:t>
            </a:r>
          </a:p>
          <a:p>
            <a:pPr marL="742950" lvl="1" indent="-285750">
              <a:buFont typeface="Arial" panose="020B0604020202020204" pitchFamily="34" charset="0"/>
              <a:buChar char="•"/>
            </a:pPr>
            <a:r>
              <a:rPr lang="en-US" sz="2000" dirty="0"/>
              <a:t>Collaborative control systems in UAVs (Unmanned Aerial Vehicles).</a:t>
            </a:r>
          </a:p>
          <a:p>
            <a:pPr marL="0" indent="0">
              <a:buNone/>
            </a:pPr>
            <a:r>
              <a:rPr lang="en-US" sz="2000" b="1" dirty="0"/>
              <a:t>3. Air Traffic Management (ATM)</a:t>
            </a:r>
          </a:p>
          <a:p>
            <a:pPr>
              <a:buFont typeface="Arial" panose="020B0604020202020204" pitchFamily="34" charset="0"/>
              <a:buChar char="•"/>
            </a:pPr>
            <a:r>
              <a:rPr lang="en-US" sz="2000" b="1" dirty="0"/>
              <a:t>Goal:</a:t>
            </a:r>
            <a:r>
              <a:rPr lang="en-US" sz="2000" dirty="0"/>
              <a:t> Design systems for managing airspace efficiently while reducing controller workload.</a:t>
            </a:r>
          </a:p>
          <a:p>
            <a:pPr>
              <a:buFont typeface="Arial" panose="020B0604020202020204" pitchFamily="34" charset="0"/>
              <a:buChar char="•"/>
            </a:pPr>
            <a:r>
              <a:rPr lang="en-US" sz="2000" b="1" dirty="0"/>
              <a:t>Examples:</a:t>
            </a:r>
            <a:endParaRPr lang="en-US" sz="2000" dirty="0"/>
          </a:p>
          <a:p>
            <a:pPr marL="742950" lvl="1" indent="-285750">
              <a:buFont typeface="Arial" panose="020B0604020202020204" pitchFamily="34" charset="0"/>
              <a:buChar char="•"/>
            </a:pPr>
            <a:r>
              <a:rPr lang="en-US" sz="2000" dirty="0"/>
              <a:t>Decision-support tools for conflict detection and resolution in air traffic control.</a:t>
            </a:r>
          </a:p>
          <a:p>
            <a:pPr marL="742950" lvl="1" indent="-285750">
              <a:buFont typeface="Arial" panose="020B0604020202020204" pitchFamily="34" charset="0"/>
              <a:buChar char="•"/>
            </a:pPr>
            <a:r>
              <a:rPr lang="en-US" sz="2000" dirty="0"/>
              <a:t>User-friendly radar and communication systems.</a:t>
            </a:r>
          </a:p>
          <a:p>
            <a:endParaRPr lang="en-IN" sz="2000" dirty="0"/>
          </a:p>
        </p:txBody>
      </p:sp>
    </p:spTree>
    <p:extLst>
      <p:ext uri="{BB962C8B-B14F-4D97-AF65-F5344CB8AC3E}">
        <p14:creationId xmlns:p14="http://schemas.microsoft.com/office/powerpoint/2010/main" val="2433608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6BAC2-3A5E-82E9-2C01-2A05632DE1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3544D3-C9AD-9EDE-696F-8E3F482CE4B1}"/>
              </a:ext>
            </a:extLst>
          </p:cNvPr>
          <p:cNvSpPr>
            <a:spLocks noGrp="1"/>
          </p:cNvSpPr>
          <p:nvPr>
            <p:ph type="sldNum" sz="quarter" idx="14"/>
          </p:nvPr>
        </p:nvSpPr>
        <p:spPr/>
        <p:txBody>
          <a:bodyPr/>
          <a:lstStyle/>
          <a:p>
            <a:fld id="{45A3C14A-F937-4231-B6F1-40B429FAFB2F}" type="slidenum">
              <a:rPr lang="en-NZ" smtClean="0"/>
              <a:pPr/>
              <a:t>40</a:t>
            </a:fld>
            <a:endParaRPr lang="en-NZ" dirty="0"/>
          </a:p>
        </p:txBody>
      </p:sp>
      <p:sp>
        <p:nvSpPr>
          <p:cNvPr id="3" name="Title 2">
            <a:extLst>
              <a:ext uri="{FF2B5EF4-FFF2-40B4-BE49-F238E27FC236}">
                <a16:creationId xmlns:a16="http://schemas.microsoft.com/office/drawing/2014/main" id="{0B53AEBC-5F63-768A-D622-3FB25AFD6C21}"/>
              </a:ext>
            </a:extLst>
          </p:cNvPr>
          <p:cNvSpPr>
            <a:spLocks noGrp="1"/>
          </p:cNvSpPr>
          <p:nvPr>
            <p:ph type="title"/>
          </p:nvPr>
        </p:nvSpPr>
        <p:spPr/>
        <p:txBody>
          <a:bodyPr/>
          <a:lstStyle/>
          <a:p>
            <a:r>
              <a:rPr lang="en-IN" dirty="0"/>
              <a:t>HCI in Aerospace</a:t>
            </a:r>
          </a:p>
        </p:txBody>
      </p:sp>
      <p:sp>
        <p:nvSpPr>
          <p:cNvPr id="4" name="Text Placeholder 3">
            <a:extLst>
              <a:ext uri="{FF2B5EF4-FFF2-40B4-BE49-F238E27FC236}">
                <a16:creationId xmlns:a16="http://schemas.microsoft.com/office/drawing/2014/main" id="{AAAE9A09-1173-AB35-9C02-7EB1F12BAAE9}"/>
              </a:ext>
            </a:extLst>
          </p:cNvPr>
          <p:cNvSpPr>
            <a:spLocks noGrp="1"/>
          </p:cNvSpPr>
          <p:nvPr>
            <p:ph type="body" sz="quarter" idx="17"/>
          </p:nvPr>
        </p:nvSpPr>
        <p:spPr>
          <a:xfrm>
            <a:off x="695399" y="1484784"/>
            <a:ext cx="10801201" cy="4320480"/>
          </a:xfrm>
        </p:spPr>
        <p:txBody>
          <a:bodyPr/>
          <a:lstStyle/>
          <a:p>
            <a:pPr marL="0" indent="0">
              <a:buNone/>
            </a:pPr>
            <a:r>
              <a:rPr lang="en-US" sz="2000" b="1" dirty="0"/>
              <a:t>4. Human Factors in Space Exploration</a:t>
            </a:r>
          </a:p>
          <a:p>
            <a:pPr>
              <a:buFont typeface="Arial" panose="020B0604020202020204" pitchFamily="34" charset="0"/>
              <a:buChar char="•"/>
            </a:pPr>
            <a:r>
              <a:rPr lang="en-US" sz="2000" b="1" dirty="0"/>
              <a:t>Focus:</a:t>
            </a:r>
            <a:r>
              <a:rPr lang="en-US" sz="2000" dirty="0"/>
              <a:t> Supporting astronauts in microgravity environments and during long-duration missions.</a:t>
            </a:r>
          </a:p>
          <a:p>
            <a:pPr>
              <a:buFont typeface="Arial" panose="020B0604020202020204" pitchFamily="34" charset="0"/>
              <a:buChar char="•"/>
            </a:pPr>
            <a:r>
              <a:rPr lang="en-US" sz="2000" b="1" dirty="0"/>
              <a:t>Examples:</a:t>
            </a:r>
            <a:endParaRPr lang="en-US" sz="2000" dirty="0"/>
          </a:p>
          <a:p>
            <a:pPr marL="742950" lvl="1" indent="-285750">
              <a:buFont typeface="Arial" panose="020B0604020202020204" pitchFamily="34" charset="0"/>
              <a:buChar char="•"/>
            </a:pPr>
            <a:r>
              <a:rPr lang="en-US" sz="2000" dirty="0"/>
              <a:t>Touchscreen controls designed for gloved hands in spacecraft.</a:t>
            </a:r>
          </a:p>
          <a:p>
            <a:pPr marL="742950" lvl="1" indent="-285750">
              <a:buFont typeface="Arial" panose="020B0604020202020204" pitchFamily="34" charset="0"/>
              <a:buChar char="•"/>
            </a:pPr>
            <a:r>
              <a:rPr lang="en-US" sz="2000" dirty="0"/>
              <a:t>AR systems for maintenance tasks aboard the International Space Station (ISS).</a:t>
            </a:r>
          </a:p>
          <a:p>
            <a:pPr marL="0" indent="0">
              <a:buNone/>
            </a:pPr>
            <a:r>
              <a:rPr lang="en-US" sz="2000" b="1" dirty="0"/>
              <a:t>5. Flight Training and Simulation</a:t>
            </a:r>
          </a:p>
          <a:p>
            <a:pPr>
              <a:buFont typeface="Arial" panose="020B0604020202020204" pitchFamily="34" charset="0"/>
              <a:buChar char="•"/>
            </a:pPr>
            <a:r>
              <a:rPr lang="en-US" sz="2000" b="1" dirty="0"/>
              <a:t>Application:</a:t>
            </a:r>
            <a:r>
              <a:rPr lang="en-US" sz="2000" dirty="0"/>
              <a:t> Train pilots and crew in safe, controlled environments using virtual reality (VR) and full-motion simulators.</a:t>
            </a:r>
          </a:p>
          <a:p>
            <a:pPr>
              <a:buFont typeface="Arial" panose="020B0604020202020204" pitchFamily="34" charset="0"/>
              <a:buChar char="•"/>
            </a:pPr>
            <a:r>
              <a:rPr lang="en-US" sz="2000" b="1" dirty="0"/>
              <a:t>Advances:</a:t>
            </a:r>
            <a:r>
              <a:rPr lang="en-US" sz="2000" dirty="0"/>
              <a:t> Realistic environments that adapt based on trainee responses to simulate emergencies or new systems.</a:t>
            </a:r>
          </a:p>
          <a:p>
            <a:endParaRPr lang="en-IN" sz="2000" dirty="0"/>
          </a:p>
        </p:txBody>
      </p:sp>
    </p:spTree>
    <p:extLst>
      <p:ext uri="{BB962C8B-B14F-4D97-AF65-F5344CB8AC3E}">
        <p14:creationId xmlns:p14="http://schemas.microsoft.com/office/powerpoint/2010/main" val="336521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59E5-EBD7-FD4C-F0D0-F665D6C206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FB2431-29D8-00A3-4CD0-A4CC3E05B0FE}"/>
              </a:ext>
            </a:extLst>
          </p:cNvPr>
          <p:cNvSpPr>
            <a:spLocks noGrp="1"/>
          </p:cNvSpPr>
          <p:nvPr>
            <p:ph type="sldNum" sz="quarter" idx="14"/>
          </p:nvPr>
        </p:nvSpPr>
        <p:spPr/>
        <p:txBody>
          <a:bodyPr/>
          <a:lstStyle/>
          <a:p>
            <a:fld id="{45A3C14A-F937-4231-B6F1-40B429FAFB2F}" type="slidenum">
              <a:rPr lang="en-NZ" smtClean="0"/>
              <a:pPr/>
              <a:t>41</a:t>
            </a:fld>
            <a:endParaRPr lang="en-NZ" dirty="0"/>
          </a:p>
        </p:txBody>
      </p:sp>
      <p:sp>
        <p:nvSpPr>
          <p:cNvPr id="3" name="Title 2">
            <a:extLst>
              <a:ext uri="{FF2B5EF4-FFF2-40B4-BE49-F238E27FC236}">
                <a16:creationId xmlns:a16="http://schemas.microsoft.com/office/drawing/2014/main" id="{93EDAB51-5360-1DAC-DFDE-C7C89B47B3F4}"/>
              </a:ext>
            </a:extLst>
          </p:cNvPr>
          <p:cNvSpPr>
            <a:spLocks noGrp="1"/>
          </p:cNvSpPr>
          <p:nvPr>
            <p:ph type="title"/>
          </p:nvPr>
        </p:nvSpPr>
        <p:spPr/>
        <p:txBody>
          <a:bodyPr/>
          <a:lstStyle/>
          <a:p>
            <a:r>
              <a:rPr lang="en-IN" dirty="0"/>
              <a:t>HCI in Aerospace</a:t>
            </a:r>
          </a:p>
        </p:txBody>
      </p:sp>
      <p:sp>
        <p:nvSpPr>
          <p:cNvPr id="4" name="Text Placeholder 3">
            <a:extLst>
              <a:ext uri="{FF2B5EF4-FFF2-40B4-BE49-F238E27FC236}">
                <a16:creationId xmlns:a16="http://schemas.microsoft.com/office/drawing/2014/main" id="{761C23FD-6233-124B-5D1A-B645322BFF76}"/>
              </a:ext>
            </a:extLst>
          </p:cNvPr>
          <p:cNvSpPr>
            <a:spLocks noGrp="1"/>
          </p:cNvSpPr>
          <p:nvPr>
            <p:ph type="body" sz="quarter" idx="17"/>
          </p:nvPr>
        </p:nvSpPr>
        <p:spPr/>
        <p:txBody>
          <a:bodyPr/>
          <a:lstStyle/>
          <a:p>
            <a:pPr marL="0" indent="0">
              <a:buNone/>
            </a:pPr>
            <a:r>
              <a:rPr lang="en-US" sz="2000" b="1" dirty="0"/>
              <a:t>6.Mission Control Systems</a:t>
            </a:r>
          </a:p>
          <a:p>
            <a:pPr>
              <a:buFont typeface="Arial" panose="020B0604020202020204" pitchFamily="34" charset="0"/>
              <a:buChar char="•"/>
            </a:pPr>
            <a:r>
              <a:rPr lang="en-US" sz="2000" b="1" dirty="0"/>
              <a:t>Purpose:</a:t>
            </a:r>
            <a:r>
              <a:rPr lang="en-US" sz="2000" dirty="0"/>
              <a:t> Allow ground operators to manage spacecraft and coordinate with crews effectively.</a:t>
            </a:r>
          </a:p>
          <a:p>
            <a:pPr>
              <a:buFont typeface="Arial" panose="020B0604020202020204" pitchFamily="34" charset="0"/>
              <a:buChar char="•"/>
            </a:pPr>
            <a:r>
              <a:rPr lang="en-US" sz="2000" b="1" dirty="0"/>
              <a:t>Example:</a:t>
            </a:r>
            <a:r>
              <a:rPr lang="en-US" sz="2000" dirty="0"/>
              <a:t> NASA’s adaptive interfaces for monitoring space missions in real-time.</a:t>
            </a:r>
          </a:p>
          <a:p>
            <a:pPr marL="0" indent="0">
              <a:buNone/>
            </a:pPr>
            <a:r>
              <a:rPr lang="en-US" sz="2000" b="1" dirty="0"/>
              <a:t>7. Passenger Experience</a:t>
            </a:r>
          </a:p>
          <a:p>
            <a:pPr>
              <a:buFont typeface="Arial" panose="020B0604020202020204" pitchFamily="34" charset="0"/>
              <a:buChar char="•"/>
            </a:pPr>
            <a:r>
              <a:rPr lang="en-US" sz="2000" b="1" dirty="0"/>
              <a:t>Focus:</a:t>
            </a:r>
            <a:r>
              <a:rPr lang="en-US" sz="2000" dirty="0"/>
              <a:t> Designing systems that improve the comfort and safety of passengers.</a:t>
            </a:r>
          </a:p>
          <a:p>
            <a:pPr>
              <a:buFont typeface="Arial" panose="020B0604020202020204" pitchFamily="34" charset="0"/>
              <a:buChar char="•"/>
            </a:pPr>
            <a:r>
              <a:rPr lang="en-US" sz="2000" b="1" dirty="0"/>
              <a:t>Examples:</a:t>
            </a:r>
            <a:endParaRPr lang="en-US" sz="2000" dirty="0"/>
          </a:p>
          <a:p>
            <a:pPr marL="742950" lvl="1" indent="-285750">
              <a:buFont typeface="Arial" panose="020B0604020202020204" pitchFamily="34" charset="0"/>
              <a:buChar char="•"/>
            </a:pPr>
            <a:r>
              <a:rPr lang="en-US" sz="2000" dirty="0"/>
              <a:t>In-flight entertainment and connectivity (IFE&amp;C) systems.</a:t>
            </a:r>
          </a:p>
          <a:p>
            <a:pPr marL="742950" lvl="1" indent="-285750">
              <a:buFont typeface="Arial" panose="020B0604020202020204" pitchFamily="34" charset="0"/>
              <a:buChar char="•"/>
            </a:pPr>
            <a:r>
              <a:rPr lang="en-US" sz="2000" dirty="0"/>
              <a:t>Cabin safety systems with intuitive emergency instructions.</a:t>
            </a:r>
          </a:p>
          <a:p>
            <a:endParaRPr lang="en-IN" sz="2000" dirty="0"/>
          </a:p>
        </p:txBody>
      </p:sp>
    </p:spTree>
    <p:extLst>
      <p:ext uri="{BB962C8B-B14F-4D97-AF65-F5344CB8AC3E}">
        <p14:creationId xmlns:p14="http://schemas.microsoft.com/office/powerpoint/2010/main" val="690378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0A963-2174-60AA-FC46-35CEF7D80F1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52CD63-9D7E-FC35-9981-25CF40820C0C}"/>
              </a:ext>
            </a:extLst>
          </p:cNvPr>
          <p:cNvSpPr>
            <a:spLocks noGrp="1"/>
          </p:cNvSpPr>
          <p:nvPr>
            <p:ph type="sldNum" sz="quarter" idx="14"/>
          </p:nvPr>
        </p:nvSpPr>
        <p:spPr/>
        <p:txBody>
          <a:bodyPr/>
          <a:lstStyle/>
          <a:p>
            <a:fld id="{45A3C14A-F937-4231-B6F1-40B429FAFB2F}" type="slidenum">
              <a:rPr lang="en-NZ" smtClean="0"/>
              <a:pPr/>
              <a:t>42</a:t>
            </a:fld>
            <a:endParaRPr lang="en-NZ" dirty="0"/>
          </a:p>
        </p:txBody>
      </p:sp>
      <p:sp>
        <p:nvSpPr>
          <p:cNvPr id="3" name="Title 2">
            <a:extLst>
              <a:ext uri="{FF2B5EF4-FFF2-40B4-BE49-F238E27FC236}">
                <a16:creationId xmlns:a16="http://schemas.microsoft.com/office/drawing/2014/main" id="{61C52FB4-D9B7-A5ED-01BD-C59A7B6CC626}"/>
              </a:ext>
            </a:extLst>
          </p:cNvPr>
          <p:cNvSpPr>
            <a:spLocks noGrp="1"/>
          </p:cNvSpPr>
          <p:nvPr>
            <p:ph type="title"/>
          </p:nvPr>
        </p:nvSpPr>
        <p:spPr/>
        <p:txBody>
          <a:bodyPr/>
          <a:lstStyle/>
          <a:p>
            <a:r>
              <a:rPr lang="en-IN" dirty="0"/>
              <a:t>HCI in Aerospace</a:t>
            </a:r>
          </a:p>
        </p:txBody>
      </p:sp>
      <p:sp>
        <p:nvSpPr>
          <p:cNvPr id="4" name="Text Placeholder 3">
            <a:extLst>
              <a:ext uri="{FF2B5EF4-FFF2-40B4-BE49-F238E27FC236}">
                <a16:creationId xmlns:a16="http://schemas.microsoft.com/office/drawing/2014/main" id="{574206CE-93A4-186E-8AC1-2C220A59CEB2}"/>
              </a:ext>
            </a:extLst>
          </p:cNvPr>
          <p:cNvSpPr>
            <a:spLocks noGrp="1"/>
          </p:cNvSpPr>
          <p:nvPr>
            <p:ph type="body" sz="quarter" idx="17"/>
          </p:nvPr>
        </p:nvSpPr>
        <p:spPr/>
        <p:txBody>
          <a:bodyPr/>
          <a:lstStyle/>
          <a:p>
            <a:pPr marL="0" indent="0">
              <a:buNone/>
            </a:pPr>
            <a:r>
              <a:rPr lang="en-US" sz="2000" b="1" dirty="0"/>
              <a:t>8. Augmented Reality (AR) and Virtual Reality (VR)</a:t>
            </a:r>
          </a:p>
          <a:p>
            <a:pPr>
              <a:buFont typeface="Arial" panose="020B0604020202020204" pitchFamily="34" charset="0"/>
              <a:buChar char="•"/>
            </a:pPr>
            <a:r>
              <a:rPr lang="en-US" sz="2000" b="1" dirty="0"/>
              <a:t>Applications:</a:t>
            </a:r>
            <a:endParaRPr lang="en-US" sz="2000" dirty="0"/>
          </a:p>
          <a:p>
            <a:pPr marL="742950" lvl="1" indent="-285750">
              <a:buFont typeface="Arial" panose="020B0604020202020204" pitchFamily="34" charset="0"/>
              <a:buChar char="•"/>
            </a:pPr>
            <a:r>
              <a:rPr lang="en-US" sz="2000" dirty="0"/>
              <a:t>AR systems that assist in maintenance by overlaying procedural steps on aircraft components.</a:t>
            </a:r>
          </a:p>
          <a:p>
            <a:pPr marL="742950" lvl="1" indent="-285750">
              <a:buFont typeface="Arial" panose="020B0604020202020204" pitchFamily="34" charset="0"/>
              <a:buChar char="•"/>
            </a:pPr>
            <a:r>
              <a:rPr lang="en-US" sz="2000" dirty="0"/>
              <a:t>VR environments for flight rehearsal or space mission planning.</a:t>
            </a:r>
          </a:p>
          <a:p>
            <a:pPr marL="0" indent="0">
              <a:buNone/>
            </a:pPr>
            <a:r>
              <a:rPr lang="en-US" sz="2000" b="1" dirty="0"/>
              <a:t>9. Data Visualization and Decision Support</a:t>
            </a:r>
          </a:p>
          <a:p>
            <a:pPr>
              <a:buFont typeface="Arial" panose="020B0604020202020204" pitchFamily="34" charset="0"/>
              <a:buChar char="•"/>
            </a:pPr>
            <a:r>
              <a:rPr lang="en-US" sz="2000" b="1" dirty="0"/>
              <a:t>Focus:</a:t>
            </a:r>
            <a:r>
              <a:rPr lang="en-US" sz="2000" dirty="0"/>
              <a:t> Presenting complex aerospace data in a digestible format.</a:t>
            </a:r>
          </a:p>
          <a:p>
            <a:pPr>
              <a:buFont typeface="Arial" panose="020B0604020202020204" pitchFamily="34" charset="0"/>
              <a:buChar char="•"/>
            </a:pPr>
            <a:r>
              <a:rPr lang="en-US" sz="2000" b="1" dirty="0"/>
              <a:t>Examples:</a:t>
            </a:r>
            <a:endParaRPr lang="en-US" sz="2000" dirty="0"/>
          </a:p>
          <a:p>
            <a:pPr marL="742950" lvl="1" indent="-285750">
              <a:buFont typeface="Arial" panose="020B0604020202020204" pitchFamily="34" charset="0"/>
              <a:buChar char="•"/>
            </a:pPr>
            <a:r>
              <a:rPr lang="en-US" sz="2000" dirty="0"/>
              <a:t>Real-time weather overlays for pilots.</a:t>
            </a:r>
          </a:p>
          <a:p>
            <a:pPr marL="742950" lvl="1" indent="-285750">
              <a:buFont typeface="Arial" panose="020B0604020202020204" pitchFamily="34" charset="0"/>
              <a:buChar char="•"/>
            </a:pPr>
            <a:r>
              <a:rPr lang="en-US" sz="2000" dirty="0"/>
              <a:t>Heatmaps for air traffic density to help controllers plan routes.</a:t>
            </a:r>
          </a:p>
          <a:p>
            <a:endParaRPr lang="en-IN" sz="2000" dirty="0"/>
          </a:p>
        </p:txBody>
      </p:sp>
    </p:spTree>
    <p:extLst>
      <p:ext uri="{BB962C8B-B14F-4D97-AF65-F5344CB8AC3E}">
        <p14:creationId xmlns:p14="http://schemas.microsoft.com/office/powerpoint/2010/main" val="2933357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D821FC-8EED-E00E-F218-4D1E931856A4}"/>
              </a:ext>
            </a:extLst>
          </p:cNvPr>
          <p:cNvSpPr>
            <a:spLocks noGrp="1"/>
          </p:cNvSpPr>
          <p:nvPr>
            <p:ph type="sldNum" sz="quarter" idx="14"/>
          </p:nvPr>
        </p:nvSpPr>
        <p:spPr/>
        <p:txBody>
          <a:bodyPr/>
          <a:lstStyle/>
          <a:p>
            <a:fld id="{45A3C14A-F937-4231-B6F1-40B429FAFB2F}" type="slidenum">
              <a:rPr lang="en-NZ" smtClean="0"/>
              <a:pPr/>
              <a:t>43</a:t>
            </a:fld>
            <a:endParaRPr lang="en-NZ" dirty="0"/>
          </a:p>
        </p:txBody>
      </p:sp>
      <p:sp>
        <p:nvSpPr>
          <p:cNvPr id="3" name="Title 2">
            <a:extLst>
              <a:ext uri="{FF2B5EF4-FFF2-40B4-BE49-F238E27FC236}">
                <a16:creationId xmlns:a16="http://schemas.microsoft.com/office/drawing/2014/main" id="{FF8846E8-EE14-0A04-4EB0-97ADA6DEDF5F}"/>
              </a:ext>
            </a:extLst>
          </p:cNvPr>
          <p:cNvSpPr>
            <a:spLocks noGrp="1"/>
          </p:cNvSpPr>
          <p:nvPr>
            <p:ph type="title"/>
          </p:nvPr>
        </p:nvSpPr>
        <p:spPr/>
        <p:txBody>
          <a:bodyPr/>
          <a:lstStyle/>
          <a:p>
            <a:r>
              <a:rPr lang="en-US" dirty="0"/>
              <a:t>Challenges in HCI for Aerospace</a:t>
            </a:r>
            <a:endParaRPr lang="en-IN" dirty="0"/>
          </a:p>
        </p:txBody>
      </p:sp>
      <p:sp>
        <p:nvSpPr>
          <p:cNvPr id="4" name="Text Placeholder 3">
            <a:extLst>
              <a:ext uri="{FF2B5EF4-FFF2-40B4-BE49-F238E27FC236}">
                <a16:creationId xmlns:a16="http://schemas.microsoft.com/office/drawing/2014/main" id="{EA86824B-87AB-E504-47AD-6EB25665F4BD}"/>
              </a:ext>
            </a:extLst>
          </p:cNvPr>
          <p:cNvSpPr>
            <a:spLocks noGrp="1"/>
          </p:cNvSpPr>
          <p:nvPr>
            <p:ph type="body" sz="quarter" idx="17"/>
          </p:nvPr>
        </p:nvSpPr>
        <p:spPr/>
        <p:txBody>
          <a:bodyPr/>
          <a:lstStyle/>
          <a:p>
            <a:r>
              <a:rPr lang="en-US" b="1" dirty="0"/>
              <a:t>Cognitive Load</a:t>
            </a:r>
            <a:r>
              <a:rPr lang="en-US" dirty="0"/>
              <a:t>: Ensuring users are not overwhelmed with excessive or irrelevant information.</a:t>
            </a:r>
          </a:p>
          <a:p>
            <a:r>
              <a:rPr lang="en-US" b="1" dirty="0"/>
              <a:t>Usability in Extreme Conditions</a:t>
            </a:r>
            <a:r>
              <a:rPr lang="en-US" dirty="0"/>
              <a:t>: Interfaces must perform under stress, high G-forces, or zero gravity.</a:t>
            </a:r>
          </a:p>
          <a:p>
            <a:r>
              <a:rPr lang="en-US" b="1" dirty="0"/>
              <a:t>System Interoperability</a:t>
            </a:r>
            <a:r>
              <a:rPr lang="en-US" dirty="0"/>
              <a:t>: Seamless communication between heterogeneous systems.</a:t>
            </a:r>
          </a:p>
          <a:p>
            <a:r>
              <a:rPr lang="en-US" b="1" dirty="0"/>
              <a:t>Error Prevention</a:t>
            </a:r>
            <a:r>
              <a:rPr lang="en-US" dirty="0"/>
              <a:t>: Designing systems that mitigate human errors, especially in safety-critical operations.</a:t>
            </a:r>
          </a:p>
          <a:p>
            <a:r>
              <a:rPr lang="en-US" b="1" dirty="0"/>
              <a:t>Human-Automation Interaction</a:t>
            </a:r>
            <a:r>
              <a:rPr lang="en-US" dirty="0"/>
              <a:t>: Ensuring trust and clear communication between humans and automated systems.</a:t>
            </a:r>
            <a:endParaRPr lang="en-IN" dirty="0"/>
          </a:p>
        </p:txBody>
      </p:sp>
    </p:spTree>
    <p:extLst>
      <p:ext uri="{BB962C8B-B14F-4D97-AF65-F5344CB8AC3E}">
        <p14:creationId xmlns:p14="http://schemas.microsoft.com/office/powerpoint/2010/main" val="3395521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0B1B6-1E0E-CC05-7A82-A40DA7EB92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F22591-468E-5E89-D3B7-BC535939671E}"/>
              </a:ext>
            </a:extLst>
          </p:cNvPr>
          <p:cNvSpPr>
            <a:spLocks noGrp="1"/>
          </p:cNvSpPr>
          <p:nvPr>
            <p:ph type="sldNum" sz="quarter" idx="14"/>
          </p:nvPr>
        </p:nvSpPr>
        <p:spPr/>
        <p:txBody>
          <a:bodyPr/>
          <a:lstStyle/>
          <a:p>
            <a:fld id="{45A3C14A-F937-4231-B6F1-40B429FAFB2F}" type="slidenum">
              <a:rPr lang="en-NZ" smtClean="0"/>
              <a:pPr/>
              <a:t>44</a:t>
            </a:fld>
            <a:endParaRPr lang="en-NZ" dirty="0"/>
          </a:p>
        </p:txBody>
      </p:sp>
      <p:sp>
        <p:nvSpPr>
          <p:cNvPr id="3" name="Title 2">
            <a:extLst>
              <a:ext uri="{FF2B5EF4-FFF2-40B4-BE49-F238E27FC236}">
                <a16:creationId xmlns:a16="http://schemas.microsoft.com/office/drawing/2014/main" id="{7FF337F7-251C-773C-73CD-5F393C4B6065}"/>
              </a:ext>
            </a:extLst>
          </p:cNvPr>
          <p:cNvSpPr>
            <a:spLocks noGrp="1"/>
          </p:cNvSpPr>
          <p:nvPr>
            <p:ph type="title"/>
          </p:nvPr>
        </p:nvSpPr>
        <p:spPr/>
        <p:txBody>
          <a:bodyPr/>
          <a:lstStyle/>
          <a:p>
            <a:r>
              <a:rPr lang="en-US" dirty="0"/>
              <a:t>Key Principles for HCI Design for Kids</a:t>
            </a:r>
            <a:endParaRPr lang="en-IN" dirty="0"/>
          </a:p>
        </p:txBody>
      </p:sp>
      <p:sp>
        <p:nvSpPr>
          <p:cNvPr id="4" name="Text Placeholder 3">
            <a:extLst>
              <a:ext uri="{FF2B5EF4-FFF2-40B4-BE49-F238E27FC236}">
                <a16:creationId xmlns:a16="http://schemas.microsoft.com/office/drawing/2014/main" id="{1AE165B8-E00A-2D20-FCE2-819E3552C6D7}"/>
              </a:ext>
            </a:extLst>
          </p:cNvPr>
          <p:cNvSpPr>
            <a:spLocks noGrp="1"/>
          </p:cNvSpPr>
          <p:nvPr>
            <p:ph type="body" sz="quarter" idx="17"/>
          </p:nvPr>
        </p:nvSpPr>
        <p:spPr/>
        <p:txBody>
          <a:bodyPr/>
          <a:lstStyle/>
          <a:p>
            <a:r>
              <a:rPr lang="en-US" dirty="0"/>
              <a:t> </a:t>
            </a:r>
            <a:r>
              <a:rPr lang="en-US" b="1" dirty="0"/>
              <a:t>Simplicity and Clarity</a:t>
            </a:r>
            <a:r>
              <a:rPr lang="en-US" dirty="0"/>
              <a:t>: Interfaces should have minimal clutter, clear navigation, and intuitive interaction paths. </a:t>
            </a:r>
            <a:r>
              <a:rPr lang="en-US" b="1" dirty="0"/>
              <a:t>Example</a:t>
            </a:r>
            <a:r>
              <a:rPr lang="en-US" dirty="0"/>
              <a:t>: Large, colorful buttons with recognizable icons.</a:t>
            </a:r>
          </a:p>
          <a:p>
            <a:r>
              <a:rPr lang="en-US" b="1" dirty="0"/>
              <a:t>Engagement Through Play</a:t>
            </a:r>
            <a:r>
              <a:rPr lang="en-US" dirty="0"/>
              <a:t>: Incorporating playful elements, like animations and game-like features, helps maintain attention. </a:t>
            </a:r>
            <a:r>
              <a:rPr lang="en-US" b="1" dirty="0"/>
              <a:t>Example</a:t>
            </a:r>
            <a:r>
              <a:rPr lang="en-US" dirty="0"/>
              <a:t>: Interactive storybooks with touch-based elements.</a:t>
            </a:r>
          </a:p>
          <a:p>
            <a:r>
              <a:rPr lang="en-US" b="1" dirty="0"/>
              <a:t>Age-Appropriate Design</a:t>
            </a:r>
            <a:r>
              <a:rPr lang="en-US" dirty="0"/>
              <a:t>: Tailor designs based on developmental stages:</a:t>
            </a:r>
          </a:p>
          <a:p>
            <a:pPr lvl="1"/>
            <a:r>
              <a:rPr lang="en-US" b="1" dirty="0"/>
              <a:t>Preschoolers (3-5 years)</a:t>
            </a:r>
            <a:r>
              <a:rPr lang="en-US" dirty="0"/>
              <a:t>: Simple visuals, voice instructions, and single-task interactions.</a:t>
            </a:r>
          </a:p>
          <a:p>
            <a:pPr lvl="1"/>
            <a:r>
              <a:rPr lang="en-US" b="1" dirty="0"/>
              <a:t>School-aged kids (6-12 years)</a:t>
            </a:r>
            <a:r>
              <a:rPr lang="en-US" dirty="0"/>
              <a:t>: Gamified interfaces and more complex problem-solving tasks.</a:t>
            </a:r>
          </a:p>
          <a:p>
            <a:endParaRPr lang="en-US" dirty="0"/>
          </a:p>
          <a:p>
            <a:r>
              <a:rPr lang="en-US" dirty="0"/>
              <a:t>    </a:t>
            </a:r>
            <a:endParaRPr lang="en-IN" dirty="0"/>
          </a:p>
        </p:txBody>
      </p:sp>
    </p:spTree>
    <p:extLst>
      <p:ext uri="{BB962C8B-B14F-4D97-AF65-F5344CB8AC3E}">
        <p14:creationId xmlns:p14="http://schemas.microsoft.com/office/powerpoint/2010/main" val="3719912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93B7-FEBA-CC81-A305-A3F8772596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946B34-8A43-8A01-C470-3A7FDB05BBA9}"/>
              </a:ext>
            </a:extLst>
          </p:cNvPr>
          <p:cNvSpPr>
            <a:spLocks noGrp="1"/>
          </p:cNvSpPr>
          <p:nvPr>
            <p:ph type="sldNum" sz="quarter" idx="14"/>
          </p:nvPr>
        </p:nvSpPr>
        <p:spPr/>
        <p:txBody>
          <a:bodyPr/>
          <a:lstStyle/>
          <a:p>
            <a:fld id="{45A3C14A-F937-4231-B6F1-40B429FAFB2F}" type="slidenum">
              <a:rPr lang="en-NZ" smtClean="0"/>
              <a:pPr/>
              <a:t>45</a:t>
            </a:fld>
            <a:endParaRPr lang="en-NZ" dirty="0"/>
          </a:p>
        </p:txBody>
      </p:sp>
      <p:sp>
        <p:nvSpPr>
          <p:cNvPr id="3" name="Title 2">
            <a:extLst>
              <a:ext uri="{FF2B5EF4-FFF2-40B4-BE49-F238E27FC236}">
                <a16:creationId xmlns:a16="http://schemas.microsoft.com/office/drawing/2014/main" id="{DF090EA8-A4AA-5FEA-B80B-03CA028FAB2E}"/>
              </a:ext>
            </a:extLst>
          </p:cNvPr>
          <p:cNvSpPr>
            <a:spLocks noGrp="1"/>
          </p:cNvSpPr>
          <p:nvPr>
            <p:ph type="title"/>
          </p:nvPr>
        </p:nvSpPr>
        <p:spPr/>
        <p:txBody>
          <a:bodyPr/>
          <a:lstStyle/>
          <a:p>
            <a:r>
              <a:rPr lang="en-US" dirty="0"/>
              <a:t>Key Principles for HCI Design for Kids</a:t>
            </a:r>
            <a:endParaRPr lang="en-IN" dirty="0"/>
          </a:p>
        </p:txBody>
      </p:sp>
      <p:sp>
        <p:nvSpPr>
          <p:cNvPr id="4" name="Text Placeholder 3">
            <a:extLst>
              <a:ext uri="{FF2B5EF4-FFF2-40B4-BE49-F238E27FC236}">
                <a16:creationId xmlns:a16="http://schemas.microsoft.com/office/drawing/2014/main" id="{2B19919F-F398-7A1D-226B-8444AA12FC9C}"/>
              </a:ext>
            </a:extLst>
          </p:cNvPr>
          <p:cNvSpPr>
            <a:spLocks noGrp="1"/>
          </p:cNvSpPr>
          <p:nvPr>
            <p:ph type="body" sz="quarter" idx="17"/>
          </p:nvPr>
        </p:nvSpPr>
        <p:spPr>
          <a:xfrm>
            <a:off x="595929" y="1340768"/>
            <a:ext cx="10801201" cy="4320480"/>
          </a:xfrm>
        </p:spPr>
        <p:txBody>
          <a:bodyPr/>
          <a:lstStyle/>
          <a:p>
            <a:r>
              <a:rPr lang="en-US" b="1" dirty="0"/>
              <a:t>Accessibility and Inclusivity: </a:t>
            </a:r>
            <a:r>
              <a:rPr lang="en-US" dirty="0"/>
              <a:t>Interfaces must cater to diverse abilities and backgrounds. </a:t>
            </a:r>
            <a:r>
              <a:rPr lang="en-US" b="1" dirty="0"/>
              <a:t>Example</a:t>
            </a:r>
            <a:r>
              <a:rPr lang="en-US" dirty="0"/>
              <a:t>: Audio feedback for visually impaired kids or multilingual support.</a:t>
            </a:r>
          </a:p>
          <a:p>
            <a:r>
              <a:rPr lang="en-US" b="1" dirty="0"/>
              <a:t>Physical and Cognitive Development: </a:t>
            </a:r>
            <a:r>
              <a:rPr lang="en-US" dirty="0"/>
              <a:t>Design considering limited dexterity and shorter attention spans. </a:t>
            </a:r>
            <a:r>
              <a:rPr lang="en-US" b="1" dirty="0"/>
              <a:t>Example</a:t>
            </a:r>
            <a:r>
              <a:rPr lang="en-US" dirty="0"/>
              <a:t>: Touchscreen gestures like swiping are more natural than precise taps.</a:t>
            </a:r>
          </a:p>
          <a:p>
            <a:r>
              <a:rPr lang="en-US" b="1" dirty="0"/>
              <a:t>Parental Control and Privacy: </a:t>
            </a:r>
            <a:r>
              <a:rPr lang="en-US" dirty="0"/>
              <a:t>Include features that allow guardians to monitor and limit usage. </a:t>
            </a:r>
            <a:r>
              <a:rPr lang="en-US" b="1" dirty="0"/>
              <a:t>Example</a:t>
            </a:r>
            <a:r>
              <a:rPr lang="en-US" dirty="0"/>
              <a:t>: Time management tools and content filters.</a:t>
            </a:r>
          </a:p>
          <a:p>
            <a:r>
              <a:rPr lang="en-US" b="1" dirty="0"/>
              <a:t>Safety and Security: </a:t>
            </a:r>
            <a:r>
              <a:rPr lang="en-US" dirty="0"/>
              <a:t>Protect kids from harmful content, data breaches, and online predators. </a:t>
            </a:r>
            <a:r>
              <a:rPr lang="en-US" b="1" dirty="0"/>
              <a:t>Example</a:t>
            </a:r>
            <a:r>
              <a:rPr lang="en-US" dirty="0"/>
              <a:t>: COPPA-compliant apps that do not collect personal information.</a:t>
            </a:r>
            <a:endParaRPr lang="en-IN" dirty="0"/>
          </a:p>
          <a:p>
            <a:endParaRPr lang="en-IN" dirty="0"/>
          </a:p>
        </p:txBody>
      </p:sp>
    </p:spTree>
    <p:extLst>
      <p:ext uri="{BB962C8B-B14F-4D97-AF65-F5344CB8AC3E}">
        <p14:creationId xmlns:p14="http://schemas.microsoft.com/office/powerpoint/2010/main" val="2209715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9F138B-FAAC-E2E3-EEC9-332F323B66A3}"/>
              </a:ext>
            </a:extLst>
          </p:cNvPr>
          <p:cNvSpPr>
            <a:spLocks noGrp="1"/>
          </p:cNvSpPr>
          <p:nvPr>
            <p:ph type="sldNum" sz="quarter" idx="14"/>
          </p:nvPr>
        </p:nvSpPr>
        <p:spPr/>
        <p:txBody>
          <a:bodyPr/>
          <a:lstStyle/>
          <a:p>
            <a:fld id="{45A3C14A-F937-4231-B6F1-40B429FAFB2F}" type="slidenum">
              <a:rPr lang="en-NZ" smtClean="0"/>
              <a:pPr/>
              <a:t>46</a:t>
            </a:fld>
            <a:endParaRPr lang="en-NZ" dirty="0"/>
          </a:p>
        </p:txBody>
      </p:sp>
      <p:sp>
        <p:nvSpPr>
          <p:cNvPr id="3" name="Title 2">
            <a:extLst>
              <a:ext uri="{FF2B5EF4-FFF2-40B4-BE49-F238E27FC236}">
                <a16:creationId xmlns:a16="http://schemas.microsoft.com/office/drawing/2014/main" id="{AFB129A7-BC22-3339-28B2-DCC8E95FB7CB}"/>
              </a:ext>
            </a:extLst>
          </p:cNvPr>
          <p:cNvSpPr>
            <a:spLocks noGrp="1"/>
          </p:cNvSpPr>
          <p:nvPr>
            <p:ph type="title"/>
          </p:nvPr>
        </p:nvSpPr>
        <p:spPr>
          <a:xfrm>
            <a:off x="335360" y="260648"/>
            <a:ext cx="6211927" cy="584942"/>
          </a:xfrm>
        </p:spPr>
        <p:txBody>
          <a:bodyPr/>
          <a:lstStyle/>
          <a:p>
            <a:r>
              <a:rPr lang="en-IN" dirty="0"/>
              <a:t>HCI for Kids</a:t>
            </a:r>
          </a:p>
        </p:txBody>
      </p:sp>
      <p:sp>
        <p:nvSpPr>
          <p:cNvPr id="4" name="Text Placeholder 3">
            <a:extLst>
              <a:ext uri="{FF2B5EF4-FFF2-40B4-BE49-F238E27FC236}">
                <a16:creationId xmlns:a16="http://schemas.microsoft.com/office/drawing/2014/main" id="{64BFEC0E-C42A-D4FD-4BFA-376770556FF8}"/>
              </a:ext>
            </a:extLst>
          </p:cNvPr>
          <p:cNvSpPr>
            <a:spLocks noGrp="1"/>
          </p:cNvSpPr>
          <p:nvPr>
            <p:ph type="body" sz="quarter" idx="17"/>
          </p:nvPr>
        </p:nvSpPr>
        <p:spPr>
          <a:xfrm>
            <a:off x="407368" y="1220296"/>
            <a:ext cx="10801201" cy="4320480"/>
          </a:xfrm>
        </p:spPr>
        <p:txBody>
          <a:bodyPr/>
          <a:lstStyle/>
          <a:p>
            <a:pPr>
              <a:buFont typeface="Arial" panose="020B0604020202020204" pitchFamily="34" charset="0"/>
              <a:buChar char="•"/>
            </a:pPr>
            <a:r>
              <a:rPr lang="en-US" dirty="0">
                <a:solidFill>
                  <a:schemeClr val="tx1"/>
                </a:solidFill>
              </a:rPr>
              <a:t>Educational Games: Interactive, adaptive learning platforms that give kids immediate feedback as they solve puzzles, practice math, or code.</a:t>
            </a:r>
          </a:p>
          <a:p>
            <a:pPr>
              <a:buFont typeface="Arial" panose="020B0604020202020204" pitchFamily="34" charset="0"/>
              <a:buChar char="•"/>
            </a:pPr>
            <a:r>
              <a:rPr lang="en-US" dirty="0">
                <a:solidFill>
                  <a:schemeClr val="tx1"/>
                </a:solidFill>
              </a:rPr>
              <a:t>Augmented Reality (AR) Apps: Real-time object manipulation, collaborative play, or story creation using physical-digital blends (e.g., Osmo).</a:t>
            </a:r>
          </a:p>
          <a:p>
            <a:pPr>
              <a:buFont typeface="Arial" panose="020B0604020202020204" pitchFamily="34" charset="0"/>
              <a:buChar char="•"/>
            </a:pPr>
            <a:r>
              <a:rPr lang="en-US" dirty="0">
                <a:solidFill>
                  <a:schemeClr val="tx1"/>
                </a:solidFill>
              </a:rPr>
              <a:t>Communication Aids: Real-time speech generating and symbol-based apps for children with communication disabilities.</a:t>
            </a:r>
          </a:p>
          <a:p>
            <a:pPr>
              <a:buFont typeface="Arial" panose="020B0604020202020204" pitchFamily="34" charset="0"/>
              <a:buChar char="•"/>
            </a:pPr>
            <a:r>
              <a:rPr lang="en-US" dirty="0">
                <a:solidFill>
                  <a:schemeClr val="tx1"/>
                </a:solidFill>
              </a:rPr>
              <a:t>Safety and Parental Tools: Real-time GPS or activity tracking interfaces with instant alerts and child-centered privacy.</a:t>
            </a:r>
          </a:p>
        </p:txBody>
      </p:sp>
    </p:spTree>
    <p:extLst>
      <p:ext uri="{BB962C8B-B14F-4D97-AF65-F5344CB8AC3E}">
        <p14:creationId xmlns:p14="http://schemas.microsoft.com/office/powerpoint/2010/main" val="1580072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55C4F3-9C47-DB9F-5865-2DB903CFABD8}"/>
              </a:ext>
            </a:extLst>
          </p:cNvPr>
          <p:cNvSpPr>
            <a:spLocks noGrp="1"/>
          </p:cNvSpPr>
          <p:nvPr>
            <p:ph type="sldNum" sz="quarter" idx="14"/>
          </p:nvPr>
        </p:nvSpPr>
        <p:spPr/>
        <p:txBody>
          <a:bodyPr/>
          <a:lstStyle/>
          <a:p>
            <a:fld id="{45A3C14A-F937-4231-B6F1-40B429FAFB2F}" type="slidenum">
              <a:rPr lang="en-NZ" smtClean="0"/>
              <a:pPr/>
              <a:t>47</a:t>
            </a:fld>
            <a:endParaRPr lang="en-NZ" dirty="0"/>
          </a:p>
        </p:txBody>
      </p:sp>
      <p:sp>
        <p:nvSpPr>
          <p:cNvPr id="3" name="Title 2">
            <a:extLst>
              <a:ext uri="{FF2B5EF4-FFF2-40B4-BE49-F238E27FC236}">
                <a16:creationId xmlns:a16="http://schemas.microsoft.com/office/drawing/2014/main" id="{64DF053D-5A77-400F-576F-5C3EACDC10BB}"/>
              </a:ext>
            </a:extLst>
          </p:cNvPr>
          <p:cNvSpPr>
            <a:spLocks noGrp="1"/>
          </p:cNvSpPr>
          <p:nvPr>
            <p:ph type="title"/>
          </p:nvPr>
        </p:nvSpPr>
        <p:spPr/>
        <p:txBody>
          <a:bodyPr/>
          <a:lstStyle/>
          <a:p>
            <a:r>
              <a:rPr lang="en-US" dirty="0"/>
              <a:t>Applications of HCI for Kids</a:t>
            </a:r>
            <a:endParaRPr lang="en-IN" dirty="0"/>
          </a:p>
        </p:txBody>
      </p:sp>
      <p:sp>
        <p:nvSpPr>
          <p:cNvPr id="4" name="Text Placeholder 3">
            <a:extLst>
              <a:ext uri="{FF2B5EF4-FFF2-40B4-BE49-F238E27FC236}">
                <a16:creationId xmlns:a16="http://schemas.microsoft.com/office/drawing/2014/main" id="{2832FD8F-6304-2240-7410-1833B501F903}"/>
              </a:ext>
            </a:extLst>
          </p:cNvPr>
          <p:cNvSpPr>
            <a:spLocks noGrp="1"/>
          </p:cNvSpPr>
          <p:nvPr>
            <p:ph type="body" sz="quarter" idx="17"/>
          </p:nvPr>
        </p:nvSpPr>
        <p:spPr/>
        <p:txBody>
          <a:bodyPr/>
          <a:lstStyle/>
          <a:p>
            <a:r>
              <a:rPr lang="en-US" b="1" dirty="0"/>
              <a:t>Educational Technology</a:t>
            </a:r>
          </a:p>
          <a:p>
            <a:pPr>
              <a:buFont typeface="Arial" panose="020B0604020202020204" pitchFamily="34" charset="0"/>
              <a:buChar char="•"/>
            </a:pPr>
            <a:r>
              <a:rPr lang="en-US" b="1" dirty="0"/>
              <a:t>Examples:</a:t>
            </a:r>
            <a:r>
              <a:rPr lang="en-US" dirty="0"/>
              <a:t> Interactive learning apps, virtual classrooms, and STEM-focused games.</a:t>
            </a:r>
          </a:p>
          <a:p>
            <a:pPr>
              <a:buFont typeface="Arial" panose="020B0604020202020204" pitchFamily="34" charset="0"/>
              <a:buChar char="•"/>
            </a:pPr>
            <a:r>
              <a:rPr lang="en-US" b="1" dirty="0"/>
              <a:t>Features:</a:t>
            </a:r>
            <a:r>
              <a:rPr lang="en-US" dirty="0"/>
              <a:t> Reward systems to motivate learning and adaptive difficulty levels.</a:t>
            </a:r>
          </a:p>
          <a:p>
            <a:pPr marL="0" indent="0">
              <a:buNone/>
            </a:pPr>
            <a:r>
              <a:rPr lang="en-US" b="1" dirty="0"/>
              <a:t>2. Gaming and Entertainment</a:t>
            </a:r>
          </a:p>
          <a:p>
            <a:pPr>
              <a:buFont typeface="Arial" panose="020B0604020202020204" pitchFamily="34" charset="0"/>
              <a:buChar char="•"/>
            </a:pPr>
            <a:r>
              <a:rPr lang="en-US" b="1" dirty="0"/>
              <a:t>Examples:</a:t>
            </a:r>
            <a:r>
              <a:rPr lang="en-US" dirty="0"/>
              <a:t> Mobile games, augmented reality toys, and virtual reality experiences.</a:t>
            </a:r>
          </a:p>
          <a:p>
            <a:pPr>
              <a:buFont typeface="Arial" panose="020B0604020202020204" pitchFamily="34" charset="0"/>
              <a:buChar char="•"/>
            </a:pPr>
            <a:r>
              <a:rPr lang="en-US" b="1" dirty="0"/>
              <a:t>Features:</a:t>
            </a:r>
            <a:r>
              <a:rPr lang="en-US" dirty="0"/>
              <a:t> Story-driven content, creative challenges, and multiplayer options.</a:t>
            </a:r>
          </a:p>
        </p:txBody>
      </p:sp>
    </p:spTree>
    <p:extLst>
      <p:ext uri="{BB962C8B-B14F-4D97-AF65-F5344CB8AC3E}">
        <p14:creationId xmlns:p14="http://schemas.microsoft.com/office/powerpoint/2010/main" val="24187320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6EA39-6695-7D49-809E-E7964928EB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F8D933-3D10-F755-5FDC-A2A93B2C4EDC}"/>
              </a:ext>
            </a:extLst>
          </p:cNvPr>
          <p:cNvSpPr>
            <a:spLocks noGrp="1"/>
          </p:cNvSpPr>
          <p:nvPr>
            <p:ph type="sldNum" sz="quarter" idx="14"/>
          </p:nvPr>
        </p:nvSpPr>
        <p:spPr/>
        <p:txBody>
          <a:bodyPr/>
          <a:lstStyle/>
          <a:p>
            <a:fld id="{45A3C14A-F937-4231-B6F1-40B429FAFB2F}" type="slidenum">
              <a:rPr lang="en-NZ" smtClean="0"/>
              <a:pPr/>
              <a:t>48</a:t>
            </a:fld>
            <a:endParaRPr lang="en-NZ" dirty="0"/>
          </a:p>
        </p:txBody>
      </p:sp>
      <p:sp>
        <p:nvSpPr>
          <p:cNvPr id="3" name="Title 2">
            <a:extLst>
              <a:ext uri="{FF2B5EF4-FFF2-40B4-BE49-F238E27FC236}">
                <a16:creationId xmlns:a16="http://schemas.microsoft.com/office/drawing/2014/main" id="{9C68F674-C431-FBAB-6C9A-B513D828E431}"/>
              </a:ext>
            </a:extLst>
          </p:cNvPr>
          <p:cNvSpPr>
            <a:spLocks noGrp="1"/>
          </p:cNvSpPr>
          <p:nvPr>
            <p:ph type="title"/>
          </p:nvPr>
        </p:nvSpPr>
        <p:spPr/>
        <p:txBody>
          <a:bodyPr/>
          <a:lstStyle/>
          <a:p>
            <a:r>
              <a:rPr lang="en-US" dirty="0"/>
              <a:t>Applications of HCI for Kids</a:t>
            </a:r>
            <a:endParaRPr lang="en-IN" dirty="0"/>
          </a:p>
        </p:txBody>
      </p:sp>
      <p:sp>
        <p:nvSpPr>
          <p:cNvPr id="4" name="Text Placeholder 3">
            <a:extLst>
              <a:ext uri="{FF2B5EF4-FFF2-40B4-BE49-F238E27FC236}">
                <a16:creationId xmlns:a16="http://schemas.microsoft.com/office/drawing/2014/main" id="{D06E7BA7-1D7D-F1FD-4222-38DBC54F2361}"/>
              </a:ext>
            </a:extLst>
          </p:cNvPr>
          <p:cNvSpPr>
            <a:spLocks noGrp="1"/>
          </p:cNvSpPr>
          <p:nvPr>
            <p:ph type="body" sz="quarter" idx="17"/>
          </p:nvPr>
        </p:nvSpPr>
        <p:spPr>
          <a:xfrm>
            <a:off x="695400" y="1268760"/>
            <a:ext cx="10801201" cy="4320480"/>
          </a:xfrm>
        </p:spPr>
        <p:txBody>
          <a:bodyPr/>
          <a:lstStyle/>
          <a:p>
            <a:pPr marL="0" indent="0">
              <a:buNone/>
            </a:pPr>
            <a:r>
              <a:rPr lang="en-US" b="1" dirty="0"/>
              <a:t>3. Creative Tools</a:t>
            </a:r>
          </a:p>
          <a:p>
            <a:pPr>
              <a:buFont typeface="Arial" panose="020B0604020202020204" pitchFamily="34" charset="0"/>
              <a:buChar char="•"/>
            </a:pPr>
            <a:r>
              <a:rPr lang="en-US" b="1" dirty="0"/>
              <a:t>Examples:</a:t>
            </a:r>
            <a:r>
              <a:rPr lang="en-US" dirty="0"/>
              <a:t> Drawing apps, music composition software, and coding platforms.</a:t>
            </a:r>
          </a:p>
          <a:p>
            <a:pPr>
              <a:buFont typeface="Arial" panose="020B0604020202020204" pitchFamily="34" charset="0"/>
              <a:buChar char="•"/>
            </a:pPr>
            <a:r>
              <a:rPr lang="en-US" b="1" dirty="0"/>
              <a:t>Features:</a:t>
            </a:r>
            <a:r>
              <a:rPr lang="en-US" dirty="0"/>
              <a:t> Drag-and-drop interfaces and visual programming tools.</a:t>
            </a:r>
          </a:p>
          <a:p>
            <a:pPr marL="0" indent="0">
              <a:buNone/>
            </a:pPr>
            <a:r>
              <a:rPr lang="en-US" b="1" dirty="0"/>
              <a:t>4. Assistive Technologies</a:t>
            </a:r>
          </a:p>
          <a:p>
            <a:pPr>
              <a:buFont typeface="Arial" panose="020B0604020202020204" pitchFamily="34" charset="0"/>
              <a:buChar char="•"/>
            </a:pPr>
            <a:r>
              <a:rPr lang="en-US" b="1" dirty="0"/>
              <a:t>Examples:</a:t>
            </a:r>
            <a:r>
              <a:rPr lang="en-US" dirty="0"/>
              <a:t> Communication devices for kids with speech difficulties.</a:t>
            </a:r>
          </a:p>
          <a:p>
            <a:pPr>
              <a:buFont typeface="Arial" panose="020B0604020202020204" pitchFamily="34" charset="0"/>
              <a:buChar char="•"/>
            </a:pPr>
            <a:r>
              <a:rPr lang="en-US" b="1" dirty="0"/>
              <a:t>Features:</a:t>
            </a:r>
            <a:r>
              <a:rPr lang="en-US" dirty="0"/>
              <a:t> Symbol-based communication interfaces and speech synthesis.</a:t>
            </a:r>
          </a:p>
          <a:p>
            <a:pPr marL="0" indent="0">
              <a:buNone/>
            </a:pPr>
            <a:r>
              <a:rPr lang="en-US" b="1" dirty="0"/>
              <a:t>5. Health and Wellness Tools</a:t>
            </a:r>
          </a:p>
          <a:p>
            <a:pPr>
              <a:buFont typeface="Arial" panose="020B0604020202020204" pitchFamily="34" charset="0"/>
              <a:buChar char="•"/>
            </a:pPr>
            <a:r>
              <a:rPr lang="en-US" b="1" dirty="0"/>
              <a:t>Examples:</a:t>
            </a:r>
            <a:r>
              <a:rPr lang="en-US" dirty="0"/>
              <a:t> Apps promoting physical activity or mental health awareness.</a:t>
            </a:r>
          </a:p>
          <a:p>
            <a:pPr>
              <a:buFont typeface="Arial" panose="020B0604020202020204" pitchFamily="34" charset="0"/>
              <a:buChar char="•"/>
            </a:pPr>
            <a:r>
              <a:rPr lang="en-US" b="1" dirty="0"/>
              <a:t>Features:</a:t>
            </a:r>
            <a:r>
              <a:rPr lang="en-US" dirty="0"/>
              <a:t> Interactive exercises, trackers, and mindfulness games.</a:t>
            </a:r>
          </a:p>
          <a:p>
            <a:endParaRPr lang="en-IN" dirty="0"/>
          </a:p>
        </p:txBody>
      </p:sp>
    </p:spTree>
    <p:extLst>
      <p:ext uri="{BB962C8B-B14F-4D97-AF65-F5344CB8AC3E}">
        <p14:creationId xmlns:p14="http://schemas.microsoft.com/office/powerpoint/2010/main" val="1347977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73682C-9FF9-28F0-29C9-72D9BC52FF55}"/>
              </a:ext>
            </a:extLst>
          </p:cNvPr>
          <p:cNvSpPr>
            <a:spLocks noGrp="1"/>
          </p:cNvSpPr>
          <p:nvPr>
            <p:ph type="sldNum" sz="quarter" idx="14"/>
          </p:nvPr>
        </p:nvSpPr>
        <p:spPr/>
        <p:txBody>
          <a:bodyPr/>
          <a:lstStyle/>
          <a:p>
            <a:fld id="{45A3C14A-F937-4231-B6F1-40B429FAFB2F}" type="slidenum">
              <a:rPr lang="en-NZ" smtClean="0"/>
              <a:pPr/>
              <a:t>49</a:t>
            </a:fld>
            <a:endParaRPr lang="en-NZ" dirty="0"/>
          </a:p>
        </p:txBody>
      </p:sp>
      <p:sp>
        <p:nvSpPr>
          <p:cNvPr id="3" name="Title 2">
            <a:extLst>
              <a:ext uri="{FF2B5EF4-FFF2-40B4-BE49-F238E27FC236}">
                <a16:creationId xmlns:a16="http://schemas.microsoft.com/office/drawing/2014/main" id="{2EA916A2-D23C-63E2-BC73-6FA5C771D502}"/>
              </a:ext>
            </a:extLst>
          </p:cNvPr>
          <p:cNvSpPr>
            <a:spLocks noGrp="1"/>
          </p:cNvSpPr>
          <p:nvPr>
            <p:ph type="title"/>
          </p:nvPr>
        </p:nvSpPr>
        <p:spPr/>
        <p:txBody>
          <a:bodyPr/>
          <a:lstStyle/>
          <a:p>
            <a:r>
              <a:rPr lang="en-IN" dirty="0"/>
              <a:t>Challenges in HCI for Kids</a:t>
            </a:r>
          </a:p>
        </p:txBody>
      </p:sp>
      <p:sp>
        <p:nvSpPr>
          <p:cNvPr id="4" name="Text Placeholder 3">
            <a:extLst>
              <a:ext uri="{FF2B5EF4-FFF2-40B4-BE49-F238E27FC236}">
                <a16:creationId xmlns:a16="http://schemas.microsoft.com/office/drawing/2014/main" id="{8CA9534A-D151-1EA0-0B53-BAFAC0C4DD3D}"/>
              </a:ext>
            </a:extLst>
          </p:cNvPr>
          <p:cNvSpPr>
            <a:spLocks noGrp="1"/>
          </p:cNvSpPr>
          <p:nvPr>
            <p:ph type="body" sz="quarter" idx="17"/>
          </p:nvPr>
        </p:nvSpPr>
        <p:spPr/>
        <p:txBody>
          <a:bodyPr/>
          <a:lstStyle/>
          <a:p>
            <a:r>
              <a:rPr lang="en-US" b="1" dirty="0"/>
              <a:t>Balancing Fun and Functionality</a:t>
            </a:r>
            <a:r>
              <a:rPr lang="en-US" dirty="0"/>
              <a:t>: Ensuring the interface is entertaining without compromising usability or learning outcomes.</a:t>
            </a:r>
          </a:p>
          <a:p>
            <a:r>
              <a:rPr lang="en-US" b="1" dirty="0"/>
              <a:t>Short Attention Spans</a:t>
            </a:r>
            <a:r>
              <a:rPr lang="en-US" dirty="0"/>
              <a:t>: Keeping kids engaged with interactive and visually stimulating elements.</a:t>
            </a:r>
          </a:p>
          <a:p>
            <a:r>
              <a:rPr lang="en-US" b="1" dirty="0"/>
              <a:t>Device and Screen Dependency</a:t>
            </a:r>
            <a:r>
              <a:rPr lang="en-US" dirty="0"/>
              <a:t>: Encouraging healthy usage habits and balancing screen time with offline activities.</a:t>
            </a:r>
          </a:p>
          <a:p>
            <a:r>
              <a:rPr lang="en-US" b="1" dirty="0"/>
              <a:t>Cognitive and Physical Constraints</a:t>
            </a:r>
            <a:r>
              <a:rPr lang="en-US" dirty="0"/>
              <a:t>: Designing for varying levels of literacy, motor skills, and memory capacity.</a:t>
            </a:r>
            <a:endParaRPr lang="en-IN" dirty="0"/>
          </a:p>
        </p:txBody>
      </p:sp>
    </p:spTree>
    <p:extLst>
      <p:ext uri="{BB962C8B-B14F-4D97-AF65-F5344CB8AC3E}">
        <p14:creationId xmlns:p14="http://schemas.microsoft.com/office/powerpoint/2010/main" val="2055704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2.xml><?xml version="1.0" encoding="utf-8"?>
<ds:datastoreItem xmlns:ds="http://schemas.openxmlformats.org/officeDocument/2006/customXml" ds:itemID="{74916671-0E7D-4594-8037-60C70BF44351}">
  <ds:schemaRefs>
    <ds:schemaRef ds:uri="http://schemas.microsoft.com/office/2006/documentManagement/types"/>
    <ds:schemaRef ds:uri="http://purl.org/dc/terms/"/>
    <ds:schemaRef ds:uri="http://schemas.microsoft.com/office/infopath/2007/PartnerControls"/>
    <ds:schemaRef ds:uri="http://www.w3.org/XML/1998/namespace"/>
    <ds:schemaRef ds:uri="http://purl.org/dc/elements/1.1/"/>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REVA REVISED PPT TEMPLATE</Template>
  <TotalTime>6179</TotalTime>
  <Words>3742</Words>
  <Application>Microsoft Office PowerPoint</Application>
  <PresentationFormat>Widescreen</PresentationFormat>
  <Paragraphs>359</Paragraphs>
  <Slides>50</Slides>
  <Notes>0</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50</vt:i4>
      </vt:variant>
    </vt:vector>
  </HeadingPairs>
  <TitlesOfParts>
    <vt:vector size="68" baseType="lpstr">
      <vt:lpstr>Aptos</vt:lpstr>
      <vt:lpstr>Arial</vt:lpstr>
      <vt:lpstr>Calibri</vt:lpstr>
      <vt:lpstr>Courier New</vt:lpstr>
      <vt:lpstr>Nobel-Book</vt:lpstr>
      <vt:lpstr>Roboto Medium</vt:lpstr>
      <vt:lpstr>Symbol</vt:lpstr>
      <vt:lpstr>Times New Roman</vt:lpstr>
      <vt:lpstr>Wingdings</vt:lpstr>
      <vt:lpstr>REVA Powerpoint Template - NEW</vt:lpstr>
      <vt:lpstr>Agenda</vt:lpstr>
      <vt:lpstr>Divider</vt:lpstr>
      <vt:lpstr>Media / Video Slide</vt:lpstr>
      <vt:lpstr>Copy Slides</vt:lpstr>
      <vt:lpstr>Copy and Image</vt:lpstr>
      <vt:lpstr>Table &amp; Graphs Slide</vt:lpstr>
      <vt:lpstr>Flow Slides</vt:lpstr>
      <vt:lpstr>Thank You </vt:lpstr>
      <vt:lpstr>HUMAN COMPUTER INTERACTION (M23DES212) School of CSA /MCA- IInd sem</vt:lpstr>
      <vt:lpstr>Unit 4</vt:lpstr>
      <vt:lpstr>User Personas</vt:lpstr>
      <vt:lpstr>User Personas</vt:lpstr>
      <vt:lpstr>User Centric Design</vt:lpstr>
      <vt:lpstr>Examples: Health care domain</vt:lpstr>
      <vt:lpstr>Examples: Aerospace Domain</vt:lpstr>
      <vt:lpstr>Examples: Designing an educational game app for children</vt:lpstr>
      <vt:lpstr>THE PERSONA LIFECYCLE</vt:lpstr>
      <vt:lpstr>THE PERSONA LIFECYCLE</vt:lpstr>
      <vt:lpstr>MAKING PERSONAS PRACTICAL</vt:lpstr>
      <vt:lpstr>MAKING PERSONAS PRACTICAL</vt:lpstr>
      <vt:lpstr>MAKING PERSONAS PRACTICAL</vt:lpstr>
      <vt:lpstr>MAKING PERSONAS PRACTICAL</vt:lpstr>
      <vt:lpstr>Prototyping Tools and Techniques</vt:lpstr>
      <vt:lpstr>Prototyping Tools and Techniques</vt:lpstr>
      <vt:lpstr>PROTOTYPES AND THE DESIGN PROCESS: User-Centered Design</vt:lpstr>
      <vt:lpstr>Prototyping Strategies</vt:lpstr>
      <vt:lpstr>Horizontal prototypes</vt:lpstr>
      <vt:lpstr>Vertical prototypes</vt:lpstr>
      <vt:lpstr>PowerPoint Presentation</vt:lpstr>
      <vt:lpstr>Task-oriented prototypes</vt:lpstr>
      <vt:lpstr>Scenario-based prototypes</vt:lpstr>
      <vt:lpstr>Scenario-Based Design</vt:lpstr>
      <vt:lpstr>Scenario-Based Design - Airline Entertainment System </vt:lpstr>
      <vt:lpstr>Scenarios in the System-Development Lifecycle</vt:lpstr>
      <vt:lpstr>scenario-based design (SBD) framework.</vt:lpstr>
      <vt:lpstr>Potential Pitfalls in Scenario-Based Design</vt:lpstr>
      <vt:lpstr>Participatory Design</vt:lpstr>
      <vt:lpstr>Key Aspects of Participatory Design</vt:lpstr>
      <vt:lpstr>Key Aspects of Participatory Design</vt:lpstr>
      <vt:lpstr>The Benefits of Participatory Design</vt:lpstr>
      <vt:lpstr>Example</vt:lpstr>
      <vt:lpstr>HCI In HEALTHCARE</vt:lpstr>
      <vt:lpstr>HCI In HEALTHCARE</vt:lpstr>
      <vt:lpstr>Challenges</vt:lpstr>
      <vt:lpstr>HCI in Aerospace</vt:lpstr>
      <vt:lpstr>HCI in Aerospace</vt:lpstr>
      <vt:lpstr>HCI in Aerospace</vt:lpstr>
      <vt:lpstr>HCI in Aerospace</vt:lpstr>
      <vt:lpstr>HCI in Aerospace</vt:lpstr>
      <vt:lpstr>HCI in Aerospace</vt:lpstr>
      <vt:lpstr>Challenges in HCI for Aerospace</vt:lpstr>
      <vt:lpstr>Key Principles for HCI Design for Kids</vt:lpstr>
      <vt:lpstr>Key Principles for HCI Design for Kids</vt:lpstr>
      <vt:lpstr>HCI for Kids</vt:lpstr>
      <vt:lpstr>Applications of HCI for Kids</vt:lpstr>
      <vt:lpstr>Applications of HCI for Kids</vt:lpstr>
      <vt:lpstr>Challenges in HCI for Kids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 OF THINGS (M21DGS223)</dc:title>
  <dc:creator>urwithrajeev@gmail.com</dc:creator>
  <cp:lastModifiedBy>Dr. Ambili PS</cp:lastModifiedBy>
  <cp:revision>123</cp:revision>
  <cp:lastPrinted>2018-09-28T07:11:06Z</cp:lastPrinted>
  <dcterms:created xsi:type="dcterms:W3CDTF">2022-04-19T05:16:11Z</dcterms:created>
  <dcterms:modified xsi:type="dcterms:W3CDTF">2025-09-09T08:24:37Z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