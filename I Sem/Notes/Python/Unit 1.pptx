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2"/>
  </p:notesMasterIdLst>
  <p:handoutMasterIdLst>
    <p:handoutMasterId r:id="rId163"/>
  </p:handoutMasterIdLst>
  <p:sldIdLst>
    <p:sldId id="454" r:id="rId2"/>
    <p:sldId id="319" r:id="rId3"/>
    <p:sldId id="320" r:id="rId4"/>
    <p:sldId id="321" r:id="rId5"/>
    <p:sldId id="262" r:id="rId6"/>
    <p:sldId id="286" r:id="rId7"/>
    <p:sldId id="287" r:id="rId8"/>
    <p:sldId id="288" r:id="rId9"/>
    <p:sldId id="289" r:id="rId10"/>
    <p:sldId id="290" r:id="rId11"/>
    <p:sldId id="291" r:id="rId12"/>
    <p:sldId id="292" r:id="rId13"/>
    <p:sldId id="293" r:id="rId14"/>
    <p:sldId id="294" r:id="rId15"/>
    <p:sldId id="295" r:id="rId16"/>
    <p:sldId id="296" r:id="rId17"/>
    <p:sldId id="297" r:id="rId18"/>
    <p:sldId id="298" r:id="rId19"/>
    <p:sldId id="322" r:id="rId20"/>
    <p:sldId id="323" r:id="rId21"/>
    <p:sldId id="324" r:id="rId22"/>
    <p:sldId id="325" r:id="rId23"/>
    <p:sldId id="301" r:id="rId24"/>
    <p:sldId id="326" r:id="rId25"/>
    <p:sldId id="328" r:id="rId26"/>
    <p:sldId id="302" r:id="rId27"/>
    <p:sldId id="303" r:id="rId28"/>
    <p:sldId id="304" r:id="rId29"/>
    <p:sldId id="331" r:id="rId30"/>
    <p:sldId id="332" r:id="rId31"/>
    <p:sldId id="333" r:id="rId32"/>
    <p:sldId id="305" r:id="rId33"/>
    <p:sldId id="306" r:id="rId34"/>
    <p:sldId id="307" r:id="rId35"/>
    <p:sldId id="308" r:id="rId36"/>
    <p:sldId id="309" r:id="rId37"/>
    <p:sldId id="310" r:id="rId38"/>
    <p:sldId id="311" r:id="rId39"/>
    <p:sldId id="329" r:id="rId40"/>
    <p:sldId id="330" r:id="rId41"/>
    <p:sldId id="312" r:id="rId42"/>
    <p:sldId id="313" r:id="rId43"/>
    <p:sldId id="314" r:id="rId44"/>
    <p:sldId id="315" r:id="rId45"/>
    <p:sldId id="316" r:id="rId46"/>
    <p:sldId id="334" r:id="rId47"/>
    <p:sldId id="335" r:id="rId48"/>
    <p:sldId id="336" r:id="rId49"/>
    <p:sldId id="337" r:id="rId50"/>
    <p:sldId id="338" r:id="rId51"/>
    <p:sldId id="339" r:id="rId52"/>
    <p:sldId id="340" r:id="rId53"/>
    <p:sldId id="341" r:id="rId54"/>
    <p:sldId id="342" r:id="rId55"/>
    <p:sldId id="343" r:id="rId56"/>
    <p:sldId id="317" r:id="rId57"/>
    <p:sldId id="344" r:id="rId58"/>
    <p:sldId id="345" r:id="rId59"/>
    <p:sldId id="346" r:id="rId60"/>
    <p:sldId id="347" r:id="rId61"/>
    <p:sldId id="348" r:id="rId62"/>
    <p:sldId id="431" r:id="rId63"/>
    <p:sldId id="429" r:id="rId64"/>
    <p:sldId id="430" r:id="rId65"/>
    <p:sldId id="354" r:id="rId66"/>
    <p:sldId id="355" r:id="rId67"/>
    <p:sldId id="433" r:id="rId68"/>
    <p:sldId id="356" r:id="rId69"/>
    <p:sldId id="432" r:id="rId70"/>
    <p:sldId id="357" r:id="rId71"/>
    <p:sldId id="434" r:id="rId72"/>
    <p:sldId id="358" r:id="rId73"/>
    <p:sldId id="435" r:id="rId74"/>
    <p:sldId id="359" r:id="rId75"/>
    <p:sldId id="436" r:id="rId76"/>
    <p:sldId id="439" r:id="rId77"/>
    <p:sldId id="440" r:id="rId78"/>
    <p:sldId id="360" r:id="rId79"/>
    <p:sldId id="437" r:id="rId80"/>
    <p:sldId id="361" r:id="rId81"/>
    <p:sldId id="438" r:id="rId82"/>
    <p:sldId id="364" r:id="rId83"/>
    <p:sldId id="365" r:id="rId84"/>
    <p:sldId id="366" r:id="rId85"/>
    <p:sldId id="367" r:id="rId86"/>
    <p:sldId id="368" r:id="rId87"/>
    <p:sldId id="441" r:id="rId88"/>
    <p:sldId id="369" r:id="rId89"/>
    <p:sldId id="442" r:id="rId90"/>
    <p:sldId id="370" r:id="rId91"/>
    <p:sldId id="371" r:id="rId92"/>
    <p:sldId id="443" r:id="rId93"/>
    <p:sldId id="444" r:id="rId94"/>
    <p:sldId id="372" r:id="rId95"/>
    <p:sldId id="445" r:id="rId96"/>
    <p:sldId id="373" r:id="rId97"/>
    <p:sldId id="447" r:id="rId98"/>
    <p:sldId id="448" r:id="rId99"/>
    <p:sldId id="449" r:id="rId100"/>
    <p:sldId id="450" r:id="rId101"/>
    <p:sldId id="451" r:id="rId102"/>
    <p:sldId id="452" r:id="rId103"/>
    <p:sldId id="453" r:id="rId104"/>
    <p:sldId id="446" r:id="rId105"/>
    <p:sldId id="374" r:id="rId106"/>
    <p:sldId id="375" r:id="rId107"/>
    <p:sldId id="376" r:id="rId108"/>
    <p:sldId id="377" r:id="rId109"/>
    <p:sldId id="378" r:id="rId110"/>
    <p:sldId id="379" r:id="rId111"/>
    <p:sldId id="380" r:id="rId112"/>
    <p:sldId id="381" r:id="rId113"/>
    <p:sldId id="382" r:id="rId114"/>
    <p:sldId id="383" r:id="rId115"/>
    <p:sldId id="384" r:id="rId116"/>
    <p:sldId id="385" r:id="rId117"/>
    <p:sldId id="386" r:id="rId118"/>
    <p:sldId id="387" r:id="rId119"/>
    <p:sldId id="388" r:id="rId120"/>
    <p:sldId id="389" r:id="rId121"/>
    <p:sldId id="390" r:id="rId122"/>
    <p:sldId id="391" r:id="rId123"/>
    <p:sldId id="392" r:id="rId124"/>
    <p:sldId id="393" r:id="rId125"/>
    <p:sldId id="394" r:id="rId126"/>
    <p:sldId id="395" r:id="rId127"/>
    <p:sldId id="396" r:id="rId128"/>
    <p:sldId id="397" r:id="rId129"/>
    <p:sldId id="398" r:id="rId130"/>
    <p:sldId id="399" r:id="rId131"/>
    <p:sldId id="400" r:id="rId132"/>
    <p:sldId id="401" r:id="rId133"/>
    <p:sldId id="402" r:id="rId134"/>
    <p:sldId id="403" r:id="rId135"/>
    <p:sldId id="404" r:id="rId136"/>
    <p:sldId id="405" r:id="rId137"/>
    <p:sldId id="406" r:id="rId138"/>
    <p:sldId id="407" r:id="rId139"/>
    <p:sldId id="408" r:id="rId140"/>
    <p:sldId id="409" r:id="rId141"/>
    <p:sldId id="410" r:id="rId142"/>
    <p:sldId id="411" r:id="rId143"/>
    <p:sldId id="412" r:id="rId144"/>
    <p:sldId id="413" r:id="rId145"/>
    <p:sldId id="414" r:id="rId146"/>
    <p:sldId id="415" r:id="rId147"/>
    <p:sldId id="416" r:id="rId148"/>
    <p:sldId id="417" r:id="rId149"/>
    <p:sldId id="418" r:id="rId150"/>
    <p:sldId id="419" r:id="rId151"/>
    <p:sldId id="420" r:id="rId152"/>
    <p:sldId id="421" r:id="rId153"/>
    <p:sldId id="422" r:id="rId154"/>
    <p:sldId id="423" r:id="rId155"/>
    <p:sldId id="424" r:id="rId156"/>
    <p:sldId id="425" r:id="rId157"/>
    <p:sldId id="426" r:id="rId158"/>
    <p:sldId id="427" r:id="rId159"/>
    <p:sldId id="428" r:id="rId160"/>
    <p:sldId id="284" r:id="rId1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682F"/>
    <a:srgbClr val="5F5F5F"/>
    <a:srgbClr val="0099CC"/>
    <a:srgbClr val="0000FF"/>
    <a:srgbClr val="006699"/>
    <a:srgbClr val="009999"/>
    <a:srgbClr val="0066CC"/>
    <a:srgbClr val="666699"/>
    <a:srgbClr val="FF6600"/>
    <a:srgbClr val="99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91" autoAdjust="0"/>
    <p:restoredTop sz="94660"/>
  </p:normalViewPr>
  <p:slideViewPr>
    <p:cSldViewPr snapToGrid="0">
      <p:cViewPr varScale="1">
        <p:scale>
          <a:sx n="82" d="100"/>
          <a:sy n="82" d="100"/>
        </p:scale>
        <p:origin x="754" y="72"/>
      </p:cViewPr>
      <p:guideLst/>
    </p:cSldViewPr>
  </p:slideViewPr>
  <p:notesTextViewPr>
    <p:cViewPr>
      <p:scale>
        <a:sx n="1" d="1"/>
        <a:sy n="1" d="1"/>
      </p:scale>
      <p:origin x="0" y="0"/>
    </p:cViewPr>
  </p:notesTextViewPr>
  <p:notesViewPr>
    <p:cSldViewPr snapToGrid="0">
      <p:cViewPr varScale="1">
        <p:scale>
          <a:sx n="63" d="100"/>
          <a:sy n="63" d="100"/>
        </p:scale>
        <p:origin x="3206" y="77"/>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handoutMaster" Target="handoutMasters/handout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viewProps" Target="view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B6D1FB7-1A0D-4FA4-B62E-A0AE442F41B6}"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IN"/>
        </a:p>
      </dgm:t>
    </dgm:pt>
    <dgm:pt modelId="{AE0BD4D4-F74C-486A-8ACF-8F8500BC0E2F}">
      <dgm:prSet custT="1"/>
      <dgm:spPr/>
      <dgm:t>
        <a:bodyPr/>
        <a:lstStyle/>
        <a:p>
          <a:pPr rtl="0"/>
          <a:r>
            <a:rPr lang="en-US" sz="2800" b="1" dirty="0">
              <a:latin typeface="Roboto Medium"/>
            </a:rPr>
            <a:t>Course Objectives</a:t>
          </a:r>
          <a:endParaRPr lang="en-IN" sz="2800" dirty="0">
            <a:latin typeface="Roboto Medium"/>
          </a:endParaRPr>
        </a:p>
      </dgm:t>
    </dgm:pt>
    <dgm:pt modelId="{96B8A86F-D7D0-49CA-8287-FE14DFA8C70E}" type="parTrans" cxnId="{0F2F5F0D-0871-48C0-905B-1834C63CB1DB}">
      <dgm:prSet/>
      <dgm:spPr/>
      <dgm:t>
        <a:bodyPr/>
        <a:lstStyle/>
        <a:p>
          <a:endParaRPr lang="en-IN" sz="2800"/>
        </a:p>
      </dgm:t>
    </dgm:pt>
    <dgm:pt modelId="{E21A6AC5-9547-4706-9419-4A3E47882857}" type="sibTrans" cxnId="{0F2F5F0D-0871-48C0-905B-1834C63CB1DB}">
      <dgm:prSet/>
      <dgm:spPr/>
      <dgm:t>
        <a:bodyPr/>
        <a:lstStyle/>
        <a:p>
          <a:endParaRPr lang="en-IN" sz="2800"/>
        </a:p>
      </dgm:t>
    </dgm:pt>
    <dgm:pt modelId="{CC171231-1724-4F3F-AF05-EAD9A917749E}">
      <dgm:prSet custT="1"/>
      <dgm:spPr/>
      <dgm:t>
        <a:bodyPr/>
        <a:lstStyle/>
        <a:p>
          <a:pPr rtl="0"/>
          <a:r>
            <a:rPr lang="en-US" sz="2800" b="1" dirty="0"/>
            <a:t>        	</a:t>
          </a:r>
          <a:r>
            <a:rPr lang="en-US" sz="2800" b="1" dirty="0">
              <a:latin typeface="Roboto Medium"/>
            </a:rPr>
            <a:t>Course Contents</a:t>
          </a:r>
          <a:endParaRPr lang="en-IN" sz="2800" dirty="0">
            <a:latin typeface="Roboto Medium"/>
          </a:endParaRPr>
        </a:p>
      </dgm:t>
    </dgm:pt>
    <dgm:pt modelId="{2448F03D-F4EA-4283-A222-B3B2CDD7D2FE}" type="parTrans" cxnId="{DEAA2D93-E0F0-4C41-89AA-B80AB07E6BD9}">
      <dgm:prSet/>
      <dgm:spPr/>
      <dgm:t>
        <a:bodyPr/>
        <a:lstStyle/>
        <a:p>
          <a:endParaRPr lang="en-IN" sz="2800"/>
        </a:p>
      </dgm:t>
    </dgm:pt>
    <dgm:pt modelId="{F77DD890-F4A2-4A0D-8A16-D9973E4B6C55}" type="sibTrans" cxnId="{DEAA2D93-E0F0-4C41-89AA-B80AB07E6BD9}">
      <dgm:prSet/>
      <dgm:spPr/>
      <dgm:t>
        <a:bodyPr/>
        <a:lstStyle/>
        <a:p>
          <a:endParaRPr lang="en-IN" sz="2800"/>
        </a:p>
      </dgm:t>
    </dgm:pt>
    <dgm:pt modelId="{78427BB8-A0C5-4B2B-897A-5BD0C23A14DB}">
      <dgm:prSet custT="1"/>
      <dgm:spPr/>
      <dgm:t>
        <a:bodyPr/>
        <a:lstStyle/>
        <a:p>
          <a:pPr algn="l" rtl="0"/>
          <a:r>
            <a:rPr lang="en-US" sz="2800" b="1" dirty="0"/>
            <a:t>		</a:t>
          </a:r>
          <a:r>
            <a:rPr lang="en-US" sz="2800" b="1" dirty="0">
              <a:latin typeface="Roboto Medium"/>
            </a:rPr>
            <a:t>Learning Resources</a:t>
          </a:r>
        </a:p>
        <a:p>
          <a:pPr algn="l" rtl="0"/>
          <a:r>
            <a:rPr lang="en-US" sz="2800" b="1" dirty="0">
              <a:latin typeface="Roboto Medium"/>
            </a:rPr>
            <a:t>			</a:t>
          </a:r>
        </a:p>
        <a:p>
          <a:pPr algn="r" rtl="0"/>
          <a:r>
            <a:rPr lang="en-US" sz="2800" b="1" dirty="0">
              <a:latin typeface="Roboto Medium"/>
            </a:rPr>
            <a:t>TEXT BOOKS   REFERENCE BOOKS</a:t>
          </a:r>
        </a:p>
        <a:p>
          <a:pPr algn="l" rtl="0"/>
          <a:r>
            <a:rPr lang="en-US" sz="2800" b="1" dirty="0"/>
            <a:t>			</a:t>
          </a:r>
        </a:p>
        <a:p>
          <a:pPr algn="l" rtl="0"/>
          <a:r>
            <a:rPr lang="en-US" sz="2800" b="1" dirty="0">
              <a:latin typeface="Roboto Medium"/>
            </a:rPr>
            <a:t>			                      Course Outcomes </a:t>
          </a:r>
          <a:r>
            <a:rPr lang="en-US" sz="2800" b="1" dirty="0"/>
            <a:t>							</a:t>
          </a:r>
          <a:br>
            <a:rPr lang="en-IN" sz="2800" dirty="0"/>
          </a:br>
          <a:r>
            <a:rPr lang="en-IN" sz="2800" dirty="0"/>
            <a:t>					        </a:t>
          </a:r>
          <a:r>
            <a:rPr lang="en-IN" sz="2800" b="1" dirty="0">
              <a:latin typeface="Roboto Medium"/>
            </a:rPr>
            <a:t>Computer Basics</a:t>
          </a:r>
          <a:br>
            <a:rPr lang="en-US" sz="2800" dirty="0"/>
          </a:br>
          <a:endParaRPr lang="en-US" sz="2800" b="1" dirty="0"/>
        </a:p>
      </dgm:t>
    </dgm:pt>
    <dgm:pt modelId="{CD03BA19-CEB1-4C21-82D0-D4D1F469F9F6}" type="parTrans" cxnId="{321AB116-92B8-4CF9-AE20-4906784AEF6F}">
      <dgm:prSet/>
      <dgm:spPr/>
      <dgm:t>
        <a:bodyPr/>
        <a:lstStyle/>
        <a:p>
          <a:endParaRPr lang="en-IN" sz="2800"/>
        </a:p>
      </dgm:t>
    </dgm:pt>
    <dgm:pt modelId="{8EB07A52-CB00-432A-AADF-760573FE82B0}" type="sibTrans" cxnId="{321AB116-92B8-4CF9-AE20-4906784AEF6F}">
      <dgm:prSet/>
      <dgm:spPr/>
      <dgm:t>
        <a:bodyPr/>
        <a:lstStyle/>
        <a:p>
          <a:endParaRPr lang="en-IN" sz="2800"/>
        </a:p>
      </dgm:t>
    </dgm:pt>
    <dgm:pt modelId="{867600BE-C60C-4421-AC4D-89DD8FCC3BDD}">
      <dgm:prSet custT="1"/>
      <dgm:spPr/>
      <dgm:t>
        <a:bodyPr/>
        <a:lstStyle/>
        <a:p>
          <a:pPr rtl="0"/>
          <a:endParaRPr lang="en-IN" sz="2800" dirty="0"/>
        </a:p>
      </dgm:t>
    </dgm:pt>
    <dgm:pt modelId="{D97D185A-1AC6-410D-8831-71F4FE4D7E49}" type="parTrans" cxnId="{D60BBEE3-2802-4D1E-AF03-2179CEF6E775}">
      <dgm:prSet/>
      <dgm:spPr/>
      <dgm:t>
        <a:bodyPr/>
        <a:lstStyle/>
        <a:p>
          <a:endParaRPr lang="en-IN" sz="2800"/>
        </a:p>
      </dgm:t>
    </dgm:pt>
    <dgm:pt modelId="{D3DEC557-FEB5-402D-B6B3-D97D6179A780}" type="sibTrans" cxnId="{D60BBEE3-2802-4D1E-AF03-2179CEF6E775}">
      <dgm:prSet/>
      <dgm:spPr/>
      <dgm:t>
        <a:bodyPr/>
        <a:lstStyle/>
        <a:p>
          <a:endParaRPr lang="en-IN" sz="2800"/>
        </a:p>
      </dgm:t>
    </dgm:pt>
    <dgm:pt modelId="{5647F6AE-962C-46D3-A549-E0E3E47A3844}">
      <dgm:prSet custT="1"/>
      <dgm:spPr/>
      <dgm:t>
        <a:bodyPr/>
        <a:lstStyle/>
        <a:p>
          <a:pPr rtl="0"/>
          <a:r>
            <a:rPr lang="en-US" sz="2800" b="1" dirty="0"/>
            <a:t> 	</a:t>
          </a:r>
          <a:endParaRPr lang="en-IN" sz="2800" dirty="0"/>
        </a:p>
      </dgm:t>
    </dgm:pt>
    <dgm:pt modelId="{61C7CC4F-E711-40B5-8D5A-02E81D0AFC36}" type="parTrans" cxnId="{C490B4B0-C023-4450-860F-55AD53A07209}">
      <dgm:prSet/>
      <dgm:spPr/>
      <dgm:t>
        <a:bodyPr/>
        <a:lstStyle/>
        <a:p>
          <a:endParaRPr lang="en-IN" sz="2800"/>
        </a:p>
      </dgm:t>
    </dgm:pt>
    <dgm:pt modelId="{43C4074D-5475-40ED-94D2-5CADF776B3D6}" type="sibTrans" cxnId="{C490B4B0-C023-4450-860F-55AD53A07209}">
      <dgm:prSet/>
      <dgm:spPr/>
      <dgm:t>
        <a:bodyPr/>
        <a:lstStyle/>
        <a:p>
          <a:endParaRPr lang="en-IN" sz="2800"/>
        </a:p>
      </dgm:t>
    </dgm:pt>
    <dgm:pt modelId="{B6DA8DED-3811-41CD-A33C-9A8473E7A983}">
      <dgm:prSet custT="1"/>
      <dgm:spPr/>
      <dgm:t>
        <a:bodyPr/>
        <a:lstStyle/>
        <a:p>
          <a:pPr rtl="0"/>
          <a:r>
            <a:rPr lang="en-US" sz="2800" b="1" dirty="0"/>
            <a:t>	      	        			</a:t>
          </a:r>
          <a:endParaRPr lang="en-IN" sz="2800" dirty="0"/>
        </a:p>
      </dgm:t>
    </dgm:pt>
    <dgm:pt modelId="{C38D9A5D-2213-4026-8662-377AFAB86068}" type="parTrans" cxnId="{FAB80BD6-4E0C-41E2-AD12-4C3BAC368C87}">
      <dgm:prSet/>
      <dgm:spPr/>
      <dgm:t>
        <a:bodyPr/>
        <a:lstStyle/>
        <a:p>
          <a:endParaRPr lang="en-IN" sz="2800"/>
        </a:p>
      </dgm:t>
    </dgm:pt>
    <dgm:pt modelId="{D351A4EE-9894-4304-9331-E56DF0C2F1D2}" type="sibTrans" cxnId="{FAB80BD6-4E0C-41E2-AD12-4C3BAC368C87}">
      <dgm:prSet/>
      <dgm:spPr/>
      <dgm:t>
        <a:bodyPr/>
        <a:lstStyle/>
        <a:p>
          <a:endParaRPr lang="en-IN" sz="2800"/>
        </a:p>
      </dgm:t>
    </dgm:pt>
    <dgm:pt modelId="{D11E4469-FF77-473D-8305-1742350E6205}" type="pres">
      <dgm:prSet presAssocID="{FB6D1FB7-1A0D-4FA4-B62E-A0AE442F41B6}" presName="vert0" presStyleCnt="0">
        <dgm:presLayoutVars>
          <dgm:dir/>
          <dgm:animOne val="branch"/>
          <dgm:animLvl val="lvl"/>
        </dgm:presLayoutVars>
      </dgm:prSet>
      <dgm:spPr/>
    </dgm:pt>
    <dgm:pt modelId="{0516AC9C-61C4-4EA6-9E23-60A02F32294E}" type="pres">
      <dgm:prSet presAssocID="{AE0BD4D4-F74C-486A-8ACF-8F8500BC0E2F}" presName="thickLine" presStyleLbl="alignNode1" presStyleIdx="0" presStyleCnt="6"/>
      <dgm:spPr/>
    </dgm:pt>
    <dgm:pt modelId="{41577530-C0A2-4790-9C6E-C74F809F0820}" type="pres">
      <dgm:prSet presAssocID="{AE0BD4D4-F74C-486A-8ACF-8F8500BC0E2F}" presName="horz1" presStyleCnt="0"/>
      <dgm:spPr/>
    </dgm:pt>
    <dgm:pt modelId="{41F13925-4579-44C6-8A85-6F0F781FA907}" type="pres">
      <dgm:prSet presAssocID="{AE0BD4D4-F74C-486A-8ACF-8F8500BC0E2F}" presName="tx1" presStyleLbl="revTx" presStyleIdx="0" presStyleCnt="6" custLinFactNeighborY="1386"/>
      <dgm:spPr/>
    </dgm:pt>
    <dgm:pt modelId="{8D61795D-2337-46F9-B8F5-90DF43FA330A}" type="pres">
      <dgm:prSet presAssocID="{AE0BD4D4-F74C-486A-8ACF-8F8500BC0E2F}" presName="vert1" presStyleCnt="0"/>
      <dgm:spPr/>
    </dgm:pt>
    <dgm:pt modelId="{A7B7ABED-12B1-4E1B-B4B1-FFF254BBEF57}" type="pres">
      <dgm:prSet presAssocID="{CC171231-1724-4F3F-AF05-EAD9A917749E}" presName="thickLine" presStyleLbl="alignNode1" presStyleIdx="1" presStyleCnt="6"/>
      <dgm:spPr/>
    </dgm:pt>
    <dgm:pt modelId="{5D365F1D-1A02-42FC-BBF7-1A690F436F29}" type="pres">
      <dgm:prSet presAssocID="{CC171231-1724-4F3F-AF05-EAD9A917749E}" presName="horz1" presStyleCnt="0"/>
      <dgm:spPr/>
    </dgm:pt>
    <dgm:pt modelId="{B50D8597-7F8B-4053-819A-831E0A357B7A}" type="pres">
      <dgm:prSet presAssocID="{CC171231-1724-4F3F-AF05-EAD9A917749E}" presName="tx1" presStyleLbl="revTx" presStyleIdx="1" presStyleCnt="6"/>
      <dgm:spPr/>
    </dgm:pt>
    <dgm:pt modelId="{1FC598C7-F77E-4636-845D-1428D67D5A1F}" type="pres">
      <dgm:prSet presAssocID="{CC171231-1724-4F3F-AF05-EAD9A917749E}" presName="vert1" presStyleCnt="0"/>
      <dgm:spPr/>
    </dgm:pt>
    <dgm:pt modelId="{95AFD6A2-B9FA-4E99-B264-69A309937C2C}" type="pres">
      <dgm:prSet presAssocID="{78427BB8-A0C5-4B2B-897A-5BD0C23A14DB}" presName="thickLine" presStyleLbl="alignNode1" presStyleIdx="2" presStyleCnt="6"/>
      <dgm:spPr/>
    </dgm:pt>
    <dgm:pt modelId="{447DAE46-C1FF-4B39-A696-38F877CEF90E}" type="pres">
      <dgm:prSet presAssocID="{78427BB8-A0C5-4B2B-897A-5BD0C23A14DB}" presName="horz1" presStyleCnt="0"/>
      <dgm:spPr/>
    </dgm:pt>
    <dgm:pt modelId="{1C2CC35B-6ECB-4EEE-B00E-1339080215A5}" type="pres">
      <dgm:prSet presAssocID="{78427BB8-A0C5-4B2B-897A-5BD0C23A14DB}" presName="tx1" presStyleLbl="revTx" presStyleIdx="2" presStyleCnt="6"/>
      <dgm:spPr/>
    </dgm:pt>
    <dgm:pt modelId="{5F6F6151-53F3-4A8B-9570-06D2B34A03EF}" type="pres">
      <dgm:prSet presAssocID="{78427BB8-A0C5-4B2B-897A-5BD0C23A14DB}" presName="vert1" presStyleCnt="0"/>
      <dgm:spPr/>
    </dgm:pt>
    <dgm:pt modelId="{4B602504-0C88-423B-A516-FA507A75A4BE}" type="pres">
      <dgm:prSet presAssocID="{867600BE-C60C-4421-AC4D-89DD8FCC3BDD}" presName="thickLine" presStyleLbl="alignNode1" presStyleIdx="3" presStyleCnt="6"/>
      <dgm:spPr/>
    </dgm:pt>
    <dgm:pt modelId="{3C03C560-2E33-4252-A169-2F35E2312F10}" type="pres">
      <dgm:prSet presAssocID="{867600BE-C60C-4421-AC4D-89DD8FCC3BDD}" presName="horz1" presStyleCnt="0"/>
      <dgm:spPr/>
    </dgm:pt>
    <dgm:pt modelId="{75EE6004-7165-4026-83DB-31A8AC507FDC}" type="pres">
      <dgm:prSet presAssocID="{867600BE-C60C-4421-AC4D-89DD8FCC3BDD}" presName="tx1" presStyleLbl="revTx" presStyleIdx="3" presStyleCnt="6" custScaleY="123612"/>
      <dgm:spPr/>
    </dgm:pt>
    <dgm:pt modelId="{5B30508C-2B95-45CB-BA4F-76D1293C6FE9}" type="pres">
      <dgm:prSet presAssocID="{867600BE-C60C-4421-AC4D-89DD8FCC3BDD}" presName="vert1" presStyleCnt="0"/>
      <dgm:spPr/>
    </dgm:pt>
    <dgm:pt modelId="{D693A4EB-1D2F-404E-A1F7-D91B0ABE7EF1}" type="pres">
      <dgm:prSet presAssocID="{5647F6AE-962C-46D3-A549-E0E3E47A3844}" presName="thickLine" presStyleLbl="alignNode1" presStyleIdx="4" presStyleCnt="6"/>
      <dgm:spPr/>
    </dgm:pt>
    <dgm:pt modelId="{E72C8EEB-87AA-4D55-9693-339D7E6D3C1B}" type="pres">
      <dgm:prSet presAssocID="{5647F6AE-962C-46D3-A549-E0E3E47A3844}" presName="horz1" presStyleCnt="0"/>
      <dgm:spPr/>
    </dgm:pt>
    <dgm:pt modelId="{A5424BD3-AD05-4993-AD50-61958E1A2292}" type="pres">
      <dgm:prSet presAssocID="{5647F6AE-962C-46D3-A549-E0E3E47A3844}" presName="tx1" presStyleLbl="revTx" presStyleIdx="4" presStyleCnt="6" custScaleY="81481"/>
      <dgm:spPr/>
    </dgm:pt>
    <dgm:pt modelId="{6FE651D3-3ED0-4A29-B367-AB9008905C8C}" type="pres">
      <dgm:prSet presAssocID="{5647F6AE-962C-46D3-A549-E0E3E47A3844}" presName="vert1" presStyleCnt="0"/>
      <dgm:spPr/>
    </dgm:pt>
    <dgm:pt modelId="{08512CE1-CF4D-4C65-8294-77F5AF3834B2}" type="pres">
      <dgm:prSet presAssocID="{B6DA8DED-3811-41CD-A33C-9A8473E7A983}" presName="thickLine" presStyleLbl="alignNode1" presStyleIdx="5" presStyleCnt="6"/>
      <dgm:spPr/>
    </dgm:pt>
    <dgm:pt modelId="{96749175-B1EB-4FB9-AAC8-4E41B6998BC6}" type="pres">
      <dgm:prSet presAssocID="{B6DA8DED-3811-41CD-A33C-9A8473E7A983}" presName="horz1" presStyleCnt="0"/>
      <dgm:spPr/>
    </dgm:pt>
    <dgm:pt modelId="{A6ADC942-A1C0-4B5E-8370-BF03EC66E0E6}" type="pres">
      <dgm:prSet presAssocID="{B6DA8DED-3811-41CD-A33C-9A8473E7A983}" presName="tx1" presStyleLbl="revTx" presStyleIdx="5" presStyleCnt="6" custScaleY="102318"/>
      <dgm:spPr/>
    </dgm:pt>
    <dgm:pt modelId="{F66530D6-7197-482D-B17D-F786311CA0AF}" type="pres">
      <dgm:prSet presAssocID="{B6DA8DED-3811-41CD-A33C-9A8473E7A983}" presName="vert1" presStyleCnt="0"/>
      <dgm:spPr/>
    </dgm:pt>
  </dgm:ptLst>
  <dgm:cxnLst>
    <dgm:cxn modelId="{F68B8200-C2E4-4D06-85CA-870B4EFCEA87}" type="presOf" srcId="{B6DA8DED-3811-41CD-A33C-9A8473E7A983}" destId="{A6ADC942-A1C0-4B5E-8370-BF03EC66E0E6}" srcOrd="0" destOrd="0" presId="urn:microsoft.com/office/officeart/2008/layout/LinedList"/>
    <dgm:cxn modelId="{0F2F5F0D-0871-48C0-905B-1834C63CB1DB}" srcId="{FB6D1FB7-1A0D-4FA4-B62E-A0AE442F41B6}" destId="{AE0BD4D4-F74C-486A-8ACF-8F8500BC0E2F}" srcOrd="0" destOrd="0" parTransId="{96B8A86F-D7D0-49CA-8287-FE14DFA8C70E}" sibTransId="{E21A6AC5-9547-4706-9419-4A3E47882857}"/>
    <dgm:cxn modelId="{39110A16-64C7-4453-BAD3-7F17F131102A}" type="presOf" srcId="{867600BE-C60C-4421-AC4D-89DD8FCC3BDD}" destId="{75EE6004-7165-4026-83DB-31A8AC507FDC}" srcOrd="0" destOrd="0" presId="urn:microsoft.com/office/officeart/2008/layout/LinedList"/>
    <dgm:cxn modelId="{321AB116-92B8-4CF9-AE20-4906784AEF6F}" srcId="{FB6D1FB7-1A0D-4FA4-B62E-A0AE442F41B6}" destId="{78427BB8-A0C5-4B2B-897A-5BD0C23A14DB}" srcOrd="2" destOrd="0" parTransId="{CD03BA19-CEB1-4C21-82D0-D4D1F469F9F6}" sibTransId="{8EB07A52-CB00-432A-AADF-760573FE82B0}"/>
    <dgm:cxn modelId="{46434038-865F-448F-8EBB-C21388C12886}" type="presOf" srcId="{78427BB8-A0C5-4B2B-897A-5BD0C23A14DB}" destId="{1C2CC35B-6ECB-4EEE-B00E-1339080215A5}" srcOrd="0" destOrd="0" presId="urn:microsoft.com/office/officeart/2008/layout/LinedList"/>
    <dgm:cxn modelId="{E0E77B44-F18E-49FC-AC1F-D2087ECA2527}" type="presOf" srcId="{FB6D1FB7-1A0D-4FA4-B62E-A0AE442F41B6}" destId="{D11E4469-FF77-473D-8305-1742350E6205}" srcOrd="0" destOrd="0" presId="urn:microsoft.com/office/officeart/2008/layout/LinedList"/>
    <dgm:cxn modelId="{D4B43455-7C66-4972-A5B1-3060F54465A3}" type="presOf" srcId="{CC171231-1724-4F3F-AF05-EAD9A917749E}" destId="{B50D8597-7F8B-4053-819A-831E0A357B7A}" srcOrd="0" destOrd="0" presId="urn:microsoft.com/office/officeart/2008/layout/LinedList"/>
    <dgm:cxn modelId="{DEAA2D93-E0F0-4C41-89AA-B80AB07E6BD9}" srcId="{FB6D1FB7-1A0D-4FA4-B62E-A0AE442F41B6}" destId="{CC171231-1724-4F3F-AF05-EAD9A917749E}" srcOrd="1" destOrd="0" parTransId="{2448F03D-F4EA-4283-A222-B3B2CDD7D2FE}" sibTransId="{F77DD890-F4A2-4A0D-8A16-D9973E4B6C55}"/>
    <dgm:cxn modelId="{C490B4B0-C023-4450-860F-55AD53A07209}" srcId="{FB6D1FB7-1A0D-4FA4-B62E-A0AE442F41B6}" destId="{5647F6AE-962C-46D3-A549-E0E3E47A3844}" srcOrd="4" destOrd="0" parTransId="{61C7CC4F-E711-40B5-8D5A-02E81D0AFC36}" sibTransId="{43C4074D-5475-40ED-94D2-5CADF776B3D6}"/>
    <dgm:cxn modelId="{FAB80BD6-4E0C-41E2-AD12-4C3BAC368C87}" srcId="{FB6D1FB7-1A0D-4FA4-B62E-A0AE442F41B6}" destId="{B6DA8DED-3811-41CD-A33C-9A8473E7A983}" srcOrd="5" destOrd="0" parTransId="{C38D9A5D-2213-4026-8662-377AFAB86068}" sibTransId="{D351A4EE-9894-4304-9331-E56DF0C2F1D2}"/>
    <dgm:cxn modelId="{D60BBEE3-2802-4D1E-AF03-2179CEF6E775}" srcId="{FB6D1FB7-1A0D-4FA4-B62E-A0AE442F41B6}" destId="{867600BE-C60C-4421-AC4D-89DD8FCC3BDD}" srcOrd="3" destOrd="0" parTransId="{D97D185A-1AC6-410D-8831-71F4FE4D7E49}" sibTransId="{D3DEC557-FEB5-402D-B6B3-D97D6179A780}"/>
    <dgm:cxn modelId="{EE3DFEFB-9358-4DCA-B1B0-75A8CBA088EC}" type="presOf" srcId="{5647F6AE-962C-46D3-A549-E0E3E47A3844}" destId="{A5424BD3-AD05-4993-AD50-61958E1A2292}" srcOrd="0" destOrd="0" presId="urn:microsoft.com/office/officeart/2008/layout/LinedList"/>
    <dgm:cxn modelId="{357289FD-8944-4571-A257-79D69C8B6D98}" type="presOf" srcId="{AE0BD4D4-F74C-486A-8ACF-8F8500BC0E2F}" destId="{41F13925-4579-44C6-8A85-6F0F781FA907}" srcOrd="0" destOrd="0" presId="urn:microsoft.com/office/officeart/2008/layout/LinedList"/>
    <dgm:cxn modelId="{AB87F055-43F1-49AF-86A9-6045743228A0}" type="presParOf" srcId="{D11E4469-FF77-473D-8305-1742350E6205}" destId="{0516AC9C-61C4-4EA6-9E23-60A02F32294E}" srcOrd="0" destOrd="0" presId="urn:microsoft.com/office/officeart/2008/layout/LinedList"/>
    <dgm:cxn modelId="{CD79C194-BFDB-4AA1-8DFD-73CEE47765B9}" type="presParOf" srcId="{D11E4469-FF77-473D-8305-1742350E6205}" destId="{41577530-C0A2-4790-9C6E-C74F809F0820}" srcOrd="1" destOrd="0" presId="urn:microsoft.com/office/officeart/2008/layout/LinedList"/>
    <dgm:cxn modelId="{08F96176-3E40-4B9A-AB45-27916EE75BFB}" type="presParOf" srcId="{41577530-C0A2-4790-9C6E-C74F809F0820}" destId="{41F13925-4579-44C6-8A85-6F0F781FA907}" srcOrd="0" destOrd="0" presId="urn:microsoft.com/office/officeart/2008/layout/LinedList"/>
    <dgm:cxn modelId="{C14F4C39-7558-4A38-9831-ECB2E1190514}" type="presParOf" srcId="{41577530-C0A2-4790-9C6E-C74F809F0820}" destId="{8D61795D-2337-46F9-B8F5-90DF43FA330A}" srcOrd="1" destOrd="0" presId="urn:microsoft.com/office/officeart/2008/layout/LinedList"/>
    <dgm:cxn modelId="{1AC85F04-981A-41BE-B715-54F63526909C}" type="presParOf" srcId="{D11E4469-FF77-473D-8305-1742350E6205}" destId="{A7B7ABED-12B1-4E1B-B4B1-FFF254BBEF57}" srcOrd="2" destOrd="0" presId="urn:microsoft.com/office/officeart/2008/layout/LinedList"/>
    <dgm:cxn modelId="{3EB3853B-2BBD-4AC8-B14C-5F7BC6EA1C30}" type="presParOf" srcId="{D11E4469-FF77-473D-8305-1742350E6205}" destId="{5D365F1D-1A02-42FC-BBF7-1A690F436F29}" srcOrd="3" destOrd="0" presId="urn:microsoft.com/office/officeart/2008/layout/LinedList"/>
    <dgm:cxn modelId="{FAB15A1A-FA91-4BA2-B008-4E99B13C810B}" type="presParOf" srcId="{5D365F1D-1A02-42FC-BBF7-1A690F436F29}" destId="{B50D8597-7F8B-4053-819A-831E0A357B7A}" srcOrd="0" destOrd="0" presId="urn:microsoft.com/office/officeart/2008/layout/LinedList"/>
    <dgm:cxn modelId="{0ACD34F7-8626-4753-A2B9-3EAA9A77FA99}" type="presParOf" srcId="{5D365F1D-1A02-42FC-BBF7-1A690F436F29}" destId="{1FC598C7-F77E-4636-845D-1428D67D5A1F}" srcOrd="1" destOrd="0" presId="urn:microsoft.com/office/officeart/2008/layout/LinedList"/>
    <dgm:cxn modelId="{3571338E-A390-4D98-B28B-9A0BCAF34B59}" type="presParOf" srcId="{D11E4469-FF77-473D-8305-1742350E6205}" destId="{95AFD6A2-B9FA-4E99-B264-69A309937C2C}" srcOrd="4" destOrd="0" presId="urn:microsoft.com/office/officeart/2008/layout/LinedList"/>
    <dgm:cxn modelId="{B1EEF19C-BDFF-4C67-A005-FF886A457A9B}" type="presParOf" srcId="{D11E4469-FF77-473D-8305-1742350E6205}" destId="{447DAE46-C1FF-4B39-A696-38F877CEF90E}" srcOrd="5" destOrd="0" presId="urn:microsoft.com/office/officeart/2008/layout/LinedList"/>
    <dgm:cxn modelId="{D0FE58FB-78E0-4AF2-A1F5-3B30ADE56147}" type="presParOf" srcId="{447DAE46-C1FF-4B39-A696-38F877CEF90E}" destId="{1C2CC35B-6ECB-4EEE-B00E-1339080215A5}" srcOrd="0" destOrd="0" presId="urn:microsoft.com/office/officeart/2008/layout/LinedList"/>
    <dgm:cxn modelId="{E146F53E-2CF3-42E4-9DBC-3333F288768D}" type="presParOf" srcId="{447DAE46-C1FF-4B39-A696-38F877CEF90E}" destId="{5F6F6151-53F3-4A8B-9570-06D2B34A03EF}" srcOrd="1" destOrd="0" presId="urn:microsoft.com/office/officeart/2008/layout/LinedList"/>
    <dgm:cxn modelId="{5C68D519-4492-4E9D-806B-6238A7DC8FE6}" type="presParOf" srcId="{D11E4469-FF77-473D-8305-1742350E6205}" destId="{4B602504-0C88-423B-A516-FA507A75A4BE}" srcOrd="6" destOrd="0" presId="urn:microsoft.com/office/officeart/2008/layout/LinedList"/>
    <dgm:cxn modelId="{1983E7D9-B75C-49A8-BB7E-CCC6C7E0C87B}" type="presParOf" srcId="{D11E4469-FF77-473D-8305-1742350E6205}" destId="{3C03C560-2E33-4252-A169-2F35E2312F10}" srcOrd="7" destOrd="0" presId="urn:microsoft.com/office/officeart/2008/layout/LinedList"/>
    <dgm:cxn modelId="{CB7061E2-11D4-4404-92EB-DFF51D26B944}" type="presParOf" srcId="{3C03C560-2E33-4252-A169-2F35E2312F10}" destId="{75EE6004-7165-4026-83DB-31A8AC507FDC}" srcOrd="0" destOrd="0" presId="urn:microsoft.com/office/officeart/2008/layout/LinedList"/>
    <dgm:cxn modelId="{AAA69163-1A0D-4004-8AFD-B3DD787BD312}" type="presParOf" srcId="{3C03C560-2E33-4252-A169-2F35E2312F10}" destId="{5B30508C-2B95-45CB-BA4F-76D1293C6FE9}" srcOrd="1" destOrd="0" presId="urn:microsoft.com/office/officeart/2008/layout/LinedList"/>
    <dgm:cxn modelId="{909CD8D6-AD96-4B13-9A7E-753E479C2BC5}" type="presParOf" srcId="{D11E4469-FF77-473D-8305-1742350E6205}" destId="{D693A4EB-1D2F-404E-A1F7-D91B0ABE7EF1}" srcOrd="8" destOrd="0" presId="urn:microsoft.com/office/officeart/2008/layout/LinedList"/>
    <dgm:cxn modelId="{D6073D72-F695-4EA7-BA42-353EE90BAC65}" type="presParOf" srcId="{D11E4469-FF77-473D-8305-1742350E6205}" destId="{E72C8EEB-87AA-4D55-9693-339D7E6D3C1B}" srcOrd="9" destOrd="0" presId="urn:microsoft.com/office/officeart/2008/layout/LinedList"/>
    <dgm:cxn modelId="{EF3F0B1E-38BC-430D-9154-6A9DE6D78F68}" type="presParOf" srcId="{E72C8EEB-87AA-4D55-9693-339D7E6D3C1B}" destId="{A5424BD3-AD05-4993-AD50-61958E1A2292}" srcOrd="0" destOrd="0" presId="urn:microsoft.com/office/officeart/2008/layout/LinedList"/>
    <dgm:cxn modelId="{634DCE1A-78E4-450E-9B1E-C4CFD94352F7}" type="presParOf" srcId="{E72C8EEB-87AA-4D55-9693-339D7E6D3C1B}" destId="{6FE651D3-3ED0-4A29-B367-AB9008905C8C}" srcOrd="1" destOrd="0" presId="urn:microsoft.com/office/officeart/2008/layout/LinedList"/>
    <dgm:cxn modelId="{3B53455D-081F-4C1B-8A19-66ADB0415498}" type="presParOf" srcId="{D11E4469-FF77-473D-8305-1742350E6205}" destId="{08512CE1-CF4D-4C65-8294-77F5AF3834B2}" srcOrd="10" destOrd="0" presId="urn:microsoft.com/office/officeart/2008/layout/LinedList"/>
    <dgm:cxn modelId="{86F3A96F-8B91-4E48-A04F-5E8CAEF99A3E}" type="presParOf" srcId="{D11E4469-FF77-473D-8305-1742350E6205}" destId="{96749175-B1EB-4FB9-AAC8-4E41B6998BC6}" srcOrd="11" destOrd="0" presId="urn:microsoft.com/office/officeart/2008/layout/LinedList"/>
    <dgm:cxn modelId="{F8DE5B9D-E649-49B4-94DE-A090695C1C61}" type="presParOf" srcId="{96749175-B1EB-4FB9-AAC8-4E41B6998BC6}" destId="{A6ADC942-A1C0-4B5E-8370-BF03EC66E0E6}" srcOrd="0" destOrd="0" presId="urn:microsoft.com/office/officeart/2008/layout/LinedList"/>
    <dgm:cxn modelId="{DEE427CC-C686-48E5-9371-8C756FCCE3F8}" type="presParOf" srcId="{96749175-B1EB-4FB9-AAC8-4E41B6998BC6}" destId="{F66530D6-7197-482D-B17D-F786311CA0A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87B13FC-C7D4-49E0-B0D5-180216039115}"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3FE5B5FF-1E8F-4B0F-9CBA-25F1E6A84F50}">
      <dgm:prSet phldrT="[Text]" custT="1"/>
      <dgm:spPr>
        <a:solidFill>
          <a:schemeClr val="accent2">
            <a:lumMod val="60000"/>
            <a:lumOff val="40000"/>
          </a:schemeClr>
        </a:solidFill>
      </dgm:spPr>
      <dgm:t>
        <a:bodyPr/>
        <a:lstStyle/>
        <a:p>
          <a:pPr algn="l" rtl="0"/>
          <a:r>
            <a:rPr lang="en-US" sz="2200" dirty="0">
              <a:solidFill>
                <a:schemeClr val="tx1"/>
              </a:solidFill>
            </a:rPr>
            <a:t>1.To learn Syntax and Semantics of Python language and understand and apply the various data structures in solving computational problems</a:t>
          </a:r>
          <a:endParaRPr lang="en-US" sz="2800" dirty="0">
            <a:solidFill>
              <a:schemeClr val="tx1"/>
            </a:solidFill>
            <a:latin typeface="Roboto Medium"/>
          </a:endParaRPr>
        </a:p>
      </dgm:t>
    </dgm:pt>
    <dgm:pt modelId="{90E5847E-25B4-4046-9587-B678FE5455A9}" type="parTrans" cxnId="{96B2EF8A-5C48-44CC-93A2-34C551D1BDE2}">
      <dgm:prSet/>
      <dgm:spPr/>
      <dgm:t>
        <a:bodyPr/>
        <a:lstStyle/>
        <a:p>
          <a:endParaRPr lang="en-US"/>
        </a:p>
      </dgm:t>
    </dgm:pt>
    <dgm:pt modelId="{F74A9966-65CD-457F-B81F-CA7903835270}" type="sibTrans" cxnId="{96B2EF8A-5C48-44CC-93A2-34C551D1BDE2}">
      <dgm:prSet/>
      <dgm:spPr/>
      <dgm:t>
        <a:bodyPr/>
        <a:lstStyle/>
        <a:p>
          <a:endParaRPr lang="en-US"/>
        </a:p>
      </dgm:t>
    </dgm:pt>
    <dgm:pt modelId="{78411C28-7726-45ED-8B8A-D68312782D90}">
      <dgm:prSet phldrT="[Text]" custT="1"/>
      <dgm:spPr>
        <a:solidFill>
          <a:schemeClr val="accent2">
            <a:lumMod val="60000"/>
            <a:lumOff val="40000"/>
          </a:schemeClr>
        </a:solidFill>
      </dgm:spPr>
      <dgm:t>
        <a:bodyPr/>
        <a:lstStyle/>
        <a:p>
          <a:pPr algn="l" rtl="0"/>
          <a:r>
            <a:rPr lang="en-US" sz="2300" b="0" dirty="0">
              <a:solidFill>
                <a:schemeClr val="tx1"/>
              </a:solidFill>
            </a:rPr>
            <a:t>2</a:t>
          </a:r>
          <a:r>
            <a:rPr lang="en-US" sz="2400" b="0" dirty="0">
              <a:solidFill>
                <a:schemeClr val="tx1"/>
              </a:solidFill>
              <a:latin typeface="Roboto Medium"/>
            </a:rPr>
            <a:t>.</a:t>
          </a:r>
          <a:r>
            <a:rPr lang="en-US" sz="2400" b="1" dirty="0">
              <a:solidFill>
                <a:schemeClr val="tx1"/>
              </a:solidFill>
              <a:latin typeface="Roboto Medium"/>
            </a:rPr>
            <a:t> </a:t>
          </a:r>
          <a:r>
            <a:rPr lang="en-US" sz="2400" dirty="0">
              <a:solidFill>
                <a:schemeClr val="tx1"/>
              </a:solidFill>
            </a:rPr>
            <a:t>To understand usage of </a:t>
          </a:r>
          <a:r>
            <a:rPr lang="en-US" sz="2400" dirty="0" err="1">
              <a:solidFill>
                <a:schemeClr val="tx1"/>
              </a:solidFill>
            </a:rPr>
            <a:t>NumPy</a:t>
          </a:r>
          <a:r>
            <a:rPr lang="en-US" sz="2400" dirty="0">
              <a:solidFill>
                <a:schemeClr val="tx1"/>
              </a:solidFill>
            </a:rPr>
            <a:t> and Pandas libraries</a:t>
          </a:r>
          <a:endParaRPr lang="en-US" sz="2400" b="1" dirty="0">
            <a:solidFill>
              <a:schemeClr val="tx1"/>
            </a:solidFill>
            <a:latin typeface="Roboto Medium"/>
          </a:endParaRPr>
        </a:p>
      </dgm:t>
    </dgm:pt>
    <dgm:pt modelId="{2F47411B-54A0-49D7-A27F-C61F27B5F2F7}" type="parTrans" cxnId="{A80C9B8F-A51A-468E-9D64-708F1776196E}">
      <dgm:prSet/>
      <dgm:spPr/>
      <dgm:t>
        <a:bodyPr/>
        <a:lstStyle/>
        <a:p>
          <a:endParaRPr lang="en-US"/>
        </a:p>
      </dgm:t>
    </dgm:pt>
    <dgm:pt modelId="{8E4F3AA6-7AD6-4A4A-A392-0A39DF9CF177}" type="sibTrans" cxnId="{A80C9B8F-A51A-468E-9D64-708F1776196E}">
      <dgm:prSet/>
      <dgm:spPr/>
      <dgm:t>
        <a:bodyPr/>
        <a:lstStyle/>
        <a:p>
          <a:endParaRPr lang="en-US"/>
        </a:p>
      </dgm:t>
    </dgm:pt>
    <dgm:pt modelId="{6538324C-E647-48C3-96AD-0226A9997F18}">
      <dgm:prSet phldrT="[Text]" custT="1"/>
      <dgm:spPr>
        <a:solidFill>
          <a:schemeClr val="accent2">
            <a:lumMod val="60000"/>
            <a:lumOff val="40000"/>
          </a:schemeClr>
        </a:solidFill>
      </dgm:spPr>
      <dgm:t>
        <a:bodyPr/>
        <a:lstStyle/>
        <a:p>
          <a:pPr algn="l"/>
          <a:r>
            <a:rPr lang="en-US" sz="2400" dirty="0">
              <a:solidFill>
                <a:schemeClr val="tx1"/>
              </a:solidFill>
            </a:rPr>
            <a:t>3. To learn handling files, functions and exceptions</a:t>
          </a:r>
          <a:endParaRPr lang="en-US" sz="2400" b="1" dirty="0">
            <a:solidFill>
              <a:schemeClr val="tx1"/>
            </a:solidFill>
            <a:latin typeface="Roboto Medium"/>
          </a:endParaRPr>
        </a:p>
      </dgm:t>
    </dgm:pt>
    <dgm:pt modelId="{0EF99F4F-3EEA-49B8-BDF8-31C64C8693E4}" type="parTrans" cxnId="{314C0162-9976-4A73-BF0D-4CD8D7B3DC3B}">
      <dgm:prSet/>
      <dgm:spPr/>
      <dgm:t>
        <a:bodyPr/>
        <a:lstStyle/>
        <a:p>
          <a:endParaRPr lang="en-US"/>
        </a:p>
      </dgm:t>
    </dgm:pt>
    <dgm:pt modelId="{2BBF8946-BA76-4F35-BC23-1F35BB01DB32}" type="sibTrans" cxnId="{314C0162-9976-4A73-BF0D-4CD8D7B3DC3B}">
      <dgm:prSet/>
      <dgm:spPr/>
      <dgm:t>
        <a:bodyPr/>
        <a:lstStyle/>
        <a:p>
          <a:endParaRPr lang="en-US"/>
        </a:p>
      </dgm:t>
    </dgm:pt>
    <dgm:pt modelId="{CA116516-3986-4FC5-8898-178035860428}">
      <dgm:prSet custT="1"/>
      <dgm:spPr>
        <a:solidFill>
          <a:schemeClr val="accent2">
            <a:lumMod val="60000"/>
            <a:lumOff val="40000"/>
          </a:schemeClr>
        </a:solidFill>
      </dgm:spPr>
      <dgm:t>
        <a:bodyPr/>
        <a:lstStyle/>
        <a:p>
          <a:pPr algn="l"/>
          <a:r>
            <a:rPr lang="en-US" sz="2400" dirty="0">
              <a:solidFill>
                <a:schemeClr val="tx1"/>
              </a:solidFill>
            </a:rPr>
            <a:t>4. To understand OOPs concepts in python and be able to draw various kinds of data visualization techniques using </a:t>
          </a:r>
          <a:r>
            <a:rPr lang="en-US" sz="2400" dirty="0" err="1">
              <a:solidFill>
                <a:schemeClr val="tx1"/>
              </a:solidFill>
            </a:rPr>
            <a:t>PyLab,matplotlib</a:t>
          </a:r>
          <a:r>
            <a:rPr lang="en-US" sz="2400" dirty="0">
              <a:solidFill>
                <a:schemeClr val="tx1"/>
              </a:solidFill>
            </a:rPr>
            <a:t> and Pandas</a:t>
          </a:r>
          <a:endParaRPr lang="en-US" sz="2400" b="1" dirty="0">
            <a:solidFill>
              <a:schemeClr val="tx1"/>
            </a:solidFill>
            <a:latin typeface="Roboto Medium"/>
          </a:endParaRPr>
        </a:p>
      </dgm:t>
    </dgm:pt>
    <dgm:pt modelId="{4DB7B3D8-3CDE-43B4-945D-5071B3C62671}" type="parTrans" cxnId="{B2D51AD7-BA0D-461A-9DF3-E5DFED502A7F}">
      <dgm:prSet/>
      <dgm:spPr/>
      <dgm:t>
        <a:bodyPr/>
        <a:lstStyle/>
        <a:p>
          <a:endParaRPr lang="en-US"/>
        </a:p>
      </dgm:t>
    </dgm:pt>
    <dgm:pt modelId="{B267C460-685A-4F69-A660-34B3AECF2D2B}" type="sibTrans" cxnId="{B2D51AD7-BA0D-461A-9DF3-E5DFED502A7F}">
      <dgm:prSet/>
      <dgm:spPr/>
      <dgm:t>
        <a:bodyPr/>
        <a:lstStyle/>
        <a:p>
          <a:endParaRPr lang="en-US"/>
        </a:p>
      </dgm:t>
    </dgm:pt>
    <dgm:pt modelId="{AD781656-F693-4944-BF14-6D5369486012}" type="pres">
      <dgm:prSet presAssocID="{287B13FC-C7D4-49E0-B0D5-180216039115}" presName="Name0" presStyleCnt="0">
        <dgm:presLayoutVars>
          <dgm:dir/>
          <dgm:resizeHandles val="exact"/>
        </dgm:presLayoutVars>
      </dgm:prSet>
      <dgm:spPr/>
    </dgm:pt>
    <dgm:pt modelId="{0D9195BD-B325-45CD-93B7-DF5381CC0C03}" type="pres">
      <dgm:prSet presAssocID="{3FE5B5FF-1E8F-4B0F-9CBA-25F1E6A84F50}" presName="node" presStyleLbl="node1" presStyleIdx="0" presStyleCnt="4" custScaleX="127904">
        <dgm:presLayoutVars>
          <dgm:bulletEnabled val="1"/>
        </dgm:presLayoutVars>
      </dgm:prSet>
      <dgm:spPr/>
    </dgm:pt>
    <dgm:pt modelId="{AD2DD2BD-8D47-43C7-83EF-6F2CD3310F5E}" type="pres">
      <dgm:prSet presAssocID="{F74A9966-65CD-457F-B81F-CA7903835270}" presName="sibTrans" presStyleCnt="0"/>
      <dgm:spPr/>
    </dgm:pt>
    <dgm:pt modelId="{C065A89F-0DD7-44C9-B025-20B0ABDA2093}" type="pres">
      <dgm:prSet presAssocID="{78411C28-7726-45ED-8B8A-D68312782D90}" presName="node" presStyleLbl="node1" presStyleIdx="1" presStyleCnt="4" custScaleX="111179">
        <dgm:presLayoutVars>
          <dgm:bulletEnabled val="1"/>
        </dgm:presLayoutVars>
      </dgm:prSet>
      <dgm:spPr/>
    </dgm:pt>
    <dgm:pt modelId="{67D03AEC-4BB2-4C07-AB9F-70242C28C951}" type="pres">
      <dgm:prSet presAssocID="{8E4F3AA6-7AD6-4A4A-A392-0A39DF9CF177}" presName="sibTrans" presStyleCnt="0"/>
      <dgm:spPr/>
    </dgm:pt>
    <dgm:pt modelId="{7B447F44-B206-46B6-964B-C67DC16CAF00}" type="pres">
      <dgm:prSet presAssocID="{6538324C-E647-48C3-96AD-0226A9997F18}" presName="node" presStyleLbl="node1" presStyleIdx="2" presStyleCnt="4" custScaleX="112033" custLinFactNeighborX="-13653" custLinFactNeighborY="-1339">
        <dgm:presLayoutVars>
          <dgm:bulletEnabled val="1"/>
        </dgm:presLayoutVars>
      </dgm:prSet>
      <dgm:spPr/>
    </dgm:pt>
    <dgm:pt modelId="{8647B6E5-4AC0-479F-A2E7-F650DC64D5D9}" type="pres">
      <dgm:prSet presAssocID="{2BBF8946-BA76-4F35-BC23-1F35BB01DB32}" presName="sibTrans" presStyleCnt="0"/>
      <dgm:spPr/>
    </dgm:pt>
    <dgm:pt modelId="{CBB54307-E46B-4B11-B489-438BE081C9FA}" type="pres">
      <dgm:prSet presAssocID="{CA116516-3986-4FC5-8898-178035860428}" presName="node" presStyleLbl="node1" presStyleIdx="3" presStyleCnt="4" custScaleX="108137">
        <dgm:presLayoutVars>
          <dgm:bulletEnabled val="1"/>
        </dgm:presLayoutVars>
      </dgm:prSet>
      <dgm:spPr/>
    </dgm:pt>
  </dgm:ptLst>
  <dgm:cxnLst>
    <dgm:cxn modelId="{314C0162-9976-4A73-BF0D-4CD8D7B3DC3B}" srcId="{287B13FC-C7D4-49E0-B0D5-180216039115}" destId="{6538324C-E647-48C3-96AD-0226A9997F18}" srcOrd="2" destOrd="0" parTransId="{0EF99F4F-3EEA-49B8-BDF8-31C64C8693E4}" sibTransId="{2BBF8946-BA76-4F35-BC23-1F35BB01DB32}"/>
    <dgm:cxn modelId="{02B4A96C-BCC2-4FC9-A13B-528E2B74F143}" type="presOf" srcId="{78411C28-7726-45ED-8B8A-D68312782D90}" destId="{C065A89F-0DD7-44C9-B025-20B0ABDA2093}" srcOrd="0" destOrd="0" presId="urn:microsoft.com/office/officeart/2005/8/layout/hList6"/>
    <dgm:cxn modelId="{32668875-E91A-429D-ADF9-065F7E6177ED}" type="presOf" srcId="{287B13FC-C7D4-49E0-B0D5-180216039115}" destId="{AD781656-F693-4944-BF14-6D5369486012}" srcOrd="0" destOrd="0" presId="urn:microsoft.com/office/officeart/2005/8/layout/hList6"/>
    <dgm:cxn modelId="{96B2EF8A-5C48-44CC-93A2-34C551D1BDE2}" srcId="{287B13FC-C7D4-49E0-B0D5-180216039115}" destId="{3FE5B5FF-1E8F-4B0F-9CBA-25F1E6A84F50}" srcOrd="0" destOrd="0" parTransId="{90E5847E-25B4-4046-9587-B678FE5455A9}" sibTransId="{F74A9966-65CD-457F-B81F-CA7903835270}"/>
    <dgm:cxn modelId="{A80C9B8F-A51A-468E-9D64-708F1776196E}" srcId="{287B13FC-C7D4-49E0-B0D5-180216039115}" destId="{78411C28-7726-45ED-8B8A-D68312782D90}" srcOrd="1" destOrd="0" parTransId="{2F47411B-54A0-49D7-A27F-C61F27B5F2F7}" sibTransId="{8E4F3AA6-7AD6-4A4A-A392-0A39DF9CF177}"/>
    <dgm:cxn modelId="{5D090BA1-52CA-4BDD-B61E-78838BBB76F7}" type="presOf" srcId="{3FE5B5FF-1E8F-4B0F-9CBA-25F1E6A84F50}" destId="{0D9195BD-B325-45CD-93B7-DF5381CC0C03}" srcOrd="0" destOrd="0" presId="urn:microsoft.com/office/officeart/2005/8/layout/hList6"/>
    <dgm:cxn modelId="{A989C0AE-0C1C-4A4A-A5A5-143EC5E7B930}" type="presOf" srcId="{CA116516-3986-4FC5-8898-178035860428}" destId="{CBB54307-E46B-4B11-B489-438BE081C9FA}" srcOrd="0" destOrd="0" presId="urn:microsoft.com/office/officeart/2005/8/layout/hList6"/>
    <dgm:cxn modelId="{B2D51AD7-BA0D-461A-9DF3-E5DFED502A7F}" srcId="{287B13FC-C7D4-49E0-B0D5-180216039115}" destId="{CA116516-3986-4FC5-8898-178035860428}" srcOrd="3" destOrd="0" parTransId="{4DB7B3D8-3CDE-43B4-945D-5071B3C62671}" sibTransId="{B267C460-685A-4F69-A660-34B3AECF2D2B}"/>
    <dgm:cxn modelId="{12E0AFF3-58A1-47D5-94A2-B1BF972B958B}" type="presOf" srcId="{6538324C-E647-48C3-96AD-0226A9997F18}" destId="{7B447F44-B206-46B6-964B-C67DC16CAF00}" srcOrd="0" destOrd="0" presId="urn:microsoft.com/office/officeart/2005/8/layout/hList6"/>
    <dgm:cxn modelId="{CAD5893C-B38E-4BA6-84F4-4FEB57C0FAA9}" type="presParOf" srcId="{AD781656-F693-4944-BF14-6D5369486012}" destId="{0D9195BD-B325-45CD-93B7-DF5381CC0C03}" srcOrd="0" destOrd="0" presId="urn:microsoft.com/office/officeart/2005/8/layout/hList6"/>
    <dgm:cxn modelId="{5D28C3AB-5857-4076-9BFB-C81B3148D06A}" type="presParOf" srcId="{AD781656-F693-4944-BF14-6D5369486012}" destId="{AD2DD2BD-8D47-43C7-83EF-6F2CD3310F5E}" srcOrd="1" destOrd="0" presId="urn:microsoft.com/office/officeart/2005/8/layout/hList6"/>
    <dgm:cxn modelId="{4E8615E4-CC7B-45E3-9C2D-4B15A9EB321A}" type="presParOf" srcId="{AD781656-F693-4944-BF14-6D5369486012}" destId="{C065A89F-0DD7-44C9-B025-20B0ABDA2093}" srcOrd="2" destOrd="0" presId="urn:microsoft.com/office/officeart/2005/8/layout/hList6"/>
    <dgm:cxn modelId="{E7DFB43F-84DA-4275-8F08-1ED14A0C3290}" type="presParOf" srcId="{AD781656-F693-4944-BF14-6D5369486012}" destId="{67D03AEC-4BB2-4C07-AB9F-70242C28C951}" srcOrd="3" destOrd="0" presId="urn:microsoft.com/office/officeart/2005/8/layout/hList6"/>
    <dgm:cxn modelId="{EC0BC0C6-A6D8-4B51-B6DE-0457B9F4C162}" type="presParOf" srcId="{AD781656-F693-4944-BF14-6D5369486012}" destId="{7B447F44-B206-46B6-964B-C67DC16CAF00}" srcOrd="4" destOrd="0" presId="urn:microsoft.com/office/officeart/2005/8/layout/hList6"/>
    <dgm:cxn modelId="{231DB2C3-24C6-4E40-AE65-EA45CD263B4B}" type="presParOf" srcId="{AD781656-F693-4944-BF14-6D5369486012}" destId="{8647B6E5-4AC0-479F-A2E7-F650DC64D5D9}" srcOrd="5" destOrd="0" presId="urn:microsoft.com/office/officeart/2005/8/layout/hList6"/>
    <dgm:cxn modelId="{9BE60067-E253-4D5D-BA3B-919B751AF321}" type="presParOf" srcId="{AD781656-F693-4944-BF14-6D5369486012}" destId="{CBB54307-E46B-4B11-B489-438BE081C9FA}" srcOrd="6"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16AC9C-61C4-4EA6-9E23-60A02F32294E}">
      <dsp:nvSpPr>
        <dsp:cNvPr id="0" name=""/>
        <dsp:cNvSpPr/>
      </dsp:nvSpPr>
      <dsp:spPr>
        <a:xfrm>
          <a:off x="0" y="1355"/>
          <a:ext cx="1051249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F13925-4579-44C6-8A85-6F0F781FA907}">
      <dsp:nvSpPr>
        <dsp:cNvPr id="0" name=""/>
        <dsp:cNvSpPr/>
      </dsp:nvSpPr>
      <dsp:spPr>
        <a:xfrm>
          <a:off x="0" y="13710"/>
          <a:ext cx="10512499" cy="891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rtl="0">
            <a:lnSpc>
              <a:spcPct val="90000"/>
            </a:lnSpc>
            <a:spcBef>
              <a:spcPct val="0"/>
            </a:spcBef>
            <a:spcAft>
              <a:spcPct val="35000"/>
            </a:spcAft>
            <a:buNone/>
          </a:pPr>
          <a:r>
            <a:rPr lang="en-US" sz="2800" b="1" kern="1200" dirty="0">
              <a:latin typeface="Roboto Medium"/>
            </a:rPr>
            <a:t>Course Objectives</a:t>
          </a:r>
          <a:endParaRPr lang="en-IN" sz="2800" kern="1200" dirty="0">
            <a:latin typeface="Roboto Medium"/>
          </a:endParaRPr>
        </a:p>
      </dsp:txBody>
      <dsp:txXfrm>
        <a:off x="0" y="13710"/>
        <a:ext cx="10512499" cy="891432"/>
      </dsp:txXfrm>
    </dsp:sp>
    <dsp:sp modelId="{A7B7ABED-12B1-4E1B-B4B1-FFF254BBEF57}">
      <dsp:nvSpPr>
        <dsp:cNvPr id="0" name=""/>
        <dsp:cNvSpPr/>
      </dsp:nvSpPr>
      <dsp:spPr>
        <a:xfrm>
          <a:off x="0" y="892788"/>
          <a:ext cx="1051249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50D8597-7F8B-4053-819A-831E0A357B7A}">
      <dsp:nvSpPr>
        <dsp:cNvPr id="0" name=""/>
        <dsp:cNvSpPr/>
      </dsp:nvSpPr>
      <dsp:spPr>
        <a:xfrm>
          <a:off x="0" y="892788"/>
          <a:ext cx="10512499" cy="891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rtl="0">
            <a:lnSpc>
              <a:spcPct val="90000"/>
            </a:lnSpc>
            <a:spcBef>
              <a:spcPct val="0"/>
            </a:spcBef>
            <a:spcAft>
              <a:spcPct val="35000"/>
            </a:spcAft>
            <a:buNone/>
          </a:pPr>
          <a:r>
            <a:rPr lang="en-US" sz="2800" b="1" kern="1200" dirty="0"/>
            <a:t>        	</a:t>
          </a:r>
          <a:r>
            <a:rPr lang="en-US" sz="2800" b="1" kern="1200" dirty="0">
              <a:latin typeface="Roboto Medium"/>
            </a:rPr>
            <a:t>Course Contents</a:t>
          </a:r>
          <a:endParaRPr lang="en-IN" sz="2800" kern="1200" dirty="0">
            <a:latin typeface="Roboto Medium"/>
          </a:endParaRPr>
        </a:p>
      </dsp:txBody>
      <dsp:txXfrm>
        <a:off x="0" y="892788"/>
        <a:ext cx="10512499" cy="891432"/>
      </dsp:txXfrm>
    </dsp:sp>
    <dsp:sp modelId="{95AFD6A2-B9FA-4E99-B264-69A309937C2C}">
      <dsp:nvSpPr>
        <dsp:cNvPr id="0" name=""/>
        <dsp:cNvSpPr/>
      </dsp:nvSpPr>
      <dsp:spPr>
        <a:xfrm>
          <a:off x="0" y="1784221"/>
          <a:ext cx="1051249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2CC35B-6ECB-4EEE-B00E-1339080215A5}">
      <dsp:nvSpPr>
        <dsp:cNvPr id="0" name=""/>
        <dsp:cNvSpPr/>
      </dsp:nvSpPr>
      <dsp:spPr>
        <a:xfrm>
          <a:off x="0" y="1784221"/>
          <a:ext cx="10512499" cy="891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rtl="0">
            <a:lnSpc>
              <a:spcPct val="90000"/>
            </a:lnSpc>
            <a:spcBef>
              <a:spcPct val="0"/>
            </a:spcBef>
            <a:spcAft>
              <a:spcPct val="35000"/>
            </a:spcAft>
            <a:buNone/>
          </a:pPr>
          <a:r>
            <a:rPr lang="en-US" sz="2800" b="1" kern="1200" dirty="0"/>
            <a:t>		</a:t>
          </a:r>
          <a:r>
            <a:rPr lang="en-US" sz="2800" b="1" kern="1200" dirty="0">
              <a:latin typeface="Roboto Medium"/>
            </a:rPr>
            <a:t>Learning Resources</a:t>
          </a:r>
        </a:p>
        <a:p>
          <a:pPr marL="0" lvl="0" indent="0" algn="l" defTabSz="1244600" rtl="0">
            <a:lnSpc>
              <a:spcPct val="90000"/>
            </a:lnSpc>
            <a:spcBef>
              <a:spcPct val="0"/>
            </a:spcBef>
            <a:spcAft>
              <a:spcPct val="35000"/>
            </a:spcAft>
            <a:buNone/>
          </a:pPr>
          <a:r>
            <a:rPr lang="en-US" sz="2800" b="1" kern="1200" dirty="0">
              <a:latin typeface="Roboto Medium"/>
            </a:rPr>
            <a:t>			</a:t>
          </a:r>
        </a:p>
        <a:p>
          <a:pPr marL="0" lvl="0" indent="0" algn="r" defTabSz="1244600" rtl="0">
            <a:lnSpc>
              <a:spcPct val="90000"/>
            </a:lnSpc>
            <a:spcBef>
              <a:spcPct val="0"/>
            </a:spcBef>
            <a:spcAft>
              <a:spcPct val="35000"/>
            </a:spcAft>
            <a:buNone/>
          </a:pPr>
          <a:r>
            <a:rPr lang="en-US" sz="2800" b="1" kern="1200" dirty="0">
              <a:latin typeface="Roboto Medium"/>
            </a:rPr>
            <a:t>TEXT BOOKS   REFERENCE BOOKS</a:t>
          </a:r>
        </a:p>
        <a:p>
          <a:pPr marL="0" lvl="0" indent="0" algn="l" defTabSz="1244600" rtl="0">
            <a:lnSpc>
              <a:spcPct val="90000"/>
            </a:lnSpc>
            <a:spcBef>
              <a:spcPct val="0"/>
            </a:spcBef>
            <a:spcAft>
              <a:spcPct val="35000"/>
            </a:spcAft>
            <a:buNone/>
          </a:pPr>
          <a:r>
            <a:rPr lang="en-US" sz="2800" b="1" kern="1200" dirty="0"/>
            <a:t>			</a:t>
          </a:r>
        </a:p>
        <a:p>
          <a:pPr marL="0" lvl="0" indent="0" algn="l" defTabSz="1244600" rtl="0">
            <a:lnSpc>
              <a:spcPct val="90000"/>
            </a:lnSpc>
            <a:spcBef>
              <a:spcPct val="0"/>
            </a:spcBef>
            <a:spcAft>
              <a:spcPct val="35000"/>
            </a:spcAft>
            <a:buNone/>
          </a:pPr>
          <a:r>
            <a:rPr lang="en-US" sz="2800" b="1" kern="1200" dirty="0">
              <a:latin typeface="Roboto Medium"/>
            </a:rPr>
            <a:t>			                      Course Outcomes </a:t>
          </a:r>
          <a:r>
            <a:rPr lang="en-US" sz="2800" b="1" kern="1200" dirty="0"/>
            <a:t>							</a:t>
          </a:r>
          <a:br>
            <a:rPr lang="en-IN" sz="2800" kern="1200" dirty="0"/>
          </a:br>
          <a:r>
            <a:rPr lang="en-IN" sz="2800" kern="1200" dirty="0"/>
            <a:t>					        </a:t>
          </a:r>
          <a:r>
            <a:rPr lang="en-IN" sz="2800" b="1" kern="1200" dirty="0">
              <a:latin typeface="Roboto Medium"/>
            </a:rPr>
            <a:t>Computer Basics</a:t>
          </a:r>
          <a:br>
            <a:rPr lang="en-US" sz="2800" kern="1200" dirty="0"/>
          </a:br>
          <a:endParaRPr lang="en-US" sz="2800" b="1" kern="1200" dirty="0"/>
        </a:p>
      </dsp:txBody>
      <dsp:txXfrm>
        <a:off x="0" y="1784221"/>
        <a:ext cx="10512499" cy="891432"/>
      </dsp:txXfrm>
    </dsp:sp>
    <dsp:sp modelId="{4B602504-0C88-423B-A516-FA507A75A4BE}">
      <dsp:nvSpPr>
        <dsp:cNvPr id="0" name=""/>
        <dsp:cNvSpPr/>
      </dsp:nvSpPr>
      <dsp:spPr>
        <a:xfrm>
          <a:off x="0" y="2675653"/>
          <a:ext cx="1051249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EE6004-7165-4026-83DB-31A8AC507FDC}">
      <dsp:nvSpPr>
        <dsp:cNvPr id="0" name=""/>
        <dsp:cNvSpPr/>
      </dsp:nvSpPr>
      <dsp:spPr>
        <a:xfrm>
          <a:off x="0" y="2675653"/>
          <a:ext cx="10502232" cy="1101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rtl="0">
            <a:lnSpc>
              <a:spcPct val="90000"/>
            </a:lnSpc>
            <a:spcBef>
              <a:spcPct val="0"/>
            </a:spcBef>
            <a:spcAft>
              <a:spcPct val="35000"/>
            </a:spcAft>
            <a:buNone/>
          </a:pPr>
          <a:endParaRPr lang="en-IN" sz="2800" kern="1200" dirty="0"/>
        </a:p>
      </dsp:txBody>
      <dsp:txXfrm>
        <a:off x="0" y="2675653"/>
        <a:ext cx="10502232" cy="1101917"/>
      </dsp:txXfrm>
    </dsp:sp>
    <dsp:sp modelId="{D693A4EB-1D2F-404E-A1F7-D91B0ABE7EF1}">
      <dsp:nvSpPr>
        <dsp:cNvPr id="0" name=""/>
        <dsp:cNvSpPr/>
      </dsp:nvSpPr>
      <dsp:spPr>
        <a:xfrm>
          <a:off x="0" y="3777571"/>
          <a:ext cx="1051249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424BD3-AD05-4993-AD50-61958E1A2292}">
      <dsp:nvSpPr>
        <dsp:cNvPr id="0" name=""/>
        <dsp:cNvSpPr/>
      </dsp:nvSpPr>
      <dsp:spPr>
        <a:xfrm>
          <a:off x="0" y="3777571"/>
          <a:ext cx="10512499" cy="7263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rtl="0">
            <a:lnSpc>
              <a:spcPct val="90000"/>
            </a:lnSpc>
            <a:spcBef>
              <a:spcPct val="0"/>
            </a:spcBef>
            <a:spcAft>
              <a:spcPct val="35000"/>
            </a:spcAft>
            <a:buNone/>
          </a:pPr>
          <a:r>
            <a:rPr lang="en-US" sz="2800" b="1" kern="1200" dirty="0"/>
            <a:t> 	</a:t>
          </a:r>
          <a:endParaRPr lang="en-IN" sz="2800" kern="1200" dirty="0"/>
        </a:p>
      </dsp:txBody>
      <dsp:txXfrm>
        <a:off x="0" y="3777571"/>
        <a:ext cx="10512499" cy="726348"/>
      </dsp:txXfrm>
    </dsp:sp>
    <dsp:sp modelId="{08512CE1-CF4D-4C65-8294-77F5AF3834B2}">
      <dsp:nvSpPr>
        <dsp:cNvPr id="0" name=""/>
        <dsp:cNvSpPr/>
      </dsp:nvSpPr>
      <dsp:spPr>
        <a:xfrm>
          <a:off x="0" y="4503920"/>
          <a:ext cx="1051249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ADC942-A1C0-4B5E-8370-BF03EC66E0E6}">
      <dsp:nvSpPr>
        <dsp:cNvPr id="0" name=""/>
        <dsp:cNvSpPr/>
      </dsp:nvSpPr>
      <dsp:spPr>
        <a:xfrm>
          <a:off x="0" y="4503920"/>
          <a:ext cx="10502232" cy="9120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rtl="0">
            <a:lnSpc>
              <a:spcPct val="90000"/>
            </a:lnSpc>
            <a:spcBef>
              <a:spcPct val="0"/>
            </a:spcBef>
            <a:spcAft>
              <a:spcPct val="35000"/>
            </a:spcAft>
            <a:buNone/>
          </a:pPr>
          <a:r>
            <a:rPr lang="en-US" sz="2800" b="1" kern="1200" dirty="0"/>
            <a:t>	      	        			</a:t>
          </a:r>
          <a:endParaRPr lang="en-IN" sz="2800" kern="1200" dirty="0"/>
        </a:p>
      </dsp:txBody>
      <dsp:txXfrm>
        <a:off x="0" y="4503920"/>
        <a:ext cx="10502232" cy="9120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9195BD-B325-45CD-93B7-DF5381CC0C03}">
      <dsp:nvSpPr>
        <dsp:cNvPr id="0" name=""/>
        <dsp:cNvSpPr/>
      </dsp:nvSpPr>
      <dsp:spPr>
        <a:xfrm rot="16200000">
          <a:off x="-633960" y="635426"/>
          <a:ext cx="4169833" cy="2898980"/>
        </a:xfrm>
        <a:prstGeom prst="flowChartManualOperation">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0" tIns="0" rIns="139700" bIns="0" numCol="1" spcCol="1270" anchor="ctr" anchorCtr="0">
          <a:noAutofit/>
        </a:bodyPr>
        <a:lstStyle/>
        <a:p>
          <a:pPr marL="0" lvl="0" indent="0" algn="l" defTabSz="977900" rtl="0">
            <a:lnSpc>
              <a:spcPct val="90000"/>
            </a:lnSpc>
            <a:spcBef>
              <a:spcPct val="0"/>
            </a:spcBef>
            <a:spcAft>
              <a:spcPct val="35000"/>
            </a:spcAft>
            <a:buNone/>
          </a:pPr>
          <a:r>
            <a:rPr lang="en-US" sz="2200" kern="1200" dirty="0">
              <a:solidFill>
                <a:schemeClr val="tx1"/>
              </a:solidFill>
            </a:rPr>
            <a:t>1.To learn Syntax and Semantics of Python language and understand and apply the various data structures in solving computational problems</a:t>
          </a:r>
          <a:endParaRPr lang="en-US" sz="2800" kern="1200" dirty="0">
            <a:solidFill>
              <a:schemeClr val="tx1"/>
            </a:solidFill>
            <a:latin typeface="Roboto Medium"/>
          </a:endParaRPr>
        </a:p>
      </dsp:txBody>
      <dsp:txXfrm rot="5400000">
        <a:off x="1467" y="833966"/>
        <a:ext cx="2898980" cy="2501899"/>
      </dsp:txXfrm>
    </dsp:sp>
    <dsp:sp modelId="{C065A89F-0DD7-44C9-B025-20B0ABDA2093}">
      <dsp:nvSpPr>
        <dsp:cNvPr id="0" name=""/>
        <dsp:cNvSpPr/>
      </dsp:nvSpPr>
      <dsp:spPr>
        <a:xfrm rot="16200000">
          <a:off x="2245471" y="824964"/>
          <a:ext cx="4169833" cy="2519903"/>
        </a:xfrm>
        <a:prstGeom prst="flowChartManualOperation">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0" tIns="0" rIns="146050" bIns="0" numCol="1" spcCol="1270" anchor="ctr" anchorCtr="0">
          <a:noAutofit/>
        </a:bodyPr>
        <a:lstStyle/>
        <a:p>
          <a:pPr marL="0" lvl="0" indent="0" algn="l" defTabSz="1022350" rtl="0">
            <a:lnSpc>
              <a:spcPct val="90000"/>
            </a:lnSpc>
            <a:spcBef>
              <a:spcPct val="0"/>
            </a:spcBef>
            <a:spcAft>
              <a:spcPct val="35000"/>
            </a:spcAft>
            <a:buNone/>
          </a:pPr>
          <a:r>
            <a:rPr lang="en-US" sz="2300" b="0" kern="1200" dirty="0">
              <a:solidFill>
                <a:schemeClr val="tx1"/>
              </a:solidFill>
            </a:rPr>
            <a:t>2</a:t>
          </a:r>
          <a:r>
            <a:rPr lang="en-US" sz="2400" b="0" kern="1200" dirty="0">
              <a:solidFill>
                <a:schemeClr val="tx1"/>
              </a:solidFill>
              <a:latin typeface="Roboto Medium"/>
            </a:rPr>
            <a:t>.</a:t>
          </a:r>
          <a:r>
            <a:rPr lang="en-US" sz="2400" b="1" kern="1200" dirty="0">
              <a:solidFill>
                <a:schemeClr val="tx1"/>
              </a:solidFill>
              <a:latin typeface="Roboto Medium"/>
            </a:rPr>
            <a:t> </a:t>
          </a:r>
          <a:r>
            <a:rPr lang="en-US" sz="2400" kern="1200" dirty="0">
              <a:solidFill>
                <a:schemeClr val="tx1"/>
              </a:solidFill>
            </a:rPr>
            <a:t>To understand usage of </a:t>
          </a:r>
          <a:r>
            <a:rPr lang="en-US" sz="2400" kern="1200" dirty="0" err="1">
              <a:solidFill>
                <a:schemeClr val="tx1"/>
              </a:solidFill>
            </a:rPr>
            <a:t>NumPy</a:t>
          </a:r>
          <a:r>
            <a:rPr lang="en-US" sz="2400" kern="1200" dirty="0">
              <a:solidFill>
                <a:schemeClr val="tx1"/>
              </a:solidFill>
            </a:rPr>
            <a:t> and Pandas libraries</a:t>
          </a:r>
          <a:endParaRPr lang="en-US" sz="2400" b="1" kern="1200" dirty="0">
            <a:solidFill>
              <a:schemeClr val="tx1"/>
            </a:solidFill>
            <a:latin typeface="Roboto Medium"/>
          </a:endParaRPr>
        </a:p>
      </dsp:txBody>
      <dsp:txXfrm rot="5400000">
        <a:off x="3070436" y="833966"/>
        <a:ext cx="2519903" cy="2501899"/>
      </dsp:txXfrm>
    </dsp:sp>
    <dsp:sp modelId="{7B447F44-B206-46B6-964B-C67DC16CAF00}">
      <dsp:nvSpPr>
        <dsp:cNvPr id="0" name=""/>
        <dsp:cNvSpPr/>
      </dsp:nvSpPr>
      <dsp:spPr>
        <a:xfrm rot="16200000">
          <a:off x="4921833" y="815286"/>
          <a:ext cx="4169833" cy="2539259"/>
        </a:xfrm>
        <a:prstGeom prst="flowChartManualOperation">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0" rIns="152400" bIns="0"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tx1"/>
              </a:solidFill>
            </a:rPr>
            <a:t>3. To learn handling files, functions and exceptions</a:t>
          </a:r>
          <a:endParaRPr lang="en-US" sz="2400" b="1" kern="1200" dirty="0">
            <a:solidFill>
              <a:schemeClr val="tx1"/>
            </a:solidFill>
            <a:latin typeface="Roboto Medium"/>
          </a:endParaRPr>
        </a:p>
      </dsp:txBody>
      <dsp:txXfrm rot="5400000">
        <a:off x="5737120" y="833966"/>
        <a:ext cx="2539259" cy="2501899"/>
      </dsp:txXfrm>
    </dsp:sp>
    <dsp:sp modelId="{CBB54307-E46B-4B11-B489-438BE081C9FA}">
      <dsp:nvSpPr>
        <dsp:cNvPr id="0" name=""/>
        <dsp:cNvSpPr/>
      </dsp:nvSpPr>
      <dsp:spPr>
        <a:xfrm rot="16200000">
          <a:off x="7610139" y="859438"/>
          <a:ext cx="4169833" cy="2450955"/>
        </a:xfrm>
        <a:prstGeom prst="flowChartManualOperation">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0" rIns="152400" bIns="0"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tx1"/>
              </a:solidFill>
            </a:rPr>
            <a:t>4. To understand OOPs concepts in python and be able to draw various kinds of data visualization techniques using </a:t>
          </a:r>
          <a:r>
            <a:rPr lang="en-US" sz="2400" kern="1200" dirty="0" err="1">
              <a:solidFill>
                <a:schemeClr val="tx1"/>
              </a:solidFill>
            </a:rPr>
            <a:t>PyLab,matplotlib</a:t>
          </a:r>
          <a:r>
            <a:rPr lang="en-US" sz="2400" kern="1200" dirty="0">
              <a:solidFill>
                <a:schemeClr val="tx1"/>
              </a:solidFill>
            </a:rPr>
            <a:t> and Pandas</a:t>
          </a:r>
          <a:endParaRPr lang="en-US" sz="2400" b="1" kern="1200" dirty="0">
            <a:solidFill>
              <a:schemeClr val="tx1"/>
            </a:solidFill>
            <a:latin typeface="Roboto Medium"/>
          </a:endParaRPr>
        </a:p>
      </dsp:txBody>
      <dsp:txXfrm rot="5400000">
        <a:off x="8469578" y="833966"/>
        <a:ext cx="2450955" cy="250189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37F2447-4073-FE62-C0C3-75D43909471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DC40709-3B98-DC67-4913-E586452CBC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C1F9DF-F3CA-418C-8E48-F7B356B78758}" type="datetimeFigureOut">
              <a:rPr lang="en-US" smtClean="0"/>
              <a:t>1/2/2025</a:t>
            </a:fld>
            <a:endParaRPr lang="en-US"/>
          </a:p>
        </p:txBody>
      </p:sp>
      <p:sp>
        <p:nvSpPr>
          <p:cNvPr id="4" name="Footer Placeholder 3">
            <a:extLst>
              <a:ext uri="{FF2B5EF4-FFF2-40B4-BE49-F238E27FC236}">
                <a16:creationId xmlns:a16="http://schemas.microsoft.com/office/drawing/2014/main" id="{55CC38A7-E20B-80B0-8BDE-9E37E2123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0B7C110-7488-6D5F-B40E-46432C8E31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750F109-BA63-4FD6-8A99-1DB5A29DE6ED}" type="slidenum">
              <a:rPr lang="en-US" smtClean="0"/>
              <a:t>‹#›</a:t>
            </a:fld>
            <a:endParaRPr lang="en-US"/>
          </a:p>
        </p:txBody>
      </p:sp>
    </p:spTree>
    <p:extLst>
      <p:ext uri="{BB962C8B-B14F-4D97-AF65-F5344CB8AC3E}">
        <p14:creationId xmlns:p14="http://schemas.microsoft.com/office/powerpoint/2010/main" val="16757592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FCFFD8-F98E-4A5E-81E4-00B76976211D}" type="datetimeFigureOut">
              <a:rPr lang="en-US" smtClean="0"/>
              <a:t>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02E2C9-B29E-4E01-A940-56EDBFD77C4E}" type="slidenum">
              <a:rPr lang="en-US" smtClean="0"/>
              <a:t>‹#›</a:t>
            </a:fld>
            <a:endParaRPr lang="en-US"/>
          </a:p>
        </p:txBody>
      </p:sp>
    </p:spTree>
    <p:extLst>
      <p:ext uri="{BB962C8B-B14F-4D97-AF65-F5344CB8AC3E}">
        <p14:creationId xmlns:p14="http://schemas.microsoft.com/office/powerpoint/2010/main" val="1262155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1027443-035D-4263-A7FA-C4F2145FEE00}" type="datetimeFigureOut">
              <a:rPr lang="en-IN" smtClean="0"/>
              <a:t>02-01-2025</a:t>
            </a:fld>
            <a:endParaRPr lang="en-IN" dirty="0"/>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1F56EE-BA8C-49DD-9007-330E7C7B6D5D}" type="slidenum">
              <a:rPr lang="en-IN" smtClean="0"/>
              <a:t>‹#›</a:t>
            </a:fld>
            <a:endParaRPr lang="en-IN"/>
          </a:p>
        </p:txBody>
      </p:sp>
      <p:sp>
        <p:nvSpPr>
          <p:cNvPr id="7" name="Rectangle 6">
            <a:extLst>
              <a:ext uri="{FF2B5EF4-FFF2-40B4-BE49-F238E27FC236}">
                <a16:creationId xmlns:a16="http://schemas.microsoft.com/office/drawing/2014/main" id="{BABD7640-3F72-24D1-7443-2282E8CF1706}"/>
              </a:ext>
            </a:extLst>
          </p:cNvPr>
          <p:cNvSpPr/>
          <p:nvPr userDrawn="1"/>
        </p:nvSpPr>
        <p:spPr>
          <a:xfrm flipV="1">
            <a:off x="0" y="270165"/>
            <a:ext cx="12192000" cy="45719"/>
          </a:xfrm>
          <a:prstGeom prst="rect">
            <a:avLst/>
          </a:prstGeom>
          <a:solidFill>
            <a:srgbClr val="ED6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79A56E71-EFCF-9F91-A1BB-8FF373E9F1E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Tree>
    <p:extLst>
      <p:ext uri="{BB962C8B-B14F-4D97-AF65-F5344CB8AC3E}">
        <p14:creationId xmlns:p14="http://schemas.microsoft.com/office/powerpoint/2010/main" val="1472860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1027443-035D-4263-A7FA-C4F2145FEE00}" type="datetimeFigureOut">
              <a:rPr lang="en-IN" smtClean="0"/>
              <a:t>02-01-2025</a:t>
            </a:fld>
            <a:endParaRPr lang="en-IN" dirty="0"/>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1F56EE-BA8C-49DD-9007-330E7C7B6D5D}" type="slidenum">
              <a:rPr lang="en-IN" smtClean="0"/>
              <a:t>‹#›</a:t>
            </a:fld>
            <a:endParaRPr lang="en-IN"/>
          </a:p>
        </p:txBody>
      </p:sp>
      <p:sp>
        <p:nvSpPr>
          <p:cNvPr id="7" name="Rectangle 6">
            <a:extLst>
              <a:ext uri="{FF2B5EF4-FFF2-40B4-BE49-F238E27FC236}">
                <a16:creationId xmlns:a16="http://schemas.microsoft.com/office/drawing/2014/main" id="{1A0D2130-1B1B-ECF5-E934-C051E93F35C9}"/>
              </a:ext>
            </a:extLst>
          </p:cNvPr>
          <p:cNvSpPr/>
          <p:nvPr userDrawn="1"/>
        </p:nvSpPr>
        <p:spPr>
          <a:xfrm flipV="1">
            <a:off x="0" y="270165"/>
            <a:ext cx="12192000" cy="45719"/>
          </a:xfrm>
          <a:prstGeom prst="rect">
            <a:avLst/>
          </a:prstGeom>
          <a:solidFill>
            <a:srgbClr val="ED6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9D0ACDD3-80A2-5245-41A0-3EEB52FA075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pic>
        <p:nvPicPr>
          <p:cNvPr id="9" name="Picture 8">
            <a:extLst>
              <a:ext uri="{FF2B5EF4-FFF2-40B4-BE49-F238E27FC236}">
                <a16:creationId xmlns:a16="http://schemas.microsoft.com/office/drawing/2014/main" id="{177AB47A-A374-AE7C-0E11-8E938CD7B43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Tree>
    <p:extLst>
      <p:ext uri="{BB962C8B-B14F-4D97-AF65-F5344CB8AC3E}">
        <p14:creationId xmlns:p14="http://schemas.microsoft.com/office/powerpoint/2010/main" val="3084996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1027443-035D-4263-A7FA-C4F2145FEE00}" type="datetimeFigureOut">
              <a:rPr lang="en-IN" smtClean="0"/>
              <a:t>02-01-2025</a:t>
            </a:fld>
            <a:endParaRPr lang="en-IN" dirty="0"/>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1F56EE-BA8C-49DD-9007-330E7C7B6D5D}" type="slidenum">
              <a:rPr lang="en-IN" smtClean="0"/>
              <a:t>‹#›</a:t>
            </a:fld>
            <a:endParaRPr lang="en-IN"/>
          </a:p>
        </p:txBody>
      </p:sp>
      <p:sp>
        <p:nvSpPr>
          <p:cNvPr id="7" name="Rectangle 6">
            <a:extLst>
              <a:ext uri="{FF2B5EF4-FFF2-40B4-BE49-F238E27FC236}">
                <a16:creationId xmlns:a16="http://schemas.microsoft.com/office/drawing/2014/main" id="{E930D09D-960A-1FCA-82AD-1AA292596FBC}"/>
              </a:ext>
            </a:extLst>
          </p:cNvPr>
          <p:cNvSpPr/>
          <p:nvPr userDrawn="1"/>
        </p:nvSpPr>
        <p:spPr>
          <a:xfrm flipV="1">
            <a:off x="0" y="270165"/>
            <a:ext cx="12192000" cy="45719"/>
          </a:xfrm>
          <a:prstGeom prst="rect">
            <a:avLst/>
          </a:prstGeom>
          <a:solidFill>
            <a:srgbClr val="ED6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344041FD-DC37-3C20-CEE8-0103588488E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pic>
        <p:nvPicPr>
          <p:cNvPr id="9" name="Picture 8">
            <a:extLst>
              <a:ext uri="{FF2B5EF4-FFF2-40B4-BE49-F238E27FC236}">
                <a16:creationId xmlns:a16="http://schemas.microsoft.com/office/drawing/2014/main" id="{16051374-8A08-B2B5-3D4C-458F584ABF6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Tree>
    <p:extLst>
      <p:ext uri="{BB962C8B-B14F-4D97-AF65-F5344CB8AC3E}">
        <p14:creationId xmlns:p14="http://schemas.microsoft.com/office/powerpoint/2010/main" val="24527514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1027443-035D-4263-A7FA-C4F2145FEE00}" type="datetimeFigureOut">
              <a:rPr lang="en-IN" smtClean="0"/>
              <a:t>02-01-2025</a:t>
            </a:fld>
            <a:endParaRPr lang="en-IN" dirty="0"/>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1F56EE-BA8C-49DD-9007-330E7C7B6D5D}" type="slidenum">
              <a:rPr lang="en-IN" smtClean="0"/>
              <a:t>‹#›</a:t>
            </a:fld>
            <a:endParaRPr lang="en-IN"/>
          </a:p>
        </p:txBody>
      </p:sp>
      <p:sp>
        <p:nvSpPr>
          <p:cNvPr id="8" name="Rectangle 7">
            <a:extLst>
              <a:ext uri="{FF2B5EF4-FFF2-40B4-BE49-F238E27FC236}">
                <a16:creationId xmlns:a16="http://schemas.microsoft.com/office/drawing/2014/main" id="{2FD38F5E-6DEF-DD58-5C51-CC0FD276BE3E}"/>
              </a:ext>
            </a:extLst>
          </p:cNvPr>
          <p:cNvSpPr/>
          <p:nvPr userDrawn="1"/>
        </p:nvSpPr>
        <p:spPr>
          <a:xfrm flipV="1">
            <a:off x="0" y="270165"/>
            <a:ext cx="12192000" cy="45719"/>
          </a:xfrm>
          <a:prstGeom prst="rect">
            <a:avLst/>
          </a:prstGeom>
          <a:solidFill>
            <a:srgbClr val="ED6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6C2F77F8-A456-895C-D404-686DA178C42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pic>
        <p:nvPicPr>
          <p:cNvPr id="10" name="Picture 9">
            <a:extLst>
              <a:ext uri="{FF2B5EF4-FFF2-40B4-BE49-F238E27FC236}">
                <a16:creationId xmlns:a16="http://schemas.microsoft.com/office/drawing/2014/main" id="{DE25F6B9-8F21-2505-0C36-2BE496B8F64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Tree>
    <p:extLst>
      <p:ext uri="{BB962C8B-B14F-4D97-AF65-F5344CB8AC3E}">
        <p14:creationId xmlns:p14="http://schemas.microsoft.com/office/powerpoint/2010/main" val="452525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1027443-035D-4263-A7FA-C4F2145FEE00}" type="datetimeFigureOut">
              <a:rPr lang="en-IN" smtClean="0"/>
              <a:t>02-01-2025</a:t>
            </a:fld>
            <a:endParaRPr lang="en-IN" dirty="0"/>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01F56EE-BA8C-49DD-9007-330E7C7B6D5D}" type="slidenum">
              <a:rPr lang="en-IN" smtClean="0"/>
              <a:t>‹#›</a:t>
            </a:fld>
            <a:endParaRPr lang="en-IN"/>
          </a:p>
        </p:txBody>
      </p:sp>
      <p:sp>
        <p:nvSpPr>
          <p:cNvPr id="10" name="Rectangle 9">
            <a:extLst>
              <a:ext uri="{FF2B5EF4-FFF2-40B4-BE49-F238E27FC236}">
                <a16:creationId xmlns:a16="http://schemas.microsoft.com/office/drawing/2014/main" id="{45C97826-FBF2-F6D8-DDCB-D7EF39D820EE}"/>
              </a:ext>
            </a:extLst>
          </p:cNvPr>
          <p:cNvSpPr/>
          <p:nvPr userDrawn="1"/>
        </p:nvSpPr>
        <p:spPr>
          <a:xfrm flipV="1">
            <a:off x="0" y="270165"/>
            <a:ext cx="12192000" cy="45719"/>
          </a:xfrm>
          <a:prstGeom prst="rect">
            <a:avLst/>
          </a:prstGeom>
          <a:solidFill>
            <a:srgbClr val="ED6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7510A869-58B9-3E31-676F-453FA039DF3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pic>
        <p:nvPicPr>
          <p:cNvPr id="12" name="Picture 11">
            <a:extLst>
              <a:ext uri="{FF2B5EF4-FFF2-40B4-BE49-F238E27FC236}">
                <a16:creationId xmlns:a16="http://schemas.microsoft.com/office/drawing/2014/main" id="{77436E55-F0A2-BF53-8A61-8C70589982B7}"/>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Tree>
    <p:extLst>
      <p:ext uri="{BB962C8B-B14F-4D97-AF65-F5344CB8AC3E}">
        <p14:creationId xmlns:p14="http://schemas.microsoft.com/office/powerpoint/2010/main" val="2115386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1027443-035D-4263-A7FA-C4F2145FEE00}" type="datetimeFigureOut">
              <a:rPr lang="en-IN" smtClean="0"/>
              <a:t>02-01-2025</a:t>
            </a:fld>
            <a:endParaRPr lang="en-IN" dirty="0"/>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01F56EE-BA8C-49DD-9007-330E7C7B6D5D}" type="slidenum">
              <a:rPr lang="en-IN" smtClean="0"/>
              <a:t>‹#›</a:t>
            </a:fld>
            <a:endParaRPr lang="en-IN"/>
          </a:p>
        </p:txBody>
      </p:sp>
      <p:sp>
        <p:nvSpPr>
          <p:cNvPr id="6" name="Rectangle 5">
            <a:extLst>
              <a:ext uri="{FF2B5EF4-FFF2-40B4-BE49-F238E27FC236}">
                <a16:creationId xmlns:a16="http://schemas.microsoft.com/office/drawing/2014/main" id="{25B07A2F-75A8-D7CF-8C39-3499BD055D20}"/>
              </a:ext>
            </a:extLst>
          </p:cNvPr>
          <p:cNvSpPr/>
          <p:nvPr userDrawn="1"/>
        </p:nvSpPr>
        <p:spPr>
          <a:xfrm flipV="1">
            <a:off x="0" y="270165"/>
            <a:ext cx="12192000" cy="45719"/>
          </a:xfrm>
          <a:prstGeom prst="rect">
            <a:avLst/>
          </a:prstGeom>
          <a:solidFill>
            <a:srgbClr val="ED6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BFB4DAFF-CFFD-765D-F0B1-849B4901C03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pic>
        <p:nvPicPr>
          <p:cNvPr id="8" name="Picture 7">
            <a:extLst>
              <a:ext uri="{FF2B5EF4-FFF2-40B4-BE49-F238E27FC236}">
                <a16:creationId xmlns:a16="http://schemas.microsoft.com/office/drawing/2014/main" id="{EF503B0F-9755-A213-7AF2-71B2FC5C90C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Tree>
    <p:extLst>
      <p:ext uri="{BB962C8B-B14F-4D97-AF65-F5344CB8AC3E}">
        <p14:creationId xmlns:p14="http://schemas.microsoft.com/office/powerpoint/2010/main" val="2406611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027443-035D-4263-A7FA-C4F2145FEE00}" type="datetimeFigureOut">
              <a:rPr lang="en-IN" smtClean="0"/>
              <a:t>02-01-2025</a:t>
            </a:fld>
            <a:endParaRPr lang="en-IN" dirty="0"/>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01F56EE-BA8C-49DD-9007-330E7C7B6D5D}" type="slidenum">
              <a:rPr lang="en-IN" smtClean="0"/>
              <a:t>‹#›</a:t>
            </a:fld>
            <a:endParaRPr lang="en-IN"/>
          </a:p>
        </p:txBody>
      </p:sp>
      <p:pic>
        <p:nvPicPr>
          <p:cNvPr id="8" name="Picture 7">
            <a:extLst>
              <a:ext uri="{FF2B5EF4-FFF2-40B4-BE49-F238E27FC236}">
                <a16:creationId xmlns:a16="http://schemas.microsoft.com/office/drawing/2014/main" id="{05366D0D-F54B-0ABB-B75C-613FEBEA1EA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891"/>
            <a:ext cx="12192000" cy="6854218"/>
          </a:xfrm>
          <a:prstGeom prst="rect">
            <a:avLst/>
          </a:prstGeom>
        </p:spPr>
      </p:pic>
      <p:sp>
        <p:nvSpPr>
          <p:cNvPr id="9" name="Rectangle 8">
            <a:extLst>
              <a:ext uri="{FF2B5EF4-FFF2-40B4-BE49-F238E27FC236}">
                <a16:creationId xmlns:a16="http://schemas.microsoft.com/office/drawing/2014/main" id="{3F7C8214-5533-BE70-7D3B-39BA071A7619}"/>
              </a:ext>
            </a:extLst>
          </p:cNvPr>
          <p:cNvSpPr/>
          <p:nvPr userDrawn="1"/>
        </p:nvSpPr>
        <p:spPr>
          <a:xfrm>
            <a:off x="10305288" y="5907024"/>
            <a:ext cx="1316736" cy="4493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1533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027443-035D-4263-A7FA-C4F2145FEE00}" type="datetimeFigureOut">
              <a:rPr lang="en-IN" smtClean="0"/>
              <a:t>02-01-2025</a:t>
            </a:fld>
            <a:endParaRPr lang="en-IN" dirty="0"/>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01F56EE-BA8C-49DD-9007-330E7C7B6D5D}" type="slidenum">
              <a:rPr lang="en-IN" smtClean="0"/>
              <a:t>‹#›</a:t>
            </a:fld>
            <a:endParaRPr lang="en-IN"/>
          </a:p>
        </p:txBody>
      </p:sp>
      <p:pic>
        <p:nvPicPr>
          <p:cNvPr id="6" name="Picture 5">
            <a:extLst>
              <a:ext uri="{FF2B5EF4-FFF2-40B4-BE49-F238E27FC236}">
                <a16:creationId xmlns:a16="http://schemas.microsoft.com/office/drawing/2014/main" id="{DA24B4EC-6E74-E11C-04B5-48BC193690A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891"/>
            <a:ext cx="12192000" cy="6854218"/>
          </a:xfrm>
          <a:prstGeom prst="rect">
            <a:avLst/>
          </a:prstGeom>
        </p:spPr>
      </p:pic>
    </p:spTree>
    <p:extLst>
      <p:ext uri="{BB962C8B-B14F-4D97-AF65-F5344CB8AC3E}">
        <p14:creationId xmlns:p14="http://schemas.microsoft.com/office/powerpoint/2010/main" val="1233487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1027443-035D-4263-A7FA-C4F2145FEE00}" type="datetimeFigureOut">
              <a:rPr lang="en-IN" smtClean="0"/>
              <a:t>02-01-2025</a:t>
            </a:fld>
            <a:endParaRPr lang="en-IN" dirty="0"/>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1F56EE-BA8C-49DD-9007-330E7C7B6D5D}" type="slidenum">
              <a:rPr lang="en-IN" smtClean="0"/>
              <a:t>‹#›</a:t>
            </a:fld>
            <a:endParaRPr lang="en-IN"/>
          </a:p>
        </p:txBody>
      </p:sp>
      <p:sp>
        <p:nvSpPr>
          <p:cNvPr id="8" name="Rectangle 7">
            <a:extLst>
              <a:ext uri="{FF2B5EF4-FFF2-40B4-BE49-F238E27FC236}">
                <a16:creationId xmlns:a16="http://schemas.microsoft.com/office/drawing/2014/main" id="{CF8A7419-0EE5-8818-BC14-5E5937C761D0}"/>
              </a:ext>
            </a:extLst>
          </p:cNvPr>
          <p:cNvSpPr/>
          <p:nvPr userDrawn="1"/>
        </p:nvSpPr>
        <p:spPr>
          <a:xfrm flipV="1">
            <a:off x="0" y="270165"/>
            <a:ext cx="12192000" cy="45719"/>
          </a:xfrm>
          <a:prstGeom prst="rect">
            <a:avLst/>
          </a:prstGeom>
          <a:solidFill>
            <a:srgbClr val="ED6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93402B01-8388-1906-BE4B-25D724EFF76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pic>
        <p:nvPicPr>
          <p:cNvPr id="10" name="Picture 9">
            <a:extLst>
              <a:ext uri="{FF2B5EF4-FFF2-40B4-BE49-F238E27FC236}">
                <a16:creationId xmlns:a16="http://schemas.microsoft.com/office/drawing/2014/main" id="{1DBBF8F9-5BA7-01F4-CF6A-956300CB8E5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Tree>
    <p:extLst>
      <p:ext uri="{BB962C8B-B14F-4D97-AF65-F5344CB8AC3E}">
        <p14:creationId xmlns:p14="http://schemas.microsoft.com/office/powerpoint/2010/main" val="2608401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1027443-035D-4263-A7FA-C4F2145FEE00}" type="datetimeFigureOut">
              <a:rPr lang="en-IN" smtClean="0"/>
              <a:t>02-01-2025</a:t>
            </a:fld>
            <a:endParaRPr lang="en-IN" dirty="0"/>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1F56EE-BA8C-49DD-9007-330E7C7B6D5D}" type="slidenum">
              <a:rPr lang="en-IN" smtClean="0"/>
              <a:t>‹#›</a:t>
            </a:fld>
            <a:endParaRPr lang="en-IN"/>
          </a:p>
        </p:txBody>
      </p:sp>
      <p:sp>
        <p:nvSpPr>
          <p:cNvPr id="8" name="Rectangle 7">
            <a:extLst>
              <a:ext uri="{FF2B5EF4-FFF2-40B4-BE49-F238E27FC236}">
                <a16:creationId xmlns:a16="http://schemas.microsoft.com/office/drawing/2014/main" id="{D831F74B-A620-BED1-8083-ACD3C2222B33}"/>
              </a:ext>
            </a:extLst>
          </p:cNvPr>
          <p:cNvSpPr/>
          <p:nvPr userDrawn="1"/>
        </p:nvSpPr>
        <p:spPr>
          <a:xfrm flipV="1">
            <a:off x="0" y="270165"/>
            <a:ext cx="12192000" cy="45719"/>
          </a:xfrm>
          <a:prstGeom prst="rect">
            <a:avLst/>
          </a:prstGeom>
          <a:solidFill>
            <a:srgbClr val="ED6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816FE7B0-A325-9F6B-5DEA-6CFFB2DBBC1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pic>
        <p:nvPicPr>
          <p:cNvPr id="10" name="Picture 9">
            <a:extLst>
              <a:ext uri="{FF2B5EF4-FFF2-40B4-BE49-F238E27FC236}">
                <a16:creationId xmlns:a16="http://schemas.microsoft.com/office/drawing/2014/main" id="{1C5AD06A-BD56-1758-E059-92C1C7C4582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Tree>
    <p:extLst>
      <p:ext uri="{BB962C8B-B14F-4D97-AF65-F5344CB8AC3E}">
        <p14:creationId xmlns:p14="http://schemas.microsoft.com/office/powerpoint/2010/main" val="1061150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1027443-035D-4263-A7FA-C4F2145FEE00}" type="datetimeFigureOut">
              <a:rPr lang="en-IN" smtClean="0"/>
              <a:t>02-01-2025</a:t>
            </a:fld>
            <a:endParaRPr lang="en-IN" dirty="0"/>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1F56EE-BA8C-49DD-9007-330E7C7B6D5D}" type="slidenum">
              <a:rPr lang="en-IN" smtClean="0"/>
              <a:t>‹#›</a:t>
            </a:fld>
            <a:endParaRPr lang="en-IN"/>
          </a:p>
        </p:txBody>
      </p:sp>
      <p:sp>
        <p:nvSpPr>
          <p:cNvPr id="7" name="Rectangle 6">
            <a:extLst>
              <a:ext uri="{FF2B5EF4-FFF2-40B4-BE49-F238E27FC236}">
                <a16:creationId xmlns:a16="http://schemas.microsoft.com/office/drawing/2014/main" id="{FEF13F31-6E9D-2B76-A67F-6671E18E0B01}"/>
              </a:ext>
            </a:extLst>
          </p:cNvPr>
          <p:cNvSpPr/>
          <p:nvPr userDrawn="1"/>
        </p:nvSpPr>
        <p:spPr>
          <a:xfrm flipV="1">
            <a:off x="0" y="270165"/>
            <a:ext cx="12192000" cy="45719"/>
          </a:xfrm>
          <a:prstGeom prst="rect">
            <a:avLst/>
          </a:prstGeom>
          <a:solidFill>
            <a:srgbClr val="ED6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2BF20BC5-158B-FBD7-0661-46090C9DD14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pic>
        <p:nvPicPr>
          <p:cNvPr id="9" name="Picture 8">
            <a:extLst>
              <a:ext uri="{FF2B5EF4-FFF2-40B4-BE49-F238E27FC236}">
                <a16:creationId xmlns:a16="http://schemas.microsoft.com/office/drawing/2014/main" id="{529CD942-F6EE-95F6-92C9-66D686A7E0F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Tree>
    <p:extLst>
      <p:ext uri="{BB962C8B-B14F-4D97-AF65-F5344CB8AC3E}">
        <p14:creationId xmlns:p14="http://schemas.microsoft.com/office/powerpoint/2010/main" val="9709961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1027443-035D-4263-A7FA-C4F2145FEE00}" type="datetimeFigureOut">
              <a:rPr lang="en-IN" smtClean="0"/>
              <a:t>02-01-2025</a:t>
            </a:fld>
            <a:endParaRPr lang="en-IN" dirty="0"/>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1F56EE-BA8C-49DD-9007-330E7C7B6D5D}" type="slidenum">
              <a:rPr lang="en-IN" smtClean="0"/>
              <a:t>‹#›</a:t>
            </a:fld>
            <a:endParaRPr lang="en-IN"/>
          </a:p>
        </p:txBody>
      </p:sp>
      <p:sp>
        <p:nvSpPr>
          <p:cNvPr id="7" name="Rectangle 6">
            <a:extLst>
              <a:ext uri="{FF2B5EF4-FFF2-40B4-BE49-F238E27FC236}">
                <a16:creationId xmlns:a16="http://schemas.microsoft.com/office/drawing/2014/main" id="{C45613ED-840F-189B-6184-7C2E83F74658}"/>
              </a:ext>
            </a:extLst>
          </p:cNvPr>
          <p:cNvSpPr/>
          <p:nvPr userDrawn="1"/>
        </p:nvSpPr>
        <p:spPr>
          <a:xfrm flipV="1">
            <a:off x="0" y="270165"/>
            <a:ext cx="12192000" cy="45719"/>
          </a:xfrm>
          <a:prstGeom prst="rect">
            <a:avLst/>
          </a:prstGeom>
          <a:solidFill>
            <a:srgbClr val="ED6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62EC0B6F-B947-A6A9-12AC-258AD1C53B1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pic>
        <p:nvPicPr>
          <p:cNvPr id="9" name="Picture 8">
            <a:extLst>
              <a:ext uri="{FF2B5EF4-FFF2-40B4-BE49-F238E27FC236}">
                <a16:creationId xmlns:a16="http://schemas.microsoft.com/office/drawing/2014/main" id="{65962AF7-6154-320D-76CC-8BC30D776C8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Tree>
    <p:extLst>
      <p:ext uri="{BB962C8B-B14F-4D97-AF65-F5344CB8AC3E}">
        <p14:creationId xmlns:p14="http://schemas.microsoft.com/office/powerpoint/2010/main" val="3142373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White">
    <p:bg bwMode="gray">
      <p:bgPr>
        <a:solidFill>
          <a:schemeClr val="bg1"/>
        </a:solidFill>
        <a:effectLst/>
      </p:bgPr>
    </p:bg>
    <p:spTree>
      <p:nvGrpSpPr>
        <p:cNvPr id="1" name=""/>
        <p:cNvGrpSpPr/>
        <p:nvPr/>
      </p:nvGrpSpPr>
      <p:grpSpPr>
        <a:xfrm>
          <a:off x="0" y="0"/>
          <a:ext cx="0" cy="0"/>
          <a:chOff x="0" y="0"/>
          <a:chExt cx="0" cy="0"/>
        </a:xfrm>
      </p:grpSpPr>
      <p:pic>
        <p:nvPicPr>
          <p:cNvPr id="2050" name="Picture 2" descr="C:\Users\Admin\Downloads\ilovepdf_pages-to-jpg (3)\RU_PPT Template-White Blank (1)_page-0003.jpg"/>
          <p:cNvPicPr>
            <a:picLocks noChangeAspect="1" noChangeArrowheads="1"/>
          </p:cNvPicPr>
          <p:nvPr userDrawn="1"/>
        </p:nvPicPr>
        <p:blipFill>
          <a:blip r:embed="rId2" cstate="print"/>
          <a:srcRect/>
          <a:stretch>
            <a:fillRect/>
          </a:stretch>
        </p:blipFill>
        <p:spPr bwMode="auto">
          <a:xfrm>
            <a:off x="0" y="0"/>
            <a:ext cx="12192000" cy="6857330"/>
          </a:xfrm>
          <a:prstGeom prst="rect">
            <a:avLst/>
          </a:prstGeom>
          <a:noFill/>
        </p:spPr>
      </p:pic>
      <p:sp>
        <p:nvSpPr>
          <p:cNvPr id="10"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pPr/>
              <a:t>‹#›</a:t>
            </a:fld>
            <a:endParaRPr lang="en-NZ" dirty="0"/>
          </a:p>
        </p:txBody>
      </p:sp>
      <p:sp>
        <p:nvSpPr>
          <p:cNvPr id="8" name="Title 1">
            <a:extLst>
              <a:ext uri="{FF2B5EF4-FFF2-40B4-BE49-F238E27FC236}">
                <a16:creationId xmlns:a16="http://schemas.microsoft.com/office/drawing/2014/main" id="{F1559C6D-4317-AA46-BAB3-6CD813F0D97F}"/>
              </a:ext>
            </a:extLst>
          </p:cNvPr>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tx1">
                    <a:lumMod val="50000"/>
                    <a:lumOff val="50000"/>
                  </a:schemeClr>
                </a:solidFill>
                <a:latin typeface="Roboto Medium" pitchFamily="2" charset="0"/>
                <a:ea typeface="Roboto Medium" pitchFamily="2" charset="0"/>
                <a:cs typeface="Roboto Medium" pitchFamily="2" charset="0"/>
              </a:defRPr>
            </a:lvl1pPr>
          </a:lstStyle>
          <a:p>
            <a:r>
              <a:rPr lang="en-US" dirty="0"/>
              <a:t>Agenda</a:t>
            </a:r>
          </a:p>
        </p:txBody>
      </p:sp>
      <p:sp>
        <p:nvSpPr>
          <p:cNvPr id="11" name="Text Placeholder 2">
            <a:extLst>
              <a:ext uri="{FF2B5EF4-FFF2-40B4-BE49-F238E27FC236}">
                <a16:creationId xmlns:a16="http://schemas.microsoft.com/office/drawing/2014/main" id="{75464016-775B-B140-8812-D9666C711A48}"/>
              </a:ext>
            </a:extLst>
          </p:cNvPr>
          <p:cNvSpPr>
            <a:spLocks noGrp="1"/>
          </p:cNvSpPr>
          <p:nvPr>
            <p:ph type="body" sz="quarter" idx="17"/>
          </p:nvPr>
        </p:nvSpPr>
        <p:spPr>
          <a:xfrm>
            <a:off x="695400" y="1773936"/>
            <a:ext cx="10801201" cy="4320480"/>
          </a:xfrm>
          <a:prstGeom prst="rect">
            <a:avLst/>
          </a:prstGeom>
        </p:spPr>
        <p:txBody>
          <a:bodyPr/>
          <a:lstStyle>
            <a:lvl1pPr marL="457200"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1pPr>
            <a:lvl2pPr marL="700088" indent="-457200">
              <a:spcBef>
                <a:spcPts val="0"/>
              </a:spcBef>
              <a:spcAft>
                <a:spcPts val="1400"/>
              </a:spcAft>
              <a:buFont typeface="+mj-lt"/>
              <a:buAutoNum type="arabicPeriod"/>
              <a:tabLst/>
              <a:defRPr sz="24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spcBef>
                <a:spcPts val="0"/>
              </a:spcBef>
              <a:spcAft>
                <a:spcPts val="1400"/>
              </a:spcAft>
              <a:buNone/>
              <a:tabLst/>
              <a:defRPr sz="2000">
                <a:solidFill>
                  <a:schemeClr val="bg1"/>
                </a:solidFill>
              </a:defRPr>
            </a:lvl3pPr>
            <a:lvl4pPr marL="890588" indent="0">
              <a:spcBef>
                <a:spcPts val="0"/>
              </a:spcBef>
              <a:spcAft>
                <a:spcPts val="1400"/>
              </a:spcAft>
              <a:buNone/>
              <a:tabLst/>
              <a:defRPr sz="1800">
                <a:solidFill>
                  <a:schemeClr val="bg1"/>
                </a:solidFill>
              </a:defRPr>
            </a:lvl4pPr>
            <a:lvl5pPr marL="1093787" indent="0">
              <a:spcBef>
                <a:spcPts val="0"/>
              </a:spcBef>
              <a:spcAft>
                <a:spcPts val="1400"/>
              </a:spcAft>
              <a:buNone/>
              <a:tabLst/>
              <a:defRPr sz="1800">
                <a:solidFill>
                  <a:schemeClr val="bg1"/>
                </a:solidFill>
              </a:defRPr>
            </a:lvl5pPr>
          </a:lstStyle>
          <a:p>
            <a:pPr lvl="0"/>
            <a:r>
              <a:rPr lang="en-US" dirty="0"/>
              <a:t>Edit Master text styles</a:t>
            </a:r>
          </a:p>
          <a:p>
            <a:pPr lvl="1"/>
            <a:endParaRPr lang="en-US" dirty="0"/>
          </a:p>
        </p:txBody>
      </p:sp>
    </p:spTree>
    <p:extLst>
      <p:ext uri="{BB962C8B-B14F-4D97-AF65-F5344CB8AC3E}">
        <p14:creationId xmlns:p14="http://schemas.microsoft.com/office/powerpoint/2010/main" val="15136592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py Slide White">
    <p:bg bwMode="gray">
      <p:bgPr>
        <a:solidFill>
          <a:schemeClr val="bg1"/>
        </a:solidFill>
        <a:effectLst/>
      </p:bgPr>
    </p:bg>
    <p:spTree>
      <p:nvGrpSpPr>
        <p:cNvPr id="1" name=""/>
        <p:cNvGrpSpPr/>
        <p:nvPr/>
      </p:nvGrpSpPr>
      <p:grpSpPr>
        <a:xfrm>
          <a:off x="0" y="0"/>
          <a:ext cx="0" cy="0"/>
          <a:chOff x="0" y="0"/>
          <a:chExt cx="0" cy="0"/>
        </a:xfrm>
      </p:grpSpPr>
      <p:sp>
        <p:nvSpPr>
          <p:cNvPr id="12" name="Rectangle 11"/>
          <p:cNvSpPr/>
          <p:nvPr userDrawn="1"/>
        </p:nvSpPr>
        <p:spPr bwMode="auto">
          <a:xfrm>
            <a:off x="0" y="0"/>
            <a:ext cx="12192000" cy="6858000"/>
          </a:xfrm>
          <a:prstGeom prst="rect">
            <a:avLst/>
          </a:prstGeom>
          <a:solidFill>
            <a:schemeClr val="bg1">
              <a:alpha val="49000"/>
            </a:schemeClr>
          </a:solidFill>
          <a:ln w="38100" cap="flat" cmpd="sng" algn="ctr">
            <a:solidFill>
              <a:srgbClr val="FFC000"/>
            </a:solidFill>
            <a:prstDash val="solid"/>
            <a:round/>
            <a:headEnd type="none" w="med" len="med"/>
            <a:tailEnd type="none" w="med" len="med"/>
          </a:ln>
          <a:effectLst/>
        </p:spPr>
        <p:txBody>
          <a:bodyPr vert="horz" wrap="square" lIns="76193" tIns="38097" rIns="76193" bIns="38097" numCol="1" rtlCol="0" anchor="t" anchorCtr="0" compatLnSpc="1">
            <a:prstTxWarp prst="textNoShape">
              <a:avLst/>
            </a:prstTxWarp>
          </a:bodyPr>
          <a:lstStyle/>
          <a:p>
            <a:pPr marL="0" marR="0" indent="0" algn="l" defTabSz="761894"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a:ln>
                <a:noFill/>
              </a:ln>
              <a:solidFill>
                <a:schemeClr val="tx1"/>
              </a:solidFill>
              <a:effectLst/>
              <a:latin typeface="Roboto Medium" pitchFamily="2" charset="0"/>
              <a:ea typeface="Roboto Medium" pitchFamily="2" charset="0"/>
              <a:cs typeface="Arial" charset="0"/>
            </a:endParaRPr>
          </a:p>
        </p:txBody>
      </p:sp>
      <p:sp>
        <p:nvSpPr>
          <p:cNvPr id="8" name="Title 1"/>
          <p:cNvSpPr>
            <a:spLocks noGrp="1"/>
          </p:cNvSpPr>
          <p:nvPr>
            <p:ph type="title" hasCustomPrompt="1"/>
          </p:nvPr>
        </p:nvSpPr>
        <p:spPr bwMode="gray">
          <a:xfrm>
            <a:off x="595472" y="374155"/>
            <a:ext cx="6211927" cy="440926"/>
          </a:xfrm>
          <a:prstGeom prst="rect">
            <a:avLst/>
          </a:prstGeom>
        </p:spPr>
        <p:txBody>
          <a:bodyPr lIns="109717" tIns="54859" rIns="109717" bIns="54859" anchor="t" anchorCtr="0">
            <a:noAutofit/>
          </a:bodyPr>
          <a:lstStyle>
            <a:lvl1pPr algn="l">
              <a:defRPr sz="2833" b="0" cap="all" spc="0" baseline="0">
                <a:solidFill>
                  <a:schemeClr val="tx1"/>
                </a:solidFill>
                <a:latin typeface="Roboto Medium" pitchFamily="2" charset="0"/>
                <a:ea typeface="Roboto Medium" pitchFamily="2" charset="0"/>
                <a:cs typeface="Roboto Medium" pitchFamily="2" charset="0"/>
              </a:defRPr>
            </a:lvl1pPr>
          </a:lstStyle>
          <a:p>
            <a:r>
              <a:rPr lang="en-US" dirty="0"/>
              <a:t>Heading Copy Here </a:t>
            </a:r>
          </a:p>
        </p:txBody>
      </p:sp>
      <p:sp>
        <p:nvSpPr>
          <p:cNvPr id="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623889" y="836613"/>
            <a:ext cx="6192838" cy="432147"/>
          </a:xfrm>
          <a:prstGeom prst="rect">
            <a:avLst/>
          </a:prstGeom>
        </p:spPr>
        <p:txBody>
          <a:bodyPr lIns="109717" tIns="54859" rIns="109717" bIns="54859"/>
          <a:lstStyle>
            <a:lvl1pPr marL="0" indent="0" algn="l">
              <a:buNone/>
              <a:defRPr sz="2583" b="0" i="0">
                <a:solidFill>
                  <a:schemeClr val="tx1"/>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1"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623393" y="1370484"/>
            <a:ext cx="7615365" cy="4722813"/>
          </a:xfrm>
          <a:prstGeom prst="rect">
            <a:avLst/>
          </a:prstGeom>
        </p:spPr>
        <p:txBody>
          <a:bodyPr lIns="109717" tIns="54859" rIns="109717" bIns="54859"/>
          <a:lstStyle>
            <a:lvl1pPr algn="l">
              <a:defRPr lang="en-US" altLang="ja-JP" sz="2417" dirty="0">
                <a:solidFill>
                  <a:schemeClr val="tx1"/>
                </a:solidFill>
                <a:latin typeface="Roboto Medium" pitchFamily="2" charset="0"/>
                <a:ea typeface="Roboto Medium" pitchFamily="2" charset="0"/>
                <a:cs typeface="Roboto Medium" pitchFamily="2" charset="0"/>
              </a:defRPr>
            </a:lvl1pPr>
            <a:lvl2pPr algn="l">
              <a:defRPr lang="en-US" altLang="ja-JP" sz="2167" dirty="0">
                <a:solidFill>
                  <a:schemeClr val="tx1"/>
                </a:solidFill>
                <a:latin typeface="Roboto Medium" pitchFamily="2" charset="0"/>
                <a:ea typeface="Roboto Medium" pitchFamily="2" charset="0"/>
                <a:cs typeface="Roboto Medium" pitchFamily="2" charset="0"/>
              </a:defRPr>
            </a:lvl2pPr>
            <a:lvl3pPr algn="l">
              <a:defRPr lang="en-US" altLang="ja-JP" dirty="0">
                <a:solidFill>
                  <a:schemeClr val="tx1"/>
                </a:solidFill>
                <a:latin typeface="Roboto Medium" pitchFamily="2" charset="0"/>
                <a:ea typeface="Roboto Medium" pitchFamily="2" charset="0"/>
                <a:cs typeface="Roboto Medium" pitchFamily="2" charset="0"/>
              </a:defRPr>
            </a:lvl3pPr>
            <a:lvl5pPr algn="l">
              <a:defRPr lang="en-US" dirty="0">
                <a:solidFill>
                  <a:schemeClr val="tx1"/>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458724" lvl="1" indent="-215870">
              <a:spcBef>
                <a:spcPts val="1000"/>
              </a:spcBef>
              <a:spcAft>
                <a:spcPts val="0"/>
              </a:spcAft>
              <a:tabLst/>
            </a:pPr>
            <a:r>
              <a:rPr lang="en-US" altLang="ja-JP" dirty="0"/>
              <a:t>Editable body copy</a:t>
            </a:r>
          </a:p>
          <a:p>
            <a:pPr marL="809512" lvl="2" indent="-215870">
              <a:spcBef>
                <a:spcPts val="1000"/>
              </a:spcBef>
              <a:spcAft>
                <a:spcPts val="0"/>
              </a:spcAft>
              <a:tabLst/>
            </a:pPr>
            <a:r>
              <a:rPr lang="en-US" altLang="ja-JP" dirty="0"/>
              <a:t>Editable body copy</a:t>
            </a:r>
          </a:p>
          <a:p>
            <a:pPr marL="1323790" lvl="4" indent="-230156">
              <a:spcBef>
                <a:spcPts val="1000"/>
              </a:spcBef>
              <a:spcAft>
                <a:spcPts val="0"/>
              </a:spcAft>
              <a:tabLst/>
            </a:pPr>
            <a:endParaRPr lang="en-US" dirty="0"/>
          </a:p>
        </p:txBody>
      </p:sp>
      <p:sp>
        <p:nvSpPr>
          <p:cNvPr id="13" name="Rectangle 12">
            <a:extLst>
              <a:ext uri="{FF2B5EF4-FFF2-40B4-BE49-F238E27FC236}">
                <a16:creationId xmlns:a16="http://schemas.microsoft.com/office/drawing/2014/main" id="{C89F4C13-B470-1D4C-A3C8-5C85B384C327}"/>
              </a:ext>
            </a:extLst>
          </p:cNvPr>
          <p:cNvSpPr/>
          <p:nvPr userDrawn="1"/>
        </p:nvSpPr>
        <p:spPr>
          <a:xfrm>
            <a:off x="515353" y="395786"/>
            <a:ext cx="85060" cy="84124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6" rIns="91431" bIns="45716" rtlCol="0" anchor="ctr"/>
          <a:lstStyle/>
          <a:p>
            <a:pPr algn="l"/>
            <a:endParaRPr lang="en-US" sz="1500" b="0" i="0" dirty="0">
              <a:latin typeface="Roboto Medium" pitchFamily="2" charset="0"/>
              <a:ea typeface="Roboto Medium" pitchFamily="2" charset="0"/>
            </a:endParaRPr>
          </a:p>
        </p:txBody>
      </p:sp>
      <p:pic>
        <p:nvPicPr>
          <p:cNvPr id="15" name="Picture 2" descr="C:\Users\Admin\Downloads\Logo-01.png"/>
          <p:cNvPicPr>
            <a:picLocks noChangeAspect="1" noChangeArrowheads="1"/>
          </p:cNvPicPr>
          <p:nvPr userDrawn="1"/>
        </p:nvPicPr>
        <p:blipFill>
          <a:blip r:embed="rId2" cstate="print"/>
          <a:srcRect r="72727"/>
          <a:stretch>
            <a:fillRect/>
          </a:stretch>
        </p:blipFill>
        <p:spPr bwMode="auto">
          <a:xfrm>
            <a:off x="381003" y="5377248"/>
            <a:ext cx="809625" cy="1480752"/>
          </a:xfrm>
          <a:prstGeom prst="rect">
            <a:avLst/>
          </a:prstGeom>
          <a:noFill/>
        </p:spPr>
      </p:pic>
    </p:spTree>
    <p:extLst>
      <p:ext uri="{BB962C8B-B14F-4D97-AF65-F5344CB8AC3E}">
        <p14:creationId xmlns:p14="http://schemas.microsoft.com/office/powerpoint/2010/main" val="38793664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ver Image">
    <p:spTree>
      <p:nvGrpSpPr>
        <p:cNvPr id="1" name=""/>
        <p:cNvGrpSpPr/>
        <p:nvPr/>
      </p:nvGrpSpPr>
      <p:grpSpPr>
        <a:xfrm>
          <a:off x="0" y="0"/>
          <a:ext cx="0" cy="0"/>
          <a:chOff x="0" y="0"/>
          <a:chExt cx="0" cy="0"/>
        </a:xfrm>
      </p:grpSpPr>
      <p:pic>
        <p:nvPicPr>
          <p:cNvPr id="14" name="Picture 2" descr="C:\Users\Admin\Downloads\ilovepdf_pages-to-jpg (2)\RU_PPT Template-Grey Blank_page-0001.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5"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058554" y="3124201"/>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16"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1046573" y="5129788"/>
            <a:ext cx="6755716" cy="407987"/>
          </a:xfrm>
          <a:prstGeom prst="rect">
            <a:avLst/>
          </a:prstGeom>
        </p:spPr>
        <p:txBody>
          <a:bodyPr anchor="ctr"/>
          <a:lstStyle>
            <a:lvl1pPr marL="0" marR="0" indent="0" algn="l" defTabSz="914363"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p>
        </p:txBody>
      </p:sp>
    </p:spTree>
    <p:extLst>
      <p:ext uri="{BB962C8B-B14F-4D97-AF65-F5344CB8AC3E}">
        <p14:creationId xmlns:p14="http://schemas.microsoft.com/office/powerpoint/2010/main" val="17465418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Title Only 0">
    <p:spTree>
      <p:nvGrpSpPr>
        <p:cNvPr id="1" name=""/>
        <p:cNvGrpSpPr/>
        <p:nvPr/>
      </p:nvGrpSpPr>
      <p:grpSpPr>
        <a:xfrm>
          <a:off x="0" y="0"/>
          <a:ext cx="0" cy="0"/>
          <a:chOff x="0" y="0"/>
          <a:chExt cx="0" cy="0"/>
        </a:xfrm>
      </p:grpSpPr>
      <p:sp>
        <p:nvSpPr>
          <p:cNvPr id="58" name="Title Text"/>
          <p:cNvSpPr txBox="1">
            <a:spLocks noGrp="1"/>
          </p:cNvSpPr>
          <p:nvPr>
            <p:ph type="title"/>
          </p:nvPr>
        </p:nvSpPr>
        <p:spPr>
          <a:xfrm>
            <a:off x="776307" y="786763"/>
            <a:ext cx="2364317" cy="452968"/>
          </a:xfrm>
          <a:prstGeom prst="rect">
            <a:avLst/>
          </a:prstGeom>
        </p:spPr>
        <p:txBody>
          <a:bodyPr>
            <a:normAutofit/>
          </a:bodyPr>
          <a:lstStyle/>
          <a:p>
            <a:r>
              <a:t>Title Text</a:t>
            </a:r>
          </a:p>
        </p:txBody>
      </p:sp>
      <p:sp>
        <p:nvSpPr>
          <p:cNvPr id="5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67827222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1F56EE-BA8C-49DD-9007-330E7C7B6D5D}" type="slidenum">
              <a:rPr lang="en-IN" smtClean="0"/>
              <a:t>‹#›</a:t>
            </a:fld>
            <a:endParaRPr lang="en-IN"/>
          </a:p>
        </p:txBody>
      </p:sp>
    </p:spTree>
    <p:extLst>
      <p:ext uri="{BB962C8B-B14F-4D97-AF65-F5344CB8AC3E}">
        <p14:creationId xmlns:p14="http://schemas.microsoft.com/office/powerpoint/2010/main" val="31403340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s://www.python.org/download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1.tmp"/></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8" Type="http://schemas.openxmlformats.org/officeDocument/2006/relationships/hyperlink" Target="https://www.w3schools.com/python/ref_keyword_def.asp" TargetMode="External"/><Relationship Id="rId3" Type="http://schemas.openxmlformats.org/officeDocument/2006/relationships/hyperlink" Target="https://www.w3schools.com/python/ref_keyword_as.asp" TargetMode="External"/><Relationship Id="rId7" Type="http://schemas.openxmlformats.org/officeDocument/2006/relationships/hyperlink" Target="https://www.w3schools.com/python/ref_keyword_continue.asp" TargetMode="External"/><Relationship Id="rId2" Type="http://schemas.openxmlformats.org/officeDocument/2006/relationships/hyperlink" Target="https://www.w3schools.com/python/ref_keyword_and.asp" TargetMode="External"/><Relationship Id="rId1" Type="http://schemas.openxmlformats.org/officeDocument/2006/relationships/slideLayout" Target="../slideLayouts/slideLayout2.xml"/><Relationship Id="rId6" Type="http://schemas.openxmlformats.org/officeDocument/2006/relationships/hyperlink" Target="https://www.w3schools.com/python/ref_keyword_class.asp" TargetMode="External"/><Relationship Id="rId5" Type="http://schemas.openxmlformats.org/officeDocument/2006/relationships/hyperlink" Target="https://www.w3schools.com/python/ref_keyword_break.asp" TargetMode="External"/><Relationship Id="rId10" Type="http://schemas.openxmlformats.org/officeDocument/2006/relationships/hyperlink" Target="https://www.w3schools.com/python/ref_keyword_elif.asp" TargetMode="External"/><Relationship Id="rId4" Type="http://schemas.openxmlformats.org/officeDocument/2006/relationships/hyperlink" Target="https://www.w3schools.com/python/ref_keyword_assert.asp" TargetMode="External"/><Relationship Id="rId9" Type="http://schemas.openxmlformats.org/officeDocument/2006/relationships/hyperlink" Target="https://www.w3schools.com/python/ref_keyword_del.asp" TargetMode="External"/></Relationships>
</file>

<file path=ppt/slides/_rels/slide30.xml.rels><?xml version="1.0" encoding="UTF-8" standalone="yes"?>
<Relationships xmlns="http://schemas.openxmlformats.org/package/2006/relationships"><Relationship Id="rId8" Type="http://schemas.openxmlformats.org/officeDocument/2006/relationships/hyperlink" Target="https://www.w3schools.com/python/ref_keyword_global.asp" TargetMode="External"/><Relationship Id="rId3" Type="http://schemas.openxmlformats.org/officeDocument/2006/relationships/hyperlink" Target="https://www.w3schools.com/python/ref_keyword_except.asp" TargetMode="External"/><Relationship Id="rId7" Type="http://schemas.openxmlformats.org/officeDocument/2006/relationships/hyperlink" Target="https://www.w3schools.com/python/ref_keyword_from.asp" TargetMode="External"/><Relationship Id="rId2" Type="http://schemas.openxmlformats.org/officeDocument/2006/relationships/hyperlink" Target="https://www.w3schools.com/python/ref_keyword_else.asp" TargetMode="External"/><Relationship Id="rId1" Type="http://schemas.openxmlformats.org/officeDocument/2006/relationships/slideLayout" Target="../slideLayouts/slideLayout2.xml"/><Relationship Id="rId6" Type="http://schemas.openxmlformats.org/officeDocument/2006/relationships/hyperlink" Target="https://www.w3schools.com/python/ref_keyword_for.asp" TargetMode="External"/><Relationship Id="rId5" Type="http://schemas.openxmlformats.org/officeDocument/2006/relationships/hyperlink" Target="https://www.w3schools.com/python/ref_keyword_finally.asp" TargetMode="External"/><Relationship Id="rId4" Type="http://schemas.openxmlformats.org/officeDocument/2006/relationships/hyperlink" Target="https://www.w3schools.com/python/ref_keyword_false.asp" TargetMode="External"/><Relationship Id="rId9" Type="http://schemas.openxmlformats.org/officeDocument/2006/relationships/hyperlink" Target="https://www.w3schools.com/python/ref_keyword_if.asp" TargetMode="External"/></Relationships>
</file>

<file path=ppt/slides/_rels/slide31.xml.rels><?xml version="1.0" encoding="UTF-8" standalone="yes"?>
<Relationships xmlns="http://schemas.openxmlformats.org/package/2006/relationships"><Relationship Id="rId8" Type="http://schemas.openxmlformats.org/officeDocument/2006/relationships/hyperlink" Target="https://www.w3schools.com/python/ref_keyword_return.asp" TargetMode="External"/><Relationship Id="rId3" Type="http://schemas.openxmlformats.org/officeDocument/2006/relationships/hyperlink" Target="https://www.w3schools.com/python/ref_keyword_none.asp" TargetMode="External"/><Relationship Id="rId7" Type="http://schemas.openxmlformats.org/officeDocument/2006/relationships/hyperlink" Target="https://www.w3schools.com/python/ref_keyword_raise.asp" TargetMode="External"/><Relationship Id="rId2" Type="http://schemas.openxmlformats.org/officeDocument/2006/relationships/hyperlink" Target="https://www.w3schools.com/python/ref_keyword_lambda.asp" TargetMode="External"/><Relationship Id="rId1" Type="http://schemas.openxmlformats.org/officeDocument/2006/relationships/slideLayout" Target="../slideLayouts/slideLayout2.xml"/><Relationship Id="rId6" Type="http://schemas.openxmlformats.org/officeDocument/2006/relationships/hyperlink" Target="https://www.w3schools.com/python/ref_keyword_pass.asp" TargetMode="External"/><Relationship Id="rId11" Type="http://schemas.openxmlformats.org/officeDocument/2006/relationships/hyperlink" Target="https://www.w3schools.com/python/ref_keyword_while.asp" TargetMode="External"/><Relationship Id="rId5" Type="http://schemas.openxmlformats.org/officeDocument/2006/relationships/hyperlink" Target="https://www.w3schools.com/python/ref_keyword_or.asp" TargetMode="External"/><Relationship Id="rId10" Type="http://schemas.openxmlformats.org/officeDocument/2006/relationships/hyperlink" Target="https://www.w3schools.com/python/ref_keyword_try.asp" TargetMode="External"/><Relationship Id="rId4" Type="http://schemas.openxmlformats.org/officeDocument/2006/relationships/hyperlink" Target="https://www.w3schools.com/python/ref_keyword_not.asp" TargetMode="External"/><Relationship Id="rId9" Type="http://schemas.openxmlformats.org/officeDocument/2006/relationships/hyperlink" Target="https://www.w3schools.com/python/ref_keyword_true.asp"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s://www.w3schools.com/python/python_ref_keywords.asp" TargetMode="Externa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commons.wikimedia.org/wiki/File:Python_3._The_standard_type_hierarchy.png" TargetMode="Externa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664F7C6E-9292-020B-D98B-4DA88C69705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26246"/>
          <a:stretch/>
        </p:blipFill>
        <p:spPr>
          <a:xfrm>
            <a:off x="3564819" y="1286905"/>
            <a:ext cx="4398540" cy="1253096"/>
          </a:xfrm>
          <a:prstGeom prst="rect">
            <a:avLst/>
          </a:prstGeom>
        </p:spPr>
      </p:pic>
      <p:sp>
        <p:nvSpPr>
          <p:cNvPr id="2" name="TextBox 1"/>
          <p:cNvSpPr txBox="1"/>
          <p:nvPr/>
        </p:nvSpPr>
        <p:spPr>
          <a:xfrm>
            <a:off x="1094703" y="2926366"/>
            <a:ext cx="9878097" cy="2677656"/>
          </a:xfrm>
          <a:prstGeom prst="rect">
            <a:avLst/>
          </a:prstGeom>
          <a:noFill/>
        </p:spPr>
        <p:txBody>
          <a:bodyPr wrap="square" rtlCol="0">
            <a:spAutoFit/>
          </a:bodyPr>
          <a:lstStyle/>
          <a:p>
            <a:pPr algn="ctr"/>
            <a:r>
              <a:rPr lang="en-US" sz="2400" b="1" dirty="0"/>
              <a:t>Course Code :</a:t>
            </a:r>
            <a:r>
              <a:rPr lang="en-US" sz="2400" dirty="0"/>
              <a:t> M23DE0106</a:t>
            </a:r>
            <a:br>
              <a:rPr lang="en-US" sz="2400" dirty="0"/>
            </a:br>
            <a:r>
              <a:rPr lang="en-US" sz="2400" b="1" dirty="0"/>
              <a:t>Course Title: </a:t>
            </a:r>
            <a:r>
              <a:rPr lang="en-US" sz="2400" dirty="0"/>
              <a:t>Python Programming</a:t>
            </a:r>
            <a:br>
              <a:rPr lang="en-US" sz="2400" dirty="0"/>
            </a:br>
            <a:r>
              <a:rPr lang="en-US" sz="2400" b="1" dirty="0"/>
              <a:t>Academic Year &amp; Semester</a:t>
            </a:r>
            <a:r>
              <a:rPr lang="en-US" sz="2400" b="1"/>
              <a:t>:</a:t>
            </a:r>
            <a:r>
              <a:rPr lang="en-US" sz="2400"/>
              <a:t>2024-2025(</a:t>
            </a:r>
            <a:r>
              <a:rPr lang="en-US" sz="2400" dirty="0"/>
              <a:t>Odd Semester)​</a:t>
            </a:r>
            <a:br>
              <a:rPr lang="en-US" sz="2400" dirty="0"/>
            </a:br>
            <a:r>
              <a:rPr lang="en-US" sz="2400" b="1" dirty="0"/>
              <a:t>Class:</a:t>
            </a:r>
            <a:r>
              <a:rPr lang="en-US" sz="2400" dirty="0"/>
              <a:t> I </a:t>
            </a:r>
            <a:r>
              <a:rPr lang="en-US" sz="2400"/>
              <a:t>MCA -A</a:t>
            </a:r>
            <a:br>
              <a:rPr lang="en-US" sz="2400" dirty="0"/>
            </a:br>
            <a:r>
              <a:rPr lang="en-US" sz="2400" b="1" dirty="0"/>
              <a:t>Name of the Faculty:</a:t>
            </a:r>
            <a:r>
              <a:rPr lang="en-US" sz="2400" dirty="0"/>
              <a:t> Md Abdul </a:t>
            </a:r>
            <a:r>
              <a:rPr lang="en-US" sz="2400"/>
              <a:t>Kader Jailani</a:t>
            </a:r>
            <a:br>
              <a:rPr lang="en-US" sz="2400" dirty="0"/>
            </a:br>
            <a:r>
              <a:rPr lang="en-US" sz="2400" dirty="0"/>
              <a:t>School of Computer Science &amp; Applications</a:t>
            </a:r>
          </a:p>
          <a:p>
            <a:pPr algn="ctr"/>
            <a:r>
              <a:rPr lang="en-US" sz="2400" b="1" dirty="0">
                <a:solidFill>
                  <a:prstClr val="black"/>
                </a:solidFill>
              </a:rPr>
              <a:t>Unit-1</a:t>
            </a:r>
            <a:endParaRPr lang="en-US" sz="2400" dirty="0"/>
          </a:p>
        </p:txBody>
      </p:sp>
    </p:spTree>
    <p:extLst>
      <p:ext uri="{BB962C8B-B14F-4D97-AF65-F5344CB8AC3E}">
        <p14:creationId xmlns:p14="http://schemas.microsoft.com/office/powerpoint/2010/main" val="2531026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95400" y="395786"/>
            <a:ext cx="6211927" cy="838202"/>
          </a:xfrm>
        </p:spPr>
        <p:txBody>
          <a:bodyPr/>
          <a:lstStyle/>
          <a:p>
            <a:r>
              <a:rPr lang="en-US" b="1" dirty="0">
                <a:solidFill>
                  <a:prstClr val="black"/>
                </a:solidFill>
              </a:rPr>
              <a:t>outline</a:t>
            </a:r>
            <a:endParaRPr lang="en-US" dirty="0"/>
          </a:p>
        </p:txBody>
      </p:sp>
      <p:graphicFrame>
        <p:nvGraphicFramePr>
          <p:cNvPr id="5" name="Content Placeholder 7"/>
          <p:cNvGraphicFramePr>
            <a:graphicFrameLocks noGrp="1"/>
          </p:cNvGraphicFramePr>
          <p:nvPr>
            <p:ph idx="4294967295"/>
          </p:nvPr>
        </p:nvGraphicFramePr>
        <p:xfrm>
          <a:off x="1298500" y="1059628"/>
          <a:ext cx="10512499" cy="54173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56939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35582"/>
            <a:ext cx="10515600" cy="562154"/>
          </a:xfrm>
        </p:spPr>
        <p:txBody>
          <a:bodyPr>
            <a:normAutofit fontScale="90000"/>
          </a:bodyPr>
          <a:lstStyle/>
          <a:p>
            <a:r>
              <a:rPr lang="en-US" b="1" dirty="0"/>
              <a:t>COURSE OBJECTIVES</a:t>
            </a:r>
            <a:br>
              <a:rPr lang="en-US" dirty="0"/>
            </a:br>
            <a:endParaRPr lang="en-US" dirty="0"/>
          </a:p>
        </p:txBody>
      </p:sp>
      <p:graphicFrame>
        <p:nvGraphicFramePr>
          <p:cNvPr id="6" name="Diagram 5"/>
          <p:cNvGraphicFramePr/>
          <p:nvPr>
            <p:extLst>
              <p:ext uri="{D42A27DB-BD31-4B8C-83A1-F6EECF244321}">
                <p14:modId xmlns:p14="http://schemas.microsoft.com/office/powerpoint/2010/main" val="2218950194"/>
              </p:ext>
            </p:extLst>
          </p:nvPr>
        </p:nvGraphicFramePr>
        <p:xfrm>
          <a:off x="838200" y="1317938"/>
          <a:ext cx="10922000" cy="41698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31159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35582"/>
            <a:ext cx="10515600" cy="562154"/>
          </a:xfrm>
        </p:spPr>
        <p:txBody>
          <a:bodyPr>
            <a:normAutofit fontScale="90000"/>
          </a:bodyPr>
          <a:lstStyle/>
          <a:p>
            <a:r>
              <a:rPr lang="en-US" b="1" dirty="0"/>
              <a:t>COURSE OBJECTIVES</a:t>
            </a:r>
            <a:br>
              <a:rPr lang="en-US" dirty="0"/>
            </a:br>
            <a:endParaRPr lang="en-US" dirty="0"/>
          </a:p>
        </p:txBody>
      </p:sp>
      <p:graphicFrame>
        <p:nvGraphicFramePr>
          <p:cNvPr id="4" name="Content Placeholder 3"/>
          <p:cNvGraphicFramePr>
            <a:graphicFrameLocks noGrp="1"/>
          </p:cNvGraphicFramePr>
          <p:nvPr>
            <p:ph idx="1"/>
          </p:nvPr>
        </p:nvGraphicFramePr>
        <p:xfrm>
          <a:off x="838200" y="1442434"/>
          <a:ext cx="10515600" cy="3193960"/>
        </p:xfrm>
        <a:graphic>
          <a:graphicData uri="http://schemas.openxmlformats.org/drawingml/2006/table">
            <a:tbl>
              <a:tblPr firstRow="1" firstCol="1" lastRow="1" lastCol="1" bandRow="1" bandCol="1">
                <a:tableStyleId>{5C22544A-7EE6-4342-B048-85BDC9FD1C3A}</a:tableStyleId>
              </a:tblPr>
              <a:tblGrid>
                <a:gridCol w="10515600">
                  <a:extLst>
                    <a:ext uri="{9D8B030D-6E8A-4147-A177-3AD203B41FA5}">
                      <a16:colId xmlns:a16="http://schemas.microsoft.com/office/drawing/2014/main" val="20000"/>
                    </a:ext>
                  </a:extLst>
                </a:gridCol>
              </a:tblGrid>
              <a:tr h="1006528">
                <a:tc>
                  <a:txBody>
                    <a:bodyPr/>
                    <a:lstStyle/>
                    <a:p>
                      <a:pPr marL="67945" marR="56515">
                        <a:lnSpc>
                          <a:spcPts val="1380"/>
                        </a:lnSpc>
                        <a:spcBef>
                          <a:spcPts val="0"/>
                        </a:spcBef>
                        <a:spcAft>
                          <a:spcPts val="0"/>
                        </a:spcAft>
                      </a:pPr>
                      <a:endParaRPr lang="en-US" sz="2000" b="1" kern="1200" dirty="0">
                        <a:solidFill>
                          <a:schemeClr val="tx1"/>
                        </a:solidFill>
                        <a:effectLst/>
                        <a:latin typeface="+mn-lt"/>
                        <a:ea typeface="+mn-ea"/>
                        <a:cs typeface="+mn-cs"/>
                      </a:endParaRPr>
                    </a:p>
                    <a:p>
                      <a:pPr marL="67945" marR="56515">
                        <a:lnSpc>
                          <a:spcPts val="1380"/>
                        </a:lnSpc>
                        <a:spcBef>
                          <a:spcPts val="0"/>
                        </a:spcBef>
                        <a:spcAft>
                          <a:spcPts val="0"/>
                        </a:spcAft>
                      </a:pPr>
                      <a:r>
                        <a:rPr lang="en-US" sz="2000" b="1" kern="1200" dirty="0">
                          <a:solidFill>
                            <a:schemeClr val="tx1"/>
                          </a:solidFill>
                          <a:effectLst/>
                          <a:latin typeface="+mn-lt"/>
                          <a:ea typeface="+mn-ea"/>
                          <a:cs typeface="+mn-cs"/>
                        </a:rPr>
                        <a:t>1. To learn Syntax and Semantics of Python language and understand and apply the various data structures in solving computational problems</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37414">
                <a:tc>
                  <a:txBody>
                    <a:bodyPr/>
                    <a:lstStyle/>
                    <a:p>
                      <a:pPr marL="67945" marR="0">
                        <a:lnSpc>
                          <a:spcPts val="1375"/>
                        </a:lnSpc>
                        <a:spcBef>
                          <a:spcPts val="0"/>
                        </a:spcBef>
                        <a:spcAft>
                          <a:spcPts val="0"/>
                        </a:spcAft>
                      </a:pPr>
                      <a:endParaRPr lang="en-US" sz="2000" b="1" kern="1200" dirty="0">
                        <a:solidFill>
                          <a:schemeClr val="tx1"/>
                        </a:solidFill>
                        <a:effectLst/>
                        <a:latin typeface="+mn-lt"/>
                        <a:ea typeface="+mn-ea"/>
                        <a:cs typeface="+mn-cs"/>
                      </a:endParaRPr>
                    </a:p>
                    <a:p>
                      <a:pPr marL="67945" marR="0">
                        <a:lnSpc>
                          <a:spcPts val="1375"/>
                        </a:lnSpc>
                        <a:spcBef>
                          <a:spcPts val="0"/>
                        </a:spcBef>
                        <a:spcAft>
                          <a:spcPts val="0"/>
                        </a:spcAft>
                      </a:pPr>
                      <a:r>
                        <a:rPr lang="en-US" sz="2000" b="1" kern="1200" dirty="0">
                          <a:solidFill>
                            <a:schemeClr val="tx1"/>
                          </a:solidFill>
                          <a:effectLst/>
                          <a:latin typeface="+mn-lt"/>
                          <a:ea typeface="+mn-ea"/>
                          <a:cs typeface="+mn-cs"/>
                        </a:rPr>
                        <a:t>2. To understand usage of </a:t>
                      </a:r>
                      <a:r>
                        <a:rPr lang="en-US" sz="2000" b="1" kern="1200" dirty="0" err="1">
                          <a:solidFill>
                            <a:schemeClr val="tx1"/>
                          </a:solidFill>
                          <a:effectLst/>
                          <a:latin typeface="+mn-lt"/>
                          <a:ea typeface="+mn-ea"/>
                          <a:cs typeface="+mn-cs"/>
                        </a:rPr>
                        <a:t>NumPy</a:t>
                      </a:r>
                      <a:r>
                        <a:rPr lang="en-US" sz="2000" b="1" kern="1200" dirty="0">
                          <a:solidFill>
                            <a:schemeClr val="tx1"/>
                          </a:solidFill>
                          <a:effectLst/>
                          <a:latin typeface="+mn-lt"/>
                          <a:ea typeface="+mn-ea"/>
                          <a:cs typeface="+mn-cs"/>
                        </a:rPr>
                        <a:t> and Pandas libraries</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37414">
                <a:tc>
                  <a:txBody>
                    <a:bodyPr/>
                    <a:lstStyle/>
                    <a:p>
                      <a:pPr marL="67945" marR="0">
                        <a:lnSpc>
                          <a:spcPts val="1375"/>
                        </a:lnSpc>
                        <a:spcBef>
                          <a:spcPts val="0"/>
                        </a:spcBef>
                        <a:spcAft>
                          <a:spcPts val="0"/>
                        </a:spcAft>
                      </a:pPr>
                      <a:endParaRPr lang="en-US" sz="2000" b="1" kern="1200" dirty="0">
                        <a:solidFill>
                          <a:schemeClr val="tx1"/>
                        </a:solidFill>
                        <a:effectLst/>
                        <a:latin typeface="+mn-lt"/>
                        <a:ea typeface="+mn-ea"/>
                        <a:cs typeface="+mn-cs"/>
                      </a:endParaRPr>
                    </a:p>
                    <a:p>
                      <a:pPr marL="67945" marR="0">
                        <a:lnSpc>
                          <a:spcPts val="1375"/>
                        </a:lnSpc>
                        <a:spcBef>
                          <a:spcPts val="0"/>
                        </a:spcBef>
                        <a:spcAft>
                          <a:spcPts val="0"/>
                        </a:spcAft>
                      </a:pPr>
                      <a:r>
                        <a:rPr lang="en-US" sz="2000" b="1" kern="1200" dirty="0">
                          <a:solidFill>
                            <a:schemeClr val="tx1"/>
                          </a:solidFill>
                          <a:effectLst/>
                          <a:latin typeface="+mn-lt"/>
                          <a:ea typeface="+mn-ea"/>
                          <a:cs typeface="+mn-cs"/>
                        </a:rPr>
                        <a:t>3. To learn handling files, functions and exceptions</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112604">
                <a:tc>
                  <a:txBody>
                    <a:bodyPr/>
                    <a:lstStyle/>
                    <a:p>
                      <a:pPr marL="67945" marR="0">
                        <a:lnSpc>
                          <a:spcPct val="107000"/>
                        </a:lnSpc>
                        <a:spcBef>
                          <a:spcPts val="15"/>
                        </a:spcBef>
                        <a:spcAft>
                          <a:spcPts val="0"/>
                        </a:spcAft>
                      </a:pPr>
                      <a:r>
                        <a:rPr lang="en-US" sz="2000" b="1" kern="1200" dirty="0">
                          <a:solidFill>
                            <a:schemeClr val="tx1"/>
                          </a:solidFill>
                          <a:effectLst/>
                          <a:latin typeface="+mn-lt"/>
                          <a:ea typeface="+mn-ea"/>
                          <a:cs typeface="+mn-cs"/>
                        </a:rPr>
                        <a:t>4. To understand OOPs concepts in python and be able to draw various kinds of data</a:t>
                      </a:r>
                    </a:p>
                    <a:p>
                      <a:pPr marL="67945" marR="0">
                        <a:lnSpc>
                          <a:spcPct val="107000"/>
                        </a:lnSpc>
                        <a:spcBef>
                          <a:spcPts val="185"/>
                        </a:spcBef>
                        <a:spcAft>
                          <a:spcPts val="0"/>
                        </a:spcAft>
                      </a:pPr>
                      <a:r>
                        <a:rPr lang="en-US" sz="2000" b="1" kern="1200" dirty="0">
                          <a:solidFill>
                            <a:schemeClr val="tx1"/>
                          </a:solidFill>
                          <a:effectLst/>
                          <a:latin typeface="+mn-lt"/>
                          <a:ea typeface="+mn-ea"/>
                          <a:cs typeface="+mn-cs"/>
                        </a:rPr>
                        <a:t>visualization techniques using </a:t>
                      </a:r>
                      <a:r>
                        <a:rPr lang="en-US" sz="2000" b="1" kern="1200" dirty="0" err="1">
                          <a:solidFill>
                            <a:schemeClr val="tx1"/>
                          </a:solidFill>
                          <a:effectLst/>
                          <a:latin typeface="+mn-lt"/>
                          <a:ea typeface="+mn-ea"/>
                          <a:cs typeface="+mn-cs"/>
                        </a:rPr>
                        <a:t>PyLab</a:t>
                      </a:r>
                      <a:r>
                        <a:rPr lang="en-US" sz="2000" b="1" kern="1200" dirty="0">
                          <a:solidFill>
                            <a:schemeClr val="tx1"/>
                          </a:solidFill>
                          <a:effectLst/>
                          <a:latin typeface="+mn-lt"/>
                          <a:ea typeface="+mn-ea"/>
                          <a:cs typeface="+mn-cs"/>
                        </a:rPr>
                        <a:t>, </a:t>
                      </a:r>
                      <a:r>
                        <a:rPr lang="en-US" sz="2000" b="1" kern="1200" dirty="0" err="1">
                          <a:solidFill>
                            <a:schemeClr val="tx1"/>
                          </a:solidFill>
                          <a:effectLst/>
                          <a:latin typeface="+mn-lt"/>
                          <a:ea typeface="+mn-ea"/>
                          <a:cs typeface="+mn-cs"/>
                        </a:rPr>
                        <a:t>matplotlib</a:t>
                      </a:r>
                      <a:r>
                        <a:rPr lang="en-US" sz="2000" b="1" kern="1200" dirty="0">
                          <a:solidFill>
                            <a:schemeClr val="tx1"/>
                          </a:solidFill>
                          <a:effectLst/>
                          <a:latin typeface="+mn-lt"/>
                          <a:ea typeface="+mn-ea"/>
                          <a:cs typeface="+mn-cs"/>
                        </a:rPr>
                        <a:t> and Pandas</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219883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4" name="Title 3">
            <a:extLst>
              <a:ext uri="{FF2B5EF4-FFF2-40B4-BE49-F238E27FC236}">
                <a16:creationId xmlns:a16="http://schemas.microsoft.com/office/drawing/2014/main" id="{6AF1A31C-305B-8B99-2614-E443CD2AFB3B}"/>
              </a:ext>
            </a:extLst>
          </p:cNvPr>
          <p:cNvSpPr>
            <a:spLocks noGrp="1"/>
          </p:cNvSpPr>
          <p:nvPr>
            <p:ph type="title"/>
          </p:nvPr>
        </p:nvSpPr>
        <p:spPr/>
        <p:txBody>
          <a:bodyPr/>
          <a:lstStyle/>
          <a:p>
            <a:r>
              <a:rPr lang="en-US" dirty="0"/>
              <a:t>Syllabus</a:t>
            </a: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186538144"/>
              </p:ext>
            </p:extLst>
          </p:nvPr>
        </p:nvGraphicFramePr>
        <p:xfrm>
          <a:off x="618186" y="1558343"/>
          <a:ext cx="10483403" cy="4088658"/>
        </p:xfrm>
        <a:graphic>
          <a:graphicData uri="http://schemas.openxmlformats.org/drawingml/2006/table">
            <a:tbl>
              <a:tblPr firstRow="1" firstCol="1" lastRow="1" lastCol="1" bandRow="1" bandCol="1">
                <a:tableStyleId>{5C22544A-7EE6-4342-B048-85BDC9FD1C3A}</a:tableStyleId>
              </a:tblPr>
              <a:tblGrid>
                <a:gridCol w="10483403">
                  <a:extLst>
                    <a:ext uri="{9D8B030D-6E8A-4147-A177-3AD203B41FA5}">
                      <a16:colId xmlns:a16="http://schemas.microsoft.com/office/drawing/2014/main" val="20000"/>
                    </a:ext>
                  </a:extLst>
                </a:gridCol>
              </a:tblGrid>
              <a:tr h="333780">
                <a:tc>
                  <a:txBody>
                    <a:bodyPr/>
                    <a:lstStyle/>
                    <a:p>
                      <a:pPr marL="1891665" marR="1885950" algn="ctr">
                        <a:lnSpc>
                          <a:spcPct val="107000"/>
                        </a:lnSpc>
                        <a:spcBef>
                          <a:spcPts val="5"/>
                        </a:spcBef>
                        <a:spcAft>
                          <a:spcPts val="0"/>
                        </a:spcAft>
                      </a:pPr>
                      <a:r>
                        <a:rPr lang="en-US" sz="2400" dirty="0">
                          <a:solidFill>
                            <a:schemeClr val="bg1"/>
                          </a:solidFill>
                          <a:effectLst/>
                        </a:rPr>
                        <a:t>Unit -I</a:t>
                      </a:r>
                      <a:endPar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61215">
                <a:tc>
                  <a:txBody>
                    <a:bodyPr/>
                    <a:lstStyle/>
                    <a:p>
                      <a:pPr marL="67945" marR="0" algn="ctr">
                        <a:lnSpc>
                          <a:spcPts val="1375"/>
                        </a:lnSpc>
                        <a:spcBef>
                          <a:spcPts val="0"/>
                        </a:spcBef>
                        <a:spcAft>
                          <a:spcPts val="0"/>
                        </a:spcAft>
                      </a:pPr>
                      <a:endParaRPr lang="en-US" sz="2400" dirty="0">
                        <a:solidFill>
                          <a:schemeClr val="tx1"/>
                        </a:solidFill>
                        <a:effectLst/>
                      </a:endParaRPr>
                    </a:p>
                    <a:p>
                      <a:pPr marL="67945" marR="0" algn="ctr">
                        <a:lnSpc>
                          <a:spcPts val="1375"/>
                        </a:lnSpc>
                        <a:spcBef>
                          <a:spcPts val="0"/>
                        </a:spcBef>
                        <a:spcAft>
                          <a:spcPts val="0"/>
                        </a:spcAft>
                      </a:pPr>
                      <a:r>
                        <a:rPr lang="en-US" sz="2400" dirty="0">
                          <a:solidFill>
                            <a:schemeClr val="bg1"/>
                          </a:solidFill>
                          <a:effectLst/>
                        </a:rPr>
                        <a:t>             INTRODUCTION</a:t>
                      </a:r>
                      <a:r>
                        <a:rPr lang="en-US" sz="2400" spc="-5" dirty="0">
                          <a:solidFill>
                            <a:schemeClr val="bg1"/>
                          </a:solidFill>
                          <a:effectLst/>
                        </a:rPr>
                        <a:t> </a:t>
                      </a:r>
                      <a:r>
                        <a:rPr lang="en-US" sz="2400" dirty="0">
                          <a:solidFill>
                            <a:schemeClr val="bg1"/>
                          </a:solidFill>
                          <a:effectLst/>
                        </a:rPr>
                        <a:t>TO PYTHON</a:t>
                      </a:r>
                      <a:endParaRPr lang="en-US" sz="20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997912">
                <a:tc>
                  <a:txBody>
                    <a:bodyPr/>
                    <a:lstStyle/>
                    <a:p>
                      <a:pPr marL="67945" marR="0">
                        <a:lnSpc>
                          <a:spcPct val="115000"/>
                        </a:lnSpc>
                        <a:spcBef>
                          <a:spcPts val="15"/>
                        </a:spcBef>
                        <a:spcAft>
                          <a:spcPts val="0"/>
                        </a:spcAft>
                      </a:pPr>
                      <a:r>
                        <a:rPr lang="en-US" sz="2000" dirty="0">
                          <a:solidFill>
                            <a:schemeClr val="tx1"/>
                          </a:solidFill>
                          <a:effectLst/>
                        </a:rPr>
                        <a:t>Introduction</a:t>
                      </a:r>
                      <a:r>
                        <a:rPr lang="en-US" sz="2000" spc="175" dirty="0">
                          <a:solidFill>
                            <a:schemeClr val="tx1"/>
                          </a:solidFill>
                          <a:effectLst/>
                        </a:rPr>
                        <a:t> </a:t>
                      </a:r>
                      <a:r>
                        <a:rPr lang="en-US" sz="2000" dirty="0">
                          <a:solidFill>
                            <a:schemeClr val="tx1"/>
                          </a:solidFill>
                          <a:effectLst/>
                        </a:rPr>
                        <a:t>to</a:t>
                      </a:r>
                      <a:r>
                        <a:rPr lang="en-US" sz="2000" spc="195" dirty="0">
                          <a:solidFill>
                            <a:schemeClr val="tx1"/>
                          </a:solidFill>
                          <a:effectLst/>
                        </a:rPr>
                        <a:t> </a:t>
                      </a:r>
                      <a:r>
                        <a:rPr lang="en-US" sz="2000" dirty="0">
                          <a:solidFill>
                            <a:schemeClr val="tx1"/>
                          </a:solidFill>
                          <a:effectLst/>
                        </a:rPr>
                        <a:t>Python,</a:t>
                      </a:r>
                      <a:r>
                        <a:rPr lang="en-US" sz="2000" spc="185" dirty="0">
                          <a:solidFill>
                            <a:schemeClr val="tx1"/>
                          </a:solidFill>
                          <a:effectLst/>
                        </a:rPr>
                        <a:t> </a:t>
                      </a:r>
                      <a:r>
                        <a:rPr lang="en-US" sz="2000" dirty="0">
                          <a:solidFill>
                            <a:schemeClr val="tx1"/>
                          </a:solidFill>
                          <a:effectLst/>
                        </a:rPr>
                        <a:t>Python</a:t>
                      </a:r>
                      <a:r>
                        <a:rPr lang="en-US" sz="2000" spc="200" dirty="0">
                          <a:solidFill>
                            <a:schemeClr val="tx1"/>
                          </a:solidFill>
                          <a:effectLst/>
                        </a:rPr>
                        <a:t> </a:t>
                      </a:r>
                      <a:r>
                        <a:rPr lang="en-US" sz="2000" dirty="0">
                          <a:solidFill>
                            <a:schemeClr val="tx1"/>
                          </a:solidFill>
                          <a:effectLst/>
                        </a:rPr>
                        <a:t>History,</a:t>
                      </a:r>
                      <a:r>
                        <a:rPr lang="en-US" sz="2000" spc="175" dirty="0">
                          <a:solidFill>
                            <a:schemeClr val="tx1"/>
                          </a:solidFill>
                          <a:effectLst/>
                        </a:rPr>
                        <a:t> </a:t>
                      </a:r>
                      <a:r>
                        <a:rPr lang="en-US" sz="2000" dirty="0">
                          <a:solidFill>
                            <a:schemeClr val="tx1"/>
                          </a:solidFill>
                          <a:effectLst/>
                        </a:rPr>
                        <a:t>Introduction</a:t>
                      </a:r>
                      <a:r>
                        <a:rPr lang="en-US" sz="2000" spc="180" dirty="0">
                          <a:solidFill>
                            <a:schemeClr val="tx1"/>
                          </a:solidFill>
                          <a:effectLst/>
                        </a:rPr>
                        <a:t> </a:t>
                      </a:r>
                      <a:r>
                        <a:rPr lang="en-US" sz="2000" dirty="0">
                          <a:solidFill>
                            <a:schemeClr val="tx1"/>
                          </a:solidFill>
                          <a:effectLst/>
                        </a:rPr>
                        <a:t>to</a:t>
                      </a:r>
                      <a:r>
                        <a:rPr lang="en-US" sz="2000" spc="200" dirty="0">
                          <a:solidFill>
                            <a:schemeClr val="tx1"/>
                          </a:solidFill>
                          <a:effectLst/>
                        </a:rPr>
                        <a:t> </a:t>
                      </a:r>
                      <a:r>
                        <a:rPr lang="en-US" sz="2000" dirty="0">
                          <a:solidFill>
                            <a:schemeClr val="tx1"/>
                          </a:solidFill>
                          <a:effectLst/>
                        </a:rPr>
                        <a:t>Object-oriented</a:t>
                      </a:r>
                      <a:r>
                        <a:rPr lang="en-US" sz="2000" spc="-260" dirty="0">
                          <a:solidFill>
                            <a:schemeClr val="tx1"/>
                          </a:solidFill>
                          <a:effectLst/>
                        </a:rPr>
                        <a:t> </a:t>
                      </a:r>
                      <a:r>
                        <a:rPr lang="en-US" sz="2000" dirty="0">
                          <a:solidFill>
                            <a:schemeClr val="tx1"/>
                          </a:solidFill>
                          <a:effectLst/>
                        </a:rPr>
                        <a:t>Programming,</a:t>
                      </a:r>
                      <a:r>
                        <a:rPr lang="en-US" sz="2000" spc="90" dirty="0">
                          <a:solidFill>
                            <a:schemeClr val="tx1"/>
                          </a:solidFill>
                          <a:effectLst/>
                        </a:rPr>
                        <a:t> </a:t>
                      </a:r>
                      <a:r>
                        <a:rPr lang="en-US" sz="2000" dirty="0">
                          <a:solidFill>
                            <a:schemeClr val="tx1"/>
                          </a:solidFill>
                          <a:effectLst/>
                        </a:rPr>
                        <a:t>features</a:t>
                      </a:r>
                      <a:r>
                        <a:rPr lang="en-US" sz="2000" spc="105" dirty="0">
                          <a:solidFill>
                            <a:schemeClr val="tx1"/>
                          </a:solidFill>
                          <a:effectLst/>
                        </a:rPr>
                        <a:t> </a:t>
                      </a:r>
                      <a:r>
                        <a:rPr lang="en-US" sz="2000" dirty="0">
                          <a:solidFill>
                            <a:schemeClr val="tx1"/>
                          </a:solidFill>
                          <a:effectLst/>
                        </a:rPr>
                        <a:t>of</a:t>
                      </a:r>
                      <a:r>
                        <a:rPr lang="en-US" sz="2000" spc="95" dirty="0">
                          <a:solidFill>
                            <a:schemeClr val="tx1"/>
                          </a:solidFill>
                          <a:effectLst/>
                        </a:rPr>
                        <a:t> </a:t>
                      </a:r>
                      <a:r>
                        <a:rPr lang="en-US" sz="2000" dirty="0">
                          <a:solidFill>
                            <a:schemeClr val="tx1"/>
                          </a:solidFill>
                          <a:effectLst/>
                        </a:rPr>
                        <a:t>OOPs,</a:t>
                      </a:r>
                      <a:r>
                        <a:rPr lang="en-US" sz="2000" spc="105" dirty="0">
                          <a:solidFill>
                            <a:schemeClr val="tx1"/>
                          </a:solidFill>
                          <a:effectLst/>
                        </a:rPr>
                        <a:t> </a:t>
                      </a:r>
                      <a:r>
                        <a:rPr lang="en-US" sz="2000" dirty="0">
                          <a:solidFill>
                            <a:schemeClr val="tx1"/>
                          </a:solidFill>
                          <a:effectLst/>
                        </a:rPr>
                        <a:t>Features</a:t>
                      </a:r>
                      <a:r>
                        <a:rPr lang="en-US" sz="2000" spc="105" dirty="0">
                          <a:solidFill>
                            <a:schemeClr val="tx1"/>
                          </a:solidFill>
                          <a:effectLst/>
                        </a:rPr>
                        <a:t> </a:t>
                      </a:r>
                      <a:r>
                        <a:rPr lang="en-US" sz="2000" dirty="0">
                          <a:solidFill>
                            <a:schemeClr val="tx1"/>
                          </a:solidFill>
                          <a:effectLst/>
                        </a:rPr>
                        <a:t>of</a:t>
                      </a:r>
                      <a:r>
                        <a:rPr lang="en-US" sz="2000" spc="95" dirty="0">
                          <a:solidFill>
                            <a:schemeClr val="tx1"/>
                          </a:solidFill>
                          <a:effectLst/>
                        </a:rPr>
                        <a:t> </a:t>
                      </a:r>
                      <a:r>
                        <a:rPr lang="en-US" sz="2000" dirty="0">
                          <a:solidFill>
                            <a:schemeClr val="tx1"/>
                          </a:solidFill>
                          <a:effectLst/>
                        </a:rPr>
                        <a:t>Python,</a:t>
                      </a:r>
                      <a:r>
                        <a:rPr lang="en-US" sz="2000" spc="100" dirty="0">
                          <a:solidFill>
                            <a:schemeClr val="tx1"/>
                          </a:solidFill>
                          <a:effectLst/>
                        </a:rPr>
                        <a:t> </a:t>
                      </a:r>
                      <a:r>
                        <a:rPr lang="en-US" sz="2000" dirty="0">
                          <a:solidFill>
                            <a:schemeClr val="tx1"/>
                          </a:solidFill>
                          <a:effectLst/>
                        </a:rPr>
                        <a:t>“Hello</a:t>
                      </a:r>
                      <a:r>
                        <a:rPr lang="en-US" sz="2000" spc="100" dirty="0">
                          <a:solidFill>
                            <a:schemeClr val="tx1"/>
                          </a:solidFill>
                          <a:effectLst/>
                        </a:rPr>
                        <a:t> </a:t>
                      </a:r>
                      <a:r>
                        <a:rPr lang="en-US" sz="2000" dirty="0">
                          <a:solidFill>
                            <a:schemeClr val="tx1"/>
                          </a:solidFill>
                          <a:effectLst/>
                        </a:rPr>
                        <a:t>world”</a:t>
                      </a:r>
                    </a:p>
                    <a:p>
                      <a:pPr marL="67945" marR="0">
                        <a:lnSpc>
                          <a:spcPts val="1260"/>
                        </a:lnSpc>
                        <a:spcBef>
                          <a:spcPts val="0"/>
                        </a:spcBef>
                        <a:spcAft>
                          <a:spcPts val="0"/>
                        </a:spcAft>
                      </a:pPr>
                      <a:r>
                        <a:rPr lang="en-US" sz="2000" dirty="0">
                          <a:solidFill>
                            <a:schemeClr val="tx1"/>
                          </a:solidFill>
                          <a:effectLst/>
                        </a:rPr>
                        <a:t>program</a:t>
                      </a:r>
                      <a:r>
                        <a:rPr lang="en-US" sz="2000" spc="-15" dirty="0">
                          <a:solidFill>
                            <a:schemeClr val="tx1"/>
                          </a:solidFill>
                          <a:effectLst/>
                        </a:rPr>
                        <a:t> </a:t>
                      </a:r>
                      <a:r>
                        <a:rPr lang="en-US" sz="2000" dirty="0">
                          <a:solidFill>
                            <a:schemeClr val="tx1"/>
                          </a:solidFill>
                          <a:effectLst/>
                        </a:rPr>
                        <a:t>in</a:t>
                      </a:r>
                      <a:r>
                        <a:rPr lang="en-US" sz="2000" spc="-10" dirty="0">
                          <a:solidFill>
                            <a:schemeClr val="tx1"/>
                          </a:solidFill>
                          <a:effectLst/>
                        </a:rPr>
                        <a:t> </a:t>
                      </a:r>
                      <a:r>
                        <a:rPr lang="en-US" sz="2000" dirty="0">
                          <a:solidFill>
                            <a:schemeClr val="tx1"/>
                          </a:solidFill>
                          <a:effectLst/>
                        </a:rPr>
                        <a:t>Python,</a:t>
                      </a:r>
                      <a:r>
                        <a:rPr lang="en-US" sz="2000" spc="-5" dirty="0">
                          <a:solidFill>
                            <a:schemeClr val="tx1"/>
                          </a:solidFill>
                          <a:effectLst/>
                        </a:rPr>
                        <a:t> </a:t>
                      </a:r>
                      <a:r>
                        <a:rPr lang="en-US" sz="2000" dirty="0">
                          <a:solidFill>
                            <a:schemeClr val="tx1"/>
                          </a:solidFill>
                          <a:effectLst/>
                        </a:rPr>
                        <a:t>Keywords,</a:t>
                      </a:r>
                      <a:r>
                        <a:rPr lang="en-US" sz="2000" spc="-10" dirty="0">
                          <a:solidFill>
                            <a:schemeClr val="tx1"/>
                          </a:solidFill>
                          <a:effectLst/>
                        </a:rPr>
                        <a:t> </a:t>
                      </a:r>
                      <a:r>
                        <a:rPr lang="en-US" sz="2000" dirty="0">
                          <a:solidFill>
                            <a:schemeClr val="tx1"/>
                          </a:solidFill>
                          <a:effectLst/>
                        </a:rPr>
                        <a:t>Identifiers,</a:t>
                      </a:r>
                      <a:r>
                        <a:rPr lang="en-US" sz="2000" spc="-15" dirty="0">
                          <a:solidFill>
                            <a:schemeClr val="tx1"/>
                          </a:solidFill>
                          <a:effectLst/>
                        </a:rPr>
                        <a:t> </a:t>
                      </a:r>
                      <a:r>
                        <a:rPr lang="en-US" sz="2000" dirty="0">
                          <a:solidFill>
                            <a:schemeClr val="tx1"/>
                          </a:solidFill>
                          <a:effectLst/>
                        </a:rPr>
                        <a:t>Reading</a:t>
                      </a:r>
                      <a:r>
                        <a:rPr lang="en-US" sz="2000" spc="-25" dirty="0">
                          <a:solidFill>
                            <a:schemeClr val="tx1"/>
                          </a:solidFill>
                          <a:effectLst/>
                        </a:rPr>
                        <a:t> </a:t>
                      </a:r>
                      <a:r>
                        <a:rPr lang="en-US" sz="2000" dirty="0">
                          <a:solidFill>
                            <a:schemeClr val="tx1"/>
                          </a:solidFill>
                          <a:effectLst/>
                        </a:rPr>
                        <a:t>input</a:t>
                      </a:r>
                      <a:endPar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008773">
                <a:tc>
                  <a:txBody>
                    <a:bodyPr/>
                    <a:lstStyle/>
                    <a:p>
                      <a:pPr marL="67945" marR="0">
                        <a:lnSpc>
                          <a:spcPct val="107000"/>
                        </a:lnSpc>
                        <a:spcBef>
                          <a:spcPts val="5"/>
                        </a:spcBef>
                        <a:spcAft>
                          <a:spcPts val="0"/>
                        </a:spcAft>
                      </a:pPr>
                      <a:r>
                        <a:rPr lang="en-US" sz="2000" dirty="0">
                          <a:solidFill>
                            <a:schemeClr val="tx1"/>
                          </a:solidFill>
                          <a:effectLst/>
                        </a:rPr>
                        <a:t>Data</a:t>
                      </a:r>
                      <a:r>
                        <a:rPr lang="en-US" sz="2000" spc="370" dirty="0">
                          <a:solidFill>
                            <a:schemeClr val="tx1"/>
                          </a:solidFill>
                          <a:effectLst/>
                        </a:rPr>
                        <a:t> </a:t>
                      </a:r>
                      <a:r>
                        <a:rPr lang="en-US" sz="2000" dirty="0">
                          <a:solidFill>
                            <a:schemeClr val="tx1"/>
                          </a:solidFill>
                          <a:effectLst/>
                        </a:rPr>
                        <a:t>Types:  </a:t>
                      </a:r>
                      <a:r>
                        <a:rPr lang="en-US" sz="2000" spc="85" dirty="0">
                          <a:solidFill>
                            <a:schemeClr val="tx1"/>
                          </a:solidFill>
                          <a:effectLst/>
                        </a:rPr>
                        <a:t> </a:t>
                      </a:r>
                      <a:r>
                        <a:rPr lang="en-US" sz="2000" dirty="0">
                          <a:solidFill>
                            <a:schemeClr val="tx1"/>
                          </a:solidFill>
                          <a:effectLst/>
                        </a:rPr>
                        <a:t>Numeric  </a:t>
                      </a:r>
                      <a:r>
                        <a:rPr lang="en-US" sz="2000" spc="90" dirty="0">
                          <a:solidFill>
                            <a:schemeClr val="tx1"/>
                          </a:solidFill>
                          <a:effectLst/>
                        </a:rPr>
                        <a:t> </a:t>
                      </a:r>
                      <a:r>
                        <a:rPr lang="en-US" sz="2000" dirty="0">
                          <a:solidFill>
                            <a:schemeClr val="tx1"/>
                          </a:solidFill>
                          <a:effectLst/>
                        </a:rPr>
                        <a:t>data  </a:t>
                      </a:r>
                      <a:r>
                        <a:rPr lang="en-US" sz="2000" spc="75" dirty="0">
                          <a:solidFill>
                            <a:schemeClr val="tx1"/>
                          </a:solidFill>
                          <a:effectLst/>
                        </a:rPr>
                        <a:t> </a:t>
                      </a:r>
                      <a:r>
                        <a:rPr lang="en-US" sz="2000" dirty="0">
                          <a:solidFill>
                            <a:schemeClr val="tx1"/>
                          </a:solidFill>
                          <a:effectLst/>
                        </a:rPr>
                        <a:t>types  </a:t>
                      </a:r>
                      <a:r>
                        <a:rPr lang="en-US" sz="2000" spc="95" dirty="0">
                          <a:solidFill>
                            <a:schemeClr val="tx1"/>
                          </a:solidFill>
                          <a:effectLst/>
                        </a:rPr>
                        <a:t> </a:t>
                      </a:r>
                      <a:r>
                        <a:rPr lang="en-US" sz="2000" dirty="0">
                          <a:solidFill>
                            <a:schemeClr val="tx1"/>
                          </a:solidFill>
                          <a:effectLst/>
                        </a:rPr>
                        <a:t>-  </a:t>
                      </a:r>
                      <a:r>
                        <a:rPr lang="en-US" sz="2000" spc="80" dirty="0">
                          <a:solidFill>
                            <a:schemeClr val="tx1"/>
                          </a:solidFill>
                          <a:effectLst/>
                        </a:rPr>
                        <a:t> </a:t>
                      </a:r>
                      <a:r>
                        <a:rPr lang="en-US" sz="2000" dirty="0" err="1">
                          <a:solidFill>
                            <a:schemeClr val="tx1"/>
                          </a:solidFill>
                          <a:effectLst/>
                        </a:rPr>
                        <a:t>int</a:t>
                      </a:r>
                      <a:r>
                        <a:rPr lang="en-US" sz="2000" dirty="0">
                          <a:solidFill>
                            <a:schemeClr val="tx1"/>
                          </a:solidFill>
                          <a:effectLst/>
                        </a:rPr>
                        <a:t>,  </a:t>
                      </a:r>
                      <a:r>
                        <a:rPr lang="en-US" sz="2000" spc="75" dirty="0">
                          <a:solidFill>
                            <a:schemeClr val="tx1"/>
                          </a:solidFill>
                          <a:effectLst/>
                        </a:rPr>
                        <a:t> </a:t>
                      </a:r>
                      <a:r>
                        <a:rPr lang="en-US" sz="2000" dirty="0">
                          <a:solidFill>
                            <a:schemeClr val="tx1"/>
                          </a:solidFill>
                          <a:effectLst/>
                        </a:rPr>
                        <a:t>float,  </a:t>
                      </a:r>
                      <a:r>
                        <a:rPr lang="en-US" sz="2000" spc="70" dirty="0">
                          <a:solidFill>
                            <a:schemeClr val="tx1"/>
                          </a:solidFill>
                          <a:effectLst/>
                        </a:rPr>
                        <a:t> </a:t>
                      </a:r>
                      <a:r>
                        <a:rPr lang="en-US" sz="2000" dirty="0">
                          <a:solidFill>
                            <a:schemeClr val="tx1"/>
                          </a:solidFill>
                          <a:effectLst/>
                        </a:rPr>
                        <a:t>complex,  </a:t>
                      </a:r>
                      <a:r>
                        <a:rPr lang="en-US" sz="2000" spc="90" dirty="0">
                          <a:solidFill>
                            <a:schemeClr val="tx1"/>
                          </a:solidFill>
                          <a:effectLst/>
                        </a:rPr>
                        <a:t> </a:t>
                      </a:r>
                      <a:r>
                        <a:rPr lang="en-US" sz="2000" dirty="0">
                          <a:solidFill>
                            <a:schemeClr val="tx1"/>
                          </a:solidFill>
                          <a:effectLst/>
                        </a:rPr>
                        <a:t>Strings:</a:t>
                      </a:r>
                    </a:p>
                    <a:p>
                      <a:pPr marL="67945" marR="0">
                        <a:lnSpc>
                          <a:spcPts val="1450"/>
                        </a:lnSpc>
                        <a:spcBef>
                          <a:spcPts val="10"/>
                        </a:spcBef>
                        <a:spcAft>
                          <a:spcPts val="0"/>
                        </a:spcAft>
                      </a:pPr>
                      <a:r>
                        <a:rPr lang="en-US" sz="2000" dirty="0">
                          <a:solidFill>
                            <a:schemeClr val="tx1"/>
                          </a:solidFill>
                          <a:effectLst/>
                        </a:rPr>
                        <a:t>Understanding</a:t>
                      </a:r>
                      <a:r>
                        <a:rPr lang="en-US" sz="2000" spc="85" dirty="0">
                          <a:solidFill>
                            <a:schemeClr val="tx1"/>
                          </a:solidFill>
                          <a:effectLst/>
                        </a:rPr>
                        <a:t> </a:t>
                      </a:r>
                      <a:r>
                        <a:rPr lang="en-US" sz="2000" dirty="0">
                          <a:solidFill>
                            <a:schemeClr val="tx1"/>
                          </a:solidFill>
                          <a:effectLst/>
                        </a:rPr>
                        <a:t>string</a:t>
                      </a:r>
                      <a:r>
                        <a:rPr lang="en-US" sz="2000" spc="85" dirty="0">
                          <a:solidFill>
                            <a:schemeClr val="tx1"/>
                          </a:solidFill>
                          <a:effectLst/>
                        </a:rPr>
                        <a:t> </a:t>
                      </a:r>
                      <a:r>
                        <a:rPr lang="en-US" sz="2000" dirty="0">
                          <a:solidFill>
                            <a:schemeClr val="tx1"/>
                          </a:solidFill>
                          <a:effectLst/>
                        </a:rPr>
                        <a:t>in</a:t>
                      </a:r>
                      <a:r>
                        <a:rPr lang="en-US" sz="2000" spc="95" dirty="0">
                          <a:solidFill>
                            <a:schemeClr val="tx1"/>
                          </a:solidFill>
                          <a:effectLst/>
                        </a:rPr>
                        <a:t> </a:t>
                      </a:r>
                      <a:r>
                        <a:rPr lang="en-US" sz="2000" dirty="0">
                          <a:solidFill>
                            <a:schemeClr val="tx1"/>
                          </a:solidFill>
                          <a:effectLst/>
                        </a:rPr>
                        <a:t>build</a:t>
                      </a:r>
                      <a:r>
                        <a:rPr lang="en-US" sz="2000" spc="75" dirty="0">
                          <a:solidFill>
                            <a:schemeClr val="tx1"/>
                          </a:solidFill>
                          <a:effectLst/>
                        </a:rPr>
                        <a:t> </a:t>
                      </a:r>
                      <a:r>
                        <a:rPr lang="en-US" sz="2000" dirty="0">
                          <a:solidFill>
                            <a:schemeClr val="tx1"/>
                          </a:solidFill>
                          <a:effectLst/>
                        </a:rPr>
                        <a:t>methods</a:t>
                      </a:r>
                      <a:r>
                        <a:rPr lang="en-US" sz="2000" spc="85" dirty="0">
                          <a:solidFill>
                            <a:schemeClr val="tx1"/>
                          </a:solidFill>
                          <a:effectLst/>
                        </a:rPr>
                        <a:t> </a:t>
                      </a:r>
                      <a:r>
                        <a:rPr lang="en-US" sz="2000" dirty="0">
                          <a:solidFill>
                            <a:schemeClr val="tx1"/>
                          </a:solidFill>
                          <a:effectLst/>
                        </a:rPr>
                        <a:t>and</a:t>
                      </a:r>
                      <a:r>
                        <a:rPr lang="en-US" sz="2000" spc="85" dirty="0">
                          <a:solidFill>
                            <a:schemeClr val="tx1"/>
                          </a:solidFill>
                          <a:effectLst/>
                        </a:rPr>
                        <a:t> </a:t>
                      </a:r>
                      <a:r>
                        <a:rPr lang="en-US" sz="2000" dirty="0">
                          <a:solidFill>
                            <a:schemeClr val="tx1"/>
                          </a:solidFill>
                          <a:effectLst/>
                        </a:rPr>
                        <a:t>Operations[slicing],</a:t>
                      </a:r>
                      <a:r>
                        <a:rPr lang="en-US" sz="2000" spc="85" dirty="0">
                          <a:solidFill>
                            <a:schemeClr val="tx1"/>
                          </a:solidFill>
                          <a:effectLst/>
                        </a:rPr>
                        <a:t> </a:t>
                      </a:r>
                      <a:r>
                        <a:rPr lang="en-US" sz="2000" dirty="0">
                          <a:solidFill>
                            <a:schemeClr val="tx1"/>
                          </a:solidFill>
                          <a:effectLst/>
                        </a:rPr>
                        <a:t>Lists</a:t>
                      </a:r>
                      <a:r>
                        <a:rPr lang="en-US" sz="2000" spc="90" dirty="0">
                          <a:solidFill>
                            <a:schemeClr val="tx1"/>
                          </a:solidFill>
                          <a:effectLst/>
                        </a:rPr>
                        <a:t> </a:t>
                      </a:r>
                      <a:r>
                        <a:rPr lang="en-US" sz="2000" dirty="0">
                          <a:solidFill>
                            <a:schemeClr val="tx1"/>
                          </a:solidFill>
                          <a:effectLst/>
                        </a:rPr>
                        <a:t>and</a:t>
                      </a:r>
                      <a:r>
                        <a:rPr lang="en-US" sz="2000" spc="-260" dirty="0">
                          <a:solidFill>
                            <a:schemeClr val="tx1"/>
                          </a:solidFill>
                          <a:effectLst/>
                        </a:rPr>
                        <a:t> </a:t>
                      </a:r>
                      <a:r>
                        <a:rPr lang="en-US" sz="2000" dirty="0">
                          <a:solidFill>
                            <a:schemeClr val="tx1"/>
                          </a:solidFill>
                          <a:effectLst/>
                        </a:rPr>
                        <a:t>its</a:t>
                      </a:r>
                      <a:r>
                        <a:rPr lang="en-US" sz="2000" spc="-20" dirty="0">
                          <a:solidFill>
                            <a:schemeClr val="tx1"/>
                          </a:solidFill>
                          <a:effectLst/>
                        </a:rPr>
                        <a:t> </a:t>
                      </a:r>
                      <a:r>
                        <a:rPr lang="en-US" sz="2000" dirty="0">
                          <a:solidFill>
                            <a:schemeClr val="tx1"/>
                          </a:solidFill>
                          <a:effectLst/>
                        </a:rPr>
                        <a:t>operations,</a:t>
                      </a:r>
                      <a:r>
                        <a:rPr lang="en-US" sz="2000" spc="-5" dirty="0">
                          <a:solidFill>
                            <a:schemeClr val="tx1"/>
                          </a:solidFill>
                          <a:effectLst/>
                        </a:rPr>
                        <a:t> </a:t>
                      </a:r>
                      <a:r>
                        <a:rPr lang="en-US" sz="2000" dirty="0">
                          <a:solidFill>
                            <a:schemeClr val="tx1"/>
                          </a:solidFill>
                          <a:effectLst/>
                        </a:rPr>
                        <a:t>Tuples</a:t>
                      </a:r>
                      <a:r>
                        <a:rPr lang="en-US" sz="2000" spc="-20" dirty="0">
                          <a:solidFill>
                            <a:schemeClr val="tx1"/>
                          </a:solidFill>
                          <a:effectLst/>
                        </a:rPr>
                        <a:t> </a:t>
                      </a:r>
                      <a:r>
                        <a:rPr lang="en-US" sz="2000" dirty="0">
                          <a:solidFill>
                            <a:schemeClr val="tx1"/>
                          </a:solidFill>
                          <a:effectLst/>
                        </a:rPr>
                        <a:t>and</a:t>
                      </a:r>
                      <a:r>
                        <a:rPr lang="en-US" sz="2000" spc="-15" dirty="0">
                          <a:solidFill>
                            <a:schemeClr val="tx1"/>
                          </a:solidFill>
                          <a:effectLst/>
                        </a:rPr>
                        <a:t> </a:t>
                      </a:r>
                      <a:r>
                        <a:rPr lang="en-US" sz="2000" dirty="0">
                          <a:solidFill>
                            <a:schemeClr val="tx1"/>
                          </a:solidFill>
                          <a:effectLst/>
                        </a:rPr>
                        <a:t>its</a:t>
                      </a:r>
                      <a:r>
                        <a:rPr lang="en-US" sz="2000" spc="-10" dirty="0">
                          <a:solidFill>
                            <a:schemeClr val="tx1"/>
                          </a:solidFill>
                          <a:effectLst/>
                        </a:rPr>
                        <a:t> </a:t>
                      </a:r>
                      <a:r>
                        <a:rPr lang="en-US" sz="2000" dirty="0">
                          <a:solidFill>
                            <a:schemeClr val="tx1"/>
                          </a:solidFill>
                          <a:effectLst/>
                        </a:rPr>
                        <a:t>operations,</a:t>
                      </a:r>
                      <a:r>
                        <a:rPr lang="en-US" sz="2000" spc="-5" dirty="0">
                          <a:solidFill>
                            <a:schemeClr val="tx1"/>
                          </a:solidFill>
                          <a:effectLst/>
                        </a:rPr>
                        <a:t> </a:t>
                      </a:r>
                      <a:r>
                        <a:rPr lang="en-US" sz="2000" dirty="0">
                          <a:solidFill>
                            <a:schemeClr val="tx1"/>
                          </a:solidFill>
                          <a:effectLst/>
                        </a:rPr>
                        <a:t>Dictionaries</a:t>
                      </a:r>
                      <a:r>
                        <a:rPr lang="en-US" sz="2000" spc="-10" dirty="0">
                          <a:solidFill>
                            <a:schemeClr val="tx1"/>
                          </a:solidFill>
                          <a:effectLst/>
                        </a:rPr>
                        <a:t> </a:t>
                      </a:r>
                      <a:r>
                        <a:rPr lang="en-US" sz="2000" dirty="0">
                          <a:solidFill>
                            <a:schemeClr val="tx1"/>
                          </a:solidFill>
                          <a:effectLst/>
                        </a:rPr>
                        <a:t>and</a:t>
                      </a:r>
                      <a:r>
                        <a:rPr lang="en-US" sz="2000" spc="-10" dirty="0">
                          <a:solidFill>
                            <a:schemeClr val="tx1"/>
                          </a:solidFill>
                          <a:effectLst/>
                        </a:rPr>
                        <a:t> </a:t>
                      </a:r>
                      <a:r>
                        <a:rPr lang="en-US" sz="2000" dirty="0">
                          <a:solidFill>
                            <a:schemeClr val="tx1"/>
                          </a:solidFill>
                          <a:effectLst/>
                        </a:rPr>
                        <a:t>Sets</a:t>
                      </a:r>
                      <a:r>
                        <a:rPr lang="en-US" sz="2000" spc="-5" dirty="0">
                          <a:solidFill>
                            <a:schemeClr val="tx1"/>
                          </a:solidFill>
                          <a:effectLst/>
                        </a:rPr>
                        <a:t> </a:t>
                      </a:r>
                      <a:r>
                        <a:rPr lang="en-US" sz="2000" dirty="0">
                          <a:solidFill>
                            <a:schemeClr val="tx1"/>
                          </a:solidFill>
                          <a:effectLst/>
                        </a:rPr>
                        <a:t>operations.</a:t>
                      </a:r>
                      <a:endPar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329407">
                <a:tc>
                  <a:txBody>
                    <a:bodyPr/>
                    <a:lstStyle/>
                    <a:p>
                      <a:pPr marL="67945" marR="59690" algn="just">
                        <a:lnSpc>
                          <a:spcPct val="115000"/>
                        </a:lnSpc>
                        <a:spcBef>
                          <a:spcPts val="5"/>
                        </a:spcBef>
                        <a:spcAft>
                          <a:spcPts val="0"/>
                        </a:spcAft>
                      </a:pPr>
                      <a:r>
                        <a:rPr lang="en-US" sz="2000" dirty="0">
                          <a:solidFill>
                            <a:schemeClr val="tx1"/>
                          </a:solidFill>
                          <a:effectLst/>
                        </a:rPr>
                        <a:t>Operators in Python - Conditional blocks using if, else and </a:t>
                      </a:r>
                      <a:r>
                        <a:rPr lang="en-US" sz="2000" dirty="0" err="1">
                          <a:solidFill>
                            <a:schemeClr val="tx1"/>
                          </a:solidFill>
                          <a:effectLst/>
                        </a:rPr>
                        <a:t>elif</a:t>
                      </a:r>
                      <a:r>
                        <a:rPr lang="en-US" sz="2000" dirty="0">
                          <a:solidFill>
                            <a:schemeClr val="tx1"/>
                          </a:solidFill>
                          <a:effectLst/>
                        </a:rPr>
                        <a:t>, Simple for</a:t>
                      </a:r>
                      <a:r>
                        <a:rPr lang="en-US" sz="2000" spc="-260" dirty="0">
                          <a:solidFill>
                            <a:schemeClr val="tx1"/>
                          </a:solidFill>
                          <a:effectLst/>
                        </a:rPr>
                        <a:t> </a:t>
                      </a:r>
                      <a:r>
                        <a:rPr lang="en-US" sz="2000" dirty="0">
                          <a:solidFill>
                            <a:schemeClr val="tx1"/>
                          </a:solidFill>
                          <a:effectLst/>
                        </a:rPr>
                        <a:t>loops in python, For loop using ranges, Use of while and do while-loop in</a:t>
                      </a:r>
                      <a:r>
                        <a:rPr lang="en-US" sz="2000" spc="5" dirty="0">
                          <a:solidFill>
                            <a:schemeClr val="tx1"/>
                          </a:solidFill>
                          <a:effectLst/>
                        </a:rPr>
                        <a:t> </a:t>
                      </a:r>
                      <a:r>
                        <a:rPr lang="en-US" sz="2000" dirty="0">
                          <a:solidFill>
                            <a:schemeClr val="tx1"/>
                          </a:solidFill>
                          <a:effectLst/>
                        </a:rPr>
                        <a:t>python,</a:t>
                      </a:r>
                      <a:r>
                        <a:rPr lang="en-US" sz="2000" spc="-15" dirty="0">
                          <a:solidFill>
                            <a:schemeClr val="tx1"/>
                          </a:solidFill>
                          <a:effectLst/>
                        </a:rPr>
                        <a:t> </a:t>
                      </a:r>
                      <a:r>
                        <a:rPr lang="en-US" sz="2000" dirty="0">
                          <a:solidFill>
                            <a:schemeClr val="tx1"/>
                          </a:solidFill>
                          <a:effectLst/>
                        </a:rPr>
                        <a:t>Loop</a:t>
                      </a:r>
                      <a:r>
                        <a:rPr lang="en-US" sz="2000" spc="-20" dirty="0">
                          <a:solidFill>
                            <a:schemeClr val="tx1"/>
                          </a:solidFill>
                          <a:effectLst/>
                        </a:rPr>
                        <a:t> </a:t>
                      </a:r>
                      <a:r>
                        <a:rPr lang="en-US" sz="2000" dirty="0">
                          <a:solidFill>
                            <a:schemeClr val="tx1"/>
                          </a:solidFill>
                          <a:effectLst/>
                        </a:rPr>
                        <a:t>manipulation</a:t>
                      </a:r>
                      <a:r>
                        <a:rPr lang="en-US" sz="2000" spc="-15" dirty="0">
                          <a:solidFill>
                            <a:schemeClr val="tx1"/>
                          </a:solidFill>
                          <a:effectLst/>
                        </a:rPr>
                        <a:t> </a:t>
                      </a:r>
                      <a:r>
                        <a:rPr lang="en-US" sz="2000" dirty="0">
                          <a:solidFill>
                            <a:schemeClr val="tx1"/>
                          </a:solidFill>
                          <a:effectLst/>
                        </a:rPr>
                        <a:t>using</a:t>
                      </a:r>
                      <a:r>
                        <a:rPr lang="en-US" sz="2000" spc="-15" dirty="0">
                          <a:solidFill>
                            <a:schemeClr val="tx1"/>
                          </a:solidFill>
                          <a:effectLst/>
                        </a:rPr>
                        <a:t> </a:t>
                      </a:r>
                      <a:r>
                        <a:rPr lang="en-US" sz="2000" dirty="0">
                          <a:solidFill>
                            <a:schemeClr val="tx1"/>
                          </a:solidFill>
                          <a:effectLst/>
                        </a:rPr>
                        <a:t>pass, continue, break</a:t>
                      </a:r>
                      <a:r>
                        <a:rPr lang="en-US" sz="2000" spc="-10" dirty="0">
                          <a:solidFill>
                            <a:schemeClr val="tx1"/>
                          </a:solidFill>
                          <a:effectLst/>
                        </a:rPr>
                        <a:t> </a:t>
                      </a:r>
                      <a:r>
                        <a:rPr lang="en-US" sz="2000" dirty="0">
                          <a:solidFill>
                            <a:schemeClr val="tx1"/>
                          </a:solidFill>
                          <a:effectLst/>
                        </a:rPr>
                        <a:t>and else.</a:t>
                      </a:r>
                      <a:endPar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1737718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graphicFrame>
        <p:nvGraphicFramePr>
          <p:cNvPr id="6" name="Content Placeholder 5"/>
          <p:cNvGraphicFramePr>
            <a:graphicFrameLocks noGrp="1"/>
          </p:cNvGraphicFramePr>
          <p:nvPr>
            <p:ph idx="1"/>
            <p:extLst>
              <p:ext uri="{D42A27DB-BD31-4B8C-83A1-F6EECF244321}">
                <p14:modId xmlns:p14="http://schemas.microsoft.com/office/powerpoint/2010/main" val="879995570"/>
              </p:ext>
            </p:extLst>
          </p:nvPr>
        </p:nvGraphicFramePr>
        <p:xfrm>
          <a:off x="850005" y="356151"/>
          <a:ext cx="10406129" cy="2814037"/>
        </p:xfrm>
        <a:graphic>
          <a:graphicData uri="http://schemas.openxmlformats.org/drawingml/2006/table">
            <a:tbl>
              <a:tblPr firstRow="1" firstCol="1" lastRow="1" lastCol="1" bandRow="1" bandCol="1">
                <a:tableStyleId>{5C22544A-7EE6-4342-B048-85BDC9FD1C3A}</a:tableStyleId>
              </a:tblPr>
              <a:tblGrid>
                <a:gridCol w="10406129">
                  <a:extLst>
                    <a:ext uri="{9D8B030D-6E8A-4147-A177-3AD203B41FA5}">
                      <a16:colId xmlns:a16="http://schemas.microsoft.com/office/drawing/2014/main" val="20000"/>
                    </a:ext>
                  </a:extLst>
                </a:gridCol>
              </a:tblGrid>
              <a:tr h="374015">
                <a:tc>
                  <a:txBody>
                    <a:bodyPr/>
                    <a:lstStyle/>
                    <a:p>
                      <a:pPr marL="67945" marR="0" algn="ctr" defTabSz="914400" rtl="0" eaLnBrk="1" latinLnBrk="0" hangingPunct="1">
                        <a:lnSpc>
                          <a:spcPct val="107000"/>
                        </a:lnSpc>
                        <a:spcBef>
                          <a:spcPts val="5"/>
                        </a:spcBef>
                        <a:spcAft>
                          <a:spcPts val="0"/>
                        </a:spcAft>
                      </a:pPr>
                      <a:r>
                        <a:rPr lang="en-US" sz="2400" b="1" kern="1200" dirty="0">
                          <a:solidFill>
                            <a:schemeClr val="bg1"/>
                          </a:solidFill>
                          <a:effectLst/>
                          <a:latin typeface="+mn-lt"/>
                          <a:ea typeface="+mn-ea"/>
                          <a:cs typeface="+mn-cs"/>
                        </a:rPr>
                        <a:t>Unit -II</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41897">
                <a:tc>
                  <a:txBody>
                    <a:bodyPr/>
                    <a:lstStyle/>
                    <a:p>
                      <a:pPr marL="67945" marR="0" algn="ctr">
                        <a:lnSpc>
                          <a:spcPct val="107000"/>
                        </a:lnSpc>
                        <a:spcBef>
                          <a:spcPts val="5"/>
                        </a:spcBef>
                        <a:spcAft>
                          <a:spcPts val="0"/>
                        </a:spcAft>
                      </a:pPr>
                      <a:r>
                        <a:rPr lang="en-US" sz="2000" b="1" kern="1200" dirty="0">
                          <a:solidFill>
                            <a:schemeClr val="bg1"/>
                          </a:solidFill>
                          <a:effectLst/>
                          <a:latin typeface="+mn-lt"/>
                          <a:ea typeface="+mn-ea"/>
                          <a:cs typeface="+mn-cs"/>
                        </a:rPr>
                        <a:t>                      USING NUMPY &amp; PANDAS</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048493">
                <a:tc>
                  <a:txBody>
                    <a:bodyPr/>
                    <a:lstStyle/>
                    <a:p>
                      <a:pPr marL="67945" marR="76200">
                        <a:lnSpc>
                          <a:spcPct val="115000"/>
                        </a:lnSpc>
                        <a:spcBef>
                          <a:spcPts val="5"/>
                        </a:spcBef>
                        <a:spcAft>
                          <a:spcPts val="0"/>
                        </a:spcAft>
                      </a:pPr>
                      <a:r>
                        <a:rPr lang="en-US" sz="2000" b="1" kern="1200" dirty="0">
                          <a:solidFill>
                            <a:schemeClr val="tx1"/>
                          </a:solidFill>
                          <a:effectLst/>
                          <a:latin typeface="+mn-lt"/>
                          <a:ea typeface="+mn-ea"/>
                          <a:cs typeface="+mn-cs"/>
                        </a:rPr>
                        <a:t>Basics of </a:t>
                      </a:r>
                      <a:r>
                        <a:rPr lang="en-US" sz="2000" b="1" kern="1200" dirty="0" err="1">
                          <a:solidFill>
                            <a:schemeClr val="tx1"/>
                          </a:solidFill>
                          <a:effectLst/>
                          <a:latin typeface="+mn-lt"/>
                          <a:ea typeface="+mn-ea"/>
                          <a:cs typeface="+mn-cs"/>
                        </a:rPr>
                        <a:t>NumPy</a:t>
                      </a:r>
                      <a:r>
                        <a:rPr lang="en-US" sz="2000" b="1" kern="1200" dirty="0">
                          <a:solidFill>
                            <a:schemeClr val="tx1"/>
                          </a:solidFill>
                          <a:effectLst/>
                          <a:latin typeface="+mn-lt"/>
                          <a:ea typeface="+mn-ea"/>
                          <a:cs typeface="+mn-cs"/>
                        </a:rPr>
                        <a:t>-Computation on </a:t>
                      </a:r>
                      <a:r>
                        <a:rPr lang="en-US" sz="2000" b="1" kern="1200" dirty="0" err="1">
                          <a:solidFill>
                            <a:schemeClr val="tx1"/>
                          </a:solidFill>
                          <a:effectLst/>
                          <a:latin typeface="+mn-lt"/>
                          <a:ea typeface="+mn-ea"/>
                          <a:cs typeface="+mn-cs"/>
                        </a:rPr>
                        <a:t>NumPy</a:t>
                      </a:r>
                      <a:r>
                        <a:rPr lang="en-US" sz="2000" b="1" kern="1200" dirty="0">
                          <a:solidFill>
                            <a:schemeClr val="tx1"/>
                          </a:solidFill>
                          <a:effectLst/>
                          <a:latin typeface="+mn-lt"/>
                          <a:ea typeface="+mn-ea"/>
                          <a:cs typeface="+mn-cs"/>
                        </a:rPr>
                        <a:t>-Aggregations-Computation on Arrays- Comparisons, Masks and Boolean Arrays-Fancy Indexing-Sorting,</a:t>
                      </a:r>
                      <a:r>
                        <a:rPr lang="en-US" sz="2000" b="1" kern="1200" baseline="0" dirty="0">
                          <a:solidFill>
                            <a:schemeClr val="tx1"/>
                          </a:solidFill>
                          <a:effectLst/>
                          <a:latin typeface="+mn-lt"/>
                          <a:ea typeface="+mn-ea"/>
                          <a:cs typeface="+mn-cs"/>
                        </a:rPr>
                        <a:t> </a:t>
                      </a:r>
                      <a:r>
                        <a:rPr lang="en-US" sz="2000" b="1" kern="1200" dirty="0">
                          <a:solidFill>
                            <a:schemeClr val="tx1"/>
                          </a:solidFill>
                          <a:effectLst/>
                          <a:latin typeface="+mn-lt"/>
                          <a:ea typeface="+mn-ea"/>
                          <a:cs typeface="+mn-cs"/>
                        </a:rPr>
                        <a:t>Arrays-Structured Data: </a:t>
                      </a:r>
                      <a:r>
                        <a:rPr lang="en-US" sz="2000" b="1" kern="1200" dirty="0" err="1">
                          <a:solidFill>
                            <a:schemeClr val="tx1"/>
                          </a:solidFill>
                          <a:effectLst/>
                          <a:latin typeface="+mn-lt"/>
                          <a:ea typeface="+mn-ea"/>
                          <a:cs typeface="+mn-cs"/>
                        </a:rPr>
                        <a:t>NumPy’s</a:t>
                      </a:r>
                      <a:r>
                        <a:rPr lang="en-US" sz="2000" b="1" kern="1200" dirty="0">
                          <a:solidFill>
                            <a:schemeClr val="tx1"/>
                          </a:solidFill>
                          <a:effectLst/>
                          <a:latin typeface="+mn-lt"/>
                          <a:ea typeface="+mn-ea"/>
                          <a:cs typeface="+mn-cs"/>
                        </a:rPr>
                        <a:t> Structured Array.</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029229">
                <a:tc>
                  <a:txBody>
                    <a:bodyPr/>
                    <a:lstStyle/>
                    <a:p>
                      <a:pPr marL="67945" marR="0">
                        <a:lnSpc>
                          <a:spcPct val="107000"/>
                        </a:lnSpc>
                        <a:spcBef>
                          <a:spcPts val="5"/>
                        </a:spcBef>
                        <a:spcAft>
                          <a:spcPts val="0"/>
                        </a:spcAft>
                      </a:pPr>
                      <a:r>
                        <a:rPr lang="en-US" sz="2000" b="1" kern="1200" dirty="0">
                          <a:solidFill>
                            <a:schemeClr val="tx1"/>
                          </a:solidFill>
                          <a:effectLst/>
                          <a:latin typeface="+mn-lt"/>
                          <a:ea typeface="+mn-ea"/>
                          <a:cs typeface="+mn-cs"/>
                        </a:rPr>
                        <a:t>Introduction to Pandas Objects-Data indexing and Selection-Operating on</a:t>
                      </a:r>
                      <a:r>
                        <a:rPr lang="en-US" sz="2000" b="1" kern="1200" baseline="0" dirty="0">
                          <a:solidFill>
                            <a:schemeClr val="tx1"/>
                          </a:solidFill>
                          <a:effectLst/>
                          <a:latin typeface="+mn-lt"/>
                          <a:ea typeface="+mn-ea"/>
                          <a:cs typeface="+mn-cs"/>
                        </a:rPr>
                        <a:t> </a:t>
                      </a:r>
                      <a:r>
                        <a:rPr lang="en-US" sz="2000" b="1" kern="1200" dirty="0">
                          <a:solidFill>
                            <a:schemeClr val="tx1"/>
                          </a:solidFill>
                          <a:effectLst/>
                          <a:latin typeface="+mn-lt"/>
                          <a:ea typeface="+mn-ea"/>
                          <a:cs typeface="+mn-cs"/>
                        </a:rPr>
                        <a:t>Data in Pandas- Handling Missing Data-Hierarchical Indexing - Combining Data Sets.</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531464601"/>
              </p:ext>
            </p:extLst>
          </p:nvPr>
        </p:nvGraphicFramePr>
        <p:xfrm>
          <a:off x="824249" y="3180998"/>
          <a:ext cx="10444765" cy="3681731"/>
        </p:xfrm>
        <a:graphic>
          <a:graphicData uri="http://schemas.openxmlformats.org/drawingml/2006/table">
            <a:tbl>
              <a:tblPr firstRow="1" firstCol="1" lastRow="1" lastCol="1" bandRow="1" bandCol="1">
                <a:tableStyleId>{5C22544A-7EE6-4342-B048-85BDC9FD1C3A}</a:tableStyleId>
              </a:tblPr>
              <a:tblGrid>
                <a:gridCol w="10444765">
                  <a:extLst>
                    <a:ext uri="{9D8B030D-6E8A-4147-A177-3AD203B41FA5}">
                      <a16:colId xmlns:a16="http://schemas.microsoft.com/office/drawing/2014/main" val="20000"/>
                    </a:ext>
                  </a:extLst>
                </a:gridCol>
              </a:tblGrid>
              <a:tr h="183515">
                <a:tc>
                  <a:txBody>
                    <a:bodyPr/>
                    <a:lstStyle/>
                    <a:p>
                      <a:pPr marL="1891665" marR="1885950" algn="ctr">
                        <a:lnSpc>
                          <a:spcPct val="107000"/>
                        </a:lnSpc>
                        <a:spcBef>
                          <a:spcPts val="5"/>
                        </a:spcBef>
                        <a:spcAft>
                          <a:spcPts val="0"/>
                        </a:spcAft>
                      </a:pPr>
                      <a:r>
                        <a:rPr lang="en-US" sz="2400" b="1" kern="1200" dirty="0">
                          <a:solidFill>
                            <a:schemeClr val="bg1"/>
                          </a:solidFill>
                          <a:effectLst/>
                          <a:latin typeface="+mn-lt"/>
                          <a:ea typeface="+mn-ea"/>
                          <a:cs typeface="+mn-cs"/>
                        </a:rPr>
                        <a:t>Unit -III</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34407">
                <a:tc>
                  <a:txBody>
                    <a:bodyPr/>
                    <a:lstStyle/>
                    <a:p>
                      <a:pPr marL="67945" marR="0" algn="ctr">
                        <a:lnSpc>
                          <a:spcPts val="1375"/>
                        </a:lnSpc>
                        <a:spcBef>
                          <a:spcPts val="0"/>
                        </a:spcBef>
                        <a:spcAft>
                          <a:spcPts val="0"/>
                        </a:spcAft>
                      </a:pPr>
                      <a:endParaRPr lang="en-US" sz="2000" b="1" kern="1200" dirty="0">
                        <a:solidFill>
                          <a:schemeClr val="bg1"/>
                        </a:solidFill>
                        <a:effectLst/>
                        <a:latin typeface="+mn-lt"/>
                        <a:ea typeface="+mn-ea"/>
                        <a:cs typeface="+mn-cs"/>
                      </a:endParaRPr>
                    </a:p>
                    <a:p>
                      <a:pPr marL="67945" marR="0" algn="ctr">
                        <a:lnSpc>
                          <a:spcPts val="1375"/>
                        </a:lnSpc>
                        <a:spcBef>
                          <a:spcPts val="0"/>
                        </a:spcBef>
                        <a:spcAft>
                          <a:spcPts val="0"/>
                        </a:spcAft>
                      </a:pPr>
                      <a:r>
                        <a:rPr lang="en-US" sz="2000" b="1" kern="1200" dirty="0">
                          <a:solidFill>
                            <a:schemeClr val="bg1"/>
                          </a:solidFill>
                          <a:effectLst/>
                          <a:latin typeface="+mn-lt"/>
                          <a:ea typeface="+mn-ea"/>
                          <a:cs typeface="+mn-cs"/>
                        </a:rPr>
                        <a:t>FUNCTIONS, EXCEPTION, AND FILES</a:t>
                      </a:r>
                    </a:p>
                    <a:p>
                      <a:pPr marL="0" marR="0">
                        <a:lnSpc>
                          <a:spcPct val="107000"/>
                        </a:lnSpc>
                        <a:spcBef>
                          <a:spcPts val="0"/>
                        </a:spcBef>
                        <a:spcAft>
                          <a:spcPts val="0"/>
                        </a:spcAft>
                      </a:pPr>
                      <a:r>
                        <a:rPr lang="en-US" sz="1100" dirty="0">
                          <a:effectLst/>
                        </a:rPr>
                        <a:t>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39140">
                <a:tc>
                  <a:txBody>
                    <a:bodyPr/>
                    <a:lstStyle/>
                    <a:p>
                      <a:pPr marL="67945" marR="60960" algn="just">
                        <a:lnSpc>
                          <a:spcPct val="115000"/>
                        </a:lnSpc>
                        <a:spcBef>
                          <a:spcPts val="5"/>
                        </a:spcBef>
                        <a:spcAft>
                          <a:spcPts val="0"/>
                        </a:spcAft>
                      </a:pPr>
                      <a:r>
                        <a:rPr lang="en-US" sz="2000" b="1" kern="1200" dirty="0">
                          <a:solidFill>
                            <a:schemeClr val="tx1"/>
                          </a:solidFill>
                          <a:effectLst/>
                          <a:latin typeface="+mn-lt"/>
                          <a:ea typeface="+mn-ea"/>
                          <a:cs typeface="+mn-cs"/>
                        </a:rPr>
                        <a:t>Functions: Types, parameters, arguments: positional arguments, keyword arguments, parameters with default values, functions with arbitrary arguments, Scope of variables: Local and global scope, Recursion </a:t>
                      </a:r>
                      <a:r>
                        <a:rPr lang="en-US" sz="2000" b="1" kern="1200" dirty="0" err="1">
                          <a:solidFill>
                            <a:schemeClr val="tx1"/>
                          </a:solidFill>
                          <a:effectLst/>
                          <a:latin typeface="+mn-lt"/>
                          <a:ea typeface="+mn-ea"/>
                          <a:cs typeface="+mn-cs"/>
                        </a:rPr>
                        <a:t>andLambda</a:t>
                      </a:r>
                      <a:r>
                        <a:rPr lang="en-US" sz="2000" b="1" kern="1200" dirty="0">
                          <a:solidFill>
                            <a:schemeClr val="tx1"/>
                          </a:solidFill>
                          <a:effectLst/>
                          <a:latin typeface="+mn-lt"/>
                          <a:ea typeface="+mn-ea"/>
                          <a:cs typeface="+mn-cs"/>
                        </a:rPr>
                        <a:t> functions. Function Decorators, Generators</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54355">
                <a:tc>
                  <a:txBody>
                    <a:bodyPr/>
                    <a:lstStyle/>
                    <a:p>
                      <a:pPr marL="67945" marR="0">
                        <a:lnSpc>
                          <a:spcPct val="107000"/>
                        </a:lnSpc>
                        <a:spcBef>
                          <a:spcPts val="15"/>
                        </a:spcBef>
                        <a:spcAft>
                          <a:spcPts val="0"/>
                        </a:spcAft>
                      </a:pPr>
                      <a:r>
                        <a:rPr lang="en-US" sz="2000" b="1" kern="1200" dirty="0">
                          <a:solidFill>
                            <a:schemeClr val="tx1"/>
                          </a:solidFill>
                          <a:effectLst/>
                          <a:latin typeface="+mn-lt"/>
                          <a:ea typeface="+mn-ea"/>
                          <a:cs typeface="+mn-cs"/>
                        </a:rPr>
                        <a:t>Structured Programming, Exceptions, Exception Handling, Types of</a:t>
                      </a:r>
                      <a:r>
                        <a:rPr lang="en-US" sz="2000" b="1" kern="1200" baseline="0" dirty="0">
                          <a:solidFill>
                            <a:schemeClr val="tx1"/>
                          </a:solidFill>
                          <a:effectLst/>
                          <a:latin typeface="+mn-lt"/>
                          <a:ea typeface="+mn-ea"/>
                          <a:cs typeface="+mn-cs"/>
                        </a:rPr>
                        <a:t> </a:t>
                      </a:r>
                      <a:r>
                        <a:rPr lang="en-US" sz="2000" b="1" kern="1200" dirty="0">
                          <a:solidFill>
                            <a:schemeClr val="tx1"/>
                          </a:solidFill>
                          <a:effectLst/>
                          <a:latin typeface="+mn-lt"/>
                          <a:ea typeface="+mn-ea"/>
                          <a:cs typeface="+mn-cs"/>
                        </a:rPr>
                        <a:t>Exceptions, The Except Block, the assert Statement, </a:t>
                      </a:r>
                      <a:r>
                        <a:rPr lang="en-US" sz="2000" b="1" kern="1200" dirty="0" err="1">
                          <a:solidFill>
                            <a:schemeClr val="tx1"/>
                          </a:solidFill>
                          <a:effectLst/>
                          <a:latin typeface="+mn-lt"/>
                          <a:ea typeface="+mn-ea"/>
                          <a:cs typeface="+mn-cs"/>
                        </a:rPr>
                        <a:t>UserDefined</a:t>
                      </a:r>
                      <a:r>
                        <a:rPr lang="en-US" sz="2000" b="1" kern="1200" dirty="0">
                          <a:solidFill>
                            <a:schemeClr val="tx1"/>
                          </a:solidFill>
                          <a:effectLst/>
                          <a:latin typeface="+mn-lt"/>
                          <a:ea typeface="+mn-ea"/>
                          <a:cs typeface="+mn-cs"/>
                        </a:rPr>
                        <a:t> Exceptions, Logging the Exceptions</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738505">
                <a:tc>
                  <a:txBody>
                    <a:bodyPr/>
                    <a:lstStyle/>
                    <a:p>
                      <a:pPr marL="67945" marR="62865" algn="just">
                        <a:lnSpc>
                          <a:spcPct val="115000"/>
                        </a:lnSpc>
                        <a:spcBef>
                          <a:spcPts val="5"/>
                        </a:spcBef>
                        <a:spcAft>
                          <a:spcPts val="0"/>
                        </a:spcAft>
                      </a:pPr>
                      <a:r>
                        <a:rPr lang="en-US" sz="2000" b="1" kern="1200" dirty="0">
                          <a:solidFill>
                            <a:schemeClr val="tx1"/>
                          </a:solidFill>
                          <a:effectLst/>
                          <a:latin typeface="+mn-lt"/>
                          <a:ea typeface="+mn-ea"/>
                          <a:cs typeface="+mn-cs"/>
                        </a:rPr>
                        <a:t>Files: Files, Types of Files in Python, Opening a File, Closing a File, Working with Text Files Containing Strings, Knowing Whether a File Exists or Not, Working with Binary Files, The with Statement, Pickle </a:t>
                      </a:r>
                      <a:r>
                        <a:rPr lang="en-US" sz="2000" b="1" kern="1200" dirty="0" err="1">
                          <a:solidFill>
                            <a:schemeClr val="tx1"/>
                          </a:solidFill>
                          <a:effectLst/>
                          <a:latin typeface="+mn-lt"/>
                          <a:ea typeface="+mn-ea"/>
                          <a:cs typeface="+mn-cs"/>
                        </a:rPr>
                        <a:t>inPython</a:t>
                      </a:r>
                      <a:r>
                        <a:rPr lang="en-US" sz="2000" b="1" kern="1200" dirty="0">
                          <a:solidFill>
                            <a:schemeClr val="tx1"/>
                          </a:solidFill>
                          <a:effectLst/>
                          <a:latin typeface="+mn-lt"/>
                          <a:ea typeface="+mn-ea"/>
                          <a:cs typeface="+mn-cs"/>
                        </a:rPr>
                        <a:t>, The seek() and tell() Methods</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992584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graphicFrame>
        <p:nvGraphicFramePr>
          <p:cNvPr id="6" name="Content Placeholder 5"/>
          <p:cNvGraphicFramePr>
            <a:graphicFrameLocks noGrp="1"/>
          </p:cNvGraphicFramePr>
          <p:nvPr>
            <p:ph idx="1"/>
            <p:extLst>
              <p:ext uri="{D42A27DB-BD31-4B8C-83A1-F6EECF244321}">
                <p14:modId xmlns:p14="http://schemas.microsoft.com/office/powerpoint/2010/main" val="1536608505"/>
              </p:ext>
            </p:extLst>
          </p:nvPr>
        </p:nvGraphicFramePr>
        <p:xfrm>
          <a:off x="613774" y="680740"/>
          <a:ext cx="10749010" cy="3994809"/>
        </p:xfrm>
        <a:graphic>
          <a:graphicData uri="http://schemas.openxmlformats.org/drawingml/2006/table">
            <a:tbl>
              <a:tblPr firstRow="1" firstCol="1" lastRow="1" lastCol="1" bandRow="1" bandCol="1">
                <a:tableStyleId>{5C22544A-7EE6-4342-B048-85BDC9FD1C3A}</a:tableStyleId>
              </a:tblPr>
              <a:tblGrid>
                <a:gridCol w="10749010">
                  <a:extLst>
                    <a:ext uri="{9D8B030D-6E8A-4147-A177-3AD203B41FA5}">
                      <a16:colId xmlns:a16="http://schemas.microsoft.com/office/drawing/2014/main" val="20000"/>
                    </a:ext>
                  </a:extLst>
                </a:gridCol>
              </a:tblGrid>
              <a:tr h="270164">
                <a:tc>
                  <a:txBody>
                    <a:bodyPr/>
                    <a:lstStyle/>
                    <a:p>
                      <a:pPr marL="0" marR="0">
                        <a:lnSpc>
                          <a:spcPct val="107000"/>
                        </a:lnSpc>
                        <a:spcBef>
                          <a:spcPts val="0"/>
                        </a:spcBef>
                        <a:spcAft>
                          <a:spcPts val="0"/>
                        </a:spcAft>
                      </a:pPr>
                      <a:r>
                        <a:rPr lang="en-US" sz="1100" dirty="0">
                          <a:effectLst/>
                        </a:rPr>
                        <a:t> </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marR="62865" algn="ctr">
                        <a:lnSpc>
                          <a:spcPct val="115000"/>
                        </a:lnSpc>
                        <a:spcBef>
                          <a:spcPts val="5"/>
                        </a:spcBef>
                        <a:spcAft>
                          <a:spcPts val="0"/>
                        </a:spcAft>
                      </a:pPr>
                      <a:r>
                        <a:rPr lang="en-US" sz="2400" b="1" kern="1200" dirty="0">
                          <a:solidFill>
                            <a:schemeClr val="bg1"/>
                          </a:solidFill>
                          <a:effectLst/>
                          <a:latin typeface="+mn-lt"/>
                          <a:ea typeface="+mn-ea"/>
                          <a:cs typeface="+mn-cs"/>
                        </a:rPr>
                        <a:t>Unit -IV</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23348">
                <a:tc>
                  <a:txBody>
                    <a:bodyPr/>
                    <a:lstStyle/>
                    <a:p>
                      <a:pPr marL="67945" marR="0" algn="ctr">
                        <a:lnSpc>
                          <a:spcPts val="1375"/>
                        </a:lnSpc>
                        <a:spcBef>
                          <a:spcPts val="0"/>
                        </a:spcBef>
                        <a:spcAft>
                          <a:spcPts val="0"/>
                        </a:spcAft>
                      </a:pPr>
                      <a:endParaRPr lang="en-US" sz="2000" b="1" kern="1200" dirty="0">
                        <a:solidFill>
                          <a:schemeClr val="bg1"/>
                        </a:solidFill>
                        <a:effectLst/>
                        <a:latin typeface="+mn-lt"/>
                        <a:ea typeface="+mn-ea"/>
                        <a:cs typeface="+mn-cs"/>
                      </a:endParaRPr>
                    </a:p>
                    <a:p>
                      <a:pPr marL="67945" marR="0" algn="ctr">
                        <a:lnSpc>
                          <a:spcPts val="1375"/>
                        </a:lnSpc>
                        <a:spcBef>
                          <a:spcPts val="0"/>
                        </a:spcBef>
                        <a:spcAft>
                          <a:spcPts val="0"/>
                        </a:spcAft>
                      </a:pPr>
                      <a:r>
                        <a:rPr lang="en-US" sz="2000" b="1" kern="1200" dirty="0">
                          <a:solidFill>
                            <a:schemeClr val="bg1"/>
                          </a:solidFill>
                          <a:effectLst/>
                          <a:latin typeface="+mn-lt"/>
                          <a:ea typeface="+mn-ea"/>
                          <a:cs typeface="+mn-cs"/>
                        </a:rPr>
                        <a:t>OOPS and VISUALIZATION</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36069">
                <a:tc>
                  <a:txBody>
                    <a:bodyPr/>
                    <a:lstStyle/>
                    <a:p>
                      <a:pPr marL="67945" marR="0">
                        <a:lnSpc>
                          <a:spcPct val="115000"/>
                        </a:lnSpc>
                        <a:spcBef>
                          <a:spcPts val="5"/>
                        </a:spcBef>
                        <a:spcAft>
                          <a:spcPts val="0"/>
                        </a:spcAft>
                      </a:pPr>
                      <a:r>
                        <a:rPr lang="en-US" sz="2000" b="1" kern="1200" dirty="0">
                          <a:solidFill>
                            <a:schemeClr val="tx1"/>
                          </a:solidFill>
                          <a:effectLst/>
                          <a:latin typeface="+mn-lt"/>
                          <a:ea typeface="+mn-ea"/>
                          <a:cs typeface="+mn-cs"/>
                        </a:rPr>
                        <a:t>Object-oriented Programming in Python: Classes, Objects, Instances, Abstract Data Types and classes, Inheritance, Encapsulation and</a:t>
                      </a:r>
                      <a:r>
                        <a:rPr lang="en-US" sz="2000" b="1" kern="1200" baseline="0" dirty="0">
                          <a:solidFill>
                            <a:schemeClr val="tx1"/>
                          </a:solidFill>
                          <a:effectLst/>
                          <a:latin typeface="+mn-lt"/>
                          <a:ea typeface="+mn-ea"/>
                          <a:cs typeface="+mn-cs"/>
                        </a:rPr>
                        <a:t> </a:t>
                      </a:r>
                      <a:r>
                        <a:rPr lang="en-US" sz="2000" b="1" kern="1200" dirty="0">
                          <a:solidFill>
                            <a:schemeClr val="tx1"/>
                          </a:solidFill>
                          <a:effectLst/>
                          <a:latin typeface="+mn-lt"/>
                          <a:ea typeface="+mn-ea"/>
                          <a:cs typeface="+mn-cs"/>
                        </a:rPr>
                        <a:t>Information hiding, Polymorphism</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017431">
                <a:tc>
                  <a:txBody>
                    <a:bodyPr/>
                    <a:lstStyle/>
                    <a:p>
                      <a:pPr marL="67945" marR="0">
                        <a:lnSpc>
                          <a:spcPct val="115000"/>
                        </a:lnSpc>
                        <a:spcBef>
                          <a:spcPts val="5"/>
                        </a:spcBef>
                        <a:spcAft>
                          <a:spcPts val="0"/>
                        </a:spcAft>
                      </a:pPr>
                      <a:r>
                        <a:rPr lang="en-US" sz="2000" b="1" kern="1200" dirty="0">
                          <a:solidFill>
                            <a:schemeClr val="tx1"/>
                          </a:solidFill>
                          <a:effectLst/>
                          <a:latin typeface="+mn-lt"/>
                          <a:ea typeface="+mn-ea"/>
                          <a:cs typeface="+mn-cs"/>
                        </a:rPr>
                        <a:t>Basic functions of </a:t>
                      </a:r>
                      <a:r>
                        <a:rPr lang="en-US" sz="2000" b="1" kern="1200" dirty="0" err="1">
                          <a:solidFill>
                            <a:schemeClr val="tx1"/>
                          </a:solidFill>
                          <a:effectLst/>
                          <a:latin typeface="+mn-lt"/>
                          <a:ea typeface="+mn-ea"/>
                          <a:cs typeface="+mn-cs"/>
                        </a:rPr>
                        <a:t>matplotlib</a:t>
                      </a:r>
                      <a:r>
                        <a:rPr lang="en-US" sz="2000" b="1" kern="1200" dirty="0">
                          <a:solidFill>
                            <a:schemeClr val="tx1"/>
                          </a:solidFill>
                          <a:effectLst/>
                          <a:latin typeface="+mn-lt"/>
                          <a:ea typeface="+mn-ea"/>
                          <a:cs typeface="+mn-cs"/>
                        </a:rPr>
                        <a:t>-Simple Line Plot, Scatter Plot-Density and Contour Plots- Histograms, Binning and Density-Customizing Plot</a:t>
                      </a:r>
                      <a:r>
                        <a:rPr lang="en-US" sz="2000" b="1" kern="1200" baseline="0" dirty="0">
                          <a:solidFill>
                            <a:schemeClr val="tx1"/>
                          </a:solidFill>
                          <a:effectLst/>
                          <a:latin typeface="+mn-lt"/>
                          <a:ea typeface="+mn-ea"/>
                          <a:cs typeface="+mn-cs"/>
                        </a:rPr>
                        <a:t> </a:t>
                      </a:r>
                      <a:r>
                        <a:rPr lang="en-US" sz="2000" b="1" kern="1200" dirty="0">
                          <a:solidFill>
                            <a:schemeClr val="tx1"/>
                          </a:solidFill>
                          <a:effectLst/>
                          <a:latin typeface="+mn-lt"/>
                          <a:ea typeface="+mn-ea"/>
                          <a:cs typeface="+mn-cs"/>
                        </a:rPr>
                        <a:t>Legends, </a:t>
                      </a:r>
                      <a:r>
                        <a:rPr lang="en-US" sz="2000" b="1" kern="1200" dirty="0" err="1">
                          <a:solidFill>
                            <a:schemeClr val="tx1"/>
                          </a:solidFill>
                          <a:effectLst/>
                          <a:latin typeface="+mn-lt"/>
                          <a:ea typeface="+mn-ea"/>
                          <a:cs typeface="+mn-cs"/>
                        </a:rPr>
                        <a:t>Colour</a:t>
                      </a:r>
                      <a:r>
                        <a:rPr lang="en-US" sz="2000" b="1" kern="1200" dirty="0">
                          <a:solidFill>
                            <a:schemeClr val="tx1"/>
                          </a:solidFill>
                          <a:effectLst/>
                          <a:latin typeface="+mn-lt"/>
                          <a:ea typeface="+mn-ea"/>
                          <a:cs typeface="+mn-cs"/>
                        </a:rPr>
                        <a:t> Bars-Three- Dimensional Plotting in </a:t>
                      </a:r>
                      <a:r>
                        <a:rPr lang="en-US" sz="2000" b="1" kern="1200" dirty="0" err="1">
                          <a:solidFill>
                            <a:schemeClr val="tx1"/>
                          </a:solidFill>
                          <a:effectLst/>
                          <a:latin typeface="+mn-lt"/>
                          <a:ea typeface="+mn-ea"/>
                          <a:cs typeface="+mn-cs"/>
                        </a:rPr>
                        <a:t>Matplotlib</a:t>
                      </a:r>
                      <a:endParaRPr lang="en-US" sz="2000" b="1" kern="1200" dirty="0">
                        <a:solidFill>
                          <a:schemeClr val="tx1"/>
                        </a:solidFill>
                        <a:effectLst/>
                        <a:latin typeface="+mn-lt"/>
                        <a:ea typeface="+mn-ea"/>
                        <a:cs typeface="+mn-cs"/>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017949">
                <a:tc>
                  <a:txBody>
                    <a:bodyPr/>
                    <a:lstStyle/>
                    <a:p>
                      <a:pPr marL="67945" marR="0">
                        <a:lnSpc>
                          <a:spcPct val="107000"/>
                        </a:lnSpc>
                        <a:spcBef>
                          <a:spcPts val="5"/>
                        </a:spcBef>
                        <a:spcAft>
                          <a:spcPts val="0"/>
                        </a:spcAft>
                      </a:pPr>
                      <a:r>
                        <a:rPr lang="en-US" sz="2000" b="1" kern="1200" dirty="0">
                          <a:solidFill>
                            <a:schemeClr val="tx1"/>
                          </a:solidFill>
                          <a:effectLst/>
                          <a:latin typeface="+mn-lt"/>
                          <a:ea typeface="+mn-ea"/>
                          <a:cs typeface="+mn-cs"/>
                        </a:rPr>
                        <a:t>Multithreaded Programming: Introduction, Threads and Processes, Python</a:t>
                      </a:r>
                      <a:r>
                        <a:rPr lang="en-US" sz="2000" b="1" kern="1200" baseline="0" dirty="0">
                          <a:solidFill>
                            <a:schemeClr val="tx1"/>
                          </a:solidFill>
                          <a:effectLst/>
                          <a:latin typeface="+mn-lt"/>
                          <a:ea typeface="+mn-ea"/>
                          <a:cs typeface="+mn-cs"/>
                        </a:rPr>
                        <a:t> </a:t>
                      </a:r>
                      <a:r>
                        <a:rPr lang="en-US" sz="2000" b="1" kern="1200" dirty="0">
                          <a:solidFill>
                            <a:schemeClr val="tx1"/>
                          </a:solidFill>
                          <a:effectLst/>
                          <a:latin typeface="+mn-lt"/>
                          <a:ea typeface="+mn-ea"/>
                          <a:cs typeface="+mn-cs"/>
                        </a:rPr>
                        <a:t>Threads, and the Global Interpreter Lock, Thread Module, Threading Module, Related Modules</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1821180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graphicFrame>
        <p:nvGraphicFramePr>
          <p:cNvPr id="6" name="Content Placeholder 5"/>
          <p:cNvGraphicFramePr>
            <a:graphicFrameLocks noGrp="1"/>
          </p:cNvGraphicFramePr>
          <p:nvPr>
            <p:ph idx="1"/>
            <p:extLst>
              <p:ext uri="{D42A27DB-BD31-4B8C-83A1-F6EECF244321}">
                <p14:modId xmlns:p14="http://schemas.microsoft.com/office/powerpoint/2010/main" val="2249894745"/>
              </p:ext>
            </p:extLst>
          </p:nvPr>
        </p:nvGraphicFramePr>
        <p:xfrm>
          <a:off x="708338" y="811371"/>
          <a:ext cx="10753859" cy="4850332"/>
        </p:xfrm>
        <a:graphic>
          <a:graphicData uri="http://schemas.openxmlformats.org/drawingml/2006/table">
            <a:tbl>
              <a:tblPr firstRow="1" firstCol="1" lastRow="1" lastCol="1" bandRow="1" bandCol="1">
                <a:tableStyleId>{5C22544A-7EE6-4342-B048-85BDC9FD1C3A}</a:tableStyleId>
              </a:tblPr>
              <a:tblGrid>
                <a:gridCol w="656136">
                  <a:extLst>
                    <a:ext uri="{9D8B030D-6E8A-4147-A177-3AD203B41FA5}">
                      <a16:colId xmlns:a16="http://schemas.microsoft.com/office/drawing/2014/main" val="20000"/>
                    </a:ext>
                  </a:extLst>
                </a:gridCol>
                <a:gridCol w="10097723">
                  <a:extLst>
                    <a:ext uri="{9D8B030D-6E8A-4147-A177-3AD203B41FA5}">
                      <a16:colId xmlns:a16="http://schemas.microsoft.com/office/drawing/2014/main" val="20001"/>
                    </a:ext>
                  </a:extLst>
                </a:gridCol>
              </a:tblGrid>
              <a:tr h="284223">
                <a:tc gridSpan="2">
                  <a:txBody>
                    <a:bodyPr/>
                    <a:lstStyle/>
                    <a:p>
                      <a:pPr marL="67945" marR="0">
                        <a:lnSpc>
                          <a:spcPct val="107000"/>
                        </a:lnSpc>
                        <a:spcBef>
                          <a:spcPts val="5"/>
                        </a:spcBef>
                        <a:spcAft>
                          <a:spcPts val="0"/>
                        </a:spcAft>
                      </a:pPr>
                      <a:r>
                        <a:rPr lang="en-US" sz="2000" b="1" kern="1200" dirty="0">
                          <a:solidFill>
                            <a:schemeClr val="bg1"/>
                          </a:solidFill>
                          <a:effectLst/>
                          <a:latin typeface="+mn-lt"/>
                          <a:ea typeface="+mn-ea"/>
                          <a:cs typeface="+mn-cs"/>
                        </a:rPr>
                        <a:t>TEXT BOOKS</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0"/>
                  </a:ext>
                </a:extLst>
              </a:tr>
              <a:tr h="282270">
                <a:tc>
                  <a:txBody>
                    <a:bodyPr/>
                    <a:lstStyle/>
                    <a:p>
                      <a:pPr marL="5715" marR="0" algn="ctr">
                        <a:lnSpc>
                          <a:spcPct val="107000"/>
                        </a:lnSpc>
                        <a:spcBef>
                          <a:spcPts val="0"/>
                        </a:spcBef>
                        <a:spcAft>
                          <a:spcPts val="0"/>
                        </a:spcAft>
                      </a:pPr>
                      <a:r>
                        <a:rPr lang="en-US" sz="1800" b="1" kern="1200" dirty="0">
                          <a:solidFill>
                            <a:schemeClr val="tx1"/>
                          </a:solidFill>
                          <a:effectLst/>
                          <a:latin typeface="+mn-lt"/>
                          <a:ea typeface="+mn-ea"/>
                          <a:cs typeface="+mn-cs"/>
                        </a:rPr>
                        <a:t>1</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9215" marR="0" algn="just">
                        <a:lnSpc>
                          <a:spcPts val="1260"/>
                        </a:lnSpc>
                        <a:spcBef>
                          <a:spcPts val="85"/>
                        </a:spcBef>
                        <a:spcAft>
                          <a:spcPts val="0"/>
                        </a:spcAft>
                      </a:pPr>
                      <a:endParaRPr lang="en-US" sz="1800" b="1" kern="1200" dirty="0">
                        <a:solidFill>
                          <a:schemeClr val="tx1"/>
                        </a:solidFill>
                        <a:effectLst/>
                        <a:latin typeface="+mn-lt"/>
                        <a:ea typeface="+mn-ea"/>
                        <a:cs typeface="+mn-cs"/>
                      </a:endParaRPr>
                    </a:p>
                    <a:p>
                      <a:pPr marL="69215" marR="0" algn="just">
                        <a:lnSpc>
                          <a:spcPts val="1260"/>
                        </a:lnSpc>
                        <a:spcBef>
                          <a:spcPts val="85"/>
                        </a:spcBef>
                        <a:spcAft>
                          <a:spcPts val="0"/>
                        </a:spcAft>
                      </a:pPr>
                      <a:r>
                        <a:rPr lang="en-US" sz="1800" b="1" kern="1200" dirty="0">
                          <a:solidFill>
                            <a:schemeClr val="tx1"/>
                          </a:solidFill>
                          <a:effectLst/>
                          <a:latin typeface="+mn-lt"/>
                          <a:ea typeface="+mn-ea"/>
                          <a:cs typeface="+mn-cs"/>
                        </a:rPr>
                        <a:t>Wesley J. Chun, - Core Python Programming, Second Edition, Pearson.</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46958">
                <a:tc>
                  <a:txBody>
                    <a:bodyPr/>
                    <a:lstStyle/>
                    <a:p>
                      <a:pPr marL="5715" marR="0" algn="ctr">
                        <a:lnSpc>
                          <a:spcPct val="107000"/>
                        </a:lnSpc>
                        <a:spcBef>
                          <a:spcPts val="665"/>
                        </a:spcBef>
                        <a:spcAft>
                          <a:spcPts val="0"/>
                        </a:spcAft>
                      </a:pPr>
                      <a:r>
                        <a:rPr lang="en-US" sz="1800" b="1" kern="1200">
                          <a:solidFill>
                            <a:schemeClr val="tx1"/>
                          </a:solidFill>
                          <a:effectLst/>
                          <a:latin typeface="+mn-lt"/>
                          <a:ea typeface="+mn-ea"/>
                          <a:cs typeface="+mn-cs"/>
                        </a:rPr>
                        <a:t>2</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9215" marR="264795" algn="just">
                        <a:lnSpc>
                          <a:spcPts val="1350"/>
                        </a:lnSpc>
                        <a:spcBef>
                          <a:spcPts val="0"/>
                        </a:spcBef>
                        <a:spcAft>
                          <a:spcPts val="0"/>
                        </a:spcAft>
                      </a:pPr>
                      <a:endParaRPr lang="en-US" sz="1800" b="1" kern="1200" dirty="0">
                        <a:solidFill>
                          <a:schemeClr val="tx1"/>
                        </a:solidFill>
                        <a:effectLst/>
                        <a:latin typeface="+mn-lt"/>
                        <a:ea typeface="+mn-ea"/>
                        <a:cs typeface="+mn-cs"/>
                      </a:endParaRPr>
                    </a:p>
                    <a:p>
                      <a:pPr marL="69215" marR="264795" algn="just">
                        <a:lnSpc>
                          <a:spcPts val="1350"/>
                        </a:lnSpc>
                        <a:spcBef>
                          <a:spcPts val="0"/>
                        </a:spcBef>
                        <a:spcAft>
                          <a:spcPts val="0"/>
                        </a:spcAft>
                      </a:pPr>
                      <a:r>
                        <a:rPr lang="en-US" sz="1800" b="1" kern="1200" dirty="0">
                          <a:solidFill>
                            <a:schemeClr val="tx1"/>
                          </a:solidFill>
                          <a:effectLst/>
                          <a:latin typeface="+mn-lt"/>
                          <a:ea typeface="+mn-ea"/>
                          <a:cs typeface="+mn-cs"/>
                        </a:rPr>
                        <a:t>Jake Vander </a:t>
                      </a:r>
                      <a:r>
                        <a:rPr lang="en-US" sz="1800" b="1" kern="1200" dirty="0" err="1">
                          <a:solidFill>
                            <a:schemeClr val="tx1"/>
                          </a:solidFill>
                          <a:effectLst/>
                          <a:latin typeface="+mn-lt"/>
                          <a:ea typeface="+mn-ea"/>
                          <a:cs typeface="+mn-cs"/>
                        </a:rPr>
                        <a:t>Plas</a:t>
                      </a:r>
                      <a:r>
                        <a:rPr lang="en-US" sz="1800" b="1" kern="1200" dirty="0">
                          <a:solidFill>
                            <a:schemeClr val="tx1"/>
                          </a:solidFill>
                          <a:effectLst/>
                          <a:latin typeface="+mn-lt"/>
                          <a:ea typeface="+mn-ea"/>
                          <a:cs typeface="+mn-cs"/>
                        </a:rPr>
                        <a:t>, Python Data Science Handbook - Essential Tools for Working with  Data, </a:t>
                      </a:r>
                      <a:r>
                        <a:rPr lang="en-US" sz="1800" b="1" kern="1200" dirty="0" err="1">
                          <a:solidFill>
                            <a:schemeClr val="tx1"/>
                          </a:solidFill>
                          <a:effectLst/>
                          <a:latin typeface="+mn-lt"/>
                          <a:ea typeface="+mn-ea"/>
                          <a:cs typeface="+mn-cs"/>
                        </a:rPr>
                        <a:t>O’Reily</a:t>
                      </a:r>
                      <a:r>
                        <a:rPr lang="en-US" sz="1800" b="1" kern="1200" dirty="0">
                          <a:solidFill>
                            <a:schemeClr val="tx1"/>
                          </a:solidFill>
                          <a:effectLst/>
                          <a:latin typeface="+mn-lt"/>
                          <a:ea typeface="+mn-ea"/>
                          <a:cs typeface="+mn-cs"/>
                        </a:rPr>
                        <a:t> Media, </a:t>
                      </a:r>
                      <a:r>
                        <a:rPr lang="en-US" sz="1800" b="1" kern="1200" dirty="0" err="1">
                          <a:solidFill>
                            <a:schemeClr val="tx1"/>
                          </a:solidFill>
                          <a:effectLst/>
                          <a:latin typeface="+mn-lt"/>
                          <a:ea typeface="+mn-ea"/>
                          <a:cs typeface="+mn-cs"/>
                        </a:rPr>
                        <a:t>Inc</a:t>
                      </a:r>
                      <a:r>
                        <a:rPr lang="en-US" sz="1800" b="1" kern="1200" dirty="0">
                          <a:solidFill>
                            <a:schemeClr val="tx1"/>
                          </a:solidFill>
                          <a:effectLst/>
                          <a:latin typeface="+mn-lt"/>
                          <a:ea typeface="+mn-ea"/>
                          <a:cs typeface="+mn-cs"/>
                        </a:rPr>
                        <a:t>, 2016</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18258">
                <a:tc>
                  <a:txBody>
                    <a:bodyPr/>
                    <a:lstStyle/>
                    <a:p>
                      <a:pPr marL="5715" marR="0" algn="ctr">
                        <a:lnSpc>
                          <a:spcPct val="107000"/>
                        </a:lnSpc>
                        <a:spcBef>
                          <a:spcPts val="855"/>
                        </a:spcBef>
                        <a:spcAft>
                          <a:spcPts val="0"/>
                        </a:spcAft>
                      </a:pPr>
                      <a:r>
                        <a:rPr lang="en-US" sz="1800" b="1" kern="1200">
                          <a:solidFill>
                            <a:schemeClr val="tx1"/>
                          </a:solidFill>
                          <a:effectLst/>
                          <a:latin typeface="+mn-lt"/>
                          <a:ea typeface="+mn-ea"/>
                          <a:cs typeface="+mn-cs"/>
                        </a:rPr>
                        <a:t>3</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9215" marR="0" algn="just">
                        <a:lnSpc>
                          <a:spcPts val="1375"/>
                        </a:lnSpc>
                        <a:spcBef>
                          <a:spcPts val="0"/>
                        </a:spcBef>
                        <a:spcAft>
                          <a:spcPts val="0"/>
                        </a:spcAft>
                        <a:tabLst>
                          <a:tab pos="737870" algn="l"/>
                          <a:tab pos="1096010" algn="l"/>
                          <a:tab pos="1981200" algn="l"/>
                          <a:tab pos="2230755" algn="l"/>
                          <a:tab pos="2795905" algn="l"/>
                          <a:tab pos="3146425" algn="l"/>
                          <a:tab pos="3888105" algn="l"/>
                          <a:tab pos="4896485" algn="l"/>
                        </a:tabLst>
                      </a:pPr>
                      <a:endParaRPr lang="en-US" sz="1800" b="1" kern="1200" dirty="0">
                        <a:solidFill>
                          <a:schemeClr val="tx1"/>
                        </a:solidFill>
                        <a:effectLst/>
                        <a:latin typeface="+mn-lt"/>
                        <a:ea typeface="+mn-ea"/>
                        <a:cs typeface="+mn-cs"/>
                      </a:endParaRPr>
                    </a:p>
                    <a:p>
                      <a:pPr marL="69215" marR="0" algn="just">
                        <a:lnSpc>
                          <a:spcPts val="1375"/>
                        </a:lnSpc>
                        <a:spcBef>
                          <a:spcPts val="0"/>
                        </a:spcBef>
                        <a:spcAft>
                          <a:spcPts val="0"/>
                        </a:spcAft>
                        <a:tabLst>
                          <a:tab pos="737870" algn="l"/>
                          <a:tab pos="1096010" algn="l"/>
                          <a:tab pos="1981200" algn="l"/>
                          <a:tab pos="2230755" algn="l"/>
                          <a:tab pos="2795905" algn="l"/>
                          <a:tab pos="3146425" algn="l"/>
                          <a:tab pos="3888105" algn="l"/>
                          <a:tab pos="4896485" algn="l"/>
                        </a:tabLst>
                      </a:pPr>
                      <a:r>
                        <a:rPr lang="en-US" sz="1800" b="1" kern="1200" dirty="0" err="1">
                          <a:solidFill>
                            <a:schemeClr val="tx1"/>
                          </a:solidFill>
                          <a:effectLst/>
                          <a:latin typeface="+mn-lt"/>
                          <a:ea typeface="+mn-ea"/>
                          <a:cs typeface="+mn-cs"/>
                        </a:rPr>
                        <a:t>Zhang.Y</a:t>
                      </a:r>
                      <a:r>
                        <a:rPr lang="en-US" sz="1800" b="1" kern="1200" dirty="0">
                          <a:solidFill>
                            <a:schemeClr val="tx1"/>
                          </a:solidFill>
                          <a:effectLst/>
                          <a:latin typeface="+mn-lt"/>
                          <a:ea typeface="+mn-ea"/>
                          <a:cs typeface="+mn-cs"/>
                        </a:rPr>
                        <a:t>	,An	Introduction	to	Python	and	Computer</a:t>
                      </a:r>
                      <a:r>
                        <a:rPr lang="en-US" sz="1800" b="1" kern="1200" baseline="0" dirty="0">
                          <a:solidFill>
                            <a:schemeClr val="tx1"/>
                          </a:solidFill>
                          <a:effectLst/>
                          <a:latin typeface="+mn-lt"/>
                          <a:ea typeface="+mn-ea"/>
                          <a:cs typeface="+mn-cs"/>
                        </a:rPr>
                        <a:t> </a:t>
                      </a:r>
                      <a:r>
                        <a:rPr lang="en-US" sz="1800" b="1" kern="1200" dirty="0">
                          <a:solidFill>
                            <a:schemeClr val="tx1"/>
                          </a:solidFill>
                          <a:effectLst/>
                          <a:latin typeface="+mn-lt"/>
                          <a:ea typeface="+mn-ea"/>
                          <a:cs typeface="+mn-cs"/>
                        </a:rPr>
                        <a:t>Programming,</a:t>
                      </a:r>
                      <a:r>
                        <a:rPr lang="en-US" sz="1800" b="1" kern="1200" baseline="0" dirty="0">
                          <a:solidFill>
                            <a:schemeClr val="tx1"/>
                          </a:solidFill>
                          <a:effectLst/>
                          <a:latin typeface="+mn-lt"/>
                          <a:ea typeface="+mn-ea"/>
                          <a:cs typeface="+mn-cs"/>
                        </a:rPr>
                        <a:t> </a:t>
                      </a:r>
                      <a:r>
                        <a:rPr lang="en-US" sz="1800" b="1" kern="1200" dirty="0">
                          <a:solidFill>
                            <a:schemeClr val="tx1"/>
                          </a:solidFill>
                          <a:effectLst/>
                          <a:latin typeface="+mn-lt"/>
                          <a:ea typeface="+mn-ea"/>
                          <a:cs typeface="+mn-cs"/>
                        </a:rPr>
                        <a:t>Springer</a:t>
                      </a:r>
                      <a:r>
                        <a:rPr lang="en-US" sz="1800" b="1" kern="1200" baseline="0" dirty="0">
                          <a:solidFill>
                            <a:schemeClr val="tx1"/>
                          </a:solidFill>
                          <a:effectLst/>
                          <a:latin typeface="+mn-lt"/>
                          <a:ea typeface="+mn-ea"/>
                          <a:cs typeface="+mn-cs"/>
                        </a:rPr>
                        <a:t> </a:t>
                      </a:r>
                      <a:r>
                        <a:rPr lang="en-US" sz="1800" b="1" kern="1200" dirty="0">
                          <a:solidFill>
                            <a:schemeClr val="tx1"/>
                          </a:solidFill>
                          <a:effectLst/>
                          <a:latin typeface="+mn-lt"/>
                          <a:ea typeface="+mn-ea"/>
                          <a:cs typeface="+mn-cs"/>
                        </a:rPr>
                        <a:t>Publications,2016</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6034">
                <a:tc gridSpan="2">
                  <a:txBody>
                    <a:bodyPr/>
                    <a:lstStyle/>
                    <a:p>
                      <a:pPr marL="67945" marR="0">
                        <a:lnSpc>
                          <a:spcPct val="107000"/>
                        </a:lnSpc>
                        <a:spcBef>
                          <a:spcPts val="245"/>
                        </a:spcBef>
                        <a:spcAft>
                          <a:spcPts val="0"/>
                        </a:spcAft>
                      </a:pPr>
                      <a:r>
                        <a:rPr lang="en-US" sz="2000" b="1" kern="1200" dirty="0">
                          <a:solidFill>
                            <a:schemeClr val="bg1"/>
                          </a:solidFill>
                          <a:effectLst/>
                          <a:latin typeface="+mn-lt"/>
                          <a:ea typeface="+mn-ea"/>
                          <a:cs typeface="+mn-cs"/>
                        </a:rPr>
                        <a:t>REFERENCE BOOKS / MOOCs</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4"/>
                  </a:ext>
                </a:extLst>
              </a:tr>
              <a:tr h="378964">
                <a:tc>
                  <a:txBody>
                    <a:bodyPr/>
                    <a:lstStyle/>
                    <a:p>
                      <a:pPr marL="5715" marR="0" algn="ctr">
                        <a:lnSpc>
                          <a:spcPct val="107000"/>
                        </a:lnSpc>
                        <a:spcBef>
                          <a:spcPts val="255"/>
                        </a:spcBef>
                        <a:spcAft>
                          <a:spcPts val="0"/>
                        </a:spcAft>
                      </a:pPr>
                      <a:r>
                        <a:rPr lang="en-US" sz="2000" b="1" kern="1200">
                          <a:solidFill>
                            <a:schemeClr val="tx1"/>
                          </a:solidFill>
                          <a:effectLst/>
                          <a:latin typeface="+mn-lt"/>
                          <a:ea typeface="+mn-ea"/>
                          <a:cs typeface="+mn-cs"/>
                        </a:rPr>
                        <a:t>1</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9215" marR="0">
                        <a:lnSpc>
                          <a:spcPct val="107000"/>
                        </a:lnSpc>
                        <a:spcBef>
                          <a:spcPts val="255"/>
                        </a:spcBef>
                        <a:spcAft>
                          <a:spcPts val="0"/>
                        </a:spcAft>
                      </a:pPr>
                      <a:r>
                        <a:rPr lang="en-US" sz="1800" b="1" kern="1200" dirty="0">
                          <a:solidFill>
                            <a:schemeClr val="tx1"/>
                          </a:solidFill>
                          <a:effectLst/>
                          <a:latin typeface="+mn-lt"/>
                          <a:ea typeface="+mn-ea"/>
                          <a:cs typeface="+mn-cs"/>
                        </a:rPr>
                        <a:t>Joel </a:t>
                      </a:r>
                      <a:r>
                        <a:rPr lang="en-US" sz="1800" b="1" kern="1200" dirty="0" err="1">
                          <a:solidFill>
                            <a:schemeClr val="tx1"/>
                          </a:solidFill>
                          <a:effectLst/>
                          <a:latin typeface="+mn-lt"/>
                          <a:ea typeface="+mn-ea"/>
                          <a:cs typeface="+mn-cs"/>
                        </a:rPr>
                        <a:t>Grus</a:t>
                      </a:r>
                      <a:r>
                        <a:rPr lang="en-US" sz="1800" b="1" kern="1200" dirty="0">
                          <a:solidFill>
                            <a:schemeClr val="tx1"/>
                          </a:solidFill>
                          <a:effectLst/>
                          <a:latin typeface="+mn-lt"/>
                          <a:ea typeface="+mn-ea"/>
                          <a:cs typeface="+mn-cs"/>
                        </a:rPr>
                        <a:t>, Data Science from Scratch First Principles with Python, O’Reilly Media,2016.</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80917">
                <a:tc>
                  <a:txBody>
                    <a:bodyPr/>
                    <a:lstStyle/>
                    <a:p>
                      <a:pPr marL="5715" marR="0" algn="ctr">
                        <a:lnSpc>
                          <a:spcPct val="107000"/>
                        </a:lnSpc>
                        <a:spcBef>
                          <a:spcPts val="255"/>
                        </a:spcBef>
                        <a:spcAft>
                          <a:spcPts val="0"/>
                        </a:spcAft>
                      </a:pPr>
                      <a:r>
                        <a:rPr lang="en-US" sz="2000" b="1" kern="1200">
                          <a:solidFill>
                            <a:schemeClr val="tx1"/>
                          </a:solidFill>
                          <a:effectLst/>
                          <a:latin typeface="+mn-lt"/>
                          <a:ea typeface="+mn-ea"/>
                          <a:cs typeface="+mn-cs"/>
                        </a:rPr>
                        <a:t>2</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9215" marR="0">
                        <a:lnSpc>
                          <a:spcPct val="107000"/>
                        </a:lnSpc>
                        <a:spcBef>
                          <a:spcPts val="15"/>
                        </a:spcBef>
                        <a:spcAft>
                          <a:spcPts val="0"/>
                        </a:spcAft>
                      </a:pPr>
                      <a:r>
                        <a:rPr lang="en-US" sz="1800" b="1" kern="1200" dirty="0">
                          <a:solidFill>
                            <a:schemeClr val="tx1"/>
                          </a:solidFill>
                          <a:effectLst/>
                          <a:latin typeface="+mn-lt"/>
                          <a:ea typeface="+mn-ea"/>
                          <a:cs typeface="+mn-cs"/>
                        </a:rPr>
                        <a:t>T.R. </a:t>
                      </a:r>
                      <a:r>
                        <a:rPr lang="en-US" sz="1800" b="1" kern="1200" dirty="0" err="1">
                          <a:solidFill>
                            <a:schemeClr val="tx1"/>
                          </a:solidFill>
                          <a:effectLst/>
                          <a:latin typeface="+mn-lt"/>
                          <a:ea typeface="+mn-ea"/>
                          <a:cs typeface="+mn-cs"/>
                        </a:rPr>
                        <a:t>Padmanabhan</a:t>
                      </a:r>
                      <a:r>
                        <a:rPr lang="en-US" sz="1800" b="1" kern="1200" dirty="0">
                          <a:solidFill>
                            <a:schemeClr val="tx1"/>
                          </a:solidFill>
                          <a:effectLst/>
                          <a:latin typeface="+mn-lt"/>
                          <a:ea typeface="+mn-ea"/>
                          <a:cs typeface="+mn-cs"/>
                        </a:rPr>
                        <a:t>, Programming with Python, Springer Publications,2016</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590910">
                <a:tc>
                  <a:txBody>
                    <a:bodyPr/>
                    <a:lstStyle/>
                    <a:p>
                      <a:pPr marL="5715" marR="0" algn="ctr">
                        <a:lnSpc>
                          <a:spcPct val="107000"/>
                        </a:lnSpc>
                        <a:spcBef>
                          <a:spcPts val="735"/>
                        </a:spcBef>
                        <a:spcAft>
                          <a:spcPts val="0"/>
                        </a:spcAft>
                      </a:pPr>
                      <a:r>
                        <a:rPr lang="en-US" sz="2000" b="1" kern="1200">
                          <a:solidFill>
                            <a:schemeClr val="tx1"/>
                          </a:solidFill>
                          <a:effectLst/>
                          <a:latin typeface="+mn-lt"/>
                          <a:ea typeface="+mn-ea"/>
                          <a:cs typeface="+mn-cs"/>
                        </a:rPr>
                        <a:t>3</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9215" marR="0">
                        <a:lnSpc>
                          <a:spcPct val="107000"/>
                        </a:lnSpc>
                        <a:spcBef>
                          <a:spcPts val="5"/>
                        </a:spcBef>
                        <a:spcAft>
                          <a:spcPts val="0"/>
                        </a:spcAft>
                        <a:tabLst>
                          <a:tab pos="755015" algn="l"/>
                          <a:tab pos="1149350" algn="l"/>
                          <a:tab pos="1642745" algn="l"/>
                          <a:tab pos="2987675" algn="l"/>
                          <a:tab pos="3557270" algn="l"/>
                          <a:tab pos="4102735" algn="l"/>
                          <a:tab pos="4843145" algn="l"/>
                        </a:tabLst>
                      </a:pPr>
                      <a:r>
                        <a:rPr lang="en-US" sz="1800" b="1" kern="1200" dirty="0">
                          <a:solidFill>
                            <a:schemeClr val="tx1"/>
                          </a:solidFill>
                          <a:effectLst/>
                          <a:latin typeface="+mn-lt"/>
                          <a:ea typeface="+mn-ea"/>
                          <a:cs typeface="+mn-cs"/>
                        </a:rPr>
                        <a:t>"Python	for	Data	Science", Cognitive	Class,	2019.	[Online].	Available:</a:t>
                      </a:r>
                    </a:p>
                    <a:p>
                      <a:pPr marL="69215" marR="0">
                        <a:lnSpc>
                          <a:spcPct val="107000"/>
                        </a:lnSpc>
                        <a:spcBef>
                          <a:spcPts val="200"/>
                        </a:spcBef>
                        <a:spcAft>
                          <a:spcPts val="0"/>
                        </a:spcAft>
                      </a:pPr>
                      <a:r>
                        <a:rPr lang="en-US" sz="1800" b="1" kern="1200" dirty="0">
                          <a:solidFill>
                            <a:schemeClr val="tx1"/>
                          </a:solidFill>
                          <a:effectLst/>
                          <a:latin typeface="+mn-lt"/>
                          <a:ea typeface="+mn-ea"/>
                          <a:cs typeface="+mn-cs"/>
                        </a:rPr>
                        <a:t>https://cognitiveclass.ai/courses/python-for-data-science/. [Accessed: 20- Jun- 2019].</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507890">
                <a:tc>
                  <a:txBody>
                    <a:bodyPr/>
                    <a:lstStyle/>
                    <a:p>
                      <a:pPr marL="5715" marR="0" algn="ctr">
                        <a:lnSpc>
                          <a:spcPct val="107000"/>
                        </a:lnSpc>
                        <a:spcBef>
                          <a:spcPts val="545"/>
                        </a:spcBef>
                        <a:spcAft>
                          <a:spcPts val="0"/>
                        </a:spcAft>
                      </a:pPr>
                      <a:r>
                        <a:rPr lang="en-US" sz="2000" b="1" kern="1200">
                          <a:solidFill>
                            <a:schemeClr val="tx1"/>
                          </a:solidFill>
                          <a:effectLst/>
                          <a:latin typeface="+mn-lt"/>
                          <a:ea typeface="+mn-ea"/>
                          <a:cs typeface="+mn-cs"/>
                        </a:rPr>
                        <a:t>4</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9215" marR="0">
                        <a:lnSpc>
                          <a:spcPts val="1260"/>
                        </a:lnSpc>
                        <a:spcBef>
                          <a:spcPts val="0"/>
                        </a:spcBef>
                        <a:spcAft>
                          <a:spcPts val="0"/>
                        </a:spcAft>
                      </a:pPr>
                      <a:endParaRPr lang="en-US" sz="1800" b="1" kern="1200" dirty="0">
                        <a:solidFill>
                          <a:schemeClr val="tx1"/>
                        </a:solidFill>
                        <a:effectLst/>
                        <a:latin typeface="+mn-lt"/>
                        <a:ea typeface="+mn-ea"/>
                        <a:cs typeface="+mn-cs"/>
                      </a:endParaRPr>
                    </a:p>
                    <a:p>
                      <a:pPr marL="69215" marR="0">
                        <a:lnSpc>
                          <a:spcPts val="1260"/>
                        </a:lnSpc>
                        <a:spcBef>
                          <a:spcPts val="0"/>
                        </a:spcBef>
                        <a:spcAft>
                          <a:spcPts val="0"/>
                        </a:spcAft>
                      </a:pPr>
                      <a:r>
                        <a:rPr lang="en-US" sz="1800" b="1" kern="1200" dirty="0">
                          <a:solidFill>
                            <a:schemeClr val="tx1"/>
                          </a:solidFill>
                          <a:effectLst/>
                          <a:latin typeface="+mn-lt"/>
                          <a:ea typeface="+mn-ea"/>
                          <a:cs typeface="+mn-cs"/>
                        </a:rPr>
                        <a:t>Robert </a:t>
                      </a:r>
                      <a:r>
                        <a:rPr lang="en-US" sz="1800" b="1" kern="1200" dirty="0" err="1">
                          <a:solidFill>
                            <a:schemeClr val="tx1"/>
                          </a:solidFill>
                          <a:effectLst/>
                          <a:latin typeface="+mn-lt"/>
                          <a:ea typeface="+mn-ea"/>
                          <a:cs typeface="+mn-cs"/>
                        </a:rPr>
                        <a:t>Sedgewick</a:t>
                      </a:r>
                      <a:r>
                        <a:rPr lang="en-US" sz="1800" b="1" kern="1200" dirty="0">
                          <a:solidFill>
                            <a:schemeClr val="tx1"/>
                          </a:solidFill>
                          <a:effectLst/>
                          <a:latin typeface="+mn-lt"/>
                          <a:ea typeface="+mn-ea"/>
                          <a:cs typeface="+mn-cs"/>
                        </a:rPr>
                        <a:t>, Kevin Wayne, Robert </a:t>
                      </a:r>
                      <a:r>
                        <a:rPr lang="en-US" sz="1800" b="1" kern="1200" dirty="0" err="1">
                          <a:solidFill>
                            <a:schemeClr val="tx1"/>
                          </a:solidFill>
                          <a:effectLst/>
                          <a:latin typeface="+mn-lt"/>
                          <a:ea typeface="+mn-ea"/>
                          <a:cs typeface="+mn-cs"/>
                        </a:rPr>
                        <a:t>Dondero</a:t>
                      </a:r>
                      <a:r>
                        <a:rPr lang="en-US" sz="1800" b="1" kern="1200" dirty="0">
                          <a:solidFill>
                            <a:schemeClr val="tx1"/>
                          </a:solidFill>
                          <a:effectLst/>
                          <a:latin typeface="+mn-lt"/>
                          <a:ea typeface="+mn-ea"/>
                          <a:cs typeface="+mn-cs"/>
                        </a:rPr>
                        <a:t>, Introduction to Programming in Python, Pearson</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78964">
                <a:tc>
                  <a:txBody>
                    <a:bodyPr/>
                    <a:lstStyle/>
                    <a:p>
                      <a:pPr marL="5715" marR="0" algn="ctr">
                        <a:lnSpc>
                          <a:spcPct val="107000"/>
                        </a:lnSpc>
                        <a:spcBef>
                          <a:spcPts val="255"/>
                        </a:spcBef>
                        <a:spcAft>
                          <a:spcPts val="0"/>
                        </a:spcAft>
                      </a:pPr>
                      <a:r>
                        <a:rPr lang="en-US" sz="2000" b="1" kern="1200">
                          <a:solidFill>
                            <a:schemeClr val="tx1"/>
                          </a:solidFill>
                          <a:effectLst/>
                          <a:latin typeface="+mn-lt"/>
                          <a:ea typeface="+mn-ea"/>
                          <a:cs typeface="+mn-cs"/>
                        </a:rPr>
                        <a:t>5</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9215" marR="0">
                        <a:lnSpc>
                          <a:spcPct val="107000"/>
                        </a:lnSpc>
                        <a:spcBef>
                          <a:spcPts val="5"/>
                        </a:spcBef>
                        <a:spcAft>
                          <a:spcPts val="0"/>
                        </a:spcAft>
                      </a:pPr>
                      <a:r>
                        <a:rPr lang="en-US" sz="1800" b="1" kern="1200" dirty="0">
                          <a:solidFill>
                            <a:schemeClr val="tx1"/>
                          </a:solidFill>
                          <a:effectLst/>
                          <a:latin typeface="+mn-lt"/>
                          <a:ea typeface="+mn-ea"/>
                          <a:cs typeface="+mn-cs"/>
                        </a:rPr>
                        <a:t>Daniel Y Chen, Pandas for Everyone: Python Data Analysis, 1st Edition, Pearson</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80917">
                <a:tc>
                  <a:txBody>
                    <a:bodyPr/>
                    <a:lstStyle/>
                    <a:p>
                      <a:pPr marL="5715" marR="0" algn="ctr">
                        <a:lnSpc>
                          <a:spcPct val="107000"/>
                        </a:lnSpc>
                        <a:spcBef>
                          <a:spcPts val="15"/>
                        </a:spcBef>
                        <a:spcAft>
                          <a:spcPts val="0"/>
                        </a:spcAft>
                      </a:pPr>
                      <a:r>
                        <a:rPr lang="en-US" sz="2000" b="1" kern="1200">
                          <a:solidFill>
                            <a:schemeClr val="tx1"/>
                          </a:solidFill>
                          <a:effectLst/>
                          <a:latin typeface="+mn-lt"/>
                          <a:ea typeface="+mn-ea"/>
                          <a:cs typeface="+mn-cs"/>
                        </a:rPr>
                        <a:t>6</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9215" marR="0">
                        <a:lnSpc>
                          <a:spcPct val="107000"/>
                        </a:lnSpc>
                        <a:spcBef>
                          <a:spcPts val="15"/>
                        </a:spcBef>
                        <a:spcAft>
                          <a:spcPts val="0"/>
                        </a:spcAft>
                      </a:pPr>
                      <a:r>
                        <a:rPr lang="en-US" sz="1800" b="1" kern="1200" dirty="0">
                          <a:solidFill>
                            <a:schemeClr val="tx1"/>
                          </a:solidFill>
                          <a:effectLst/>
                          <a:latin typeface="+mn-lt"/>
                          <a:ea typeface="+mn-ea"/>
                          <a:cs typeface="+mn-cs"/>
                        </a:rPr>
                        <a:t>Doug Hellmann, The python 3 standard Library by example, Pearson Education</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7" name="Rectangle 1"/>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63926039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4" name="Title 3">
            <a:extLst>
              <a:ext uri="{FF2B5EF4-FFF2-40B4-BE49-F238E27FC236}">
                <a16:creationId xmlns:a16="http://schemas.microsoft.com/office/drawing/2014/main" id="{6AF1A31C-305B-8B99-2614-E443CD2AFB3B}"/>
              </a:ext>
            </a:extLst>
          </p:cNvPr>
          <p:cNvSpPr>
            <a:spLocks noGrp="1"/>
          </p:cNvSpPr>
          <p:nvPr>
            <p:ph type="title"/>
          </p:nvPr>
        </p:nvSpPr>
        <p:spPr>
          <a:xfrm>
            <a:off x="838200" y="365126"/>
            <a:ext cx="10515600" cy="443912"/>
          </a:xfrm>
        </p:spPr>
        <p:txBody>
          <a:bodyPr>
            <a:normAutofit fontScale="90000"/>
          </a:bodyPr>
          <a:lstStyle/>
          <a:p>
            <a:r>
              <a:rPr lang="en-US" dirty="0"/>
              <a:t>Introduction to Python</a:t>
            </a:r>
          </a:p>
        </p:txBody>
      </p:sp>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838200" y="1067338"/>
            <a:ext cx="10515600" cy="5109625"/>
          </a:xfrm>
        </p:spPr>
        <p:txBody>
          <a:bodyPr>
            <a:normAutofit fontScale="92500" lnSpcReduction="20000"/>
          </a:bodyPr>
          <a:lstStyle/>
          <a:p>
            <a:pPr marL="0" indent="0" algn="just">
              <a:buNone/>
            </a:pPr>
            <a:r>
              <a:rPr lang="en-US" dirty="0">
                <a:solidFill>
                  <a:srgbClr val="C00000"/>
                </a:solidFill>
              </a:rPr>
              <a:t>Python Definition: </a:t>
            </a:r>
            <a:r>
              <a:rPr lang="en-US" dirty="0"/>
              <a:t>Python is a high-level, general-purpose programming language known for its readability and simplicity. It was created by Guido van </a:t>
            </a:r>
            <a:r>
              <a:rPr lang="en-US" dirty="0" err="1"/>
              <a:t>Rossum</a:t>
            </a:r>
            <a:r>
              <a:rPr lang="en-US" dirty="0"/>
              <a:t> and first released in 1991. Python is designed to be easy to learn and has a clear and straightforward syntax, making it accessible for beginners while remaining powerful enough for experienced developers. </a:t>
            </a:r>
          </a:p>
          <a:p>
            <a:pPr>
              <a:lnSpc>
                <a:spcPct val="150000"/>
              </a:lnSpc>
            </a:pPr>
            <a:r>
              <a:rPr lang="en-US" dirty="0">
                <a:solidFill>
                  <a:srgbClr val="222222"/>
                </a:solidFill>
                <a:latin typeface="Lucida Grande"/>
              </a:rPr>
              <a:t>Python is an interpreted, interactive, object-oriented programming language.</a:t>
            </a:r>
          </a:p>
          <a:p>
            <a:pPr>
              <a:lnSpc>
                <a:spcPct val="150000"/>
              </a:lnSpc>
            </a:pPr>
            <a:r>
              <a:rPr lang="en-US" dirty="0">
                <a:solidFill>
                  <a:srgbClr val="222222"/>
                </a:solidFill>
                <a:latin typeface="Lucida Grande"/>
              </a:rPr>
              <a:t> It incorporates modules, exceptions, dynamic typing, very high level dynamic data types, and classes.</a:t>
            </a:r>
          </a:p>
          <a:p>
            <a:pPr>
              <a:lnSpc>
                <a:spcPct val="150000"/>
              </a:lnSpc>
            </a:pPr>
            <a:r>
              <a:rPr lang="en-US" dirty="0">
                <a:solidFill>
                  <a:srgbClr val="222222"/>
                </a:solidFill>
                <a:latin typeface="Lucida Grande"/>
              </a:rPr>
              <a:t>Python is portable: it runs on many Unix variants including Linux and </a:t>
            </a:r>
            <a:r>
              <a:rPr lang="en-US" dirty="0" err="1">
                <a:solidFill>
                  <a:srgbClr val="222222"/>
                </a:solidFill>
                <a:latin typeface="Lucida Grande"/>
              </a:rPr>
              <a:t>macOS</a:t>
            </a:r>
            <a:r>
              <a:rPr lang="en-US" dirty="0">
                <a:solidFill>
                  <a:srgbClr val="222222"/>
                </a:solidFill>
                <a:latin typeface="Lucida Grande"/>
              </a:rPr>
              <a:t>, and on Windows.</a:t>
            </a:r>
            <a:endParaRPr lang="en-IN" dirty="0"/>
          </a:p>
          <a:p>
            <a:pPr marL="0" indent="0" algn="just">
              <a:buNone/>
            </a:pPr>
            <a:endParaRPr lang="en-US" dirty="0"/>
          </a:p>
        </p:txBody>
      </p:sp>
    </p:spTree>
    <p:extLst>
      <p:ext uri="{BB962C8B-B14F-4D97-AF65-F5344CB8AC3E}">
        <p14:creationId xmlns:p14="http://schemas.microsoft.com/office/powerpoint/2010/main" val="314384505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4" name="Title 3">
            <a:extLst>
              <a:ext uri="{FF2B5EF4-FFF2-40B4-BE49-F238E27FC236}">
                <a16:creationId xmlns:a16="http://schemas.microsoft.com/office/drawing/2014/main" id="{6AF1A31C-305B-8B99-2614-E443CD2AFB3B}"/>
              </a:ext>
            </a:extLst>
          </p:cNvPr>
          <p:cNvSpPr>
            <a:spLocks noGrp="1"/>
          </p:cNvSpPr>
          <p:nvPr>
            <p:ph type="title"/>
          </p:nvPr>
        </p:nvSpPr>
        <p:spPr>
          <a:xfrm>
            <a:off x="838200" y="365126"/>
            <a:ext cx="10515600" cy="330334"/>
          </a:xfrm>
        </p:spPr>
        <p:txBody>
          <a:bodyPr>
            <a:normAutofit fontScale="90000"/>
          </a:bodyPr>
          <a:lstStyle/>
          <a:p>
            <a:r>
              <a:rPr lang="en-US" b="1" dirty="0"/>
              <a:t>Python History</a:t>
            </a:r>
          </a:p>
        </p:txBody>
      </p:sp>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746975" y="894094"/>
            <a:ext cx="10606825" cy="5282869"/>
          </a:xfrm>
        </p:spPr>
        <p:txBody>
          <a:bodyPr>
            <a:normAutofit fontScale="92500"/>
          </a:bodyPr>
          <a:lstStyle/>
          <a:p>
            <a:pPr marL="0" indent="0" algn="just">
              <a:buNone/>
            </a:pPr>
            <a:r>
              <a:rPr lang="en-US" dirty="0"/>
              <a:t>Python's history dates back to the late 1980s when Guido van </a:t>
            </a:r>
            <a:r>
              <a:rPr lang="en-US" dirty="0" err="1"/>
              <a:t>Rossum</a:t>
            </a:r>
            <a:r>
              <a:rPr lang="en-US" dirty="0"/>
              <a:t>, a Dutch programmer, began working on the language. The development of Python can be traced through several key milestones:</a:t>
            </a:r>
          </a:p>
          <a:p>
            <a:pPr algn="just"/>
            <a:r>
              <a:rPr lang="en-US" b="1" dirty="0"/>
              <a:t>1989:</a:t>
            </a:r>
            <a:r>
              <a:rPr lang="en-US" dirty="0"/>
              <a:t> Guido van </a:t>
            </a:r>
            <a:r>
              <a:rPr lang="en-US" dirty="0" err="1"/>
              <a:t>Rossum</a:t>
            </a:r>
            <a:r>
              <a:rPr lang="en-US" dirty="0"/>
              <a:t> starts working on Python during his Christmas holidays. He was inspired by the ABC language, which he had worked on at Centrum </a:t>
            </a:r>
            <a:r>
              <a:rPr lang="en-US" dirty="0" err="1"/>
              <a:t>Wiskunde</a:t>
            </a:r>
            <a:r>
              <a:rPr lang="en-US" dirty="0"/>
              <a:t> &amp; </a:t>
            </a:r>
            <a:r>
              <a:rPr lang="en-US" dirty="0" err="1"/>
              <a:t>Informatica</a:t>
            </a:r>
            <a:r>
              <a:rPr lang="en-US" dirty="0"/>
              <a:t> (CWI) in the Netherlands.</a:t>
            </a:r>
          </a:p>
          <a:p>
            <a:pPr algn="just"/>
            <a:r>
              <a:rPr lang="en-US" b="1" dirty="0"/>
              <a:t>1991:</a:t>
            </a:r>
            <a:r>
              <a:rPr lang="en-US" dirty="0"/>
              <a:t> Python 0.9.0, the first official release, is published. This version included many features that are still present in modern Python, such as exception handling, functions, and modules.</a:t>
            </a:r>
          </a:p>
          <a:p>
            <a:pPr algn="just"/>
            <a:r>
              <a:rPr lang="en-US" b="1" dirty="0"/>
              <a:t>1994:</a:t>
            </a:r>
            <a:r>
              <a:rPr lang="en-US" dirty="0"/>
              <a:t> Python 1.0 is released. This version included features like lambda, map, filter, and reduce.</a:t>
            </a:r>
          </a:p>
          <a:p>
            <a:pPr algn="just"/>
            <a:r>
              <a:rPr lang="en-US" b="1" dirty="0"/>
              <a:t>2000:</a:t>
            </a:r>
            <a:r>
              <a:rPr lang="en-US" dirty="0"/>
              <a:t> Python 2.0 is released, introducing list comprehensions, garbage collection, and Unicode support.</a:t>
            </a:r>
          </a:p>
          <a:p>
            <a:pPr marL="0" indent="0">
              <a:buNone/>
            </a:pPr>
            <a:endParaRPr lang="en-US" dirty="0"/>
          </a:p>
        </p:txBody>
      </p:sp>
    </p:spTree>
    <p:extLst>
      <p:ext uri="{BB962C8B-B14F-4D97-AF65-F5344CB8AC3E}">
        <p14:creationId xmlns:p14="http://schemas.microsoft.com/office/powerpoint/2010/main" val="160278590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43054"/>
            <a:ext cx="2033314" cy="539465"/>
          </a:xfrm>
          <a:prstGeom prst="rect">
            <a:avLst/>
          </a:prstGeom>
        </p:spPr>
      </p:pic>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837127" y="476518"/>
            <a:ext cx="10516673" cy="5700445"/>
          </a:xfrm>
        </p:spPr>
        <p:txBody>
          <a:bodyPr/>
          <a:lstStyle/>
          <a:p>
            <a:r>
              <a:rPr lang="en-US" b="1" dirty="0"/>
              <a:t>2008:</a:t>
            </a:r>
            <a:r>
              <a:rPr lang="en-US" dirty="0"/>
              <a:t> Python 3.0 (also known as Python 3000 or Py3k) is released. This was a major overhaul of the language, introducing backward-incompatible changes to address design flaws and improve consistency. Python 2 and Python 3 were developed in parallel for several years.</a:t>
            </a:r>
          </a:p>
          <a:p>
            <a:r>
              <a:rPr lang="en-US" b="1" dirty="0"/>
              <a:t>2020:</a:t>
            </a:r>
            <a:r>
              <a:rPr lang="en-US" dirty="0"/>
              <a:t> Python 2 officially reaches its end-of-life on January 1, 2020. Python 3 becomes the primary focus for the Python community.</a:t>
            </a:r>
          </a:p>
          <a:p>
            <a:pPr marL="0" indent="0">
              <a:buNone/>
            </a:pPr>
            <a:r>
              <a:rPr lang="en-US" dirty="0"/>
              <a:t>Python has continued to evolve, with new releases bringing improvements, features, and optimizations. The community around Python has played a crucial role in its success, contributing to the development of libraries, frameworks, and tools that make Python suitable for a wide range of applications.</a:t>
            </a:r>
          </a:p>
          <a:p>
            <a:pPr marL="0" indent="0">
              <a:buNone/>
            </a:pPr>
            <a:endParaRPr lang="en-US" dirty="0"/>
          </a:p>
        </p:txBody>
      </p:sp>
    </p:spTree>
    <p:extLst>
      <p:ext uri="{BB962C8B-B14F-4D97-AF65-F5344CB8AC3E}">
        <p14:creationId xmlns:p14="http://schemas.microsoft.com/office/powerpoint/2010/main" val="27710374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4" name="Title 3">
            <a:extLst>
              <a:ext uri="{FF2B5EF4-FFF2-40B4-BE49-F238E27FC236}">
                <a16:creationId xmlns:a16="http://schemas.microsoft.com/office/drawing/2014/main" id="{6AF1A31C-305B-8B99-2614-E443CD2AFB3B}"/>
              </a:ext>
            </a:extLst>
          </p:cNvPr>
          <p:cNvSpPr>
            <a:spLocks noGrp="1"/>
          </p:cNvSpPr>
          <p:nvPr>
            <p:ph type="title"/>
          </p:nvPr>
        </p:nvSpPr>
        <p:spPr>
          <a:xfrm>
            <a:off x="838200" y="365125"/>
            <a:ext cx="10515600" cy="503579"/>
          </a:xfrm>
        </p:spPr>
        <p:txBody>
          <a:bodyPr>
            <a:normAutofit fontScale="90000"/>
          </a:bodyPr>
          <a:lstStyle/>
          <a:p>
            <a:r>
              <a:rPr lang="en-US" dirty="0"/>
              <a:t>Introduction to Object-oriented Programming</a:t>
            </a:r>
          </a:p>
        </p:txBody>
      </p:sp>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838200" y="1067338"/>
            <a:ext cx="10515600" cy="5109625"/>
          </a:xfrm>
        </p:spPr>
        <p:txBody>
          <a:bodyPr/>
          <a:lstStyle/>
          <a:p>
            <a:pPr marL="0" indent="0" algn="just">
              <a:lnSpc>
                <a:spcPct val="150000"/>
              </a:lnSpc>
              <a:buNone/>
            </a:pPr>
            <a:r>
              <a:rPr lang="en-US" dirty="0"/>
              <a:t>Object-oriented programming (OOP) is a programming paradigm that uses the concept of "objects" to structure code. It is based on the principles of encapsulation, inheritance, and polymorphism. The primary goal of OOP is to model real-world entities and their interactions in a software system, promoting modularity, reusability, and maintainability.</a:t>
            </a:r>
          </a:p>
        </p:txBody>
      </p:sp>
    </p:spTree>
    <p:extLst>
      <p:ext uri="{BB962C8B-B14F-4D97-AF65-F5344CB8AC3E}">
        <p14:creationId xmlns:p14="http://schemas.microsoft.com/office/powerpoint/2010/main" val="45758344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772732" y="759853"/>
            <a:ext cx="10581068" cy="5417109"/>
          </a:xfrm>
        </p:spPr>
        <p:txBody>
          <a:bodyPr/>
          <a:lstStyle/>
          <a:p>
            <a:r>
              <a:rPr lang="en-US" b="1" dirty="0"/>
              <a:t>Objects:</a:t>
            </a:r>
            <a:endParaRPr lang="en-US" dirty="0"/>
          </a:p>
          <a:p>
            <a:pPr lvl="1" algn="just">
              <a:lnSpc>
                <a:spcPct val="100000"/>
              </a:lnSpc>
            </a:pPr>
            <a:r>
              <a:rPr lang="en-US" dirty="0"/>
              <a:t>Objects are instances of classes, and they represent real-world entities that have both data (attributes) and behavior (methods).</a:t>
            </a:r>
          </a:p>
          <a:p>
            <a:pPr lvl="1" algn="just">
              <a:lnSpc>
                <a:spcPct val="100000"/>
              </a:lnSpc>
            </a:pPr>
            <a:r>
              <a:rPr lang="en-US" dirty="0"/>
              <a:t>For example, in a banking application, a "Customer" class could have attributes like name, account number, and balance, along with methods like deposit and withdraw.</a:t>
            </a:r>
          </a:p>
          <a:p>
            <a:r>
              <a:rPr lang="en-US" b="1" dirty="0"/>
              <a:t>Classes:</a:t>
            </a:r>
            <a:endParaRPr lang="en-US" dirty="0"/>
          </a:p>
          <a:p>
            <a:pPr lvl="1" algn="just"/>
            <a:r>
              <a:rPr lang="en-US" dirty="0"/>
              <a:t>A class is a blueprint or a template for creating objects. It defines the common structure and behavior that its instances (objects) will have.</a:t>
            </a:r>
          </a:p>
          <a:p>
            <a:pPr lvl="1" algn="just"/>
            <a:r>
              <a:rPr lang="en-US" dirty="0"/>
              <a:t>Using the example above, the "Customer" class would define the attributes (name, account number, balance) and methods (deposit, withdraw).</a:t>
            </a:r>
          </a:p>
          <a:p>
            <a:pPr marL="0" indent="0">
              <a:buNone/>
            </a:pPr>
            <a:endParaRPr lang="en-US" dirty="0"/>
          </a:p>
        </p:txBody>
      </p:sp>
    </p:spTree>
    <p:extLst>
      <p:ext uri="{BB962C8B-B14F-4D97-AF65-F5344CB8AC3E}">
        <p14:creationId xmlns:p14="http://schemas.microsoft.com/office/powerpoint/2010/main" val="334971801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4" name="Title 3">
            <a:extLst>
              <a:ext uri="{FF2B5EF4-FFF2-40B4-BE49-F238E27FC236}">
                <a16:creationId xmlns:a16="http://schemas.microsoft.com/office/drawing/2014/main" id="{6AF1A31C-305B-8B99-2614-E443CD2AFB3B}"/>
              </a:ext>
            </a:extLst>
          </p:cNvPr>
          <p:cNvSpPr>
            <a:spLocks noGrp="1"/>
          </p:cNvSpPr>
          <p:nvPr>
            <p:ph type="title"/>
          </p:nvPr>
        </p:nvSpPr>
        <p:spPr>
          <a:xfrm>
            <a:off x="838200" y="365125"/>
            <a:ext cx="10515600" cy="503579"/>
          </a:xfrm>
        </p:spPr>
        <p:txBody>
          <a:bodyPr>
            <a:noAutofit/>
          </a:bodyPr>
          <a:lstStyle/>
          <a:p>
            <a:r>
              <a:rPr lang="en-US" sz="3200" dirty="0"/>
              <a:t>Features of OOPs</a:t>
            </a:r>
          </a:p>
        </p:txBody>
      </p:sp>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643944" y="965915"/>
            <a:ext cx="11333407" cy="5489523"/>
          </a:xfrm>
        </p:spPr>
        <p:txBody>
          <a:bodyPr>
            <a:normAutofit fontScale="55000" lnSpcReduction="20000"/>
          </a:bodyPr>
          <a:lstStyle/>
          <a:p>
            <a:pPr marL="0" indent="0" algn="just">
              <a:buNone/>
            </a:pPr>
            <a:r>
              <a:rPr lang="en-US" sz="4000" dirty="0"/>
              <a:t>Python's object-oriented programming system supports all four features: encapsulation, abstraction, inheritance and polymorphism.</a:t>
            </a:r>
          </a:p>
          <a:p>
            <a:pPr algn="just"/>
            <a:r>
              <a:rPr lang="en-US" sz="4000" b="1" dirty="0"/>
              <a:t>Encapsulation</a:t>
            </a:r>
          </a:p>
          <a:p>
            <a:pPr marL="0" indent="0" algn="just">
              <a:buNone/>
            </a:pPr>
            <a:r>
              <a:rPr lang="en-US" sz="4000" dirty="0"/>
              <a:t>Encapsulation is a mechanism where the data (variables) and the code (methods) that act on the data will bind together. For example, if we take a class, we write the variables and methods inside the class. Thus, class is binding them together. So class is an example for encapsulation.</a:t>
            </a:r>
          </a:p>
          <a:p>
            <a:pPr marL="0" indent="0" algn="just">
              <a:buNone/>
            </a:pPr>
            <a:r>
              <a:rPr lang="en-US" sz="4000" dirty="0"/>
              <a:t>For example, we can write a Student class with 'id' and 'name' as attributes along with the display() method that displays this data. This Student class becomes an example for encapsulation.</a:t>
            </a:r>
            <a:endParaRPr lang="en-US" dirty="0"/>
          </a:p>
          <a:p>
            <a:pPr marL="0" indent="0">
              <a:buNone/>
            </a:pPr>
            <a:r>
              <a:rPr lang="en-US" b="1" dirty="0"/>
              <a:t>class Student: </a:t>
            </a:r>
          </a:p>
          <a:p>
            <a:pPr marL="0" indent="0">
              <a:buNone/>
            </a:pPr>
            <a:r>
              <a:rPr lang="en-US" b="1" dirty="0"/>
              <a:t>   </a:t>
            </a:r>
            <a:r>
              <a:rPr lang="en-US" b="1" dirty="0" err="1"/>
              <a:t>def</a:t>
            </a:r>
            <a:r>
              <a:rPr lang="en-US" b="1" dirty="0"/>
              <a:t> __</a:t>
            </a:r>
            <a:r>
              <a:rPr lang="en-US" b="1" dirty="0" err="1"/>
              <a:t>init</a:t>
            </a:r>
            <a:r>
              <a:rPr lang="en-US" b="1" dirty="0"/>
              <a:t>__(self): </a:t>
            </a:r>
          </a:p>
          <a:p>
            <a:pPr marL="0" indent="0">
              <a:buNone/>
            </a:pPr>
            <a:r>
              <a:rPr lang="en-US" b="1" dirty="0"/>
              <a:t>      self.id = 10 </a:t>
            </a:r>
          </a:p>
          <a:p>
            <a:pPr marL="0" indent="0">
              <a:buNone/>
            </a:pPr>
            <a:r>
              <a:rPr lang="en-US" b="1" dirty="0"/>
              <a:t>      self.name = '</a:t>
            </a:r>
            <a:r>
              <a:rPr lang="en-US" b="1" dirty="0" err="1"/>
              <a:t>Raju</a:t>
            </a:r>
            <a:r>
              <a:rPr lang="en-US" b="1" dirty="0"/>
              <a:t>' </a:t>
            </a:r>
          </a:p>
          <a:p>
            <a:pPr marL="0" indent="0">
              <a:buNone/>
            </a:pPr>
            <a:r>
              <a:rPr lang="en-US" b="1" dirty="0"/>
              <a:t>   #display students details </a:t>
            </a:r>
          </a:p>
          <a:p>
            <a:pPr marL="0" indent="0">
              <a:buNone/>
            </a:pPr>
            <a:r>
              <a:rPr lang="en-US" b="1" dirty="0"/>
              <a:t>   </a:t>
            </a:r>
            <a:r>
              <a:rPr lang="en-US" b="1" dirty="0" err="1"/>
              <a:t>def</a:t>
            </a:r>
            <a:r>
              <a:rPr lang="en-US" b="1" dirty="0"/>
              <a:t> display(self): </a:t>
            </a:r>
          </a:p>
          <a:p>
            <a:pPr marL="0" indent="0">
              <a:buNone/>
            </a:pPr>
            <a:r>
              <a:rPr lang="en-US" b="1" dirty="0"/>
              <a:t>      print(self.id) </a:t>
            </a:r>
          </a:p>
          <a:p>
            <a:pPr marL="0" indent="0">
              <a:buNone/>
            </a:pPr>
            <a:r>
              <a:rPr lang="en-US" b="1" dirty="0"/>
              <a:t>      print(self.name)</a:t>
            </a:r>
          </a:p>
          <a:p>
            <a:pPr marL="0" indent="0">
              <a:buNone/>
            </a:pPr>
            <a:endParaRPr lang="en-US" dirty="0"/>
          </a:p>
        </p:txBody>
      </p:sp>
    </p:spTree>
    <p:extLst>
      <p:ext uri="{BB962C8B-B14F-4D97-AF65-F5344CB8AC3E}">
        <p14:creationId xmlns:p14="http://schemas.microsoft.com/office/powerpoint/2010/main" val="289421401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502276" y="540913"/>
            <a:ext cx="10851524" cy="5636050"/>
          </a:xfrm>
        </p:spPr>
        <p:txBody>
          <a:bodyPr/>
          <a:lstStyle/>
          <a:p>
            <a:pPr marL="0" indent="0">
              <a:buNone/>
            </a:pPr>
            <a:r>
              <a:rPr lang="en-US" b="1" dirty="0"/>
              <a:t>Abstraction</a:t>
            </a:r>
          </a:p>
          <a:p>
            <a:pPr marL="0" indent="0">
              <a:buNone/>
            </a:pPr>
            <a:r>
              <a:rPr lang="en-US" dirty="0"/>
              <a:t>Abstraction is used to hide the internal functionality of the function from the users. The users only interact with the basic implementation of the function, but inner working is hidden. </a:t>
            </a:r>
          </a:p>
          <a:p>
            <a:pPr marL="0" indent="0">
              <a:buNone/>
            </a:pPr>
            <a:r>
              <a:rPr lang="en-US" dirty="0"/>
              <a:t>we all use the smartphone and very much familiar with its functions such as camera, voice-recorder, call-dialing, etc., but we don't know how these operations are happening in the background. Let's take another example - When we use the TV remote to increase the volume. We don't know how pressing a key increases the volume of the TV. We only know to press the "+" button to increase the volume.</a:t>
            </a:r>
          </a:p>
        </p:txBody>
      </p:sp>
    </p:spTree>
    <p:extLst>
      <p:ext uri="{BB962C8B-B14F-4D97-AF65-F5344CB8AC3E}">
        <p14:creationId xmlns:p14="http://schemas.microsoft.com/office/powerpoint/2010/main" val="396402501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669701" y="425004"/>
            <a:ext cx="10684099" cy="5751960"/>
          </a:xfrm>
        </p:spPr>
        <p:txBody>
          <a:bodyPr>
            <a:normAutofit lnSpcReduction="10000"/>
          </a:bodyPr>
          <a:lstStyle/>
          <a:p>
            <a:pPr marL="0" indent="0">
              <a:buNone/>
            </a:pPr>
            <a:r>
              <a:rPr lang="en-US" b="1" dirty="0"/>
              <a:t>Inheritance</a:t>
            </a:r>
            <a:endParaRPr lang="en-US" dirty="0"/>
          </a:p>
          <a:p>
            <a:r>
              <a:rPr lang="en-US" dirty="0"/>
              <a:t>Inheritance allows a class (subclass or derived class) to inherit the properties and behaviors of another class (superclass or base class).</a:t>
            </a:r>
          </a:p>
          <a:p>
            <a:r>
              <a:rPr lang="en-US" dirty="0"/>
              <a:t>It promotes code reuse and the creation of a hierarchical structure. Common attributes and methods can be defined in a base class and inherited by multiple subclasses.</a:t>
            </a:r>
          </a:p>
          <a:p>
            <a:pPr marL="0" indent="0">
              <a:buNone/>
            </a:pPr>
            <a:r>
              <a:rPr lang="en-US" b="1" dirty="0"/>
              <a:t>Polymorphism</a:t>
            </a:r>
            <a:endParaRPr lang="en-US" dirty="0"/>
          </a:p>
          <a:p>
            <a:pPr marL="0" indent="0" algn="just">
              <a:buNone/>
            </a:pPr>
            <a:r>
              <a:rPr lang="en-US" dirty="0"/>
              <a:t>The word 'Polymorphism' came from two Greek words 'poly' meaning 'many' and '</a:t>
            </a:r>
            <a:r>
              <a:rPr lang="en-US" dirty="0" err="1"/>
              <a:t>morphos</a:t>
            </a:r>
            <a:r>
              <a:rPr lang="en-US" dirty="0"/>
              <a:t>' meaning 'forms'. Thus, polymorphism represents the ability to assume several different forms. In programming, if an object or method is exhibiting different behavior in different contexts, it is called polymorphic nature. Polymorphism provides flexibility in writing programs in such a way that the programmer uses same method call to perform different operations depending on the requirement.</a:t>
            </a:r>
          </a:p>
          <a:p>
            <a:pPr marL="0" indent="0">
              <a:buNone/>
            </a:pPr>
            <a:endParaRPr lang="en-US" dirty="0"/>
          </a:p>
        </p:txBody>
      </p:sp>
    </p:spTree>
    <p:extLst>
      <p:ext uri="{BB962C8B-B14F-4D97-AF65-F5344CB8AC3E}">
        <p14:creationId xmlns:p14="http://schemas.microsoft.com/office/powerpoint/2010/main" val="187142313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657896" y="868704"/>
            <a:ext cx="10515600" cy="4351338"/>
          </a:xfrm>
        </p:spPr>
        <p:txBody>
          <a:bodyPr>
            <a:normAutofit fontScale="70000" lnSpcReduction="20000"/>
          </a:bodyPr>
          <a:lstStyle/>
          <a:p>
            <a:pPr marL="0" indent="0">
              <a:buNone/>
            </a:pPr>
            <a:r>
              <a:rPr lang="en-US" b="1" dirty="0"/>
              <a:t>When a function can perform different tasks, we can say that it is exhibiting polymorphism</a:t>
            </a:r>
            <a:endParaRPr lang="en-US" dirty="0"/>
          </a:p>
          <a:p>
            <a:pPr marL="0" indent="0">
              <a:buNone/>
            </a:pPr>
            <a:endParaRPr lang="en-US" dirty="0"/>
          </a:p>
          <a:p>
            <a:pPr marL="0" indent="0">
              <a:buNone/>
            </a:pPr>
            <a:r>
              <a:rPr lang="en-US" dirty="0"/>
              <a:t>#a function that exhibits polymorphism </a:t>
            </a:r>
          </a:p>
          <a:p>
            <a:pPr marL="0" indent="0">
              <a:buNone/>
            </a:pPr>
            <a:r>
              <a:rPr lang="en-US" dirty="0" err="1"/>
              <a:t>def</a:t>
            </a:r>
            <a:r>
              <a:rPr lang="en-US" dirty="0"/>
              <a:t> add(a, b): </a:t>
            </a:r>
          </a:p>
          <a:p>
            <a:pPr marL="0" indent="0">
              <a:buNone/>
            </a:pPr>
            <a:r>
              <a:rPr lang="en-US" dirty="0"/>
              <a:t>   print(</a:t>
            </a:r>
            <a:r>
              <a:rPr lang="en-US" dirty="0" err="1"/>
              <a:t>a+b</a:t>
            </a:r>
            <a:r>
              <a:rPr lang="en-US" dirty="0"/>
              <a:t>) </a:t>
            </a:r>
          </a:p>
          <a:p>
            <a:pPr marL="0" indent="0">
              <a:buNone/>
            </a:pPr>
            <a:r>
              <a:rPr lang="en-US" dirty="0"/>
              <a:t>#call add() and pass two integers </a:t>
            </a:r>
          </a:p>
          <a:p>
            <a:pPr marL="0" indent="0">
              <a:buNone/>
            </a:pPr>
            <a:r>
              <a:rPr lang="en-US" dirty="0"/>
              <a:t>add(5, 10) #displays 15 </a:t>
            </a:r>
          </a:p>
          <a:p>
            <a:pPr marL="0" indent="0">
              <a:buNone/>
            </a:pPr>
            <a:r>
              <a:rPr lang="en-US" dirty="0"/>
              <a:t>#call add() and pass two strings </a:t>
            </a:r>
          </a:p>
          <a:p>
            <a:pPr marL="0" indent="0">
              <a:buNone/>
            </a:pPr>
            <a:r>
              <a:rPr lang="en-US" dirty="0"/>
              <a:t>add("Core", "Python") #displays </a:t>
            </a:r>
            <a:r>
              <a:rPr lang="en-US" dirty="0" err="1"/>
              <a:t>CorePython</a:t>
            </a:r>
            <a:endParaRPr lang="en-US" dirty="0"/>
          </a:p>
          <a:p>
            <a:pPr marL="0" indent="0">
              <a:buNone/>
            </a:pPr>
            <a:endParaRPr lang="en-US" dirty="0"/>
          </a:p>
          <a:p>
            <a:pPr marL="0" indent="0">
              <a:buNone/>
            </a:pPr>
            <a:br>
              <a:rPr lang="en-US" dirty="0"/>
            </a:br>
            <a:endParaRPr lang="en-US" dirty="0"/>
          </a:p>
        </p:txBody>
      </p:sp>
    </p:spTree>
    <p:extLst>
      <p:ext uri="{BB962C8B-B14F-4D97-AF65-F5344CB8AC3E}">
        <p14:creationId xmlns:p14="http://schemas.microsoft.com/office/powerpoint/2010/main" val="129032647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4" name="Title 3">
            <a:extLst>
              <a:ext uri="{FF2B5EF4-FFF2-40B4-BE49-F238E27FC236}">
                <a16:creationId xmlns:a16="http://schemas.microsoft.com/office/drawing/2014/main" id="{6AF1A31C-305B-8B99-2614-E443CD2AFB3B}"/>
              </a:ext>
            </a:extLst>
          </p:cNvPr>
          <p:cNvSpPr>
            <a:spLocks noGrp="1"/>
          </p:cNvSpPr>
          <p:nvPr>
            <p:ph type="title"/>
          </p:nvPr>
        </p:nvSpPr>
        <p:spPr/>
        <p:txBody>
          <a:bodyPr/>
          <a:lstStyle/>
          <a:p>
            <a:r>
              <a:rPr lang="en-IN" dirty="0">
                <a:solidFill>
                  <a:srgbClr val="FF0000"/>
                </a:solidFill>
              </a:rPr>
              <a:t>Python availability</a:t>
            </a:r>
            <a:endParaRPr lang="en-US" dirty="0"/>
          </a:p>
        </p:txBody>
      </p:sp>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p:txBody>
          <a:bodyPr/>
          <a:lstStyle/>
          <a:p>
            <a:pPr>
              <a:lnSpc>
                <a:spcPct val="150000"/>
              </a:lnSpc>
            </a:pPr>
            <a:r>
              <a:rPr lang="en-US" dirty="0">
                <a:solidFill>
                  <a:srgbClr val="222222"/>
                </a:solidFill>
                <a:latin typeface="Lucida Grande"/>
              </a:rPr>
              <a:t>Python is </a:t>
            </a:r>
            <a:r>
              <a:rPr lang="en-US" dirty="0" err="1">
                <a:solidFill>
                  <a:srgbClr val="222222"/>
                </a:solidFill>
                <a:latin typeface="Lucida Grande"/>
              </a:rPr>
              <a:t>opensource</a:t>
            </a:r>
            <a:r>
              <a:rPr lang="en-US" dirty="0">
                <a:solidFill>
                  <a:srgbClr val="222222"/>
                </a:solidFill>
                <a:latin typeface="Lucida Grande"/>
              </a:rPr>
              <a:t> freely downloadable software</a:t>
            </a:r>
          </a:p>
          <a:p>
            <a:pPr>
              <a:lnSpc>
                <a:spcPct val="150000"/>
              </a:lnSpc>
            </a:pPr>
            <a:r>
              <a:rPr lang="en-US" dirty="0">
                <a:solidFill>
                  <a:srgbClr val="222222"/>
                </a:solidFill>
                <a:latin typeface="Lucida Grande"/>
              </a:rPr>
              <a:t>The latest Python source distribution is always available from python.org, at </a:t>
            </a:r>
            <a:r>
              <a:rPr lang="en-US" dirty="0">
                <a:solidFill>
                  <a:srgbClr val="0072AA"/>
                </a:solidFill>
                <a:latin typeface="Lucida Grande"/>
                <a:hlinkClick r:id="rId4"/>
              </a:rPr>
              <a:t>https://www.python.org/downloads/</a:t>
            </a:r>
            <a:r>
              <a:rPr lang="en-US" dirty="0">
                <a:solidFill>
                  <a:srgbClr val="222222"/>
                </a:solidFill>
                <a:latin typeface="Lucida Grande"/>
              </a:rPr>
              <a:t>.</a:t>
            </a:r>
            <a:endParaRPr lang="en-IN" dirty="0"/>
          </a:p>
          <a:p>
            <a:pPr marL="0" indent="0">
              <a:buNone/>
            </a:pPr>
            <a:endParaRPr lang="en-US" dirty="0"/>
          </a:p>
        </p:txBody>
      </p:sp>
    </p:spTree>
    <p:extLst>
      <p:ext uri="{BB962C8B-B14F-4D97-AF65-F5344CB8AC3E}">
        <p14:creationId xmlns:p14="http://schemas.microsoft.com/office/powerpoint/2010/main" val="67105680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72002"/>
          </a:xfrm>
        </p:spPr>
        <p:txBody>
          <a:bodyPr>
            <a:normAutofit fontScale="90000"/>
          </a:bodyPr>
          <a:lstStyle/>
          <a:p>
            <a:r>
              <a:rPr lang="en-US" dirty="0"/>
              <a:t>Features of Python</a:t>
            </a:r>
          </a:p>
        </p:txBody>
      </p:sp>
      <p:sp>
        <p:nvSpPr>
          <p:cNvPr id="3" name="Content Placeholder 2"/>
          <p:cNvSpPr>
            <a:spLocks noGrp="1"/>
          </p:cNvSpPr>
          <p:nvPr>
            <p:ph idx="1"/>
          </p:nvPr>
        </p:nvSpPr>
        <p:spPr>
          <a:xfrm>
            <a:off x="838200" y="1030310"/>
            <a:ext cx="10515600" cy="5146653"/>
          </a:xfrm>
        </p:spPr>
        <p:txBody>
          <a:bodyPr>
            <a:normAutofit lnSpcReduction="10000"/>
          </a:bodyPr>
          <a:lstStyle/>
          <a:p>
            <a:pPr marL="0" indent="0">
              <a:buNone/>
            </a:pPr>
            <a:r>
              <a:rPr lang="en-US" dirty="0"/>
              <a:t>Python is a versatile and powerful programming language that is widely used in various domains. Here are some key features of Python:</a:t>
            </a:r>
          </a:p>
          <a:p>
            <a:r>
              <a:rPr lang="en-US" b="1" dirty="0"/>
              <a:t>Easy to Learn and Read:</a:t>
            </a:r>
            <a:endParaRPr lang="en-US" dirty="0"/>
          </a:p>
          <a:p>
            <a:pPr lvl="1"/>
            <a:r>
              <a:rPr lang="en-US" dirty="0"/>
              <a:t>Python has a clean and readable syntax, making it easy for beginners to grasp the language quickly.</a:t>
            </a:r>
          </a:p>
          <a:p>
            <a:pPr lvl="1"/>
            <a:r>
              <a:rPr lang="en-US" dirty="0"/>
              <a:t>The use of indentation for code blocks enhances readability.</a:t>
            </a:r>
          </a:p>
          <a:p>
            <a:r>
              <a:rPr lang="en-US" b="1" dirty="0"/>
              <a:t>High-Level Language:</a:t>
            </a:r>
            <a:endParaRPr lang="en-US" dirty="0"/>
          </a:p>
          <a:p>
            <a:pPr lvl="1"/>
            <a:r>
              <a:rPr lang="en-US" dirty="0"/>
              <a:t>Python is a high-level language, which means it abstracts low-level details like memory management and provides a more straightforward interface for developers.</a:t>
            </a:r>
          </a:p>
          <a:p>
            <a:r>
              <a:rPr lang="en-US" b="1" dirty="0"/>
              <a:t>Interpreted Language:</a:t>
            </a:r>
            <a:endParaRPr lang="en-US" dirty="0"/>
          </a:p>
          <a:p>
            <a:pPr lvl="1"/>
            <a:r>
              <a:rPr lang="en-US" dirty="0"/>
              <a:t>Python is an interpreted language, meaning that code can be executed directly without the need for compilation.</a:t>
            </a:r>
          </a:p>
          <a:p>
            <a:pPr marL="0" indent="0">
              <a:buNone/>
            </a:pPr>
            <a:endParaRPr lang="en-US" dirty="0"/>
          </a:p>
        </p:txBody>
      </p:sp>
    </p:spTree>
    <p:extLst>
      <p:ext uri="{BB962C8B-B14F-4D97-AF65-F5344CB8AC3E}">
        <p14:creationId xmlns:p14="http://schemas.microsoft.com/office/powerpoint/2010/main" val="36124802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1672" y="450761"/>
            <a:ext cx="10362127" cy="5726202"/>
          </a:xfrm>
        </p:spPr>
        <p:txBody>
          <a:bodyPr>
            <a:normAutofit/>
          </a:bodyPr>
          <a:lstStyle/>
          <a:p>
            <a:r>
              <a:rPr lang="en-US" b="1" dirty="0"/>
              <a:t>Dynamic Typing:</a:t>
            </a:r>
            <a:endParaRPr lang="en-US" dirty="0"/>
          </a:p>
          <a:p>
            <a:pPr lvl="1"/>
            <a:r>
              <a:rPr lang="en-US" dirty="0"/>
              <a:t>Python is dynamically typed, allowing variables to change types during execution. This can lead to more flexible and concise code.</a:t>
            </a:r>
          </a:p>
          <a:p>
            <a:r>
              <a:rPr lang="en-US" b="1" dirty="0"/>
              <a:t>Object-Oriented Programming (OOP):</a:t>
            </a:r>
            <a:endParaRPr lang="en-US" dirty="0"/>
          </a:p>
          <a:p>
            <a:pPr lvl="1"/>
            <a:r>
              <a:rPr lang="en-US" dirty="0"/>
              <a:t>Python supports object-oriented programming, encapsulation, inheritance, and polymorphism.</a:t>
            </a:r>
          </a:p>
          <a:p>
            <a:r>
              <a:rPr lang="en-US" b="1" dirty="0"/>
              <a:t>Standard Library:</a:t>
            </a:r>
            <a:endParaRPr lang="en-US" dirty="0"/>
          </a:p>
          <a:p>
            <a:pPr lvl="1"/>
            <a:r>
              <a:rPr lang="en-US" dirty="0"/>
              <a:t>Python comes with a comprehensive standard library that includes modules and packages for a wide range of tasks, from networking to web development.</a:t>
            </a:r>
          </a:p>
          <a:p>
            <a:r>
              <a:rPr lang="en-US" b="1" dirty="0"/>
              <a:t>Community and Documentation:</a:t>
            </a:r>
            <a:endParaRPr lang="en-US" dirty="0"/>
          </a:p>
          <a:p>
            <a:pPr lvl="1"/>
            <a:r>
              <a:rPr lang="en-US" dirty="0"/>
              <a:t>Python has a large and active community, which contributes to its growth and provides extensive documentation and support.</a:t>
            </a:r>
          </a:p>
          <a:p>
            <a:endParaRPr lang="en-US" dirty="0"/>
          </a:p>
        </p:txBody>
      </p:sp>
    </p:spTree>
    <p:extLst>
      <p:ext uri="{BB962C8B-B14F-4D97-AF65-F5344CB8AC3E}">
        <p14:creationId xmlns:p14="http://schemas.microsoft.com/office/powerpoint/2010/main" val="36639662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65914" y="566670"/>
            <a:ext cx="10387885" cy="5610293"/>
          </a:xfrm>
        </p:spPr>
        <p:txBody>
          <a:bodyPr>
            <a:normAutofit/>
          </a:bodyPr>
          <a:lstStyle/>
          <a:p>
            <a:r>
              <a:rPr lang="en-US" b="1" dirty="0"/>
              <a:t>Cross-Platform Compatibility:</a:t>
            </a:r>
            <a:endParaRPr lang="en-US" dirty="0"/>
          </a:p>
          <a:p>
            <a:pPr lvl="1"/>
            <a:r>
              <a:rPr lang="en-US" dirty="0"/>
              <a:t>Python is compatible with various operating systems, such as Windows, </a:t>
            </a:r>
            <a:r>
              <a:rPr lang="en-US" dirty="0" err="1"/>
              <a:t>macOS</a:t>
            </a:r>
            <a:r>
              <a:rPr lang="en-US" dirty="0"/>
              <a:t>, and Linux, making it a cross-platform language.</a:t>
            </a:r>
          </a:p>
          <a:p>
            <a:r>
              <a:rPr lang="en-US" b="1" dirty="0"/>
              <a:t>Dynamically Typed:</a:t>
            </a:r>
            <a:endParaRPr lang="en-US" dirty="0"/>
          </a:p>
          <a:p>
            <a:pPr lvl="1"/>
            <a:r>
              <a:rPr lang="en-US" dirty="0"/>
              <a:t>Python is dynamically typed, which means you don't need to specify variable types explicitly. This can lead to more concise and flexible code.</a:t>
            </a:r>
          </a:p>
          <a:p>
            <a:r>
              <a:rPr lang="en-US" b="1" dirty="0"/>
              <a:t>Extensibility and </a:t>
            </a:r>
            <a:r>
              <a:rPr lang="en-US" b="1" dirty="0" err="1"/>
              <a:t>Embeddability</a:t>
            </a:r>
            <a:r>
              <a:rPr lang="en-US" b="1" dirty="0"/>
              <a:t>:</a:t>
            </a:r>
            <a:endParaRPr lang="en-US" dirty="0"/>
          </a:p>
          <a:p>
            <a:pPr lvl="1"/>
            <a:r>
              <a:rPr lang="en-US" dirty="0"/>
              <a:t>Python can be easily extended with modules written in other languages, and it can be embedded in applications to provide scripting capabilities.</a:t>
            </a:r>
          </a:p>
          <a:p>
            <a:r>
              <a:rPr lang="en-US" b="1" dirty="0"/>
              <a:t>Versatility:</a:t>
            </a:r>
            <a:endParaRPr lang="en-US" dirty="0"/>
          </a:p>
          <a:p>
            <a:pPr lvl="1"/>
            <a:r>
              <a:rPr lang="en-US" dirty="0"/>
              <a:t>Python is a general-purpose language used in various domains, including web development, data science, machine learning, artificial intelligence, automation, and more.</a:t>
            </a:r>
          </a:p>
          <a:p>
            <a:endParaRPr lang="en-US" dirty="0"/>
          </a:p>
        </p:txBody>
      </p:sp>
    </p:spTree>
    <p:extLst>
      <p:ext uri="{BB962C8B-B14F-4D97-AF65-F5344CB8AC3E}">
        <p14:creationId xmlns:p14="http://schemas.microsoft.com/office/powerpoint/2010/main" val="42937289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01520" y="721217"/>
            <a:ext cx="10452279" cy="5455746"/>
          </a:xfrm>
        </p:spPr>
        <p:txBody>
          <a:bodyPr>
            <a:normAutofit lnSpcReduction="10000"/>
          </a:bodyPr>
          <a:lstStyle/>
          <a:p>
            <a:r>
              <a:rPr lang="en-US" b="1" dirty="0"/>
              <a:t>Community Support:</a:t>
            </a:r>
            <a:endParaRPr lang="en-US" dirty="0"/>
          </a:p>
          <a:p>
            <a:pPr lvl="1"/>
            <a:r>
              <a:rPr lang="en-US" dirty="0"/>
              <a:t>The Python community is active and supportive, providing a wealth of resources, forums, and libraries to help developers.</a:t>
            </a:r>
          </a:p>
          <a:p>
            <a:r>
              <a:rPr lang="en-US" b="1" dirty="0"/>
              <a:t>Scalability:</a:t>
            </a:r>
            <a:endParaRPr lang="en-US" dirty="0"/>
          </a:p>
          <a:p>
            <a:pPr lvl="1"/>
            <a:r>
              <a:rPr lang="en-US" dirty="0"/>
              <a:t>Python can be used for small scripts or large-scale applications. It scales well and is used in both small startups and large enterprises.</a:t>
            </a:r>
          </a:p>
          <a:p>
            <a:r>
              <a:rPr lang="en-US" b="1" dirty="0"/>
              <a:t>Libraries and Frameworks:</a:t>
            </a:r>
            <a:endParaRPr lang="en-US" dirty="0"/>
          </a:p>
          <a:p>
            <a:pPr lvl="1"/>
            <a:r>
              <a:rPr lang="en-US" dirty="0"/>
              <a:t>Python has a rich ecosystem of libraries and frameworks that facilitate development in various domains. Examples include </a:t>
            </a:r>
            <a:r>
              <a:rPr lang="en-US" dirty="0" err="1"/>
              <a:t>NumPy</a:t>
            </a:r>
            <a:r>
              <a:rPr lang="en-US" dirty="0"/>
              <a:t> and pandas for data science, Flask and </a:t>
            </a:r>
            <a:r>
              <a:rPr lang="en-US" dirty="0" err="1"/>
              <a:t>Django</a:t>
            </a:r>
            <a:r>
              <a:rPr lang="en-US" dirty="0"/>
              <a:t> for web development, </a:t>
            </a:r>
            <a:r>
              <a:rPr lang="en-US" dirty="0" err="1"/>
              <a:t>TensorFlow</a:t>
            </a:r>
            <a:r>
              <a:rPr lang="en-US" dirty="0"/>
              <a:t> and </a:t>
            </a:r>
            <a:r>
              <a:rPr lang="en-US" dirty="0" err="1"/>
              <a:t>PyTorch</a:t>
            </a:r>
            <a:r>
              <a:rPr lang="en-US" dirty="0"/>
              <a:t> for machine learning, etc.</a:t>
            </a:r>
          </a:p>
          <a:p>
            <a:r>
              <a:rPr lang="en-US" b="1" dirty="0"/>
              <a:t>Open Source:</a:t>
            </a:r>
            <a:endParaRPr lang="en-US" dirty="0"/>
          </a:p>
          <a:p>
            <a:pPr lvl="1"/>
            <a:r>
              <a:rPr lang="en-US" dirty="0"/>
              <a:t>Python is an open-source language, encouraging collaboration and contribution from developers worldwide.</a:t>
            </a:r>
          </a:p>
          <a:p>
            <a:endParaRPr lang="en-US" dirty="0"/>
          </a:p>
        </p:txBody>
      </p:sp>
    </p:spTree>
    <p:extLst>
      <p:ext uri="{BB962C8B-B14F-4D97-AF65-F5344CB8AC3E}">
        <p14:creationId xmlns:p14="http://schemas.microsoft.com/office/powerpoint/2010/main" val="41822775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4" name="Title 3">
            <a:extLst>
              <a:ext uri="{FF2B5EF4-FFF2-40B4-BE49-F238E27FC236}">
                <a16:creationId xmlns:a16="http://schemas.microsoft.com/office/drawing/2014/main" id="{6AF1A31C-305B-8B99-2614-E443CD2AFB3B}"/>
              </a:ext>
            </a:extLst>
          </p:cNvPr>
          <p:cNvSpPr>
            <a:spLocks noGrp="1"/>
          </p:cNvSpPr>
          <p:nvPr>
            <p:ph type="title"/>
          </p:nvPr>
        </p:nvSpPr>
        <p:spPr>
          <a:xfrm>
            <a:off x="838200" y="365126"/>
            <a:ext cx="11139152" cy="443912"/>
          </a:xfrm>
        </p:spPr>
        <p:txBody>
          <a:bodyPr>
            <a:normAutofit fontScale="90000"/>
          </a:bodyPr>
          <a:lstStyle/>
          <a:p>
            <a:r>
              <a:rPr lang="en-IN" dirty="0"/>
              <a:t>Comparison with other programming languages</a:t>
            </a:r>
            <a:endParaRPr lang="en-US" dirty="0"/>
          </a:p>
        </p:txBody>
      </p:sp>
      <p:pic>
        <p:nvPicPr>
          <p:cNvPr id="8" name="Content Placeholder 7">
            <a:extLst>
              <a:ext uri="{FF2B5EF4-FFF2-40B4-BE49-F238E27FC236}">
                <a16:creationId xmlns:a16="http://schemas.microsoft.com/office/drawing/2014/main" id="{FF443E33-FF0B-0507-BE69-F6C1D15BEC90}"/>
              </a:ext>
            </a:extLst>
          </p:cNvPr>
          <p:cNvPicPr>
            <a:picLocks noGrp="1" noChangeAspect="1"/>
          </p:cNvPicPr>
          <p:nvPr>
            <p:ph idx="1"/>
          </p:nvPr>
        </p:nvPicPr>
        <p:blipFill>
          <a:blip r:embed="rId4"/>
          <a:stretch>
            <a:fillRect/>
          </a:stretch>
        </p:blipFill>
        <p:spPr>
          <a:xfrm>
            <a:off x="552178" y="1007672"/>
            <a:ext cx="11038808" cy="5109624"/>
          </a:xfrm>
          <a:prstGeom prst="rect">
            <a:avLst/>
          </a:prstGeom>
        </p:spPr>
      </p:pic>
    </p:spTree>
    <p:extLst>
      <p:ext uri="{BB962C8B-B14F-4D97-AF65-F5344CB8AC3E}">
        <p14:creationId xmlns:p14="http://schemas.microsoft.com/office/powerpoint/2010/main" val="258748188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12EEA71B-5B30-5B94-E543-B783C09E5615}"/>
              </a:ext>
            </a:extLst>
          </p:cNvPr>
          <p:cNvSpPr>
            <a:spLocks noGrp="1"/>
          </p:cNvSpPr>
          <p:nvPr>
            <p:ph type="title"/>
          </p:nvPr>
        </p:nvSpPr>
        <p:spPr>
          <a:xfrm>
            <a:off x="123512" y="692307"/>
            <a:ext cx="10515600" cy="196335"/>
          </a:xfrm>
        </p:spPr>
        <p:txBody>
          <a:bodyPr>
            <a:normAutofit fontScale="90000"/>
          </a:bodyPr>
          <a:lstStyle/>
          <a:p>
            <a:r>
              <a:rPr lang="en-US" sz="4000" dirty="0"/>
              <a:t>INTRODUCING IDLE </a:t>
            </a:r>
            <a:endParaRPr lang="en-IN" sz="4000" dirty="0"/>
          </a:p>
        </p:txBody>
      </p:sp>
      <p:sp>
        <p:nvSpPr>
          <p:cNvPr id="4" name="Text Placeholder 3">
            <a:extLst>
              <a:ext uri="{FF2B5EF4-FFF2-40B4-BE49-F238E27FC236}">
                <a16:creationId xmlns:a16="http://schemas.microsoft.com/office/drawing/2014/main" id="{6A067446-FF0D-1D60-3E5B-E7A6E3C8DFC7}"/>
              </a:ext>
            </a:extLst>
          </p:cNvPr>
          <p:cNvSpPr>
            <a:spLocks noGrp="1"/>
          </p:cNvSpPr>
          <p:nvPr>
            <p:ph type="body" idx="1"/>
          </p:nvPr>
        </p:nvSpPr>
        <p:spPr>
          <a:xfrm>
            <a:off x="368210" y="1240956"/>
            <a:ext cx="10644826" cy="1218909"/>
          </a:xfrm>
        </p:spPr>
        <p:txBody>
          <a:bodyPr>
            <a:normAutofit fontScale="55000" lnSpcReduction="20000"/>
          </a:bodyPr>
          <a:lstStyle/>
          <a:p>
            <a:pPr algn="just"/>
            <a:r>
              <a:rPr lang="en-US" sz="2800" dirty="0">
                <a:solidFill>
                  <a:schemeClr val="tx1"/>
                </a:solidFill>
              </a:rPr>
              <a:t>Python comes with an integrated development environment called IDLE. A development environment is a set of tools that makes writing programs easier. </a:t>
            </a:r>
          </a:p>
          <a:p>
            <a:pPr algn="just"/>
            <a:r>
              <a:rPr lang="en-US" sz="2800" dirty="0">
                <a:solidFill>
                  <a:schemeClr val="tx1"/>
                </a:solidFill>
              </a:rPr>
              <a:t>Programming in Interactive Mode</a:t>
            </a:r>
          </a:p>
          <a:p>
            <a:pPr algn="just"/>
            <a:r>
              <a:rPr lang="en-US" sz="2800" dirty="0">
                <a:solidFill>
                  <a:schemeClr val="tx1"/>
                </a:solidFill>
              </a:rPr>
              <a:t>Python’s IDLE also offers a script mode, in which you can write, edit, load, and save your programs. It’s like a word processor for your code</a:t>
            </a:r>
            <a:r>
              <a:rPr lang="en-US" dirty="0"/>
              <a:t>.</a:t>
            </a:r>
          </a:p>
          <a:p>
            <a:pPr algn="just"/>
            <a:endParaRPr lang="en-IN" dirty="0"/>
          </a:p>
        </p:txBody>
      </p:sp>
      <p:sp>
        <p:nvSpPr>
          <p:cNvPr id="2" name="Slide Number Placeholder 1">
            <a:extLst>
              <a:ext uri="{FF2B5EF4-FFF2-40B4-BE49-F238E27FC236}">
                <a16:creationId xmlns:a16="http://schemas.microsoft.com/office/drawing/2014/main" id="{34283CEE-80CD-3C67-F157-F598201112A2}"/>
              </a:ext>
            </a:extLst>
          </p:cNvPr>
          <p:cNvSpPr>
            <a:spLocks noGrp="1"/>
          </p:cNvSpPr>
          <p:nvPr>
            <p:ph type="sldNum" sz="quarter" idx="12"/>
          </p:nvPr>
        </p:nvSpPr>
        <p:spPr/>
        <p:txBody>
          <a:bodyPr/>
          <a:lstStyle/>
          <a:p>
            <a:fld id="{45A3C14A-F937-4231-B6F1-40B429FAFB2F}" type="slidenum">
              <a:rPr lang="en-NZ" smtClean="0"/>
              <a:pPr/>
              <a:t>24</a:t>
            </a:fld>
            <a:endParaRPr lang="en-NZ" dirty="0"/>
          </a:p>
        </p:txBody>
      </p:sp>
      <p:pic>
        <p:nvPicPr>
          <p:cNvPr id="5" name="Picture 4">
            <a:extLst>
              <a:ext uri="{FF2B5EF4-FFF2-40B4-BE49-F238E27FC236}">
                <a16:creationId xmlns:a16="http://schemas.microsoft.com/office/drawing/2014/main" id="{19BDB2F7-2805-EA31-253A-8C91884B2449}"/>
              </a:ext>
            </a:extLst>
          </p:cNvPr>
          <p:cNvPicPr>
            <a:picLocks noChangeAspect="1"/>
          </p:cNvPicPr>
          <p:nvPr/>
        </p:nvPicPr>
        <p:blipFill rotWithShape="1">
          <a:blip r:embed="rId2">
            <a:extLst>
              <a:ext uri="{28A0092B-C50C-407E-A947-70E740481C1C}">
                <a14:useLocalDpi xmlns:a14="http://schemas.microsoft.com/office/drawing/2010/main" val="0"/>
              </a:ext>
            </a:extLst>
          </a:blip>
          <a:srcRect l="24604" t="25501" r="38188" b="18692"/>
          <a:stretch/>
        </p:blipFill>
        <p:spPr>
          <a:xfrm>
            <a:off x="3451536" y="2253386"/>
            <a:ext cx="7020149" cy="4604614"/>
          </a:xfrm>
          <a:prstGeom prst="rect">
            <a:avLst/>
          </a:prstGeom>
        </p:spPr>
      </p:pic>
    </p:spTree>
    <p:extLst>
      <p:ext uri="{BB962C8B-B14F-4D97-AF65-F5344CB8AC3E}">
        <p14:creationId xmlns:p14="http://schemas.microsoft.com/office/powerpoint/2010/main" val="39243878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2C6570F-10C9-3E21-08F2-2C783E3FF130}"/>
              </a:ext>
            </a:extLst>
          </p:cNvPr>
          <p:cNvSpPr>
            <a:spLocks noGrp="1"/>
          </p:cNvSpPr>
          <p:nvPr>
            <p:ph idx="1"/>
          </p:nvPr>
        </p:nvSpPr>
        <p:spPr>
          <a:xfrm>
            <a:off x="645016" y="511979"/>
            <a:ext cx="10515600" cy="4351338"/>
          </a:xfrm>
        </p:spPr>
        <p:txBody>
          <a:bodyPr>
            <a:normAutofit/>
          </a:bodyPr>
          <a:lstStyle/>
          <a:p>
            <a:r>
              <a:rPr lang="en-US" dirty="0"/>
              <a:t>This window is called the Python Shell. </a:t>
            </a:r>
          </a:p>
          <a:p>
            <a:r>
              <a:rPr lang="en-US" dirty="0"/>
              <a:t>At the command prompt (&gt;&gt;&gt;), type the commands</a:t>
            </a:r>
          </a:p>
          <a:p>
            <a:r>
              <a:rPr lang="en-US" dirty="0"/>
              <a:t>&gt;&gt;&gt; is a primary prompt</a:t>
            </a:r>
          </a:p>
          <a:p>
            <a:r>
              <a:rPr lang="en-US" dirty="0"/>
              <a:t>… is a secondary prompt</a:t>
            </a:r>
            <a:endParaRPr lang="en-IN" dirty="0"/>
          </a:p>
        </p:txBody>
      </p:sp>
      <p:sp>
        <p:nvSpPr>
          <p:cNvPr id="2" name="Slide Number Placeholder 1">
            <a:extLst>
              <a:ext uri="{FF2B5EF4-FFF2-40B4-BE49-F238E27FC236}">
                <a16:creationId xmlns:a16="http://schemas.microsoft.com/office/drawing/2014/main" id="{A412D060-EC78-3F2F-71B8-9A0E6970AC76}"/>
              </a:ext>
            </a:extLst>
          </p:cNvPr>
          <p:cNvSpPr>
            <a:spLocks noGrp="1"/>
          </p:cNvSpPr>
          <p:nvPr>
            <p:ph type="sldNum" sz="quarter" idx="12"/>
          </p:nvPr>
        </p:nvSpPr>
        <p:spPr/>
        <p:txBody>
          <a:bodyPr/>
          <a:lstStyle/>
          <a:p>
            <a:fld id="{45A3C14A-F937-4231-B6F1-40B429FAFB2F}" type="slidenum">
              <a:rPr lang="en-NZ" smtClean="0"/>
              <a:pPr/>
              <a:t>25</a:t>
            </a:fld>
            <a:endParaRPr lang="en-NZ" dirty="0"/>
          </a:p>
        </p:txBody>
      </p:sp>
      <p:sp>
        <p:nvSpPr>
          <p:cNvPr id="7" name="Rectangle 6"/>
          <p:cNvSpPr/>
          <p:nvPr/>
        </p:nvSpPr>
        <p:spPr>
          <a:xfrm>
            <a:off x="840252" y="2832210"/>
            <a:ext cx="4076693" cy="461665"/>
          </a:xfrm>
          <a:prstGeom prst="rect">
            <a:avLst/>
          </a:prstGeom>
        </p:spPr>
        <p:txBody>
          <a:bodyPr wrap="none">
            <a:spAutoFit/>
          </a:bodyPr>
          <a:lstStyle/>
          <a:p>
            <a:r>
              <a:rPr lang="en-US" sz="2400" b="1" dirty="0"/>
              <a:t>SELECTED ESCAPE S EQUENCES</a:t>
            </a:r>
          </a:p>
        </p:txBody>
      </p:sp>
      <p:pic>
        <p:nvPicPr>
          <p:cNvPr id="8" name="Picture 7">
            <a:extLst>
              <a:ext uri="{FF2B5EF4-FFF2-40B4-BE49-F238E27FC236}">
                <a16:creationId xmlns:a16="http://schemas.microsoft.com/office/drawing/2014/main" id="{E18CAFD3-563A-5082-4B18-E26278B9C9AD}"/>
              </a:ext>
            </a:extLst>
          </p:cNvPr>
          <p:cNvPicPr>
            <a:picLocks noChangeAspect="1"/>
          </p:cNvPicPr>
          <p:nvPr/>
        </p:nvPicPr>
        <p:blipFill rotWithShape="1">
          <a:blip r:embed="rId2">
            <a:extLst>
              <a:ext uri="{28A0092B-C50C-407E-A947-70E740481C1C}">
                <a14:useLocalDpi xmlns:a14="http://schemas.microsoft.com/office/drawing/2010/main" val="0"/>
              </a:ext>
            </a:extLst>
          </a:blip>
          <a:srcRect l="24603" t="57795" r="30509" b="21047"/>
          <a:stretch/>
        </p:blipFill>
        <p:spPr>
          <a:xfrm>
            <a:off x="215408" y="3293875"/>
            <a:ext cx="10945208" cy="2736304"/>
          </a:xfrm>
          <a:prstGeom prst="rect">
            <a:avLst/>
          </a:prstGeom>
        </p:spPr>
      </p:pic>
    </p:spTree>
    <p:extLst>
      <p:ext uri="{BB962C8B-B14F-4D97-AF65-F5344CB8AC3E}">
        <p14:creationId xmlns:p14="http://schemas.microsoft.com/office/powerpoint/2010/main" val="34994968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4" name="Title 3">
            <a:extLst>
              <a:ext uri="{FF2B5EF4-FFF2-40B4-BE49-F238E27FC236}">
                <a16:creationId xmlns:a16="http://schemas.microsoft.com/office/drawing/2014/main" id="{6AF1A31C-305B-8B99-2614-E443CD2AFB3B}"/>
              </a:ext>
            </a:extLst>
          </p:cNvPr>
          <p:cNvSpPr>
            <a:spLocks noGrp="1"/>
          </p:cNvSpPr>
          <p:nvPr>
            <p:ph type="title"/>
          </p:nvPr>
        </p:nvSpPr>
        <p:spPr>
          <a:xfrm>
            <a:off x="847184" y="412987"/>
            <a:ext cx="10515600" cy="503579"/>
          </a:xfrm>
        </p:spPr>
        <p:txBody>
          <a:bodyPr>
            <a:normAutofit fontScale="90000"/>
          </a:bodyPr>
          <a:lstStyle/>
          <a:p>
            <a:r>
              <a:rPr lang="en-IN" sz="3600" dirty="0"/>
              <a:t>USEFUL MATHEMATICAL OPERATORS</a:t>
            </a:r>
            <a:endParaRPr lang="en-US" sz="3600" dirty="0"/>
          </a:p>
        </p:txBody>
      </p:sp>
      <p:pic>
        <p:nvPicPr>
          <p:cNvPr id="8" name="Content Placeholder 7">
            <a:extLst>
              <a:ext uri="{FF2B5EF4-FFF2-40B4-BE49-F238E27FC236}">
                <a16:creationId xmlns:a16="http://schemas.microsoft.com/office/drawing/2014/main" id="{D1753C1C-9C76-8C49-C903-03800CFAE871}"/>
              </a:ext>
            </a:extLst>
          </p:cNvPr>
          <p:cNvPicPr>
            <a:picLocks noGrp="1" noChangeAspect="1"/>
          </p:cNvPicPr>
          <p:nvPr>
            <p:ph idx="1"/>
          </p:nvPr>
        </p:nvPicPr>
        <p:blipFill rotWithShape="1">
          <a:blip r:embed="rId4">
            <a:extLst>
              <a:ext uri="{28A0092B-C50C-407E-A947-70E740481C1C}">
                <a14:useLocalDpi xmlns:a14="http://schemas.microsoft.com/office/drawing/2010/main" val="0"/>
              </a:ext>
            </a:extLst>
          </a:blip>
          <a:srcRect l="25194" t="39978" r="30509" b="37750"/>
          <a:stretch/>
        </p:blipFill>
        <p:spPr>
          <a:xfrm>
            <a:off x="537726" y="916566"/>
            <a:ext cx="10443541" cy="2784971"/>
          </a:xfrm>
          <a:prstGeom prst="rect">
            <a:avLst/>
          </a:prstGeom>
        </p:spPr>
      </p:pic>
      <p:sp>
        <p:nvSpPr>
          <p:cNvPr id="6" name="Rectangle 5"/>
          <p:cNvSpPr/>
          <p:nvPr/>
        </p:nvSpPr>
        <p:spPr>
          <a:xfrm>
            <a:off x="992884" y="3835784"/>
            <a:ext cx="4076822" cy="461665"/>
          </a:xfrm>
          <a:prstGeom prst="rect">
            <a:avLst/>
          </a:prstGeom>
        </p:spPr>
        <p:txBody>
          <a:bodyPr wrap="none">
            <a:spAutoFit/>
          </a:bodyPr>
          <a:lstStyle/>
          <a:p>
            <a:r>
              <a:rPr lang="en-US" sz="2400" b="1" dirty="0"/>
              <a:t>USING QUOTES WITH STRINGS</a:t>
            </a:r>
          </a:p>
        </p:txBody>
      </p:sp>
      <p:sp>
        <p:nvSpPr>
          <p:cNvPr id="7" name="Rectangle 6"/>
          <p:cNvSpPr/>
          <p:nvPr/>
        </p:nvSpPr>
        <p:spPr>
          <a:xfrm>
            <a:off x="1246985" y="4507891"/>
            <a:ext cx="8553719" cy="1200329"/>
          </a:xfrm>
          <a:prstGeom prst="rect">
            <a:avLst/>
          </a:prstGeom>
        </p:spPr>
        <p:txBody>
          <a:bodyPr wrap="square">
            <a:spAutoFit/>
          </a:bodyPr>
          <a:lstStyle/>
          <a:p>
            <a:r>
              <a:rPr lang="en-IN" sz="2400" dirty="0"/>
              <a:t>Single Quotes </a:t>
            </a:r>
            <a:r>
              <a:rPr lang="en-IN" sz="2400" dirty="0">
                <a:solidFill>
                  <a:srgbClr val="FF0000"/>
                </a:solidFill>
              </a:rPr>
              <a:t>ex:  ‘Hello World’</a:t>
            </a:r>
          </a:p>
          <a:p>
            <a:r>
              <a:rPr lang="en-IN" sz="2400" dirty="0"/>
              <a:t>Double Quotes </a:t>
            </a:r>
            <a:r>
              <a:rPr lang="en-IN" sz="2400" dirty="0">
                <a:solidFill>
                  <a:srgbClr val="FF0000"/>
                </a:solidFill>
              </a:rPr>
              <a:t>ex: “Hello World”</a:t>
            </a:r>
          </a:p>
          <a:p>
            <a:r>
              <a:rPr lang="en-US" sz="2400" dirty="0"/>
              <a:t>Triple-Quoted strings </a:t>
            </a:r>
            <a:r>
              <a:rPr lang="en-US" sz="2400" dirty="0">
                <a:solidFill>
                  <a:srgbClr val="FF0000"/>
                </a:solidFill>
              </a:rPr>
              <a:t>Ex: “””    Hello world”””</a:t>
            </a:r>
            <a:endParaRPr lang="en-IN" sz="2400" dirty="0">
              <a:solidFill>
                <a:srgbClr val="FF0000"/>
              </a:solidFill>
            </a:endParaRPr>
          </a:p>
        </p:txBody>
      </p:sp>
    </p:spTree>
    <p:extLst>
      <p:ext uri="{BB962C8B-B14F-4D97-AF65-F5344CB8AC3E}">
        <p14:creationId xmlns:p14="http://schemas.microsoft.com/office/powerpoint/2010/main" val="296361300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4" name="Title 3">
            <a:extLst>
              <a:ext uri="{FF2B5EF4-FFF2-40B4-BE49-F238E27FC236}">
                <a16:creationId xmlns:a16="http://schemas.microsoft.com/office/drawing/2014/main" id="{6AF1A31C-305B-8B99-2614-E443CD2AFB3B}"/>
              </a:ext>
            </a:extLst>
          </p:cNvPr>
          <p:cNvSpPr>
            <a:spLocks noGrp="1"/>
          </p:cNvSpPr>
          <p:nvPr>
            <p:ph type="title"/>
          </p:nvPr>
        </p:nvSpPr>
        <p:spPr>
          <a:xfrm>
            <a:off x="838200" y="365126"/>
            <a:ext cx="10515600" cy="443912"/>
          </a:xfrm>
        </p:spPr>
        <p:txBody>
          <a:bodyPr>
            <a:normAutofit fontScale="90000"/>
          </a:bodyPr>
          <a:lstStyle/>
          <a:p>
            <a:r>
              <a:rPr lang="en-IN" sz="3600" dirty="0">
                <a:solidFill>
                  <a:srgbClr val="000000"/>
                </a:solidFill>
                <a:latin typeface="Segoe UI" panose="020B0502040204020203" pitchFamily="34" charset="0"/>
              </a:rPr>
              <a:t>Python Comments</a:t>
            </a:r>
            <a:endParaRPr lang="en-US" sz="3600" dirty="0"/>
          </a:p>
        </p:txBody>
      </p:sp>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476518" y="914400"/>
            <a:ext cx="10877282" cy="5262563"/>
          </a:xfrm>
        </p:spPr>
        <p:txBody>
          <a:bodyPr/>
          <a:lstStyle/>
          <a:p>
            <a:r>
              <a:rPr lang="en-US" sz="2000" dirty="0">
                <a:solidFill>
                  <a:srgbClr val="000000"/>
                </a:solidFill>
                <a:latin typeface="Verdana" panose="020B0604030504040204" pitchFamily="34" charset="0"/>
              </a:rPr>
              <a:t>Comments can be used to explain Python code.</a:t>
            </a:r>
          </a:p>
          <a:p>
            <a:r>
              <a:rPr lang="en-US" sz="2000" dirty="0">
                <a:solidFill>
                  <a:srgbClr val="000000"/>
                </a:solidFill>
                <a:latin typeface="Verdana" panose="020B0604030504040204" pitchFamily="34" charset="0"/>
              </a:rPr>
              <a:t>Comments can be used to make the code more readable.</a:t>
            </a:r>
          </a:p>
          <a:p>
            <a:r>
              <a:rPr lang="en-US" sz="2000" dirty="0">
                <a:solidFill>
                  <a:srgbClr val="000000"/>
                </a:solidFill>
                <a:latin typeface="Verdana" panose="020B0604030504040204" pitchFamily="34" charset="0"/>
              </a:rPr>
              <a:t>Comments can be used to prevent execution when testing code.</a:t>
            </a:r>
          </a:p>
          <a:p>
            <a:pPr marL="0" indent="0">
              <a:buNone/>
            </a:pPr>
            <a:r>
              <a:rPr lang="en-US" sz="2000" dirty="0">
                <a:solidFill>
                  <a:srgbClr val="FF0000"/>
                </a:solidFill>
                <a:latin typeface="Consolas" panose="020B0609020204030204" pitchFamily="49" charset="0"/>
              </a:rPr>
              <a:t>Ex:  </a:t>
            </a:r>
            <a:r>
              <a:rPr lang="en-US" sz="2000" dirty="0">
                <a:solidFill>
                  <a:srgbClr val="008000"/>
                </a:solidFill>
                <a:latin typeface="Consolas" panose="020B0609020204030204" pitchFamily="49" charset="0"/>
              </a:rPr>
              <a:t>#This is a comment</a:t>
            </a:r>
            <a:br>
              <a:rPr lang="en-US" sz="2000" dirty="0">
                <a:solidFill>
                  <a:srgbClr val="008000"/>
                </a:solidFill>
                <a:latin typeface="Consolas" panose="020B0609020204030204" pitchFamily="49" charset="0"/>
              </a:rPr>
            </a:br>
            <a:r>
              <a:rPr lang="en-US" sz="2000" dirty="0">
                <a:solidFill>
                  <a:srgbClr val="008000"/>
                </a:solidFill>
                <a:latin typeface="Consolas" panose="020B0609020204030204" pitchFamily="49" charset="0"/>
              </a:rPr>
              <a:t>     </a:t>
            </a:r>
            <a:r>
              <a:rPr lang="en-US" sz="2000" dirty="0">
                <a:solidFill>
                  <a:srgbClr val="0000CD"/>
                </a:solidFill>
                <a:latin typeface="Consolas" panose="020B0609020204030204" pitchFamily="49" charset="0"/>
              </a:rPr>
              <a:t>print</a:t>
            </a:r>
            <a:r>
              <a:rPr lang="en-US" sz="2000" dirty="0">
                <a:solidFill>
                  <a:srgbClr val="000000"/>
                </a:solidFill>
                <a:latin typeface="Consolas" panose="020B0609020204030204" pitchFamily="49" charset="0"/>
              </a:rPr>
              <a:t>(</a:t>
            </a:r>
            <a:r>
              <a:rPr lang="en-US" sz="2000" dirty="0">
                <a:solidFill>
                  <a:srgbClr val="A52A2A"/>
                </a:solidFill>
                <a:latin typeface="Consolas" panose="020B0609020204030204" pitchFamily="49" charset="0"/>
              </a:rPr>
              <a:t>"Hello, World!"</a:t>
            </a:r>
            <a:r>
              <a:rPr lang="en-US" sz="2000" dirty="0">
                <a:solidFill>
                  <a:srgbClr val="000000"/>
                </a:solidFill>
                <a:latin typeface="Consolas" panose="020B0609020204030204" pitchFamily="49" charset="0"/>
              </a:rPr>
              <a:t>)</a:t>
            </a:r>
          </a:p>
          <a:p>
            <a:pPr marL="0" indent="0">
              <a:buNone/>
            </a:pPr>
            <a:endParaRPr lang="en-US" dirty="0"/>
          </a:p>
        </p:txBody>
      </p:sp>
      <p:sp>
        <p:nvSpPr>
          <p:cNvPr id="6" name="Rectangle 5"/>
          <p:cNvSpPr/>
          <p:nvPr/>
        </p:nvSpPr>
        <p:spPr>
          <a:xfrm>
            <a:off x="6172789" y="2413735"/>
            <a:ext cx="3847528" cy="584775"/>
          </a:xfrm>
          <a:prstGeom prst="rect">
            <a:avLst/>
          </a:prstGeom>
        </p:spPr>
        <p:txBody>
          <a:bodyPr wrap="none">
            <a:spAutoFit/>
          </a:bodyPr>
          <a:lstStyle/>
          <a:p>
            <a:r>
              <a:rPr lang="en-IN" sz="3200" dirty="0">
                <a:solidFill>
                  <a:srgbClr val="000000"/>
                </a:solidFill>
                <a:latin typeface="Segoe UI" panose="020B0502040204020203" pitchFamily="34" charset="0"/>
                <a:ea typeface="+mj-ea"/>
                <a:cs typeface="+mj-cs"/>
              </a:rPr>
              <a:t>Multiline Comments</a:t>
            </a:r>
            <a:endParaRPr lang="en-US" sz="3200" dirty="0">
              <a:solidFill>
                <a:srgbClr val="000000"/>
              </a:solidFill>
              <a:latin typeface="Segoe UI" panose="020B0502040204020203" pitchFamily="34" charset="0"/>
              <a:ea typeface="+mj-ea"/>
              <a:cs typeface="+mj-cs"/>
            </a:endParaRPr>
          </a:p>
        </p:txBody>
      </p:sp>
      <p:sp>
        <p:nvSpPr>
          <p:cNvPr id="7" name="Rectangle 6"/>
          <p:cNvSpPr/>
          <p:nvPr/>
        </p:nvSpPr>
        <p:spPr>
          <a:xfrm>
            <a:off x="6254840" y="3343578"/>
            <a:ext cx="5381403" cy="3416320"/>
          </a:xfrm>
          <a:prstGeom prst="rect">
            <a:avLst/>
          </a:prstGeom>
        </p:spPr>
        <p:txBody>
          <a:bodyPr wrap="square">
            <a:spAutoFit/>
          </a:bodyPr>
          <a:lstStyle/>
          <a:p>
            <a:r>
              <a:rPr lang="en-IN" dirty="0"/>
              <a:t>Ex: 	</a:t>
            </a:r>
            <a:r>
              <a:rPr lang="en-US" dirty="0">
                <a:solidFill>
                  <a:srgbClr val="008000"/>
                </a:solidFill>
                <a:latin typeface="Consolas" panose="020B0609020204030204" pitchFamily="49" charset="0"/>
              </a:rPr>
              <a:t>#This is a comment</a:t>
            </a:r>
            <a:br>
              <a:rPr lang="en-US" dirty="0">
                <a:solidFill>
                  <a:srgbClr val="008000"/>
                </a:solidFill>
                <a:latin typeface="Consolas" panose="020B0609020204030204" pitchFamily="49" charset="0"/>
              </a:rPr>
            </a:br>
            <a:r>
              <a:rPr lang="en-US" dirty="0">
                <a:solidFill>
                  <a:srgbClr val="008000"/>
                </a:solidFill>
                <a:latin typeface="Consolas" panose="020B0609020204030204" pitchFamily="49" charset="0"/>
              </a:rPr>
              <a:t>	#written in</a:t>
            </a:r>
            <a:br>
              <a:rPr lang="en-US" dirty="0">
                <a:solidFill>
                  <a:srgbClr val="008000"/>
                </a:solidFill>
                <a:latin typeface="Consolas" panose="020B0609020204030204" pitchFamily="49" charset="0"/>
              </a:rPr>
            </a:br>
            <a:r>
              <a:rPr lang="en-US" dirty="0">
                <a:solidFill>
                  <a:srgbClr val="008000"/>
                </a:solidFill>
                <a:latin typeface="Consolas" panose="020B0609020204030204" pitchFamily="49" charset="0"/>
              </a:rPr>
              <a:t>	#more than just one line</a:t>
            </a:r>
            <a:br>
              <a:rPr lang="en-US" dirty="0">
                <a:solidFill>
                  <a:srgbClr val="008000"/>
                </a:solidFill>
                <a:latin typeface="Consolas" panose="020B0609020204030204" pitchFamily="49" charset="0"/>
              </a:rPr>
            </a:br>
            <a:r>
              <a:rPr lang="en-US" dirty="0">
                <a:solidFill>
                  <a:srgbClr val="008000"/>
                </a:solidFill>
                <a:latin typeface="Consolas" panose="020B0609020204030204" pitchFamily="49" charset="0"/>
              </a:rPr>
              <a:t>	</a:t>
            </a:r>
            <a:r>
              <a:rPr lang="en-US" dirty="0">
                <a:solidFill>
                  <a:srgbClr val="0000CD"/>
                </a:solidFill>
                <a:latin typeface="Consolas" panose="020B0609020204030204" pitchFamily="49" charset="0"/>
              </a:rPr>
              <a:t>print</a:t>
            </a:r>
            <a:r>
              <a:rPr lang="en-US" dirty="0">
                <a:solidFill>
                  <a:srgbClr val="000000"/>
                </a:solidFill>
                <a:latin typeface="Consolas" panose="020B0609020204030204" pitchFamily="49" charset="0"/>
              </a:rPr>
              <a:t>(</a:t>
            </a:r>
            <a:r>
              <a:rPr lang="en-US" dirty="0">
                <a:solidFill>
                  <a:srgbClr val="A52A2A"/>
                </a:solidFill>
                <a:latin typeface="Consolas" panose="020B0609020204030204" pitchFamily="49" charset="0"/>
              </a:rPr>
              <a:t>"Hello, World!"</a:t>
            </a:r>
            <a:r>
              <a:rPr lang="en-US" dirty="0">
                <a:solidFill>
                  <a:srgbClr val="000000"/>
                </a:solidFill>
                <a:latin typeface="Consolas" panose="020B0609020204030204" pitchFamily="49" charset="0"/>
              </a:rPr>
              <a:t>)</a:t>
            </a:r>
          </a:p>
          <a:p>
            <a:r>
              <a:rPr lang="en-US" dirty="0">
                <a:solidFill>
                  <a:srgbClr val="FF0000"/>
                </a:solidFill>
                <a:latin typeface="Consolas" panose="020B0609020204030204" pitchFamily="49" charset="0"/>
              </a:rPr>
              <a:t>OR</a:t>
            </a:r>
          </a:p>
          <a:p>
            <a:endParaRPr lang="en-US" dirty="0">
              <a:solidFill>
                <a:srgbClr val="A52A2A"/>
              </a:solidFill>
              <a:latin typeface="Consolas" panose="020B0609020204030204" pitchFamily="49" charset="0"/>
            </a:endParaRPr>
          </a:p>
          <a:p>
            <a:r>
              <a:rPr lang="en-US" dirty="0">
                <a:solidFill>
                  <a:srgbClr val="A52A2A"/>
                </a:solidFill>
                <a:latin typeface="Consolas" panose="020B0609020204030204" pitchFamily="49" charset="0"/>
              </a:rPr>
              <a:t>"""</a:t>
            </a:r>
            <a:br>
              <a:rPr lang="en-US" dirty="0">
                <a:solidFill>
                  <a:srgbClr val="A52A2A"/>
                </a:solidFill>
                <a:latin typeface="Consolas" panose="020B0609020204030204" pitchFamily="49" charset="0"/>
              </a:rPr>
            </a:br>
            <a:r>
              <a:rPr lang="en-US" dirty="0">
                <a:solidFill>
                  <a:srgbClr val="A52A2A"/>
                </a:solidFill>
                <a:latin typeface="Consolas" panose="020B0609020204030204" pitchFamily="49" charset="0"/>
              </a:rPr>
              <a:t>This is a comment</a:t>
            </a:r>
            <a:br>
              <a:rPr lang="en-US" dirty="0">
                <a:solidFill>
                  <a:srgbClr val="A52A2A"/>
                </a:solidFill>
                <a:latin typeface="Consolas" panose="020B0609020204030204" pitchFamily="49" charset="0"/>
              </a:rPr>
            </a:br>
            <a:r>
              <a:rPr lang="en-US" dirty="0">
                <a:solidFill>
                  <a:srgbClr val="A52A2A"/>
                </a:solidFill>
                <a:latin typeface="Consolas" panose="020B0609020204030204" pitchFamily="49" charset="0"/>
              </a:rPr>
              <a:t>written in</a:t>
            </a:r>
            <a:br>
              <a:rPr lang="en-US" dirty="0">
                <a:solidFill>
                  <a:srgbClr val="A52A2A"/>
                </a:solidFill>
                <a:latin typeface="Consolas" panose="020B0609020204030204" pitchFamily="49" charset="0"/>
              </a:rPr>
            </a:br>
            <a:r>
              <a:rPr lang="en-US" dirty="0">
                <a:solidFill>
                  <a:srgbClr val="A52A2A"/>
                </a:solidFill>
                <a:latin typeface="Consolas" panose="020B0609020204030204" pitchFamily="49" charset="0"/>
              </a:rPr>
              <a:t>more than just one line</a:t>
            </a:r>
            <a:br>
              <a:rPr lang="en-US" dirty="0">
                <a:solidFill>
                  <a:srgbClr val="A52A2A"/>
                </a:solidFill>
                <a:latin typeface="Consolas" panose="020B0609020204030204" pitchFamily="49" charset="0"/>
              </a:rPr>
            </a:br>
            <a:r>
              <a:rPr lang="en-US" dirty="0">
                <a:solidFill>
                  <a:srgbClr val="A52A2A"/>
                </a:solidFill>
                <a:latin typeface="Consolas" panose="020B0609020204030204" pitchFamily="49" charset="0"/>
              </a:rPr>
              <a:t>"""</a:t>
            </a:r>
            <a:br>
              <a:rPr lang="en-US" dirty="0"/>
            </a:br>
            <a:r>
              <a:rPr lang="en-US" dirty="0">
                <a:solidFill>
                  <a:srgbClr val="0000CD"/>
                </a:solidFill>
                <a:latin typeface="Consolas" panose="020B0609020204030204" pitchFamily="49" charset="0"/>
              </a:rPr>
              <a:t>print</a:t>
            </a:r>
            <a:r>
              <a:rPr lang="en-US" dirty="0">
                <a:solidFill>
                  <a:srgbClr val="000000"/>
                </a:solidFill>
                <a:latin typeface="Consolas" panose="020B0609020204030204" pitchFamily="49" charset="0"/>
              </a:rPr>
              <a:t>(</a:t>
            </a:r>
            <a:r>
              <a:rPr lang="en-US" dirty="0">
                <a:solidFill>
                  <a:srgbClr val="A52A2A"/>
                </a:solidFill>
                <a:latin typeface="Consolas" panose="020B0609020204030204" pitchFamily="49" charset="0"/>
              </a:rPr>
              <a:t>"Hello, World!"</a:t>
            </a:r>
            <a:r>
              <a:rPr lang="en-US" dirty="0">
                <a:solidFill>
                  <a:srgbClr val="000000"/>
                </a:solidFill>
                <a:latin typeface="Consolas" panose="020B0609020204030204" pitchFamily="49" charset="0"/>
              </a:rPr>
              <a:t>)</a:t>
            </a:r>
            <a:endParaRPr lang="en-IN" dirty="0"/>
          </a:p>
        </p:txBody>
      </p:sp>
    </p:spTree>
    <p:extLst>
      <p:ext uri="{BB962C8B-B14F-4D97-AF65-F5344CB8AC3E}">
        <p14:creationId xmlns:p14="http://schemas.microsoft.com/office/powerpoint/2010/main" val="212347760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4" name="Title 3">
            <a:extLst>
              <a:ext uri="{FF2B5EF4-FFF2-40B4-BE49-F238E27FC236}">
                <a16:creationId xmlns:a16="http://schemas.microsoft.com/office/drawing/2014/main" id="{6AF1A31C-305B-8B99-2614-E443CD2AFB3B}"/>
              </a:ext>
            </a:extLst>
          </p:cNvPr>
          <p:cNvSpPr>
            <a:spLocks noGrp="1"/>
          </p:cNvSpPr>
          <p:nvPr>
            <p:ph type="title"/>
          </p:nvPr>
        </p:nvSpPr>
        <p:spPr>
          <a:xfrm>
            <a:off x="838200" y="365126"/>
            <a:ext cx="10515600" cy="443912"/>
          </a:xfrm>
        </p:spPr>
        <p:txBody>
          <a:bodyPr>
            <a:normAutofit fontScale="90000"/>
          </a:bodyPr>
          <a:lstStyle/>
          <a:p>
            <a:r>
              <a:rPr lang="en-US" sz="3600" b="1" dirty="0"/>
              <a:t>Keywords</a:t>
            </a:r>
          </a:p>
        </p:txBody>
      </p:sp>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721217" y="1007672"/>
            <a:ext cx="10632583" cy="5169291"/>
          </a:xfrm>
        </p:spPr>
        <p:txBody>
          <a:bodyPr/>
          <a:lstStyle/>
          <a:p>
            <a:pPr algn="just"/>
            <a:r>
              <a:rPr lang="en-US" dirty="0"/>
              <a:t>Python has a set of reserved keywords that have specific meanings within the language and cannot be used as identifiers (such as variable names or function names). </a:t>
            </a:r>
          </a:p>
          <a:p>
            <a:pPr algn="just"/>
            <a:r>
              <a:rPr lang="en-US" dirty="0"/>
              <a:t>These keywords are case-sensitive, so using uppercase or lowercase variations will be treated differently. Additionally, it's important to avoid using these words as identifiers to prevent conflicts and ensure the proper functioning of the Python code.</a:t>
            </a:r>
          </a:p>
        </p:txBody>
      </p:sp>
      <p:pic>
        <p:nvPicPr>
          <p:cNvPr id="6" name="Picture 5"/>
          <p:cNvPicPr>
            <a:picLocks noChangeAspect="1"/>
          </p:cNvPicPr>
          <p:nvPr/>
        </p:nvPicPr>
        <p:blipFill>
          <a:blip r:embed="rId4"/>
          <a:stretch>
            <a:fillRect/>
          </a:stretch>
        </p:blipFill>
        <p:spPr>
          <a:xfrm>
            <a:off x="3325499" y="3886380"/>
            <a:ext cx="6817568" cy="2912817"/>
          </a:xfrm>
          <a:prstGeom prst="rect">
            <a:avLst/>
          </a:prstGeom>
        </p:spPr>
      </p:pic>
    </p:spTree>
    <p:extLst>
      <p:ext uri="{BB962C8B-B14F-4D97-AF65-F5344CB8AC3E}">
        <p14:creationId xmlns:p14="http://schemas.microsoft.com/office/powerpoint/2010/main" val="24879184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82D70-14C8-40BE-BEDE-BD311DE6DAEB}"/>
              </a:ext>
            </a:extLst>
          </p:cNvPr>
          <p:cNvSpPr>
            <a:spLocks noGrp="1"/>
          </p:cNvSpPr>
          <p:nvPr>
            <p:ph type="title"/>
          </p:nvPr>
        </p:nvSpPr>
        <p:spPr>
          <a:xfrm>
            <a:off x="838200" y="365126"/>
            <a:ext cx="10515600" cy="420486"/>
          </a:xfrm>
        </p:spPr>
        <p:txBody>
          <a:bodyPr>
            <a:normAutofit fontScale="90000"/>
          </a:bodyPr>
          <a:lstStyle/>
          <a:p>
            <a:r>
              <a:rPr lang="en-US" dirty="0"/>
              <a:t>Key words</a:t>
            </a:r>
            <a:endParaRPr lang="en-IN" dirty="0"/>
          </a:p>
        </p:txBody>
      </p:sp>
      <p:sp>
        <p:nvSpPr>
          <p:cNvPr id="3" name="Text Placeholder 2">
            <a:extLst>
              <a:ext uri="{FF2B5EF4-FFF2-40B4-BE49-F238E27FC236}">
                <a16:creationId xmlns:a16="http://schemas.microsoft.com/office/drawing/2014/main" id="{CB86A7C0-BD11-4624-A675-AF7204D8A8A1}"/>
              </a:ext>
            </a:extLst>
          </p:cNvPr>
          <p:cNvSpPr>
            <a:spLocks noGrp="1"/>
          </p:cNvSpPr>
          <p:nvPr>
            <p:ph idx="1"/>
          </p:nvPr>
        </p:nvSpPr>
        <p:spPr>
          <a:xfrm>
            <a:off x="541986" y="982080"/>
            <a:ext cx="10515600" cy="4351338"/>
          </a:xfrm>
        </p:spPr>
        <p:txBody>
          <a:bodyPr>
            <a:normAutofit/>
          </a:bodyPr>
          <a:lstStyle/>
          <a:p>
            <a:r>
              <a:rPr lang="en-IN" dirty="0"/>
              <a:t>Reserved words</a:t>
            </a:r>
          </a:p>
        </p:txBody>
      </p:sp>
      <p:graphicFrame>
        <p:nvGraphicFramePr>
          <p:cNvPr id="5" name="Table 4"/>
          <p:cNvGraphicFramePr>
            <a:graphicFrameLocks noGrp="1"/>
          </p:cNvGraphicFramePr>
          <p:nvPr>
            <p:extLst>
              <p:ext uri="{D42A27DB-BD31-4B8C-83A1-F6EECF244321}">
                <p14:modId xmlns:p14="http://schemas.microsoft.com/office/powerpoint/2010/main" val="1940216155"/>
              </p:ext>
            </p:extLst>
          </p:nvPr>
        </p:nvGraphicFramePr>
        <p:xfrm>
          <a:off x="1587500" y="1461503"/>
          <a:ext cx="9017000" cy="4826000"/>
        </p:xfrm>
        <a:graphic>
          <a:graphicData uri="http://schemas.openxmlformats.org/drawingml/2006/table">
            <a:tbl>
              <a:tblPr/>
              <a:tblGrid>
                <a:gridCol w="2251635">
                  <a:extLst>
                    <a:ext uri="{9D8B030D-6E8A-4147-A177-3AD203B41FA5}">
                      <a16:colId xmlns:a16="http://schemas.microsoft.com/office/drawing/2014/main" val="20000"/>
                    </a:ext>
                  </a:extLst>
                </a:gridCol>
                <a:gridCol w="6765365">
                  <a:extLst>
                    <a:ext uri="{9D8B030D-6E8A-4147-A177-3AD203B41FA5}">
                      <a16:colId xmlns:a16="http://schemas.microsoft.com/office/drawing/2014/main" val="20001"/>
                    </a:ext>
                  </a:extLst>
                </a:gridCol>
              </a:tblGrid>
              <a:tr h="482600">
                <a:tc>
                  <a:txBody>
                    <a:bodyPr/>
                    <a:lstStyle/>
                    <a:p>
                      <a:pPr algn="l" fontAlgn="t"/>
                      <a:r>
                        <a:rPr lang="en-US" sz="2300" dirty="0">
                          <a:effectLst/>
                        </a:rPr>
                        <a:t>Keyword</a:t>
                      </a:r>
                    </a:p>
                  </a:txBody>
                  <a:tcPr marL="127000" marR="63500" marT="63500" marB="635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300">
                          <a:effectLst/>
                        </a:rPr>
                        <a:t>Description</a:t>
                      </a:r>
                    </a:p>
                  </a:txBody>
                  <a:tcPr marL="63500" marR="63500" marT="63500" marB="635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82600">
                <a:tc>
                  <a:txBody>
                    <a:bodyPr/>
                    <a:lstStyle/>
                    <a:p>
                      <a:pPr algn="l" fontAlgn="t"/>
                      <a:r>
                        <a:rPr lang="en-US" sz="2300">
                          <a:effectLst/>
                          <a:hlinkClick r:id="rId2"/>
                        </a:rPr>
                        <a:t>and</a:t>
                      </a:r>
                      <a:endParaRPr lang="en-US" sz="2300">
                        <a:effectLst/>
                      </a:endParaRPr>
                    </a:p>
                  </a:txBody>
                  <a:tcPr marL="127000" marR="63500" marT="63500" marB="635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300">
                          <a:effectLst/>
                        </a:rPr>
                        <a:t>A logical operator</a:t>
                      </a:r>
                    </a:p>
                  </a:txBody>
                  <a:tcPr marL="63500" marR="63500" marT="63500" marB="635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0001"/>
                  </a:ext>
                </a:extLst>
              </a:tr>
              <a:tr h="482600">
                <a:tc>
                  <a:txBody>
                    <a:bodyPr/>
                    <a:lstStyle/>
                    <a:p>
                      <a:pPr algn="l" fontAlgn="t"/>
                      <a:r>
                        <a:rPr lang="en-US" sz="2300" dirty="0">
                          <a:effectLst/>
                          <a:hlinkClick r:id="rId3"/>
                        </a:rPr>
                        <a:t>as</a:t>
                      </a:r>
                      <a:endParaRPr lang="en-US" sz="2300" dirty="0">
                        <a:effectLst/>
                      </a:endParaRPr>
                    </a:p>
                  </a:txBody>
                  <a:tcPr marL="127000" marR="63500" marT="63500" marB="635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300" dirty="0">
                          <a:effectLst/>
                        </a:rPr>
                        <a:t>To create an alias</a:t>
                      </a:r>
                    </a:p>
                  </a:txBody>
                  <a:tcPr marL="63500" marR="63500" marT="63500" marB="635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82600">
                <a:tc>
                  <a:txBody>
                    <a:bodyPr/>
                    <a:lstStyle/>
                    <a:p>
                      <a:pPr algn="l" fontAlgn="t"/>
                      <a:r>
                        <a:rPr lang="en-US" sz="2300">
                          <a:effectLst/>
                          <a:hlinkClick r:id="rId4"/>
                        </a:rPr>
                        <a:t>assert</a:t>
                      </a:r>
                      <a:endParaRPr lang="en-US" sz="2300">
                        <a:effectLst/>
                      </a:endParaRPr>
                    </a:p>
                  </a:txBody>
                  <a:tcPr marL="127000" marR="63500" marT="63500" marB="635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300">
                          <a:effectLst/>
                        </a:rPr>
                        <a:t>For debugging</a:t>
                      </a:r>
                    </a:p>
                  </a:txBody>
                  <a:tcPr marL="63500" marR="63500" marT="63500" marB="635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0003"/>
                  </a:ext>
                </a:extLst>
              </a:tr>
              <a:tr h="482600">
                <a:tc>
                  <a:txBody>
                    <a:bodyPr/>
                    <a:lstStyle/>
                    <a:p>
                      <a:pPr algn="l" fontAlgn="t"/>
                      <a:r>
                        <a:rPr lang="en-US" sz="2300">
                          <a:effectLst/>
                          <a:hlinkClick r:id="rId5"/>
                        </a:rPr>
                        <a:t>break</a:t>
                      </a:r>
                      <a:endParaRPr lang="en-US" sz="2300">
                        <a:effectLst/>
                      </a:endParaRPr>
                    </a:p>
                  </a:txBody>
                  <a:tcPr marL="127000" marR="63500" marT="63500" marB="635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300">
                          <a:effectLst/>
                        </a:rPr>
                        <a:t>To break out of a loop</a:t>
                      </a:r>
                    </a:p>
                  </a:txBody>
                  <a:tcPr marL="63500" marR="63500" marT="63500" marB="635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82600">
                <a:tc>
                  <a:txBody>
                    <a:bodyPr/>
                    <a:lstStyle/>
                    <a:p>
                      <a:pPr algn="l" fontAlgn="t"/>
                      <a:r>
                        <a:rPr lang="en-US" sz="2300">
                          <a:effectLst/>
                          <a:hlinkClick r:id="rId6"/>
                        </a:rPr>
                        <a:t>class</a:t>
                      </a:r>
                      <a:endParaRPr lang="en-US" sz="2300">
                        <a:effectLst/>
                      </a:endParaRPr>
                    </a:p>
                  </a:txBody>
                  <a:tcPr marL="127000" marR="63500" marT="63500" marB="635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300">
                          <a:effectLst/>
                        </a:rPr>
                        <a:t>To define a class</a:t>
                      </a:r>
                    </a:p>
                  </a:txBody>
                  <a:tcPr marL="63500" marR="63500" marT="63500" marB="635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0005"/>
                  </a:ext>
                </a:extLst>
              </a:tr>
              <a:tr h="482600">
                <a:tc>
                  <a:txBody>
                    <a:bodyPr/>
                    <a:lstStyle/>
                    <a:p>
                      <a:pPr algn="l" fontAlgn="t"/>
                      <a:r>
                        <a:rPr lang="en-US" sz="2300">
                          <a:effectLst/>
                          <a:hlinkClick r:id="rId7"/>
                        </a:rPr>
                        <a:t>continue</a:t>
                      </a:r>
                      <a:endParaRPr lang="en-US" sz="2300">
                        <a:effectLst/>
                      </a:endParaRPr>
                    </a:p>
                  </a:txBody>
                  <a:tcPr marL="127000" marR="63500" marT="63500" marB="635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300">
                          <a:effectLst/>
                        </a:rPr>
                        <a:t>To continue to the next iteration of a loop</a:t>
                      </a:r>
                    </a:p>
                  </a:txBody>
                  <a:tcPr marL="63500" marR="63500" marT="63500" marB="635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82600">
                <a:tc>
                  <a:txBody>
                    <a:bodyPr/>
                    <a:lstStyle/>
                    <a:p>
                      <a:pPr algn="l" fontAlgn="t"/>
                      <a:r>
                        <a:rPr lang="en-US" sz="2300">
                          <a:effectLst/>
                          <a:hlinkClick r:id="rId8"/>
                        </a:rPr>
                        <a:t>def</a:t>
                      </a:r>
                      <a:endParaRPr lang="en-US" sz="2300">
                        <a:effectLst/>
                      </a:endParaRPr>
                    </a:p>
                  </a:txBody>
                  <a:tcPr marL="127000" marR="63500" marT="63500" marB="635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300">
                          <a:effectLst/>
                        </a:rPr>
                        <a:t>To define a function</a:t>
                      </a:r>
                    </a:p>
                  </a:txBody>
                  <a:tcPr marL="63500" marR="63500" marT="63500" marB="635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0007"/>
                  </a:ext>
                </a:extLst>
              </a:tr>
              <a:tr h="482600">
                <a:tc>
                  <a:txBody>
                    <a:bodyPr/>
                    <a:lstStyle/>
                    <a:p>
                      <a:pPr algn="l" fontAlgn="t"/>
                      <a:r>
                        <a:rPr lang="en-US" sz="2300">
                          <a:effectLst/>
                          <a:hlinkClick r:id="rId9"/>
                        </a:rPr>
                        <a:t>del</a:t>
                      </a:r>
                      <a:endParaRPr lang="en-US" sz="2300">
                        <a:effectLst/>
                      </a:endParaRPr>
                    </a:p>
                  </a:txBody>
                  <a:tcPr marL="127000" marR="63500" marT="63500" marB="635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300">
                          <a:effectLst/>
                        </a:rPr>
                        <a:t>To delete an object</a:t>
                      </a:r>
                    </a:p>
                  </a:txBody>
                  <a:tcPr marL="63500" marR="63500" marT="63500" marB="635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82600">
                <a:tc>
                  <a:txBody>
                    <a:bodyPr/>
                    <a:lstStyle/>
                    <a:p>
                      <a:pPr algn="l" fontAlgn="t"/>
                      <a:r>
                        <a:rPr lang="en-US" sz="2300">
                          <a:effectLst/>
                          <a:hlinkClick r:id="rId10"/>
                        </a:rPr>
                        <a:t>elif</a:t>
                      </a:r>
                      <a:endParaRPr lang="en-US" sz="2300">
                        <a:effectLst/>
                      </a:endParaRPr>
                    </a:p>
                  </a:txBody>
                  <a:tcPr marL="127000" marR="63500" marT="63500" marB="635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c>
                  <a:txBody>
                    <a:bodyPr/>
                    <a:lstStyle/>
                    <a:p>
                      <a:pPr algn="l" fontAlgn="t"/>
                      <a:r>
                        <a:rPr lang="en-US" sz="2300" dirty="0">
                          <a:effectLst/>
                        </a:rPr>
                        <a:t>Used in conditional statements, same as else if</a:t>
                      </a:r>
                    </a:p>
                  </a:txBody>
                  <a:tcPr marL="63500" marR="63500" marT="63500" marB="635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8604592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p:cNvGraphicFramePr>
            <a:graphicFrameLocks noGrp="1"/>
          </p:cNvGraphicFramePr>
          <p:nvPr>
            <p:extLst>
              <p:ext uri="{D42A27DB-BD31-4B8C-83A1-F6EECF244321}">
                <p14:modId xmlns:p14="http://schemas.microsoft.com/office/powerpoint/2010/main" val="4041740514"/>
              </p:ext>
            </p:extLst>
          </p:nvPr>
        </p:nvGraphicFramePr>
        <p:xfrm>
          <a:off x="1216695" y="631066"/>
          <a:ext cx="7874000" cy="5490828"/>
        </p:xfrm>
        <a:graphic>
          <a:graphicData uri="http://schemas.openxmlformats.org/drawingml/2006/table">
            <a:tbl>
              <a:tblPr/>
              <a:tblGrid>
                <a:gridCol w="3937000">
                  <a:extLst>
                    <a:ext uri="{9D8B030D-6E8A-4147-A177-3AD203B41FA5}">
                      <a16:colId xmlns:a16="http://schemas.microsoft.com/office/drawing/2014/main" val="20000"/>
                    </a:ext>
                  </a:extLst>
                </a:gridCol>
                <a:gridCol w="3937000">
                  <a:extLst>
                    <a:ext uri="{9D8B030D-6E8A-4147-A177-3AD203B41FA5}">
                      <a16:colId xmlns:a16="http://schemas.microsoft.com/office/drawing/2014/main" val="20001"/>
                    </a:ext>
                  </a:extLst>
                </a:gridCol>
              </a:tblGrid>
              <a:tr h="576185">
                <a:tc>
                  <a:txBody>
                    <a:bodyPr/>
                    <a:lstStyle/>
                    <a:p>
                      <a:pPr algn="l" fontAlgn="t"/>
                      <a:r>
                        <a:rPr lang="en-US" sz="2000" dirty="0">
                          <a:effectLst/>
                          <a:hlinkClick r:id="rId2"/>
                        </a:rPr>
                        <a:t>else</a:t>
                      </a:r>
                      <a:endParaRPr lang="en-US" sz="2000" dirty="0">
                        <a:effectLst/>
                      </a:endParaRPr>
                    </a:p>
                  </a:txBody>
                  <a:tcPr marL="109323" marR="54662" marT="54662" marB="5466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000" dirty="0">
                          <a:effectLst/>
                        </a:rPr>
                        <a:t>Used in conditional statements</a:t>
                      </a:r>
                    </a:p>
                  </a:txBody>
                  <a:tcPr marL="54662" marR="54662" marT="54662" marB="5466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18923">
                <a:tc>
                  <a:txBody>
                    <a:bodyPr/>
                    <a:lstStyle/>
                    <a:p>
                      <a:pPr algn="l" fontAlgn="t"/>
                      <a:r>
                        <a:rPr lang="en-US" sz="2000" dirty="0">
                          <a:effectLst/>
                          <a:hlinkClick r:id="rId3"/>
                        </a:rPr>
                        <a:t>except</a:t>
                      </a:r>
                      <a:endParaRPr lang="en-US" sz="2000" dirty="0">
                        <a:effectLst/>
                      </a:endParaRPr>
                    </a:p>
                  </a:txBody>
                  <a:tcPr marL="109323" marR="54662" marT="54662" marB="5466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000" dirty="0">
                          <a:effectLst/>
                        </a:rPr>
                        <a:t>Used with exceptions, what to do when an exception occurs</a:t>
                      </a:r>
                    </a:p>
                  </a:txBody>
                  <a:tcPr marL="54662" marR="54662" marT="54662" marB="5466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0001"/>
                  </a:ext>
                </a:extLst>
              </a:tr>
              <a:tr h="718923">
                <a:tc>
                  <a:txBody>
                    <a:bodyPr/>
                    <a:lstStyle/>
                    <a:p>
                      <a:pPr algn="l" fontAlgn="t"/>
                      <a:r>
                        <a:rPr lang="en-US" sz="2000" dirty="0">
                          <a:effectLst/>
                          <a:hlinkClick r:id="rId4"/>
                        </a:rPr>
                        <a:t>False</a:t>
                      </a:r>
                      <a:endParaRPr lang="en-US" sz="2000" dirty="0">
                        <a:effectLst/>
                      </a:endParaRPr>
                    </a:p>
                  </a:txBody>
                  <a:tcPr marL="109323" marR="54662" marT="54662" marB="5466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000">
                          <a:effectLst/>
                        </a:rPr>
                        <a:t>Boolean value, result of comparison operations</a:t>
                      </a:r>
                    </a:p>
                  </a:txBody>
                  <a:tcPr marL="54662" marR="54662" marT="54662" marB="5466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23723">
                <a:tc>
                  <a:txBody>
                    <a:bodyPr/>
                    <a:lstStyle/>
                    <a:p>
                      <a:pPr algn="l" fontAlgn="t"/>
                      <a:r>
                        <a:rPr lang="en-US" sz="2000" dirty="0">
                          <a:effectLst/>
                          <a:hlinkClick r:id="rId5"/>
                        </a:rPr>
                        <a:t>finally</a:t>
                      </a:r>
                      <a:endParaRPr lang="en-US" sz="2000" dirty="0">
                        <a:effectLst/>
                      </a:endParaRPr>
                    </a:p>
                  </a:txBody>
                  <a:tcPr marL="109323" marR="54662" marT="54662" marB="5466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000">
                          <a:effectLst/>
                        </a:rPr>
                        <a:t>Used with exceptions, a block of code that will be executed no matter if there is an exception or not</a:t>
                      </a:r>
                    </a:p>
                  </a:txBody>
                  <a:tcPr marL="54662" marR="54662" marT="54662" marB="5466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0003"/>
                  </a:ext>
                </a:extLst>
              </a:tr>
              <a:tr h="517518">
                <a:tc>
                  <a:txBody>
                    <a:bodyPr/>
                    <a:lstStyle/>
                    <a:p>
                      <a:pPr algn="l" fontAlgn="t"/>
                      <a:r>
                        <a:rPr lang="en-US" sz="2000" dirty="0">
                          <a:effectLst/>
                          <a:hlinkClick r:id="rId6"/>
                        </a:rPr>
                        <a:t>for</a:t>
                      </a:r>
                      <a:endParaRPr lang="en-US" sz="2000" dirty="0">
                        <a:effectLst/>
                      </a:endParaRPr>
                    </a:p>
                  </a:txBody>
                  <a:tcPr marL="109323" marR="54662" marT="54662" marB="5466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000" dirty="0">
                          <a:effectLst/>
                        </a:rPr>
                        <a:t>To create a for loop</a:t>
                      </a:r>
                    </a:p>
                  </a:txBody>
                  <a:tcPr marL="54662" marR="54662" marT="54662" marB="5466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9618">
                <a:tc>
                  <a:txBody>
                    <a:bodyPr/>
                    <a:lstStyle/>
                    <a:p>
                      <a:pPr algn="l" fontAlgn="t"/>
                      <a:r>
                        <a:rPr lang="en-US" sz="2000" dirty="0">
                          <a:effectLst/>
                          <a:hlinkClick r:id="rId7"/>
                        </a:rPr>
                        <a:t>from</a:t>
                      </a:r>
                      <a:endParaRPr lang="en-US" sz="2000" dirty="0">
                        <a:effectLst/>
                      </a:endParaRPr>
                    </a:p>
                  </a:txBody>
                  <a:tcPr marL="109323" marR="54662" marT="54662" marB="5466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000" dirty="0">
                          <a:effectLst/>
                        </a:rPr>
                        <a:t>To import specific parts of a module</a:t>
                      </a:r>
                    </a:p>
                  </a:txBody>
                  <a:tcPr marL="54662" marR="54662" marT="54662" marB="5466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0005"/>
                  </a:ext>
                </a:extLst>
              </a:tr>
              <a:tr h="517518">
                <a:tc>
                  <a:txBody>
                    <a:bodyPr/>
                    <a:lstStyle/>
                    <a:p>
                      <a:pPr algn="l" fontAlgn="t"/>
                      <a:r>
                        <a:rPr lang="en-US" sz="2000">
                          <a:effectLst/>
                          <a:hlinkClick r:id="rId8"/>
                        </a:rPr>
                        <a:t>global</a:t>
                      </a:r>
                      <a:endParaRPr lang="en-US" sz="2000">
                        <a:effectLst/>
                      </a:endParaRPr>
                    </a:p>
                  </a:txBody>
                  <a:tcPr marL="109323" marR="54662" marT="54662" marB="5466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000" dirty="0">
                          <a:effectLst/>
                        </a:rPr>
                        <a:t>To declare a global variable</a:t>
                      </a:r>
                    </a:p>
                  </a:txBody>
                  <a:tcPr marL="54662" marR="54662" marT="54662" marB="5466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898417">
                <a:tc>
                  <a:txBody>
                    <a:bodyPr/>
                    <a:lstStyle/>
                    <a:p>
                      <a:pPr algn="l" fontAlgn="t"/>
                      <a:r>
                        <a:rPr lang="en-US" sz="2000">
                          <a:effectLst/>
                          <a:hlinkClick r:id="rId9"/>
                        </a:rPr>
                        <a:t>if</a:t>
                      </a:r>
                      <a:endParaRPr lang="en-US" sz="2000">
                        <a:effectLst/>
                      </a:endParaRPr>
                    </a:p>
                  </a:txBody>
                  <a:tcPr marL="109323" marR="54662" marT="54662" marB="5466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000" dirty="0">
                          <a:effectLst/>
                        </a:rPr>
                        <a:t>To make a conditional statement</a:t>
                      </a:r>
                    </a:p>
                  </a:txBody>
                  <a:tcPr marL="54662" marR="54662" marT="54662" marB="54662">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0026636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474762151"/>
              </p:ext>
            </p:extLst>
          </p:nvPr>
        </p:nvGraphicFramePr>
        <p:xfrm>
          <a:off x="1180742" y="603518"/>
          <a:ext cx="9652000" cy="5600941"/>
        </p:xfrm>
        <a:graphic>
          <a:graphicData uri="http://schemas.openxmlformats.org/drawingml/2006/table">
            <a:tbl>
              <a:tblPr/>
              <a:tblGrid>
                <a:gridCol w="4826000">
                  <a:extLst>
                    <a:ext uri="{9D8B030D-6E8A-4147-A177-3AD203B41FA5}">
                      <a16:colId xmlns:a16="http://schemas.microsoft.com/office/drawing/2014/main" val="20000"/>
                    </a:ext>
                  </a:extLst>
                </a:gridCol>
                <a:gridCol w="4826000">
                  <a:extLst>
                    <a:ext uri="{9D8B030D-6E8A-4147-A177-3AD203B41FA5}">
                      <a16:colId xmlns:a16="http://schemas.microsoft.com/office/drawing/2014/main" val="20001"/>
                    </a:ext>
                  </a:extLst>
                </a:gridCol>
              </a:tblGrid>
              <a:tr h="642177">
                <a:tc>
                  <a:txBody>
                    <a:bodyPr/>
                    <a:lstStyle/>
                    <a:p>
                      <a:pPr algn="l" fontAlgn="t"/>
                      <a:r>
                        <a:rPr lang="en-US" sz="2000" dirty="0">
                          <a:effectLst/>
                          <a:hlinkClick r:id="rId2"/>
                        </a:rPr>
                        <a:t>lambda</a:t>
                      </a:r>
                      <a:endParaRPr lang="en-US" sz="2000" dirty="0">
                        <a:effectLst/>
                      </a:endParaRPr>
                    </a:p>
                  </a:txBody>
                  <a:tcPr marL="108777" marR="54388" marT="54388" marB="543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000" dirty="0">
                          <a:effectLst/>
                        </a:rPr>
                        <a:t>To create an anonymous function(</a:t>
                      </a:r>
                      <a:r>
                        <a:rPr lang="en-US" sz="1500" b="1" i="0" kern="1200" dirty="0">
                          <a:solidFill>
                            <a:schemeClr val="tx1"/>
                          </a:solidFill>
                          <a:effectLst/>
                          <a:latin typeface="+mn-lt"/>
                          <a:ea typeface="+mn-ea"/>
                          <a:cs typeface="+mn-cs"/>
                        </a:rPr>
                        <a:t>function that is defined without a name)</a:t>
                      </a:r>
                      <a:endParaRPr lang="en-US" sz="2000" dirty="0">
                        <a:effectLst/>
                      </a:endParaRPr>
                    </a:p>
                  </a:txBody>
                  <a:tcPr marL="54388" marR="54388" marT="54388" marB="543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0000"/>
                  </a:ext>
                </a:extLst>
              </a:tr>
              <a:tr h="439384">
                <a:tc>
                  <a:txBody>
                    <a:bodyPr/>
                    <a:lstStyle/>
                    <a:p>
                      <a:pPr algn="l" fontAlgn="t"/>
                      <a:r>
                        <a:rPr lang="en-US" sz="2000">
                          <a:effectLst/>
                          <a:hlinkClick r:id="rId3"/>
                        </a:rPr>
                        <a:t>None</a:t>
                      </a:r>
                      <a:endParaRPr lang="en-US" sz="2000">
                        <a:effectLst/>
                      </a:endParaRPr>
                    </a:p>
                  </a:txBody>
                  <a:tcPr marL="108777" marR="54388" marT="54388" marB="543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000">
                          <a:effectLst/>
                        </a:rPr>
                        <a:t>Represents a null value</a:t>
                      </a:r>
                    </a:p>
                  </a:txBody>
                  <a:tcPr marL="54388" marR="54388" marT="54388" marB="543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9384">
                <a:tc>
                  <a:txBody>
                    <a:bodyPr/>
                    <a:lstStyle/>
                    <a:p>
                      <a:pPr algn="l" fontAlgn="t"/>
                      <a:r>
                        <a:rPr lang="en-US" sz="2000" dirty="0">
                          <a:effectLst/>
                          <a:hlinkClick r:id="rId4"/>
                        </a:rPr>
                        <a:t>not</a:t>
                      </a:r>
                      <a:endParaRPr lang="en-US" sz="2000" dirty="0">
                        <a:effectLst/>
                      </a:endParaRPr>
                    </a:p>
                  </a:txBody>
                  <a:tcPr marL="108777" marR="54388" marT="54388" marB="543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000">
                          <a:effectLst/>
                        </a:rPr>
                        <a:t>A logical operator</a:t>
                      </a:r>
                    </a:p>
                  </a:txBody>
                  <a:tcPr marL="54388" marR="54388" marT="54388" marB="543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9384">
                <a:tc>
                  <a:txBody>
                    <a:bodyPr/>
                    <a:lstStyle/>
                    <a:p>
                      <a:pPr algn="l" fontAlgn="t"/>
                      <a:r>
                        <a:rPr lang="en-US" sz="2000">
                          <a:effectLst/>
                          <a:hlinkClick r:id="rId5"/>
                        </a:rPr>
                        <a:t>or</a:t>
                      </a:r>
                      <a:endParaRPr lang="en-US" sz="2000">
                        <a:effectLst/>
                      </a:endParaRPr>
                    </a:p>
                  </a:txBody>
                  <a:tcPr marL="108777" marR="54388" marT="54388" marB="543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000">
                          <a:effectLst/>
                        </a:rPr>
                        <a:t>A logical operator</a:t>
                      </a:r>
                    </a:p>
                  </a:txBody>
                  <a:tcPr marL="54388" marR="54388" marT="54388" marB="543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0003"/>
                  </a:ext>
                </a:extLst>
              </a:tr>
              <a:tr h="721846">
                <a:tc>
                  <a:txBody>
                    <a:bodyPr/>
                    <a:lstStyle/>
                    <a:p>
                      <a:pPr algn="l" fontAlgn="t"/>
                      <a:r>
                        <a:rPr lang="en-US" sz="2000" dirty="0">
                          <a:effectLst/>
                          <a:hlinkClick r:id="rId6"/>
                        </a:rPr>
                        <a:t>pass</a:t>
                      </a:r>
                      <a:endParaRPr lang="en-US" sz="2000" dirty="0">
                        <a:effectLst/>
                      </a:endParaRPr>
                    </a:p>
                  </a:txBody>
                  <a:tcPr marL="108777" marR="54388" marT="54388" marB="543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000">
                          <a:effectLst/>
                        </a:rPr>
                        <a:t>A null statement, a statement that will do nothing</a:t>
                      </a:r>
                    </a:p>
                  </a:txBody>
                  <a:tcPr marL="54388" marR="54388" marT="54388" marB="543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9384">
                <a:tc>
                  <a:txBody>
                    <a:bodyPr/>
                    <a:lstStyle/>
                    <a:p>
                      <a:pPr algn="l" fontAlgn="t"/>
                      <a:r>
                        <a:rPr lang="en-US" sz="2000" dirty="0">
                          <a:effectLst/>
                          <a:hlinkClick r:id="rId7"/>
                        </a:rPr>
                        <a:t>raise</a:t>
                      </a:r>
                      <a:endParaRPr lang="en-US" sz="2000" dirty="0">
                        <a:effectLst/>
                      </a:endParaRPr>
                    </a:p>
                  </a:txBody>
                  <a:tcPr marL="108777" marR="54388" marT="54388" marB="543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000">
                          <a:effectLst/>
                        </a:rPr>
                        <a:t>To raise an exception</a:t>
                      </a:r>
                    </a:p>
                  </a:txBody>
                  <a:tcPr marL="54388" marR="54388" marT="54388" marB="543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0005"/>
                  </a:ext>
                </a:extLst>
              </a:tr>
              <a:tr h="439384">
                <a:tc>
                  <a:txBody>
                    <a:bodyPr/>
                    <a:lstStyle/>
                    <a:p>
                      <a:pPr algn="l" fontAlgn="t"/>
                      <a:r>
                        <a:rPr lang="en-US" sz="2000">
                          <a:effectLst/>
                          <a:hlinkClick r:id="rId8"/>
                        </a:rPr>
                        <a:t>return</a:t>
                      </a:r>
                      <a:endParaRPr lang="en-US" sz="2000">
                        <a:effectLst/>
                      </a:endParaRPr>
                    </a:p>
                  </a:txBody>
                  <a:tcPr marL="108777" marR="54388" marT="54388" marB="543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000">
                          <a:effectLst/>
                        </a:rPr>
                        <a:t>To exit a function and return a value</a:t>
                      </a:r>
                    </a:p>
                  </a:txBody>
                  <a:tcPr marL="54388" marR="54388" marT="54388" marB="543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721846">
                <a:tc>
                  <a:txBody>
                    <a:bodyPr/>
                    <a:lstStyle/>
                    <a:p>
                      <a:pPr algn="l" fontAlgn="t"/>
                      <a:r>
                        <a:rPr lang="en-US" sz="2000">
                          <a:effectLst/>
                          <a:hlinkClick r:id="rId9"/>
                        </a:rPr>
                        <a:t>True</a:t>
                      </a:r>
                      <a:endParaRPr lang="en-US" sz="2000">
                        <a:effectLst/>
                      </a:endParaRPr>
                    </a:p>
                  </a:txBody>
                  <a:tcPr marL="108777" marR="54388" marT="54388" marB="543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000">
                          <a:effectLst/>
                        </a:rPr>
                        <a:t>Boolean value, result of comparison operations</a:t>
                      </a:r>
                    </a:p>
                  </a:txBody>
                  <a:tcPr marL="54388" marR="54388" marT="54388" marB="543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0007"/>
                  </a:ext>
                </a:extLst>
              </a:tr>
              <a:tr h="439384">
                <a:tc>
                  <a:txBody>
                    <a:bodyPr/>
                    <a:lstStyle/>
                    <a:p>
                      <a:pPr algn="l" fontAlgn="t"/>
                      <a:r>
                        <a:rPr lang="en-US" sz="2000">
                          <a:effectLst/>
                          <a:hlinkClick r:id="rId10"/>
                        </a:rPr>
                        <a:t>try</a:t>
                      </a:r>
                      <a:endParaRPr lang="en-US" sz="2000">
                        <a:effectLst/>
                      </a:endParaRPr>
                    </a:p>
                  </a:txBody>
                  <a:tcPr marL="108777" marR="54388" marT="54388" marB="543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000">
                          <a:effectLst/>
                        </a:rPr>
                        <a:t>To make a try...except statement</a:t>
                      </a:r>
                    </a:p>
                  </a:txBody>
                  <a:tcPr marL="54388" marR="54388" marT="54388" marB="543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39384">
                <a:tc>
                  <a:txBody>
                    <a:bodyPr/>
                    <a:lstStyle/>
                    <a:p>
                      <a:pPr algn="l" fontAlgn="t"/>
                      <a:r>
                        <a:rPr lang="en-US" sz="2000">
                          <a:effectLst/>
                          <a:hlinkClick r:id="rId11"/>
                        </a:rPr>
                        <a:t>while</a:t>
                      </a:r>
                      <a:endParaRPr lang="en-US" sz="2000">
                        <a:effectLst/>
                      </a:endParaRPr>
                    </a:p>
                  </a:txBody>
                  <a:tcPr marL="108777" marR="54388" marT="54388" marB="543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000">
                          <a:effectLst/>
                        </a:rPr>
                        <a:t>To create a while loop</a:t>
                      </a:r>
                    </a:p>
                  </a:txBody>
                  <a:tcPr marL="54388" marR="54388" marT="54388" marB="543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0009"/>
                  </a:ext>
                </a:extLst>
              </a:tr>
              <a:tr h="439384">
                <a:tc>
                  <a:txBody>
                    <a:bodyPr/>
                    <a:lstStyle/>
                    <a:p>
                      <a:pPr algn="l" fontAlgn="t"/>
                      <a:r>
                        <a:rPr lang="en-US" sz="2000">
                          <a:effectLst/>
                        </a:rPr>
                        <a:t>with</a:t>
                      </a:r>
                    </a:p>
                  </a:txBody>
                  <a:tcPr marL="108777" marR="54388" marT="54388" marB="543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000" dirty="0">
                          <a:effectLst/>
                        </a:rPr>
                        <a:t>Used to simplify exception handling</a:t>
                      </a:r>
                    </a:p>
                  </a:txBody>
                  <a:tcPr marL="54388" marR="54388" marT="54388" marB="543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4282786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4" name="Title 3">
            <a:extLst>
              <a:ext uri="{FF2B5EF4-FFF2-40B4-BE49-F238E27FC236}">
                <a16:creationId xmlns:a16="http://schemas.microsoft.com/office/drawing/2014/main" id="{6AF1A31C-305B-8B99-2614-E443CD2AFB3B}"/>
              </a:ext>
            </a:extLst>
          </p:cNvPr>
          <p:cNvSpPr>
            <a:spLocks noGrp="1"/>
          </p:cNvSpPr>
          <p:nvPr>
            <p:ph type="title"/>
          </p:nvPr>
        </p:nvSpPr>
        <p:spPr>
          <a:xfrm>
            <a:off x="838200" y="365125"/>
            <a:ext cx="10515600" cy="503579"/>
          </a:xfrm>
        </p:spPr>
        <p:txBody>
          <a:bodyPr>
            <a:normAutofit fontScale="90000"/>
          </a:bodyPr>
          <a:lstStyle/>
          <a:p>
            <a:r>
              <a:rPr lang="en-US" sz="4000" b="1" dirty="0"/>
              <a:t>Identifiers</a:t>
            </a:r>
          </a:p>
        </p:txBody>
      </p:sp>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489397" y="868704"/>
            <a:ext cx="10864403" cy="5308259"/>
          </a:xfrm>
        </p:spPr>
        <p:txBody>
          <a:bodyPr>
            <a:normAutofit fontScale="92500" lnSpcReduction="10000"/>
          </a:bodyPr>
          <a:lstStyle/>
          <a:p>
            <a:pPr marL="0" indent="0">
              <a:buNone/>
            </a:pPr>
            <a:r>
              <a:rPr lang="en-US" dirty="0"/>
              <a:t>Identifiers in Python are names given to entities in a program, such as variables, functions, classes, modules, or other objects. Here are the rules for creating identifiers in Python:</a:t>
            </a:r>
          </a:p>
          <a:p>
            <a:r>
              <a:rPr lang="en-US" b="1" dirty="0"/>
              <a:t>Character Set:</a:t>
            </a:r>
          </a:p>
          <a:p>
            <a:pPr marL="0" indent="0">
              <a:buNone/>
            </a:pPr>
            <a:r>
              <a:rPr lang="en-US" dirty="0"/>
              <a:t>Identifiers can consist of letters (both uppercase and lowercase), digits, and the underscore (_) character.</a:t>
            </a:r>
          </a:p>
          <a:p>
            <a:r>
              <a:rPr lang="en-US" b="1" dirty="0"/>
              <a:t>Starting with a Letter or Underscore:</a:t>
            </a:r>
          </a:p>
          <a:p>
            <a:pPr marL="0" indent="0">
              <a:buNone/>
            </a:pPr>
            <a:r>
              <a:rPr lang="en-US" dirty="0"/>
              <a:t>An identifier must start with a letter (a-z, A-Z) or an underscore (_).</a:t>
            </a:r>
          </a:p>
          <a:p>
            <a:r>
              <a:rPr lang="en-US" b="1" dirty="0"/>
              <a:t>Case-Sensitive:</a:t>
            </a:r>
          </a:p>
          <a:p>
            <a:pPr marL="0" indent="0">
              <a:buNone/>
            </a:pPr>
            <a:r>
              <a:rPr lang="en-US" dirty="0"/>
              <a:t>Python is case-sensitive, so identifiers </a:t>
            </a:r>
            <a:r>
              <a:rPr lang="en-US" dirty="0" err="1"/>
              <a:t>myVar</a:t>
            </a:r>
            <a:r>
              <a:rPr lang="en-US" dirty="0"/>
              <a:t> and </a:t>
            </a:r>
            <a:r>
              <a:rPr lang="en-US" dirty="0" err="1"/>
              <a:t>myvar</a:t>
            </a:r>
            <a:r>
              <a:rPr lang="en-US" dirty="0"/>
              <a:t> are different.</a:t>
            </a:r>
          </a:p>
          <a:p>
            <a:r>
              <a:rPr lang="en-US" b="1" dirty="0"/>
              <a:t>No Special Characters:</a:t>
            </a:r>
          </a:p>
          <a:p>
            <a:pPr marL="0" indent="0">
              <a:buNone/>
            </a:pPr>
            <a:r>
              <a:rPr lang="en-US" dirty="0"/>
              <a:t>Special characters like !, @, #, $, %, etc., are not allowed in identifiers.</a:t>
            </a:r>
          </a:p>
        </p:txBody>
      </p:sp>
    </p:spTree>
    <p:extLst>
      <p:ext uri="{BB962C8B-B14F-4D97-AF65-F5344CB8AC3E}">
        <p14:creationId xmlns:p14="http://schemas.microsoft.com/office/powerpoint/2010/main" val="182831937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811369" y="450761"/>
            <a:ext cx="10542431" cy="5726202"/>
          </a:xfrm>
        </p:spPr>
        <p:txBody>
          <a:bodyPr>
            <a:normAutofit lnSpcReduction="10000"/>
          </a:bodyPr>
          <a:lstStyle/>
          <a:p>
            <a:r>
              <a:rPr lang="en-US" b="1" dirty="0"/>
              <a:t>Reserved Words:</a:t>
            </a:r>
            <a:endParaRPr lang="en-US" dirty="0"/>
          </a:p>
          <a:p>
            <a:pPr lvl="1"/>
            <a:r>
              <a:rPr lang="en-US" dirty="0"/>
              <a:t>Identifiers cannot be the same as Python keywords or reserved words.</a:t>
            </a:r>
          </a:p>
          <a:p>
            <a:r>
              <a:rPr lang="en-US" b="1" dirty="0"/>
              <a:t>Length:</a:t>
            </a:r>
            <a:endParaRPr lang="en-US" dirty="0"/>
          </a:p>
          <a:p>
            <a:pPr lvl="1"/>
            <a:r>
              <a:rPr lang="en-US" dirty="0"/>
              <a:t>There is no limit on the length of an identifier, but it's a good practice to keep it reasonably short and descriptive.</a:t>
            </a:r>
          </a:p>
          <a:p>
            <a:pPr marL="0" indent="0">
              <a:buNone/>
            </a:pPr>
            <a:r>
              <a:rPr lang="en-US" b="1" dirty="0"/>
              <a:t>Examples of valid identifiers:</a:t>
            </a:r>
          </a:p>
          <a:p>
            <a:pPr marL="0" indent="0">
              <a:buNone/>
            </a:pPr>
            <a:r>
              <a:rPr lang="en-US" sz="2400" dirty="0" err="1"/>
              <a:t>variable_name</a:t>
            </a:r>
            <a:r>
              <a:rPr lang="en-US" sz="2400" dirty="0"/>
              <a:t> = 42</a:t>
            </a:r>
          </a:p>
          <a:p>
            <a:pPr marL="0" indent="0">
              <a:buNone/>
            </a:pPr>
            <a:r>
              <a:rPr lang="en-US" sz="2400" dirty="0" err="1"/>
              <a:t>my_function</a:t>
            </a:r>
            <a:r>
              <a:rPr lang="en-US" sz="2400" dirty="0"/>
              <a:t> = lambda x: x * 2</a:t>
            </a:r>
          </a:p>
          <a:p>
            <a:pPr marL="0" indent="0">
              <a:buNone/>
            </a:pPr>
            <a:r>
              <a:rPr lang="en-US" sz="2400" dirty="0" err="1"/>
              <a:t>MyClass</a:t>
            </a:r>
            <a:r>
              <a:rPr lang="en-US" sz="2400" dirty="0"/>
              <a:t> = </a:t>
            </a:r>
            <a:r>
              <a:rPr lang="en-US" sz="2400" dirty="0" err="1"/>
              <a:t>MyClass</a:t>
            </a:r>
            <a:r>
              <a:rPr lang="en-US" sz="2400" dirty="0"/>
              <a:t>()</a:t>
            </a:r>
          </a:p>
          <a:p>
            <a:pPr marL="0" indent="0">
              <a:buNone/>
            </a:pPr>
            <a:r>
              <a:rPr lang="en-US" b="1" dirty="0"/>
              <a:t>Examples of invalid identifiers:</a:t>
            </a:r>
          </a:p>
          <a:p>
            <a:pPr marL="0" indent="0">
              <a:buNone/>
            </a:pPr>
            <a:r>
              <a:rPr lang="en-US" sz="2400" dirty="0"/>
              <a:t>2variable = 42  # Starts with a digit</a:t>
            </a:r>
          </a:p>
          <a:p>
            <a:pPr marL="0" indent="0">
              <a:buNone/>
            </a:pPr>
            <a:r>
              <a:rPr lang="en-US" sz="2400" dirty="0"/>
              <a:t>my-variable = 10  # Contains a hyphen</a:t>
            </a:r>
          </a:p>
          <a:p>
            <a:pPr marL="0" indent="0">
              <a:buNone/>
            </a:pPr>
            <a:r>
              <a:rPr lang="en-US" sz="2400" dirty="0"/>
              <a:t>for = 5  # Reserved word</a:t>
            </a:r>
          </a:p>
          <a:p>
            <a:pPr marL="0" indent="0">
              <a:buNone/>
            </a:pPr>
            <a:endParaRPr lang="en-US" dirty="0"/>
          </a:p>
        </p:txBody>
      </p:sp>
    </p:spTree>
    <p:extLst>
      <p:ext uri="{BB962C8B-B14F-4D97-AF65-F5344CB8AC3E}">
        <p14:creationId xmlns:p14="http://schemas.microsoft.com/office/powerpoint/2010/main" val="362963711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4" name="Title 3">
            <a:extLst>
              <a:ext uri="{FF2B5EF4-FFF2-40B4-BE49-F238E27FC236}">
                <a16:creationId xmlns:a16="http://schemas.microsoft.com/office/drawing/2014/main" id="{6AF1A31C-305B-8B99-2614-E443CD2AFB3B}"/>
              </a:ext>
            </a:extLst>
          </p:cNvPr>
          <p:cNvSpPr>
            <a:spLocks noGrp="1"/>
          </p:cNvSpPr>
          <p:nvPr>
            <p:ph type="title"/>
          </p:nvPr>
        </p:nvSpPr>
        <p:spPr>
          <a:xfrm>
            <a:off x="838200" y="365125"/>
            <a:ext cx="10515600" cy="503579"/>
          </a:xfrm>
        </p:spPr>
        <p:txBody>
          <a:bodyPr>
            <a:normAutofit fontScale="90000"/>
          </a:bodyPr>
          <a:lstStyle/>
          <a:p>
            <a:r>
              <a:rPr lang="en-US" sz="4000" b="1" dirty="0"/>
              <a:t>Reading Input in Python</a:t>
            </a:r>
          </a:p>
        </p:txBody>
      </p:sp>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746975" y="1184856"/>
            <a:ext cx="10606825" cy="4992107"/>
          </a:xfrm>
        </p:spPr>
        <p:txBody>
          <a:bodyPr/>
          <a:lstStyle/>
          <a:p>
            <a:pPr marL="0" indent="0">
              <a:buNone/>
            </a:pPr>
            <a:r>
              <a:rPr lang="en-US" dirty="0"/>
              <a:t>In Python, you can read input from the user using the input() function. The input() function takes a string argument (which is a prompt) and displays it to the user. The program then waits for the user to enter some text and press Enter. The entered text is returned as a string.</a:t>
            </a:r>
          </a:p>
          <a:p>
            <a:r>
              <a:rPr lang="en-US" dirty="0"/>
              <a:t>Using input() function:</a:t>
            </a:r>
          </a:p>
          <a:p>
            <a:pPr marL="0" indent="0">
              <a:buNone/>
            </a:pPr>
            <a:r>
              <a:rPr lang="en-US" dirty="0"/>
              <a:t>The input() function is the most common way to get user input. It reads a line from the console and returns it as a string.</a:t>
            </a:r>
          </a:p>
          <a:p>
            <a:pPr marL="0" indent="0">
              <a:buNone/>
            </a:pPr>
            <a:r>
              <a:rPr lang="en-US" sz="2400" dirty="0" err="1">
                <a:solidFill>
                  <a:srgbClr val="FF0000"/>
                </a:solidFill>
              </a:rPr>
              <a:t>user_input</a:t>
            </a:r>
            <a:r>
              <a:rPr lang="en-US" sz="2400" dirty="0">
                <a:solidFill>
                  <a:srgbClr val="FF0000"/>
                </a:solidFill>
              </a:rPr>
              <a:t> = input("Enter something: ")</a:t>
            </a:r>
          </a:p>
          <a:p>
            <a:pPr marL="0" indent="0">
              <a:buNone/>
            </a:pPr>
            <a:r>
              <a:rPr lang="en-US" sz="2400" dirty="0">
                <a:solidFill>
                  <a:srgbClr val="FF0000"/>
                </a:solidFill>
              </a:rPr>
              <a:t>print("You entered:", </a:t>
            </a:r>
            <a:r>
              <a:rPr lang="en-US" sz="2400" dirty="0" err="1">
                <a:solidFill>
                  <a:srgbClr val="FF0000"/>
                </a:solidFill>
              </a:rPr>
              <a:t>user_input</a:t>
            </a:r>
            <a:r>
              <a:rPr lang="en-US" sz="2400" dirty="0">
                <a:solidFill>
                  <a:srgbClr val="FF0000"/>
                </a:solidFill>
              </a:rPr>
              <a:t>)</a:t>
            </a:r>
          </a:p>
          <a:p>
            <a:pPr marL="0" indent="0">
              <a:buNone/>
            </a:pPr>
            <a:endParaRPr lang="en-US" dirty="0"/>
          </a:p>
        </p:txBody>
      </p:sp>
    </p:spTree>
    <p:extLst>
      <p:ext uri="{BB962C8B-B14F-4D97-AF65-F5344CB8AC3E}">
        <p14:creationId xmlns:p14="http://schemas.microsoft.com/office/powerpoint/2010/main" val="185524001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953036" y="579549"/>
            <a:ext cx="10400763" cy="5597414"/>
          </a:xfrm>
        </p:spPr>
        <p:txBody>
          <a:bodyPr/>
          <a:lstStyle/>
          <a:p>
            <a:r>
              <a:rPr lang="en-US" dirty="0"/>
              <a:t>Type Casting for Numeric Input:</a:t>
            </a:r>
          </a:p>
          <a:p>
            <a:pPr marL="0" indent="0">
              <a:buNone/>
            </a:pPr>
            <a:r>
              <a:rPr lang="en-US" dirty="0"/>
              <a:t>If you need numeric input, you can use type casting functions like </a:t>
            </a:r>
            <a:r>
              <a:rPr lang="en-US" dirty="0" err="1"/>
              <a:t>int</a:t>
            </a:r>
            <a:r>
              <a:rPr lang="en-US" dirty="0"/>
              <a:t>() or float() to convert the input to the desired type.</a:t>
            </a:r>
          </a:p>
          <a:p>
            <a:pPr marL="0" indent="0">
              <a:buNone/>
            </a:pPr>
            <a:r>
              <a:rPr lang="en-US" sz="2400" dirty="0" err="1">
                <a:solidFill>
                  <a:srgbClr val="FF0000"/>
                </a:solidFill>
              </a:rPr>
              <a:t>user_number</a:t>
            </a:r>
            <a:r>
              <a:rPr lang="en-US" sz="2400" dirty="0">
                <a:solidFill>
                  <a:srgbClr val="FF0000"/>
                </a:solidFill>
              </a:rPr>
              <a:t> = </a:t>
            </a:r>
            <a:r>
              <a:rPr lang="en-US" sz="2400" dirty="0" err="1">
                <a:solidFill>
                  <a:srgbClr val="FF0000"/>
                </a:solidFill>
              </a:rPr>
              <a:t>int</a:t>
            </a:r>
            <a:r>
              <a:rPr lang="en-US" sz="2400" dirty="0">
                <a:solidFill>
                  <a:srgbClr val="FF0000"/>
                </a:solidFill>
              </a:rPr>
              <a:t>(input("Enter an integer: "))</a:t>
            </a:r>
          </a:p>
          <a:p>
            <a:pPr marL="0" indent="0">
              <a:buNone/>
            </a:pPr>
            <a:r>
              <a:rPr lang="en-US" sz="2400" dirty="0">
                <a:solidFill>
                  <a:srgbClr val="FF0000"/>
                </a:solidFill>
              </a:rPr>
              <a:t>print("You entered:", </a:t>
            </a:r>
            <a:r>
              <a:rPr lang="en-US" sz="2400" dirty="0" err="1">
                <a:solidFill>
                  <a:srgbClr val="FF0000"/>
                </a:solidFill>
              </a:rPr>
              <a:t>user_number</a:t>
            </a:r>
            <a:r>
              <a:rPr lang="en-US" sz="2400" dirty="0">
                <a:solidFill>
                  <a:srgbClr val="FF0000"/>
                </a:solidFill>
              </a:rPr>
              <a:t>)</a:t>
            </a:r>
          </a:p>
          <a:p>
            <a:r>
              <a:rPr lang="en-US" dirty="0"/>
              <a:t>Reading Multiple Inputs:</a:t>
            </a:r>
          </a:p>
          <a:p>
            <a:pPr marL="0" indent="0">
              <a:buNone/>
            </a:pPr>
            <a:r>
              <a:rPr lang="en-US" dirty="0"/>
              <a:t>You can use the split() function to read multiple inputs in a single line and assign them to variables.</a:t>
            </a:r>
          </a:p>
          <a:p>
            <a:pPr marL="0" indent="0">
              <a:buNone/>
            </a:pPr>
            <a:r>
              <a:rPr lang="en-US" sz="2400" dirty="0">
                <a:solidFill>
                  <a:srgbClr val="FF0000"/>
                </a:solidFill>
              </a:rPr>
              <a:t>values = input("Enter two numbers separated by space: ").split()</a:t>
            </a:r>
          </a:p>
          <a:p>
            <a:pPr marL="0" indent="0">
              <a:buNone/>
            </a:pPr>
            <a:r>
              <a:rPr lang="en-US" sz="2400" dirty="0">
                <a:solidFill>
                  <a:srgbClr val="FF0000"/>
                </a:solidFill>
              </a:rPr>
              <a:t>num1, num2 = map(</a:t>
            </a:r>
            <a:r>
              <a:rPr lang="en-US" sz="2400" dirty="0" err="1">
                <a:solidFill>
                  <a:srgbClr val="FF0000"/>
                </a:solidFill>
              </a:rPr>
              <a:t>int</a:t>
            </a:r>
            <a:r>
              <a:rPr lang="en-US" sz="2400" dirty="0">
                <a:solidFill>
                  <a:srgbClr val="FF0000"/>
                </a:solidFill>
              </a:rPr>
              <a:t>, values)</a:t>
            </a:r>
          </a:p>
          <a:p>
            <a:pPr marL="0" indent="0">
              <a:buNone/>
            </a:pPr>
            <a:r>
              <a:rPr lang="en-US" sz="2400" dirty="0">
                <a:solidFill>
                  <a:srgbClr val="FF0000"/>
                </a:solidFill>
              </a:rPr>
              <a:t>print("You entered:", num1, "and", num2)</a:t>
            </a:r>
          </a:p>
          <a:p>
            <a:pPr marL="0" indent="0">
              <a:buNone/>
            </a:pPr>
            <a:endParaRPr lang="en-US" dirty="0"/>
          </a:p>
        </p:txBody>
      </p:sp>
    </p:spTree>
    <p:extLst>
      <p:ext uri="{BB962C8B-B14F-4D97-AF65-F5344CB8AC3E}">
        <p14:creationId xmlns:p14="http://schemas.microsoft.com/office/powerpoint/2010/main" val="68156516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670774" y="430310"/>
            <a:ext cx="10572481" cy="5686986"/>
          </a:xfrm>
        </p:spPr>
        <p:txBody>
          <a:bodyPr>
            <a:normAutofit/>
          </a:bodyPr>
          <a:lstStyle/>
          <a:p>
            <a:r>
              <a:rPr lang="en-US" b="1" dirty="0"/>
              <a:t>Reading File Input:</a:t>
            </a:r>
            <a:r>
              <a:rPr lang="en-US" dirty="0"/>
              <a:t> If you want to read input from a file, you can open the file and read its contents.</a:t>
            </a:r>
          </a:p>
          <a:p>
            <a:pPr marL="0" indent="0">
              <a:buNone/>
            </a:pPr>
            <a:r>
              <a:rPr lang="en-US" sz="2400" dirty="0">
                <a:solidFill>
                  <a:srgbClr val="FF0000"/>
                </a:solidFill>
              </a:rPr>
              <a:t>with open("input_file.txt", "r") as file:</a:t>
            </a:r>
          </a:p>
          <a:p>
            <a:pPr marL="0" indent="0">
              <a:buNone/>
            </a:pPr>
            <a:r>
              <a:rPr lang="en-US" sz="2400" dirty="0">
                <a:solidFill>
                  <a:srgbClr val="FF0000"/>
                </a:solidFill>
              </a:rPr>
              <a:t>    </a:t>
            </a:r>
            <a:r>
              <a:rPr lang="en-US" sz="2400" dirty="0" err="1">
                <a:solidFill>
                  <a:srgbClr val="FF0000"/>
                </a:solidFill>
              </a:rPr>
              <a:t>file_content</a:t>
            </a:r>
            <a:r>
              <a:rPr lang="en-US" sz="2400" dirty="0">
                <a:solidFill>
                  <a:srgbClr val="FF0000"/>
                </a:solidFill>
              </a:rPr>
              <a:t> = </a:t>
            </a:r>
            <a:r>
              <a:rPr lang="en-US" sz="2400" dirty="0" err="1">
                <a:solidFill>
                  <a:srgbClr val="FF0000"/>
                </a:solidFill>
              </a:rPr>
              <a:t>file.read</a:t>
            </a:r>
            <a:r>
              <a:rPr lang="en-US" sz="2400" dirty="0">
                <a:solidFill>
                  <a:srgbClr val="FF0000"/>
                </a:solidFill>
              </a:rPr>
              <a:t>()</a:t>
            </a:r>
          </a:p>
          <a:p>
            <a:pPr marL="0" indent="0">
              <a:buNone/>
            </a:pPr>
            <a:r>
              <a:rPr lang="en-US" sz="2400" dirty="0">
                <a:solidFill>
                  <a:srgbClr val="FF0000"/>
                </a:solidFill>
              </a:rPr>
              <a:t>    print("File content:", </a:t>
            </a:r>
            <a:r>
              <a:rPr lang="en-US" sz="2400" dirty="0" err="1">
                <a:solidFill>
                  <a:srgbClr val="FF0000"/>
                </a:solidFill>
              </a:rPr>
              <a:t>file_content</a:t>
            </a:r>
            <a:r>
              <a:rPr lang="en-US" sz="2400" dirty="0">
                <a:solidFill>
                  <a:srgbClr val="FF0000"/>
                </a:solidFill>
              </a:rPr>
              <a:t>)</a:t>
            </a:r>
          </a:p>
          <a:p>
            <a:pPr lvl="0"/>
            <a:r>
              <a:rPr lang="en-US" b="1" dirty="0"/>
              <a:t>Type Casting for float </a:t>
            </a:r>
            <a:r>
              <a:rPr lang="en-US" dirty="0" err="1"/>
              <a:t>Input:To</a:t>
            </a:r>
            <a:r>
              <a:rPr lang="en-US" dirty="0"/>
              <a:t> receive float input from the user in Python, you can use the input() function and then convert the input to a float using the float() function. Here's an example: </a:t>
            </a:r>
          </a:p>
          <a:p>
            <a:pPr marL="0" indent="0">
              <a:buNone/>
            </a:pPr>
            <a:r>
              <a:rPr lang="en-US" sz="2400" dirty="0">
                <a:solidFill>
                  <a:srgbClr val="FF0000"/>
                </a:solidFill>
              </a:rPr>
              <a:t># Reading a float from the user</a:t>
            </a:r>
          </a:p>
          <a:p>
            <a:pPr marL="0" indent="0">
              <a:buNone/>
            </a:pPr>
            <a:r>
              <a:rPr lang="en-US" sz="2400" dirty="0" err="1">
                <a:solidFill>
                  <a:srgbClr val="FF0000"/>
                </a:solidFill>
              </a:rPr>
              <a:t>user_float</a:t>
            </a:r>
            <a:r>
              <a:rPr lang="en-US" sz="2400" dirty="0">
                <a:solidFill>
                  <a:srgbClr val="FF0000"/>
                </a:solidFill>
              </a:rPr>
              <a:t> = float(input("Enter a floating-point number: "))</a:t>
            </a:r>
          </a:p>
          <a:p>
            <a:pPr marL="0" indent="0">
              <a:buNone/>
            </a:pPr>
            <a:r>
              <a:rPr lang="en-US" sz="2400" dirty="0">
                <a:solidFill>
                  <a:srgbClr val="FF0000"/>
                </a:solidFill>
              </a:rPr>
              <a:t># Displaying the entered float</a:t>
            </a:r>
          </a:p>
          <a:p>
            <a:pPr marL="0" indent="0">
              <a:buNone/>
            </a:pPr>
            <a:r>
              <a:rPr lang="en-US" sz="2400" dirty="0">
                <a:solidFill>
                  <a:srgbClr val="FF0000"/>
                </a:solidFill>
              </a:rPr>
              <a:t>print("You entered:", </a:t>
            </a:r>
            <a:r>
              <a:rPr lang="en-US" sz="2400" dirty="0" err="1">
                <a:solidFill>
                  <a:srgbClr val="FF0000"/>
                </a:solidFill>
              </a:rPr>
              <a:t>user_float</a:t>
            </a:r>
            <a:r>
              <a:rPr lang="en-US" sz="2400" dirty="0">
                <a:solidFill>
                  <a:srgbClr val="FF0000"/>
                </a:solidFill>
              </a:rPr>
              <a:t>)</a:t>
            </a:r>
          </a:p>
          <a:p>
            <a:pPr marL="0" indent="0">
              <a:buNone/>
            </a:pPr>
            <a:endParaRPr lang="en-US" b="1" dirty="0"/>
          </a:p>
          <a:p>
            <a:endParaRPr lang="en-US" dirty="0"/>
          </a:p>
        </p:txBody>
      </p:sp>
    </p:spTree>
    <p:extLst>
      <p:ext uri="{BB962C8B-B14F-4D97-AF65-F5344CB8AC3E}">
        <p14:creationId xmlns:p14="http://schemas.microsoft.com/office/powerpoint/2010/main" val="150621601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4" name="Title 3">
            <a:extLst>
              <a:ext uri="{FF2B5EF4-FFF2-40B4-BE49-F238E27FC236}">
                <a16:creationId xmlns:a16="http://schemas.microsoft.com/office/drawing/2014/main" id="{6AF1A31C-305B-8B99-2614-E443CD2AFB3B}"/>
              </a:ext>
            </a:extLst>
          </p:cNvPr>
          <p:cNvSpPr>
            <a:spLocks noGrp="1"/>
          </p:cNvSpPr>
          <p:nvPr>
            <p:ph type="title"/>
          </p:nvPr>
        </p:nvSpPr>
        <p:spPr>
          <a:xfrm>
            <a:off x="838200" y="365126"/>
            <a:ext cx="10515600" cy="443912"/>
          </a:xfrm>
        </p:spPr>
        <p:txBody>
          <a:bodyPr>
            <a:normAutofit fontScale="90000"/>
          </a:bodyPr>
          <a:lstStyle/>
          <a:p>
            <a:r>
              <a:rPr lang="en-US" sz="4000" dirty="0"/>
              <a:t>VARIABLES</a:t>
            </a:r>
          </a:p>
        </p:txBody>
      </p:sp>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838199" y="1007672"/>
            <a:ext cx="10791423" cy="5447767"/>
          </a:xfrm>
        </p:spPr>
        <p:txBody>
          <a:bodyPr>
            <a:normAutofit fontScale="92500" lnSpcReduction="10000"/>
          </a:bodyPr>
          <a:lstStyle/>
          <a:p>
            <a:r>
              <a:rPr lang="en-IN" dirty="0"/>
              <a:t>Variables are containers for storing data values.</a:t>
            </a:r>
          </a:p>
          <a:p>
            <a:r>
              <a:rPr lang="en-IN" dirty="0"/>
              <a:t>A variable is created the moment you first assign a value to it.</a:t>
            </a:r>
          </a:p>
          <a:p>
            <a:r>
              <a:rPr lang="en-IN" dirty="0"/>
              <a:t>Variables do not need to be declared with any particular </a:t>
            </a:r>
            <a:r>
              <a:rPr lang="en-IN" i="1" dirty="0"/>
              <a:t>type</a:t>
            </a:r>
            <a:r>
              <a:rPr lang="en-IN" dirty="0"/>
              <a:t>, and can even change type after they have been set.</a:t>
            </a:r>
          </a:p>
          <a:p>
            <a:r>
              <a:rPr lang="en-IN" dirty="0"/>
              <a:t>x = 5</a:t>
            </a:r>
            <a:br>
              <a:rPr lang="en-IN" dirty="0"/>
            </a:br>
            <a:r>
              <a:rPr lang="en-IN" dirty="0"/>
              <a:t>y = "John"</a:t>
            </a:r>
            <a:br>
              <a:rPr lang="en-IN" dirty="0"/>
            </a:br>
            <a:r>
              <a:rPr lang="en-IN" dirty="0"/>
              <a:t>print(x)</a:t>
            </a:r>
            <a:br>
              <a:rPr lang="en-IN" dirty="0"/>
            </a:br>
            <a:r>
              <a:rPr lang="en-IN" dirty="0"/>
              <a:t>print(y)</a:t>
            </a:r>
            <a:endParaRPr lang="en-US" dirty="0"/>
          </a:p>
          <a:p>
            <a:r>
              <a:rPr lang="en-US" dirty="0"/>
              <a:t>You can get the data type of a variable with the type() function.</a:t>
            </a:r>
          </a:p>
          <a:p>
            <a:r>
              <a:rPr lang="en-US" dirty="0"/>
              <a:t>String variables can be declared either by using single or double quotes</a:t>
            </a:r>
          </a:p>
          <a:p>
            <a:r>
              <a:rPr lang="en-IN" dirty="0"/>
              <a:t>Variable names are case-sensitive.</a:t>
            </a:r>
          </a:p>
          <a:p>
            <a:pPr marL="228600" lvl="2">
              <a:spcBef>
                <a:spcPts val="1000"/>
              </a:spcBef>
            </a:pPr>
            <a:r>
              <a:rPr lang="en-US" sz="2800" dirty="0"/>
              <a:t>x = 5</a:t>
            </a:r>
            <a:br>
              <a:rPr lang="en-US" sz="2800" dirty="0"/>
            </a:br>
            <a:r>
              <a:rPr lang="en-US" dirty="0">
                <a:solidFill>
                  <a:srgbClr val="000000"/>
                </a:solidFill>
                <a:latin typeface="Consolas" panose="020B0609020204030204" pitchFamily="49" charset="0"/>
              </a:rPr>
              <a:t>y = </a:t>
            </a:r>
            <a:r>
              <a:rPr lang="en-US" dirty="0">
                <a:solidFill>
                  <a:srgbClr val="A52A2A"/>
                </a:solidFill>
                <a:latin typeface="Consolas" panose="020B0609020204030204" pitchFamily="49" charset="0"/>
              </a:rPr>
              <a:t>"John"</a:t>
            </a:r>
            <a:br>
              <a:rPr lang="en-US" dirty="0"/>
            </a:br>
            <a:r>
              <a:rPr lang="en-US" dirty="0">
                <a:solidFill>
                  <a:srgbClr val="0000CD"/>
                </a:solidFill>
                <a:latin typeface="Consolas" panose="020B0609020204030204" pitchFamily="49" charset="0"/>
              </a:rPr>
              <a:t>print</a:t>
            </a:r>
            <a:r>
              <a:rPr lang="en-US" dirty="0">
                <a:solidFill>
                  <a:srgbClr val="000000"/>
                </a:solidFill>
                <a:latin typeface="Consolas" panose="020B0609020204030204" pitchFamily="49" charset="0"/>
              </a:rPr>
              <a:t>(</a:t>
            </a:r>
            <a:r>
              <a:rPr lang="en-US" dirty="0">
                <a:solidFill>
                  <a:srgbClr val="0000CD"/>
                </a:solidFill>
                <a:latin typeface="Consolas" panose="020B0609020204030204" pitchFamily="49" charset="0"/>
              </a:rPr>
              <a:t>type</a:t>
            </a:r>
            <a:r>
              <a:rPr lang="en-US" dirty="0">
                <a:solidFill>
                  <a:srgbClr val="000000"/>
                </a:solidFill>
                <a:latin typeface="Consolas" panose="020B0609020204030204" pitchFamily="49" charset="0"/>
              </a:rPr>
              <a:t>(x))</a:t>
            </a:r>
            <a:endParaRPr lang="en-US" dirty="0"/>
          </a:p>
          <a:p>
            <a:endParaRPr lang="en-US" dirty="0"/>
          </a:p>
        </p:txBody>
      </p:sp>
    </p:spTree>
    <p:extLst>
      <p:ext uri="{BB962C8B-B14F-4D97-AF65-F5344CB8AC3E}">
        <p14:creationId xmlns:p14="http://schemas.microsoft.com/office/powerpoint/2010/main" val="79445688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4" name="Title 3">
            <a:extLst>
              <a:ext uri="{FF2B5EF4-FFF2-40B4-BE49-F238E27FC236}">
                <a16:creationId xmlns:a16="http://schemas.microsoft.com/office/drawing/2014/main" id="{6AF1A31C-305B-8B99-2614-E443CD2AFB3B}"/>
              </a:ext>
            </a:extLst>
          </p:cNvPr>
          <p:cNvSpPr>
            <a:spLocks noGrp="1"/>
          </p:cNvSpPr>
          <p:nvPr>
            <p:ph type="title"/>
          </p:nvPr>
        </p:nvSpPr>
        <p:spPr>
          <a:xfrm>
            <a:off x="838200" y="428812"/>
            <a:ext cx="10515600" cy="317455"/>
          </a:xfrm>
        </p:spPr>
        <p:txBody>
          <a:bodyPr>
            <a:normAutofit fontScale="90000"/>
          </a:bodyPr>
          <a:lstStyle/>
          <a:p>
            <a:r>
              <a:rPr lang="en-IN" sz="4000" dirty="0">
                <a:solidFill>
                  <a:srgbClr val="000000"/>
                </a:solidFill>
                <a:latin typeface="Segoe UI" panose="020B0502040204020203" pitchFamily="34" charset="0"/>
              </a:rPr>
              <a:t>Variable Names</a:t>
            </a:r>
            <a:endParaRPr lang="en-US" sz="4000" dirty="0"/>
          </a:p>
        </p:txBody>
      </p:sp>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746975" y="1249251"/>
            <a:ext cx="10606825" cy="4927712"/>
          </a:xfrm>
        </p:spPr>
        <p:txBody>
          <a:bodyPr>
            <a:normAutofit/>
          </a:bodyPr>
          <a:lstStyle/>
          <a:p>
            <a:pPr algn="just"/>
            <a:r>
              <a:rPr lang="en-US" sz="2600" dirty="0"/>
              <a:t>A variable can have a short name (like x and y) or a more descriptive name (age, </a:t>
            </a:r>
            <a:r>
              <a:rPr lang="en-US" sz="2600" dirty="0" err="1"/>
              <a:t>carname</a:t>
            </a:r>
            <a:r>
              <a:rPr lang="en-US" sz="2600" dirty="0"/>
              <a:t>, </a:t>
            </a:r>
            <a:r>
              <a:rPr lang="en-US" sz="2600" dirty="0" err="1"/>
              <a:t>total_volume</a:t>
            </a:r>
            <a:r>
              <a:rPr lang="en-US" sz="2600" dirty="0"/>
              <a:t>). Rules for Python </a:t>
            </a:r>
            <a:r>
              <a:rPr lang="en-US" sz="2600" dirty="0" err="1"/>
              <a:t>variables:A</a:t>
            </a:r>
            <a:r>
              <a:rPr lang="en-US" sz="2600" dirty="0"/>
              <a:t> variable name must start with a letter or the underscore character</a:t>
            </a:r>
          </a:p>
          <a:p>
            <a:pPr algn="just"/>
            <a:r>
              <a:rPr lang="en-US" sz="2600" dirty="0"/>
              <a:t>A variable name cannot start with a number</a:t>
            </a:r>
          </a:p>
          <a:p>
            <a:pPr algn="just"/>
            <a:r>
              <a:rPr lang="en-US" sz="2600" dirty="0"/>
              <a:t>A variable name can only contain alpha-numeric characters and underscores (A-z, 0-9, and _ )</a:t>
            </a:r>
          </a:p>
          <a:p>
            <a:pPr algn="just"/>
            <a:r>
              <a:rPr lang="en-US" sz="2600" dirty="0"/>
              <a:t>Variable names are case-sensitive (age, Age and AGE are three different variables)</a:t>
            </a:r>
          </a:p>
          <a:p>
            <a:pPr algn="just"/>
            <a:r>
              <a:rPr lang="en-US" sz="2600" dirty="0"/>
              <a:t>A variable name cannot be any of the </a:t>
            </a:r>
            <a:r>
              <a:rPr lang="en-US" sz="2600" dirty="0">
                <a:hlinkClick r:id="rId4"/>
              </a:rPr>
              <a:t>Python keywords</a:t>
            </a:r>
            <a:r>
              <a:rPr lang="en-US" sz="2600" dirty="0"/>
              <a:t>.</a:t>
            </a:r>
          </a:p>
        </p:txBody>
      </p:sp>
    </p:spTree>
    <p:extLst>
      <p:ext uri="{BB962C8B-B14F-4D97-AF65-F5344CB8AC3E}">
        <p14:creationId xmlns:p14="http://schemas.microsoft.com/office/powerpoint/2010/main" val="232444596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C9CFF-4BC9-024D-9908-6B3AFAF8CE40}"/>
              </a:ext>
            </a:extLst>
          </p:cNvPr>
          <p:cNvSpPr>
            <a:spLocks noGrp="1"/>
          </p:cNvSpPr>
          <p:nvPr>
            <p:ph type="title"/>
          </p:nvPr>
        </p:nvSpPr>
        <p:spPr/>
        <p:txBody>
          <a:bodyPr/>
          <a:lstStyle/>
          <a:p>
            <a:r>
              <a:rPr lang="en-US" dirty="0"/>
              <a:t>DATATYPES IN PYTHON</a:t>
            </a:r>
          </a:p>
        </p:txBody>
      </p:sp>
      <p:pic>
        <p:nvPicPr>
          <p:cNvPr id="5" name="Content Placeholder 4">
            <a:extLst>
              <a:ext uri="{FF2B5EF4-FFF2-40B4-BE49-F238E27FC236}">
                <a16:creationId xmlns:a16="http://schemas.microsoft.com/office/drawing/2014/main" id="{EEF6305A-265D-3F4E-814F-AEA1B847E9E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49420" y="1670377"/>
            <a:ext cx="7293160" cy="4481510"/>
          </a:xfrm>
        </p:spPr>
      </p:pic>
    </p:spTree>
    <p:extLst>
      <p:ext uri="{BB962C8B-B14F-4D97-AF65-F5344CB8AC3E}">
        <p14:creationId xmlns:p14="http://schemas.microsoft.com/office/powerpoint/2010/main" val="26365051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2EBB409-BA41-4149-B8F5-1D0B64928C05}"/>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807594" y="194553"/>
            <a:ext cx="7585657" cy="6663447"/>
          </a:xfrm>
        </p:spPr>
      </p:pic>
    </p:spTree>
    <p:extLst>
      <p:ext uri="{BB962C8B-B14F-4D97-AF65-F5344CB8AC3E}">
        <p14:creationId xmlns:p14="http://schemas.microsoft.com/office/powerpoint/2010/main" val="741314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811369" y="412124"/>
            <a:ext cx="10542431" cy="5764839"/>
          </a:xfrm>
        </p:spPr>
        <p:txBody>
          <a:bodyPr>
            <a:normAutofit fontScale="85000" lnSpcReduction="20000"/>
          </a:bodyPr>
          <a:lstStyle/>
          <a:p>
            <a:pPr marL="0" indent="0">
              <a:buNone/>
            </a:pPr>
            <a:r>
              <a:rPr lang="en-US" dirty="0"/>
              <a:t>Python has several built-in data types that are fundamental to the language. Here are some of the commonly used data types in Python:</a:t>
            </a:r>
          </a:p>
          <a:p>
            <a:r>
              <a:rPr lang="en-US" b="1" dirty="0"/>
              <a:t>Numeric Types:</a:t>
            </a:r>
          </a:p>
          <a:p>
            <a:pPr marL="0" indent="0">
              <a:buNone/>
            </a:pPr>
            <a:r>
              <a:rPr lang="en-US" dirty="0" err="1"/>
              <a:t>int</a:t>
            </a:r>
            <a:r>
              <a:rPr lang="en-US" dirty="0"/>
              <a:t>: Integer type represent whole numbers, such as 5 or -10</a:t>
            </a:r>
            <a:r>
              <a:rPr lang="en-US" kern="0" spc="-35" dirty="0">
                <a:solidFill>
                  <a:srgbClr val="272525"/>
                </a:solidFill>
                <a:latin typeface="Inter" pitchFamily="34" charset="0"/>
                <a:ea typeface="Inter" pitchFamily="34" charset="-122"/>
                <a:cs typeface="Inter" pitchFamily="34" charset="-120"/>
              </a:rPr>
              <a:t>.</a:t>
            </a:r>
            <a:r>
              <a:rPr lang="en-US" dirty="0"/>
              <a:t>, e.g., x = 5.</a:t>
            </a:r>
          </a:p>
          <a:p>
            <a:pPr marL="0" indent="0">
              <a:buNone/>
            </a:pPr>
            <a:r>
              <a:rPr lang="en-US" dirty="0"/>
              <a:t>float: Floating-point type represent decimal or fractional numbers, like 3.14 or -0.5., e.g., y = 3.14.</a:t>
            </a:r>
          </a:p>
          <a:p>
            <a:pPr marL="0" indent="0">
              <a:buNone/>
            </a:pPr>
            <a:r>
              <a:rPr lang="en-US" dirty="0"/>
              <a:t>complex: complex number is a number of the form a + </a:t>
            </a:r>
            <a:r>
              <a:rPr lang="en-US" dirty="0" err="1"/>
              <a:t>bj</a:t>
            </a:r>
            <a:r>
              <a:rPr lang="en-US" dirty="0"/>
              <a:t>, where a and b are real numbers, and j is the imaginary unit (equal to the square root of -1). , e.g., z = 2 + 3j.</a:t>
            </a:r>
          </a:p>
          <a:p>
            <a:r>
              <a:rPr lang="en-US" b="1" dirty="0"/>
              <a:t>Sequence Types:</a:t>
            </a:r>
          </a:p>
          <a:p>
            <a:pPr marL="0" indent="0">
              <a:buNone/>
            </a:pPr>
            <a:r>
              <a:rPr lang="en-US" dirty="0" err="1"/>
              <a:t>str</a:t>
            </a:r>
            <a:r>
              <a:rPr lang="en-US" dirty="0"/>
              <a:t>: String type Store text and characters, like name = "John" or message = 'Hello, World!', e.g., text = "Hello, World!".</a:t>
            </a:r>
          </a:p>
          <a:p>
            <a:pPr marL="0" indent="0">
              <a:buNone/>
            </a:pPr>
            <a:r>
              <a:rPr lang="en-US" dirty="0"/>
              <a:t>list: List type Contain ordered collection of items, like days = ["Monday", "Tuesday", "Wednesday"], e.g., </a:t>
            </a:r>
            <a:r>
              <a:rPr lang="en-US" dirty="0" err="1"/>
              <a:t>my_list</a:t>
            </a:r>
            <a:r>
              <a:rPr lang="en-US" dirty="0"/>
              <a:t> = [1, 2, 3].</a:t>
            </a:r>
          </a:p>
          <a:p>
            <a:pPr marL="0" indent="0">
              <a:buNone/>
            </a:pPr>
            <a:r>
              <a:rPr lang="en-US" dirty="0"/>
              <a:t>tuple: Tuple type Similar to lists but are immutable, like coordinates = (10, 20)</a:t>
            </a:r>
          </a:p>
          <a:p>
            <a:pPr marL="0" indent="0">
              <a:buNone/>
            </a:pPr>
            <a:r>
              <a:rPr lang="en-US" dirty="0"/>
              <a:t>, e.g., </a:t>
            </a:r>
            <a:r>
              <a:rPr lang="en-US" dirty="0" err="1"/>
              <a:t>my_tuple</a:t>
            </a:r>
            <a:r>
              <a:rPr lang="en-US" dirty="0"/>
              <a:t> = (1, 2, 3).</a:t>
            </a:r>
          </a:p>
        </p:txBody>
      </p:sp>
    </p:spTree>
    <p:extLst>
      <p:ext uri="{BB962C8B-B14F-4D97-AF65-F5344CB8AC3E}">
        <p14:creationId xmlns:p14="http://schemas.microsoft.com/office/powerpoint/2010/main" val="124941849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811369" y="579549"/>
            <a:ext cx="10542431" cy="5597414"/>
          </a:xfrm>
        </p:spPr>
        <p:txBody>
          <a:bodyPr/>
          <a:lstStyle/>
          <a:p>
            <a:r>
              <a:rPr lang="en-US" dirty="0"/>
              <a:t>Set Types:</a:t>
            </a:r>
          </a:p>
          <a:p>
            <a:pPr marL="0" indent="0">
              <a:buNone/>
            </a:pPr>
            <a:r>
              <a:rPr lang="en-US" dirty="0"/>
              <a:t>set: Set type Store unordered and unique values, like numbers = {1, 2, 3}, e.g., </a:t>
            </a:r>
            <a:r>
              <a:rPr lang="en-US" dirty="0" err="1"/>
              <a:t>my_set</a:t>
            </a:r>
            <a:r>
              <a:rPr lang="en-US" dirty="0"/>
              <a:t> = {1, 2, 3}.</a:t>
            </a:r>
          </a:p>
          <a:p>
            <a:r>
              <a:rPr lang="en-US" dirty="0"/>
              <a:t>Mapping Type:</a:t>
            </a:r>
          </a:p>
          <a:p>
            <a:pPr marL="0" indent="0">
              <a:buNone/>
            </a:pPr>
            <a:r>
              <a:rPr lang="en-US" dirty="0" err="1"/>
              <a:t>dict</a:t>
            </a:r>
            <a:r>
              <a:rPr lang="en-US" dirty="0"/>
              <a:t>: Dictionary type Store key-value pairs, such as person = {'name': 'Alice', 'age': 25} , e.g., </a:t>
            </a:r>
            <a:r>
              <a:rPr lang="en-US" dirty="0" err="1"/>
              <a:t>my_dict</a:t>
            </a:r>
            <a:r>
              <a:rPr lang="en-US" dirty="0"/>
              <a:t> = {'key': 'value'}.</a:t>
            </a:r>
          </a:p>
          <a:p>
            <a:r>
              <a:rPr lang="en-US" dirty="0"/>
              <a:t>Boolean Type:</a:t>
            </a:r>
          </a:p>
          <a:p>
            <a:pPr marL="0" indent="0">
              <a:buNone/>
            </a:pPr>
            <a:r>
              <a:rPr lang="en-US" dirty="0" err="1"/>
              <a:t>bool</a:t>
            </a:r>
            <a:r>
              <a:rPr lang="en-US" dirty="0"/>
              <a:t>: Boolean type represents truth values: True or False.</a:t>
            </a:r>
          </a:p>
          <a:p>
            <a:pPr marL="0" indent="0">
              <a:buNone/>
            </a:pPr>
            <a:r>
              <a:rPr lang="en-US" dirty="0"/>
              <a:t>, either True or False.</a:t>
            </a:r>
          </a:p>
          <a:p>
            <a:r>
              <a:rPr lang="en-US" dirty="0" err="1"/>
              <a:t>FrozenSet</a:t>
            </a:r>
            <a:r>
              <a:rPr lang="en-US" dirty="0"/>
              <a:t>: Similar to sets but are immutable, like vowels = </a:t>
            </a:r>
            <a:r>
              <a:rPr lang="en-US" dirty="0" err="1"/>
              <a:t>frozenset</a:t>
            </a:r>
            <a:r>
              <a:rPr lang="en-US" dirty="0"/>
              <a:t>(['a', 'e', '</a:t>
            </a:r>
            <a:r>
              <a:rPr lang="en-US" dirty="0" err="1"/>
              <a:t>i</a:t>
            </a:r>
            <a:r>
              <a:rPr lang="en-US" dirty="0"/>
              <a:t>', 'o', 'u'])</a:t>
            </a:r>
          </a:p>
          <a:p>
            <a:endParaRPr lang="en-US" dirty="0"/>
          </a:p>
        </p:txBody>
      </p:sp>
    </p:spTree>
    <p:extLst>
      <p:ext uri="{BB962C8B-B14F-4D97-AF65-F5344CB8AC3E}">
        <p14:creationId xmlns:p14="http://schemas.microsoft.com/office/powerpoint/2010/main" val="67016891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4" name="Title 3">
            <a:extLst>
              <a:ext uri="{FF2B5EF4-FFF2-40B4-BE49-F238E27FC236}">
                <a16:creationId xmlns:a16="http://schemas.microsoft.com/office/drawing/2014/main" id="{6AF1A31C-305B-8B99-2614-E443CD2AFB3B}"/>
              </a:ext>
            </a:extLst>
          </p:cNvPr>
          <p:cNvSpPr>
            <a:spLocks noGrp="1"/>
          </p:cNvSpPr>
          <p:nvPr>
            <p:ph type="title"/>
          </p:nvPr>
        </p:nvSpPr>
        <p:spPr>
          <a:xfrm>
            <a:off x="838200" y="365126"/>
            <a:ext cx="10515600" cy="443912"/>
          </a:xfrm>
        </p:spPr>
        <p:txBody>
          <a:bodyPr>
            <a:normAutofit fontScale="90000"/>
          </a:bodyPr>
          <a:lstStyle/>
          <a:p>
            <a:r>
              <a:rPr lang="en-US" dirty="0"/>
              <a:t>Strings</a:t>
            </a:r>
          </a:p>
        </p:txBody>
      </p:sp>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940158" y="914400"/>
            <a:ext cx="10413642" cy="5262563"/>
          </a:xfrm>
        </p:spPr>
        <p:txBody>
          <a:bodyPr>
            <a:normAutofit fontScale="85000" lnSpcReduction="20000"/>
          </a:bodyPr>
          <a:lstStyle/>
          <a:p>
            <a:pPr marL="0" indent="0" algn="just">
              <a:buNone/>
            </a:pPr>
            <a:r>
              <a:rPr lang="en-US" dirty="0"/>
              <a:t>A string is a sequence of characters used to represent text. In Python, strings are immutable sequences of Unicode code points. They can be created using single quotes (‘), double quotes (“), or triple quotes (‘’’ or “””). Strings in Python can be manipulated using various built-in methods and operations, including slicing.</a:t>
            </a:r>
          </a:p>
          <a:p>
            <a:pPr marL="0" indent="0" algn="just">
              <a:buNone/>
            </a:pPr>
            <a:r>
              <a:rPr lang="en-US" dirty="0"/>
              <a:t>Some commonly used string methods:</a:t>
            </a:r>
          </a:p>
          <a:p>
            <a:pPr marL="514350" indent="-514350" algn="just">
              <a:buAutoNum type="arabicPeriod"/>
            </a:pPr>
            <a:r>
              <a:rPr lang="en-US" dirty="0" err="1"/>
              <a:t>len</a:t>
            </a:r>
            <a:r>
              <a:rPr lang="en-US" dirty="0"/>
              <a:t>():Returns the length of the string.</a:t>
            </a:r>
          </a:p>
          <a:p>
            <a:pPr marL="0" indent="0" algn="just">
              <a:buNone/>
            </a:pPr>
            <a:r>
              <a:rPr lang="en-US" sz="2400" dirty="0" err="1">
                <a:solidFill>
                  <a:srgbClr val="FF0000"/>
                </a:solidFill>
              </a:rPr>
              <a:t>my_string</a:t>
            </a:r>
            <a:r>
              <a:rPr lang="en-US" sz="2400" dirty="0">
                <a:solidFill>
                  <a:srgbClr val="FF0000"/>
                </a:solidFill>
              </a:rPr>
              <a:t> = "Hello, World!"</a:t>
            </a:r>
          </a:p>
          <a:p>
            <a:pPr marL="0" indent="0" algn="just">
              <a:buNone/>
            </a:pPr>
            <a:r>
              <a:rPr lang="en-US" sz="2400" dirty="0">
                <a:solidFill>
                  <a:srgbClr val="FF0000"/>
                </a:solidFill>
              </a:rPr>
              <a:t>length = </a:t>
            </a:r>
            <a:r>
              <a:rPr lang="en-US" sz="2400" dirty="0" err="1">
                <a:solidFill>
                  <a:srgbClr val="FF0000"/>
                </a:solidFill>
              </a:rPr>
              <a:t>len</a:t>
            </a:r>
            <a:r>
              <a:rPr lang="en-US" sz="2400" dirty="0">
                <a:solidFill>
                  <a:srgbClr val="FF0000"/>
                </a:solidFill>
              </a:rPr>
              <a:t>(</a:t>
            </a:r>
            <a:r>
              <a:rPr lang="en-US" sz="2400" dirty="0" err="1">
                <a:solidFill>
                  <a:srgbClr val="FF0000"/>
                </a:solidFill>
              </a:rPr>
              <a:t>my_string</a:t>
            </a:r>
            <a:r>
              <a:rPr lang="en-US" sz="2400" dirty="0">
                <a:solidFill>
                  <a:srgbClr val="FF0000"/>
                </a:solidFill>
              </a:rPr>
              <a:t>)</a:t>
            </a:r>
          </a:p>
          <a:p>
            <a:pPr marL="0" indent="0" algn="just">
              <a:buNone/>
            </a:pPr>
            <a:r>
              <a:rPr lang="en-US" sz="2400" dirty="0">
                <a:solidFill>
                  <a:srgbClr val="FF0000"/>
                </a:solidFill>
              </a:rPr>
              <a:t>print("Length:", length)</a:t>
            </a:r>
          </a:p>
          <a:p>
            <a:pPr marL="0" indent="0" algn="just">
              <a:buNone/>
            </a:pPr>
            <a:r>
              <a:rPr lang="en-US" dirty="0"/>
              <a:t>2. upper() and lower():Converts all characters to uppercase or lowercase. </a:t>
            </a:r>
          </a:p>
          <a:p>
            <a:pPr marL="0" indent="0" algn="just">
              <a:buNone/>
            </a:pPr>
            <a:r>
              <a:rPr lang="en-US" sz="2400" dirty="0" err="1">
                <a:solidFill>
                  <a:srgbClr val="FF0000"/>
                </a:solidFill>
              </a:rPr>
              <a:t>my_string</a:t>
            </a:r>
            <a:r>
              <a:rPr lang="en-US" sz="2400" dirty="0">
                <a:solidFill>
                  <a:srgbClr val="FF0000"/>
                </a:solidFill>
              </a:rPr>
              <a:t> = "Hello, World!"</a:t>
            </a:r>
          </a:p>
          <a:p>
            <a:pPr marL="0" indent="0" algn="just">
              <a:buNone/>
            </a:pPr>
            <a:r>
              <a:rPr lang="en-US" sz="2400" dirty="0" err="1">
                <a:solidFill>
                  <a:srgbClr val="FF0000"/>
                </a:solidFill>
              </a:rPr>
              <a:t>uppercase_string</a:t>
            </a:r>
            <a:r>
              <a:rPr lang="en-US" sz="2400" dirty="0">
                <a:solidFill>
                  <a:srgbClr val="FF0000"/>
                </a:solidFill>
              </a:rPr>
              <a:t> = </a:t>
            </a:r>
            <a:r>
              <a:rPr lang="en-US" sz="2400" dirty="0" err="1">
                <a:solidFill>
                  <a:srgbClr val="FF0000"/>
                </a:solidFill>
              </a:rPr>
              <a:t>my_string.upper</a:t>
            </a:r>
            <a:r>
              <a:rPr lang="en-US" sz="2400" dirty="0">
                <a:solidFill>
                  <a:srgbClr val="FF0000"/>
                </a:solidFill>
              </a:rPr>
              <a:t>()</a:t>
            </a:r>
          </a:p>
          <a:p>
            <a:pPr marL="0" indent="0" algn="just">
              <a:buNone/>
            </a:pPr>
            <a:r>
              <a:rPr lang="en-US" sz="2400" dirty="0" err="1">
                <a:solidFill>
                  <a:srgbClr val="FF0000"/>
                </a:solidFill>
              </a:rPr>
              <a:t>lowercase_string</a:t>
            </a:r>
            <a:r>
              <a:rPr lang="en-US" sz="2400" dirty="0">
                <a:solidFill>
                  <a:srgbClr val="FF0000"/>
                </a:solidFill>
              </a:rPr>
              <a:t> = </a:t>
            </a:r>
            <a:r>
              <a:rPr lang="en-US" sz="2400" dirty="0" err="1">
                <a:solidFill>
                  <a:srgbClr val="FF0000"/>
                </a:solidFill>
              </a:rPr>
              <a:t>my_string.lower</a:t>
            </a:r>
            <a:r>
              <a:rPr lang="en-US" sz="2400" dirty="0">
                <a:solidFill>
                  <a:srgbClr val="FF0000"/>
                </a:solidFill>
              </a:rPr>
              <a:t>()</a:t>
            </a:r>
          </a:p>
          <a:p>
            <a:pPr marL="0" indent="0" algn="just">
              <a:buNone/>
            </a:pPr>
            <a:r>
              <a:rPr lang="en-US" sz="2400" dirty="0">
                <a:solidFill>
                  <a:srgbClr val="FF0000"/>
                </a:solidFill>
              </a:rPr>
              <a:t>print("Uppercase:", </a:t>
            </a:r>
            <a:r>
              <a:rPr lang="en-US" sz="2400" dirty="0" err="1">
                <a:solidFill>
                  <a:srgbClr val="FF0000"/>
                </a:solidFill>
              </a:rPr>
              <a:t>uppercase_string</a:t>
            </a:r>
            <a:r>
              <a:rPr lang="en-US" sz="2400" dirty="0">
                <a:solidFill>
                  <a:srgbClr val="FF0000"/>
                </a:solidFill>
              </a:rPr>
              <a:t>)</a:t>
            </a:r>
          </a:p>
          <a:p>
            <a:pPr marL="0" indent="0" algn="just">
              <a:buNone/>
            </a:pPr>
            <a:r>
              <a:rPr lang="en-US" sz="2400" dirty="0">
                <a:solidFill>
                  <a:srgbClr val="FF0000"/>
                </a:solidFill>
              </a:rPr>
              <a:t>print("Lowercase:", </a:t>
            </a:r>
            <a:r>
              <a:rPr lang="en-US" sz="2400" dirty="0" err="1">
                <a:solidFill>
                  <a:srgbClr val="FF0000"/>
                </a:solidFill>
              </a:rPr>
              <a:t>lowercase_string</a:t>
            </a:r>
            <a:r>
              <a:rPr lang="en-US" sz="2400" dirty="0">
                <a:solidFill>
                  <a:srgbClr val="FF0000"/>
                </a:solidFill>
              </a:rPr>
              <a:t>)</a:t>
            </a:r>
          </a:p>
          <a:p>
            <a:pPr marL="0" indent="0" algn="just">
              <a:buNone/>
            </a:pPr>
            <a:endParaRPr lang="en-US" dirty="0"/>
          </a:p>
        </p:txBody>
      </p:sp>
    </p:spTree>
    <p:extLst>
      <p:ext uri="{BB962C8B-B14F-4D97-AF65-F5344CB8AC3E}">
        <p14:creationId xmlns:p14="http://schemas.microsoft.com/office/powerpoint/2010/main" val="164772026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862884" y="425003"/>
            <a:ext cx="10490915" cy="5751960"/>
          </a:xfrm>
        </p:spPr>
        <p:txBody>
          <a:bodyPr/>
          <a:lstStyle/>
          <a:p>
            <a:pPr marL="0" indent="0">
              <a:buNone/>
            </a:pPr>
            <a:r>
              <a:rPr lang="en-US" dirty="0"/>
              <a:t>3. capitalize() and title():Capitalizes the first character of the string or each word.</a:t>
            </a:r>
          </a:p>
          <a:p>
            <a:pPr marL="0" indent="0">
              <a:buNone/>
            </a:pPr>
            <a:r>
              <a:rPr lang="en-US" sz="2400" dirty="0" err="1">
                <a:solidFill>
                  <a:srgbClr val="FF0000"/>
                </a:solidFill>
              </a:rPr>
              <a:t>my_string</a:t>
            </a:r>
            <a:r>
              <a:rPr lang="en-US" sz="2400" dirty="0">
                <a:solidFill>
                  <a:srgbClr val="FF0000"/>
                </a:solidFill>
              </a:rPr>
              <a:t> = "hello world"</a:t>
            </a:r>
          </a:p>
          <a:p>
            <a:pPr marL="0" indent="0">
              <a:buNone/>
            </a:pPr>
            <a:r>
              <a:rPr lang="en-US" sz="2400" dirty="0" err="1">
                <a:solidFill>
                  <a:srgbClr val="FF0000"/>
                </a:solidFill>
              </a:rPr>
              <a:t>capitalized_string</a:t>
            </a:r>
            <a:r>
              <a:rPr lang="en-US" sz="2400" dirty="0">
                <a:solidFill>
                  <a:srgbClr val="FF0000"/>
                </a:solidFill>
              </a:rPr>
              <a:t> = </a:t>
            </a:r>
            <a:r>
              <a:rPr lang="en-US" sz="2400" dirty="0" err="1">
                <a:solidFill>
                  <a:srgbClr val="FF0000"/>
                </a:solidFill>
              </a:rPr>
              <a:t>my_string.capitalize</a:t>
            </a:r>
            <a:r>
              <a:rPr lang="en-US" sz="2400" dirty="0">
                <a:solidFill>
                  <a:srgbClr val="FF0000"/>
                </a:solidFill>
              </a:rPr>
              <a:t>()</a:t>
            </a:r>
          </a:p>
          <a:p>
            <a:pPr marL="0" indent="0">
              <a:buNone/>
            </a:pPr>
            <a:r>
              <a:rPr lang="en-US" sz="2400" dirty="0" err="1">
                <a:solidFill>
                  <a:srgbClr val="FF0000"/>
                </a:solidFill>
              </a:rPr>
              <a:t>title_case_string</a:t>
            </a:r>
            <a:r>
              <a:rPr lang="en-US" sz="2400" dirty="0">
                <a:solidFill>
                  <a:srgbClr val="FF0000"/>
                </a:solidFill>
              </a:rPr>
              <a:t> = </a:t>
            </a:r>
            <a:r>
              <a:rPr lang="en-US" sz="2400" dirty="0" err="1">
                <a:solidFill>
                  <a:srgbClr val="FF0000"/>
                </a:solidFill>
              </a:rPr>
              <a:t>my_string.title</a:t>
            </a:r>
            <a:r>
              <a:rPr lang="en-US" sz="2400" dirty="0">
                <a:solidFill>
                  <a:srgbClr val="FF0000"/>
                </a:solidFill>
              </a:rPr>
              <a:t>()</a:t>
            </a:r>
          </a:p>
          <a:p>
            <a:pPr marL="0" indent="0">
              <a:buNone/>
            </a:pPr>
            <a:r>
              <a:rPr lang="en-US" sz="2400" dirty="0">
                <a:solidFill>
                  <a:srgbClr val="FF0000"/>
                </a:solidFill>
              </a:rPr>
              <a:t>print("Capitalized:", </a:t>
            </a:r>
            <a:r>
              <a:rPr lang="en-US" sz="2400" dirty="0" err="1">
                <a:solidFill>
                  <a:srgbClr val="FF0000"/>
                </a:solidFill>
              </a:rPr>
              <a:t>capitalized_string</a:t>
            </a:r>
            <a:r>
              <a:rPr lang="en-US" sz="2400" dirty="0">
                <a:solidFill>
                  <a:srgbClr val="FF0000"/>
                </a:solidFill>
              </a:rPr>
              <a:t>)</a:t>
            </a:r>
          </a:p>
          <a:p>
            <a:pPr marL="0" indent="0">
              <a:buNone/>
            </a:pPr>
            <a:r>
              <a:rPr lang="en-US" sz="2400" dirty="0">
                <a:solidFill>
                  <a:srgbClr val="FF0000"/>
                </a:solidFill>
              </a:rPr>
              <a:t>print("Title Case:", </a:t>
            </a:r>
            <a:r>
              <a:rPr lang="en-US" sz="2400" dirty="0" err="1">
                <a:solidFill>
                  <a:srgbClr val="FF0000"/>
                </a:solidFill>
              </a:rPr>
              <a:t>title_case_string</a:t>
            </a:r>
            <a:r>
              <a:rPr lang="en-US" sz="2400" dirty="0">
                <a:solidFill>
                  <a:srgbClr val="FF0000"/>
                </a:solidFill>
              </a:rPr>
              <a:t>)</a:t>
            </a:r>
          </a:p>
          <a:p>
            <a:pPr marL="0" indent="0">
              <a:buNone/>
            </a:pPr>
            <a:r>
              <a:rPr lang="en-US" dirty="0"/>
              <a:t>4. count(): Counts the occurrences of a substring in the string.</a:t>
            </a:r>
          </a:p>
          <a:p>
            <a:pPr marL="0" indent="0">
              <a:buNone/>
            </a:pPr>
            <a:r>
              <a:rPr lang="en-US" sz="2400" dirty="0" err="1">
                <a:solidFill>
                  <a:srgbClr val="FF0000"/>
                </a:solidFill>
              </a:rPr>
              <a:t>my_string</a:t>
            </a:r>
            <a:r>
              <a:rPr lang="en-US" sz="2400" dirty="0">
                <a:solidFill>
                  <a:srgbClr val="FF0000"/>
                </a:solidFill>
              </a:rPr>
              <a:t> = "Hello, Hello, Hello"</a:t>
            </a:r>
          </a:p>
          <a:p>
            <a:pPr marL="0" indent="0">
              <a:buNone/>
            </a:pPr>
            <a:r>
              <a:rPr lang="en-US" sz="2400" dirty="0" err="1">
                <a:solidFill>
                  <a:srgbClr val="FF0000"/>
                </a:solidFill>
              </a:rPr>
              <a:t>count_hello</a:t>
            </a:r>
            <a:r>
              <a:rPr lang="en-US" sz="2400" dirty="0">
                <a:solidFill>
                  <a:srgbClr val="FF0000"/>
                </a:solidFill>
              </a:rPr>
              <a:t> = </a:t>
            </a:r>
            <a:r>
              <a:rPr lang="en-US" sz="2400" dirty="0" err="1">
                <a:solidFill>
                  <a:srgbClr val="FF0000"/>
                </a:solidFill>
              </a:rPr>
              <a:t>my_string.count</a:t>
            </a:r>
            <a:r>
              <a:rPr lang="en-US" sz="2400" dirty="0">
                <a:solidFill>
                  <a:srgbClr val="FF0000"/>
                </a:solidFill>
              </a:rPr>
              <a:t>("Hello")</a:t>
            </a:r>
          </a:p>
          <a:p>
            <a:pPr marL="0" indent="0">
              <a:buNone/>
            </a:pPr>
            <a:r>
              <a:rPr lang="en-US" sz="2400" dirty="0">
                <a:solidFill>
                  <a:srgbClr val="FF0000"/>
                </a:solidFill>
              </a:rPr>
              <a:t>print("Count of 'Hello':", </a:t>
            </a:r>
            <a:r>
              <a:rPr lang="en-US" sz="2400" dirty="0" err="1">
                <a:solidFill>
                  <a:srgbClr val="FF0000"/>
                </a:solidFill>
              </a:rPr>
              <a:t>count_hello</a:t>
            </a:r>
            <a:r>
              <a:rPr lang="en-US" sz="2400" dirty="0">
                <a:solidFill>
                  <a:srgbClr val="FF0000"/>
                </a:solidFill>
              </a:rPr>
              <a:t>)</a:t>
            </a:r>
          </a:p>
          <a:p>
            <a:pPr marL="0" indent="0">
              <a:buNone/>
            </a:pPr>
            <a:endParaRPr lang="en-US" dirty="0"/>
          </a:p>
        </p:txBody>
      </p:sp>
    </p:spTree>
    <p:extLst>
      <p:ext uri="{BB962C8B-B14F-4D97-AF65-F5344CB8AC3E}">
        <p14:creationId xmlns:p14="http://schemas.microsoft.com/office/powerpoint/2010/main" val="207480135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553791" y="399245"/>
            <a:ext cx="11436440" cy="6257516"/>
          </a:xfrm>
        </p:spPr>
        <p:txBody>
          <a:bodyPr>
            <a:normAutofit fontScale="92500" lnSpcReduction="20000"/>
          </a:bodyPr>
          <a:lstStyle/>
          <a:p>
            <a:pPr marL="0" indent="0">
              <a:buNone/>
            </a:pPr>
            <a:r>
              <a:rPr lang="en-US" dirty="0"/>
              <a:t>5. find() and index():Returns the index of the first occurrence of a substring. find() returns -1 if not found, while index() raises a </a:t>
            </a:r>
            <a:r>
              <a:rPr lang="en-US" dirty="0" err="1"/>
              <a:t>ValueError</a:t>
            </a:r>
            <a:r>
              <a:rPr lang="en-US" dirty="0"/>
              <a:t>.</a:t>
            </a:r>
          </a:p>
          <a:p>
            <a:pPr marL="0" indent="0">
              <a:buNone/>
            </a:pPr>
            <a:r>
              <a:rPr lang="en-US" sz="2400" dirty="0" err="1">
                <a:solidFill>
                  <a:srgbClr val="FF0000"/>
                </a:solidFill>
              </a:rPr>
              <a:t>my_string</a:t>
            </a:r>
            <a:r>
              <a:rPr lang="en-US" sz="2400" dirty="0">
                <a:solidFill>
                  <a:srgbClr val="FF0000"/>
                </a:solidFill>
              </a:rPr>
              <a:t> = "Hello, World!"</a:t>
            </a:r>
          </a:p>
          <a:p>
            <a:pPr marL="0" indent="0">
              <a:buNone/>
            </a:pPr>
            <a:r>
              <a:rPr lang="en-US" sz="2400" dirty="0" err="1">
                <a:solidFill>
                  <a:srgbClr val="FF0000"/>
                </a:solidFill>
              </a:rPr>
              <a:t>index_world</a:t>
            </a:r>
            <a:r>
              <a:rPr lang="en-US" sz="2400" dirty="0">
                <a:solidFill>
                  <a:srgbClr val="FF0000"/>
                </a:solidFill>
              </a:rPr>
              <a:t> = </a:t>
            </a:r>
            <a:r>
              <a:rPr lang="en-US" sz="2400" dirty="0" err="1">
                <a:solidFill>
                  <a:srgbClr val="FF0000"/>
                </a:solidFill>
              </a:rPr>
              <a:t>my_string.find</a:t>
            </a:r>
            <a:r>
              <a:rPr lang="en-US" sz="2400" dirty="0">
                <a:solidFill>
                  <a:srgbClr val="FF0000"/>
                </a:solidFill>
              </a:rPr>
              <a:t>("World")</a:t>
            </a:r>
          </a:p>
          <a:p>
            <a:pPr marL="0" indent="0">
              <a:buNone/>
            </a:pPr>
            <a:r>
              <a:rPr lang="en-US" sz="2400" dirty="0">
                <a:solidFill>
                  <a:srgbClr val="FF0000"/>
                </a:solidFill>
              </a:rPr>
              <a:t>print("Index of 'World':", </a:t>
            </a:r>
            <a:r>
              <a:rPr lang="en-US" sz="2400" dirty="0" err="1">
                <a:solidFill>
                  <a:srgbClr val="FF0000"/>
                </a:solidFill>
              </a:rPr>
              <a:t>index_world</a:t>
            </a:r>
            <a:r>
              <a:rPr lang="en-US" sz="2400" dirty="0">
                <a:solidFill>
                  <a:srgbClr val="FF0000"/>
                </a:solidFill>
              </a:rPr>
              <a:t>)</a:t>
            </a:r>
          </a:p>
          <a:p>
            <a:pPr marL="0" indent="0">
              <a:buNone/>
            </a:pPr>
            <a:r>
              <a:rPr lang="en-US" dirty="0"/>
              <a:t>6. replace():Replaces occurrences of a substring with another string.</a:t>
            </a:r>
          </a:p>
          <a:p>
            <a:pPr marL="0" indent="0">
              <a:buNone/>
            </a:pPr>
            <a:r>
              <a:rPr lang="en-US" sz="2400" dirty="0" err="1">
                <a:solidFill>
                  <a:srgbClr val="FF0000"/>
                </a:solidFill>
              </a:rPr>
              <a:t>my_string</a:t>
            </a:r>
            <a:r>
              <a:rPr lang="en-US" sz="2400" dirty="0">
                <a:solidFill>
                  <a:srgbClr val="FF0000"/>
                </a:solidFill>
              </a:rPr>
              <a:t> = "Hello, World!"</a:t>
            </a:r>
          </a:p>
          <a:p>
            <a:pPr marL="0" indent="0">
              <a:buNone/>
            </a:pPr>
            <a:r>
              <a:rPr lang="en-US" sz="2400" dirty="0" err="1">
                <a:solidFill>
                  <a:srgbClr val="FF0000"/>
                </a:solidFill>
              </a:rPr>
              <a:t>new_string</a:t>
            </a:r>
            <a:r>
              <a:rPr lang="en-US" sz="2400" dirty="0">
                <a:solidFill>
                  <a:srgbClr val="FF0000"/>
                </a:solidFill>
              </a:rPr>
              <a:t> = </a:t>
            </a:r>
            <a:r>
              <a:rPr lang="en-US" sz="2400" dirty="0" err="1">
                <a:solidFill>
                  <a:srgbClr val="FF0000"/>
                </a:solidFill>
              </a:rPr>
              <a:t>my_string.replace</a:t>
            </a:r>
            <a:r>
              <a:rPr lang="en-US" sz="2400" dirty="0">
                <a:solidFill>
                  <a:srgbClr val="FF0000"/>
                </a:solidFill>
              </a:rPr>
              <a:t>("World", "Universe")</a:t>
            </a:r>
          </a:p>
          <a:p>
            <a:pPr marL="0" indent="0">
              <a:buNone/>
            </a:pPr>
            <a:r>
              <a:rPr lang="en-US" sz="2400" dirty="0">
                <a:solidFill>
                  <a:srgbClr val="FF0000"/>
                </a:solidFill>
              </a:rPr>
              <a:t>print("New String:", </a:t>
            </a:r>
            <a:r>
              <a:rPr lang="en-US" sz="2400" dirty="0" err="1">
                <a:solidFill>
                  <a:srgbClr val="FF0000"/>
                </a:solidFill>
              </a:rPr>
              <a:t>new_string</a:t>
            </a:r>
            <a:r>
              <a:rPr lang="en-US" sz="2400" dirty="0">
                <a:solidFill>
                  <a:srgbClr val="FF0000"/>
                </a:solidFill>
              </a:rPr>
              <a:t>)</a:t>
            </a:r>
          </a:p>
          <a:p>
            <a:pPr marL="0" indent="0">
              <a:buNone/>
            </a:pPr>
            <a:r>
              <a:rPr lang="en-US" dirty="0"/>
              <a:t>7. split() and join():Splits a string into a list of substrings based on a delimiter. join() is used to concatenate a list of strings into one string.</a:t>
            </a:r>
          </a:p>
          <a:p>
            <a:pPr marL="0" indent="0">
              <a:buNone/>
            </a:pPr>
            <a:r>
              <a:rPr lang="en-US" sz="2400" dirty="0" err="1">
                <a:solidFill>
                  <a:srgbClr val="FF0000"/>
                </a:solidFill>
              </a:rPr>
              <a:t>my_string</a:t>
            </a:r>
            <a:r>
              <a:rPr lang="en-US" sz="2400" dirty="0">
                <a:solidFill>
                  <a:srgbClr val="FF0000"/>
                </a:solidFill>
              </a:rPr>
              <a:t> = "</a:t>
            </a:r>
            <a:r>
              <a:rPr lang="en-US" sz="2400" dirty="0" err="1">
                <a:solidFill>
                  <a:srgbClr val="FF0000"/>
                </a:solidFill>
              </a:rPr>
              <a:t>apple,orange,banana</a:t>
            </a:r>
            <a:r>
              <a:rPr lang="en-US" sz="2400" dirty="0">
                <a:solidFill>
                  <a:srgbClr val="FF0000"/>
                </a:solidFill>
              </a:rPr>
              <a:t>"</a:t>
            </a:r>
          </a:p>
          <a:p>
            <a:pPr marL="0" indent="0">
              <a:buNone/>
            </a:pPr>
            <a:r>
              <a:rPr lang="en-US" sz="2400" dirty="0" err="1">
                <a:solidFill>
                  <a:srgbClr val="FF0000"/>
                </a:solidFill>
              </a:rPr>
              <a:t>split_list</a:t>
            </a:r>
            <a:r>
              <a:rPr lang="en-US" sz="2400" dirty="0">
                <a:solidFill>
                  <a:srgbClr val="FF0000"/>
                </a:solidFill>
              </a:rPr>
              <a:t> = </a:t>
            </a:r>
            <a:r>
              <a:rPr lang="en-US" sz="2400" dirty="0" err="1">
                <a:solidFill>
                  <a:srgbClr val="FF0000"/>
                </a:solidFill>
              </a:rPr>
              <a:t>my_string.split</a:t>
            </a:r>
            <a:r>
              <a:rPr lang="en-US" sz="2400" dirty="0">
                <a:solidFill>
                  <a:srgbClr val="FF0000"/>
                </a:solidFill>
              </a:rPr>
              <a:t>(",")</a:t>
            </a:r>
          </a:p>
          <a:p>
            <a:pPr marL="0" indent="0">
              <a:buNone/>
            </a:pPr>
            <a:r>
              <a:rPr lang="en-US" sz="2400" dirty="0" err="1">
                <a:solidFill>
                  <a:srgbClr val="FF0000"/>
                </a:solidFill>
              </a:rPr>
              <a:t>joined_string</a:t>
            </a:r>
            <a:r>
              <a:rPr lang="en-US" sz="2400" dirty="0">
                <a:solidFill>
                  <a:srgbClr val="FF0000"/>
                </a:solidFill>
              </a:rPr>
              <a:t> = "-".join(</a:t>
            </a:r>
            <a:r>
              <a:rPr lang="en-US" sz="2400" dirty="0" err="1">
                <a:solidFill>
                  <a:srgbClr val="FF0000"/>
                </a:solidFill>
              </a:rPr>
              <a:t>split_list</a:t>
            </a:r>
            <a:r>
              <a:rPr lang="en-US" sz="2400" dirty="0">
                <a:solidFill>
                  <a:srgbClr val="FF0000"/>
                </a:solidFill>
              </a:rPr>
              <a:t>)</a:t>
            </a:r>
          </a:p>
          <a:p>
            <a:pPr marL="0" indent="0">
              <a:buNone/>
            </a:pPr>
            <a:r>
              <a:rPr lang="en-US" sz="2400" dirty="0">
                <a:solidFill>
                  <a:srgbClr val="FF0000"/>
                </a:solidFill>
              </a:rPr>
              <a:t>print("Split List:", </a:t>
            </a:r>
            <a:r>
              <a:rPr lang="en-US" sz="2400" dirty="0" err="1">
                <a:solidFill>
                  <a:srgbClr val="FF0000"/>
                </a:solidFill>
              </a:rPr>
              <a:t>split_list</a:t>
            </a:r>
            <a:r>
              <a:rPr lang="en-US" sz="2400" dirty="0">
                <a:solidFill>
                  <a:srgbClr val="FF0000"/>
                </a:solidFill>
              </a:rPr>
              <a:t>)</a:t>
            </a:r>
          </a:p>
          <a:p>
            <a:pPr marL="0" indent="0">
              <a:buNone/>
            </a:pPr>
            <a:r>
              <a:rPr lang="en-US" sz="2400" dirty="0">
                <a:solidFill>
                  <a:srgbClr val="FF0000"/>
                </a:solidFill>
              </a:rPr>
              <a:t>print("Joined String:", </a:t>
            </a:r>
            <a:r>
              <a:rPr lang="en-US" sz="2400" dirty="0" err="1">
                <a:solidFill>
                  <a:srgbClr val="FF0000"/>
                </a:solidFill>
              </a:rPr>
              <a:t>joined_string</a:t>
            </a:r>
            <a:r>
              <a:rPr lang="en-US" sz="2400" dirty="0">
                <a:solidFill>
                  <a:srgbClr val="FF0000"/>
                </a:solidFill>
              </a:rPr>
              <a:t>)</a:t>
            </a:r>
          </a:p>
          <a:p>
            <a:pPr marL="0" indent="0">
              <a:buNone/>
            </a:pPr>
            <a:endParaRPr lang="en-US" dirty="0"/>
          </a:p>
        </p:txBody>
      </p:sp>
    </p:spTree>
    <p:extLst>
      <p:ext uri="{BB962C8B-B14F-4D97-AF65-F5344CB8AC3E}">
        <p14:creationId xmlns:p14="http://schemas.microsoft.com/office/powerpoint/2010/main" val="379794766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4" name="Title 3">
            <a:extLst>
              <a:ext uri="{FF2B5EF4-FFF2-40B4-BE49-F238E27FC236}">
                <a16:creationId xmlns:a16="http://schemas.microsoft.com/office/drawing/2014/main" id="{6AF1A31C-305B-8B99-2614-E443CD2AFB3B}"/>
              </a:ext>
            </a:extLst>
          </p:cNvPr>
          <p:cNvSpPr>
            <a:spLocks noGrp="1"/>
          </p:cNvSpPr>
          <p:nvPr>
            <p:ph type="title"/>
          </p:nvPr>
        </p:nvSpPr>
        <p:spPr>
          <a:xfrm>
            <a:off x="838200" y="365125"/>
            <a:ext cx="10515600" cy="343213"/>
          </a:xfrm>
        </p:spPr>
        <p:txBody>
          <a:bodyPr>
            <a:normAutofit fontScale="90000"/>
          </a:bodyPr>
          <a:lstStyle/>
          <a:p>
            <a:r>
              <a:rPr lang="en-US" dirty="0"/>
              <a:t>String Slicing</a:t>
            </a:r>
          </a:p>
        </p:txBody>
      </p:sp>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442155" y="785338"/>
            <a:ext cx="10515600" cy="5269991"/>
          </a:xfrm>
        </p:spPr>
        <p:txBody>
          <a:bodyPr/>
          <a:lstStyle/>
          <a:p>
            <a:pPr marL="0" indent="0" algn="just">
              <a:buNone/>
            </a:pPr>
            <a:r>
              <a:rPr lang="en-US" dirty="0"/>
              <a:t>String slicing is a technique in Python that allows you to extract a portion (substring) of a string. It involves specifying a range of indices to create a new string containing the characters from the original string within that range.</a:t>
            </a:r>
          </a:p>
          <a:p>
            <a:pPr marL="0" indent="0" algn="just">
              <a:buNone/>
            </a:pPr>
            <a:r>
              <a:rPr lang="en-US" b="1" dirty="0"/>
              <a:t>Index tracker for positive and negative index:</a:t>
            </a:r>
            <a:r>
              <a:rPr lang="en-US" dirty="0"/>
              <a:t> String indexing and slicing in python. Here, the Negative comes into consideration when tracking the string in reverse.</a:t>
            </a:r>
          </a:p>
          <a:p>
            <a:pPr marL="0" indent="0" algn="just">
              <a:buNone/>
            </a:pPr>
            <a:endParaRPr lang="en-US" dirty="0"/>
          </a:p>
        </p:txBody>
      </p:sp>
      <p:pic>
        <p:nvPicPr>
          <p:cNvPr id="10242" name="Picture 2" descr="Lightbox"/>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2821" y="3664584"/>
            <a:ext cx="8730366" cy="259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412732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862884" y="502276"/>
            <a:ext cx="10490915" cy="5674687"/>
          </a:xfrm>
        </p:spPr>
        <p:txBody>
          <a:bodyPr>
            <a:normAutofit/>
          </a:bodyPr>
          <a:lstStyle/>
          <a:p>
            <a:pPr marL="0" indent="0">
              <a:buNone/>
            </a:pPr>
            <a:r>
              <a:rPr lang="en-US" dirty="0"/>
              <a:t>The general syntax for string slicing is as follows:</a:t>
            </a:r>
          </a:p>
          <a:p>
            <a:pPr marL="0" indent="0">
              <a:buNone/>
            </a:pPr>
            <a:r>
              <a:rPr lang="en-US" dirty="0">
                <a:solidFill>
                  <a:srgbClr val="FF0000"/>
                </a:solidFill>
              </a:rPr>
              <a:t>string[</a:t>
            </a:r>
            <a:r>
              <a:rPr lang="en-US" dirty="0" err="1">
                <a:solidFill>
                  <a:srgbClr val="FF0000"/>
                </a:solidFill>
              </a:rPr>
              <a:t>start:end:step</a:t>
            </a:r>
            <a:r>
              <a:rPr lang="en-US" dirty="0">
                <a:solidFill>
                  <a:srgbClr val="FF0000"/>
                </a:solidFill>
              </a:rPr>
              <a:t>]</a:t>
            </a:r>
          </a:p>
          <a:p>
            <a:pPr marL="0" indent="0">
              <a:buNone/>
            </a:pPr>
            <a:r>
              <a:rPr lang="en-US" dirty="0"/>
              <a:t>start: The starting index of the substring (inclusive).</a:t>
            </a:r>
          </a:p>
          <a:p>
            <a:pPr marL="0" indent="0">
              <a:buNone/>
            </a:pPr>
            <a:r>
              <a:rPr lang="en-US" dirty="0"/>
              <a:t>end: The ending index of the substring (exclusive).</a:t>
            </a:r>
          </a:p>
          <a:p>
            <a:pPr marL="0" indent="0">
              <a:buNone/>
            </a:pPr>
            <a:r>
              <a:rPr lang="en-US" dirty="0"/>
              <a:t>step: The step or interval between characters (default is 1).</a:t>
            </a:r>
          </a:p>
          <a:p>
            <a:pPr marL="0" indent="0">
              <a:buNone/>
            </a:pPr>
            <a:r>
              <a:rPr lang="en-US" dirty="0" err="1">
                <a:solidFill>
                  <a:srgbClr val="FF0000"/>
                </a:solidFill>
              </a:rPr>
              <a:t>arr</a:t>
            </a:r>
            <a:r>
              <a:rPr lang="en-US" dirty="0">
                <a:solidFill>
                  <a:srgbClr val="FF0000"/>
                </a:solidFill>
              </a:rPr>
              <a:t>[</a:t>
            </a:r>
            <a:r>
              <a:rPr lang="en-US" dirty="0" err="1">
                <a:solidFill>
                  <a:srgbClr val="FF0000"/>
                </a:solidFill>
              </a:rPr>
              <a:t>start:stop</a:t>
            </a:r>
            <a:r>
              <a:rPr lang="en-US" dirty="0">
                <a:solidFill>
                  <a:srgbClr val="FF0000"/>
                </a:solidFill>
              </a:rPr>
              <a:t>]         # items start through stop-1</a:t>
            </a:r>
          </a:p>
          <a:p>
            <a:pPr marL="0" indent="0">
              <a:buNone/>
            </a:pPr>
            <a:r>
              <a:rPr lang="en-US" dirty="0" err="1">
                <a:solidFill>
                  <a:srgbClr val="FF0000"/>
                </a:solidFill>
              </a:rPr>
              <a:t>arr</a:t>
            </a:r>
            <a:r>
              <a:rPr lang="en-US" dirty="0">
                <a:solidFill>
                  <a:srgbClr val="FF0000"/>
                </a:solidFill>
              </a:rPr>
              <a:t>[start:]             # items start through the rest of the array</a:t>
            </a:r>
          </a:p>
          <a:p>
            <a:pPr marL="0" indent="0">
              <a:buNone/>
            </a:pPr>
            <a:r>
              <a:rPr lang="en-US" dirty="0" err="1">
                <a:solidFill>
                  <a:srgbClr val="FF0000"/>
                </a:solidFill>
              </a:rPr>
              <a:t>arr</a:t>
            </a:r>
            <a:r>
              <a:rPr lang="en-US" dirty="0">
                <a:solidFill>
                  <a:srgbClr val="FF0000"/>
                </a:solidFill>
              </a:rPr>
              <a:t>[:stop]              # items from the beginning through stop-1</a:t>
            </a:r>
          </a:p>
          <a:p>
            <a:pPr marL="0" indent="0">
              <a:buNone/>
            </a:pPr>
            <a:r>
              <a:rPr lang="en-US" dirty="0" err="1">
                <a:solidFill>
                  <a:srgbClr val="FF0000"/>
                </a:solidFill>
              </a:rPr>
              <a:t>arr</a:t>
            </a:r>
            <a:r>
              <a:rPr lang="en-US" dirty="0">
                <a:solidFill>
                  <a:srgbClr val="FF0000"/>
                </a:solidFill>
              </a:rPr>
              <a:t>[:]                  # a copy of the whole array</a:t>
            </a:r>
          </a:p>
          <a:p>
            <a:pPr marL="0" indent="0">
              <a:buNone/>
            </a:pPr>
            <a:r>
              <a:rPr lang="en-US" dirty="0" err="1">
                <a:solidFill>
                  <a:srgbClr val="FF0000"/>
                </a:solidFill>
              </a:rPr>
              <a:t>arr</a:t>
            </a:r>
            <a:r>
              <a:rPr lang="en-US" dirty="0">
                <a:solidFill>
                  <a:srgbClr val="FF0000"/>
                </a:solidFill>
              </a:rPr>
              <a:t>[</a:t>
            </a:r>
            <a:r>
              <a:rPr lang="en-US" dirty="0" err="1">
                <a:solidFill>
                  <a:srgbClr val="FF0000"/>
                </a:solidFill>
              </a:rPr>
              <a:t>start:stop:step</a:t>
            </a:r>
            <a:r>
              <a:rPr lang="en-US" dirty="0">
                <a:solidFill>
                  <a:srgbClr val="FF0000"/>
                </a:solidFill>
              </a:rPr>
              <a:t>]    # start through not past stop, by step</a:t>
            </a:r>
          </a:p>
          <a:p>
            <a:pPr marL="0" indent="0">
              <a:buNone/>
            </a:pPr>
            <a:endParaRPr lang="en-US" dirty="0"/>
          </a:p>
        </p:txBody>
      </p:sp>
    </p:spTree>
    <p:extLst>
      <p:ext uri="{BB962C8B-B14F-4D97-AF65-F5344CB8AC3E}">
        <p14:creationId xmlns:p14="http://schemas.microsoft.com/office/powerpoint/2010/main" val="61064524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746975" y="502276"/>
            <a:ext cx="10606825" cy="5674687"/>
          </a:xfrm>
        </p:spPr>
        <p:txBody>
          <a:bodyPr>
            <a:normAutofit fontScale="77500" lnSpcReduction="20000"/>
          </a:bodyPr>
          <a:lstStyle/>
          <a:p>
            <a:pPr marL="0" indent="0">
              <a:buNone/>
            </a:pPr>
            <a:r>
              <a:rPr lang="en-US" dirty="0"/>
              <a:t>Example</a:t>
            </a:r>
          </a:p>
          <a:p>
            <a:pPr marL="0" indent="0">
              <a:buNone/>
            </a:pPr>
            <a:r>
              <a:rPr lang="en-US" dirty="0"/>
              <a:t># Example string</a:t>
            </a:r>
          </a:p>
          <a:p>
            <a:pPr marL="0" indent="0">
              <a:buNone/>
            </a:pPr>
            <a:r>
              <a:rPr lang="en-US" dirty="0" err="1"/>
              <a:t>my_string</a:t>
            </a:r>
            <a:r>
              <a:rPr lang="en-US" dirty="0"/>
              <a:t> = "Hello, World!"</a:t>
            </a:r>
          </a:p>
          <a:p>
            <a:pPr marL="0" indent="0">
              <a:buNone/>
            </a:pPr>
            <a:endParaRPr lang="en-US" dirty="0"/>
          </a:p>
          <a:p>
            <a:pPr marL="0" indent="0">
              <a:buNone/>
            </a:pPr>
            <a:r>
              <a:rPr lang="en-US" dirty="0"/>
              <a:t># Basic slicing</a:t>
            </a:r>
          </a:p>
          <a:p>
            <a:pPr marL="0" indent="0">
              <a:buNone/>
            </a:pPr>
            <a:r>
              <a:rPr lang="en-US" dirty="0"/>
              <a:t>substring1 = </a:t>
            </a:r>
            <a:r>
              <a:rPr lang="en-US" dirty="0" err="1"/>
              <a:t>my_string</a:t>
            </a:r>
            <a:r>
              <a:rPr lang="en-US" dirty="0"/>
              <a:t>[0:5]    # characters from index 0 to 4 (5 is exclusive)</a:t>
            </a:r>
          </a:p>
          <a:p>
            <a:pPr marL="0" indent="0">
              <a:buNone/>
            </a:pPr>
            <a:r>
              <a:rPr lang="en-US" dirty="0"/>
              <a:t>substring2 = </a:t>
            </a:r>
            <a:r>
              <a:rPr lang="en-US" dirty="0" err="1"/>
              <a:t>my_string</a:t>
            </a:r>
            <a:r>
              <a:rPr lang="en-US" dirty="0"/>
              <a:t>[7:12]   # characters from index 7 to 11 (12 is exclusive)</a:t>
            </a:r>
          </a:p>
          <a:p>
            <a:pPr marL="0" indent="0">
              <a:buNone/>
            </a:pPr>
            <a:r>
              <a:rPr lang="en-US" dirty="0"/>
              <a:t>print("Substring 1:", substring1)</a:t>
            </a:r>
          </a:p>
          <a:p>
            <a:pPr marL="0" indent="0">
              <a:buNone/>
            </a:pPr>
            <a:r>
              <a:rPr lang="en-US" dirty="0"/>
              <a:t>print("Substring 2:", substring2)</a:t>
            </a:r>
          </a:p>
          <a:p>
            <a:pPr marL="0" indent="0">
              <a:buNone/>
            </a:pPr>
            <a:endParaRPr lang="en-US" dirty="0"/>
          </a:p>
          <a:p>
            <a:pPr marL="0" indent="0">
              <a:buNone/>
            </a:pPr>
            <a:r>
              <a:rPr lang="en-US" dirty="0"/>
              <a:t># Omitting start or end</a:t>
            </a:r>
          </a:p>
          <a:p>
            <a:pPr marL="0" indent="0">
              <a:buNone/>
            </a:pPr>
            <a:r>
              <a:rPr lang="en-US" dirty="0"/>
              <a:t>substring3 = </a:t>
            </a:r>
            <a:r>
              <a:rPr lang="en-US" dirty="0" err="1"/>
              <a:t>my_string</a:t>
            </a:r>
            <a:r>
              <a:rPr lang="en-US" dirty="0"/>
              <a:t>[:5]     # characters from the beginning to index 4</a:t>
            </a:r>
          </a:p>
          <a:p>
            <a:pPr marL="0" indent="0">
              <a:buNone/>
            </a:pPr>
            <a:r>
              <a:rPr lang="en-US" dirty="0"/>
              <a:t>substring4 = </a:t>
            </a:r>
            <a:r>
              <a:rPr lang="en-US" dirty="0" err="1"/>
              <a:t>my_string</a:t>
            </a:r>
            <a:r>
              <a:rPr lang="en-US" dirty="0"/>
              <a:t>[7:]     # characters from index 7 to the end</a:t>
            </a:r>
          </a:p>
          <a:p>
            <a:pPr marL="0" indent="0">
              <a:buNone/>
            </a:pPr>
            <a:r>
              <a:rPr lang="en-US" dirty="0"/>
              <a:t>print("Substring 3:", substring3)</a:t>
            </a:r>
          </a:p>
          <a:p>
            <a:pPr marL="0" indent="0">
              <a:buNone/>
            </a:pPr>
            <a:r>
              <a:rPr lang="en-US" dirty="0"/>
              <a:t>print("Substring 4:", substring4)</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50951443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811369" y="334851"/>
            <a:ext cx="10542431" cy="5842112"/>
          </a:xfrm>
        </p:spPr>
        <p:txBody>
          <a:bodyPr>
            <a:normAutofit fontScale="77500" lnSpcReduction="20000"/>
          </a:bodyPr>
          <a:lstStyle/>
          <a:p>
            <a:pPr marL="0" indent="0">
              <a:buNone/>
            </a:pPr>
            <a:r>
              <a:rPr lang="en-US" dirty="0"/>
              <a:t># Negative indices</a:t>
            </a:r>
          </a:p>
          <a:p>
            <a:pPr marL="0" indent="0">
              <a:buNone/>
            </a:pPr>
            <a:r>
              <a:rPr lang="en-US" dirty="0"/>
              <a:t>substring5 = </a:t>
            </a:r>
            <a:r>
              <a:rPr lang="en-US" dirty="0" err="1"/>
              <a:t>my_string</a:t>
            </a:r>
            <a:r>
              <a:rPr lang="en-US" dirty="0"/>
              <a:t>[-6:-1]  # characters from index -6 to -2</a:t>
            </a:r>
          </a:p>
          <a:p>
            <a:pPr marL="0" indent="0">
              <a:buNone/>
            </a:pPr>
            <a:r>
              <a:rPr lang="en-US" dirty="0"/>
              <a:t>print("Substring 5:", substring5)</a:t>
            </a:r>
          </a:p>
          <a:p>
            <a:pPr marL="0" indent="0">
              <a:buNone/>
            </a:pPr>
            <a:endParaRPr lang="en-US" dirty="0"/>
          </a:p>
          <a:p>
            <a:pPr marL="0" indent="0">
              <a:buNone/>
            </a:pPr>
            <a:r>
              <a:rPr lang="en-US" dirty="0"/>
              <a:t># Using step</a:t>
            </a:r>
          </a:p>
          <a:p>
            <a:pPr marL="0" indent="0">
              <a:buNone/>
            </a:pPr>
            <a:r>
              <a:rPr lang="en-US" dirty="0"/>
              <a:t>substring6 = </a:t>
            </a:r>
            <a:r>
              <a:rPr lang="en-US" dirty="0" err="1"/>
              <a:t>my_string</a:t>
            </a:r>
            <a:r>
              <a:rPr lang="en-US" dirty="0"/>
              <a:t>[0:10:2]  # characters from index 0 to 9, skipping every second character</a:t>
            </a:r>
          </a:p>
          <a:p>
            <a:pPr marL="0" indent="0">
              <a:buNone/>
            </a:pPr>
            <a:r>
              <a:rPr lang="en-US" dirty="0"/>
              <a:t>print("Substring 6:", substring6)</a:t>
            </a:r>
          </a:p>
          <a:p>
            <a:pPr marL="0" indent="0">
              <a:buNone/>
            </a:pPr>
            <a:endParaRPr lang="en-US" dirty="0"/>
          </a:p>
          <a:p>
            <a:pPr marL="0" indent="0">
              <a:buNone/>
            </a:pPr>
            <a:r>
              <a:rPr lang="en-US" dirty="0"/>
              <a:t>Output:</a:t>
            </a:r>
          </a:p>
          <a:p>
            <a:pPr marL="0" indent="0">
              <a:buNone/>
            </a:pPr>
            <a:r>
              <a:rPr lang="en-US" dirty="0"/>
              <a:t>Substring 1: Hello</a:t>
            </a:r>
          </a:p>
          <a:p>
            <a:pPr marL="0" indent="0">
              <a:buNone/>
            </a:pPr>
            <a:r>
              <a:rPr lang="en-US" dirty="0"/>
              <a:t>Substring 2: World</a:t>
            </a:r>
          </a:p>
          <a:p>
            <a:pPr marL="0" indent="0">
              <a:buNone/>
            </a:pPr>
            <a:r>
              <a:rPr lang="en-US" dirty="0"/>
              <a:t>Substring 3: Hello</a:t>
            </a:r>
          </a:p>
          <a:p>
            <a:pPr marL="0" indent="0">
              <a:buNone/>
            </a:pPr>
            <a:r>
              <a:rPr lang="en-US" dirty="0"/>
              <a:t>Substring 4: World!</a:t>
            </a:r>
          </a:p>
          <a:p>
            <a:pPr marL="0" indent="0">
              <a:buNone/>
            </a:pPr>
            <a:r>
              <a:rPr lang="en-US" dirty="0"/>
              <a:t>Substring 5: World</a:t>
            </a:r>
          </a:p>
          <a:p>
            <a:pPr marL="0" indent="0">
              <a:buNone/>
            </a:pPr>
            <a:r>
              <a:rPr lang="en-US" dirty="0"/>
              <a:t>Substring 6: </a:t>
            </a:r>
            <a:r>
              <a:rPr lang="en-US" dirty="0" err="1"/>
              <a:t>Hlo,W</a:t>
            </a:r>
            <a:endParaRPr lang="en-US" dirty="0"/>
          </a:p>
          <a:p>
            <a:pPr marL="0" indent="0">
              <a:buNone/>
            </a:pPr>
            <a:endParaRPr lang="en-US" dirty="0"/>
          </a:p>
        </p:txBody>
      </p:sp>
    </p:spTree>
    <p:extLst>
      <p:ext uri="{BB962C8B-B14F-4D97-AF65-F5344CB8AC3E}">
        <p14:creationId xmlns:p14="http://schemas.microsoft.com/office/powerpoint/2010/main" val="207982791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4" name="Title 3">
            <a:extLst>
              <a:ext uri="{FF2B5EF4-FFF2-40B4-BE49-F238E27FC236}">
                <a16:creationId xmlns:a16="http://schemas.microsoft.com/office/drawing/2014/main" id="{6AF1A31C-305B-8B99-2614-E443CD2AFB3B}"/>
              </a:ext>
            </a:extLst>
          </p:cNvPr>
          <p:cNvSpPr>
            <a:spLocks noGrp="1"/>
          </p:cNvSpPr>
          <p:nvPr>
            <p:ph type="title"/>
          </p:nvPr>
        </p:nvSpPr>
        <p:spPr>
          <a:xfrm>
            <a:off x="838200" y="365126"/>
            <a:ext cx="10515600" cy="443912"/>
          </a:xfrm>
        </p:spPr>
        <p:txBody>
          <a:bodyPr>
            <a:normAutofit fontScale="90000"/>
          </a:bodyPr>
          <a:lstStyle/>
          <a:p>
            <a:r>
              <a:rPr lang="en-US" sz="4000" b="1" dirty="0"/>
              <a:t>List &amp; its Operations</a:t>
            </a:r>
          </a:p>
        </p:txBody>
      </p:sp>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838200" y="1007672"/>
            <a:ext cx="10515600" cy="5169291"/>
          </a:xfrm>
        </p:spPr>
        <p:txBody>
          <a:bodyPr>
            <a:normAutofit/>
          </a:bodyPr>
          <a:lstStyle/>
          <a:p>
            <a:pPr algn="just"/>
            <a:r>
              <a:rPr lang="en-US" dirty="0"/>
              <a:t>The </a:t>
            </a:r>
            <a:r>
              <a:rPr lang="en-US" b="1" dirty="0"/>
              <a:t>list</a:t>
            </a:r>
            <a:r>
              <a:rPr lang="en-US" dirty="0"/>
              <a:t> is a sequence data type which is used to store the collection of data.</a:t>
            </a:r>
          </a:p>
          <a:p>
            <a:pPr algn="just"/>
            <a:r>
              <a:rPr lang="en-US" dirty="0"/>
              <a:t>A list is a data structure in Python that is a mutable, or changeable, ordered sequence of elements. Each element or value that is inside of a list is called an item. Just as strings are defined as characters between quotes, lists are defined by having values between square brackets [ ].</a:t>
            </a:r>
          </a:p>
          <a:p>
            <a:pPr algn="just"/>
            <a:r>
              <a:rPr lang="en-US" b="1" dirty="0"/>
              <a:t>Lists</a:t>
            </a:r>
            <a:r>
              <a:rPr lang="en-US" dirty="0"/>
              <a:t> are used to store multiple items in a single variable. </a:t>
            </a:r>
          </a:p>
          <a:p>
            <a:pPr algn="just"/>
            <a:r>
              <a:rPr lang="en-US" dirty="0"/>
              <a:t>List items are ordered, changeable, and allow duplicate values.</a:t>
            </a:r>
          </a:p>
          <a:p>
            <a:pPr algn="just"/>
            <a:r>
              <a:rPr lang="en-US" dirty="0"/>
              <a:t>List items are indexed, the first item has index [0], the second item has index [1] etc.</a:t>
            </a:r>
          </a:p>
        </p:txBody>
      </p:sp>
    </p:spTree>
    <p:extLst>
      <p:ext uri="{BB962C8B-B14F-4D97-AF65-F5344CB8AC3E}">
        <p14:creationId xmlns:p14="http://schemas.microsoft.com/office/powerpoint/2010/main" val="60690066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953036" y="437883"/>
            <a:ext cx="4082603" cy="5480780"/>
          </a:xfrm>
        </p:spPr>
        <p:txBody>
          <a:bodyPr>
            <a:normAutofit fontScale="62500" lnSpcReduction="20000"/>
          </a:bodyPr>
          <a:lstStyle/>
          <a:p>
            <a:pPr marL="0" indent="0">
              <a:buNone/>
            </a:pPr>
            <a:r>
              <a:rPr lang="en-US" dirty="0"/>
              <a:t>program that includes various list operations:</a:t>
            </a:r>
          </a:p>
          <a:p>
            <a:pPr marL="0" indent="0">
              <a:buNone/>
            </a:pPr>
            <a:r>
              <a:rPr lang="en-US" dirty="0"/>
              <a:t># Creating a list</a:t>
            </a:r>
          </a:p>
          <a:p>
            <a:pPr marL="0" indent="0">
              <a:buNone/>
            </a:pPr>
            <a:r>
              <a:rPr lang="en-US" dirty="0" err="1"/>
              <a:t>my_list</a:t>
            </a:r>
            <a:r>
              <a:rPr lang="en-US" dirty="0"/>
              <a:t> = [1, 2, 3, 'a', 'b', 'c']</a:t>
            </a:r>
          </a:p>
          <a:p>
            <a:pPr marL="0" indent="0">
              <a:buNone/>
            </a:pPr>
            <a:r>
              <a:rPr lang="en-US" dirty="0"/>
              <a:t> </a:t>
            </a:r>
          </a:p>
          <a:p>
            <a:pPr marL="0" indent="0">
              <a:buNone/>
            </a:pPr>
            <a:r>
              <a:rPr lang="en-US" dirty="0"/>
              <a:t># Accessing elements</a:t>
            </a:r>
          </a:p>
          <a:p>
            <a:pPr marL="0" indent="0">
              <a:buNone/>
            </a:pPr>
            <a:r>
              <a:rPr lang="en-US" dirty="0"/>
              <a:t>element = </a:t>
            </a:r>
            <a:r>
              <a:rPr lang="en-US" dirty="0" err="1"/>
              <a:t>my_list</a:t>
            </a:r>
            <a:r>
              <a:rPr lang="en-US" dirty="0"/>
              <a:t>[2]</a:t>
            </a:r>
          </a:p>
          <a:p>
            <a:pPr marL="0" indent="0">
              <a:buNone/>
            </a:pPr>
            <a:r>
              <a:rPr lang="en-US" dirty="0"/>
              <a:t>print("Accessing elements:", element)</a:t>
            </a:r>
          </a:p>
          <a:p>
            <a:pPr marL="0" indent="0">
              <a:buNone/>
            </a:pPr>
            <a:r>
              <a:rPr lang="en-US" dirty="0"/>
              <a:t> </a:t>
            </a:r>
          </a:p>
          <a:p>
            <a:pPr marL="0" indent="0">
              <a:buNone/>
            </a:pPr>
            <a:r>
              <a:rPr lang="en-US" dirty="0"/>
              <a:t># Slicing</a:t>
            </a:r>
          </a:p>
          <a:p>
            <a:pPr marL="0" indent="0">
              <a:buNone/>
            </a:pPr>
            <a:r>
              <a:rPr lang="en-US" dirty="0" err="1"/>
              <a:t>subset_list</a:t>
            </a:r>
            <a:r>
              <a:rPr lang="en-US" dirty="0"/>
              <a:t> = </a:t>
            </a:r>
            <a:r>
              <a:rPr lang="en-US" dirty="0" err="1"/>
              <a:t>my_list</a:t>
            </a:r>
            <a:r>
              <a:rPr lang="en-US" dirty="0"/>
              <a:t>[1:4]</a:t>
            </a:r>
          </a:p>
          <a:p>
            <a:pPr marL="0" indent="0">
              <a:buNone/>
            </a:pPr>
            <a:r>
              <a:rPr lang="en-US" dirty="0"/>
              <a:t>print("Slicing a list:", </a:t>
            </a:r>
            <a:r>
              <a:rPr lang="en-US" dirty="0" err="1"/>
              <a:t>subset_list</a:t>
            </a:r>
            <a:r>
              <a:rPr lang="en-US" dirty="0"/>
              <a:t>)</a:t>
            </a:r>
          </a:p>
          <a:p>
            <a:pPr marL="0" indent="0">
              <a:buNone/>
            </a:pPr>
            <a:r>
              <a:rPr lang="en-US" dirty="0"/>
              <a:t> </a:t>
            </a:r>
          </a:p>
          <a:p>
            <a:pPr marL="0" indent="0">
              <a:buNone/>
            </a:pPr>
            <a:r>
              <a:rPr lang="en-US" dirty="0"/>
              <a:t># Concatenating lists</a:t>
            </a:r>
          </a:p>
          <a:p>
            <a:pPr marL="0" indent="0">
              <a:buNone/>
            </a:pPr>
            <a:r>
              <a:rPr lang="en-US" dirty="0" err="1"/>
              <a:t>new_list</a:t>
            </a:r>
            <a:r>
              <a:rPr lang="en-US" dirty="0"/>
              <a:t> = </a:t>
            </a:r>
            <a:r>
              <a:rPr lang="en-US" dirty="0" err="1"/>
              <a:t>my_list</a:t>
            </a:r>
            <a:r>
              <a:rPr lang="en-US" dirty="0"/>
              <a:t> + [4, 5, 6]</a:t>
            </a:r>
          </a:p>
          <a:p>
            <a:pPr marL="0" indent="0">
              <a:buNone/>
            </a:pPr>
            <a:r>
              <a:rPr lang="en-US" dirty="0"/>
              <a:t>print("List Concatenation:", </a:t>
            </a:r>
            <a:r>
              <a:rPr lang="en-US" dirty="0" err="1"/>
              <a:t>new_list</a:t>
            </a:r>
            <a:r>
              <a:rPr lang="en-US" dirty="0"/>
              <a:t>)</a:t>
            </a:r>
          </a:p>
          <a:p>
            <a:pPr marL="0" indent="0">
              <a:buNone/>
            </a:pPr>
            <a:r>
              <a:rPr lang="en-US" dirty="0"/>
              <a:t> </a:t>
            </a:r>
          </a:p>
          <a:p>
            <a:pPr marL="0" indent="0">
              <a:buNone/>
            </a:pPr>
            <a:endParaRPr lang="en-US" dirty="0"/>
          </a:p>
          <a:p>
            <a:pPr marL="0" indent="0">
              <a:buNone/>
            </a:pPr>
            <a:endParaRPr lang="en-US" dirty="0"/>
          </a:p>
        </p:txBody>
      </p:sp>
      <p:sp>
        <p:nvSpPr>
          <p:cNvPr id="7" name="TextBox 6"/>
          <p:cNvSpPr txBox="1"/>
          <p:nvPr/>
        </p:nvSpPr>
        <p:spPr>
          <a:xfrm>
            <a:off x="6606862" y="347730"/>
            <a:ext cx="4103949" cy="7017306"/>
          </a:xfrm>
          <a:prstGeom prst="rect">
            <a:avLst/>
          </a:prstGeom>
          <a:noFill/>
        </p:spPr>
        <p:txBody>
          <a:bodyPr wrap="square" rtlCol="0">
            <a:spAutoFit/>
          </a:bodyPr>
          <a:lstStyle/>
          <a:p>
            <a:r>
              <a:rPr lang="en-US" dirty="0"/>
              <a:t># Repeating a list</a:t>
            </a:r>
          </a:p>
          <a:p>
            <a:r>
              <a:rPr lang="en-US" dirty="0" err="1"/>
              <a:t>repeated_list</a:t>
            </a:r>
            <a:r>
              <a:rPr lang="en-US" dirty="0"/>
              <a:t> = </a:t>
            </a:r>
            <a:r>
              <a:rPr lang="en-US" dirty="0" err="1"/>
              <a:t>my_list</a:t>
            </a:r>
            <a:r>
              <a:rPr lang="en-US" dirty="0"/>
              <a:t> * 2</a:t>
            </a:r>
          </a:p>
          <a:p>
            <a:r>
              <a:rPr lang="en-US" dirty="0"/>
              <a:t>print("List Repetition:", </a:t>
            </a:r>
            <a:r>
              <a:rPr lang="en-US" dirty="0" err="1"/>
              <a:t>repeated_list</a:t>
            </a:r>
            <a:r>
              <a:rPr lang="en-US" dirty="0"/>
              <a:t>)</a:t>
            </a:r>
          </a:p>
          <a:p>
            <a:r>
              <a:rPr lang="en-US" dirty="0"/>
              <a:t> </a:t>
            </a:r>
          </a:p>
          <a:p>
            <a:r>
              <a:rPr lang="en-US" dirty="0"/>
              <a:t># Appending an element to the end</a:t>
            </a:r>
          </a:p>
          <a:p>
            <a:r>
              <a:rPr lang="en-US" dirty="0" err="1"/>
              <a:t>my_list.append</a:t>
            </a:r>
            <a:r>
              <a:rPr lang="en-US" dirty="0"/>
              <a:t>('d')</a:t>
            </a:r>
          </a:p>
          <a:p>
            <a:r>
              <a:rPr lang="en-US" dirty="0"/>
              <a:t>print("After Appending:", </a:t>
            </a:r>
            <a:r>
              <a:rPr lang="en-US" dirty="0" err="1"/>
              <a:t>my_list</a:t>
            </a:r>
            <a:r>
              <a:rPr lang="en-US" dirty="0"/>
              <a:t>)</a:t>
            </a:r>
          </a:p>
          <a:p>
            <a:r>
              <a:rPr lang="en-US" dirty="0"/>
              <a:t> </a:t>
            </a:r>
          </a:p>
          <a:p>
            <a:r>
              <a:rPr lang="en-US" dirty="0"/>
              <a:t># Extending the list with another </a:t>
            </a:r>
            <a:r>
              <a:rPr lang="en-US" dirty="0" err="1"/>
              <a:t>iterable</a:t>
            </a:r>
            <a:endParaRPr lang="en-US" dirty="0"/>
          </a:p>
          <a:p>
            <a:r>
              <a:rPr lang="en-US" dirty="0" err="1"/>
              <a:t>my_list.extend</a:t>
            </a:r>
            <a:r>
              <a:rPr lang="en-US" dirty="0"/>
              <a:t>([7, 8, 9])</a:t>
            </a:r>
          </a:p>
          <a:p>
            <a:r>
              <a:rPr lang="en-US" dirty="0"/>
              <a:t>print("After Extending:", </a:t>
            </a:r>
            <a:r>
              <a:rPr lang="en-US" dirty="0" err="1"/>
              <a:t>my_list</a:t>
            </a:r>
            <a:r>
              <a:rPr lang="en-US" dirty="0"/>
              <a:t>)</a:t>
            </a:r>
          </a:p>
          <a:p>
            <a:r>
              <a:rPr lang="en-US" dirty="0"/>
              <a:t> </a:t>
            </a:r>
          </a:p>
          <a:p>
            <a:r>
              <a:rPr lang="en-US" dirty="0"/>
              <a:t># Inserting an element at a specific index</a:t>
            </a:r>
          </a:p>
          <a:p>
            <a:r>
              <a:rPr lang="en-US" dirty="0" err="1"/>
              <a:t>my_list.insert</a:t>
            </a:r>
            <a:r>
              <a:rPr lang="en-US" dirty="0"/>
              <a:t>(2, 'x')</a:t>
            </a:r>
          </a:p>
          <a:p>
            <a:r>
              <a:rPr lang="en-US" dirty="0"/>
              <a:t>print("After Inserting:", </a:t>
            </a:r>
            <a:r>
              <a:rPr lang="en-US" dirty="0" err="1"/>
              <a:t>my_list</a:t>
            </a:r>
            <a:r>
              <a:rPr lang="en-US" dirty="0"/>
              <a:t>)</a:t>
            </a:r>
          </a:p>
          <a:p>
            <a:endParaRPr lang="en-US" dirty="0"/>
          </a:p>
          <a:p>
            <a:r>
              <a:rPr lang="en-US" dirty="0"/>
              <a:t># Removing the last element and returning it</a:t>
            </a:r>
          </a:p>
          <a:p>
            <a:r>
              <a:rPr lang="en-US" dirty="0" err="1"/>
              <a:t>last_element</a:t>
            </a:r>
            <a:r>
              <a:rPr lang="en-US" dirty="0"/>
              <a:t> = </a:t>
            </a:r>
            <a:r>
              <a:rPr lang="en-US" dirty="0" err="1"/>
              <a:t>my_list.pop</a:t>
            </a:r>
            <a:r>
              <a:rPr lang="en-US" dirty="0"/>
              <a:t>()</a:t>
            </a:r>
          </a:p>
          <a:p>
            <a:r>
              <a:rPr lang="en-US" dirty="0"/>
              <a:t>print("Popped Element:", </a:t>
            </a:r>
            <a:r>
              <a:rPr lang="en-US" dirty="0" err="1"/>
              <a:t>last_element</a:t>
            </a:r>
            <a:r>
              <a:rPr lang="en-US" dirty="0"/>
              <a:t>)</a:t>
            </a:r>
          </a:p>
          <a:p>
            <a:r>
              <a:rPr lang="en-US" dirty="0"/>
              <a:t>print("After Popping Last Element:", </a:t>
            </a:r>
            <a:r>
              <a:rPr lang="en-US" dirty="0" err="1"/>
              <a:t>my_list</a:t>
            </a:r>
            <a:r>
              <a:rPr lang="en-US" dirty="0"/>
              <a:t>)</a:t>
            </a:r>
          </a:p>
          <a:p>
            <a:endParaRPr lang="en-US" dirty="0"/>
          </a:p>
          <a:p>
            <a:r>
              <a:rPr lang="en-US" dirty="0"/>
              <a:t> </a:t>
            </a:r>
          </a:p>
          <a:p>
            <a:endParaRPr lang="en-US" dirty="0"/>
          </a:p>
        </p:txBody>
      </p:sp>
    </p:spTree>
    <p:extLst>
      <p:ext uri="{BB962C8B-B14F-4D97-AF65-F5344CB8AC3E}">
        <p14:creationId xmlns:p14="http://schemas.microsoft.com/office/powerpoint/2010/main" val="120023605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721218" y="425003"/>
            <a:ext cx="4275786" cy="5751960"/>
          </a:xfrm>
        </p:spPr>
        <p:txBody>
          <a:bodyPr>
            <a:normAutofit fontScale="40000" lnSpcReduction="20000"/>
          </a:bodyPr>
          <a:lstStyle/>
          <a:p>
            <a:pPr marL="0" indent="0">
              <a:buNone/>
            </a:pPr>
            <a:r>
              <a:rPr lang="en-US" sz="4300" dirty="0"/>
              <a:t># Removing the element at a specific index</a:t>
            </a:r>
          </a:p>
          <a:p>
            <a:pPr marL="0" indent="0">
              <a:buNone/>
            </a:pPr>
            <a:r>
              <a:rPr lang="en-US" sz="4300" dirty="0" err="1"/>
              <a:t>removed_element</a:t>
            </a:r>
            <a:r>
              <a:rPr lang="en-US" sz="4300" dirty="0"/>
              <a:t> = </a:t>
            </a:r>
            <a:r>
              <a:rPr lang="en-US" sz="4300" dirty="0" err="1"/>
              <a:t>my_list.pop</a:t>
            </a:r>
            <a:r>
              <a:rPr lang="en-US" sz="4300" dirty="0"/>
              <a:t>(2)</a:t>
            </a:r>
          </a:p>
          <a:p>
            <a:pPr marL="0" indent="0">
              <a:buNone/>
            </a:pPr>
            <a:r>
              <a:rPr lang="en-US" sz="4300" dirty="0"/>
              <a:t>print("Removed Element at Index 2:", </a:t>
            </a:r>
            <a:r>
              <a:rPr lang="en-US" sz="4300" dirty="0" err="1"/>
              <a:t>removed_element</a:t>
            </a:r>
            <a:r>
              <a:rPr lang="en-US" sz="4300" dirty="0"/>
              <a:t>)</a:t>
            </a:r>
          </a:p>
          <a:p>
            <a:pPr marL="0" indent="0">
              <a:buNone/>
            </a:pPr>
            <a:r>
              <a:rPr lang="en-US" sz="4300" dirty="0"/>
              <a:t>print("After Removing Element at Index 2:", </a:t>
            </a:r>
            <a:r>
              <a:rPr lang="en-US" sz="4300" dirty="0" err="1"/>
              <a:t>my_list</a:t>
            </a:r>
            <a:r>
              <a:rPr lang="en-US" sz="4300" dirty="0"/>
              <a:t>)</a:t>
            </a:r>
          </a:p>
          <a:p>
            <a:pPr marL="0" indent="0">
              <a:buNone/>
            </a:pPr>
            <a:r>
              <a:rPr lang="en-US" sz="4300" dirty="0"/>
              <a:t> </a:t>
            </a:r>
          </a:p>
          <a:p>
            <a:pPr marL="0" indent="0">
              <a:buNone/>
            </a:pPr>
            <a:r>
              <a:rPr lang="en-US" sz="4300" dirty="0"/>
              <a:t># Removing the first occurrence of a value</a:t>
            </a:r>
          </a:p>
          <a:p>
            <a:pPr marL="0" indent="0">
              <a:buNone/>
            </a:pPr>
            <a:r>
              <a:rPr lang="en-US" sz="4300" dirty="0" err="1"/>
              <a:t>my_list.remove</a:t>
            </a:r>
            <a:r>
              <a:rPr lang="en-US" sz="4300" dirty="0"/>
              <a:t>('a')</a:t>
            </a:r>
          </a:p>
          <a:p>
            <a:pPr marL="0" indent="0">
              <a:buNone/>
            </a:pPr>
            <a:r>
              <a:rPr lang="en-US" sz="4300" dirty="0"/>
              <a:t>print("After Removing 'a':", </a:t>
            </a:r>
            <a:r>
              <a:rPr lang="en-US" sz="4300" dirty="0" err="1"/>
              <a:t>my_list</a:t>
            </a:r>
            <a:r>
              <a:rPr lang="en-US" sz="4300" dirty="0"/>
              <a:t>)</a:t>
            </a:r>
          </a:p>
          <a:p>
            <a:pPr marL="0" indent="0">
              <a:buNone/>
            </a:pPr>
            <a:r>
              <a:rPr lang="en-US" sz="4300" dirty="0"/>
              <a:t> </a:t>
            </a:r>
          </a:p>
          <a:p>
            <a:pPr marL="0" indent="0">
              <a:buNone/>
            </a:pPr>
            <a:r>
              <a:rPr lang="en-US" sz="4300" dirty="0"/>
              <a:t># Finding the index of a specified value</a:t>
            </a:r>
          </a:p>
          <a:p>
            <a:pPr marL="0" indent="0">
              <a:buNone/>
            </a:pPr>
            <a:r>
              <a:rPr lang="en-US" sz="4300" dirty="0" err="1"/>
              <a:t>index_b</a:t>
            </a:r>
            <a:r>
              <a:rPr lang="en-US" sz="4300" dirty="0"/>
              <a:t> = </a:t>
            </a:r>
            <a:r>
              <a:rPr lang="en-US" sz="4300" dirty="0" err="1"/>
              <a:t>my_list.index</a:t>
            </a:r>
            <a:r>
              <a:rPr lang="en-US" sz="4300" dirty="0"/>
              <a:t>('b')</a:t>
            </a:r>
          </a:p>
          <a:p>
            <a:pPr marL="0" indent="0">
              <a:buNone/>
            </a:pPr>
            <a:r>
              <a:rPr lang="en-US" sz="4300" dirty="0"/>
              <a:t>print("Index of 'b':", </a:t>
            </a:r>
            <a:r>
              <a:rPr lang="en-US" sz="4300" dirty="0" err="1"/>
              <a:t>index_b</a:t>
            </a:r>
            <a:r>
              <a:rPr lang="en-US" sz="4300" dirty="0"/>
              <a:t>)</a:t>
            </a:r>
          </a:p>
          <a:p>
            <a:pPr marL="0" indent="0">
              <a:buNone/>
            </a:pPr>
            <a:r>
              <a:rPr lang="en-US" sz="4300" dirty="0"/>
              <a:t> </a:t>
            </a:r>
          </a:p>
          <a:p>
            <a:pPr marL="0" indent="0">
              <a:buNone/>
            </a:pPr>
            <a:r>
              <a:rPr lang="en-US" sz="4300" dirty="0"/>
              <a:t># Checking if an element is in the list</a:t>
            </a:r>
          </a:p>
          <a:p>
            <a:pPr marL="0" indent="0">
              <a:buNone/>
            </a:pPr>
            <a:r>
              <a:rPr lang="en-US" sz="4300" dirty="0" err="1"/>
              <a:t>is_in_list</a:t>
            </a:r>
            <a:r>
              <a:rPr lang="en-US" sz="4300" dirty="0"/>
              <a:t> = 'a' in </a:t>
            </a:r>
            <a:r>
              <a:rPr lang="en-US" sz="4300" dirty="0" err="1"/>
              <a:t>my_list</a:t>
            </a:r>
            <a:endParaRPr lang="en-US" sz="4300" dirty="0"/>
          </a:p>
          <a:p>
            <a:pPr marL="0" indent="0">
              <a:buNone/>
            </a:pPr>
            <a:r>
              <a:rPr lang="en-US" sz="4300" dirty="0"/>
              <a:t>print("'a' in List:", </a:t>
            </a:r>
            <a:r>
              <a:rPr lang="en-US" sz="4300" dirty="0" err="1"/>
              <a:t>is_in_list</a:t>
            </a:r>
            <a:r>
              <a:rPr lang="en-US" sz="4300" dirty="0"/>
              <a:t>)</a:t>
            </a:r>
          </a:p>
          <a:p>
            <a:pPr marL="0" indent="0">
              <a:buNone/>
            </a:pPr>
            <a:r>
              <a:rPr lang="en-US" sz="4300" dirty="0"/>
              <a:t> </a:t>
            </a:r>
          </a:p>
        </p:txBody>
      </p:sp>
      <p:sp>
        <p:nvSpPr>
          <p:cNvPr id="6" name="TextBox 5"/>
          <p:cNvSpPr txBox="1"/>
          <p:nvPr/>
        </p:nvSpPr>
        <p:spPr>
          <a:xfrm>
            <a:off x="7250806" y="605307"/>
            <a:ext cx="4224270" cy="6186309"/>
          </a:xfrm>
          <a:prstGeom prst="rect">
            <a:avLst/>
          </a:prstGeom>
          <a:noFill/>
        </p:spPr>
        <p:txBody>
          <a:bodyPr wrap="square" rtlCol="0">
            <a:spAutoFit/>
          </a:bodyPr>
          <a:lstStyle/>
          <a:p>
            <a:r>
              <a:rPr lang="en-US" dirty="0"/>
              <a:t># Finding the length of a list</a:t>
            </a:r>
          </a:p>
          <a:p>
            <a:r>
              <a:rPr lang="en-US" dirty="0" err="1"/>
              <a:t>list_length</a:t>
            </a:r>
            <a:r>
              <a:rPr lang="en-US" dirty="0"/>
              <a:t> = </a:t>
            </a:r>
            <a:r>
              <a:rPr lang="en-US" dirty="0" err="1"/>
              <a:t>len</a:t>
            </a:r>
            <a:r>
              <a:rPr lang="en-US" dirty="0"/>
              <a:t>(</a:t>
            </a:r>
            <a:r>
              <a:rPr lang="en-US" dirty="0" err="1"/>
              <a:t>my_list</a:t>
            </a:r>
            <a:r>
              <a:rPr lang="en-US" dirty="0"/>
              <a:t>)</a:t>
            </a:r>
          </a:p>
          <a:p>
            <a:r>
              <a:rPr lang="en-US" dirty="0"/>
              <a:t>print("List Length:", </a:t>
            </a:r>
            <a:r>
              <a:rPr lang="en-US" dirty="0" err="1"/>
              <a:t>list_length</a:t>
            </a:r>
            <a:r>
              <a:rPr lang="en-US" dirty="0"/>
              <a:t>)</a:t>
            </a:r>
          </a:p>
          <a:p>
            <a:endParaRPr lang="en-US" dirty="0"/>
          </a:p>
          <a:p>
            <a:r>
              <a:rPr lang="en-US" dirty="0"/>
              <a:t># Iterating over elements in a list</a:t>
            </a:r>
          </a:p>
          <a:p>
            <a:r>
              <a:rPr lang="en-US" dirty="0"/>
              <a:t>print("Iterating Over Elements:")</a:t>
            </a:r>
          </a:p>
          <a:p>
            <a:r>
              <a:rPr lang="en-US" dirty="0"/>
              <a:t>for item in </a:t>
            </a:r>
            <a:r>
              <a:rPr lang="en-US" dirty="0" err="1"/>
              <a:t>my_list</a:t>
            </a:r>
            <a:r>
              <a:rPr lang="en-US" dirty="0"/>
              <a:t>:</a:t>
            </a:r>
          </a:p>
          <a:p>
            <a:r>
              <a:rPr lang="en-US" dirty="0"/>
              <a:t>    print(item)</a:t>
            </a:r>
          </a:p>
          <a:p>
            <a:r>
              <a:rPr lang="en-US" dirty="0"/>
              <a:t> </a:t>
            </a:r>
          </a:p>
          <a:p>
            <a:r>
              <a:rPr lang="en-US" dirty="0"/>
              <a:t># List methods</a:t>
            </a:r>
          </a:p>
          <a:p>
            <a:r>
              <a:rPr lang="en-US" dirty="0" err="1"/>
              <a:t>count_a</a:t>
            </a:r>
            <a:r>
              <a:rPr lang="en-US" dirty="0"/>
              <a:t> = </a:t>
            </a:r>
            <a:r>
              <a:rPr lang="en-US" dirty="0" err="1"/>
              <a:t>my_list.count</a:t>
            </a:r>
            <a:r>
              <a:rPr lang="en-US" dirty="0"/>
              <a:t>('a')</a:t>
            </a:r>
          </a:p>
          <a:p>
            <a:r>
              <a:rPr lang="en-US" dirty="0"/>
              <a:t>print("Count of 'a':", </a:t>
            </a:r>
            <a:r>
              <a:rPr lang="en-US" dirty="0" err="1"/>
              <a:t>count_a</a:t>
            </a:r>
            <a:r>
              <a:rPr lang="en-US" dirty="0"/>
              <a:t>)</a:t>
            </a:r>
          </a:p>
          <a:p>
            <a:r>
              <a:rPr lang="en-US" dirty="0"/>
              <a:t> </a:t>
            </a:r>
          </a:p>
          <a:p>
            <a:r>
              <a:rPr lang="en-US" dirty="0"/>
              <a:t># Reversing the order of elements in the list</a:t>
            </a:r>
          </a:p>
          <a:p>
            <a:r>
              <a:rPr lang="en-US" dirty="0" err="1"/>
              <a:t>my_list.reverse</a:t>
            </a:r>
            <a:r>
              <a:rPr lang="en-US" dirty="0"/>
              <a:t>()</a:t>
            </a:r>
          </a:p>
          <a:p>
            <a:r>
              <a:rPr lang="en-US" dirty="0"/>
              <a:t>print("After Reversing:", </a:t>
            </a:r>
            <a:r>
              <a:rPr lang="en-US" dirty="0" err="1"/>
              <a:t>my_list</a:t>
            </a:r>
            <a:r>
              <a:rPr lang="en-US" dirty="0"/>
              <a:t>)</a:t>
            </a:r>
          </a:p>
          <a:p>
            <a:r>
              <a:rPr lang="en-US" dirty="0"/>
              <a:t> </a:t>
            </a:r>
          </a:p>
          <a:p>
            <a:r>
              <a:rPr lang="en-US" dirty="0"/>
              <a:t># Sorting the elements of a list</a:t>
            </a:r>
          </a:p>
          <a:p>
            <a:r>
              <a:rPr lang="en-US" dirty="0" err="1"/>
              <a:t>my_list.sort</a:t>
            </a:r>
            <a:r>
              <a:rPr lang="en-US" dirty="0"/>
              <a:t>()</a:t>
            </a:r>
          </a:p>
          <a:p>
            <a:r>
              <a:rPr lang="en-US" dirty="0"/>
              <a:t>print("After Sorting:", </a:t>
            </a:r>
            <a:r>
              <a:rPr lang="en-US" dirty="0" err="1"/>
              <a:t>my_list</a:t>
            </a:r>
            <a:r>
              <a:rPr lang="en-US" dirty="0"/>
              <a:t>)</a:t>
            </a:r>
          </a:p>
          <a:p>
            <a:endParaRPr lang="en-US" dirty="0"/>
          </a:p>
        </p:txBody>
      </p:sp>
    </p:spTree>
    <p:extLst>
      <p:ext uri="{BB962C8B-B14F-4D97-AF65-F5344CB8AC3E}">
        <p14:creationId xmlns:p14="http://schemas.microsoft.com/office/powerpoint/2010/main" val="165299596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850006" y="809037"/>
            <a:ext cx="10503794" cy="5367925"/>
          </a:xfrm>
        </p:spPr>
        <p:txBody>
          <a:bodyPr/>
          <a:lstStyle/>
          <a:p>
            <a:pPr marL="0" indent="0">
              <a:buNone/>
            </a:pPr>
            <a:endParaRPr lang="en-US" dirty="0"/>
          </a:p>
          <a:p>
            <a:pPr algn="just"/>
            <a:r>
              <a:rPr lang="en-US" dirty="0"/>
              <a:t>Python tuples are a type of data structure that is very similar to lists. The tuples are immutable, meaning they cannot be changed once they are created. This makes them ideal for storing data that should not be modified.</a:t>
            </a:r>
          </a:p>
          <a:p>
            <a:pPr algn="just"/>
            <a:r>
              <a:rPr lang="en-US" dirty="0"/>
              <a:t>A tuple can have any number of items, which may be of different types, such as a string, integer, float, list, etc. Let's explore ways to create and use a tuple to make our programming tasks easier.</a:t>
            </a:r>
          </a:p>
          <a:p>
            <a:pPr algn="just"/>
            <a:r>
              <a:rPr lang="en-US" dirty="0"/>
              <a:t>A tuple in Python is an ordered, immutable collection of elements. Once a tuple is created, you cannot modify its elements, and it is defined using parentheses ().</a:t>
            </a:r>
          </a:p>
        </p:txBody>
      </p:sp>
      <p:sp>
        <p:nvSpPr>
          <p:cNvPr id="8" name="Title 3">
            <a:extLst>
              <a:ext uri="{FF2B5EF4-FFF2-40B4-BE49-F238E27FC236}">
                <a16:creationId xmlns:a16="http://schemas.microsoft.com/office/drawing/2014/main" id="{6AF1A31C-305B-8B99-2614-E443CD2AFB3B}"/>
              </a:ext>
            </a:extLst>
          </p:cNvPr>
          <p:cNvSpPr>
            <a:spLocks noGrp="1"/>
          </p:cNvSpPr>
          <p:nvPr>
            <p:ph type="title"/>
          </p:nvPr>
        </p:nvSpPr>
        <p:spPr>
          <a:xfrm>
            <a:off x="838200" y="587081"/>
            <a:ext cx="10515600" cy="443912"/>
          </a:xfrm>
        </p:spPr>
        <p:txBody>
          <a:bodyPr>
            <a:normAutofit fontScale="90000"/>
          </a:bodyPr>
          <a:lstStyle/>
          <a:p>
            <a:r>
              <a:rPr lang="en-US" sz="4000" b="1" dirty="0"/>
              <a:t>Tuples &amp; its Operations</a:t>
            </a:r>
          </a:p>
        </p:txBody>
      </p:sp>
    </p:spTree>
    <p:extLst>
      <p:ext uri="{BB962C8B-B14F-4D97-AF65-F5344CB8AC3E}">
        <p14:creationId xmlns:p14="http://schemas.microsoft.com/office/powerpoint/2010/main" val="2115004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862884" y="450761"/>
            <a:ext cx="4198513" cy="5074276"/>
          </a:xfrm>
        </p:spPr>
        <p:txBody>
          <a:bodyPr>
            <a:normAutofit fontScale="62500" lnSpcReduction="20000"/>
          </a:bodyPr>
          <a:lstStyle/>
          <a:p>
            <a:pPr marL="0" indent="0">
              <a:buNone/>
            </a:pPr>
            <a:r>
              <a:rPr lang="en-US" dirty="0"/>
              <a:t>Program on tuple operation</a:t>
            </a:r>
          </a:p>
          <a:p>
            <a:pPr marL="0" indent="0">
              <a:buNone/>
            </a:pPr>
            <a:r>
              <a:rPr lang="en-US" dirty="0"/>
              <a:t># Creating a tuple</a:t>
            </a:r>
          </a:p>
          <a:p>
            <a:pPr marL="0" indent="0">
              <a:buNone/>
            </a:pPr>
            <a:r>
              <a:rPr lang="en-US" dirty="0" err="1"/>
              <a:t>my_tuple</a:t>
            </a:r>
            <a:r>
              <a:rPr lang="en-US" dirty="0"/>
              <a:t> = (1, 2, 3, 'a', 'b', 'c')</a:t>
            </a:r>
          </a:p>
          <a:p>
            <a:pPr marL="0" indent="0">
              <a:buNone/>
            </a:pPr>
            <a:r>
              <a:rPr lang="en-US" dirty="0"/>
              <a:t> </a:t>
            </a:r>
          </a:p>
          <a:p>
            <a:pPr marL="0" indent="0">
              <a:buNone/>
            </a:pPr>
            <a:r>
              <a:rPr lang="en-US" dirty="0"/>
              <a:t># Accessing elements</a:t>
            </a:r>
          </a:p>
          <a:p>
            <a:pPr marL="0" indent="0">
              <a:buNone/>
            </a:pPr>
            <a:r>
              <a:rPr lang="en-US" dirty="0"/>
              <a:t>element = </a:t>
            </a:r>
            <a:r>
              <a:rPr lang="en-US" dirty="0" err="1"/>
              <a:t>my_tuple</a:t>
            </a:r>
            <a:r>
              <a:rPr lang="en-US" dirty="0"/>
              <a:t>[2]</a:t>
            </a:r>
          </a:p>
          <a:p>
            <a:pPr marL="0" indent="0">
              <a:buNone/>
            </a:pPr>
            <a:r>
              <a:rPr lang="en-US" dirty="0"/>
              <a:t>print("Accessing elements:", element)</a:t>
            </a:r>
          </a:p>
          <a:p>
            <a:pPr marL="0" indent="0">
              <a:buNone/>
            </a:pPr>
            <a:r>
              <a:rPr lang="en-US" dirty="0"/>
              <a:t> </a:t>
            </a:r>
          </a:p>
          <a:p>
            <a:pPr marL="0" indent="0">
              <a:buNone/>
            </a:pPr>
            <a:r>
              <a:rPr lang="en-US" dirty="0"/>
              <a:t># Slicing</a:t>
            </a:r>
          </a:p>
          <a:p>
            <a:pPr marL="0" indent="0">
              <a:buNone/>
            </a:pPr>
            <a:r>
              <a:rPr lang="en-US" dirty="0" err="1"/>
              <a:t>subset_tuple</a:t>
            </a:r>
            <a:r>
              <a:rPr lang="en-US" dirty="0"/>
              <a:t> = </a:t>
            </a:r>
            <a:r>
              <a:rPr lang="en-US" dirty="0" err="1"/>
              <a:t>my_tuple</a:t>
            </a:r>
            <a:r>
              <a:rPr lang="en-US" dirty="0"/>
              <a:t>[1:4]</a:t>
            </a:r>
          </a:p>
          <a:p>
            <a:pPr marL="0" indent="0">
              <a:buNone/>
            </a:pPr>
            <a:r>
              <a:rPr lang="en-US" dirty="0"/>
              <a:t>print("Slicing a tuple:", </a:t>
            </a:r>
            <a:r>
              <a:rPr lang="en-US" dirty="0" err="1"/>
              <a:t>subset_tuple</a:t>
            </a:r>
            <a:endParaRPr lang="en-US" dirty="0"/>
          </a:p>
          <a:p>
            <a:pPr marL="0" indent="0">
              <a:buNone/>
            </a:pPr>
            <a:endParaRPr lang="en-US" dirty="0"/>
          </a:p>
          <a:p>
            <a:pPr marL="0" indent="0">
              <a:buNone/>
            </a:pPr>
            <a:r>
              <a:rPr lang="en-US" dirty="0"/>
              <a:t># Concatenating tuples</a:t>
            </a:r>
          </a:p>
          <a:p>
            <a:pPr marL="0" indent="0">
              <a:buNone/>
            </a:pPr>
            <a:r>
              <a:rPr lang="en-US" dirty="0" err="1"/>
              <a:t>new_tuple</a:t>
            </a:r>
            <a:r>
              <a:rPr lang="en-US" dirty="0"/>
              <a:t> = </a:t>
            </a:r>
            <a:r>
              <a:rPr lang="en-US" dirty="0" err="1"/>
              <a:t>my_tuple</a:t>
            </a:r>
            <a:r>
              <a:rPr lang="en-US" dirty="0"/>
              <a:t> + (4, 5, 6)</a:t>
            </a:r>
          </a:p>
          <a:p>
            <a:pPr marL="0" indent="0">
              <a:buNone/>
            </a:pPr>
            <a:r>
              <a:rPr lang="en-US" dirty="0"/>
              <a:t>print("Tuple Concatenation:", </a:t>
            </a:r>
            <a:r>
              <a:rPr lang="en-US" dirty="0" err="1"/>
              <a:t>new_tuple</a:t>
            </a:r>
            <a:r>
              <a:rPr lang="en-US" dirty="0"/>
              <a:t>)</a:t>
            </a:r>
          </a:p>
          <a:p>
            <a:pPr marL="0" indent="0">
              <a:buNone/>
            </a:pPr>
            <a:endParaRPr lang="en-US" dirty="0"/>
          </a:p>
        </p:txBody>
      </p:sp>
      <p:sp>
        <p:nvSpPr>
          <p:cNvPr id="6" name="TextBox 5"/>
          <p:cNvSpPr txBox="1"/>
          <p:nvPr/>
        </p:nvSpPr>
        <p:spPr>
          <a:xfrm>
            <a:off x="5746283" y="450761"/>
            <a:ext cx="4698483" cy="5355312"/>
          </a:xfrm>
          <a:prstGeom prst="rect">
            <a:avLst/>
          </a:prstGeom>
          <a:noFill/>
        </p:spPr>
        <p:txBody>
          <a:bodyPr wrap="square" rtlCol="0">
            <a:spAutoFit/>
          </a:bodyPr>
          <a:lstStyle/>
          <a:p>
            <a:r>
              <a:rPr lang="en-US" dirty="0"/>
              <a:t># Repeating a tuple</a:t>
            </a:r>
          </a:p>
          <a:p>
            <a:r>
              <a:rPr lang="en-US" dirty="0" err="1"/>
              <a:t>repeated_tuple</a:t>
            </a:r>
            <a:r>
              <a:rPr lang="en-US" dirty="0"/>
              <a:t> = </a:t>
            </a:r>
            <a:r>
              <a:rPr lang="en-US" dirty="0" err="1"/>
              <a:t>my_tuple</a:t>
            </a:r>
            <a:r>
              <a:rPr lang="en-US" dirty="0"/>
              <a:t> * 2</a:t>
            </a:r>
          </a:p>
          <a:p>
            <a:r>
              <a:rPr lang="en-US" dirty="0"/>
              <a:t>print("Tuple Repetition:", </a:t>
            </a:r>
            <a:r>
              <a:rPr lang="en-US" dirty="0" err="1"/>
              <a:t>repeated_tuple</a:t>
            </a:r>
            <a:r>
              <a:rPr lang="en-US" dirty="0"/>
              <a:t>)</a:t>
            </a:r>
          </a:p>
          <a:p>
            <a:r>
              <a:rPr lang="en-US" dirty="0"/>
              <a:t> </a:t>
            </a:r>
          </a:p>
          <a:p>
            <a:r>
              <a:rPr lang="en-US" dirty="0"/>
              <a:t># Finding the length of a tuple</a:t>
            </a:r>
          </a:p>
          <a:p>
            <a:r>
              <a:rPr lang="en-US" dirty="0" err="1"/>
              <a:t>tuple_length</a:t>
            </a:r>
            <a:r>
              <a:rPr lang="en-US" dirty="0"/>
              <a:t> = </a:t>
            </a:r>
            <a:r>
              <a:rPr lang="en-US" dirty="0" err="1"/>
              <a:t>len</a:t>
            </a:r>
            <a:r>
              <a:rPr lang="en-US" dirty="0"/>
              <a:t>(</a:t>
            </a:r>
            <a:r>
              <a:rPr lang="en-US" dirty="0" err="1"/>
              <a:t>my_tuple</a:t>
            </a:r>
            <a:r>
              <a:rPr lang="en-US" dirty="0"/>
              <a:t>)</a:t>
            </a:r>
          </a:p>
          <a:p>
            <a:r>
              <a:rPr lang="en-US" dirty="0"/>
              <a:t>print("Tuple Length:", </a:t>
            </a:r>
            <a:r>
              <a:rPr lang="en-US" dirty="0" err="1"/>
              <a:t>tuple_length</a:t>
            </a:r>
            <a:r>
              <a:rPr lang="en-US" dirty="0"/>
              <a:t>)</a:t>
            </a:r>
          </a:p>
          <a:p>
            <a:r>
              <a:rPr lang="en-US" dirty="0"/>
              <a:t> </a:t>
            </a:r>
          </a:p>
          <a:p>
            <a:r>
              <a:rPr lang="en-US" dirty="0"/>
              <a:t># Checking if an element is in the tuple</a:t>
            </a:r>
          </a:p>
          <a:p>
            <a:r>
              <a:rPr lang="en-US" dirty="0" err="1"/>
              <a:t>is_in_tuple</a:t>
            </a:r>
            <a:r>
              <a:rPr lang="en-US" dirty="0"/>
              <a:t> = 'a' in </a:t>
            </a:r>
            <a:r>
              <a:rPr lang="en-US" dirty="0" err="1"/>
              <a:t>my_tuple</a:t>
            </a:r>
            <a:endParaRPr lang="en-US" dirty="0"/>
          </a:p>
          <a:p>
            <a:r>
              <a:rPr lang="en-US" dirty="0"/>
              <a:t>print("'a' in Tuple:", </a:t>
            </a:r>
            <a:r>
              <a:rPr lang="en-US" dirty="0" err="1"/>
              <a:t>is_in_tuple</a:t>
            </a:r>
            <a:r>
              <a:rPr lang="en-US" dirty="0"/>
              <a:t>)</a:t>
            </a:r>
          </a:p>
          <a:p>
            <a:r>
              <a:rPr lang="en-US" dirty="0"/>
              <a:t> </a:t>
            </a:r>
          </a:p>
          <a:p>
            <a:r>
              <a:rPr lang="en-US" dirty="0"/>
              <a:t># Iterating over elements in a tuple</a:t>
            </a:r>
          </a:p>
          <a:p>
            <a:r>
              <a:rPr lang="en-US" dirty="0"/>
              <a:t>print("Iterating Over Elements:")</a:t>
            </a:r>
          </a:p>
          <a:p>
            <a:endParaRPr lang="en-US" dirty="0"/>
          </a:p>
          <a:p>
            <a:r>
              <a:rPr lang="en-US" dirty="0"/>
              <a:t>for item in </a:t>
            </a:r>
            <a:r>
              <a:rPr lang="en-US" dirty="0" err="1"/>
              <a:t>my_tuple</a:t>
            </a:r>
            <a:r>
              <a:rPr lang="en-US" dirty="0"/>
              <a:t>:</a:t>
            </a:r>
          </a:p>
          <a:p>
            <a:r>
              <a:rPr lang="en-US" dirty="0"/>
              <a:t>    print(item)</a:t>
            </a:r>
          </a:p>
          <a:p>
            <a:endParaRPr lang="en-US" dirty="0"/>
          </a:p>
          <a:p>
            <a:endParaRPr lang="en-US" dirty="0"/>
          </a:p>
        </p:txBody>
      </p:sp>
    </p:spTree>
    <p:extLst>
      <p:ext uri="{BB962C8B-B14F-4D97-AF65-F5344CB8AC3E}">
        <p14:creationId xmlns:p14="http://schemas.microsoft.com/office/powerpoint/2010/main" val="89736553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194075" y="540913"/>
            <a:ext cx="4880201" cy="5636050"/>
          </a:xfrm>
        </p:spPr>
        <p:txBody>
          <a:bodyPr>
            <a:normAutofit/>
          </a:bodyPr>
          <a:lstStyle/>
          <a:p>
            <a:pPr marL="0" indent="0">
              <a:buNone/>
            </a:pPr>
            <a:r>
              <a:rPr lang="en-US" sz="2000" dirty="0"/>
              <a:t># Unpacking a tuple</a:t>
            </a:r>
          </a:p>
          <a:p>
            <a:pPr marL="0" indent="0">
              <a:buNone/>
            </a:pPr>
            <a:r>
              <a:rPr lang="en-US" sz="2000" dirty="0"/>
              <a:t>first, second, third = </a:t>
            </a:r>
            <a:r>
              <a:rPr lang="en-US" sz="2000" dirty="0" err="1"/>
              <a:t>my_tuple</a:t>
            </a:r>
            <a:r>
              <a:rPr lang="en-US" sz="2000" dirty="0"/>
              <a:t>[:3]</a:t>
            </a:r>
          </a:p>
          <a:p>
            <a:pPr marL="0" indent="0">
              <a:buNone/>
            </a:pPr>
            <a:r>
              <a:rPr lang="en-US" sz="2000" dirty="0"/>
              <a:t>print("Unpacking Tuple:", first, second, third)</a:t>
            </a:r>
          </a:p>
          <a:p>
            <a:pPr marL="0" indent="0">
              <a:buNone/>
            </a:pPr>
            <a:r>
              <a:rPr lang="en-US" sz="2000" dirty="0"/>
              <a:t> </a:t>
            </a:r>
          </a:p>
          <a:p>
            <a:pPr marL="0" indent="0">
              <a:buNone/>
            </a:pPr>
            <a:r>
              <a:rPr lang="en-US" sz="2000" dirty="0"/>
              <a:t># Tuple methods</a:t>
            </a:r>
          </a:p>
          <a:p>
            <a:pPr marL="0" indent="0">
              <a:buNone/>
            </a:pPr>
            <a:r>
              <a:rPr lang="en-US" sz="2000" dirty="0" err="1"/>
              <a:t>count_a</a:t>
            </a:r>
            <a:r>
              <a:rPr lang="en-US" sz="2000" dirty="0"/>
              <a:t> = </a:t>
            </a:r>
            <a:r>
              <a:rPr lang="en-US" sz="2000" dirty="0" err="1"/>
              <a:t>my_tuple.count</a:t>
            </a:r>
            <a:r>
              <a:rPr lang="en-US" sz="2000" dirty="0"/>
              <a:t>('a')</a:t>
            </a:r>
          </a:p>
          <a:p>
            <a:pPr marL="0" indent="0">
              <a:buNone/>
            </a:pPr>
            <a:r>
              <a:rPr lang="en-US" sz="2000" dirty="0"/>
              <a:t>print("Count of 'a':", </a:t>
            </a:r>
            <a:r>
              <a:rPr lang="en-US" sz="2000" dirty="0" err="1"/>
              <a:t>count_a</a:t>
            </a:r>
            <a:r>
              <a:rPr lang="en-US" sz="2000" dirty="0"/>
              <a:t>)</a:t>
            </a:r>
          </a:p>
          <a:p>
            <a:pPr marL="0" indent="0">
              <a:buNone/>
            </a:pPr>
            <a:r>
              <a:rPr lang="en-US" sz="2000" dirty="0"/>
              <a:t> </a:t>
            </a:r>
          </a:p>
          <a:p>
            <a:pPr marL="0" indent="0">
              <a:buNone/>
            </a:pPr>
            <a:r>
              <a:rPr lang="en-US" sz="2000" dirty="0" err="1"/>
              <a:t>index_b</a:t>
            </a:r>
            <a:r>
              <a:rPr lang="en-US" sz="2000" dirty="0"/>
              <a:t> = </a:t>
            </a:r>
            <a:r>
              <a:rPr lang="en-US" sz="2000" dirty="0" err="1"/>
              <a:t>my_tuple.index</a:t>
            </a:r>
            <a:r>
              <a:rPr lang="en-US" sz="2000" dirty="0"/>
              <a:t>('b')</a:t>
            </a:r>
          </a:p>
          <a:p>
            <a:pPr marL="0" indent="0">
              <a:buNone/>
            </a:pPr>
            <a:r>
              <a:rPr lang="en-US" sz="2000" dirty="0"/>
              <a:t>print("Index of 'b':", </a:t>
            </a:r>
            <a:r>
              <a:rPr lang="en-US" sz="2000" dirty="0" err="1"/>
              <a:t>index_b</a:t>
            </a:r>
            <a:r>
              <a:rPr lang="en-US" sz="2000" dirty="0"/>
              <a:t>)</a:t>
            </a:r>
          </a:p>
          <a:p>
            <a:pPr marL="0" indent="0">
              <a:buNone/>
            </a:pPr>
            <a:endParaRPr lang="en-US" sz="2000" dirty="0"/>
          </a:p>
        </p:txBody>
      </p:sp>
      <p:pic>
        <p:nvPicPr>
          <p:cNvPr id="4" name="Picture 3"/>
          <p:cNvPicPr>
            <a:picLocks noChangeAspect="1"/>
          </p:cNvPicPr>
          <p:nvPr/>
        </p:nvPicPr>
        <p:blipFill>
          <a:blip r:embed="rId4"/>
          <a:stretch>
            <a:fillRect/>
          </a:stretch>
        </p:blipFill>
        <p:spPr>
          <a:xfrm>
            <a:off x="3580328" y="1815937"/>
            <a:ext cx="8448540" cy="4629150"/>
          </a:xfrm>
          <a:prstGeom prst="rect">
            <a:avLst/>
          </a:prstGeom>
        </p:spPr>
      </p:pic>
    </p:spTree>
    <p:extLst>
      <p:ext uri="{BB962C8B-B14F-4D97-AF65-F5344CB8AC3E}">
        <p14:creationId xmlns:p14="http://schemas.microsoft.com/office/powerpoint/2010/main" val="215086132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4" name="Title 3">
            <a:extLst>
              <a:ext uri="{FF2B5EF4-FFF2-40B4-BE49-F238E27FC236}">
                <a16:creationId xmlns:a16="http://schemas.microsoft.com/office/drawing/2014/main" id="{6AF1A31C-305B-8B99-2614-E443CD2AFB3B}"/>
              </a:ext>
            </a:extLst>
          </p:cNvPr>
          <p:cNvSpPr>
            <a:spLocks noGrp="1"/>
          </p:cNvSpPr>
          <p:nvPr>
            <p:ph type="title"/>
          </p:nvPr>
        </p:nvSpPr>
        <p:spPr>
          <a:xfrm>
            <a:off x="838200" y="365126"/>
            <a:ext cx="10515600" cy="443912"/>
          </a:xfrm>
        </p:spPr>
        <p:txBody>
          <a:bodyPr>
            <a:normAutofit fontScale="90000"/>
          </a:bodyPr>
          <a:lstStyle/>
          <a:p>
            <a:r>
              <a:rPr lang="en-US" sz="4000" dirty="0"/>
              <a:t>Dictionaries &amp; its operations</a:t>
            </a:r>
          </a:p>
        </p:txBody>
      </p:sp>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838200" y="1067338"/>
            <a:ext cx="10515600" cy="5109625"/>
          </a:xfrm>
        </p:spPr>
        <p:txBody>
          <a:bodyPr>
            <a:normAutofit lnSpcReduction="10000"/>
          </a:bodyPr>
          <a:lstStyle/>
          <a:p>
            <a:pPr algn="just"/>
            <a:r>
              <a:rPr lang="en-US" dirty="0"/>
              <a:t>Dictionaries in Python are a built-in data type used to store collections of data in a key-value pair format. In Python, dictionaries are mutable, unordered, and indexed collections. </a:t>
            </a:r>
          </a:p>
          <a:p>
            <a:pPr algn="just"/>
            <a:r>
              <a:rPr lang="en-US" dirty="0"/>
              <a:t>Each element in a dictionary is represented as a key-value pair, where the key is unique and the value can be of any data type such as integers, strings, lists, or even another dictionary. </a:t>
            </a:r>
          </a:p>
          <a:p>
            <a:pPr algn="just"/>
            <a:r>
              <a:rPr lang="en-US" dirty="0"/>
              <a:t>Dictionaries are widely used in Python programming for tasks such as storing and retrieving data efficiently.</a:t>
            </a:r>
          </a:p>
          <a:p>
            <a:r>
              <a:rPr lang="en-US" dirty="0"/>
              <a:t>You can create a dictionary using curly braces {} and separating key-value pairs with colons :</a:t>
            </a:r>
          </a:p>
          <a:p>
            <a:r>
              <a:rPr lang="en-US" dirty="0"/>
              <a:t>Example</a:t>
            </a:r>
          </a:p>
          <a:p>
            <a:pPr marL="0" indent="0">
              <a:buNone/>
            </a:pPr>
            <a:r>
              <a:rPr lang="en-US" dirty="0" err="1"/>
              <a:t>my_dict</a:t>
            </a:r>
            <a:r>
              <a:rPr lang="en-US" dirty="0"/>
              <a:t> = {'key1': 'value1', 'key2': 'value2', 'key3': 'value3'}</a:t>
            </a:r>
          </a:p>
          <a:p>
            <a:pPr marL="0" indent="0">
              <a:buNone/>
            </a:pPr>
            <a:endParaRPr lang="en-US" dirty="0"/>
          </a:p>
        </p:txBody>
      </p:sp>
    </p:spTree>
    <p:extLst>
      <p:ext uri="{BB962C8B-B14F-4D97-AF65-F5344CB8AC3E}">
        <p14:creationId xmlns:p14="http://schemas.microsoft.com/office/powerpoint/2010/main" val="35056323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965914" y="540913"/>
            <a:ext cx="10387885" cy="5636050"/>
          </a:xfrm>
        </p:spPr>
        <p:txBody>
          <a:bodyPr>
            <a:normAutofit fontScale="85000" lnSpcReduction="20000"/>
          </a:bodyPr>
          <a:lstStyle/>
          <a:p>
            <a:pPr marL="0" indent="0">
              <a:buNone/>
            </a:pPr>
            <a:r>
              <a:rPr lang="en-US" dirty="0"/>
              <a:t>Python program that demonstrates the use of pop(), </a:t>
            </a:r>
            <a:r>
              <a:rPr lang="en-US" dirty="0" err="1"/>
              <a:t>popitem</a:t>
            </a:r>
            <a:r>
              <a:rPr lang="en-US" dirty="0"/>
              <a:t>(), clear(), and del operations in dictionaries:</a:t>
            </a:r>
          </a:p>
          <a:p>
            <a:pPr marL="0" indent="0">
              <a:buNone/>
            </a:pPr>
            <a:r>
              <a:rPr lang="en-US" dirty="0"/>
              <a:t># Dictionary Initialization</a:t>
            </a:r>
          </a:p>
          <a:p>
            <a:pPr marL="0" indent="0">
              <a:buNone/>
            </a:pPr>
            <a:r>
              <a:rPr lang="en-US" dirty="0" err="1"/>
              <a:t>my_dict</a:t>
            </a:r>
            <a:r>
              <a:rPr lang="en-US" dirty="0"/>
              <a:t> = {'name': 'John', 'age': 25, 'city': ‘Bangalore', 'occupation': 'Engineer'}</a:t>
            </a:r>
          </a:p>
          <a:p>
            <a:pPr marL="0" indent="0">
              <a:buNone/>
            </a:pPr>
            <a:endParaRPr lang="en-US" dirty="0"/>
          </a:p>
          <a:p>
            <a:pPr marL="0" indent="0">
              <a:buNone/>
            </a:pPr>
            <a:r>
              <a:rPr lang="en-US" dirty="0"/>
              <a:t># Using pop() to remove a specific key-value pair</a:t>
            </a:r>
          </a:p>
          <a:p>
            <a:pPr marL="0" indent="0">
              <a:buNone/>
            </a:pPr>
            <a:r>
              <a:rPr lang="en-US" dirty="0" err="1"/>
              <a:t>removed_age</a:t>
            </a:r>
            <a:r>
              <a:rPr lang="en-US" dirty="0"/>
              <a:t> = </a:t>
            </a:r>
            <a:r>
              <a:rPr lang="en-US" dirty="0" err="1"/>
              <a:t>my_dict.pop</a:t>
            </a:r>
            <a:r>
              <a:rPr lang="en-US" dirty="0"/>
              <a:t>('age')</a:t>
            </a:r>
          </a:p>
          <a:p>
            <a:pPr marL="0" indent="0">
              <a:buNone/>
            </a:pPr>
            <a:r>
              <a:rPr lang="en-US" dirty="0"/>
              <a:t>print("After using pop('age'):", </a:t>
            </a:r>
            <a:r>
              <a:rPr lang="en-US" dirty="0" err="1"/>
              <a:t>my_dict</a:t>
            </a:r>
            <a:r>
              <a:rPr lang="en-US" dirty="0"/>
              <a:t>)</a:t>
            </a:r>
          </a:p>
          <a:p>
            <a:pPr marL="0" indent="0">
              <a:buNone/>
            </a:pPr>
            <a:r>
              <a:rPr lang="en-US" dirty="0"/>
              <a:t>print("Removed age:", </a:t>
            </a:r>
            <a:r>
              <a:rPr lang="en-US" dirty="0" err="1"/>
              <a:t>removed_age</a:t>
            </a:r>
            <a:r>
              <a:rPr lang="en-US" dirty="0"/>
              <a:t>)</a:t>
            </a:r>
          </a:p>
          <a:p>
            <a:pPr marL="0" indent="0">
              <a:buNone/>
            </a:pPr>
            <a:endParaRPr lang="en-US" dirty="0"/>
          </a:p>
          <a:p>
            <a:pPr marL="0" indent="0">
              <a:buNone/>
            </a:pPr>
            <a:r>
              <a:rPr lang="en-US" dirty="0"/>
              <a:t># Using </a:t>
            </a:r>
            <a:r>
              <a:rPr lang="en-US" dirty="0" err="1"/>
              <a:t>popitem</a:t>
            </a:r>
            <a:r>
              <a:rPr lang="en-US" dirty="0"/>
              <a:t>() to remove and return the last key-value pair</a:t>
            </a:r>
          </a:p>
          <a:p>
            <a:pPr marL="0" indent="0">
              <a:buNone/>
            </a:pPr>
            <a:r>
              <a:rPr lang="en-US" dirty="0" err="1"/>
              <a:t>removed_item</a:t>
            </a:r>
            <a:r>
              <a:rPr lang="en-US" dirty="0"/>
              <a:t> = </a:t>
            </a:r>
            <a:r>
              <a:rPr lang="en-US" dirty="0" err="1"/>
              <a:t>my_dict.popitem</a:t>
            </a:r>
            <a:r>
              <a:rPr lang="en-US" dirty="0"/>
              <a:t>()</a:t>
            </a:r>
          </a:p>
          <a:p>
            <a:pPr marL="0" indent="0">
              <a:buNone/>
            </a:pPr>
            <a:r>
              <a:rPr lang="en-US" dirty="0"/>
              <a:t>print("\</a:t>
            </a:r>
            <a:r>
              <a:rPr lang="en-US" dirty="0" err="1"/>
              <a:t>nAfter</a:t>
            </a:r>
            <a:r>
              <a:rPr lang="en-US" dirty="0"/>
              <a:t> using </a:t>
            </a:r>
            <a:r>
              <a:rPr lang="en-US" dirty="0" err="1"/>
              <a:t>popitem</a:t>
            </a:r>
            <a:r>
              <a:rPr lang="en-US" dirty="0"/>
              <a:t>():", </a:t>
            </a:r>
            <a:r>
              <a:rPr lang="en-US" dirty="0" err="1"/>
              <a:t>my_dict</a:t>
            </a:r>
            <a:r>
              <a:rPr lang="en-US" dirty="0"/>
              <a:t>)</a:t>
            </a:r>
          </a:p>
          <a:p>
            <a:pPr marL="0" indent="0">
              <a:buNone/>
            </a:pPr>
            <a:r>
              <a:rPr lang="en-US" dirty="0"/>
              <a:t>print("Removed item:", </a:t>
            </a:r>
            <a:r>
              <a:rPr lang="en-US" dirty="0" err="1"/>
              <a:t>removed_item</a:t>
            </a:r>
            <a:r>
              <a:rPr lang="en-US" dirty="0"/>
              <a:t>)</a:t>
            </a:r>
          </a:p>
        </p:txBody>
      </p:sp>
    </p:spTree>
    <p:extLst>
      <p:ext uri="{BB962C8B-B14F-4D97-AF65-F5344CB8AC3E}">
        <p14:creationId xmlns:p14="http://schemas.microsoft.com/office/powerpoint/2010/main" val="139119638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897626" y="597701"/>
            <a:ext cx="10465158" cy="5790597"/>
          </a:xfrm>
        </p:spPr>
        <p:txBody>
          <a:bodyPr>
            <a:normAutofit fontScale="85000" lnSpcReduction="20000"/>
          </a:bodyPr>
          <a:lstStyle/>
          <a:p>
            <a:pPr marL="0" indent="0">
              <a:buNone/>
            </a:pPr>
            <a:r>
              <a:rPr lang="en-US" dirty="0"/>
              <a:t># Using clear() to remove all items from the dictionary</a:t>
            </a:r>
          </a:p>
          <a:p>
            <a:pPr marL="0" indent="0">
              <a:buNone/>
            </a:pPr>
            <a:r>
              <a:rPr lang="en-US" dirty="0" err="1"/>
              <a:t>my_dict.clear</a:t>
            </a:r>
            <a:r>
              <a:rPr lang="en-US" dirty="0"/>
              <a:t>()</a:t>
            </a:r>
          </a:p>
          <a:p>
            <a:pPr marL="0" indent="0">
              <a:buNone/>
            </a:pPr>
            <a:r>
              <a:rPr lang="en-US" dirty="0"/>
              <a:t>print("\</a:t>
            </a:r>
            <a:r>
              <a:rPr lang="en-US" dirty="0" err="1"/>
              <a:t>nAfter</a:t>
            </a:r>
            <a:r>
              <a:rPr lang="en-US" dirty="0"/>
              <a:t> using clear():", </a:t>
            </a:r>
            <a:r>
              <a:rPr lang="en-US" dirty="0" err="1"/>
              <a:t>my_dict</a:t>
            </a:r>
            <a:r>
              <a:rPr lang="en-US" dirty="0"/>
              <a:t>)</a:t>
            </a:r>
          </a:p>
          <a:p>
            <a:pPr marL="0" indent="0">
              <a:buNone/>
            </a:pPr>
            <a:r>
              <a:rPr lang="en-US" dirty="0"/>
              <a:t># Reinitializing the dictionary</a:t>
            </a:r>
          </a:p>
          <a:p>
            <a:pPr marL="0" indent="0">
              <a:buNone/>
            </a:pPr>
            <a:r>
              <a:rPr lang="en-US" dirty="0" err="1"/>
              <a:t>my_dict</a:t>
            </a:r>
            <a:r>
              <a:rPr lang="en-US" dirty="0"/>
              <a:t> = {'name': 'John', 'age': 25, 'city': ‘Bangalore', 'occupation': 'Engineer'}</a:t>
            </a:r>
          </a:p>
          <a:p>
            <a:pPr marL="0" indent="0">
              <a:buNone/>
            </a:pPr>
            <a:r>
              <a:rPr lang="en-US" dirty="0"/>
              <a:t># Using del to remove a specific key-value pair</a:t>
            </a:r>
          </a:p>
          <a:p>
            <a:pPr marL="0" indent="0">
              <a:buNone/>
            </a:pPr>
            <a:r>
              <a:rPr lang="en-US" dirty="0"/>
              <a:t>del </a:t>
            </a:r>
            <a:r>
              <a:rPr lang="en-US" dirty="0" err="1"/>
              <a:t>my_dict</a:t>
            </a:r>
            <a:r>
              <a:rPr lang="en-US" dirty="0"/>
              <a:t>['city']</a:t>
            </a:r>
          </a:p>
          <a:p>
            <a:pPr marL="0" indent="0">
              <a:buNone/>
            </a:pPr>
            <a:r>
              <a:rPr lang="en-US" dirty="0"/>
              <a:t>print("\</a:t>
            </a:r>
            <a:r>
              <a:rPr lang="en-US" dirty="0" err="1"/>
              <a:t>nAfter</a:t>
            </a:r>
            <a:r>
              <a:rPr lang="en-US" dirty="0"/>
              <a:t> using del </a:t>
            </a:r>
            <a:r>
              <a:rPr lang="en-US" dirty="0" err="1"/>
              <a:t>my_dict</a:t>
            </a:r>
            <a:r>
              <a:rPr lang="en-US" dirty="0"/>
              <a:t>['city']:", </a:t>
            </a:r>
            <a:r>
              <a:rPr lang="en-US" dirty="0" err="1"/>
              <a:t>my_dict</a:t>
            </a:r>
            <a:r>
              <a:rPr lang="en-US" dirty="0"/>
              <a:t>)</a:t>
            </a:r>
          </a:p>
          <a:p>
            <a:pPr marL="0" indent="0">
              <a:buNone/>
            </a:pPr>
            <a:r>
              <a:rPr lang="en-US" dirty="0"/>
              <a:t>#Combine two dictionaries</a:t>
            </a:r>
          </a:p>
          <a:p>
            <a:pPr marL="0" indent="0">
              <a:buNone/>
            </a:pPr>
            <a:r>
              <a:rPr lang="en-US" dirty="0" err="1"/>
              <a:t>new_dict</a:t>
            </a:r>
            <a:r>
              <a:rPr lang="en-US" dirty="0"/>
              <a:t>={‘state’=‘Karnataka’, ‘country’=‘India’}</a:t>
            </a:r>
          </a:p>
          <a:p>
            <a:pPr marL="0" indent="0">
              <a:buNone/>
            </a:pPr>
            <a:r>
              <a:rPr lang="en-US" dirty="0" err="1"/>
              <a:t>my_dict.update</a:t>
            </a:r>
            <a:r>
              <a:rPr lang="en-US" dirty="0"/>
              <a:t>(</a:t>
            </a:r>
            <a:r>
              <a:rPr lang="en-US" dirty="0" err="1"/>
              <a:t>new_dict</a:t>
            </a:r>
            <a:r>
              <a:rPr lang="en-US" dirty="0"/>
              <a:t>)</a:t>
            </a:r>
          </a:p>
          <a:p>
            <a:pPr marL="0" indent="0">
              <a:buNone/>
            </a:pPr>
            <a:r>
              <a:rPr lang="en-US" dirty="0"/>
              <a:t>Print(‘\n after combining the elements of the dictionary are:”,</a:t>
            </a:r>
            <a:r>
              <a:rPr lang="en-US" dirty="0" err="1"/>
              <a:t>my_dict</a:t>
            </a:r>
            <a:r>
              <a:rPr lang="en-US" dirty="0"/>
              <a:t>)</a:t>
            </a:r>
          </a:p>
          <a:p>
            <a:pPr marL="0" indent="0">
              <a:buNone/>
            </a:pPr>
            <a:r>
              <a:rPr lang="en-US" dirty="0"/>
              <a:t># Using del to delete the entire dictionary</a:t>
            </a:r>
          </a:p>
          <a:p>
            <a:pPr marL="0" indent="0">
              <a:buNone/>
            </a:pPr>
            <a:r>
              <a:rPr lang="en-US" dirty="0"/>
              <a:t>del </a:t>
            </a:r>
            <a:r>
              <a:rPr lang="en-US" dirty="0" err="1"/>
              <a:t>my_dict</a:t>
            </a:r>
            <a:endParaRPr lang="en-US" dirty="0"/>
          </a:p>
        </p:txBody>
      </p:sp>
    </p:spTree>
    <p:extLst>
      <p:ext uri="{BB962C8B-B14F-4D97-AF65-F5344CB8AC3E}">
        <p14:creationId xmlns:p14="http://schemas.microsoft.com/office/powerpoint/2010/main" val="43549598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847184" y="532274"/>
            <a:ext cx="10515600" cy="4351338"/>
          </a:xfrm>
        </p:spPr>
        <p:txBody>
          <a:bodyPr>
            <a:normAutofit fontScale="85000" lnSpcReduction="10000"/>
          </a:bodyPr>
          <a:lstStyle/>
          <a:p>
            <a:pPr marL="0" indent="0">
              <a:buNone/>
            </a:pPr>
            <a:r>
              <a:rPr lang="en-US" dirty="0"/>
              <a:t>Output:</a:t>
            </a:r>
          </a:p>
          <a:p>
            <a:pPr marL="0" indent="0">
              <a:buNone/>
            </a:pPr>
            <a:r>
              <a:rPr lang="en-US" dirty="0"/>
              <a:t>After using pop('age'): {'name': 'John', 'city': 'New York', 'occupation': 'Engineer'}</a:t>
            </a:r>
          </a:p>
          <a:p>
            <a:pPr marL="0" indent="0">
              <a:buNone/>
            </a:pPr>
            <a:r>
              <a:rPr lang="en-US" dirty="0"/>
              <a:t>Removed age: 25</a:t>
            </a:r>
          </a:p>
          <a:p>
            <a:pPr marL="0" indent="0">
              <a:buNone/>
            </a:pPr>
            <a:endParaRPr lang="en-US" dirty="0"/>
          </a:p>
          <a:p>
            <a:pPr marL="0" indent="0">
              <a:buNone/>
            </a:pPr>
            <a:r>
              <a:rPr lang="en-US" dirty="0"/>
              <a:t>After using </a:t>
            </a:r>
            <a:r>
              <a:rPr lang="en-US" dirty="0" err="1"/>
              <a:t>popitem</a:t>
            </a:r>
            <a:r>
              <a:rPr lang="en-US" dirty="0"/>
              <a:t>(): {'name': 'John', 'city': 'New York'}</a:t>
            </a:r>
          </a:p>
          <a:p>
            <a:pPr marL="0" indent="0">
              <a:buNone/>
            </a:pPr>
            <a:r>
              <a:rPr lang="en-US" dirty="0"/>
              <a:t>Removed item: ('occupation', 'Engineer')</a:t>
            </a:r>
          </a:p>
          <a:p>
            <a:pPr marL="0" indent="0">
              <a:buNone/>
            </a:pPr>
            <a:endParaRPr lang="en-US" dirty="0"/>
          </a:p>
          <a:p>
            <a:pPr marL="0" indent="0">
              <a:buNone/>
            </a:pPr>
            <a:r>
              <a:rPr lang="en-US" dirty="0"/>
              <a:t>After using clear(): {}</a:t>
            </a:r>
          </a:p>
          <a:p>
            <a:pPr marL="0" indent="0">
              <a:buNone/>
            </a:pPr>
            <a:endParaRPr lang="en-US" dirty="0"/>
          </a:p>
          <a:p>
            <a:pPr marL="0" indent="0">
              <a:buNone/>
            </a:pPr>
            <a:r>
              <a:rPr lang="en-US" dirty="0"/>
              <a:t>After using del </a:t>
            </a:r>
            <a:r>
              <a:rPr lang="en-US" dirty="0" err="1"/>
              <a:t>my_dict</a:t>
            </a:r>
            <a:r>
              <a:rPr lang="en-US" dirty="0"/>
              <a:t>['city']: {'name': 'John', 'age': 25, 'occupation': 'Engineer'}</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411955316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4" name="Title 3">
            <a:extLst>
              <a:ext uri="{FF2B5EF4-FFF2-40B4-BE49-F238E27FC236}">
                <a16:creationId xmlns:a16="http://schemas.microsoft.com/office/drawing/2014/main" id="{6AF1A31C-305B-8B99-2614-E443CD2AFB3B}"/>
              </a:ext>
            </a:extLst>
          </p:cNvPr>
          <p:cNvSpPr>
            <a:spLocks noGrp="1"/>
          </p:cNvSpPr>
          <p:nvPr>
            <p:ph type="title"/>
          </p:nvPr>
        </p:nvSpPr>
        <p:spPr>
          <a:xfrm>
            <a:off x="838200" y="365126"/>
            <a:ext cx="10515600" cy="443912"/>
          </a:xfrm>
        </p:spPr>
        <p:txBody>
          <a:bodyPr>
            <a:normAutofit fontScale="90000"/>
          </a:bodyPr>
          <a:lstStyle/>
          <a:p>
            <a:r>
              <a:rPr lang="en-US" sz="4000" dirty="0"/>
              <a:t>Sets &amp; its Operations</a:t>
            </a:r>
          </a:p>
        </p:txBody>
      </p:sp>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838200" y="1007672"/>
            <a:ext cx="10515600" cy="5169291"/>
          </a:xfrm>
        </p:spPr>
        <p:txBody>
          <a:bodyPr>
            <a:normAutofit fontScale="92500" lnSpcReduction="20000"/>
          </a:bodyPr>
          <a:lstStyle/>
          <a:p>
            <a:pPr marL="0" indent="0">
              <a:buNone/>
            </a:pPr>
            <a:r>
              <a:rPr lang="en-US" dirty="0"/>
              <a:t>Sets in Python are unordered collections of unique elements. They are defined using curly braces {} or the set() constructor. Here's an overview of sets and some common operations:</a:t>
            </a:r>
          </a:p>
          <a:p>
            <a:pPr marL="514350" indent="-514350">
              <a:buAutoNum type="arabicPeriod"/>
            </a:pPr>
            <a:r>
              <a:rPr lang="en-US" dirty="0"/>
              <a:t>Creating a Set: </a:t>
            </a:r>
            <a:r>
              <a:rPr lang="en-US" dirty="0" err="1"/>
              <a:t>my_set</a:t>
            </a:r>
            <a:r>
              <a:rPr lang="en-US" dirty="0"/>
              <a:t> = {1, 2, 3, 4, 5}</a:t>
            </a:r>
          </a:p>
          <a:p>
            <a:pPr marL="514350" indent="-514350">
              <a:buAutoNum type="arabicPeriod"/>
            </a:pPr>
            <a:r>
              <a:rPr lang="en-US" dirty="0"/>
              <a:t>Adding Elements: </a:t>
            </a:r>
            <a:r>
              <a:rPr lang="en-US" dirty="0" err="1"/>
              <a:t>my_set.add</a:t>
            </a:r>
            <a:r>
              <a:rPr lang="en-US" dirty="0"/>
              <a:t>(6)</a:t>
            </a:r>
          </a:p>
          <a:p>
            <a:pPr marL="514350" indent="-514350">
              <a:buAutoNum type="arabicPeriod"/>
            </a:pPr>
            <a:r>
              <a:rPr lang="en-US" dirty="0"/>
              <a:t>Removing Elements: </a:t>
            </a:r>
            <a:r>
              <a:rPr lang="en-US" dirty="0" err="1"/>
              <a:t>my_set.remove</a:t>
            </a:r>
            <a:r>
              <a:rPr lang="en-US" dirty="0"/>
              <a:t>(3)  # Raises </a:t>
            </a:r>
            <a:r>
              <a:rPr lang="en-US" dirty="0" err="1"/>
              <a:t>KeyError</a:t>
            </a:r>
            <a:r>
              <a:rPr lang="en-US" dirty="0"/>
              <a:t> if the element is not present</a:t>
            </a:r>
          </a:p>
          <a:p>
            <a:pPr marL="0" indent="0">
              <a:buNone/>
            </a:pPr>
            <a:r>
              <a:rPr lang="en-US" dirty="0"/>
              <a:t>      </a:t>
            </a:r>
            <a:r>
              <a:rPr lang="en-US" dirty="0" err="1"/>
              <a:t>my_set.discard</a:t>
            </a:r>
            <a:r>
              <a:rPr lang="en-US" dirty="0"/>
              <a:t>(4)  # Removes the element if present, otherwise does nothing.</a:t>
            </a:r>
          </a:p>
          <a:p>
            <a:pPr marL="0" indent="0">
              <a:buNone/>
            </a:pPr>
            <a:r>
              <a:rPr lang="en-US" dirty="0"/>
              <a:t>4. Checking Membership: print(2 in </a:t>
            </a:r>
            <a:r>
              <a:rPr lang="en-US" dirty="0" err="1"/>
              <a:t>my_set</a:t>
            </a:r>
            <a:r>
              <a:rPr lang="en-US" dirty="0"/>
              <a:t>)  # True</a:t>
            </a:r>
          </a:p>
          <a:p>
            <a:pPr marL="0" indent="0">
              <a:buNone/>
            </a:pPr>
            <a:r>
              <a:rPr lang="en-US" dirty="0"/>
              <a:t>5. Set </a:t>
            </a:r>
            <a:r>
              <a:rPr lang="en-US" dirty="0" err="1"/>
              <a:t>Operations:Union</a:t>
            </a:r>
            <a:r>
              <a:rPr lang="en-US" dirty="0"/>
              <a:t> (|): </a:t>
            </a:r>
          </a:p>
          <a:p>
            <a:pPr marL="0" indent="0">
              <a:buNone/>
            </a:pPr>
            <a:r>
              <a:rPr lang="en-US" dirty="0"/>
              <a:t>set1 = {1, 2, 3}</a:t>
            </a:r>
          </a:p>
          <a:p>
            <a:pPr marL="0" indent="0">
              <a:buNone/>
            </a:pPr>
            <a:r>
              <a:rPr lang="en-US" dirty="0"/>
              <a:t>set2 = {3, 4, 5}</a:t>
            </a:r>
          </a:p>
          <a:p>
            <a:pPr marL="0" indent="0">
              <a:buNone/>
            </a:pPr>
            <a:r>
              <a:rPr lang="en-US" dirty="0" err="1"/>
              <a:t>union_set</a:t>
            </a:r>
            <a:r>
              <a:rPr lang="en-US" dirty="0"/>
              <a:t> = set1 | set2  # {1, 2, 3, 4, 5}</a:t>
            </a:r>
          </a:p>
        </p:txBody>
      </p:sp>
    </p:spTree>
    <p:extLst>
      <p:ext uri="{BB962C8B-B14F-4D97-AF65-F5344CB8AC3E}">
        <p14:creationId xmlns:p14="http://schemas.microsoft.com/office/powerpoint/2010/main" val="102377658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40A81B-3B4D-B1CB-85EC-66E0FF4A9B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1267" y="5378909"/>
            <a:ext cx="1210733" cy="1479091"/>
          </a:xfrm>
          <a:prstGeom prst="rect">
            <a:avLst/>
          </a:prstGeom>
        </p:spPr>
      </p:pic>
      <p:sp>
        <p:nvSpPr>
          <p:cNvPr id="83" name="Rectangle 82"/>
          <p:cNvSpPr/>
          <p:nvPr/>
        </p:nvSpPr>
        <p:spPr>
          <a:xfrm>
            <a:off x="11362784" y="6055329"/>
            <a:ext cx="479619" cy="400110"/>
          </a:xfrm>
          <a:prstGeom prst="rect">
            <a:avLst/>
          </a:prstGeom>
        </p:spPr>
        <p:txBody>
          <a:bodyPr wrap="none">
            <a:spAutoFit/>
          </a:bodyPr>
          <a:lstStyle/>
          <a:p>
            <a:pPr algn="ctr"/>
            <a:r>
              <a:rPr lang="en-IN" sz="2000" dirty="0">
                <a:solidFill>
                  <a:schemeClr val="tx1">
                    <a:lumMod val="95000"/>
                    <a:lumOff val="5000"/>
                  </a:schemeClr>
                </a:solidFill>
                <a:latin typeface="Roboto Slab" pitchFamily="2" charset="0"/>
                <a:ea typeface="Roboto Slab" pitchFamily="2" charset="0"/>
                <a:cs typeface="Times New Roman" panose="02020603050405020304" pitchFamily="18" charset="0"/>
              </a:rPr>
              <a:t>04</a:t>
            </a:r>
          </a:p>
        </p:txBody>
      </p:sp>
      <p:sp>
        <p:nvSpPr>
          <p:cNvPr id="35" name="Text Placeholder 3"/>
          <p:cNvSpPr txBox="1">
            <a:spLocks/>
          </p:cNvSpPr>
          <p:nvPr/>
        </p:nvSpPr>
        <p:spPr>
          <a:xfrm>
            <a:off x="1158475" y="1067338"/>
            <a:ext cx="8642230" cy="48513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500"/>
              </a:spcBef>
              <a:buNone/>
            </a:pPr>
            <a:endParaRPr lang="en-US" sz="2000" dirty="0">
              <a:solidFill>
                <a:schemeClr val="tx1">
                  <a:lumMod val="95000"/>
                  <a:lumOff val="5000"/>
                </a:schemeClr>
              </a:solidFill>
              <a:latin typeface="Roboto Slab" pitchFamily="2" charset="0"/>
              <a:ea typeface="Roboto Slab" pitchFamily="2" charset="0"/>
            </a:endParaRPr>
          </a:p>
        </p:txBody>
      </p:sp>
      <p:pic>
        <p:nvPicPr>
          <p:cNvPr id="3" name="Picture 2">
            <a:extLst>
              <a:ext uri="{FF2B5EF4-FFF2-40B4-BE49-F238E27FC236}">
                <a16:creationId xmlns:a16="http://schemas.microsoft.com/office/drawing/2014/main" id="{AE5E955F-18E1-DB1B-0DC0-2A6FCCD1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075" y="6117296"/>
            <a:ext cx="2033314" cy="539465"/>
          </a:xfrm>
          <a:prstGeom prst="rect">
            <a:avLst/>
          </a:prstGeom>
        </p:spPr>
      </p:pic>
      <p:sp>
        <p:nvSpPr>
          <p:cNvPr id="5" name="Content Placeholder 4">
            <a:extLst>
              <a:ext uri="{FF2B5EF4-FFF2-40B4-BE49-F238E27FC236}">
                <a16:creationId xmlns:a16="http://schemas.microsoft.com/office/drawing/2014/main" id="{D473DF89-7489-F101-42AC-9DD6AFE5AF27}"/>
              </a:ext>
            </a:extLst>
          </p:cNvPr>
          <p:cNvSpPr>
            <a:spLocks noGrp="1"/>
          </p:cNvSpPr>
          <p:nvPr>
            <p:ph idx="1"/>
          </p:nvPr>
        </p:nvSpPr>
        <p:spPr>
          <a:xfrm>
            <a:off x="811369" y="489397"/>
            <a:ext cx="10542431" cy="5687566"/>
          </a:xfrm>
        </p:spPr>
        <p:txBody>
          <a:bodyPr/>
          <a:lstStyle/>
          <a:p>
            <a:pPr marL="0" indent="0">
              <a:buNone/>
            </a:pPr>
            <a:r>
              <a:rPr lang="en-US" dirty="0"/>
              <a:t>Intersection (&amp;): </a:t>
            </a:r>
            <a:r>
              <a:rPr lang="en-US" dirty="0" err="1"/>
              <a:t>intersection_set</a:t>
            </a:r>
            <a:r>
              <a:rPr lang="en-US" dirty="0"/>
              <a:t> = set1 &amp; set2  # {3}</a:t>
            </a:r>
          </a:p>
          <a:p>
            <a:pPr marL="0" indent="0">
              <a:buNone/>
            </a:pPr>
            <a:r>
              <a:rPr lang="en-US" dirty="0"/>
              <a:t>Difference (-): </a:t>
            </a:r>
            <a:r>
              <a:rPr lang="en-US" dirty="0" err="1"/>
              <a:t>difference_set</a:t>
            </a:r>
            <a:r>
              <a:rPr lang="en-US" dirty="0"/>
              <a:t> = set1 - set2  # {1, 2}</a:t>
            </a:r>
          </a:p>
          <a:p>
            <a:pPr marL="0" indent="0">
              <a:buNone/>
            </a:pPr>
            <a:r>
              <a:rPr lang="en-US" dirty="0"/>
              <a:t>Symmetric Difference (^): </a:t>
            </a:r>
            <a:r>
              <a:rPr lang="en-US" dirty="0" err="1"/>
              <a:t>symmetric_difference_set</a:t>
            </a:r>
            <a:r>
              <a:rPr lang="en-US" dirty="0"/>
              <a:t> = set1 ^ set2  # {1, 2, 4, 5}</a:t>
            </a:r>
          </a:p>
          <a:p>
            <a:pPr marL="0" indent="0">
              <a:buNone/>
            </a:pPr>
            <a:r>
              <a:rPr lang="en-US" dirty="0"/>
              <a:t>6. </a:t>
            </a:r>
            <a:r>
              <a:rPr lang="en-US" b="1" dirty="0"/>
              <a:t>Subset and Superset:</a:t>
            </a:r>
          </a:p>
          <a:p>
            <a:pPr marL="0" indent="0">
              <a:buNone/>
            </a:pPr>
            <a:r>
              <a:rPr lang="en-US" dirty="0" err="1"/>
              <a:t>subset_check</a:t>
            </a:r>
            <a:r>
              <a:rPr lang="en-US" dirty="0"/>
              <a:t> = {1, 2}.</a:t>
            </a:r>
            <a:r>
              <a:rPr lang="en-US" dirty="0" err="1"/>
              <a:t>issubset</a:t>
            </a:r>
            <a:r>
              <a:rPr lang="en-US" dirty="0"/>
              <a:t>(set1)  # True</a:t>
            </a:r>
          </a:p>
          <a:p>
            <a:pPr marL="0" indent="0">
              <a:buNone/>
            </a:pPr>
            <a:r>
              <a:rPr lang="en-US" dirty="0" err="1"/>
              <a:t>superset_check</a:t>
            </a:r>
            <a:r>
              <a:rPr lang="en-US" dirty="0"/>
              <a:t> = set1.issuperset({1, 2})  # True</a:t>
            </a:r>
          </a:p>
          <a:p>
            <a:pPr marL="0" indent="0">
              <a:buNone/>
            </a:pPr>
            <a:r>
              <a:rPr lang="en-US" dirty="0"/>
              <a:t>7. </a:t>
            </a:r>
            <a:r>
              <a:rPr lang="en-US" b="1" dirty="0"/>
              <a:t>Clearing a Set: </a:t>
            </a:r>
            <a:r>
              <a:rPr lang="en-US" b="1" dirty="0" err="1"/>
              <a:t>my_set.clear</a:t>
            </a:r>
            <a:r>
              <a:rPr lang="en-US" b="1" dirty="0"/>
              <a:t>()</a:t>
            </a:r>
            <a:endParaRPr lang="en-US" dirty="0"/>
          </a:p>
        </p:txBody>
      </p:sp>
    </p:spTree>
    <p:extLst>
      <p:ext uri="{BB962C8B-B14F-4D97-AF65-F5344CB8AC3E}">
        <p14:creationId xmlns:p14="http://schemas.microsoft.com/office/powerpoint/2010/main" val="386765151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Symmetric difference</a:t>
            </a:r>
          </a:p>
        </p:txBody>
      </p:sp>
      <p:pic>
        <p:nvPicPr>
          <p:cNvPr id="4" name="Content Placeholder 3"/>
          <p:cNvPicPr>
            <a:picLocks noGrp="1" noChangeAspect="1"/>
          </p:cNvPicPr>
          <p:nvPr>
            <p:ph idx="1"/>
          </p:nvPr>
        </p:nvPicPr>
        <p:blipFill>
          <a:blip r:embed="rId2"/>
          <a:stretch>
            <a:fillRect/>
          </a:stretch>
        </p:blipFill>
        <p:spPr>
          <a:xfrm>
            <a:off x="838200" y="1690688"/>
            <a:ext cx="5155708" cy="4103211"/>
          </a:xfrm>
          <a:prstGeom prst="rect">
            <a:avLst/>
          </a:prstGeom>
        </p:spPr>
      </p:pic>
    </p:spTree>
    <p:extLst>
      <p:ext uri="{BB962C8B-B14F-4D97-AF65-F5344CB8AC3E}">
        <p14:creationId xmlns:p14="http://schemas.microsoft.com/office/powerpoint/2010/main" val="22714954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43213"/>
          </a:xfrm>
        </p:spPr>
        <p:txBody>
          <a:bodyPr>
            <a:normAutofit fontScale="90000"/>
          </a:bodyPr>
          <a:lstStyle/>
          <a:p>
            <a:r>
              <a:rPr lang="en-US" dirty="0"/>
              <a:t>Frozen set</a:t>
            </a:r>
          </a:p>
        </p:txBody>
      </p:sp>
      <p:sp>
        <p:nvSpPr>
          <p:cNvPr id="3" name="Content Placeholder 2"/>
          <p:cNvSpPr>
            <a:spLocks noGrp="1"/>
          </p:cNvSpPr>
          <p:nvPr>
            <p:ph idx="1"/>
          </p:nvPr>
        </p:nvSpPr>
        <p:spPr>
          <a:xfrm>
            <a:off x="721217" y="1004552"/>
            <a:ext cx="10632583" cy="5172411"/>
          </a:xfrm>
        </p:spPr>
        <p:txBody>
          <a:bodyPr>
            <a:normAutofit/>
          </a:bodyPr>
          <a:lstStyle/>
          <a:p>
            <a:r>
              <a:rPr lang="en-US" sz="2400" dirty="0">
                <a:latin typeface="Times New Roman" panose="02020603050405020304" pitchFamily="18" charset="0"/>
                <a:cs typeface="Times New Roman" panose="02020603050405020304" pitchFamily="18" charset="0"/>
              </a:rPr>
              <a:t>In Python, a frozen set is an immutable collection of unique elements, similar to a set but with the key difference that once a frozen set is created, its elements cannot be changed or modified. </a:t>
            </a:r>
          </a:p>
          <a:p>
            <a:r>
              <a:rPr lang="en-US" sz="2400" dirty="0">
                <a:latin typeface="Times New Roman" panose="02020603050405020304" pitchFamily="18" charset="0"/>
                <a:cs typeface="Times New Roman" panose="02020603050405020304" pitchFamily="18" charset="0"/>
              </a:rPr>
              <a:t>Frozen sets are defined using curly braces {} with elements separated by commas. To create a frozen set in Python, you can use the </a:t>
            </a:r>
            <a:r>
              <a:rPr lang="en-US" sz="2400" dirty="0" err="1">
                <a:latin typeface="Times New Roman" panose="02020603050405020304" pitchFamily="18" charset="0"/>
                <a:cs typeface="Times New Roman" panose="02020603050405020304" pitchFamily="18" charset="0"/>
              </a:rPr>
              <a:t>frozenset</a:t>
            </a:r>
            <a:r>
              <a:rPr lang="en-US" sz="2400" dirty="0">
                <a:latin typeface="Times New Roman" panose="02020603050405020304" pitchFamily="18" charset="0"/>
                <a:cs typeface="Times New Roman" panose="02020603050405020304" pitchFamily="18" charset="0"/>
              </a:rPr>
              <a:t>() function.</a:t>
            </a:r>
          </a:p>
          <a:p>
            <a:r>
              <a:rPr lang="en-US" sz="2400" dirty="0">
                <a:latin typeface="Times New Roman" panose="02020603050405020304" pitchFamily="18" charset="0"/>
                <a:cs typeface="Times New Roman" panose="02020603050405020304" pitchFamily="18" charset="0"/>
              </a:rPr>
              <a:t>Here is an example of creating a frozen set in Python:</a:t>
            </a:r>
          </a:p>
          <a:p>
            <a:pPr marL="0" indent="0">
              <a:buNone/>
            </a:pPr>
            <a:r>
              <a:rPr lang="en-US" sz="2400" dirty="0">
                <a:latin typeface="Times New Roman" panose="02020603050405020304" pitchFamily="18" charset="0"/>
                <a:cs typeface="Times New Roman" panose="02020603050405020304" pitchFamily="18" charset="0"/>
              </a:rPr>
              <a:t># Creating a frozen set</a:t>
            </a:r>
          </a:p>
          <a:p>
            <a:pPr marL="0" indent="0">
              <a:buNone/>
            </a:pPr>
            <a:r>
              <a:rPr lang="en-US" sz="2400" dirty="0" err="1">
                <a:latin typeface="Times New Roman" panose="02020603050405020304" pitchFamily="18" charset="0"/>
                <a:cs typeface="Times New Roman" panose="02020603050405020304" pitchFamily="18" charset="0"/>
              </a:rPr>
              <a:t>frozen_set</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frozenset</a:t>
            </a:r>
            <a:r>
              <a:rPr lang="en-US" sz="2400" dirty="0">
                <a:latin typeface="Times New Roman" panose="02020603050405020304" pitchFamily="18" charset="0"/>
                <a:cs typeface="Times New Roman" panose="02020603050405020304" pitchFamily="18" charset="0"/>
              </a:rPr>
              <a:t>([1, 2, 3, 4, 5])</a:t>
            </a:r>
          </a:p>
          <a:p>
            <a:pPr marL="0" indent="0">
              <a:buNone/>
            </a:pPr>
            <a:r>
              <a:rPr lang="en-US" sz="2400" dirty="0">
                <a:latin typeface="Times New Roman" panose="02020603050405020304" pitchFamily="18" charset="0"/>
                <a:cs typeface="Times New Roman" panose="02020603050405020304" pitchFamily="18" charset="0"/>
              </a:rPr>
              <a:t>print(</a:t>
            </a:r>
            <a:r>
              <a:rPr lang="en-US" sz="2400" dirty="0" err="1">
                <a:latin typeface="Times New Roman" panose="02020603050405020304" pitchFamily="18" charset="0"/>
                <a:cs typeface="Times New Roman" panose="02020603050405020304" pitchFamily="18" charset="0"/>
              </a:rPr>
              <a:t>frozen_set</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Frozen sets are useful when you want to create a collection of unique elements that should not be changed during the program’s execution. They are commonly used in situations where immutability and uniqueness are desired properties.</a:t>
            </a:r>
          </a:p>
        </p:txBody>
      </p:sp>
    </p:spTree>
    <p:extLst>
      <p:ext uri="{BB962C8B-B14F-4D97-AF65-F5344CB8AC3E}">
        <p14:creationId xmlns:p14="http://schemas.microsoft.com/office/powerpoint/2010/main" val="13032488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ython: Built-in-function - frozenset() functio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23504" y="313722"/>
            <a:ext cx="5290601" cy="184066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85739" y="2154388"/>
            <a:ext cx="4275529" cy="369332"/>
          </a:xfrm>
          <a:prstGeom prst="rect">
            <a:avLst/>
          </a:prstGeom>
        </p:spPr>
        <p:txBody>
          <a:bodyPr wrap="none">
            <a:spAutoFit/>
          </a:bodyPr>
          <a:lstStyle/>
          <a:p>
            <a:r>
              <a:rPr lang="en-US" b="1" dirty="0">
                <a:latin typeface="Helvetica" panose="020B0604020202020204" pitchFamily="34" charset="0"/>
              </a:rPr>
              <a:t>Example: Python </a:t>
            </a:r>
            <a:r>
              <a:rPr lang="en-US" b="1" dirty="0" err="1">
                <a:latin typeface="Helvetica" panose="020B0604020202020204" pitchFamily="34" charset="0"/>
              </a:rPr>
              <a:t>frozenset</a:t>
            </a:r>
            <a:r>
              <a:rPr lang="en-US" b="1" dirty="0">
                <a:latin typeface="Helvetica" panose="020B0604020202020204" pitchFamily="34" charset="0"/>
              </a:rPr>
              <a:t>() function</a:t>
            </a:r>
            <a:endParaRPr lang="en-US" dirty="0"/>
          </a:p>
        </p:txBody>
      </p:sp>
      <p:sp>
        <p:nvSpPr>
          <p:cNvPr id="5" name="Rectangle 4"/>
          <p:cNvSpPr/>
          <p:nvPr/>
        </p:nvSpPr>
        <p:spPr>
          <a:xfrm>
            <a:off x="785738" y="2700048"/>
            <a:ext cx="8216593" cy="1477328"/>
          </a:xfrm>
          <a:prstGeom prst="rect">
            <a:avLst/>
          </a:prstGeom>
        </p:spPr>
        <p:txBody>
          <a:bodyPr wrap="square">
            <a:spAutoFit/>
          </a:bodyPr>
          <a:lstStyle/>
          <a:p>
            <a:r>
              <a:rPr lang="en-US" dirty="0">
                <a:solidFill>
                  <a:srgbClr val="7D8B99"/>
                </a:solidFill>
                <a:latin typeface="Consolas" panose="020B0609020204030204" pitchFamily="49" charset="0"/>
              </a:rPr>
              <a:t># tuple of words</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words </a:t>
            </a:r>
            <a:r>
              <a:rPr lang="en-US" dirty="0">
                <a:solidFill>
                  <a:srgbClr val="A67F59"/>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5F6364"/>
                </a:solidFill>
                <a:latin typeface="Consolas" panose="020B0609020204030204" pitchFamily="49" charset="0"/>
              </a:rPr>
              <a:t>(</a:t>
            </a:r>
            <a:r>
              <a:rPr lang="en-US" dirty="0">
                <a:solidFill>
                  <a:srgbClr val="2F9C0A"/>
                </a:solidFill>
                <a:latin typeface="Consolas" panose="020B0609020204030204" pitchFamily="49" charset="0"/>
              </a:rPr>
              <a:t>'apple'</a:t>
            </a:r>
            <a:r>
              <a:rPr lang="en-US" dirty="0">
                <a:solidFill>
                  <a:srgbClr val="5F6364"/>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2F9C0A"/>
                </a:solidFill>
                <a:latin typeface="Consolas" panose="020B0609020204030204" pitchFamily="49" charset="0"/>
              </a:rPr>
              <a:t>'orange'</a:t>
            </a:r>
            <a:r>
              <a:rPr lang="en-US" dirty="0">
                <a:solidFill>
                  <a:srgbClr val="5F6364"/>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2F9C0A"/>
                </a:solidFill>
                <a:latin typeface="Consolas" panose="020B0609020204030204" pitchFamily="49" charset="0"/>
              </a:rPr>
              <a:t>'mango'</a:t>
            </a:r>
            <a:r>
              <a:rPr lang="en-US" dirty="0">
                <a:solidFill>
                  <a:srgbClr val="5F6364"/>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2F9C0A"/>
                </a:solidFill>
                <a:latin typeface="Consolas" panose="020B0609020204030204" pitchFamily="49" charset="0"/>
              </a:rPr>
              <a:t>'banana'</a:t>
            </a:r>
            <a:r>
              <a:rPr lang="en-US" dirty="0">
                <a:solidFill>
                  <a:srgbClr val="5F6364"/>
                </a:solidFill>
                <a:latin typeface="Consolas" panose="020B0609020204030204" pitchFamily="49" charset="0"/>
              </a:rPr>
              <a:t>)</a:t>
            </a:r>
            <a:r>
              <a:rPr lang="en-US" dirty="0">
                <a:solidFill>
                  <a:srgbClr val="000000"/>
                </a:solidFill>
                <a:latin typeface="Consolas" panose="020B0609020204030204" pitchFamily="49" charset="0"/>
              </a:rPr>
              <a:t> </a:t>
            </a:r>
          </a:p>
          <a:p>
            <a:r>
              <a:rPr lang="en-US" dirty="0" err="1">
                <a:solidFill>
                  <a:srgbClr val="000000"/>
                </a:solidFill>
                <a:latin typeface="Consolas" panose="020B0609020204030204" pitchFamily="49" charset="0"/>
              </a:rPr>
              <a:t>froSet</a:t>
            </a:r>
            <a:r>
              <a:rPr lang="en-US" dirty="0">
                <a:solidFill>
                  <a:srgbClr val="000000"/>
                </a:solidFill>
                <a:latin typeface="Consolas" panose="020B0609020204030204" pitchFamily="49" charset="0"/>
              </a:rPr>
              <a:t> </a:t>
            </a:r>
            <a:r>
              <a:rPr lang="en-US" dirty="0">
                <a:solidFill>
                  <a:srgbClr val="A67F59"/>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2F9C0A"/>
                </a:solidFill>
                <a:latin typeface="Consolas" panose="020B0609020204030204" pitchFamily="49" charset="0"/>
              </a:rPr>
              <a:t>frozenset</a:t>
            </a:r>
            <a:r>
              <a:rPr lang="en-US" dirty="0">
                <a:solidFill>
                  <a:srgbClr val="5F6364"/>
                </a:solidFill>
                <a:latin typeface="Consolas" panose="020B0609020204030204" pitchFamily="49" charset="0"/>
              </a:rPr>
              <a:t>(</a:t>
            </a:r>
            <a:r>
              <a:rPr lang="en-US" dirty="0">
                <a:solidFill>
                  <a:srgbClr val="000000"/>
                </a:solidFill>
                <a:latin typeface="Consolas" panose="020B0609020204030204" pitchFamily="49" charset="0"/>
              </a:rPr>
              <a:t>words</a:t>
            </a:r>
            <a:r>
              <a:rPr lang="en-US" dirty="0">
                <a:solidFill>
                  <a:srgbClr val="5F6364"/>
                </a:solidFill>
                <a:latin typeface="Consolas" panose="020B0609020204030204" pitchFamily="49" charset="0"/>
              </a:rPr>
              <a:t>)</a:t>
            </a:r>
            <a:r>
              <a:rPr lang="en-US" dirty="0">
                <a:solidFill>
                  <a:srgbClr val="000000"/>
                </a:solidFill>
                <a:latin typeface="Consolas" panose="020B0609020204030204" pitchFamily="49" charset="0"/>
              </a:rPr>
              <a:t> </a:t>
            </a:r>
          </a:p>
          <a:p>
            <a:r>
              <a:rPr lang="en-US" dirty="0">
                <a:solidFill>
                  <a:srgbClr val="1990B8"/>
                </a:solidFill>
                <a:latin typeface="Consolas" panose="020B0609020204030204" pitchFamily="49" charset="0"/>
              </a:rPr>
              <a:t>print</a:t>
            </a:r>
            <a:r>
              <a:rPr lang="en-US" dirty="0">
                <a:solidFill>
                  <a:srgbClr val="5F6364"/>
                </a:solidFill>
                <a:latin typeface="Consolas" panose="020B0609020204030204" pitchFamily="49" charset="0"/>
              </a:rPr>
              <a:t>(</a:t>
            </a:r>
            <a:r>
              <a:rPr lang="en-US" dirty="0">
                <a:solidFill>
                  <a:srgbClr val="2F9C0A"/>
                </a:solidFill>
                <a:latin typeface="Consolas" panose="020B0609020204030204" pitchFamily="49" charset="0"/>
              </a:rPr>
              <a:t>'The frozen set is:'</a:t>
            </a:r>
            <a:r>
              <a:rPr lang="en-US" dirty="0">
                <a:solidFill>
                  <a:srgbClr val="5F6364"/>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froSet</a:t>
            </a:r>
            <a:r>
              <a:rPr lang="en-US" dirty="0">
                <a:solidFill>
                  <a:srgbClr val="5F6364"/>
                </a:solidFill>
                <a:latin typeface="Consolas" panose="020B0609020204030204" pitchFamily="49" charset="0"/>
              </a:rPr>
              <a:t>)</a:t>
            </a:r>
            <a:r>
              <a:rPr lang="en-US" dirty="0">
                <a:solidFill>
                  <a:srgbClr val="000000"/>
                </a:solidFill>
                <a:latin typeface="Consolas" panose="020B0609020204030204" pitchFamily="49" charset="0"/>
              </a:rPr>
              <a:t> </a:t>
            </a:r>
          </a:p>
          <a:p>
            <a:r>
              <a:rPr lang="en-US" dirty="0">
                <a:solidFill>
                  <a:srgbClr val="1990B8"/>
                </a:solidFill>
                <a:latin typeface="Consolas" panose="020B0609020204030204" pitchFamily="49" charset="0"/>
              </a:rPr>
              <a:t>print</a:t>
            </a:r>
            <a:r>
              <a:rPr lang="en-US" dirty="0">
                <a:solidFill>
                  <a:srgbClr val="5F6364"/>
                </a:solidFill>
                <a:latin typeface="Consolas" panose="020B0609020204030204" pitchFamily="49" charset="0"/>
              </a:rPr>
              <a:t>(</a:t>
            </a:r>
            <a:r>
              <a:rPr lang="en-US" dirty="0">
                <a:solidFill>
                  <a:srgbClr val="2F9C0A"/>
                </a:solidFill>
                <a:latin typeface="Consolas" panose="020B0609020204030204" pitchFamily="49" charset="0"/>
              </a:rPr>
              <a:t>'The empty frozen set is:'</a:t>
            </a:r>
            <a:r>
              <a:rPr lang="en-US" dirty="0">
                <a:solidFill>
                  <a:srgbClr val="5F6364"/>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2F9C0A"/>
                </a:solidFill>
                <a:latin typeface="Consolas" panose="020B0609020204030204" pitchFamily="49" charset="0"/>
              </a:rPr>
              <a:t>frozenset</a:t>
            </a:r>
            <a:r>
              <a:rPr lang="en-US" dirty="0">
                <a:solidFill>
                  <a:srgbClr val="5F6364"/>
                </a:solidFill>
                <a:latin typeface="Consolas" panose="020B0609020204030204" pitchFamily="49" charset="0"/>
              </a:rPr>
              <a:t>())</a:t>
            </a:r>
            <a:endParaRPr lang="en-US" dirty="0"/>
          </a:p>
        </p:txBody>
      </p:sp>
      <p:sp>
        <p:nvSpPr>
          <p:cNvPr id="6" name="Rectangle 3"/>
          <p:cNvSpPr>
            <a:spLocks noChangeArrowheads="1"/>
          </p:cNvSpPr>
          <p:nvPr/>
        </p:nvSpPr>
        <p:spPr bwMode="auto">
          <a:xfrm>
            <a:off x="963055" y="4552791"/>
            <a:ext cx="7652911" cy="1015663"/>
          </a:xfrm>
          <a:prstGeom prst="rect">
            <a:avLst/>
          </a:prstGeom>
          <a:solidFill>
            <a:srgbClr val="F8F8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Helvetica" panose="020B0604020202020204" pitchFamily="34" charset="0"/>
              </a:rPr>
              <a:t>Output:</a:t>
            </a:r>
            <a:endParaRPr kumimoji="0" lang="en-US" sz="2000" b="0" i="0" u="none" strike="noStrike" cap="none" normalizeH="0" baseline="0" dirty="0">
              <a:ln>
                <a:noFill/>
              </a:ln>
              <a:solidFill>
                <a:srgbClr val="009999"/>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009999"/>
                </a:solidFill>
                <a:effectLst/>
                <a:latin typeface="Arial Unicode MS" panose="020B0604020202020204" pitchFamily="34" charset="-128"/>
              </a:rPr>
              <a:t>The frozen set is: </a:t>
            </a:r>
            <a:r>
              <a:rPr kumimoji="0" lang="en-US" sz="2000" b="0" i="0" u="none" strike="noStrike" cap="none" normalizeH="0" baseline="0" dirty="0" err="1">
                <a:ln>
                  <a:noFill/>
                </a:ln>
                <a:solidFill>
                  <a:srgbClr val="009999"/>
                </a:solidFill>
                <a:effectLst/>
                <a:latin typeface="Arial Unicode MS" panose="020B0604020202020204" pitchFamily="34" charset="-128"/>
              </a:rPr>
              <a:t>frozenset</a:t>
            </a:r>
            <a:r>
              <a:rPr kumimoji="0" lang="en-US" sz="2000" b="0" i="0" u="none" strike="noStrike" cap="none" normalizeH="0" baseline="0" dirty="0">
                <a:ln>
                  <a:noFill/>
                </a:ln>
                <a:solidFill>
                  <a:srgbClr val="009999"/>
                </a:solidFill>
                <a:effectLst/>
                <a:latin typeface="Arial Unicode MS" panose="020B0604020202020204" pitchFamily="34" charset="-128"/>
              </a:rPr>
              <a:t>({'apple', 'mango', 'orange', 'banana'})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009999"/>
                </a:solidFill>
                <a:effectLst/>
                <a:latin typeface="Arial Unicode MS" panose="020B0604020202020204" pitchFamily="34" charset="-128"/>
              </a:rPr>
              <a:t>The empty frozen set is: </a:t>
            </a:r>
            <a:r>
              <a:rPr kumimoji="0" lang="en-US" sz="2000" b="0" i="0" u="none" strike="noStrike" cap="none" normalizeH="0" baseline="0" dirty="0" err="1">
                <a:ln>
                  <a:noFill/>
                </a:ln>
                <a:solidFill>
                  <a:srgbClr val="009999"/>
                </a:solidFill>
                <a:effectLst/>
                <a:latin typeface="Arial Unicode MS" panose="020B0604020202020204" pitchFamily="34" charset="-128"/>
              </a:rPr>
              <a:t>frozenset</a:t>
            </a:r>
            <a:r>
              <a:rPr kumimoji="0" lang="en-US" sz="2000" b="0" i="0" u="none" strike="noStrike" cap="none" normalizeH="0" baseline="0" dirty="0">
                <a:ln>
                  <a:noFill/>
                </a:ln>
                <a:solidFill>
                  <a:srgbClr val="009999"/>
                </a:solidFill>
                <a:effectLst/>
                <a:latin typeface="Arial Unicode MS" panose="020B0604020202020204" pitchFamily="34" charset="-128"/>
              </a:rPr>
              <a:t>()</a:t>
            </a:r>
            <a:r>
              <a:rPr kumimoji="0" lang="en-US" b="0" i="0" u="none" strike="noStrike" cap="none" normalizeH="0" baseline="0" dirty="0">
                <a:ln>
                  <a:noFill/>
                </a:ln>
                <a:solidFill>
                  <a:schemeClr val="tx1"/>
                </a:solidFill>
                <a:effectLst/>
              </a:rPr>
              <a:t> </a:t>
            </a:r>
            <a:endParaRPr kumimoji="0" 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7513010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509A0-E1E5-8743-BE69-A501EF0AEAEA}"/>
              </a:ext>
            </a:extLst>
          </p:cNvPr>
          <p:cNvSpPr>
            <a:spLocks noGrp="1"/>
          </p:cNvSpPr>
          <p:nvPr>
            <p:ph type="title"/>
          </p:nvPr>
        </p:nvSpPr>
        <p:spPr/>
        <p:txBody>
          <a:bodyPr>
            <a:normAutofit/>
          </a:bodyPr>
          <a:lstStyle/>
          <a:p>
            <a:r>
              <a:rPr lang="en-US" sz="4000" dirty="0"/>
              <a:t>OPERATORS IN PYTHON</a:t>
            </a:r>
          </a:p>
        </p:txBody>
      </p:sp>
      <p:sp>
        <p:nvSpPr>
          <p:cNvPr id="3" name="Content Placeholder 2">
            <a:extLst>
              <a:ext uri="{FF2B5EF4-FFF2-40B4-BE49-F238E27FC236}">
                <a16:creationId xmlns:a16="http://schemas.microsoft.com/office/drawing/2014/main" id="{92C590D5-6265-3044-8B1E-84A2D728D59B}"/>
              </a:ext>
            </a:extLst>
          </p:cNvPr>
          <p:cNvSpPr>
            <a:spLocks noGrp="1"/>
          </p:cNvSpPr>
          <p:nvPr>
            <p:ph idx="1"/>
          </p:nvPr>
        </p:nvSpPr>
        <p:spPr/>
        <p:txBody>
          <a:bodyPr>
            <a:normAutofit/>
          </a:bodyPr>
          <a:lstStyle/>
          <a:p>
            <a:r>
              <a:rPr lang="en-IN" dirty="0">
                <a:solidFill>
                  <a:schemeClr val="tx1"/>
                </a:solidFill>
              </a:rPr>
              <a:t>Arithmetic operators</a:t>
            </a:r>
          </a:p>
          <a:p>
            <a:r>
              <a:rPr lang="en-IN" dirty="0">
                <a:solidFill>
                  <a:schemeClr val="tx1"/>
                </a:solidFill>
              </a:rPr>
              <a:t>Assignment operators</a:t>
            </a:r>
          </a:p>
          <a:p>
            <a:r>
              <a:rPr lang="en-IN" dirty="0">
                <a:solidFill>
                  <a:schemeClr val="tx1"/>
                </a:solidFill>
              </a:rPr>
              <a:t>Comparison operators/Relational operators</a:t>
            </a:r>
          </a:p>
          <a:p>
            <a:r>
              <a:rPr lang="en-IN" dirty="0">
                <a:solidFill>
                  <a:schemeClr val="tx1"/>
                </a:solidFill>
              </a:rPr>
              <a:t>Logical operators</a:t>
            </a:r>
          </a:p>
          <a:p>
            <a:r>
              <a:rPr lang="en-IN" dirty="0">
                <a:solidFill>
                  <a:schemeClr val="tx1"/>
                </a:solidFill>
              </a:rPr>
              <a:t>Identity operators</a:t>
            </a:r>
          </a:p>
          <a:p>
            <a:r>
              <a:rPr lang="en-IN" dirty="0">
                <a:solidFill>
                  <a:schemeClr val="tx1"/>
                </a:solidFill>
              </a:rPr>
              <a:t>Membership operators</a:t>
            </a:r>
          </a:p>
          <a:p>
            <a:r>
              <a:rPr lang="en-IN" dirty="0">
                <a:solidFill>
                  <a:schemeClr val="tx1"/>
                </a:solidFill>
              </a:rPr>
              <a:t>Bitwise operators</a:t>
            </a:r>
          </a:p>
          <a:p>
            <a:endParaRPr lang="en-US" sz="1800" dirty="0">
              <a:solidFill>
                <a:schemeClr val="tx1"/>
              </a:solidFill>
            </a:endParaRPr>
          </a:p>
        </p:txBody>
      </p:sp>
    </p:spTree>
    <p:extLst>
      <p:ext uri="{BB962C8B-B14F-4D97-AF65-F5344CB8AC3E}">
        <p14:creationId xmlns:p14="http://schemas.microsoft.com/office/powerpoint/2010/main" val="1826841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C2041-EE4E-2E48-AEDA-5244E449CA4C}"/>
              </a:ext>
            </a:extLst>
          </p:cNvPr>
          <p:cNvSpPr>
            <a:spLocks noGrp="1"/>
          </p:cNvSpPr>
          <p:nvPr>
            <p:ph type="title"/>
          </p:nvPr>
        </p:nvSpPr>
        <p:spPr/>
        <p:txBody>
          <a:bodyPr/>
          <a:lstStyle/>
          <a:p>
            <a:r>
              <a:rPr lang="en-US" dirty="0"/>
              <a:t>Arithmetic Operators</a:t>
            </a:r>
          </a:p>
        </p:txBody>
      </p:sp>
      <p:pic>
        <p:nvPicPr>
          <p:cNvPr id="5" name="Content Placeholder 4">
            <a:extLst>
              <a:ext uri="{FF2B5EF4-FFF2-40B4-BE49-F238E27FC236}">
                <a16:creationId xmlns:a16="http://schemas.microsoft.com/office/drawing/2014/main" id="{79F81627-A020-B34E-B83D-498BDCB614F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85364" y="1992505"/>
            <a:ext cx="7539318" cy="4251902"/>
          </a:xfrm>
        </p:spPr>
      </p:pic>
    </p:spTree>
    <p:extLst>
      <p:ext uri="{BB962C8B-B14F-4D97-AF65-F5344CB8AC3E}">
        <p14:creationId xmlns:p14="http://schemas.microsoft.com/office/powerpoint/2010/main" val="24349711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72225" y="325309"/>
            <a:ext cx="6096000" cy="6186309"/>
          </a:xfrm>
          <a:prstGeom prst="rect">
            <a:avLst/>
          </a:prstGeom>
        </p:spPr>
        <p:txBody>
          <a:bodyPr>
            <a:spAutoFit/>
          </a:bodyPr>
          <a:lstStyle/>
          <a:p>
            <a:r>
              <a:rPr lang="en-US" b="1" dirty="0">
                <a:solidFill>
                  <a:srgbClr val="FF0000"/>
                </a:solidFill>
              </a:rPr>
              <a:t># Arithmetic Operators Program</a:t>
            </a:r>
          </a:p>
          <a:p>
            <a:endParaRPr lang="en-US" dirty="0"/>
          </a:p>
          <a:p>
            <a:r>
              <a:rPr lang="en-US" dirty="0"/>
              <a:t># Initialize variables</a:t>
            </a:r>
          </a:p>
          <a:p>
            <a:r>
              <a:rPr lang="en-US" dirty="0"/>
              <a:t>num1 = 10</a:t>
            </a:r>
          </a:p>
          <a:p>
            <a:r>
              <a:rPr lang="en-US" dirty="0"/>
              <a:t>num2 = 3</a:t>
            </a:r>
          </a:p>
          <a:p>
            <a:r>
              <a:rPr lang="en-US" dirty="0"/>
              <a:t># Display initial values</a:t>
            </a:r>
          </a:p>
          <a:p>
            <a:r>
              <a:rPr lang="en-US" dirty="0"/>
              <a:t>print("Initial values:")</a:t>
            </a:r>
          </a:p>
          <a:p>
            <a:r>
              <a:rPr lang="en-US" dirty="0"/>
              <a:t>print("num1 =", num1)</a:t>
            </a:r>
          </a:p>
          <a:p>
            <a:r>
              <a:rPr lang="en-US" dirty="0"/>
              <a:t>print("num2 =", num2)</a:t>
            </a:r>
          </a:p>
          <a:p>
            <a:r>
              <a:rPr lang="en-US" dirty="0"/>
              <a:t># Arithmetic operators</a:t>
            </a:r>
          </a:p>
          <a:p>
            <a:r>
              <a:rPr lang="en-US" dirty="0" err="1"/>
              <a:t>addition_result</a:t>
            </a:r>
            <a:r>
              <a:rPr lang="en-US" dirty="0"/>
              <a:t> = num1 + num2  # Addition</a:t>
            </a:r>
          </a:p>
          <a:p>
            <a:r>
              <a:rPr lang="en-US" dirty="0"/>
              <a:t>print("\</a:t>
            </a:r>
            <a:r>
              <a:rPr lang="en-US" dirty="0" err="1"/>
              <a:t>nAddition</a:t>
            </a:r>
            <a:r>
              <a:rPr lang="en-US" dirty="0"/>
              <a:t> Result:")</a:t>
            </a:r>
          </a:p>
          <a:p>
            <a:r>
              <a:rPr lang="en-US" dirty="0"/>
              <a:t>print("num1 + num2 =", </a:t>
            </a:r>
            <a:r>
              <a:rPr lang="en-US" dirty="0" err="1"/>
              <a:t>addition_result</a:t>
            </a:r>
            <a:r>
              <a:rPr lang="en-US" dirty="0"/>
              <a:t>)</a:t>
            </a:r>
          </a:p>
          <a:p>
            <a:endParaRPr lang="en-US" dirty="0"/>
          </a:p>
          <a:p>
            <a:r>
              <a:rPr lang="en-US" dirty="0" err="1"/>
              <a:t>subtraction_result</a:t>
            </a:r>
            <a:r>
              <a:rPr lang="en-US" dirty="0"/>
              <a:t> = num1 - num2  # Subtraction</a:t>
            </a:r>
          </a:p>
          <a:p>
            <a:r>
              <a:rPr lang="en-US" dirty="0"/>
              <a:t>print("\</a:t>
            </a:r>
            <a:r>
              <a:rPr lang="en-US" dirty="0" err="1"/>
              <a:t>nSubtraction</a:t>
            </a:r>
            <a:r>
              <a:rPr lang="en-US" dirty="0"/>
              <a:t> Result:")</a:t>
            </a:r>
          </a:p>
          <a:p>
            <a:r>
              <a:rPr lang="en-US" dirty="0"/>
              <a:t>print("num1 - num2 =", </a:t>
            </a:r>
            <a:r>
              <a:rPr lang="en-US" dirty="0" err="1"/>
              <a:t>subtraction_result</a:t>
            </a:r>
            <a:r>
              <a:rPr lang="en-US" dirty="0"/>
              <a:t>)</a:t>
            </a:r>
          </a:p>
          <a:p>
            <a:endParaRPr lang="en-US" dirty="0"/>
          </a:p>
          <a:p>
            <a:r>
              <a:rPr lang="en-US" dirty="0" err="1"/>
              <a:t>multiplication_result</a:t>
            </a:r>
            <a:r>
              <a:rPr lang="en-US" dirty="0"/>
              <a:t> = num1 * num2  # Multiplication</a:t>
            </a:r>
          </a:p>
          <a:p>
            <a:r>
              <a:rPr lang="en-US" dirty="0"/>
              <a:t>print("\</a:t>
            </a:r>
            <a:r>
              <a:rPr lang="en-US" dirty="0" err="1"/>
              <a:t>nMultiplication</a:t>
            </a:r>
            <a:r>
              <a:rPr lang="en-US" dirty="0"/>
              <a:t> Result:")</a:t>
            </a:r>
          </a:p>
          <a:p>
            <a:r>
              <a:rPr lang="en-US" dirty="0"/>
              <a:t>print("num1 * num2 =", </a:t>
            </a:r>
            <a:r>
              <a:rPr lang="en-US" dirty="0" err="1"/>
              <a:t>multiplication_result</a:t>
            </a:r>
            <a:r>
              <a:rPr lang="en-US" dirty="0"/>
              <a:t>)</a:t>
            </a:r>
          </a:p>
          <a:p>
            <a:endParaRPr lang="en-US" dirty="0"/>
          </a:p>
        </p:txBody>
      </p:sp>
      <p:sp>
        <p:nvSpPr>
          <p:cNvPr id="5" name="Rectangle 4"/>
          <p:cNvSpPr/>
          <p:nvPr/>
        </p:nvSpPr>
        <p:spPr>
          <a:xfrm>
            <a:off x="6096000" y="474345"/>
            <a:ext cx="6096000" cy="4247317"/>
          </a:xfrm>
          <a:prstGeom prst="rect">
            <a:avLst/>
          </a:prstGeom>
        </p:spPr>
        <p:txBody>
          <a:bodyPr>
            <a:spAutoFit/>
          </a:bodyPr>
          <a:lstStyle/>
          <a:p>
            <a:r>
              <a:rPr lang="en-US" dirty="0" err="1"/>
              <a:t>division_result</a:t>
            </a:r>
            <a:r>
              <a:rPr lang="en-US" dirty="0"/>
              <a:t> = num1 / num2  # Division</a:t>
            </a:r>
          </a:p>
          <a:p>
            <a:r>
              <a:rPr lang="en-US" dirty="0"/>
              <a:t>print("\</a:t>
            </a:r>
            <a:r>
              <a:rPr lang="en-US" dirty="0" err="1"/>
              <a:t>nDivision</a:t>
            </a:r>
            <a:r>
              <a:rPr lang="en-US" dirty="0"/>
              <a:t> Result:")</a:t>
            </a:r>
          </a:p>
          <a:p>
            <a:r>
              <a:rPr lang="en-US" dirty="0"/>
              <a:t>print("num1 / num2 =", </a:t>
            </a:r>
            <a:r>
              <a:rPr lang="en-US" dirty="0" err="1"/>
              <a:t>division_result</a:t>
            </a:r>
            <a:r>
              <a:rPr lang="en-US" dirty="0"/>
              <a:t>)</a:t>
            </a:r>
          </a:p>
          <a:p>
            <a:endParaRPr lang="en-US" dirty="0"/>
          </a:p>
          <a:p>
            <a:r>
              <a:rPr lang="en-US" dirty="0" err="1"/>
              <a:t>floor_division_result</a:t>
            </a:r>
            <a:r>
              <a:rPr lang="en-US" dirty="0"/>
              <a:t> = num1 // num2  # Floor Division</a:t>
            </a:r>
          </a:p>
          <a:p>
            <a:r>
              <a:rPr lang="en-US" dirty="0"/>
              <a:t>print("\</a:t>
            </a:r>
            <a:r>
              <a:rPr lang="en-US" dirty="0" err="1"/>
              <a:t>nFloor</a:t>
            </a:r>
            <a:r>
              <a:rPr lang="en-US" dirty="0"/>
              <a:t> Division Result:")</a:t>
            </a:r>
          </a:p>
          <a:p>
            <a:r>
              <a:rPr lang="en-US" dirty="0"/>
              <a:t>print("num1 // num2 =", </a:t>
            </a:r>
            <a:r>
              <a:rPr lang="en-US" dirty="0" err="1"/>
              <a:t>floor_division_result</a:t>
            </a:r>
            <a:r>
              <a:rPr lang="en-US" dirty="0"/>
              <a:t>)</a:t>
            </a:r>
          </a:p>
          <a:p>
            <a:endParaRPr lang="en-US" dirty="0"/>
          </a:p>
          <a:p>
            <a:r>
              <a:rPr lang="en-US" dirty="0" err="1"/>
              <a:t>exponentiation_result</a:t>
            </a:r>
            <a:r>
              <a:rPr lang="en-US" dirty="0"/>
              <a:t> = num1 ** num2  # Exponentiation</a:t>
            </a:r>
          </a:p>
          <a:p>
            <a:r>
              <a:rPr lang="en-US" dirty="0"/>
              <a:t>print("\</a:t>
            </a:r>
            <a:r>
              <a:rPr lang="en-US" dirty="0" err="1"/>
              <a:t>nExponentiation</a:t>
            </a:r>
            <a:r>
              <a:rPr lang="en-US" dirty="0"/>
              <a:t> Result:")</a:t>
            </a:r>
          </a:p>
          <a:p>
            <a:r>
              <a:rPr lang="en-US" dirty="0"/>
              <a:t>print("num1 ** num2 =", </a:t>
            </a:r>
            <a:r>
              <a:rPr lang="en-US" dirty="0" err="1"/>
              <a:t>exponentiation_result</a:t>
            </a:r>
            <a:r>
              <a:rPr lang="en-US" dirty="0"/>
              <a:t>)</a:t>
            </a:r>
          </a:p>
          <a:p>
            <a:endParaRPr lang="en-US" dirty="0"/>
          </a:p>
          <a:p>
            <a:r>
              <a:rPr lang="en-US" dirty="0" err="1"/>
              <a:t>modulus_result</a:t>
            </a:r>
            <a:r>
              <a:rPr lang="en-US" dirty="0"/>
              <a:t> = num1 % num2  # Modulus</a:t>
            </a:r>
          </a:p>
          <a:p>
            <a:r>
              <a:rPr lang="en-US" dirty="0"/>
              <a:t>print("\</a:t>
            </a:r>
            <a:r>
              <a:rPr lang="en-US" dirty="0" err="1"/>
              <a:t>nModulus</a:t>
            </a:r>
            <a:r>
              <a:rPr lang="en-US" dirty="0"/>
              <a:t> Result:")</a:t>
            </a:r>
          </a:p>
          <a:p>
            <a:r>
              <a:rPr lang="en-US" dirty="0"/>
              <a:t>print("num1 % num2 =", </a:t>
            </a:r>
            <a:r>
              <a:rPr lang="en-US" dirty="0" err="1"/>
              <a:t>modulus_result</a:t>
            </a:r>
            <a:r>
              <a:rPr lang="en-US" dirty="0"/>
              <a:t>)</a:t>
            </a:r>
          </a:p>
        </p:txBody>
      </p:sp>
    </p:spTree>
    <p:extLst>
      <p:ext uri="{BB962C8B-B14F-4D97-AF65-F5344CB8AC3E}">
        <p14:creationId xmlns:p14="http://schemas.microsoft.com/office/powerpoint/2010/main" val="384215922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8F16D-CDEA-3C4B-9822-0B102D4EC608}"/>
              </a:ext>
            </a:extLst>
          </p:cNvPr>
          <p:cNvSpPr>
            <a:spLocks noGrp="1"/>
          </p:cNvSpPr>
          <p:nvPr>
            <p:ph type="title"/>
          </p:nvPr>
        </p:nvSpPr>
        <p:spPr>
          <a:xfrm>
            <a:off x="838200" y="365126"/>
            <a:ext cx="10515600" cy="497760"/>
          </a:xfrm>
        </p:spPr>
        <p:txBody>
          <a:bodyPr>
            <a:normAutofit fontScale="90000"/>
          </a:bodyPr>
          <a:lstStyle/>
          <a:p>
            <a:r>
              <a:rPr lang="en-US" dirty="0"/>
              <a:t>Assignment Operators</a:t>
            </a:r>
          </a:p>
        </p:txBody>
      </p:sp>
      <p:pic>
        <p:nvPicPr>
          <p:cNvPr id="5" name="Content Placeholder 4">
            <a:extLst>
              <a:ext uri="{FF2B5EF4-FFF2-40B4-BE49-F238E27FC236}">
                <a16:creationId xmlns:a16="http://schemas.microsoft.com/office/drawing/2014/main" id="{12D82C87-B9DB-DC48-BF06-13CAF49705D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99961" y="957728"/>
            <a:ext cx="5925671" cy="5462390"/>
          </a:xfrm>
        </p:spPr>
      </p:pic>
    </p:spTree>
    <p:extLst>
      <p:ext uri="{BB962C8B-B14F-4D97-AF65-F5344CB8AC3E}">
        <p14:creationId xmlns:p14="http://schemas.microsoft.com/office/powerpoint/2010/main" val="41693545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97983" y="363947"/>
            <a:ext cx="6096000" cy="6463308"/>
          </a:xfrm>
          <a:prstGeom prst="rect">
            <a:avLst/>
          </a:prstGeom>
        </p:spPr>
        <p:txBody>
          <a:bodyPr>
            <a:spAutoFit/>
          </a:bodyPr>
          <a:lstStyle/>
          <a:p>
            <a:r>
              <a:rPr lang="en-US" b="1" dirty="0">
                <a:solidFill>
                  <a:srgbClr val="FF0000"/>
                </a:solidFill>
              </a:rPr>
              <a:t># Assignment Operators Program</a:t>
            </a:r>
          </a:p>
          <a:p>
            <a:endParaRPr lang="en-US" dirty="0"/>
          </a:p>
          <a:p>
            <a:r>
              <a:rPr lang="en-US" dirty="0"/>
              <a:t># Initialize variables</a:t>
            </a:r>
          </a:p>
          <a:p>
            <a:r>
              <a:rPr lang="en-US" dirty="0"/>
              <a:t>a = 5</a:t>
            </a:r>
          </a:p>
          <a:p>
            <a:r>
              <a:rPr lang="en-US" dirty="0"/>
              <a:t>b = 2</a:t>
            </a:r>
          </a:p>
          <a:p>
            <a:r>
              <a:rPr lang="en-US" dirty="0"/>
              <a:t># Display initial values</a:t>
            </a:r>
          </a:p>
          <a:p>
            <a:r>
              <a:rPr lang="en-US" dirty="0"/>
              <a:t>print("Initial values:")</a:t>
            </a:r>
          </a:p>
          <a:p>
            <a:r>
              <a:rPr lang="en-US" dirty="0"/>
              <a:t>print("a =", a)</a:t>
            </a:r>
          </a:p>
          <a:p>
            <a:r>
              <a:rPr lang="en-US" dirty="0"/>
              <a:t>print("b =", b)</a:t>
            </a:r>
          </a:p>
          <a:p>
            <a:endParaRPr lang="en-US" dirty="0"/>
          </a:p>
          <a:p>
            <a:r>
              <a:rPr lang="en-US" dirty="0"/>
              <a:t># Assignment operators</a:t>
            </a:r>
          </a:p>
          <a:p>
            <a:r>
              <a:rPr lang="en-US" dirty="0"/>
              <a:t>a += b  # Equivalent to a = a + b</a:t>
            </a:r>
          </a:p>
          <a:p>
            <a:r>
              <a:rPr lang="en-US" dirty="0"/>
              <a:t>print("\</a:t>
            </a:r>
            <a:r>
              <a:rPr lang="en-US" dirty="0" err="1"/>
              <a:t>nAfter</a:t>
            </a:r>
            <a:r>
              <a:rPr lang="en-US" dirty="0"/>
              <a:t> 'a += b':")</a:t>
            </a:r>
          </a:p>
          <a:p>
            <a:r>
              <a:rPr lang="en-US" dirty="0"/>
              <a:t>print("a =", a)</a:t>
            </a:r>
          </a:p>
          <a:p>
            <a:endParaRPr lang="en-US" dirty="0"/>
          </a:p>
          <a:p>
            <a:r>
              <a:rPr lang="en-US" dirty="0"/>
              <a:t>a -= b  # Equivalent to a = a - b</a:t>
            </a:r>
          </a:p>
          <a:p>
            <a:r>
              <a:rPr lang="en-US" dirty="0"/>
              <a:t>print("\</a:t>
            </a:r>
            <a:r>
              <a:rPr lang="en-US" dirty="0" err="1"/>
              <a:t>nAfter</a:t>
            </a:r>
            <a:r>
              <a:rPr lang="en-US" dirty="0"/>
              <a:t> 'a -= b':")</a:t>
            </a:r>
          </a:p>
          <a:p>
            <a:r>
              <a:rPr lang="en-US" dirty="0"/>
              <a:t>print("a =", a)</a:t>
            </a:r>
          </a:p>
          <a:p>
            <a:endParaRPr lang="en-US" dirty="0"/>
          </a:p>
          <a:p>
            <a:r>
              <a:rPr lang="en-US" dirty="0"/>
              <a:t>a *= b  # Equivalent to a = a * b</a:t>
            </a:r>
          </a:p>
          <a:p>
            <a:r>
              <a:rPr lang="en-US" dirty="0"/>
              <a:t>print("\</a:t>
            </a:r>
            <a:r>
              <a:rPr lang="en-US" dirty="0" err="1"/>
              <a:t>nAfter</a:t>
            </a:r>
            <a:r>
              <a:rPr lang="en-US" dirty="0"/>
              <a:t> 'a *= b':")</a:t>
            </a:r>
          </a:p>
          <a:p>
            <a:r>
              <a:rPr lang="en-US" dirty="0"/>
              <a:t>print("a =", a)</a:t>
            </a:r>
          </a:p>
          <a:p>
            <a:endParaRPr lang="en-US" dirty="0"/>
          </a:p>
        </p:txBody>
      </p:sp>
      <p:sp>
        <p:nvSpPr>
          <p:cNvPr id="5" name="Rectangle 4"/>
          <p:cNvSpPr/>
          <p:nvPr/>
        </p:nvSpPr>
        <p:spPr>
          <a:xfrm>
            <a:off x="6001553" y="654649"/>
            <a:ext cx="4468969" cy="4247317"/>
          </a:xfrm>
          <a:prstGeom prst="rect">
            <a:avLst/>
          </a:prstGeom>
        </p:spPr>
        <p:txBody>
          <a:bodyPr wrap="square">
            <a:spAutoFit/>
          </a:bodyPr>
          <a:lstStyle/>
          <a:p>
            <a:r>
              <a:rPr lang="en-US" dirty="0"/>
              <a:t>a /= b  # Equivalent to a = a / b</a:t>
            </a:r>
          </a:p>
          <a:p>
            <a:r>
              <a:rPr lang="en-US" dirty="0"/>
              <a:t>print("\</a:t>
            </a:r>
            <a:r>
              <a:rPr lang="en-US" dirty="0" err="1"/>
              <a:t>nAfter</a:t>
            </a:r>
            <a:r>
              <a:rPr lang="en-US" dirty="0"/>
              <a:t> 'a /= b':")</a:t>
            </a:r>
          </a:p>
          <a:p>
            <a:r>
              <a:rPr lang="en-US" dirty="0"/>
              <a:t>print("a =", a)</a:t>
            </a:r>
          </a:p>
          <a:p>
            <a:endParaRPr lang="en-US" dirty="0"/>
          </a:p>
          <a:p>
            <a:r>
              <a:rPr lang="en-US" dirty="0"/>
              <a:t>a //= b  # Equivalent to a = a // b</a:t>
            </a:r>
          </a:p>
          <a:p>
            <a:r>
              <a:rPr lang="en-US" dirty="0"/>
              <a:t>print("\</a:t>
            </a:r>
            <a:r>
              <a:rPr lang="en-US" dirty="0" err="1"/>
              <a:t>nAfter</a:t>
            </a:r>
            <a:r>
              <a:rPr lang="en-US" dirty="0"/>
              <a:t> 'a //= b':")</a:t>
            </a:r>
          </a:p>
          <a:p>
            <a:r>
              <a:rPr lang="en-US" dirty="0"/>
              <a:t>print("a =", a)</a:t>
            </a:r>
          </a:p>
          <a:p>
            <a:endParaRPr lang="en-US" dirty="0"/>
          </a:p>
          <a:p>
            <a:r>
              <a:rPr lang="en-US" dirty="0"/>
              <a:t>a **= b  # Equivalent to a = a ** b</a:t>
            </a:r>
          </a:p>
          <a:p>
            <a:r>
              <a:rPr lang="en-US" dirty="0"/>
              <a:t>print("\</a:t>
            </a:r>
            <a:r>
              <a:rPr lang="en-US" dirty="0" err="1"/>
              <a:t>nAfter</a:t>
            </a:r>
            <a:r>
              <a:rPr lang="en-US" dirty="0"/>
              <a:t> 'a **= b':")</a:t>
            </a:r>
          </a:p>
          <a:p>
            <a:r>
              <a:rPr lang="en-US" dirty="0"/>
              <a:t>print("a =", a)</a:t>
            </a:r>
          </a:p>
          <a:p>
            <a:endParaRPr lang="en-US" dirty="0"/>
          </a:p>
          <a:p>
            <a:r>
              <a:rPr lang="en-US" dirty="0"/>
              <a:t>a %= b  # Equivalent to a = a % b</a:t>
            </a:r>
          </a:p>
          <a:p>
            <a:r>
              <a:rPr lang="en-US" dirty="0"/>
              <a:t>print("\</a:t>
            </a:r>
            <a:r>
              <a:rPr lang="en-US" dirty="0" err="1"/>
              <a:t>nAfter</a:t>
            </a:r>
            <a:r>
              <a:rPr lang="en-US" dirty="0"/>
              <a:t> 'a %= b':")</a:t>
            </a:r>
          </a:p>
          <a:p>
            <a:r>
              <a:rPr lang="en-US" dirty="0"/>
              <a:t>print("a =", a)</a:t>
            </a:r>
          </a:p>
        </p:txBody>
      </p:sp>
    </p:spTree>
    <p:extLst>
      <p:ext uri="{BB962C8B-B14F-4D97-AF65-F5344CB8AC3E}">
        <p14:creationId xmlns:p14="http://schemas.microsoft.com/office/powerpoint/2010/main" val="6764166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FF36F-7FA6-CC4F-B82F-470BA885B9AF}"/>
              </a:ext>
            </a:extLst>
          </p:cNvPr>
          <p:cNvSpPr>
            <a:spLocks noGrp="1"/>
          </p:cNvSpPr>
          <p:nvPr>
            <p:ph type="title"/>
          </p:nvPr>
        </p:nvSpPr>
        <p:spPr/>
        <p:txBody>
          <a:bodyPr/>
          <a:lstStyle/>
          <a:p>
            <a:r>
              <a:rPr lang="en-US" dirty="0"/>
              <a:t>Comparison Operators</a:t>
            </a:r>
          </a:p>
        </p:txBody>
      </p:sp>
      <p:pic>
        <p:nvPicPr>
          <p:cNvPr id="5" name="Content Placeholder 4">
            <a:extLst>
              <a:ext uri="{FF2B5EF4-FFF2-40B4-BE49-F238E27FC236}">
                <a16:creationId xmlns:a16="http://schemas.microsoft.com/office/drawing/2014/main" id="{9283839B-8C17-C249-A658-745681DFDD1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34034" y="1882520"/>
            <a:ext cx="8480613" cy="4141340"/>
          </a:xfrm>
        </p:spPr>
      </p:pic>
    </p:spTree>
    <p:extLst>
      <p:ext uri="{BB962C8B-B14F-4D97-AF65-F5344CB8AC3E}">
        <p14:creationId xmlns:p14="http://schemas.microsoft.com/office/powerpoint/2010/main" val="39300912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3436" y="486399"/>
            <a:ext cx="6096000" cy="5632311"/>
          </a:xfrm>
          <a:prstGeom prst="rect">
            <a:avLst/>
          </a:prstGeom>
        </p:spPr>
        <p:txBody>
          <a:bodyPr>
            <a:spAutoFit/>
          </a:bodyPr>
          <a:lstStyle/>
          <a:p>
            <a:r>
              <a:rPr lang="en-US" b="1" dirty="0">
                <a:solidFill>
                  <a:srgbClr val="FF0000"/>
                </a:solidFill>
              </a:rPr>
              <a:t># Relational Operators Program</a:t>
            </a:r>
          </a:p>
          <a:p>
            <a:endParaRPr lang="en-US" dirty="0"/>
          </a:p>
          <a:p>
            <a:r>
              <a:rPr lang="en-US" dirty="0"/>
              <a:t># Initialize variables</a:t>
            </a:r>
          </a:p>
          <a:p>
            <a:r>
              <a:rPr lang="en-US" dirty="0"/>
              <a:t>num1 = 10</a:t>
            </a:r>
          </a:p>
          <a:p>
            <a:r>
              <a:rPr lang="en-US" dirty="0"/>
              <a:t>num2 = 5</a:t>
            </a:r>
          </a:p>
          <a:p>
            <a:endParaRPr lang="en-US" dirty="0"/>
          </a:p>
          <a:p>
            <a:r>
              <a:rPr lang="en-US" dirty="0"/>
              <a:t># Display initial values</a:t>
            </a:r>
          </a:p>
          <a:p>
            <a:r>
              <a:rPr lang="en-US" dirty="0"/>
              <a:t>print("Initial values:")</a:t>
            </a:r>
          </a:p>
          <a:p>
            <a:r>
              <a:rPr lang="en-US" dirty="0"/>
              <a:t>print("num1 =", num1)</a:t>
            </a:r>
          </a:p>
          <a:p>
            <a:r>
              <a:rPr lang="en-US" dirty="0"/>
              <a:t>print("num2 =", num2)</a:t>
            </a:r>
          </a:p>
          <a:p>
            <a:endParaRPr lang="en-US" dirty="0"/>
          </a:p>
          <a:p>
            <a:r>
              <a:rPr lang="en-US" dirty="0"/>
              <a:t># Relational operators</a:t>
            </a:r>
          </a:p>
          <a:p>
            <a:r>
              <a:rPr lang="en-US" dirty="0" err="1"/>
              <a:t>equal_result</a:t>
            </a:r>
            <a:r>
              <a:rPr lang="en-US" dirty="0"/>
              <a:t> = num1 == num2  # Equal to</a:t>
            </a:r>
          </a:p>
          <a:p>
            <a:r>
              <a:rPr lang="en-US" dirty="0"/>
              <a:t>print("\</a:t>
            </a:r>
            <a:r>
              <a:rPr lang="en-US" dirty="0" err="1"/>
              <a:t>nEqual</a:t>
            </a:r>
            <a:r>
              <a:rPr lang="en-US" dirty="0"/>
              <a:t> Result:")</a:t>
            </a:r>
          </a:p>
          <a:p>
            <a:r>
              <a:rPr lang="en-US" dirty="0"/>
              <a:t>print("num1 == num2 is", </a:t>
            </a:r>
            <a:r>
              <a:rPr lang="en-US" dirty="0" err="1"/>
              <a:t>equal_result</a:t>
            </a:r>
            <a:r>
              <a:rPr lang="en-US" dirty="0"/>
              <a:t>)</a:t>
            </a:r>
          </a:p>
          <a:p>
            <a:endParaRPr lang="en-US" dirty="0"/>
          </a:p>
          <a:p>
            <a:r>
              <a:rPr lang="en-US" dirty="0" err="1"/>
              <a:t>not_equal_result</a:t>
            </a:r>
            <a:r>
              <a:rPr lang="en-US" dirty="0"/>
              <a:t> = num1 != num2  # Not equal to</a:t>
            </a:r>
          </a:p>
          <a:p>
            <a:r>
              <a:rPr lang="en-US" dirty="0"/>
              <a:t>print("\</a:t>
            </a:r>
            <a:r>
              <a:rPr lang="en-US" dirty="0" err="1"/>
              <a:t>nNot</a:t>
            </a:r>
            <a:r>
              <a:rPr lang="en-US" dirty="0"/>
              <a:t> Equal Result:")</a:t>
            </a:r>
          </a:p>
          <a:p>
            <a:r>
              <a:rPr lang="en-US" dirty="0"/>
              <a:t>print("num1 != num2 is", </a:t>
            </a:r>
            <a:r>
              <a:rPr lang="en-US" dirty="0" err="1"/>
              <a:t>not_equal_result</a:t>
            </a:r>
            <a:r>
              <a:rPr lang="en-US" dirty="0"/>
              <a:t>)</a:t>
            </a:r>
          </a:p>
          <a:p>
            <a:endParaRPr lang="en-US" dirty="0"/>
          </a:p>
        </p:txBody>
      </p:sp>
      <p:sp>
        <p:nvSpPr>
          <p:cNvPr id="5" name="Rectangle 4"/>
          <p:cNvSpPr/>
          <p:nvPr/>
        </p:nvSpPr>
        <p:spPr>
          <a:xfrm>
            <a:off x="5726805" y="371520"/>
            <a:ext cx="6353577" cy="4524315"/>
          </a:xfrm>
          <a:prstGeom prst="rect">
            <a:avLst/>
          </a:prstGeom>
        </p:spPr>
        <p:txBody>
          <a:bodyPr wrap="square">
            <a:spAutoFit/>
          </a:bodyPr>
          <a:lstStyle/>
          <a:p>
            <a:r>
              <a:rPr lang="en-US" dirty="0" err="1"/>
              <a:t>greater_than_result</a:t>
            </a:r>
            <a:r>
              <a:rPr lang="en-US" dirty="0"/>
              <a:t> = num1 &gt; num2  # Greater than</a:t>
            </a:r>
          </a:p>
          <a:p>
            <a:r>
              <a:rPr lang="en-US" dirty="0"/>
              <a:t>print("\</a:t>
            </a:r>
            <a:r>
              <a:rPr lang="en-US" dirty="0" err="1"/>
              <a:t>nGreater</a:t>
            </a:r>
            <a:r>
              <a:rPr lang="en-US" dirty="0"/>
              <a:t> Than Result:")</a:t>
            </a:r>
          </a:p>
          <a:p>
            <a:r>
              <a:rPr lang="en-US" dirty="0"/>
              <a:t>print("num1 &gt; num2 is", </a:t>
            </a:r>
            <a:r>
              <a:rPr lang="en-US" dirty="0" err="1"/>
              <a:t>greater_than_result</a:t>
            </a:r>
            <a:r>
              <a:rPr lang="en-US" dirty="0"/>
              <a:t>)</a:t>
            </a:r>
          </a:p>
          <a:p>
            <a:endParaRPr lang="en-US" dirty="0"/>
          </a:p>
          <a:p>
            <a:r>
              <a:rPr lang="en-US" dirty="0" err="1"/>
              <a:t>less_than_result</a:t>
            </a:r>
            <a:r>
              <a:rPr lang="en-US" dirty="0"/>
              <a:t> = num1 &lt; num2  # Less than</a:t>
            </a:r>
          </a:p>
          <a:p>
            <a:r>
              <a:rPr lang="en-US" dirty="0"/>
              <a:t>print("\</a:t>
            </a:r>
            <a:r>
              <a:rPr lang="en-US" dirty="0" err="1"/>
              <a:t>nLess</a:t>
            </a:r>
            <a:r>
              <a:rPr lang="en-US" dirty="0"/>
              <a:t> Than Result:")</a:t>
            </a:r>
          </a:p>
          <a:p>
            <a:r>
              <a:rPr lang="en-US" dirty="0"/>
              <a:t>print("num1 &lt; num2 is", </a:t>
            </a:r>
            <a:r>
              <a:rPr lang="en-US" dirty="0" err="1"/>
              <a:t>less_than_result</a:t>
            </a:r>
            <a:r>
              <a:rPr lang="en-US" dirty="0"/>
              <a:t>)</a:t>
            </a:r>
          </a:p>
          <a:p>
            <a:endParaRPr lang="en-US" dirty="0"/>
          </a:p>
          <a:p>
            <a:r>
              <a:rPr lang="en-US" dirty="0" err="1"/>
              <a:t>greater_than_equal_result</a:t>
            </a:r>
            <a:r>
              <a:rPr lang="en-US" dirty="0"/>
              <a:t> = num1 &gt;= num2  # Greater than or equal to</a:t>
            </a:r>
          </a:p>
          <a:p>
            <a:r>
              <a:rPr lang="en-US" dirty="0"/>
              <a:t>print("\</a:t>
            </a:r>
            <a:r>
              <a:rPr lang="en-US" dirty="0" err="1"/>
              <a:t>nGreater</a:t>
            </a:r>
            <a:r>
              <a:rPr lang="en-US" dirty="0"/>
              <a:t> Than or Equal Result:")</a:t>
            </a:r>
          </a:p>
          <a:p>
            <a:r>
              <a:rPr lang="en-US" dirty="0"/>
              <a:t>print("num1 &gt;= num2 is", </a:t>
            </a:r>
            <a:r>
              <a:rPr lang="en-US" dirty="0" err="1"/>
              <a:t>greater_than_equal_result</a:t>
            </a:r>
            <a:r>
              <a:rPr lang="en-US" dirty="0"/>
              <a:t>)</a:t>
            </a:r>
          </a:p>
          <a:p>
            <a:endParaRPr lang="en-US" dirty="0"/>
          </a:p>
          <a:p>
            <a:r>
              <a:rPr lang="en-US" dirty="0" err="1"/>
              <a:t>less_than_equal_result</a:t>
            </a:r>
            <a:r>
              <a:rPr lang="en-US" dirty="0"/>
              <a:t> = num1 &lt;= num2  # Less than or equal to</a:t>
            </a:r>
          </a:p>
          <a:p>
            <a:r>
              <a:rPr lang="en-US" dirty="0"/>
              <a:t>print("\</a:t>
            </a:r>
            <a:r>
              <a:rPr lang="en-US" dirty="0" err="1"/>
              <a:t>nLess</a:t>
            </a:r>
            <a:r>
              <a:rPr lang="en-US" dirty="0"/>
              <a:t> Than or Equal Result:")</a:t>
            </a:r>
          </a:p>
          <a:p>
            <a:r>
              <a:rPr lang="en-US" dirty="0"/>
              <a:t>print("num1 &lt;= num2 is", </a:t>
            </a:r>
            <a:r>
              <a:rPr lang="en-US" dirty="0" err="1"/>
              <a:t>less_than_equal_result</a:t>
            </a:r>
            <a:r>
              <a:rPr lang="en-US" dirty="0"/>
              <a:t>)</a:t>
            </a:r>
          </a:p>
        </p:txBody>
      </p:sp>
    </p:spTree>
    <p:extLst>
      <p:ext uri="{BB962C8B-B14F-4D97-AF65-F5344CB8AC3E}">
        <p14:creationId xmlns:p14="http://schemas.microsoft.com/office/powerpoint/2010/main" val="1855292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98F50-F9F3-2B46-8258-1DA376B788A1}"/>
              </a:ext>
            </a:extLst>
          </p:cNvPr>
          <p:cNvSpPr>
            <a:spLocks noGrp="1"/>
          </p:cNvSpPr>
          <p:nvPr>
            <p:ph type="title"/>
          </p:nvPr>
        </p:nvSpPr>
        <p:spPr/>
        <p:txBody>
          <a:bodyPr/>
          <a:lstStyle/>
          <a:p>
            <a:r>
              <a:rPr lang="en-US" dirty="0"/>
              <a:t>Logical Operators</a:t>
            </a:r>
          </a:p>
        </p:txBody>
      </p:sp>
      <p:pic>
        <p:nvPicPr>
          <p:cNvPr id="5" name="Content Placeholder 4">
            <a:extLst>
              <a:ext uri="{FF2B5EF4-FFF2-40B4-BE49-F238E27FC236}">
                <a16:creationId xmlns:a16="http://schemas.microsoft.com/office/drawing/2014/main" id="{9827015D-7210-2347-9995-EACCF5321E9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0587" y="2233474"/>
            <a:ext cx="9162751" cy="3347055"/>
          </a:xfrm>
        </p:spPr>
      </p:pic>
    </p:spTree>
    <p:extLst>
      <p:ext uri="{BB962C8B-B14F-4D97-AF65-F5344CB8AC3E}">
        <p14:creationId xmlns:p14="http://schemas.microsoft.com/office/powerpoint/2010/main" val="112640822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26772" y="474964"/>
            <a:ext cx="6096000" cy="4524315"/>
          </a:xfrm>
          <a:prstGeom prst="rect">
            <a:avLst/>
          </a:prstGeom>
        </p:spPr>
        <p:txBody>
          <a:bodyPr>
            <a:spAutoFit/>
          </a:bodyPr>
          <a:lstStyle/>
          <a:p>
            <a:r>
              <a:rPr lang="en-US" b="1" dirty="0">
                <a:solidFill>
                  <a:srgbClr val="FF0000"/>
                </a:solidFill>
              </a:rPr>
              <a:t># Logical Operators Program</a:t>
            </a:r>
          </a:p>
          <a:p>
            <a:endParaRPr lang="en-US" dirty="0"/>
          </a:p>
          <a:p>
            <a:r>
              <a:rPr lang="en-US" dirty="0"/>
              <a:t># Initialize variables</a:t>
            </a:r>
          </a:p>
          <a:p>
            <a:r>
              <a:rPr lang="en-US" dirty="0"/>
              <a:t>value1 = True</a:t>
            </a:r>
          </a:p>
          <a:p>
            <a:r>
              <a:rPr lang="en-US" dirty="0"/>
              <a:t>value2 = False</a:t>
            </a:r>
          </a:p>
          <a:p>
            <a:endParaRPr lang="en-US" dirty="0"/>
          </a:p>
          <a:p>
            <a:r>
              <a:rPr lang="en-US" dirty="0"/>
              <a:t># Display initial values</a:t>
            </a:r>
          </a:p>
          <a:p>
            <a:r>
              <a:rPr lang="en-US" dirty="0"/>
              <a:t>print("Initial values:")</a:t>
            </a:r>
          </a:p>
          <a:p>
            <a:r>
              <a:rPr lang="en-US" dirty="0"/>
              <a:t>print("value1 =", value1)</a:t>
            </a:r>
          </a:p>
          <a:p>
            <a:r>
              <a:rPr lang="en-US" dirty="0"/>
              <a:t>print("value2 =", value2)</a:t>
            </a:r>
          </a:p>
          <a:p>
            <a:endParaRPr lang="en-US" dirty="0"/>
          </a:p>
          <a:p>
            <a:r>
              <a:rPr lang="en-US" dirty="0"/>
              <a:t># Logical operators</a:t>
            </a:r>
          </a:p>
          <a:p>
            <a:r>
              <a:rPr lang="en-US" dirty="0" err="1"/>
              <a:t>and_result</a:t>
            </a:r>
            <a:r>
              <a:rPr lang="en-US" dirty="0"/>
              <a:t> = value1 and value2  # Logical AND</a:t>
            </a:r>
          </a:p>
          <a:p>
            <a:r>
              <a:rPr lang="en-US" dirty="0"/>
              <a:t>print("\</a:t>
            </a:r>
            <a:r>
              <a:rPr lang="en-US" dirty="0" err="1"/>
              <a:t>nLogical</a:t>
            </a:r>
            <a:r>
              <a:rPr lang="en-US" dirty="0"/>
              <a:t> AND Result:")</a:t>
            </a:r>
          </a:p>
          <a:p>
            <a:r>
              <a:rPr lang="en-US" dirty="0"/>
              <a:t>print("value1 and value2 is", </a:t>
            </a:r>
            <a:r>
              <a:rPr lang="en-US" dirty="0" err="1"/>
              <a:t>and_result</a:t>
            </a:r>
            <a:r>
              <a:rPr lang="en-US" dirty="0"/>
              <a:t>)</a:t>
            </a:r>
          </a:p>
          <a:p>
            <a:endParaRPr lang="en-US" dirty="0"/>
          </a:p>
        </p:txBody>
      </p:sp>
      <p:sp>
        <p:nvSpPr>
          <p:cNvPr id="5" name="Rectangle 4"/>
          <p:cNvSpPr/>
          <p:nvPr/>
        </p:nvSpPr>
        <p:spPr>
          <a:xfrm>
            <a:off x="6332113" y="474964"/>
            <a:ext cx="6096000" cy="2585323"/>
          </a:xfrm>
          <a:prstGeom prst="rect">
            <a:avLst/>
          </a:prstGeom>
        </p:spPr>
        <p:txBody>
          <a:bodyPr>
            <a:spAutoFit/>
          </a:bodyPr>
          <a:lstStyle/>
          <a:p>
            <a:r>
              <a:rPr lang="en-US" dirty="0" err="1"/>
              <a:t>or_result</a:t>
            </a:r>
            <a:r>
              <a:rPr lang="en-US" dirty="0"/>
              <a:t> = value1 or value2  # Logical OR</a:t>
            </a:r>
          </a:p>
          <a:p>
            <a:r>
              <a:rPr lang="en-US" dirty="0"/>
              <a:t>print("\</a:t>
            </a:r>
            <a:r>
              <a:rPr lang="en-US" dirty="0" err="1"/>
              <a:t>nLogical</a:t>
            </a:r>
            <a:r>
              <a:rPr lang="en-US" dirty="0"/>
              <a:t> OR Result:")</a:t>
            </a:r>
          </a:p>
          <a:p>
            <a:r>
              <a:rPr lang="en-US" dirty="0"/>
              <a:t>print("value1 or value2 is", </a:t>
            </a:r>
            <a:r>
              <a:rPr lang="en-US" dirty="0" err="1"/>
              <a:t>or_result</a:t>
            </a:r>
            <a:r>
              <a:rPr lang="en-US" dirty="0"/>
              <a:t>)</a:t>
            </a:r>
          </a:p>
          <a:p>
            <a:endParaRPr lang="en-US" dirty="0"/>
          </a:p>
          <a:p>
            <a:r>
              <a:rPr lang="en-US" dirty="0"/>
              <a:t>not_result1 = not value1  # Logical NOT for value1</a:t>
            </a:r>
          </a:p>
          <a:p>
            <a:r>
              <a:rPr lang="en-US" dirty="0"/>
              <a:t>not_result2 = not value2  # Logical NOT for value2</a:t>
            </a:r>
          </a:p>
          <a:p>
            <a:r>
              <a:rPr lang="en-US" dirty="0"/>
              <a:t>print("\</a:t>
            </a:r>
            <a:r>
              <a:rPr lang="en-US" dirty="0" err="1"/>
              <a:t>nLogical</a:t>
            </a:r>
            <a:r>
              <a:rPr lang="en-US" dirty="0"/>
              <a:t> NOT Results:")</a:t>
            </a:r>
          </a:p>
          <a:p>
            <a:r>
              <a:rPr lang="en-US" dirty="0"/>
              <a:t>print("not value1 is", not_result1)</a:t>
            </a:r>
          </a:p>
          <a:p>
            <a:r>
              <a:rPr lang="en-US" dirty="0"/>
              <a:t>print("not value2 is", not_result2)</a:t>
            </a:r>
          </a:p>
        </p:txBody>
      </p:sp>
    </p:spTree>
    <p:extLst>
      <p:ext uri="{BB962C8B-B14F-4D97-AF65-F5344CB8AC3E}">
        <p14:creationId xmlns:p14="http://schemas.microsoft.com/office/powerpoint/2010/main" val="194146051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5E8B2-7119-2D40-BA3B-68C423F35D20}"/>
              </a:ext>
            </a:extLst>
          </p:cNvPr>
          <p:cNvSpPr>
            <a:spLocks noGrp="1"/>
          </p:cNvSpPr>
          <p:nvPr>
            <p:ph type="title"/>
          </p:nvPr>
        </p:nvSpPr>
        <p:spPr/>
        <p:txBody>
          <a:bodyPr/>
          <a:lstStyle/>
          <a:p>
            <a:r>
              <a:rPr lang="en-US" dirty="0"/>
              <a:t>Identity Operators</a:t>
            </a:r>
          </a:p>
        </p:txBody>
      </p:sp>
      <p:pic>
        <p:nvPicPr>
          <p:cNvPr id="5" name="Content Placeholder 4">
            <a:extLst>
              <a:ext uri="{FF2B5EF4-FFF2-40B4-BE49-F238E27FC236}">
                <a16:creationId xmlns:a16="http://schemas.microsoft.com/office/drawing/2014/main" id="{326BDA36-6B27-614A-862B-E662C78F9D3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3353" y="2169486"/>
            <a:ext cx="9368118" cy="3338809"/>
          </a:xfrm>
        </p:spPr>
      </p:pic>
    </p:spTree>
    <p:extLst>
      <p:ext uri="{BB962C8B-B14F-4D97-AF65-F5344CB8AC3E}">
        <p14:creationId xmlns:p14="http://schemas.microsoft.com/office/powerpoint/2010/main" val="163793022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9346" y="474345"/>
            <a:ext cx="6096000" cy="5909310"/>
          </a:xfrm>
          <a:prstGeom prst="rect">
            <a:avLst/>
          </a:prstGeom>
        </p:spPr>
        <p:txBody>
          <a:bodyPr>
            <a:spAutoFit/>
          </a:bodyPr>
          <a:lstStyle/>
          <a:p>
            <a:r>
              <a:rPr lang="en-US" b="1" dirty="0">
                <a:solidFill>
                  <a:srgbClr val="FF0000"/>
                </a:solidFill>
              </a:rPr>
              <a:t># Identity Operators Program</a:t>
            </a:r>
          </a:p>
          <a:p>
            <a:endParaRPr lang="en-US" dirty="0"/>
          </a:p>
          <a:p>
            <a:r>
              <a:rPr lang="en-US" dirty="0"/>
              <a:t># Initialize variables</a:t>
            </a:r>
          </a:p>
          <a:p>
            <a:r>
              <a:rPr lang="en-US" dirty="0"/>
              <a:t>x = 5</a:t>
            </a:r>
          </a:p>
          <a:p>
            <a:r>
              <a:rPr lang="en-US" dirty="0"/>
              <a:t>y = 5</a:t>
            </a:r>
          </a:p>
          <a:p>
            <a:r>
              <a:rPr lang="en-US" dirty="0"/>
              <a:t>z = [1, 2, 3]</a:t>
            </a:r>
          </a:p>
          <a:p>
            <a:r>
              <a:rPr lang="en-US" dirty="0"/>
              <a:t>w = [1, 2, 3]</a:t>
            </a:r>
          </a:p>
          <a:p>
            <a:endParaRPr lang="en-US" dirty="0"/>
          </a:p>
          <a:p>
            <a:r>
              <a:rPr lang="en-US" dirty="0"/>
              <a:t># Display initial values</a:t>
            </a:r>
          </a:p>
          <a:p>
            <a:r>
              <a:rPr lang="en-US" dirty="0"/>
              <a:t>print("Initial values:")</a:t>
            </a:r>
          </a:p>
          <a:p>
            <a:r>
              <a:rPr lang="en-US" dirty="0"/>
              <a:t>print("x =", x)</a:t>
            </a:r>
          </a:p>
          <a:p>
            <a:r>
              <a:rPr lang="en-US" dirty="0"/>
              <a:t>print("y =", y)</a:t>
            </a:r>
          </a:p>
          <a:p>
            <a:r>
              <a:rPr lang="en-US" dirty="0"/>
              <a:t>print("z =", z)</a:t>
            </a:r>
          </a:p>
          <a:p>
            <a:r>
              <a:rPr lang="en-US" dirty="0"/>
              <a:t>print("w =", w)</a:t>
            </a:r>
          </a:p>
          <a:p>
            <a:endParaRPr lang="en-US" dirty="0"/>
          </a:p>
          <a:p>
            <a:r>
              <a:rPr lang="en-US" dirty="0"/>
              <a:t># Identity operators</a:t>
            </a:r>
          </a:p>
          <a:p>
            <a:r>
              <a:rPr lang="en-US" dirty="0"/>
              <a:t>is_result1 = x is y  # 'is' operator (checks if x and y reference the same object)</a:t>
            </a:r>
          </a:p>
          <a:p>
            <a:r>
              <a:rPr lang="en-US" dirty="0"/>
              <a:t>print("\</a:t>
            </a:r>
            <a:r>
              <a:rPr lang="en-US" dirty="0" err="1"/>
              <a:t>n'is</a:t>
            </a:r>
            <a:r>
              <a:rPr lang="en-US" dirty="0"/>
              <a:t>' Operator Result:")</a:t>
            </a:r>
          </a:p>
          <a:p>
            <a:r>
              <a:rPr lang="en-US" dirty="0"/>
              <a:t>print("x is y is", is_result1)</a:t>
            </a:r>
          </a:p>
          <a:p>
            <a:endParaRPr lang="en-US" dirty="0"/>
          </a:p>
        </p:txBody>
      </p:sp>
      <p:sp>
        <p:nvSpPr>
          <p:cNvPr id="5" name="Rectangle 4"/>
          <p:cNvSpPr/>
          <p:nvPr/>
        </p:nvSpPr>
        <p:spPr>
          <a:xfrm>
            <a:off x="5881352" y="474345"/>
            <a:ext cx="6096000" cy="3139321"/>
          </a:xfrm>
          <a:prstGeom prst="rect">
            <a:avLst/>
          </a:prstGeom>
        </p:spPr>
        <p:txBody>
          <a:bodyPr>
            <a:spAutoFit/>
          </a:bodyPr>
          <a:lstStyle/>
          <a:p>
            <a:r>
              <a:rPr lang="en-US" dirty="0"/>
              <a:t>is_result2 = z is w  # 'is' operator with lists</a:t>
            </a:r>
          </a:p>
          <a:p>
            <a:r>
              <a:rPr lang="en-US" dirty="0"/>
              <a:t>print("\</a:t>
            </a:r>
            <a:r>
              <a:rPr lang="en-US" dirty="0" err="1"/>
              <a:t>n'is</a:t>
            </a:r>
            <a:r>
              <a:rPr lang="en-US" dirty="0"/>
              <a:t>' Operator Result with Lists:")</a:t>
            </a:r>
          </a:p>
          <a:p>
            <a:r>
              <a:rPr lang="en-US" dirty="0"/>
              <a:t>print("z is w is", is_result2)</a:t>
            </a:r>
          </a:p>
          <a:p>
            <a:endParaRPr lang="en-US" dirty="0"/>
          </a:p>
          <a:p>
            <a:r>
              <a:rPr lang="en-US" dirty="0"/>
              <a:t>is_not_result1 = x is not y  # 'is not' operator</a:t>
            </a:r>
          </a:p>
          <a:p>
            <a:r>
              <a:rPr lang="en-US" dirty="0"/>
              <a:t>print("\</a:t>
            </a:r>
            <a:r>
              <a:rPr lang="en-US" dirty="0" err="1"/>
              <a:t>n'is</a:t>
            </a:r>
            <a:r>
              <a:rPr lang="en-US" dirty="0"/>
              <a:t> not' Operator Result:")</a:t>
            </a:r>
          </a:p>
          <a:p>
            <a:r>
              <a:rPr lang="en-US" dirty="0"/>
              <a:t>print("x is not y is", is_not_result1)</a:t>
            </a:r>
          </a:p>
          <a:p>
            <a:endParaRPr lang="en-US" dirty="0"/>
          </a:p>
          <a:p>
            <a:r>
              <a:rPr lang="en-US" dirty="0"/>
              <a:t>is_not_result2 = z is not w  # 'is not' operator with lists</a:t>
            </a:r>
          </a:p>
          <a:p>
            <a:r>
              <a:rPr lang="en-US" dirty="0"/>
              <a:t>print("\</a:t>
            </a:r>
            <a:r>
              <a:rPr lang="en-US" dirty="0" err="1"/>
              <a:t>n'is</a:t>
            </a:r>
            <a:r>
              <a:rPr lang="en-US" dirty="0"/>
              <a:t> not' Operator Result with Lists:")</a:t>
            </a:r>
          </a:p>
          <a:p>
            <a:r>
              <a:rPr lang="en-US" dirty="0"/>
              <a:t>print("z is not w is", is_not_result2)</a:t>
            </a:r>
          </a:p>
        </p:txBody>
      </p:sp>
    </p:spTree>
    <p:extLst>
      <p:ext uri="{BB962C8B-B14F-4D97-AF65-F5344CB8AC3E}">
        <p14:creationId xmlns:p14="http://schemas.microsoft.com/office/powerpoint/2010/main" val="148533750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66453" y="642802"/>
            <a:ext cx="2371162" cy="369332"/>
          </a:xfrm>
          <a:prstGeom prst="rect">
            <a:avLst/>
          </a:prstGeom>
        </p:spPr>
        <p:txBody>
          <a:bodyPr wrap="none">
            <a:spAutoFit/>
          </a:bodyPr>
          <a:lstStyle/>
          <a:p>
            <a:r>
              <a:rPr lang="en-US" b="1" dirty="0">
                <a:solidFill>
                  <a:srgbClr val="0D0D0D"/>
                </a:solidFill>
                <a:latin typeface="Söhne Mono"/>
              </a:rPr>
              <a:t>'is' Operator Result:</a:t>
            </a:r>
            <a:endParaRPr lang="en-US" dirty="0"/>
          </a:p>
        </p:txBody>
      </p:sp>
      <p:sp>
        <p:nvSpPr>
          <p:cNvPr id="5" name="Rectangle 4"/>
          <p:cNvSpPr/>
          <p:nvPr/>
        </p:nvSpPr>
        <p:spPr>
          <a:xfrm>
            <a:off x="866453" y="1012134"/>
            <a:ext cx="6096000" cy="923330"/>
          </a:xfrm>
          <a:prstGeom prst="rect">
            <a:avLst/>
          </a:prstGeom>
        </p:spPr>
        <p:txBody>
          <a:bodyPr>
            <a:spAutoFit/>
          </a:bodyPr>
          <a:lstStyle/>
          <a:p>
            <a:r>
              <a:rPr lang="en-US" dirty="0"/>
              <a:t>x = 5</a:t>
            </a:r>
          </a:p>
          <a:p>
            <a:r>
              <a:rPr lang="en-US" dirty="0"/>
              <a:t>y = 5</a:t>
            </a:r>
          </a:p>
          <a:p>
            <a:r>
              <a:rPr lang="en-US" dirty="0"/>
              <a:t>x is y  # Expected: True</a:t>
            </a:r>
          </a:p>
        </p:txBody>
      </p:sp>
      <p:sp>
        <p:nvSpPr>
          <p:cNvPr id="7" name="Rectangle 6"/>
          <p:cNvSpPr/>
          <p:nvPr/>
        </p:nvSpPr>
        <p:spPr>
          <a:xfrm>
            <a:off x="866452" y="2136544"/>
            <a:ext cx="10866201" cy="923330"/>
          </a:xfrm>
          <a:prstGeom prst="rect">
            <a:avLst/>
          </a:prstGeom>
        </p:spPr>
        <p:txBody>
          <a:bodyPr wrap="square">
            <a:spAutoFit/>
          </a:bodyPr>
          <a:lstStyle/>
          <a:p>
            <a:r>
              <a:rPr lang="en-US" dirty="0"/>
              <a:t>The 'is' operator checks if two variables reference the same object. In this case, both x and y have the same value (5), and since small integers and some other immutable objects are cached in Python, x and y may reference the same object. So, the result is True.</a:t>
            </a:r>
          </a:p>
        </p:txBody>
      </p:sp>
      <p:sp>
        <p:nvSpPr>
          <p:cNvPr id="8" name="Rectangle 7"/>
          <p:cNvSpPr/>
          <p:nvPr/>
        </p:nvSpPr>
        <p:spPr>
          <a:xfrm>
            <a:off x="866452" y="3360244"/>
            <a:ext cx="2794355" cy="369332"/>
          </a:xfrm>
          <a:prstGeom prst="rect">
            <a:avLst/>
          </a:prstGeom>
        </p:spPr>
        <p:txBody>
          <a:bodyPr wrap="none">
            <a:spAutoFit/>
          </a:bodyPr>
          <a:lstStyle/>
          <a:p>
            <a:r>
              <a:rPr lang="en-US" b="1" dirty="0">
                <a:solidFill>
                  <a:srgbClr val="0D0D0D"/>
                </a:solidFill>
                <a:latin typeface="Söhne Mono"/>
              </a:rPr>
              <a:t>'is not' Operator Result:</a:t>
            </a:r>
            <a:endParaRPr lang="en-US" dirty="0"/>
          </a:p>
        </p:txBody>
      </p:sp>
      <p:sp>
        <p:nvSpPr>
          <p:cNvPr id="9" name="Rectangle 8"/>
          <p:cNvSpPr/>
          <p:nvPr/>
        </p:nvSpPr>
        <p:spPr>
          <a:xfrm>
            <a:off x="866453" y="3814430"/>
            <a:ext cx="6096000" cy="923330"/>
          </a:xfrm>
          <a:prstGeom prst="rect">
            <a:avLst/>
          </a:prstGeom>
        </p:spPr>
        <p:txBody>
          <a:bodyPr>
            <a:spAutoFit/>
          </a:bodyPr>
          <a:lstStyle/>
          <a:p>
            <a:r>
              <a:rPr lang="en-US" dirty="0"/>
              <a:t>x = 5</a:t>
            </a:r>
          </a:p>
          <a:p>
            <a:r>
              <a:rPr lang="en-US" dirty="0"/>
              <a:t>y = 5</a:t>
            </a:r>
          </a:p>
          <a:p>
            <a:r>
              <a:rPr lang="en-US" dirty="0"/>
              <a:t>x is not y  # Expected: False</a:t>
            </a:r>
          </a:p>
        </p:txBody>
      </p:sp>
      <p:sp>
        <p:nvSpPr>
          <p:cNvPr id="11" name="Rectangle 10"/>
          <p:cNvSpPr/>
          <p:nvPr/>
        </p:nvSpPr>
        <p:spPr>
          <a:xfrm>
            <a:off x="866452" y="4822614"/>
            <a:ext cx="10750292" cy="646331"/>
          </a:xfrm>
          <a:prstGeom prst="rect">
            <a:avLst/>
          </a:prstGeom>
        </p:spPr>
        <p:txBody>
          <a:bodyPr wrap="square">
            <a:spAutoFit/>
          </a:bodyPr>
          <a:lstStyle/>
          <a:p>
            <a:r>
              <a:rPr lang="en-US" dirty="0"/>
              <a:t>Similar to the first case, since small integers are cached in Python, x and y may reference the same object. Therefore, the result is False.</a:t>
            </a:r>
          </a:p>
        </p:txBody>
      </p:sp>
    </p:spTree>
    <p:extLst>
      <p:ext uri="{BB962C8B-B14F-4D97-AF65-F5344CB8AC3E}">
        <p14:creationId xmlns:p14="http://schemas.microsoft.com/office/powerpoint/2010/main" val="121934160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66590" y="565529"/>
            <a:ext cx="3499676" cy="369332"/>
          </a:xfrm>
          <a:prstGeom prst="rect">
            <a:avLst/>
          </a:prstGeom>
        </p:spPr>
        <p:txBody>
          <a:bodyPr wrap="none">
            <a:spAutoFit/>
          </a:bodyPr>
          <a:lstStyle/>
          <a:p>
            <a:r>
              <a:rPr lang="en-US" b="1" dirty="0">
                <a:solidFill>
                  <a:srgbClr val="0D0D0D"/>
                </a:solidFill>
                <a:latin typeface="Söhne Mono"/>
              </a:rPr>
              <a:t>'is' Operator Result with Lists:</a:t>
            </a:r>
            <a:endParaRPr lang="en-US" dirty="0"/>
          </a:p>
        </p:txBody>
      </p:sp>
      <p:sp>
        <p:nvSpPr>
          <p:cNvPr id="5" name="Rectangle 4"/>
          <p:cNvSpPr/>
          <p:nvPr/>
        </p:nvSpPr>
        <p:spPr>
          <a:xfrm>
            <a:off x="366590" y="934861"/>
            <a:ext cx="6096000" cy="923330"/>
          </a:xfrm>
          <a:prstGeom prst="rect">
            <a:avLst/>
          </a:prstGeom>
        </p:spPr>
        <p:txBody>
          <a:bodyPr>
            <a:spAutoFit/>
          </a:bodyPr>
          <a:lstStyle/>
          <a:p>
            <a:r>
              <a:rPr lang="en-US" dirty="0"/>
              <a:t>z = [1, 2, 3]</a:t>
            </a:r>
          </a:p>
          <a:p>
            <a:r>
              <a:rPr lang="en-US" dirty="0"/>
              <a:t>w = [1, 2, 3]</a:t>
            </a:r>
          </a:p>
          <a:p>
            <a:r>
              <a:rPr lang="en-US" dirty="0"/>
              <a:t>z is w  # Expected: False</a:t>
            </a:r>
          </a:p>
        </p:txBody>
      </p:sp>
      <p:sp>
        <p:nvSpPr>
          <p:cNvPr id="6" name="Rectangle 5"/>
          <p:cNvSpPr/>
          <p:nvPr/>
        </p:nvSpPr>
        <p:spPr>
          <a:xfrm>
            <a:off x="366589" y="1858191"/>
            <a:ext cx="11649399" cy="646331"/>
          </a:xfrm>
          <a:prstGeom prst="rect">
            <a:avLst/>
          </a:prstGeom>
        </p:spPr>
        <p:txBody>
          <a:bodyPr wrap="square">
            <a:spAutoFit/>
          </a:bodyPr>
          <a:lstStyle/>
          <a:p>
            <a:r>
              <a:rPr lang="en-US" dirty="0"/>
              <a:t>Lists are mutable objects in Python, and even if they have the same elements, they are different objects in memory. Therefore, the result is False.</a:t>
            </a:r>
          </a:p>
        </p:txBody>
      </p:sp>
      <p:sp>
        <p:nvSpPr>
          <p:cNvPr id="7" name="Rectangle 6"/>
          <p:cNvSpPr/>
          <p:nvPr/>
        </p:nvSpPr>
        <p:spPr>
          <a:xfrm>
            <a:off x="366589" y="2596855"/>
            <a:ext cx="3922869" cy="369332"/>
          </a:xfrm>
          <a:prstGeom prst="rect">
            <a:avLst/>
          </a:prstGeom>
        </p:spPr>
        <p:txBody>
          <a:bodyPr wrap="none">
            <a:spAutoFit/>
          </a:bodyPr>
          <a:lstStyle/>
          <a:p>
            <a:r>
              <a:rPr lang="en-US" b="1" dirty="0">
                <a:solidFill>
                  <a:srgbClr val="0D0D0D"/>
                </a:solidFill>
                <a:latin typeface="Söhne Mono"/>
              </a:rPr>
              <a:t>'is not' Operator Result with Lists:</a:t>
            </a:r>
            <a:endParaRPr lang="en-US" dirty="0"/>
          </a:p>
        </p:txBody>
      </p:sp>
      <p:sp>
        <p:nvSpPr>
          <p:cNvPr id="8" name="Rectangle 7"/>
          <p:cNvSpPr/>
          <p:nvPr/>
        </p:nvSpPr>
        <p:spPr>
          <a:xfrm>
            <a:off x="366590" y="3058520"/>
            <a:ext cx="6096000" cy="923330"/>
          </a:xfrm>
          <a:prstGeom prst="rect">
            <a:avLst/>
          </a:prstGeom>
        </p:spPr>
        <p:txBody>
          <a:bodyPr>
            <a:spAutoFit/>
          </a:bodyPr>
          <a:lstStyle/>
          <a:p>
            <a:r>
              <a:rPr lang="en-US" dirty="0"/>
              <a:t>z = [1, 2, 3]</a:t>
            </a:r>
          </a:p>
          <a:p>
            <a:r>
              <a:rPr lang="en-US" dirty="0"/>
              <a:t>w = [1, 2, 3]</a:t>
            </a:r>
          </a:p>
          <a:p>
            <a:r>
              <a:rPr lang="en-US" dirty="0"/>
              <a:t>z is not w  # Expected: True</a:t>
            </a:r>
          </a:p>
        </p:txBody>
      </p:sp>
      <p:sp>
        <p:nvSpPr>
          <p:cNvPr id="9" name="Rectangle 8"/>
          <p:cNvSpPr/>
          <p:nvPr/>
        </p:nvSpPr>
        <p:spPr>
          <a:xfrm>
            <a:off x="338227" y="4074183"/>
            <a:ext cx="11149728" cy="646331"/>
          </a:xfrm>
          <a:prstGeom prst="rect">
            <a:avLst/>
          </a:prstGeom>
        </p:spPr>
        <p:txBody>
          <a:bodyPr wrap="square">
            <a:spAutoFit/>
          </a:bodyPr>
          <a:lstStyle/>
          <a:p>
            <a:r>
              <a:rPr lang="en-US" dirty="0"/>
              <a:t>As explained earlier, lists are mutable, and even though they have the same elements, they are different objects in memory. Therefore, the result is True.</a:t>
            </a:r>
          </a:p>
        </p:txBody>
      </p:sp>
    </p:spTree>
    <p:extLst>
      <p:ext uri="{BB962C8B-B14F-4D97-AF65-F5344CB8AC3E}">
        <p14:creationId xmlns:p14="http://schemas.microsoft.com/office/powerpoint/2010/main" val="217715569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A1F07-28A6-334F-9FED-1EB95B991075}"/>
              </a:ext>
            </a:extLst>
          </p:cNvPr>
          <p:cNvSpPr>
            <a:spLocks noGrp="1"/>
          </p:cNvSpPr>
          <p:nvPr>
            <p:ph type="title"/>
          </p:nvPr>
        </p:nvSpPr>
        <p:spPr/>
        <p:txBody>
          <a:bodyPr/>
          <a:lstStyle/>
          <a:p>
            <a:r>
              <a:rPr lang="en-US" dirty="0"/>
              <a:t>Membership Operators</a:t>
            </a:r>
          </a:p>
        </p:txBody>
      </p:sp>
      <p:pic>
        <p:nvPicPr>
          <p:cNvPr id="5" name="Content Placeholder 4">
            <a:extLst>
              <a:ext uri="{FF2B5EF4-FFF2-40B4-BE49-F238E27FC236}">
                <a16:creationId xmlns:a16="http://schemas.microsoft.com/office/drawing/2014/main" id="{99D56449-30CA-FD4B-81B0-08150924393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3012" y="2295833"/>
            <a:ext cx="8826812" cy="3123332"/>
          </a:xfrm>
        </p:spPr>
      </p:pic>
    </p:spTree>
    <p:extLst>
      <p:ext uri="{BB962C8B-B14F-4D97-AF65-F5344CB8AC3E}">
        <p14:creationId xmlns:p14="http://schemas.microsoft.com/office/powerpoint/2010/main" val="124823072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9347" y="283918"/>
            <a:ext cx="6096000" cy="4801314"/>
          </a:xfrm>
          <a:prstGeom prst="rect">
            <a:avLst/>
          </a:prstGeom>
        </p:spPr>
        <p:txBody>
          <a:bodyPr>
            <a:spAutoFit/>
          </a:bodyPr>
          <a:lstStyle/>
          <a:p>
            <a:r>
              <a:rPr lang="en-US" b="1" dirty="0">
                <a:solidFill>
                  <a:srgbClr val="FF0000"/>
                </a:solidFill>
              </a:rPr>
              <a:t># Membership Operators Program</a:t>
            </a:r>
          </a:p>
          <a:p>
            <a:endParaRPr lang="en-US" dirty="0"/>
          </a:p>
          <a:p>
            <a:r>
              <a:rPr lang="en-US" dirty="0"/>
              <a:t># Initialize variables</a:t>
            </a:r>
          </a:p>
          <a:p>
            <a:r>
              <a:rPr lang="en-US" dirty="0" err="1"/>
              <a:t>list_example</a:t>
            </a:r>
            <a:r>
              <a:rPr lang="en-US" dirty="0"/>
              <a:t> = [1, 2, 3, 4, 5]</a:t>
            </a:r>
          </a:p>
          <a:p>
            <a:r>
              <a:rPr lang="en-US" dirty="0" err="1"/>
              <a:t>set_example</a:t>
            </a:r>
            <a:r>
              <a:rPr lang="en-US" dirty="0"/>
              <a:t> = {5, 6, 7, 8, 9}</a:t>
            </a:r>
          </a:p>
          <a:p>
            <a:endParaRPr lang="en-US" dirty="0"/>
          </a:p>
          <a:p>
            <a:r>
              <a:rPr lang="en-US" dirty="0"/>
              <a:t># Display initial values</a:t>
            </a:r>
          </a:p>
          <a:p>
            <a:r>
              <a:rPr lang="en-US" dirty="0"/>
              <a:t>print("Initial values:")</a:t>
            </a:r>
          </a:p>
          <a:p>
            <a:r>
              <a:rPr lang="en-US" dirty="0"/>
              <a:t>print("</a:t>
            </a:r>
            <a:r>
              <a:rPr lang="en-US" dirty="0" err="1"/>
              <a:t>list_example</a:t>
            </a:r>
            <a:r>
              <a:rPr lang="en-US" dirty="0"/>
              <a:t> =", </a:t>
            </a:r>
            <a:r>
              <a:rPr lang="en-US" dirty="0" err="1"/>
              <a:t>list_example</a:t>
            </a:r>
            <a:r>
              <a:rPr lang="en-US" dirty="0"/>
              <a:t>)</a:t>
            </a:r>
          </a:p>
          <a:p>
            <a:r>
              <a:rPr lang="en-US" dirty="0"/>
              <a:t>print("</a:t>
            </a:r>
            <a:r>
              <a:rPr lang="en-US" dirty="0" err="1"/>
              <a:t>set_example</a:t>
            </a:r>
            <a:r>
              <a:rPr lang="en-US" dirty="0"/>
              <a:t> =", </a:t>
            </a:r>
            <a:r>
              <a:rPr lang="en-US" dirty="0" err="1"/>
              <a:t>set_example</a:t>
            </a:r>
            <a:r>
              <a:rPr lang="en-US" dirty="0"/>
              <a:t>)</a:t>
            </a:r>
          </a:p>
          <a:p>
            <a:endParaRPr lang="en-US" dirty="0"/>
          </a:p>
          <a:p>
            <a:r>
              <a:rPr lang="en-US" dirty="0"/>
              <a:t># Membership operators</a:t>
            </a:r>
          </a:p>
          <a:p>
            <a:r>
              <a:rPr lang="en-US" dirty="0" err="1"/>
              <a:t>in_list_result</a:t>
            </a:r>
            <a:r>
              <a:rPr lang="en-US" dirty="0"/>
              <a:t> = 3 in </a:t>
            </a:r>
            <a:r>
              <a:rPr lang="en-US" dirty="0" err="1"/>
              <a:t>list_example</a:t>
            </a:r>
            <a:r>
              <a:rPr lang="en-US" dirty="0"/>
              <a:t>  # 'in' operator (checks if an element is present in a list)</a:t>
            </a:r>
          </a:p>
          <a:p>
            <a:r>
              <a:rPr lang="en-US" dirty="0"/>
              <a:t>print("\</a:t>
            </a:r>
            <a:r>
              <a:rPr lang="en-US" dirty="0" err="1"/>
              <a:t>n'in</a:t>
            </a:r>
            <a:r>
              <a:rPr lang="en-US" dirty="0"/>
              <a:t>' Operator Result for List:")</a:t>
            </a:r>
          </a:p>
          <a:p>
            <a:r>
              <a:rPr lang="en-US" dirty="0"/>
              <a:t>print("3 in </a:t>
            </a:r>
            <a:r>
              <a:rPr lang="en-US" dirty="0" err="1"/>
              <a:t>list_example</a:t>
            </a:r>
            <a:r>
              <a:rPr lang="en-US" dirty="0"/>
              <a:t> is", </a:t>
            </a:r>
            <a:r>
              <a:rPr lang="en-US" dirty="0" err="1"/>
              <a:t>in_list_result</a:t>
            </a:r>
            <a:r>
              <a:rPr lang="en-US" dirty="0"/>
              <a:t>)</a:t>
            </a:r>
          </a:p>
          <a:p>
            <a:endParaRPr lang="en-US" dirty="0"/>
          </a:p>
        </p:txBody>
      </p:sp>
      <p:sp>
        <p:nvSpPr>
          <p:cNvPr id="5" name="Rectangle 4"/>
          <p:cNvSpPr/>
          <p:nvPr/>
        </p:nvSpPr>
        <p:spPr>
          <a:xfrm>
            <a:off x="6344991" y="693699"/>
            <a:ext cx="6096000" cy="3693319"/>
          </a:xfrm>
          <a:prstGeom prst="rect">
            <a:avLst/>
          </a:prstGeom>
        </p:spPr>
        <p:txBody>
          <a:bodyPr>
            <a:spAutoFit/>
          </a:bodyPr>
          <a:lstStyle/>
          <a:p>
            <a:r>
              <a:rPr lang="en-US" dirty="0" err="1"/>
              <a:t>not_in_list_result</a:t>
            </a:r>
            <a:r>
              <a:rPr lang="en-US" dirty="0"/>
              <a:t> = 6 not in </a:t>
            </a:r>
            <a:r>
              <a:rPr lang="en-US" dirty="0" err="1"/>
              <a:t>list_example</a:t>
            </a:r>
            <a:r>
              <a:rPr lang="en-US" dirty="0"/>
              <a:t>  # 'not in' operator for list</a:t>
            </a:r>
          </a:p>
          <a:p>
            <a:r>
              <a:rPr lang="en-US" dirty="0"/>
              <a:t>print("\</a:t>
            </a:r>
            <a:r>
              <a:rPr lang="en-US" dirty="0" err="1"/>
              <a:t>n'not</a:t>
            </a:r>
            <a:r>
              <a:rPr lang="en-US" dirty="0"/>
              <a:t> in' Operator Result for List:")</a:t>
            </a:r>
          </a:p>
          <a:p>
            <a:r>
              <a:rPr lang="en-US" dirty="0"/>
              <a:t>print("6 not in </a:t>
            </a:r>
            <a:r>
              <a:rPr lang="en-US" dirty="0" err="1"/>
              <a:t>list_example</a:t>
            </a:r>
            <a:r>
              <a:rPr lang="en-US" dirty="0"/>
              <a:t> is", </a:t>
            </a:r>
            <a:r>
              <a:rPr lang="en-US" dirty="0" err="1"/>
              <a:t>not_in_list_result</a:t>
            </a:r>
            <a:r>
              <a:rPr lang="en-US" dirty="0"/>
              <a:t>)</a:t>
            </a:r>
          </a:p>
          <a:p>
            <a:endParaRPr lang="en-US" dirty="0"/>
          </a:p>
          <a:p>
            <a:r>
              <a:rPr lang="en-US" dirty="0" err="1"/>
              <a:t>in_set_result</a:t>
            </a:r>
            <a:r>
              <a:rPr lang="en-US" dirty="0"/>
              <a:t> = 7 in </a:t>
            </a:r>
            <a:r>
              <a:rPr lang="en-US" dirty="0" err="1"/>
              <a:t>set_example</a:t>
            </a:r>
            <a:r>
              <a:rPr lang="en-US" dirty="0"/>
              <a:t>  # 'in' operator for set</a:t>
            </a:r>
          </a:p>
          <a:p>
            <a:r>
              <a:rPr lang="en-US" dirty="0"/>
              <a:t>print("\</a:t>
            </a:r>
            <a:r>
              <a:rPr lang="en-US" dirty="0" err="1"/>
              <a:t>n'in</a:t>
            </a:r>
            <a:r>
              <a:rPr lang="en-US" dirty="0"/>
              <a:t>' Operator Result for Set:")</a:t>
            </a:r>
          </a:p>
          <a:p>
            <a:r>
              <a:rPr lang="en-US" dirty="0"/>
              <a:t>print("7 in </a:t>
            </a:r>
            <a:r>
              <a:rPr lang="en-US" dirty="0" err="1"/>
              <a:t>set_example</a:t>
            </a:r>
            <a:r>
              <a:rPr lang="en-US" dirty="0"/>
              <a:t> is", </a:t>
            </a:r>
            <a:r>
              <a:rPr lang="en-US" dirty="0" err="1"/>
              <a:t>in_set_result</a:t>
            </a:r>
            <a:r>
              <a:rPr lang="en-US" dirty="0"/>
              <a:t>)</a:t>
            </a:r>
          </a:p>
          <a:p>
            <a:endParaRPr lang="en-US" dirty="0"/>
          </a:p>
          <a:p>
            <a:r>
              <a:rPr lang="en-US" dirty="0" err="1"/>
              <a:t>not_in_set_result</a:t>
            </a:r>
            <a:r>
              <a:rPr lang="en-US" dirty="0"/>
              <a:t> = 10 not in </a:t>
            </a:r>
            <a:r>
              <a:rPr lang="en-US" dirty="0" err="1"/>
              <a:t>set_example</a:t>
            </a:r>
            <a:r>
              <a:rPr lang="en-US" dirty="0"/>
              <a:t>  # 'not in' operator for set</a:t>
            </a:r>
          </a:p>
          <a:p>
            <a:r>
              <a:rPr lang="en-US" dirty="0"/>
              <a:t>print("\</a:t>
            </a:r>
            <a:r>
              <a:rPr lang="en-US" dirty="0" err="1"/>
              <a:t>n'not</a:t>
            </a:r>
            <a:r>
              <a:rPr lang="en-US" dirty="0"/>
              <a:t> in' Operator Result for Set:")</a:t>
            </a:r>
          </a:p>
          <a:p>
            <a:r>
              <a:rPr lang="en-US" dirty="0"/>
              <a:t>print("10 not in </a:t>
            </a:r>
            <a:r>
              <a:rPr lang="en-US" dirty="0" err="1"/>
              <a:t>set_example</a:t>
            </a:r>
            <a:r>
              <a:rPr lang="en-US" dirty="0"/>
              <a:t> is", </a:t>
            </a:r>
            <a:r>
              <a:rPr lang="en-US" dirty="0" err="1"/>
              <a:t>not_in_set_result</a:t>
            </a:r>
            <a:r>
              <a:rPr lang="en-US" dirty="0"/>
              <a:t>)</a:t>
            </a:r>
          </a:p>
        </p:txBody>
      </p:sp>
    </p:spTree>
    <p:extLst>
      <p:ext uri="{BB962C8B-B14F-4D97-AF65-F5344CB8AC3E}">
        <p14:creationId xmlns:p14="http://schemas.microsoft.com/office/powerpoint/2010/main" val="110320652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5130A-B3E6-4048-B2D7-3FF504C3E3B8}"/>
              </a:ext>
            </a:extLst>
          </p:cNvPr>
          <p:cNvSpPr>
            <a:spLocks noGrp="1"/>
          </p:cNvSpPr>
          <p:nvPr>
            <p:ph type="title"/>
          </p:nvPr>
        </p:nvSpPr>
        <p:spPr/>
        <p:txBody>
          <a:bodyPr/>
          <a:lstStyle/>
          <a:p>
            <a:r>
              <a:rPr lang="en-US" dirty="0"/>
              <a:t>Bitwise Operators</a:t>
            </a:r>
          </a:p>
        </p:txBody>
      </p:sp>
      <p:pic>
        <p:nvPicPr>
          <p:cNvPr id="5" name="Content Placeholder 4">
            <a:extLst>
              <a:ext uri="{FF2B5EF4-FFF2-40B4-BE49-F238E27FC236}">
                <a16:creationId xmlns:a16="http://schemas.microsoft.com/office/drawing/2014/main" id="{DC253FCD-2CE3-9B42-B3A3-C4721AF1F65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9563" y="1911574"/>
            <a:ext cx="9152966" cy="4105758"/>
          </a:xfrm>
        </p:spPr>
      </p:pic>
    </p:spTree>
    <p:extLst>
      <p:ext uri="{BB962C8B-B14F-4D97-AF65-F5344CB8AC3E}">
        <p14:creationId xmlns:p14="http://schemas.microsoft.com/office/powerpoint/2010/main" val="175404626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9955" y="544457"/>
            <a:ext cx="6096000" cy="5632311"/>
          </a:xfrm>
          <a:prstGeom prst="rect">
            <a:avLst/>
          </a:prstGeom>
        </p:spPr>
        <p:txBody>
          <a:bodyPr>
            <a:spAutoFit/>
          </a:bodyPr>
          <a:lstStyle/>
          <a:p>
            <a:r>
              <a:rPr lang="en-US" b="1" dirty="0">
                <a:solidFill>
                  <a:srgbClr val="FF0000"/>
                </a:solidFill>
              </a:rPr>
              <a:t># Bitwise Operators Program</a:t>
            </a:r>
          </a:p>
          <a:p>
            <a:endParaRPr lang="en-US" dirty="0"/>
          </a:p>
          <a:p>
            <a:r>
              <a:rPr lang="en-US" dirty="0"/>
              <a:t># Initialize variables</a:t>
            </a:r>
          </a:p>
          <a:p>
            <a:r>
              <a:rPr lang="en-US" dirty="0"/>
              <a:t>num1 = 5    # binary: 0101</a:t>
            </a:r>
          </a:p>
          <a:p>
            <a:r>
              <a:rPr lang="en-US" dirty="0"/>
              <a:t>num2 = 3    # binary: 0011</a:t>
            </a:r>
          </a:p>
          <a:p>
            <a:endParaRPr lang="en-US" dirty="0"/>
          </a:p>
          <a:p>
            <a:r>
              <a:rPr lang="en-US" dirty="0"/>
              <a:t># Display initial values</a:t>
            </a:r>
          </a:p>
          <a:p>
            <a:r>
              <a:rPr lang="en-US" dirty="0"/>
              <a:t>print("Initial values:")</a:t>
            </a:r>
          </a:p>
          <a:p>
            <a:r>
              <a:rPr lang="en-US" dirty="0"/>
              <a:t>print("num1 =", num1)</a:t>
            </a:r>
          </a:p>
          <a:p>
            <a:r>
              <a:rPr lang="en-US" dirty="0"/>
              <a:t>print("num2 =", num2)</a:t>
            </a:r>
          </a:p>
          <a:p>
            <a:endParaRPr lang="en-US" dirty="0"/>
          </a:p>
          <a:p>
            <a:r>
              <a:rPr lang="en-US" dirty="0"/>
              <a:t># Bitwise operators</a:t>
            </a:r>
          </a:p>
          <a:p>
            <a:r>
              <a:rPr lang="en-US" dirty="0" err="1"/>
              <a:t>and_result</a:t>
            </a:r>
            <a:r>
              <a:rPr lang="en-US" dirty="0"/>
              <a:t> = num1 &amp; num2  # Bitwise AND</a:t>
            </a:r>
          </a:p>
          <a:p>
            <a:r>
              <a:rPr lang="en-US" dirty="0"/>
              <a:t>print("\</a:t>
            </a:r>
            <a:r>
              <a:rPr lang="en-US" dirty="0" err="1"/>
              <a:t>nBitwise</a:t>
            </a:r>
            <a:r>
              <a:rPr lang="en-US" dirty="0"/>
              <a:t> AND Result:")</a:t>
            </a:r>
          </a:p>
          <a:p>
            <a:r>
              <a:rPr lang="en-US" dirty="0"/>
              <a:t>print("num1 &amp; num2 =", </a:t>
            </a:r>
            <a:r>
              <a:rPr lang="en-US" dirty="0" err="1"/>
              <a:t>and_result</a:t>
            </a:r>
            <a:r>
              <a:rPr lang="en-US" dirty="0"/>
              <a:t>)</a:t>
            </a:r>
          </a:p>
          <a:p>
            <a:endParaRPr lang="en-US" dirty="0"/>
          </a:p>
          <a:p>
            <a:r>
              <a:rPr lang="en-US" dirty="0" err="1"/>
              <a:t>or_result</a:t>
            </a:r>
            <a:r>
              <a:rPr lang="en-US" dirty="0"/>
              <a:t> = num1 | num2   # Bitwise OR</a:t>
            </a:r>
          </a:p>
          <a:p>
            <a:r>
              <a:rPr lang="en-US" dirty="0"/>
              <a:t>print("\</a:t>
            </a:r>
            <a:r>
              <a:rPr lang="en-US" dirty="0" err="1"/>
              <a:t>nBitwise</a:t>
            </a:r>
            <a:r>
              <a:rPr lang="en-US" dirty="0"/>
              <a:t> OR Result:")</a:t>
            </a:r>
          </a:p>
          <a:p>
            <a:r>
              <a:rPr lang="en-US" dirty="0"/>
              <a:t>print("num1 | num2 =", </a:t>
            </a:r>
            <a:r>
              <a:rPr lang="en-US" dirty="0" err="1"/>
              <a:t>or_result</a:t>
            </a:r>
            <a:r>
              <a:rPr lang="en-US" dirty="0"/>
              <a:t>)</a:t>
            </a:r>
          </a:p>
          <a:p>
            <a:endParaRPr lang="en-US" dirty="0"/>
          </a:p>
        </p:txBody>
      </p:sp>
      <p:sp>
        <p:nvSpPr>
          <p:cNvPr id="5" name="Rectangle 4"/>
          <p:cNvSpPr/>
          <p:nvPr/>
        </p:nvSpPr>
        <p:spPr>
          <a:xfrm>
            <a:off x="7220755" y="403821"/>
            <a:ext cx="6096000" cy="4247317"/>
          </a:xfrm>
          <a:prstGeom prst="rect">
            <a:avLst/>
          </a:prstGeom>
        </p:spPr>
        <p:txBody>
          <a:bodyPr>
            <a:spAutoFit/>
          </a:bodyPr>
          <a:lstStyle/>
          <a:p>
            <a:r>
              <a:rPr lang="en-US" dirty="0" err="1"/>
              <a:t>xor_result</a:t>
            </a:r>
            <a:r>
              <a:rPr lang="en-US" dirty="0"/>
              <a:t> = num1 ^ num2  # Bitwise XOR</a:t>
            </a:r>
          </a:p>
          <a:p>
            <a:r>
              <a:rPr lang="en-US" dirty="0"/>
              <a:t>print("\</a:t>
            </a:r>
            <a:r>
              <a:rPr lang="en-US" dirty="0" err="1"/>
              <a:t>nBitwise</a:t>
            </a:r>
            <a:r>
              <a:rPr lang="en-US" dirty="0"/>
              <a:t> XOR Result:")</a:t>
            </a:r>
          </a:p>
          <a:p>
            <a:r>
              <a:rPr lang="en-US" dirty="0"/>
              <a:t>print("num1 ^ num2 =", </a:t>
            </a:r>
            <a:r>
              <a:rPr lang="en-US" dirty="0" err="1"/>
              <a:t>xor_result</a:t>
            </a:r>
            <a:r>
              <a:rPr lang="en-US" dirty="0"/>
              <a:t>)</a:t>
            </a:r>
          </a:p>
          <a:p>
            <a:endParaRPr lang="en-US" dirty="0"/>
          </a:p>
          <a:p>
            <a:r>
              <a:rPr lang="en-US" dirty="0" err="1"/>
              <a:t>not_result</a:t>
            </a:r>
            <a:r>
              <a:rPr lang="en-US" dirty="0"/>
              <a:t> = ~num1        # Bitwise NOT</a:t>
            </a:r>
          </a:p>
          <a:p>
            <a:r>
              <a:rPr lang="en-US" dirty="0"/>
              <a:t>print("\</a:t>
            </a:r>
            <a:r>
              <a:rPr lang="en-US" dirty="0" err="1"/>
              <a:t>nBitwise</a:t>
            </a:r>
            <a:r>
              <a:rPr lang="en-US" dirty="0"/>
              <a:t> NOT Result:")</a:t>
            </a:r>
          </a:p>
          <a:p>
            <a:r>
              <a:rPr lang="en-US" dirty="0"/>
              <a:t>print("~num1 =", </a:t>
            </a:r>
            <a:r>
              <a:rPr lang="en-US" dirty="0" err="1"/>
              <a:t>not_result</a:t>
            </a:r>
            <a:r>
              <a:rPr lang="en-US" dirty="0"/>
              <a:t>)</a:t>
            </a:r>
          </a:p>
          <a:p>
            <a:endParaRPr lang="en-US" dirty="0"/>
          </a:p>
          <a:p>
            <a:r>
              <a:rPr lang="en-US" dirty="0" err="1"/>
              <a:t>left_shift_result</a:t>
            </a:r>
            <a:r>
              <a:rPr lang="en-US" dirty="0"/>
              <a:t> = num1 &lt;&lt; 1  # Left Shift</a:t>
            </a:r>
          </a:p>
          <a:p>
            <a:r>
              <a:rPr lang="en-US" dirty="0"/>
              <a:t>print("\</a:t>
            </a:r>
            <a:r>
              <a:rPr lang="en-US" dirty="0" err="1"/>
              <a:t>nLeft</a:t>
            </a:r>
            <a:r>
              <a:rPr lang="en-US" dirty="0"/>
              <a:t> Shift Result:")</a:t>
            </a:r>
          </a:p>
          <a:p>
            <a:r>
              <a:rPr lang="en-US" dirty="0"/>
              <a:t>print("num1 &lt;&lt; 1 =", </a:t>
            </a:r>
            <a:r>
              <a:rPr lang="en-US" dirty="0" err="1"/>
              <a:t>left_shift_result</a:t>
            </a:r>
            <a:r>
              <a:rPr lang="en-US" dirty="0"/>
              <a:t>)</a:t>
            </a:r>
          </a:p>
          <a:p>
            <a:endParaRPr lang="en-US" dirty="0"/>
          </a:p>
          <a:p>
            <a:r>
              <a:rPr lang="en-US" dirty="0" err="1"/>
              <a:t>right_shift_result</a:t>
            </a:r>
            <a:r>
              <a:rPr lang="en-US" dirty="0"/>
              <a:t> = num1 &gt;&gt; 1  # Right Shift</a:t>
            </a:r>
          </a:p>
          <a:p>
            <a:r>
              <a:rPr lang="en-US" dirty="0"/>
              <a:t>print("\</a:t>
            </a:r>
            <a:r>
              <a:rPr lang="en-US" dirty="0" err="1"/>
              <a:t>nRight</a:t>
            </a:r>
            <a:r>
              <a:rPr lang="en-US" dirty="0"/>
              <a:t> Shift Result:")</a:t>
            </a:r>
          </a:p>
          <a:p>
            <a:r>
              <a:rPr lang="en-US" dirty="0"/>
              <a:t>print("num1 &gt;&gt; 1 =", </a:t>
            </a:r>
            <a:r>
              <a:rPr lang="en-US" dirty="0" err="1"/>
              <a:t>right_shift_result</a:t>
            </a:r>
            <a:r>
              <a:rPr lang="en-US" dirty="0"/>
              <a:t>)</a:t>
            </a:r>
          </a:p>
        </p:txBody>
      </p:sp>
    </p:spTree>
    <p:extLst>
      <p:ext uri="{BB962C8B-B14F-4D97-AF65-F5344CB8AC3E}">
        <p14:creationId xmlns:p14="http://schemas.microsoft.com/office/powerpoint/2010/main" val="133339716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object 3"/>
          <p:cNvSpPr txBox="1">
            <a:spLocks noGrp="1"/>
          </p:cNvSpPr>
          <p:nvPr>
            <p:ph type="title"/>
          </p:nvPr>
        </p:nvSpPr>
        <p:spPr>
          <a:prstGeom prst="rect">
            <a:avLst/>
          </a:prstGeom>
        </p:spPr>
        <p:txBody>
          <a:bodyPr>
            <a:normAutofit/>
          </a:bodyPr>
          <a:lstStyle/>
          <a:p>
            <a:pPr indent="10053" defTabSz="723871">
              <a:defRPr sz="3230" spc="-190"/>
            </a:pPr>
            <a:r>
              <a:rPr dirty="0"/>
              <a:t>CONTROL</a:t>
            </a:r>
            <a:r>
              <a:rPr spc="-237" dirty="0"/>
              <a:t> </a:t>
            </a:r>
            <a:r>
              <a:rPr spc="79" dirty="0"/>
              <a:t>STATEMENTS</a:t>
            </a:r>
          </a:p>
        </p:txBody>
      </p:sp>
      <p:sp>
        <p:nvSpPr>
          <p:cNvPr id="122" name="object 4"/>
          <p:cNvSpPr txBox="1"/>
          <p:nvPr/>
        </p:nvSpPr>
        <p:spPr>
          <a:xfrm>
            <a:off x="776308" y="1805176"/>
            <a:ext cx="2409826" cy="31037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L="467235" indent="-457182">
              <a:spcBef>
                <a:spcPts val="1417"/>
              </a:spcBef>
              <a:buSzPct val="100000"/>
              <a:buFont typeface="Arial"/>
              <a:buChar char="•"/>
              <a:tabLst>
                <a:tab pos="465648" algn="l"/>
                <a:tab pos="465648" algn="l"/>
              </a:tabLst>
              <a:defRPr sz="2900" spc="200">
                <a:latin typeface="Gill Sans MT"/>
                <a:ea typeface="Gill Sans MT"/>
                <a:cs typeface="Gill Sans MT"/>
                <a:sym typeface="Gill Sans MT"/>
              </a:defRPr>
            </a:pPr>
            <a:r>
              <a:rPr sz="2417" dirty="0"/>
              <a:t>If</a:t>
            </a:r>
          </a:p>
          <a:p>
            <a:pPr marL="467235" indent="-457182">
              <a:spcBef>
                <a:spcPts val="1333"/>
              </a:spcBef>
              <a:buSzPct val="100000"/>
              <a:buFont typeface="Arial"/>
              <a:buChar char="•"/>
              <a:tabLst>
                <a:tab pos="465648" algn="l"/>
                <a:tab pos="465648" algn="l"/>
              </a:tabLst>
              <a:defRPr sz="2900" spc="180">
                <a:latin typeface="Gill Sans MT"/>
                <a:ea typeface="Gill Sans MT"/>
                <a:cs typeface="Gill Sans MT"/>
                <a:sym typeface="Gill Sans MT"/>
              </a:defRPr>
            </a:pPr>
            <a:r>
              <a:rPr sz="2417" dirty="0"/>
              <a:t>If-Else</a:t>
            </a:r>
          </a:p>
          <a:p>
            <a:pPr marL="467235" indent="-457182">
              <a:spcBef>
                <a:spcPts val="1417"/>
              </a:spcBef>
              <a:buSzPct val="100000"/>
              <a:buFont typeface="Arial"/>
              <a:buChar char="•"/>
              <a:tabLst>
                <a:tab pos="465648" algn="l"/>
                <a:tab pos="465648" algn="l"/>
              </a:tabLst>
              <a:defRPr sz="2900" spc="160">
                <a:latin typeface="Gill Sans MT"/>
                <a:ea typeface="Gill Sans MT"/>
                <a:cs typeface="Gill Sans MT"/>
                <a:sym typeface="Gill Sans MT"/>
              </a:defRPr>
            </a:pPr>
            <a:r>
              <a:rPr sz="2417" dirty="0"/>
              <a:t>If-</a:t>
            </a:r>
            <a:r>
              <a:rPr sz="2417" dirty="0" err="1"/>
              <a:t>elif</a:t>
            </a:r>
            <a:r>
              <a:rPr sz="2417" dirty="0"/>
              <a:t>-else</a:t>
            </a:r>
          </a:p>
          <a:p>
            <a:pPr marL="467235" indent="-457182">
              <a:spcBef>
                <a:spcPts val="1417"/>
              </a:spcBef>
              <a:buSzPct val="100000"/>
              <a:buFont typeface="Arial"/>
              <a:buChar char="•"/>
              <a:tabLst>
                <a:tab pos="465648" algn="l"/>
                <a:tab pos="465648" algn="l"/>
              </a:tabLst>
              <a:defRPr sz="2900" spc="110">
                <a:latin typeface="Gill Sans MT"/>
                <a:ea typeface="Gill Sans MT"/>
                <a:cs typeface="Gill Sans MT"/>
                <a:sym typeface="Gill Sans MT"/>
              </a:defRPr>
            </a:pPr>
            <a:r>
              <a:rPr sz="2417" dirty="0"/>
              <a:t>Nested</a:t>
            </a:r>
            <a:r>
              <a:rPr sz="2417" spc="-146" dirty="0"/>
              <a:t> </a:t>
            </a:r>
            <a:r>
              <a:rPr sz="2417" spc="150" dirty="0"/>
              <a:t>If-Else</a:t>
            </a:r>
          </a:p>
          <a:p>
            <a:pPr marL="467235" indent="-457182">
              <a:spcBef>
                <a:spcPts val="1333"/>
              </a:spcBef>
              <a:buSzPct val="100000"/>
              <a:buFont typeface="Arial"/>
              <a:buChar char="•"/>
              <a:tabLst>
                <a:tab pos="465648" algn="l"/>
                <a:tab pos="465648" algn="l"/>
              </a:tabLst>
              <a:defRPr sz="2900" spc="50">
                <a:latin typeface="Gill Sans MT"/>
                <a:ea typeface="Gill Sans MT"/>
                <a:cs typeface="Gill Sans MT"/>
                <a:sym typeface="Gill Sans MT"/>
              </a:defRPr>
            </a:pPr>
            <a:r>
              <a:rPr sz="2417" dirty="0"/>
              <a:t>For</a:t>
            </a:r>
          </a:p>
          <a:p>
            <a:pPr marL="467235" indent="-457182">
              <a:spcBef>
                <a:spcPts val="1417"/>
              </a:spcBef>
              <a:buSzPct val="100000"/>
              <a:buFont typeface="Arial"/>
              <a:buChar char="•"/>
              <a:tabLst>
                <a:tab pos="465648" algn="l"/>
                <a:tab pos="465648" algn="l"/>
              </a:tabLst>
              <a:defRPr sz="2900" spc="110">
                <a:latin typeface="Gill Sans MT"/>
                <a:ea typeface="Gill Sans MT"/>
                <a:cs typeface="Gill Sans MT"/>
                <a:sym typeface="Gill Sans MT"/>
              </a:defRPr>
            </a:pPr>
            <a:r>
              <a:rPr sz="2417" dirty="0"/>
              <a:t>Nested</a:t>
            </a:r>
            <a:r>
              <a:rPr sz="2417" spc="-112" dirty="0"/>
              <a:t> </a:t>
            </a:r>
            <a:r>
              <a:rPr sz="2417" spc="42" dirty="0"/>
              <a:t>For</a:t>
            </a:r>
          </a:p>
        </p:txBody>
      </p:sp>
    </p:spTree>
    <p:extLst>
      <p:ext uri="{BB962C8B-B14F-4D97-AF65-F5344CB8AC3E}">
        <p14:creationId xmlns:p14="http://schemas.microsoft.com/office/powerpoint/2010/main" val="208363393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object 3"/>
          <p:cNvSpPr txBox="1"/>
          <p:nvPr/>
        </p:nvSpPr>
        <p:spPr>
          <a:xfrm>
            <a:off x="776308" y="580918"/>
            <a:ext cx="10364789" cy="42963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defRPr sz="3400" spc="185">
                <a:latin typeface="Gill Sans MT"/>
                <a:ea typeface="Gill Sans MT"/>
                <a:cs typeface="Gill Sans MT"/>
                <a:sym typeface="Gill Sans MT"/>
              </a:defRPr>
            </a:pPr>
            <a:r>
              <a:rPr sz="2833" dirty="0"/>
              <a:t>IF</a:t>
            </a:r>
          </a:p>
          <a:p>
            <a:pPr>
              <a:defRPr sz="4000">
                <a:latin typeface="Gill Sans MT"/>
                <a:ea typeface="Gill Sans MT"/>
                <a:cs typeface="Gill Sans MT"/>
                <a:sym typeface="Gill Sans MT"/>
              </a:defRPr>
            </a:pPr>
            <a:endParaRPr sz="3333" dirty="0"/>
          </a:p>
          <a:p>
            <a:pPr marL="486285" marR="4233" indent="-476231" algn="just">
              <a:spcBef>
                <a:spcPts val="2333"/>
              </a:spcBef>
              <a:buSzPct val="100000"/>
              <a:buFont typeface="Arial"/>
              <a:buChar char="•"/>
              <a:tabLst>
                <a:tab pos="486814" algn="l"/>
              </a:tabLst>
              <a:defRPr sz="2900" spc="104">
                <a:latin typeface="Gill Sans MT"/>
                <a:ea typeface="Gill Sans MT"/>
                <a:cs typeface="Gill Sans MT"/>
                <a:sym typeface="Gill Sans MT"/>
              </a:defRPr>
            </a:pPr>
            <a:r>
              <a:rPr sz="2417" dirty="0"/>
              <a:t>The</a:t>
            </a:r>
            <a:r>
              <a:rPr sz="2417" spc="-67" dirty="0"/>
              <a:t> </a:t>
            </a:r>
            <a:r>
              <a:rPr sz="2417" spc="150" dirty="0"/>
              <a:t>if</a:t>
            </a:r>
            <a:r>
              <a:rPr lang="en-US" sz="2417" spc="150" dirty="0"/>
              <a:t> </a:t>
            </a:r>
            <a:r>
              <a:rPr sz="2417" spc="133" dirty="0"/>
              <a:t>statement</a:t>
            </a:r>
            <a:r>
              <a:rPr sz="2417" spc="-71" dirty="0"/>
              <a:t> </a:t>
            </a:r>
            <a:r>
              <a:rPr sz="2417" spc="179" dirty="0"/>
              <a:t>checks</a:t>
            </a:r>
            <a:r>
              <a:rPr sz="2417" spc="-75" dirty="0"/>
              <a:t> </a:t>
            </a:r>
            <a:r>
              <a:rPr sz="2417" spc="92" dirty="0"/>
              <a:t>the</a:t>
            </a:r>
            <a:r>
              <a:rPr sz="2417" spc="-75" dirty="0"/>
              <a:t> </a:t>
            </a:r>
            <a:r>
              <a:rPr sz="2417" spc="92" dirty="0"/>
              <a:t>condition</a:t>
            </a:r>
            <a:r>
              <a:rPr sz="2417" spc="-83" dirty="0"/>
              <a:t> </a:t>
            </a:r>
            <a:r>
              <a:rPr sz="2417" spc="174" dirty="0"/>
              <a:t>and</a:t>
            </a:r>
            <a:r>
              <a:rPr sz="2417" spc="-71" dirty="0"/>
              <a:t> </a:t>
            </a:r>
            <a:r>
              <a:rPr sz="2417" spc="133" dirty="0"/>
              <a:t>executes</a:t>
            </a:r>
            <a:r>
              <a:rPr sz="2417" spc="-104" dirty="0"/>
              <a:t> </a:t>
            </a:r>
            <a:r>
              <a:rPr sz="2417" spc="92" dirty="0"/>
              <a:t>the</a:t>
            </a:r>
            <a:r>
              <a:rPr sz="2417" spc="-62" dirty="0"/>
              <a:t> </a:t>
            </a:r>
            <a:r>
              <a:rPr sz="2417" spc="75" dirty="0"/>
              <a:t>‘if’</a:t>
            </a:r>
            <a:r>
              <a:rPr sz="2417" spc="-62" dirty="0"/>
              <a:t> </a:t>
            </a:r>
            <a:r>
              <a:rPr sz="2417" spc="112" dirty="0"/>
              <a:t>block</a:t>
            </a:r>
            <a:r>
              <a:rPr sz="2417" spc="-67" dirty="0"/>
              <a:t> </a:t>
            </a:r>
            <a:r>
              <a:rPr sz="2417" spc="137" dirty="0"/>
              <a:t>of  </a:t>
            </a:r>
            <a:r>
              <a:rPr sz="2417" spc="125" dirty="0"/>
              <a:t>code</a:t>
            </a:r>
            <a:r>
              <a:rPr sz="2417" spc="-62" dirty="0"/>
              <a:t> </a:t>
            </a:r>
            <a:r>
              <a:rPr sz="2417" spc="112" dirty="0"/>
              <a:t>when</a:t>
            </a:r>
            <a:r>
              <a:rPr sz="2417" spc="-92" dirty="0"/>
              <a:t> </a:t>
            </a:r>
            <a:r>
              <a:rPr sz="2417" spc="92" dirty="0"/>
              <a:t>the</a:t>
            </a:r>
            <a:r>
              <a:rPr sz="2417" spc="-83" dirty="0"/>
              <a:t> </a:t>
            </a:r>
            <a:r>
              <a:rPr sz="2417" spc="95" dirty="0"/>
              <a:t>condition</a:t>
            </a:r>
            <a:r>
              <a:rPr sz="2417" spc="-79" dirty="0"/>
              <a:t> </a:t>
            </a:r>
            <a:r>
              <a:rPr sz="2417" spc="200" dirty="0"/>
              <a:t>is</a:t>
            </a:r>
            <a:r>
              <a:rPr sz="2417" spc="-71" dirty="0"/>
              <a:t> </a:t>
            </a:r>
            <a:r>
              <a:rPr sz="2417" spc="37" dirty="0"/>
              <a:t>True,</a:t>
            </a:r>
            <a:r>
              <a:rPr sz="2417" spc="-92" dirty="0"/>
              <a:t> </a:t>
            </a:r>
            <a:endParaRPr lang="en-US" sz="2417" spc="-92" dirty="0"/>
          </a:p>
          <a:p>
            <a:pPr marL="486285" marR="4233" indent="-476231" algn="just">
              <a:spcBef>
                <a:spcPts val="2333"/>
              </a:spcBef>
              <a:buSzPct val="100000"/>
              <a:buFont typeface="Arial"/>
              <a:buChar char="•"/>
              <a:tabLst>
                <a:tab pos="486814" algn="l"/>
              </a:tabLst>
              <a:defRPr sz="2900" spc="104">
                <a:latin typeface="Gill Sans MT"/>
                <a:ea typeface="Gill Sans MT"/>
                <a:cs typeface="Gill Sans MT"/>
                <a:sym typeface="Gill Sans MT"/>
              </a:defRPr>
            </a:pPr>
            <a:r>
              <a:rPr sz="2417" dirty="0"/>
              <a:t>Syntax</a:t>
            </a:r>
            <a:r>
              <a:rPr sz="2417" spc="-100" dirty="0"/>
              <a:t> </a:t>
            </a:r>
            <a:r>
              <a:rPr sz="2417" spc="104" dirty="0"/>
              <a:t>:</a:t>
            </a:r>
          </a:p>
          <a:p>
            <a:pPr indent="772022" algn="just">
              <a:spcBef>
                <a:spcPts val="1417"/>
              </a:spcBef>
              <a:defRPr sz="2900" spc="200">
                <a:latin typeface="Gill Sans MT"/>
                <a:ea typeface="Gill Sans MT"/>
                <a:cs typeface="Gill Sans MT"/>
                <a:sym typeface="Gill Sans MT"/>
              </a:defRPr>
            </a:pPr>
            <a:r>
              <a:rPr sz="2417" dirty="0"/>
              <a:t>if</a:t>
            </a:r>
            <a:r>
              <a:rPr sz="2417" spc="-108" dirty="0"/>
              <a:t> </a:t>
            </a:r>
            <a:r>
              <a:rPr sz="2417" spc="95" dirty="0"/>
              <a:t>condition:</a:t>
            </a:r>
          </a:p>
          <a:p>
            <a:pPr indent="1534522" algn="just">
              <a:spcBef>
                <a:spcPts val="1417"/>
              </a:spcBef>
              <a:defRPr sz="2900" spc="165">
                <a:latin typeface="Gill Sans MT"/>
                <a:ea typeface="Gill Sans MT"/>
                <a:cs typeface="Gill Sans MT"/>
                <a:sym typeface="Gill Sans MT"/>
              </a:defRPr>
            </a:pPr>
            <a:r>
              <a:rPr sz="2417" dirty="0"/>
              <a:t>statement</a:t>
            </a:r>
            <a:r>
              <a:rPr sz="2417" spc="-179" dirty="0"/>
              <a:t> </a:t>
            </a:r>
            <a:r>
              <a:rPr sz="2417" spc="167" dirty="0"/>
              <a:t>1</a:t>
            </a:r>
          </a:p>
          <a:p>
            <a:pPr indent="1534522" algn="just">
              <a:spcBef>
                <a:spcPts val="1333"/>
              </a:spcBef>
              <a:defRPr sz="2900" spc="160">
                <a:latin typeface="Gill Sans MT"/>
                <a:ea typeface="Gill Sans MT"/>
                <a:cs typeface="Gill Sans MT"/>
                <a:sym typeface="Gill Sans MT"/>
              </a:defRPr>
            </a:pPr>
            <a:r>
              <a:rPr sz="2417" dirty="0"/>
              <a:t>statement</a:t>
            </a:r>
            <a:r>
              <a:rPr sz="2417" spc="-162" dirty="0"/>
              <a:t> </a:t>
            </a:r>
            <a:r>
              <a:rPr sz="2417" spc="167" dirty="0"/>
              <a:t>2</a:t>
            </a:r>
          </a:p>
        </p:txBody>
      </p:sp>
    </p:spTree>
    <p:extLst>
      <p:ext uri="{BB962C8B-B14F-4D97-AF65-F5344CB8AC3E}">
        <p14:creationId xmlns:p14="http://schemas.microsoft.com/office/powerpoint/2010/main" val="349560731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object 3"/>
          <p:cNvSpPr txBox="1"/>
          <p:nvPr/>
        </p:nvSpPr>
        <p:spPr>
          <a:xfrm>
            <a:off x="776307" y="580919"/>
            <a:ext cx="10537827" cy="54122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defRPr sz="3400" spc="185">
                <a:latin typeface="Gill Sans MT"/>
                <a:ea typeface="Gill Sans MT"/>
                <a:cs typeface="Gill Sans MT"/>
                <a:sym typeface="Gill Sans MT"/>
              </a:defRPr>
            </a:pPr>
            <a:r>
              <a:rPr sz="2833" dirty="0"/>
              <a:t>IF</a:t>
            </a:r>
          </a:p>
          <a:p>
            <a:pPr indent="10583">
              <a:spcBef>
                <a:spcPts val="2333"/>
              </a:spcBef>
              <a:defRPr sz="2900" u="sng" spc="150">
                <a:uFill>
                  <a:solidFill>
                    <a:srgbClr val="000000"/>
                  </a:solidFill>
                </a:uFill>
                <a:latin typeface="Gill Sans MT"/>
                <a:ea typeface="Gill Sans MT"/>
                <a:cs typeface="Gill Sans MT"/>
                <a:sym typeface="Gill Sans MT"/>
              </a:defRPr>
            </a:pPr>
            <a:r>
              <a:rPr sz="2417" dirty="0"/>
              <a:t>Program</a:t>
            </a:r>
            <a:r>
              <a:rPr sz="2417" spc="-167" dirty="0"/>
              <a:t> </a:t>
            </a:r>
            <a:r>
              <a:rPr sz="2417" spc="104" dirty="0"/>
              <a:t>:</a:t>
            </a:r>
          </a:p>
          <a:p>
            <a:pPr marR="4233" indent="772022">
              <a:spcBef>
                <a:spcPts val="1333"/>
              </a:spcBef>
              <a:tabLst>
                <a:tab pos="2730391" algn="l"/>
                <a:tab pos="7302208" algn="l"/>
                <a:tab pos="7905434" algn="l"/>
              </a:tabLst>
              <a:defRPr sz="2900" spc="204">
                <a:latin typeface="Gill Sans MT"/>
                <a:ea typeface="Gill Sans MT"/>
                <a:cs typeface="Gill Sans MT"/>
                <a:sym typeface="Gill Sans MT"/>
              </a:defRPr>
            </a:pPr>
            <a:r>
              <a:rPr lang="en-US" sz="2417" dirty="0"/>
              <a:t># Program to check if a number is positive, negative, or zero</a:t>
            </a:r>
          </a:p>
          <a:p>
            <a:pPr marR="4233" indent="772022">
              <a:spcBef>
                <a:spcPts val="1333"/>
              </a:spcBef>
              <a:tabLst>
                <a:tab pos="2730391" algn="l"/>
                <a:tab pos="7302208" algn="l"/>
                <a:tab pos="7905434" algn="l"/>
              </a:tabLst>
              <a:defRPr sz="2900" spc="204">
                <a:latin typeface="Gill Sans MT"/>
                <a:ea typeface="Gill Sans MT"/>
                <a:cs typeface="Gill Sans MT"/>
                <a:sym typeface="Gill Sans MT"/>
              </a:defRPr>
            </a:pPr>
            <a:r>
              <a:rPr lang="en-US" sz="2417" dirty="0" err="1"/>
              <a:t>num</a:t>
            </a:r>
            <a:r>
              <a:rPr lang="en-US" sz="2417" dirty="0"/>
              <a:t> = float(input("Enter a number: "))</a:t>
            </a:r>
          </a:p>
          <a:p>
            <a:pPr marR="4233" indent="772022">
              <a:spcBef>
                <a:spcPts val="1333"/>
              </a:spcBef>
              <a:tabLst>
                <a:tab pos="2730391" algn="l"/>
                <a:tab pos="7302208" algn="l"/>
                <a:tab pos="7905434" algn="l"/>
              </a:tabLst>
              <a:defRPr sz="2900" spc="204">
                <a:latin typeface="Gill Sans MT"/>
                <a:ea typeface="Gill Sans MT"/>
                <a:cs typeface="Gill Sans MT"/>
                <a:sym typeface="Gill Sans MT"/>
              </a:defRPr>
            </a:pPr>
            <a:r>
              <a:rPr lang="en-US" sz="2417" dirty="0"/>
              <a:t>if </a:t>
            </a:r>
            <a:r>
              <a:rPr lang="en-US" sz="2417" dirty="0" err="1"/>
              <a:t>num</a:t>
            </a:r>
            <a:r>
              <a:rPr lang="en-US" sz="2417" dirty="0"/>
              <a:t> &gt; 0:</a:t>
            </a:r>
          </a:p>
          <a:p>
            <a:pPr marR="4233" indent="772022">
              <a:spcBef>
                <a:spcPts val="1333"/>
              </a:spcBef>
              <a:tabLst>
                <a:tab pos="2730391" algn="l"/>
                <a:tab pos="7302208" algn="l"/>
                <a:tab pos="7905434" algn="l"/>
              </a:tabLst>
              <a:defRPr sz="2900" spc="204">
                <a:latin typeface="Gill Sans MT"/>
                <a:ea typeface="Gill Sans MT"/>
                <a:cs typeface="Gill Sans MT"/>
                <a:sym typeface="Gill Sans MT"/>
              </a:defRPr>
            </a:pPr>
            <a:r>
              <a:rPr lang="en-US" sz="2417" dirty="0"/>
              <a:t>    print("The number is positive.")</a:t>
            </a:r>
          </a:p>
          <a:p>
            <a:pPr marR="4233" indent="772022">
              <a:spcBef>
                <a:spcPts val="1333"/>
              </a:spcBef>
              <a:tabLst>
                <a:tab pos="2730391" algn="l"/>
                <a:tab pos="7302208" algn="l"/>
                <a:tab pos="7905434" algn="l"/>
              </a:tabLst>
              <a:defRPr sz="2900" spc="204">
                <a:latin typeface="Gill Sans MT"/>
                <a:ea typeface="Gill Sans MT"/>
                <a:cs typeface="Gill Sans MT"/>
                <a:sym typeface="Gill Sans MT"/>
              </a:defRPr>
            </a:pPr>
            <a:r>
              <a:rPr lang="en-US" sz="2417" dirty="0"/>
              <a:t>if </a:t>
            </a:r>
            <a:r>
              <a:rPr lang="en-US" sz="2417" dirty="0" err="1"/>
              <a:t>num</a:t>
            </a:r>
            <a:r>
              <a:rPr lang="en-US" sz="2417" dirty="0"/>
              <a:t> &lt; 0:</a:t>
            </a:r>
          </a:p>
          <a:p>
            <a:pPr marR="4233" indent="772022">
              <a:spcBef>
                <a:spcPts val="1333"/>
              </a:spcBef>
              <a:tabLst>
                <a:tab pos="2730391" algn="l"/>
                <a:tab pos="7302208" algn="l"/>
                <a:tab pos="7905434" algn="l"/>
              </a:tabLst>
              <a:defRPr sz="2900" spc="204">
                <a:latin typeface="Gill Sans MT"/>
                <a:ea typeface="Gill Sans MT"/>
                <a:cs typeface="Gill Sans MT"/>
                <a:sym typeface="Gill Sans MT"/>
              </a:defRPr>
            </a:pPr>
            <a:r>
              <a:rPr lang="en-US" sz="2417" dirty="0"/>
              <a:t>    print("The number is negative.")</a:t>
            </a:r>
          </a:p>
          <a:p>
            <a:pPr marR="4233" indent="772022">
              <a:spcBef>
                <a:spcPts val="1333"/>
              </a:spcBef>
              <a:tabLst>
                <a:tab pos="2730391" algn="l"/>
                <a:tab pos="7302208" algn="l"/>
                <a:tab pos="7905434" algn="l"/>
              </a:tabLst>
              <a:defRPr sz="2900" spc="204">
                <a:latin typeface="Gill Sans MT"/>
                <a:ea typeface="Gill Sans MT"/>
                <a:cs typeface="Gill Sans MT"/>
                <a:sym typeface="Gill Sans MT"/>
              </a:defRPr>
            </a:pPr>
            <a:r>
              <a:rPr lang="en-US" sz="2417" dirty="0"/>
              <a:t>if </a:t>
            </a:r>
            <a:r>
              <a:rPr lang="en-US" sz="2417" dirty="0" err="1"/>
              <a:t>num</a:t>
            </a:r>
            <a:r>
              <a:rPr lang="en-US" sz="2417" dirty="0"/>
              <a:t> == 0:</a:t>
            </a:r>
          </a:p>
          <a:p>
            <a:pPr marR="4233" indent="772022">
              <a:spcBef>
                <a:spcPts val="1333"/>
              </a:spcBef>
              <a:tabLst>
                <a:tab pos="2730391" algn="l"/>
                <a:tab pos="7302208" algn="l"/>
                <a:tab pos="7905434" algn="l"/>
              </a:tabLst>
              <a:defRPr sz="2900" spc="204">
                <a:latin typeface="Gill Sans MT"/>
                <a:ea typeface="Gill Sans MT"/>
                <a:cs typeface="Gill Sans MT"/>
                <a:sym typeface="Gill Sans MT"/>
              </a:defRPr>
            </a:pPr>
            <a:r>
              <a:rPr lang="en-US" sz="2417" dirty="0"/>
              <a:t>    print("The number is zero.")</a:t>
            </a:r>
          </a:p>
        </p:txBody>
      </p:sp>
    </p:spTree>
    <p:extLst>
      <p:ext uri="{BB962C8B-B14F-4D97-AF65-F5344CB8AC3E}">
        <p14:creationId xmlns:p14="http://schemas.microsoft.com/office/powerpoint/2010/main" val="213061132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object 3"/>
          <p:cNvSpPr txBox="1">
            <a:spLocks noGrp="1"/>
          </p:cNvSpPr>
          <p:nvPr>
            <p:ph type="title"/>
          </p:nvPr>
        </p:nvSpPr>
        <p:spPr>
          <a:prstGeom prst="rect">
            <a:avLst/>
          </a:prstGeom>
        </p:spPr>
        <p:txBody>
          <a:bodyPr>
            <a:normAutofit/>
          </a:bodyPr>
          <a:lstStyle/>
          <a:p>
            <a:pPr indent="8783" defTabSz="632434">
              <a:defRPr sz="2822" spc="83"/>
            </a:pPr>
            <a:r>
              <a:t>I</a:t>
            </a:r>
            <a:r>
              <a:rPr spc="138"/>
              <a:t>F</a:t>
            </a:r>
            <a:r>
              <a:t>-EL</a:t>
            </a:r>
            <a:r>
              <a:rPr spc="277"/>
              <a:t>S</a:t>
            </a:r>
            <a:r>
              <a:rPr spc="138"/>
              <a:t>E</a:t>
            </a:r>
          </a:p>
        </p:txBody>
      </p:sp>
      <p:sp>
        <p:nvSpPr>
          <p:cNvPr id="132" name="object 4"/>
          <p:cNvSpPr txBox="1"/>
          <p:nvPr/>
        </p:nvSpPr>
        <p:spPr>
          <a:xfrm>
            <a:off x="776308" y="1805409"/>
            <a:ext cx="10334098" cy="38477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L="486285" marR="4233" indent="-476231">
              <a:spcBef>
                <a:spcPts val="83"/>
              </a:spcBef>
              <a:buSzPct val="100000"/>
              <a:buFont typeface="Arial"/>
              <a:buChar char="•"/>
              <a:tabLst>
                <a:tab pos="476231" algn="l"/>
                <a:tab pos="486814" algn="l"/>
              </a:tabLst>
              <a:defRPr sz="2900" spc="104">
                <a:latin typeface="Gill Sans MT"/>
                <a:ea typeface="Gill Sans MT"/>
                <a:cs typeface="Gill Sans MT"/>
                <a:sym typeface="Gill Sans MT"/>
              </a:defRPr>
            </a:pPr>
            <a:r>
              <a:rPr sz="2417" dirty="0"/>
              <a:t>The</a:t>
            </a:r>
            <a:r>
              <a:rPr sz="2417" spc="-67" dirty="0"/>
              <a:t> </a:t>
            </a:r>
            <a:r>
              <a:rPr sz="2417" spc="150" dirty="0"/>
              <a:t>if-else</a:t>
            </a:r>
            <a:r>
              <a:rPr sz="2417" spc="-92" dirty="0"/>
              <a:t> </a:t>
            </a:r>
            <a:r>
              <a:rPr sz="2417" spc="133" dirty="0"/>
              <a:t>statement</a:t>
            </a:r>
            <a:r>
              <a:rPr sz="2417" spc="-71" dirty="0"/>
              <a:t> </a:t>
            </a:r>
            <a:r>
              <a:rPr sz="2417" spc="179" dirty="0"/>
              <a:t>checks</a:t>
            </a:r>
            <a:r>
              <a:rPr sz="2417" spc="-71" dirty="0"/>
              <a:t> </a:t>
            </a:r>
            <a:r>
              <a:rPr sz="2417" spc="92" dirty="0"/>
              <a:t>the</a:t>
            </a:r>
            <a:r>
              <a:rPr sz="2417" spc="-79" dirty="0"/>
              <a:t> </a:t>
            </a:r>
            <a:r>
              <a:rPr sz="2417" spc="92" dirty="0"/>
              <a:t>condition</a:t>
            </a:r>
            <a:r>
              <a:rPr sz="2417" spc="-83" dirty="0"/>
              <a:t> </a:t>
            </a:r>
            <a:r>
              <a:rPr sz="2417" spc="174" dirty="0"/>
              <a:t>and</a:t>
            </a:r>
            <a:r>
              <a:rPr sz="2417" spc="-71" dirty="0"/>
              <a:t> </a:t>
            </a:r>
            <a:r>
              <a:rPr sz="2417" spc="133" dirty="0"/>
              <a:t>executes</a:t>
            </a:r>
            <a:r>
              <a:rPr sz="2417" spc="-100" dirty="0"/>
              <a:t> </a:t>
            </a:r>
            <a:r>
              <a:rPr sz="2417" spc="92" dirty="0"/>
              <a:t>the</a:t>
            </a:r>
            <a:r>
              <a:rPr sz="2417" spc="-62" dirty="0"/>
              <a:t> </a:t>
            </a:r>
            <a:r>
              <a:rPr sz="2417" spc="75" dirty="0"/>
              <a:t>‘if’</a:t>
            </a:r>
            <a:r>
              <a:rPr sz="2417" spc="-67" dirty="0"/>
              <a:t> </a:t>
            </a:r>
            <a:r>
              <a:rPr sz="2417" spc="112" dirty="0"/>
              <a:t>block</a:t>
            </a:r>
            <a:r>
              <a:rPr sz="2417" spc="-67" dirty="0"/>
              <a:t> </a:t>
            </a:r>
            <a:r>
              <a:rPr sz="2417" spc="137" dirty="0"/>
              <a:t>of  </a:t>
            </a:r>
            <a:r>
              <a:rPr sz="2417" spc="125" dirty="0"/>
              <a:t>code </a:t>
            </a:r>
            <a:r>
              <a:rPr sz="2417" spc="112" dirty="0"/>
              <a:t>when </a:t>
            </a:r>
            <a:r>
              <a:rPr sz="2417" spc="92" dirty="0"/>
              <a:t>the </a:t>
            </a:r>
            <a:r>
              <a:rPr sz="2417" spc="95" dirty="0"/>
              <a:t>condition </a:t>
            </a:r>
            <a:r>
              <a:rPr sz="2417" spc="200" dirty="0"/>
              <a:t>is </a:t>
            </a:r>
            <a:r>
              <a:rPr sz="2417" spc="37" dirty="0"/>
              <a:t>True, </a:t>
            </a:r>
            <a:r>
              <a:rPr sz="2417" spc="174" dirty="0"/>
              <a:t>and </a:t>
            </a:r>
            <a:r>
              <a:rPr sz="2417" spc="167" dirty="0"/>
              <a:t>if </a:t>
            </a:r>
            <a:r>
              <a:rPr sz="2417" spc="92" dirty="0"/>
              <a:t>the </a:t>
            </a:r>
            <a:r>
              <a:rPr sz="2417" spc="95" dirty="0"/>
              <a:t>condition </a:t>
            </a:r>
            <a:r>
              <a:rPr sz="2417" spc="200" dirty="0"/>
              <a:t>is </a:t>
            </a:r>
            <a:r>
              <a:rPr sz="2417" spc="162" dirty="0"/>
              <a:t>False, </a:t>
            </a:r>
            <a:r>
              <a:rPr sz="2417" spc="42" dirty="0"/>
              <a:t>it </a:t>
            </a:r>
            <a:r>
              <a:rPr sz="2417" spc="75" dirty="0"/>
              <a:t>will  </a:t>
            </a:r>
            <a:r>
              <a:rPr sz="2417" spc="108" dirty="0"/>
              <a:t>execute</a:t>
            </a:r>
            <a:r>
              <a:rPr sz="2417" spc="-108" dirty="0"/>
              <a:t> </a:t>
            </a:r>
            <a:r>
              <a:rPr sz="2417" spc="92" dirty="0"/>
              <a:t>the</a:t>
            </a:r>
            <a:r>
              <a:rPr sz="2417" spc="-71" dirty="0"/>
              <a:t> </a:t>
            </a:r>
            <a:r>
              <a:rPr sz="2417" spc="170" dirty="0"/>
              <a:t>else</a:t>
            </a:r>
            <a:r>
              <a:rPr sz="2417" spc="-79" dirty="0"/>
              <a:t> </a:t>
            </a:r>
            <a:r>
              <a:rPr sz="2417" spc="112" dirty="0"/>
              <a:t>block</a:t>
            </a:r>
            <a:r>
              <a:rPr sz="2417" spc="-95" dirty="0"/>
              <a:t> </a:t>
            </a:r>
            <a:r>
              <a:rPr sz="2417" spc="142" dirty="0"/>
              <a:t>of</a:t>
            </a:r>
            <a:r>
              <a:rPr sz="2417" spc="-71" dirty="0"/>
              <a:t> </a:t>
            </a:r>
            <a:r>
              <a:rPr sz="2417" spc="129" dirty="0"/>
              <a:t>code.</a:t>
            </a:r>
          </a:p>
          <a:p>
            <a:pPr marL="423845" indent="-413791">
              <a:spcBef>
                <a:spcPts val="1333"/>
              </a:spcBef>
              <a:buSzPct val="100000"/>
              <a:buChar char="•"/>
              <a:tabLst>
                <a:tab pos="423316" algn="l"/>
                <a:tab pos="423316" algn="l"/>
              </a:tabLst>
              <a:defRPr sz="2900" spc="180">
                <a:latin typeface="Gill Sans MT"/>
                <a:ea typeface="Gill Sans MT"/>
                <a:cs typeface="Gill Sans MT"/>
                <a:sym typeface="Gill Sans MT"/>
              </a:defRPr>
            </a:pPr>
            <a:r>
              <a:rPr sz="2417" dirty="0"/>
              <a:t>Syntax</a:t>
            </a:r>
            <a:r>
              <a:rPr sz="2417" spc="-100" dirty="0"/>
              <a:t> </a:t>
            </a:r>
            <a:r>
              <a:rPr sz="2417" spc="104" dirty="0"/>
              <a:t>:</a:t>
            </a:r>
          </a:p>
          <a:p>
            <a:pPr indent="772022">
              <a:spcBef>
                <a:spcPts val="1417"/>
              </a:spcBef>
              <a:defRPr sz="2900" spc="200">
                <a:latin typeface="Gill Sans MT"/>
                <a:ea typeface="Gill Sans MT"/>
                <a:cs typeface="Gill Sans MT"/>
                <a:sym typeface="Gill Sans MT"/>
              </a:defRPr>
            </a:pPr>
            <a:r>
              <a:rPr sz="2417" dirty="0"/>
              <a:t>if</a:t>
            </a:r>
            <a:r>
              <a:rPr sz="2417" spc="-108" dirty="0"/>
              <a:t> </a:t>
            </a:r>
            <a:r>
              <a:rPr sz="2417" spc="95" dirty="0"/>
              <a:t>condition:</a:t>
            </a:r>
          </a:p>
          <a:p>
            <a:pPr indent="1534522">
              <a:spcBef>
                <a:spcPts val="1417"/>
              </a:spcBef>
              <a:defRPr sz="2900" spc="165">
                <a:latin typeface="Gill Sans MT"/>
                <a:ea typeface="Gill Sans MT"/>
                <a:cs typeface="Gill Sans MT"/>
                <a:sym typeface="Gill Sans MT"/>
              </a:defRPr>
            </a:pPr>
            <a:r>
              <a:rPr sz="2417" dirty="0"/>
              <a:t>statement</a:t>
            </a:r>
            <a:r>
              <a:rPr sz="2417" spc="-112" dirty="0"/>
              <a:t> </a:t>
            </a:r>
            <a:r>
              <a:rPr sz="2417" spc="167" dirty="0"/>
              <a:t>1</a:t>
            </a:r>
          </a:p>
          <a:p>
            <a:pPr indent="772022">
              <a:spcBef>
                <a:spcPts val="1333"/>
              </a:spcBef>
              <a:defRPr sz="2900" spc="170">
                <a:latin typeface="Gill Sans MT"/>
                <a:ea typeface="Gill Sans MT"/>
                <a:cs typeface="Gill Sans MT"/>
                <a:sym typeface="Gill Sans MT"/>
              </a:defRPr>
            </a:pPr>
            <a:r>
              <a:rPr sz="2417" dirty="0"/>
              <a:t>else:</a:t>
            </a:r>
          </a:p>
          <a:p>
            <a:pPr indent="1534522">
              <a:spcBef>
                <a:spcPts val="1417"/>
              </a:spcBef>
              <a:defRPr sz="2900" spc="160">
                <a:latin typeface="Gill Sans MT"/>
                <a:ea typeface="Gill Sans MT"/>
                <a:cs typeface="Gill Sans MT"/>
                <a:sym typeface="Gill Sans MT"/>
              </a:defRPr>
            </a:pPr>
            <a:r>
              <a:rPr sz="2417" dirty="0"/>
              <a:t>statement</a:t>
            </a:r>
            <a:r>
              <a:rPr sz="2417" spc="-108" dirty="0"/>
              <a:t> </a:t>
            </a:r>
            <a:r>
              <a:rPr sz="2417" spc="167" dirty="0"/>
              <a:t>2</a:t>
            </a:r>
          </a:p>
        </p:txBody>
      </p:sp>
    </p:spTree>
    <p:extLst>
      <p:ext uri="{BB962C8B-B14F-4D97-AF65-F5344CB8AC3E}">
        <p14:creationId xmlns:p14="http://schemas.microsoft.com/office/powerpoint/2010/main" val="193709834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object 3"/>
          <p:cNvSpPr txBox="1">
            <a:spLocks noGrp="1"/>
          </p:cNvSpPr>
          <p:nvPr>
            <p:ph type="title"/>
          </p:nvPr>
        </p:nvSpPr>
        <p:spPr>
          <a:prstGeom prst="rect">
            <a:avLst/>
          </a:prstGeom>
        </p:spPr>
        <p:txBody>
          <a:bodyPr>
            <a:normAutofit/>
          </a:bodyPr>
          <a:lstStyle/>
          <a:p>
            <a:pPr indent="8783" defTabSz="632434">
              <a:defRPr sz="2822" spc="83"/>
            </a:pPr>
            <a:r>
              <a:rPr b="1" dirty="0"/>
              <a:t>I</a:t>
            </a:r>
            <a:r>
              <a:rPr b="1" spc="138" dirty="0"/>
              <a:t>F</a:t>
            </a:r>
            <a:r>
              <a:rPr b="1" dirty="0"/>
              <a:t>-EL</a:t>
            </a:r>
            <a:r>
              <a:rPr b="1" spc="277" dirty="0"/>
              <a:t>S</a:t>
            </a:r>
            <a:r>
              <a:rPr b="1" spc="138" dirty="0"/>
              <a:t>E</a:t>
            </a:r>
          </a:p>
        </p:txBody>
      </p:sp>
      <p:sp>
        <p:nvSpPr>
          <p:cNvPr id="136" name="object 4"/>
          <p:cNvSpPr txBox="1"/>
          <p:nvPr/>
        </p:nvSpPr>
        <p:spPr>
          <a:xfrm>
            <a:off x="776308" y="1805176"/>
            <a:ext cx="8727548" cy="31036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1417"/>
              </a:spcBef>
              <a:defRPr sz="2900" u="sng" spc="150">
                <a:uFill>
                  <a:solidFill>
                    <a:srgbClr val="000000"/>
                  </a:solidFill>
                </a:uFill>
                <a:latin typeface="Gill Sans MT"/>
                <a:ea typeface="Gill Sans MT"/>
                <a:cs typeface="Gill Sans MT"/>
                <a:sym typeface="Gill Sans MT"/>
              </a:defRPr>
            </a:pPr>
            <a:r>
              <a:rPr sz="2417" dirty="0"/>
              <a:t>Program</a:t>
            </a:r>
            <a:r>
              <a:rPr sz="2417" spc="-167" dirty="0"/>
              <a:t> </a:t>
            </a:r>
            <a:r>
              <a:rPr sz="2417" spc="104" dirty="0"/>
              <a:t>:</a:t>
            </a:r>
          </a:p>
          <a:p>
            <a:pPr marR="4233" indent="772022">
              <a:lnSpc>
                <a:spcPts val="4250"/>
              </a:lnSpc>
              <a:spcBef>
                <a:spcPts val="333"/>
              </a:spcBef>
              <a:tabLst>
                <a:tab pos="8000680" algn="l"/>
              </a:tabLst>
              <a:defRPr sz="2900" spc="165">
                <a:latin typeface="Gill Sans MT"/>
                <a:ea typeface="Gill Sans MT"/>
                <a:cs typeface="Gill Sans MT"/>
                <a:sym typeface="Gill Sans MT"/>
              </a:defRPr>
            </a:pPr>
            <a:r>
              <a:rPr sz="2417" dirty="0"/>
              <a:t>n</a:t>
            </a:r>
            <a:r>
              <a:rPr sz="2417" spc="-71" dirty="0"/>
              <a:t>  </a:t>
            </a:r>
            <a:r>
              <a:rPr sz="2417" spc="-54" dirty="0"/>
              <a:t>=</a:t>
            </a:r>
            <a:r>
              <a:rPr sz="2417" spc="-58" dirty="0"/>
              <a:t> </a:t>
            </a:r>
            <a:r>
              <a:rPr sz="2417" spc="67" dirty="0" err="1"/>
              <a:t>int</a:t>
            </a:r>
            <a:r>
              <a:rPr sz="2417" spc="67" dirty="0"/>
              <a:t>(input("Enter</a:t>
            </a:r>
            <a:r>
              <a:rPr sz="2417" spc="-75" dirty="0"/>
              <a:t> </a:t>
            </a:r>
            <a:r>
              <a:rPr sz="2417" spc="62" dirty="0"/>
              <a:t>Number</a:t>
            </a:r>
            <a:r>
              <a:rPr sz="2417" spc="-83" dirty="0"/>
              <a:t> </a:t>
            </a:r>
            <a:r>
              <a:rPr sz="2417" spc="17" dirty="0"/>
              <a:t>to</a:t>
            </a:r>
            <a:r>
              <a:rPr sz="2417" spc="-92" dirty="0"/>
              <a:t> </a:t>
            </a:r>
            <a:r>
              <a:rPr sz="2417" spc="146" dirty="0"/>
              <a:t>find</a:t>
            </a:r>
            <a:r>
              <a:rPr sz="2417" spc="-67" dirty="0"/>
              <a:t> </a:t>
            </a:r>
            <a:r>
              <a:rPr sz="2417" spc="-262" dirty="0"/>
              <a:t>ODD</a:t>
            </a:r>
            <a:r>
              <a:rPr sz="2417" spc="-79" dirty="0"/>
              <a:t> </a:t>
            </a:r>
            <a:r>
              <a:rPr sz="2417" spc="-33" dirty="0"/>
              <a:t>or</a:t>
            </a:r>
            <a:r>
              <a:rPr sz="2417" spc="-67" dirty="0"/>
              <a:t> </a:t>
            </a:r>
            <a:r>
              <a:rPr sz="2417" spc="62" dirty="0"/>
              <a:t>EVEN</a:t>
            </a:r>
            <a:r>
              <a:rPr sz="2417" spc="-67" dirty="0"/>
              <a:t> </a:t>
            </a:r>
            <a:r>
              <a:rPr sz="2417" spc="104" dirty="0"/>
              <a:t>:	</a:t>
            </a:r>
            <a:r>
              <a:rPr sz="2417" spc="12" dirty="0"/>
              <a:t>")) </a:t>
            </a:r>
            <a:r>
              <a:rPr sz="2417" spc="167" dirty="0"/>
              <a:t>  </a:t>
            </a:r>
            <a:r>
              <a:rPr sz="2417" spc="108" dirty="0"/>
              <a:t>if(</a:t>
            </a:r>
            <a:r>
              <a:rPr lang="en-US" sz="2417" spc="108" dirty="0"/>
              <a:t>n</a:t>
            </a:r>
            <a:r>
              <a:rPr sz="2417" spc="108" dirty="0"/>
              <a:t>%2==0):</a:t>
            </a:r>
          </a:p>
          <a:p>
            <a:pPr indent="1534522">
              <a:spcBef>
                <a:spcPts val="1000"/>
              </a:spcBef>
              <a:defRPr sz="2900" spc="85">
                <a:latin typeface="Gill Sans MT"/>
                <a:ea typeface="Gill Sans MT"/>
                <a:cs typeface="Gill Sans MT"/>
                <a:sym typeface="Gill Sans MT"/>
              </a:defRPr>
            </a:pPr>
            <a:r>
              <a:rPr sz="2417" dirty="0"/>
              <a:t>print(</a:t>
            </a:r>
            <a:r>
              <a:rPr sz="2417" dirty="0" err="1"/>
              <a:t>n,"is</a:t>
            </a:r>
            <a:r>
              <a:rPr sz="2417" spc="-83" dirty="0"/>
              <a:t> </a:t>
            </a:r>
            <a:r>
              <a:rPr sz="2417" spc="87" dirty="0"/>
              <a:t>Even")</a:t>
            </a:r>
          </a:p>
          <a:p>
            <a:pPr indent="772022">
              <a:spcBef>
                <a:spcPts val="1333"/>
              </a:spcBef>
              <a:defRPr sz="2900" spc="190">
                <a:latin typeface="Gill Sans MT"/>
                <a:ea typeface="Gill Sans MT"/>
                <a:cs typeface="Gill Sans MT"/>
                <a:sym typeface="Gill Sans MT"/>
              </a:defRPr>
            </a:pPr>
            <a:r>
              <a:rPr sz="2417" dirty="0"/>
              <a:t>else:</a:t>
            </a:r>
          </a:p>
          <a:p>
            <a:pPr indent="1534522">
              <a:spcBef>
                <a:spcPts val="1417"/>
              </a:spcBef>
              <a:defRPr sz="2900" spc="85">
                <a:latin typeface="Gill Sans MT"/>
                <a:ea typeface="Gill Sans MT"/>
                <a:cs typeface="Gill Sans MT"/>
                <a:sym typeface="Gill Sans MT"/>
              </a:defRPr>
            </a:pPr>
            <a:r>
              <a:rPr sz="2417" dirty="0"/>
              <a:t>print(</a:t>
            </a:r>
            <a:r>
              <a:rPr sz="2417" dirty="0" err="1"/>
              <a:t>n,"is</a:t>
            </a:r>
            <a:r>
              <a:rPr sz="2417" spc="-83" dirty="0"/>
              <a:t> </a:t>
            </a:r>
            <a:r>
              <a:rPr sz="2417" spc="-17" dirty="0"/>
              <a:t>Odd")</a:t>
            </a:r>
          </a:p>
        </p:txBody>
      </p:sp>
    </p:spTree>
    <p:extLst>
      <p:ext uri="{BB962C8B-B14F-4D97-AF65-F5344CB8AC3E}">
        <p14:creationId xmlns:p14="http://schemas.microsoft.com/office/powerpoint/2010/main" val="343473772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8338" y="476518"/>
            <a:ext cx="10645462" cy="5700445"/>
          </a:xfrm>
        </p:spPr>
        <p:txBody>
          <a:bodyPr>
            <a:normAutofit/>
          </a:bodyPr>
          <a:lstStyle/>
          <a:p>
            <a:r>
              <a:rPr lang="en-US" dirty="0"/>
              <a:t>Program 2</a:t>
            </a:r>
          </a:p>
          <a:p>
            <a:pPr marL="0" indent="0">
              <a:buNone/>
            </a:pPr>
            <a:r>
              <a:rPr lang="en-US" dirty="0"/>
              <a:t># Program to check if a number is positive, negative, or zero</a:t>
            </a:r>
          </a:p>
          <a:p>
            <a:pPr marL="0" indent="0">
              <a:buNone/>
            </a:pPr>
            <a:r>
              <a:rPr lang="en-US" dirty="0" err="1"/>
              <a:t>num</a:t>
            </a:r>
            <a:r>
              <a:rPr lang="en-US" dirty="0"/>
              <a:t> = float(input("Enter a number: "))</a:t>
            </a:r>
          </a:p>
          <a:p>
            <a:pPr marL="0" indent="0">
              <a:buNone/>
            </a:pPr>
            <a:r>
              <a:rPr lang="en-US" dirty="0"/>
              <a:t>if </a:t>
            </a:r>
            <a:r>
              <a:rPr lang="en-US" dirty="0" err="1"/>
              <a:t>num</a:t>
            </a:r>
            <a:r>
              <a:rPr lang="en-US" dirty="0"/>
              <a:t> &gt; 0:</a:t>
            </a:r>
          </a:p>
          <a:p>
            <a:pPr marL="0" indent="0">
              <a:buNone/>
            </a:pPr>
            <a:r>
              <a:rPr lang="en-US" dirty="0"/>
              <a:t>    print("The number is positive.")</a:t>
            </a:r>
          </a:p>
          <a:p>
            <a:pPr marL="0" indent="0">
              <a:buNone/>
            </a:pPr>
            <a:r>
              <a:rPr lang="en-US" dirty="0"/>
              <a:t>else:</a:t>
            </a:r>
          </a:p>
          <a:p>
            <a:pPr marL="0" indent="0">
              <a:buNone/>
            </a:pPr>
            <a:r>
              <a:rPr lang="en-US" dirty="0"/>
              <a:t>    if </a:t>
            </a:r>
            <a:r>
              <a:rPr lang="en-US" dirty="0" err="1"/>
              <a:t>num</a:t>
            </a:r>
            <a:r>
              <a:rPr lang="en-US" dirty="0"/>
              <a:t> &lt; 0:</a:t>
            </a:r>
          </a:p>
          <a:p>
            <a:pPr marL="0" indent="0">
              <a:buNone/>
            </a:pPr>
            <a:r>
              <a:rPr lang="en-US" dirty="0"/>
              <a:t>        print("The number is negative.")</a:t>
            </a:r>
          </a:p>
          <a:p>
            <a:pPr marL="0" indent="0">
              <a:buNone/>
            </a:pPr>
            <a:r>
              <a:rPr lang="en-US" dirty="0"/>
              <a:t>    else:</a:t>
            </a:r>
          </a:p>
          <a:p>
            <a:pPr marL="0" indent="0">
              <a:buNone/>
            </a:pPr>
            <a:r>
              <a:rPr lang="en-US" dirty="0"/>
              <a:t>        print("The number is zero.")</a:t>
            </a:r>
          </a:p>
          <a:p>
            <a:pPr marL="0" indent="0">
              <a:buNone/>
            </a:pPr>
            <a:endParaRPr lang="en-US" dirty="0"/>
          </a:p>
        </p:txBody>
      </p:sp>
    </p:spTree>
    <p:extLst>
      <p:ext uri="{BB962C8B-B14F-4D97-AF65-F5344CB8AC3E}">
        <p14:creationId xmlns:p14="http://schemas.microsoft.com/office/powerpoint/2010/main" val="345052533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object 3"/>
          <p:cNvSpPr txBox="1">
            <a:spLocks noGrp="1"/>
          </p:cNvSpPr>
          <p:nvPr>
            <p:ph type="title"/>
          </p:nvPr>
        </p:nvSpPr>
        <p:spPr>
          <a:prstGeom prst="rect">
            <a:avLst/>
          </a:prstGeom>
        </p:spPr>
        <p:txBody>
          <a:bodyPr>
            <a:normAutofit/>
          </a:bodyPr>
          <a:lstStyle/>
          <a:p>
            <a:pPr indent="8889" defTabSz="640054">
              <a:defRPr sz="2856" spc="84"/>
            </a:pPr>
            <a:r>
              <a:rPr b="1" dirty="0"/>
              <a:t>I</a:t>
            </a:r>
            <a:r>
              <a:rPr b="1" spc="140" dirty="0"/>
              <a:t>F</a:t>
            </a:r>
            <a:r>
              <a:rPr b="1" dirty="0"/>
              <a:t>-ELI</a:t>
            </a:r>
            <a:r>
              <a:rPr b="1" spc="140" dirty="0"/>
              <a:t>F</a:t>
            </a:r>
            <a:r>
              <a:rPr b="1" dirty="0"/>
              <a:t>-EL</a:t>
            </a:r>
            <a:r>
              <a:rPr b="1" spc="280" dirty="0"/>
              <a:t>S</a:t>
            </a:r>
            <a:r>
              <a:rPr b="1" spc="140" dirty="0"/>
              <a:t>E</a:t>
            </a:r>
          </a:p>
        </p:txBody>
      </p:sp>
      <p:sp>
        <p:nvSpPr>
          <p:cNvPr id="140" name="object 4"/>
          <p:cNvSpPr txBox="1"/>
          <p:nvPr/>
        </p:nvSpPr>
        <p:spPr>
          <a:xfrm>
            <a:off x="776308" y="1754822"/>
            <a:ext cx="10156298" cy="41263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L="486285" indent="-476231">
              <a:lnSpc>
                <a:spcPts val="1917"/>
              </a:lnSpc>
              <a:buSzPct val="100000"/>
              <a:buFont typeface="Arial"/>
              <a:buChar char="•"/>
              <a:tabLst>
                <a:tab pos="476231" algn="l"/>
                <a:tab pos="486814" algn="l"/>
              </a:tabLst>
              <a:defRPr sz="2200" spc="79">
                <a:latin typeface="Gill Sans MT"/>
                <a:ea typeface="Gill Sans MT"/>
                <a:cs typeface="Gill Sans MT"/>
                <a:sym typeface="Gill Sans MT"/>
              </a:defRPr>
            </a:pPr>
            <a:r>
              <a:rPr sz="1833" dirty="0"/>
              <a:t>The</a:t>
            </a:r>
            <a:r>
              <a:rPr sz="1833" spc="-50" dirty="0"/>
              <a:t> </a:t>
            </a:r>
            <a:r>
              <a:rPr sz="1833" spc="100" dirty="0"/>
              <a:t>if-</a:t>
            </a:r>
            <a:r>
              <a:rPr sz="1833" spc="100" dirty="0" err="1"/>
              <a:t>elif</a:t>
            </a:r>
            <a:r>
              <a:rPr sz="1833" spc="100" dirty="0"/>
              <a:t>-else</a:t>
            </a:r>
            <a:r>
              <a:rPr sz="1833" spc="-50" dirty="0"/>
              <a:t> </a:t>
            </a:r>
            <a:r>
              <a:rPr sz="1833" dirty="0"/>
              <a:t>condition</a:t>
            </a:r>
            <a:r>
              <a:rPr sz="1833" spc="-37" dirty="0"/>
              <a:t> </a:t>
            </a:r>
            <a:r>
              <a:rPr sz="1833" spc="100" dirty="0"/>
              <a:t>statement</a:t>
            </a:r>
            <a:r>
              <a:rPr sz="1833" spc="-29" dirty="0"/>
              <a:t> </a:t>
            </a:r>
            <a:r>
              <a:rPr sz="1833" spc="179" dirty="0"/>
              <a:t>has</a:t>
            </a:r>
            <a:r>
              <a:rPr sz="1833" spc="-42" dirty="0"/>
              <a:t> </a:t>
            </a:r>
            <a:r>
              <a:rPr sz="1833" spc="150" dirty="0"/>
              <a:t>an</a:t>
            </a:r>
            <a:r>
              <a:rPr sz="1833" spc="-46" dirty="0"/>
              <a:t> </a:t>
            </a:r>
            <a:r>
              <a:rPr sz="1833" spc="71" dirty="0"/>
              <a:t>‘</a:t>
            </a:r>
            <a:r>
              <a:rPr sz="1833" spc="71" dirty="0" err="1"/>
              <a:t>elif</a:t>
            </a:r>
            <a:r>
              <a:rPr sz="1833" spc="71" dirty="0"/>
              <a:t>’</a:t>
            </a:r>
            <a:r>
              <a:rPr sz="1833" spc="-62" dirty="0"/>
              <a:t> </a:t>
            </a:r>
            <a:r>
              <a:rPr sz="1833" spc="46" dirty="0"/>
              <a:t>keyword</a:t>
            </a:r>
            <a:r>
              <a:rPr sz="1833" spc="-54" dirty="0"/>
              <a:t> </a:t>
            </a:r>
            <a:r>
              <a:rPr sz="1833" spc="132" dirty="0"/>
              <a:t>used</a:t>
            </a:r>
            <a:r>
              <a:rPr sz="1833" spc="-42" dirty="0"/>
              <a:t> </a:t>
            </a:r>
            <a:r>
              <a:rPr sz="1833" spc="12" dirty="0"/>
              <a:t>to</a:t>
            </a:r>
            <a:r>
              <a:rPr sz="1833" spc="-37" dirty="0"/>
              <a:t> </a:t>
            </a:r>
            <a:r>
              <a:rPr sz="1833" spc="125" dirty="0"/>
              <a:t>chain</a:t>
            </a:r>
            <a:r>
              <a:rPr sz="1833" spc="-50" dirty="0"/>
              <a:t> </a:t>
            </a:r>
            <a:r>
              <a:rPr sz="1833" spc="83" dirty="0"/>
              <a:t>multiple</a:t>
            </a:r>
            <a:r>
              <a:rPr sz="1833" spc="-37" dirty="0"/>
              <a:t> </a:t>
            </a:r>
            <a:r>
              <a:rPr sz="1833" spc="71" dirty="0"/>
              <a:t>condition</a:t>
            </a:r>
            <a:r>
              <a:rPr sz="1833" spc="-46" dirty="0"/>
              <a:t> </a:t>
            </a:r>
            <a:r>
              <a:rPr sz="1833" spc="71" dirty="0"/>
              <a:t>one</a:t>
            </a:r>
          </a:p>
          <a:p>
            <a:pPr indent="486285">
              <a:lnSpc>
                <a:spcPts val="1917"/>
              </a:lnSpc>
              <a:defRPr sz="2200" spc="95">
                <a:latin typeface="Gill Sans MT"/>
                <a:ea typeface="Gill Sans MT"/>
                <a:cs typeface="Gill Sans MT"/>
                <a:sym typeface="Gill Sans MT"/>
              </a:defRPr>
            </a:pPr>
            <a:r>
              <a:rPr sz="1833" dirty="0"/>
              <a:t>after</a:t>
            </a:r>
            <a:r>
              <a:rPr sz="1833" spc="-54" dirty="0"/>
              <a:t> </a:t>
            </a:r>
            <a:r>
              <a:rPr sz="1833" spc="66" dirty="0"/>
              <a:t>another.</a:t>
            </a:r>
            <a:r>
              <a:rPr sz="1833" spc="-50" dirty="0"/>
              <a:t> </a:t>
            </a:r>
            <a:r>
              <a:rPr sz="1833" spc="66" dirty="0"/>
              <a:t>The</a:t>
            </a:r>
            <a:r>
              <a:rPr sz="1833" spc="-50" dirty="0"/>
              <a:t> </a:t>
            </a:r>
            <a:r>
              <a:rPr sz="1833" spc="104" dirty="0"/>
              <a:t>if-</a:t>
            </a:r>
            <a:r>
              <a:rPr sz="1833" spc="104" dirty="0" err="1"/>
              <a:t>elif</a:t>
            </a:r>
            <a:r>
              <a:rPr sz="1833" spc="104" dirty="0"/>
              <a:t>-else</a:t>
            </a:r>
            <a:r>
              <a:rPr sz="1833" spc="-54" dirty="0"/>
              <a:t> </a:t>
            </a:r>
            <a:r>
              <a:rPr sz="1833" spc="150" dirty="0"/>
              <a:t>is</a:t>
            </a:r>
            <a:r>
              <a:rPr sz="1833" spc="-54" dirty="0"/>
              <a:t> </a:t>
            </a:r>
            <a:r>
              <a:rPr sz="1833" spc="129" dirty="0"/>
              <a:t>useful</a:t>
            </a:r>
            <a:r>
              <a:rPr sz="1833" spc="-46" dirty="0"/>
              <a:t> </a:t>
            </a:r>
            <a:r>
              <a:rPr sz="1833" dirty="0"/>
              <a:t>when</a:t>
            </a:r>
            <a:r>
              <a:rPr sz="1833" spc="-42" dirty="0"/>
              <a:t> </a:t>
            </a:r>
            <a:r>
              <a:rPr sz="1833" spc="71" dirty="0"/>
              <a:t>you</a:t>
            </a:r>
            <a:r>
              <a:rPr sz="1833" spc="-50" dirty="0"/>
              <a:t> </a:t>
            </a:r>
            <a:r>
              <a:rPr sz="1833" spc="100" dirty="0"/>
              <a:t>need</a:t>
            </a:r>
            <a:r>
              <a:rPr sz="1833" spc="-62" dirty="0"/>
              <a:t> </a:t>
            </a:r>
            <a:r>
              <a:rPr sz="1833" spc="12" dirty="0"/>
              <a:t>to</a:t>
            </a:r>
            <a:r>
              <a:rPr sz="1833" spc="-42" dirty="0"/>
              <a:t> </a:t>
            </a:r>
            <a:r>
              <a:rPr sz="1833" spc="117" dirty="0"/>
              <a:t>check</a:t>
            </a:r>
            <a:r>
              <a:rPr sz="1833" spc="-54" dirty="0"/>
              <a:t> </a:t>
            </a:r>
            <a:r>
              <a:rPr sz="1833" spc="83" dirty="0"/>
              <a:t>multiple</a:t>
            </a:r>
            <a:r>
              <a:rPr sz="1833" spc="-37" dirty="0"/>
              <a:t> </a:t>
            </a:r>
            <a:r>
              <a:rPr sz="1833" spc="87" dirty="0"/>
              <a:t>conditions.</a:t>
            </a:r>
          </a:p>
          <a:p>
            <a:pPr marL="324895" indent="-314842">
              <a:spcBef>
                <a:spcPts val="917"/>
              </a:spcBef>
              <a:buSzPct val="100000"/>
              <a:buChar char="•"/>
              <a:tabLst>
                <a:tab pos="317487" algn="l"/>
                <a:tab pos="317487" algn="l"/>
              </a:tabLst>
              <a:defRPr sz="2200" spc="130">
                <a:latin typeface="Gill Sans MT"/>
                <a:ea typeface="Gill Sans MT"/>
                <a:cs typeface="Gill Sans MT"/>
                <a:sym typeface="Gill Sans MT"/>
              </a:defRPr>
            </a:pPr>
            <a:r>
              <a:rPr sz="1833" dirty="0"/>
              <a:t>Syntax</a:t>
            </a:r>
            <a:r>
              <a:rPr sz="1833" spc="-42" dirty="0"/>
              <a:t> </a:t>
            </a:r>
            <a:r>
              <a:rPr sz="1833" spc="79" dirty="0"/>
              <a:t>:</a:t>
            </a:r>
          </a:p>
          <a:p>
            <a:pPr indent="772022">
              <a:spcBef>
                <a:spcPts val="917"/>
              </a:spcBef>
              <a:defRPr sz="2200" spc="150">
                <a:latin typeface="Gill Sans MT"/>
                <a:ea typeface="Gill Sans MT"/>
                <a:cs typeface="Gill Sans MT"/>
                <a:sym typeface="Gill Sans MT"/>
              </a:defRPr>
            </a:pPr>
            <a:r>
              <a:rPr sz="1833" dirty="0"/>
              <a:t>if</a:t>
            </a:r>
            <a:r>
              <a:rPr sz="1833" spc="-79" dirty="0"/>
              <a:t> </a:t>
            </a:r>
            <a:r>
              <a:rPr sz="1833" spc="71" dirty="0"/>
              <a:t>condition-1:</a:t>
            </a:r>
          </a:p>
          <a:p>
            <a:pPr marR="7362530" indent="1533992">
              <a:lnSpc>
                <a:spcPct val="144500"/>
              </a:lnSpc>
              <a:defRPr sz="2200" spc="120">
                <a:latin typeface="Gill Sans MT"/>
                <a:ea typeface="Gill Sans MT"/>
                <a:cs typeface="Gill Sans MT"/>
                <a:sym typeface="Gill Sans MT"/>
              </a:defRPr>
            </a:pPr>
            <a:r>
              <a:rPr sz="1833" dirty="0"/>
              <a:t>statement</a:t>
            </a:r>
            <a:r>
              <a:rPr sz="1833" spc="-87" dirty="0"/>
              <a:t> </a:t>
            </a:r>
            <a:r>
              <a:rPr sz="1833" spc="121" dirty="0">
                <a:solidFill>
                  <a:schemeClr val="bg1"/>
                </a:solidFill>
              </a:rPr>
              <a:t>1 </a:t>
            </a:r>
            <a:r>
              <a:rPr sz="1833" spc="121" dirty="0"/>
              <a:t> </a:t>
            </a:r>
            <a:r>
              <a:rPr lang="en-US" sz="1833" spc="121" dirty="0"/>
              <a:t>      </a:t>
            </a:r>
            <a:r>
              <a:rPr sz="1833" dirty="0" err="1"/>
              <a:t>elif</a:t>
            </a:r>
            <a:r>
              <a:rPr sz="1833" spc="-71" dirty="0"/>
              <a:t> </a:t>
            </a:r>
            <a:r>
              <a:rPr sz="1833" spc="71" dirty="0"/>
              <a:t>condition-2:</a:t>
            </a:r>
          </a:p>
          <a:p>
            <a:pPr marR="7362530" indent="1533992">
              <a:lnSpc>
                <a:spcPts val="3167"/>
              </a:lnSpc>
              <a:spcBef>
                <a:spcPts val="250"/>
              </a:spcBef>
              <a:defRPr sz="2200" spc="120">
                <a:latin typeface="Gill Sans MT"/>
                <a:ea typeface="Gill Sans MT"/>
                <a:cs typeface="Gill Sans MT"/>
                <a:sym typeface="Gill Sans MT"/>
              </a:defRPr>
            </a:pPr>
            <a:r>
              <a:rPr sz="1833" dirty="0"/>
              <a:t>statement</a:t>
            </a:r>
            <a:r>
              <a:rPr sz="1833" spc="-87" dirty="0"/>
              <a:t> </a:t>
            </a:r>
            <a:r>
              <a:rPr sz="1833" spc="121" dirty="0">
                <a:solidFill>
                  <a:schemeClr val="bg1"/>
                </a:solidFill>
              </a:rPr>
              <a:t>2</a:t>
            </a:r>
            <a:r>
              <a:rPr sz="1833" spc="121" dirty="0"/>
              <a:t>  </a:t>
            </a:r>
            <a:r>
              <a:rPr lang="en-US" sz="1833" spc="121" dirty="0"/>
              <a:t>      </a:t>
            </a:r>
            <a:r>
              <a:rPr sz="1833" dirty="0" err="1"/>
              <a:t>elif</a:t>
            </a:r>
            <a:r>
              <a:rPr sz="1833" spc="-71" dirty="0"/>
              <a:t> </a:t>
            </a:r>
            <a:r>
              <a:rPr sz="1833" spc="71" dirty="0"/>
              <a:t>condition-3:</a:t>
            </a:r>
          </a:p>
          <a:p>
            <a:pPr indent="1534522">
              <a:spcBef>
                <a:spcPts val="667"/>
              </a:spcBef>
              <a:defRPr sz="2200" spc="120">
                <a:latin typeface="Gill Sans MT"/>
                <a:ea typeface="Gill Sans MT"/>
                <a:cs typeface="Gill Sans MT"/>
                <a:sym typeface="Gill Sans MT"/>
              </a:defRPr>
            </a:pPr>
            <a:r>
              <a:rPr sz="1833" dirty="0"/>
              <a:t>statement</a:t>
            </a:r>
            <a:r>
              <a:rPr sz="1833" spc="-37" dirty="0"/>
              <a:t> </a:t>
            </a:r>
            <a:r>
              <a:rPr sz="1833" spc="121" dirty="0"/>
              <a:t>3</a:t>
            </a:r>
          </a:p>
          <a:p>
            <a:pPr indent="772022">
              <a:spcBef>
                <a:spcPts val="917"/>
              </a:spcBef>
              <a:defRPr sz="2200" spc="135">
                <a:latin typeface="Gill Sans MT"/>
                <a:ea typeface="Gill Sans MT"/>
                <a:cs typeface="Gill Sans MT"/>
                <a:sym typeface="Gill Sans MT"/>
              </a:defRPr>
            </a:pPr>
            <a:r>
              <a:rPr sz="1833" dirty="0"/>
              <a:t>else:</a:t>
            </a:r>
          </a:p>
          <a:p>
            <a:pPr indent="1534522">
              <a:spcBef>
                <a:spcPts val="917"/>
              </a:spcBef>
              <a:defRPr sz="2200" spc="120">
                <a:latin typeface="Gill Sans MT"/>
                <a:ea typeface="Gill Sans MT"/>
                <a:cs typeface="Gill Sans MT"/>
                <a:sym typeface="Gill Sans MT"/>
              </a:defRPr>
            </a:pPr>
            <a:r>
              <a:rPr sz="1833" dirty="0"/>
              <a:t>statement</a:t>
            </a:r>
          </a:p>
        </p:txBody>
      </p:sp>
    </p:spTree>
    <p:extLst>
      <p:ext uri="{BB962C8B-B14F-4D97-AF65-F5344CB8AC3E}">
        <p14:creationId xmlns:p14="http://schemas.microsoft.com/office/powerpoint/2010/main" val="155795943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5611" y="386366"/>
            <a:ext cx="10568189" cy="5790597"/>
          </a:xfrm>
        </p:spPr>
        <p:txBody>
          <a:bodyPr/>
          <a:lstStyle/>
          <a:p>
            <a:pPr marL="0" indent="0">
              <a:buNone/>
            </a:pPr>
            <a:r>
              <a:rPr lang="en-US" dirty="0"/>
              <a:t># Program to check if a number is positive, negative, or zero</a:t>
            </a:r>
          </a:p>
          <a:p>
            <a:pPr marL="0" indent="0">
              <a:buNone/>
            </a:pPr>
            <a:endParaRPr lang="en-US" dirty="0"/>
          </a:p>
          <a:p>
            <a:pPr marL="0" indent="0">
              <a:buNone/>
            </a:pPr>
            <a:r>
              <a:rPr lang="en-US" dirty="0" err="1"/>
              <a:t>num</a:t>
            </a:r>
            <a:r>
              <a:rPr lang="en-US" dirty="0"/>
              <a:t> = float(input("Enter a number: "))</a:t>
            </a:r>
          </a:p>
          <a:p>
            <a:pPr marL="0" indent="0">
              <a:buNone/>
            </a:pPr>
            <a:endParaRPr lang="en-US" dirty="0"/>
          </a:p>
          <a:p>
            <a:pPr marL="0" indent="0">
              <a:buNone/>
            </a:pPr>
            <a:r>
              <a:rPr lang="en-US" dirty="0"/>
              <a:t>if </a:t>
            </a:r>
            <a:r>
              <a:rPr lang="en-US" dirty="0" err="1"/>
              <a:t>num</a:t>
            </a:r>
            <a:r>
              <a:rPr lang="en-US" dirty="0"/>
              <a:t> &gt; 0:</a:t>
            </a:r>
          </a:p>
          <a:p>
            <a:pPr marL="0" indent="0">
              <a:buNone/>
            </a:pPr>
            <a:r>
              <a:rPr lang="en-US" dirty="0"/>
              <a:t>    print("The number is positive.")</a:t>
            </a:r>
          </a:p>
          <a:p>
            <a:pPr marL="0" indent="0">
              <a:buNone/>
            </a:pPr>
            <a:r>
              <a:rPr lang="en-US" dirty="0" err="1"/>
              <a:t>elif</a:t>
            </a:r>
            <a:r>
              <a:rPr lang="en-US" dirty="0"/>
              <a:t> </a:t>
            </a:r>
            <a:r>
              <a:rPr lang="en-US" dirty="0" err="1"/>
              <a:t>num</a:t>
            </a:r>
            <a:r>
              <a:rPr lang="en-US" dirty="0"/>
              <a:t> &lt; 0:</a:t>
            </a:r>
          </a:p>
          <a:p>
            <a:pPr marL="0" indent="0">
              <a:buNone/>
            </a:pPr>
            <a:r>
              <a:rPr lang="en-US" dirty="0"/>
              <a:t>    print("The number is negative.")</a:t>
            </a:r>
          </a:p>
          <a:p>
            <a:pPr marL="0" indent="0">
              <a:buNone/>
            </a:pPr>
            <a:r>
              <a:rPr lang="en-US" dirty="0"/>
              <a:t>else:</a:t>
            </a:r>
          </a:p>
          <a:p>
            <a:pPr marL="0" indent="0">
              <a:buNone/>
            </a:pPr>
            <a:r>
              <a:rPr lang="en-US" dirty="0"/>
              <a:t>    print("The number is zero.")</a:t>
            </a:r>
          </a:p>
          <a:p>
            <a:pPr marL="0" indent="0">
              <a:buNone/>
            </a:pPr>
            <a:endParaRPr lang="en-US" dirty="0"/>
          </a:p>
        </p:txBody>
      </p:sp>
    </p:spTree>
    <p:extLst>
      <p:ext uri="{BB962C8B-B14F-4D97-AF65-F5344CB8AC3E}">
        <p14:creationId xmlns:p14="http://schemas.microsoft.com/office/powerpoint/2010/main" val="93645043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143" name="object 3"/>
          <p:cNvSpPr txBox="1">
            <a:spLocks noGrp="1"/>
          </p:cNvSpPr>
          <p:nvPr>
            <p:ph type="title"/>
          </p:nvPr>
        </p:nvSpPr>
        <p:spPr>
          <a:prstGeom prst="rect">
            <a:avLst/>
          </a:prstGeom>
        </p:spPr>
        <p:txBody>
          <a:bodyPr>
            <a:normAutofit/>
          </a:bodyPr>
          <a:lstStyle/>
          <a:p>
            <a:pPr indent="8783" defTabSz="632434">
              <a:defRPr sz="2822" spc="83"/>
            </a:pPr>
            <a:r>
              <a:rPr b="1" dirty="0"/>
              <a:t>I</a:t>
            </a:r>
            <a:r>
              <a:rPr b="1" spc="138" dirty="0"/>
              <a:t>F</a:t>
            </a:r>
            <a:r>
              <a:rPr b="1" dirty="0"/>
              <a:t>-EL</a:t>
            </a:r>
            <a:r>
              <a:rPr b="1" spc="277" dirty="0"/>
              <a:t>S</a:t>
            </a:r>
            <a:r>
              <a:rPr b="1" spc="138" dirty="0"/>
              <a:t>E</a:t>
            </a:r>
          </a:p>
        </p:txBody>
      </p:sp>
      <p:sp>
        <p:nvSpPr>
          <p:cNvPr id="144" name="object 4"/>
          <p:cNvSpPr txBox="1"/>
          <p:nvPr/>
        </p:nvSpPr>
        <p:spPr>
          <a:xfrm>
            <a:off x="3245909" y="1027906"/>
            <a:ext cx="1349906" cy="3719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83"/>
              </a:spcBef>
              <a:defRPr sz="2900" u="sng" spc="150">
                <a:uFill>
                  <a:solidFill>
                    <a:srgbClr val="000000"/>
                  </a:solidFill>
                </a:uFill>
                <a:latin typeface="Gill Sans MT"/>
                <a:ea typeface="Gill Sans MT"/>
                <a:cs typeface="Gill Sans MT"/>
                <a:sym typeface="Gill Sans MT"/>
              </a:defRPr>
            </a:pPr>
            <a:r>
              <a:rPr sz="2417" dirty="0"/>
              <a:t>Program</a:t>
            </a:r>
            <a:r>
              <a:rPr sz="2417" spc="-212" dirty="0"/>
              <a:t> </a:t>
            </a:r>
            <a:r>
              <a:rPr sz="2417" spc="104" dirty="0"/>
              <a:t>:</a:t>
            </a:r>
          </a:p>
        </p:txBody>
      </p:sp>
      <p:sp>
        <p:nvSpPr>
          <p:cNvPr id="145" name="object 5"/>
          <p:cNvSpPr txBox="1"/>
          <p:nvPr/>
        </p:nvSpPr>
        <p:spPr>
          <a:xfrm>
            <a:off x="1538288" y="1668449"/>
            <a:ext cx="3415243" cy="48296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833"/>
              </a:spcBef>
              <a:defRPr sz="1600" spc="85">
                <a:latin typeface="Gill Sans MT"/>
                <a:ea typeface="Gill Sans MT"/>
                <a:cs typeface="Gill Sans MT"/>
                <a:sym typeface="Gill Sans MT"/>
              </a:defRPr>
            </a:pPr>
            <a:r>
              <a:rPr sz="1333" dirty="0"/>
              <a:t>n </a:t>
            </a:r>
            <a:r>
              <a:rPr sz="1333" spc="-33" dirty="0"/>
              <a:t>= </a:t>
            </a:r>
            <a:r>
              <a:rPr sz="1333" spc="29" dirty="0" err="1"/>
              <a:t>int</a:t>
            </a:r>
            <a:r>
              <a:rPr sz="1333" spc="29" dirty="0"/>
              <a:t>(input("Enter </a:t>
            </a:r>
            <a:r>
              <a:rPr sz="1333" spc="83" dirty="0"/>
              <a:t>Marks </a:t>
            </a:r>
            <a:r>
              <a:rPr sz="1333" spc="8" dirty="0"/>
              <a:t>to </a:t>
            </a:r>
            <a:r>
              <a:rPr sz="1333" spc="79" dirty="0"/>
              <a:t>find </a:t>
            </a:r>
            <a:r>
              <a:rPr sz="1333" spc="-25" dirty="0"/>
              <a:t>GRADE </a:t>
            </a:r>
            <a:r>
              <a:rPr sz="1333" spc="58" dirty="0"/>
              <a:t>:</a:t>
            </a:r>
            <a:r>
              <a:rPr sz="1333" spc="-117" dirty="0"/>
              <a:t> </a:t>
            </a:r>
            <a:r>
              <a:rPr sz="1333" spc="4" dirty="0"/>
              <a:t>"))</a:t>
            </a:r>
          </a:p>
          <a:p>
            <a:pPr indent="10583">
              <a:spcBef>
                <a:spcPts val="750"/>
              </a:spcBef>
              <a:defRPr sz="1600" spc="104">
                <a:latin typeface="Gill Sans MT"/>
                <a:ea typeface="Gill Sans MT"/>
                <a:cs typeface="Gill Sans MT"/>
                <a:sym typeface="Gill Sans MT"/>
              </a:defRPr>
            </a:pPr>
            <a:r>
              <a:rPr sz="1333" dirty="0"/>
              <a:t>if </a:t>
            </a:r>
            <a:r>
              <a:rPr sz="1333" spc="71" dirty="0"/>
              <a:t>n</a:t>
            </a:r>
            <a:r>
              <a:rPr sz="1333" spc="-112" dirty="0"/>
              <a:t> </a:t>
            </a:r>
            <a:r>
              <a:rPr sz="1333" spc="-92" dirty="0"/>
              <a:t>&gt; </a:t>
            </a:r>
            <a:r>
              <a:rPr sz="1333" spc="75" dirty="0"/>
              <a:t>90:</a:t>
            </a:r>
          </a:p>
          <a:p>
            <a:pPr marR="1551983" indent="10583">
              <a:lnSpc>
                <a:spcPct val="131300"/>
              </a:lnSpc>
              <a:defRPr sz="1600" spc="15">
                <a:latin typeface="Gill Sans MT"/>
                <a:ea typeface="Gill Sans MT"/>
                <a:cs typeface="Gill Sans MT"/>
                <a:sym typeface="Gill Sans MT"/>
              </a:defRPr>
            </a:pPr>
            <a:r>
              <a:rPr sz="1333" dirty="0"/>
              <a:t>print("Your </a:t>
            </a:r>
            <a:r>
              <a:rPr sz="1333" spc="29" dirty="0"/>
              <a:t>Grade </a:t>
            </a:r>
            <a:r>
              <a:rPr sz="1333" spc="108" dirty="0"/>
              <a:t>is</a:t>
            </a:r>
            <a:r>
              <a:rPr sz="1333" spc="-195" dirty="0"/>
              <a:t> </a:t>
            </a:r>
            <a:r>
              <a:rPr sz="1333" dirty="0"/>
              <a:t>A1")  </a:t>
            </a:r>
            <a:r>
              <a:rPr sz="1333" spc="75" dirty="0" err="1"/>
              <a:t>elif</a:t>
            </a:r>
            <a:r>
              <a:rPr sz="1333" spc="75" dirty="0"/>
              <a:t> </a:t>
            </a:r>
            <a:r>
              <a:rPr sz="1333" spc="71" dirty="0"/>
              <a:t>n </a:t>
            </a:r>
            <a:r>
              <a:rPr sz="1333" spc="-92" dirty="0"/>
              <a:t>&gt;</a:t>
            </a:r>
            <a:r>
              <a:rPr sz="1333" spc="-254" dirty="0"/>
              <a:t> </a:t>
            </a:r>
            <a:r>
              <a:rPr sz="1333" spc="75" dirty="0"/>
              <a:t>70:</a:t>
            </a:r>
          </a:p>
          <a:p>
            <a:pPr indent="10583">
              <a:spcBef>
                <a:spcPts val="500"/>
              </a:spcBef>
              <a:defRPr sz="1600" spc="15">
                <a:latin typeface="Gill Sans MT"/>
                <a:ea typeface="Gill Sans MT"/>
                <a:cs typeface="Gill Sans MT"/>
                <a:sym typeface="Gill Sans MT"/>
              </a:defRPr>
            </a:pPr>
            <a:r>
              <a:rPr sz="1333" dirty="0"/>
              <a:t>print("Your </a:t>
            </a:r>
            <a:r>
              <a:rPr sz="1333" spc="29" dirty="0"/>
              <a:t>Grade </a:t>
            </a:r>
            <a:r>
              <a:rPr sz="1333" spc="108" dirty="0"/>
              <a:t>is</a:t>
            </a:r>
            <a:r>
              <a:rPr sz="1333" spc="-137" dirty="0"/>
              <a:t> </a:t>
            </a:r>
            <a:r>
              <a:rPr sz="1333" spc="37" dirty="0"/>
              <a:t>B1")</a:t>
            </a:r>
          </a:p>
          <a:p>
            <a:pPr indent="10583">
              <a:spcBef>
                <a:spcPts val="500"/>
              </a:spcBef>
              <a:defRPr sz="1600" spc="90">
                <a:latin typeface="Gill Sans MT"/>
                <a:ea typeface="Gill Sans MT"/>
                <a:cs typeface="Gill Sans MT"/>
                <a:sym typeface="Gill Sans MT"/>
              </a:defRPr>
            </a:pPr>
            <a:r>
              <a:rPr sz="1333" dirty="0" err="1"/>
              <a:t>elif</a:t>
            </a:r>
            <a:r>
              <a:rPr sz="1333" dirty="0"/>
              <a:t> </a:t>
            </a:r>
            <a:r>
              <a:rPr sz="1333" spc="71" dirty="0"/>
              <a:t>n</a:t>
            </a:r>
            <a:r>
              <a:rPr sz="1333" spc="-167" dirty="0"/>
              <a:t> </a:t>
            </a:r>
            <a:r>
              <a:rPr sz="1333" spc="-87" dirty="0"/>
              <a:t>&gt; </a:t>
            </a:r>
            <a:r>
              <a:rPr sz="1333" spc="79" dirty="0"/>
              <a:t>80:</a:t>
            </a:r>
          </a:p>
          <a:p>
            <a:pPr marR="1551983" indent="10583">
              <a:lnSpc>
                <a:spcPct val="131300"/>
              </a:lnSpc>
              <a:defRPr sz="1600" spc="15">
                <a:latin typeface="Gill Sans MT"/>
                <a:ea typeface="Gill Sans MT"/>
                <a:cs typeface="Gill Sans MT"/>
                <a:sym typeface="Gill Sans MT"/>
              </a:defRPr>
            </a:pPr>
            <a:r>
              <a:rPr sz="1333" dirty="0"/>
              <a:t>print("Your </a:t>
            </a:r>
            <a:r>
              <a:rPr sz="1333" spc="29" dirty="0"/>
              <a:t>Grade </a:t>
            </a:r>
            <a:r>
              <a:rPr sz="1333" spc="108" dirty="0"/>
              <a:t>is</a:t>
            </a:r>
            <a:r>
              <a:rPr sz="1333" spc="-195" dirty="0"/>
              <a:t> </a:t>
            </a:r>
            <a:r>
              <a:rPr sz="1333" dirty="0"/>
              <a:t>A2")  </a:t>
            </a:r>
            <a:r>
              <a:rPr sz="1333" spc="75" dirty="0" err="1"/>
              <a:t>elif</a:t>
            </a:r>
            <a:r>
              <a:rPr sz="1333" spc="75" dirty="0"/>
              <a:t> </a:t>
            </a:r>
            <a:r>
              <a:rPr sz="1333" spc="71" dirty="0"/>
              <a:t>n </a:t>
            </a:r>
            <a:r>
              <a:rPr sz="1333" spc="-92" dirty="0"/>
              <a:t>&gt;</a:t>
            </a:r>
            <a:r>
              <a:rPr sz="1333" spc="-254" dirty="0"/>
              <a:t> </a:t>
            </a:r>
            <a:r>
              <a:rPr sz="1333" spc="75" dirty="0"/>
              <a:t>60:</a:t>
            </a:r>
          </a:p>
          <a:p>
            <a:pPr marR="1557274" indent="10583">
              <a:lnSpc>
                <a:spcPct val="131300"/>
              </a:lnSpc>
              <a:defRPr sz="1600" spc="15">
                <a:latin typeface="Gill Sans MT"/>
                <a:ea typeface="Gill Sans MT"/>
                <a:cs typeface="Gill Sans MT"/>
                <a:sym typeface="Gill Sans MT"/>
              </a:defRPr>
            </a:pPr>
            <a:r>
              <a:rPr sz="1333" dirty="0"/>
              <a:t>print("Your </a:t>
            </a:r>
            <a:r>
              <a:rPr sz="1333" spc="29" dirty="0"/>
              <a:t>Grade </a:t>
            </a:r>
            <a:r>
              <a:rPr sz="1333" spc="108" dirty="0"/>
              <a:t>is</a:t>
            </a:r>
            <a:r>
              <a:rPr sz="1333" spc="-191" dirty="0"/>
              <a:t> </a:t>
            </a:r>
            <a:r>
              <a:rPr sz="1333" spc="37" dirty="0"/>
              <a:t>B2")  </a:t>
            </a:r>
            <a:r>
              <a:rPr sz="1333" spc="75" dirty="0" err="1"/>
              <a:t>elif</a:t>
            </a:r>
            <a:r>
              <a:rPr sz="1333" spc="75" dirty="0"/>
              <a:t> </a:t>
            </a:r>
            <a:r>
              <a:rPr sz="1333" spc="71" dirty="0"/>
              <a:t>n </a:t>
            </a:r>
            <a:r>
              <a:rPr sz="1333" spc="-92" dirty="0"/>
              <a:t>&gt;</a:t>
            </a:r>
            <a:r>
              <a:rPr sz="1333" spc="-254" dirty="0"/>
              <a:t> </a:t>
            </a:r>
            <a:r>
              <a:rPr sz="1333" spc="75" dirty="0"/>
              <a:t>50:</a:t>
            </a:r>
          </a:p>
          <a:p>
            <a:pPr indent="10583">
              <a:spcBef>
                <a:spcPts val="500"/>
              </a:spcBef>
              <a:defRPr sz="1600" spc="15">
                <a:latin typeface="Gill Sans MT"/>
                <a:ea typeface="Gill Sans MT"/>
                <a:cs typeface="Gill Sans MT"/>
                <a:sym typeface="Gill Sans MT"/>
              </a:defRPr>
            </a:pPr>
            <a:r>
              <a:rPr sz="1333" dirty="0"/>
              <a:t>print("Your </a:t>
            </a:r>
            <a:r>
              <a:rPr sz="1333" spc="25" dirty="0"/>
              <a:t>Grade </a:t>
            </a:r>
            <a:r>
              <a:rPr sz="1333" spc="108" dirty="0"/>
              <a:t>is</a:t>
            </a:r>
            <a:r>
              <a:rPr sz="1333" spc="-133" dirty="0"/>
              <a:t> </a:t>
            </a:r>
            <a:r>
              <a:rPr sz="1333" dirty="0"/>
              <a:t>C1")</a:t>
            </a:r>
          </a:p>
          <a:p>
            <a:pPr indent="10583">
              <a:spcBef>
                <a:spcPts val="500"/>
              </a:spcBef>
              <a:defRPr sz="1600" spc="90">
                <a:latin typeface="Gill Sans MT"/>
                <a:ea typeface="Gill Sans MT"/>
                <a:cs typeface="Gill Sans MT"/>
                <a:sym typeface="Gill Sans MT"/>
              </a:defRPr>
            </a:pPr>
            <a:r>
              <a:rPr sz="1333" dirty="0" err="1"/>
              <a:t>elif</a:t>
            </a:r>
            <a:r>
              <a:rPr sz="1333" dirty="0"/>
              <a:t> </a:t>
            </a:r>
            <a:r>
              <a:rPr sz="1333" spc="71" dirty="0"/>
              <a:t>n</a:t>
            </a:r>
            <a:r>
              <a:rPr sz="1333" spc="-146" dirty="0"/>
              <a:t> </a:t>
            </a:r>
            <a:r>
              <a:rPr sz="1333" spc="-92" dirty="0"/>
              <a:t>&gt; </a:t>
            </a:r>
            <a:r>
              <a:rPr sz="1333" dirty="0"/>
              <a:t>40:</a:t>
            </a:r>
          </a:p>
          <a:p>
            <a:pPr marR="1553042" indent="10583">
              <a:lnSpc>
                <a:spcPct val="131200"/>
              </a:lnSpc>
              <a:defRPr sz="1600" spc="15">
                <a:latin typeface="Gill Sans MT"/>
                <a:ea typeface="Gill Sans MT"/>
                <a:cs typeface="Gill Sans MT"/>
                <a:sym typeface="Gill Sans MT"/>
              </a:defRPr>
            </a:pPr>
            <a:r>
              <a:rPr sz="1333" dirty="0"/>
              <a:t>print("Your </a:t>
            </a:r>
            <a:r>
              <a:rPr sz="1333" spc="29" dirty="0"/>
              <a:t>Grade </a:t>
            </a:r>
            <a:r>
              <a:rPr sz="1333" spc="108" dirty="0"/>
              <a:t>is</a:t>
            </a:r>
            <a:r>
              <a:rPr sz="1333" spc="-183" dirty="0"/>
              <a:t> </a:t>
            </a:r>
            <a:r>
              <a:rPr sz="1333" spc="-4" dirty="0"/>
              <a:t>C2")  </a:t>
            </a:r>
            <a:r>
              <a:rPr sz="1333" spc="75" dirty="0" err="1"/>
              <a:t>elif</a:t>
            </a:r>
            <a:r>
              <a:rPr sz="1333" spc="75" dirty="0"/>
              <a:t> </a:t>
            </a:r>
            <a:r>
              <a:rPr sz="1333" spc="71" dirty="0"/>
              <a:t>n </a:t>
            </a:r>
            <a:r>
              <a:rPr sz="1333" spc="-92" dirty="0"/>
              <a:t>&gt;</a:t>
            </a:r>
            <a:r>
              <a:rPr sz="1333" spc="-254" dirty="0"/>
              <a:t> </a:t>
            </a:r>
            <a:r>
              <a:rPr sz="1333" spc="75" dirty="0"/>
              <a:t>32:</a:t>
            </a:r>
          </a:p>
          <a:p>
            <a:pPr marR="1649347" indent="10583">
              <a:lnSpc>
                <a:spcPts val="2083"/>
              </a:lnSpc>
              <a:spcBef>
                <a:spcPts val="83"/>
              </a:spcBef>
              <a:defRPr sz="1600" spc="15">
                <a:latin typeface="Gill Sans MT"/>
                <a:ea typeface="Gill Sans MT"/>
                <a:cs typeface="Gill Sans MT"/>
                <a:sym typeface="Gill Sans MT"/>
              </a:defRPr>
            </a:pPr>
            <a:r>
              <a:rPr sz="1333" dirty="0"/>
              <a:t>print("Your </a:t>
            </a:r>
            <a:r>
              <a:rPr sz="1333" spc="29" dirty="0"/>
              <a:t>Grade </a:t>
            </a:r>
            <a:r>
              <a:rPr sz="1333" spc="108" dirty="0"/>
              <a:t>is</a:t>
            </a:r>
            <a:r>
              <a:rPr sz="1333" spc="-191" dirty="0"/>
              <a:t> </a:t>
            </a:r>
            <a:r>
              <a:rPr sz="1333" spc="-50" dirty="0"/>
              <a:t>D")  </a:t>
            </a:r>
            <a:r>
              <a:rPr sz="1333" spc="75" dirty="0" err="1"/>
              <a:t>elif</a:t>
            </a:r>
            <a:r>
              <a:rPr sz="1333" spc="75" dirty="0"/>
              <a:t> </a:t>
            </a:r>
            <a:r>
              <a:rPr sz="1333" spc="71" dirty="0"/>
              <a:t>n </a:t>
            </a:r>
            <a:r>
              <a:rPr sz="1333" spc="-92" dirty="0"/>
              <a:t>&gt;</a:t>
            </a:r>
            <a:r>
              <a:rPr sz="1333" spc="-254" dirty="0"/>
              <a:t> </a:t>
            </a:r>
            <a:r>
              <a:rPr sz="1333" spc="75" dirty="0"/>
              <a:t>20:</a:t>
            </a:r>
          </a:p>
          <a:p>
            <a:pPr marR="1138192" indent="10583">
              <a:lnSpc>
                <a:spcPts val="2083"/>
              </a:lnSpc>
              <a:defRPr sz="1600" spc="15">
                <a:latin typeface="Gill Sans MT"/>
                <a:ea typeface="Gill Sans MT"/>
                <a:cs typeface="Gill Sans MT"/>
                <a:sym typeface="Gill Sans MT"/>
              </a:defRPr>
            </a:pPr>
            <a:r>
              <a:rPr sz="1333" dirty="0"/>
              <a:t>print("Your</a:t>
            </a:r>
            <a:r>
              <a:rPr sz="1333" spc="-33" dirty="0"/>
              <a:t> </a:t>
            </a:r>
            <a:r>
              <a:rPr sz="1333" spc="29" dirty="0"/>
              <a:t>Grade</a:t>
            </a:r>
            <a:r>
              <a:rPr sz="1333" spc="-46" dirty="0"/>
              <a:t> </a:t>
            </a:r>
            <a:r>
              <a:rPr sz="1333" spc="108" dirty="0"/>
              <a:t>is</a:t>
            </a:r>
            <a:r>
              <a:rPr sz="1333" spc="-50" dirty="0"/>
              <a:t> </a:t>
            </a:r>
            <a:r>
              <a:rPr sz="1333" spc="83" dirty="0"/>
              <a:t>E1</a:t>
            </a:r>
            <a:r>
              <a:rPr sz="1333" spc="-54" dirty="0"/>
              <a:t> </a:t>
            </a:r>
            <a:r>
              <a:rPr sz="1333" spc="46" dirty="0"/>
              <a:t>(Fail)")  </a:t>
            </a:r>
            <a:r>
              <a:rPr sz="1333" spc="79" dirty="0"/>
              <a:t>else:</a:t>
            </a:r>
          </a:p>
        </p:txBody>
      </p:sp>
    </p:spTree>
    <p:extLst>
      <p:ext uri="{BB962C8B-B14F-4D97-AF65-F5344CB8AC3E}">
        <p14:creationId xmlns:p14="http://schemas.microsoft.com/office/powerpoint/2010/main" val="250303820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object 3"/>
          <p:cNvSpPr txBox="1">
            <a:spLocks noGrp="1"/>
          </p:cNvSpPr>
          <p:nvPr>
            <p:ph type="title"/>
          </p:nvPr>
        </p:nvSpPr>
        <p:spPr>
          <a:xfrm>
            <a:off x="838200" y="365126"/>
            <a:ext cx="10515600" cy="508332"/>
          </a:xfrm>
          <a:prstGeom prst="rect">
            <a:avLst/>
          </a:prstGeom>
        </p:spPr>
        <p:txBody>
          <a:bodyPr>
            <a:normAutofit/>
          </a:bodyPr>
          <a:lstStyle/>
          <a:p>
            <a:pPr indent="9207" defTabSz="662913">
              <a:defRPr sz="2958"/>
            </a:pPr>
            <a:r>
              <a:rPr b="1" dirty="0"/>
              <a:t>NESTED</a:t>
            </a:r>
            <a:r>
              <a:rPr b="1" spc="-217" dirty="0"/>
              <a:t> </a:t>
            </a:r>
            <a:r>
              <a:rPr b="1" spc="145" dirty="0"/>
              <a:t>IF-ELSE</a:t>
            </a:r>
          </a:p>
        </p:txBody>
      </p:sp>
      <p:sp>
        <p:nvSpPr>
          <p:cNvPr id="149" name="object 4"/>
          <p:cNvSpPr txBox="1"/>
          <p:nvPr/>
        </p:nvSpPr>
        <p:spPr>
          <a:xfrm>
            <a:off x="492318" y="1119262"/>
            <a:ext cx="11207363" cy="51506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marL="475702" marR="4233" indent="-475702" algn="r">
              <a:lnSpc>
                <a:spcPts val="2417"/>
              </a:lnSpc>
              <a:spcBef>
                <a:spcPts val="83"/>
              </a:spcBef>
              <a:buSzPct val="100000"/>
              <a:buFont typeface="Arial"/>
              <a:buChar char="•"/>
              <a:tabLst>
                <a:tab pos="465648" algn="l"/>
                <a:tab pos="476231" algn="l"/>
              </a:tabLst>
              <a:defRPr sz="2700" spc="100">
                <a:latin typeface="Gill Sans MT"/>
                <a:ea typeface="Gill Sans MT"/>
                <a:cs typeface="Gill Sans MT"/>
                <a:sym typeface="Gill Sans MT"/>
              </a:defRPr>
            </a:pPr>
            <a:r>
              <a:rPr sz="2250" dirty="0"/>
              <a:t>The</a:t>
            </a:r>
            <a:r>
              <a:rPr sz="2250" spc="-50" dirty="0"/>
              <a:t> </a:t>
            </a:r>
            <a:r>
              <a:rPr sz="2250" dirty="0"/>
              <a:t>Nested</a:t>
            </a:r>
            <a:r>
              <a:rPr sz="2250" spc="-62" dirty="0"/>
              <a:t> </a:t>
            </a:r>
            <a:r>
              <a:rPr sz="2250" spc="137" dirty="0"/>
              <a:t>If-Else</a:t>
            </a:r>
            <a:r>
              <a:rPr sz="2250" spc="-67" dirty="0"/>
              <a:t> </a:t>
            </a:r>
            <a:r>
              <a:rPr sz="2250" spc="125" dirty="0"/>
              <a:t>statement</a:t>
            </a:r>
            <a:r>
              <a:rPr sz="2250" spc="-58" dirty="0"/>
              <a:t> </a:t>
            </a:r>
            <a:r>
              <a:rPr sz="2250" spc="183" dirty="0"/>
              <a:t>is</a:t>
            </a:r>
            <a:r>
              <a:rPr sz="2250" spc="-58" dirty="0"/>
              <a:t> </a:t>
            </a:r>
            <a:r>
              <a:rPr sz="2250" spc="183" dirty="0"/>
              <a:t>an</a:t>
            </a:r>
            <a:r>
              <a:rPr sz="2250" spc="-58" dirty="0"/>
              <a:t> </a:t>
            </a:r>
            <a:r>
              <a:rPr sz="2250" spc="150" dirty="0"/>
              <a:t>if</a:t>
            </a:r>
            <a:r>
              <a:rPr sz="2250" spc="-58" dirty="0"/>
              <a:t> </a:t>
            </a:r>
            <a:r>
              <a:rPr sz="2250" spc="125" dirty="0"/>
              <a:t>statement</a:t>
            </a:r>
            <a:r>
              <a:rPr sz="2250" spc="-58" dirty="0"/>
              <a:t> </a:t>
            </a:r>
            <a:r>
              <a:rPr sz="2250" spc="133" dirty="0"/>
              <a:t>inside</a:t>
            </a:r>
            <a:r>
              <a:rPr sz="2250" spc="-58" dirty="0"/>
              <a:t> </a:t>
            </a:r>
            <a:r>
              <a:rPr sz="2250" spc="75" dirty="0"/>
              <a:t>another</a:t>
            </a:r>
            <a:r>
              <a:rPr sz="2250" spc="-67" dirty="0"/>
              <a:t> </a:t>
            </a:r>
            <a:r>
              <a:rPr sz="2250" spc="104" dirty="0"/>
              <a:t>‘if-else’</a:t>
            </a:r>
            <a:r>
              <a:rPr sz="2250" spc="-42" dirty="0"/>
              <a:t> </a:t>
            </a:r>
            <a:r>
              <a:rPr sz="2250" spc="125" dirty="0"/>
              <a:t>statement.</a:t>
            </a:r>
          </a:p>
          <a:p>
            <a:pPr marR="16403" algn="r">
              <a:lnSpc>
                <a:spcPts val="2417"/>
              </a:lnSpc>
              <a:defRPr sz="2700" spc="40">
                <a:latin typeface="Gill Sans MT"/>
                <a:ea typeface="Gill Sans MT"/>
                <a:cs typeface="Gill Sans MT"/>
                <a:sym typeface="Gill Sans MT"/>
              </a:defRPr>
            </a:pPr>
            <a:r>
              <a:rPr sz="2250" dirty="0"/>
              <a:t>It</a:t>
            </a:r>
            <a:r>
              <a:rPr sz="2250" spc="-62" dirty="0"/>
              <a:t> </a:t>
            </a:r>
            <a:r>
              <a:rPr sz="2250" spc="183" dirty="0"/>
              <a:t>is</a:t>
            </a:r>
            <a:r>
              <a:rPr sz="2250" spc="-62" dirty="0"/>
              <a:t> </a:t>
            </a:r>
            <a:r>
              <a:rPr sz="2250" spc="104" dirty="0"/>
              <a:t>allowed</a:t>
            </a:r>
            <a:r>
              <a:rPr sz="2250" spc="-62" dirty="0"/>
              <a:t> </a:t>
            </a:r>
            <a:r>
              <a:rPr sz="2250" spc="104" dirty="0"/>
              <a:t>in</a:t>
            </a:r>
            <a:r>
              <a:rPr sz="2250" spc="-62" dirty="0"/>
              <a:t> </a:t>
            </a:r>
            <a:r>
              <a:rPr sz="2250" spc="112" dirty="0"/>
              <a:t>Python</a:t>
            </a:r>
            <a:r>
              <a:rPr sz="2250" spc="-62" dirty="0"/>
              <a:t> </a:t>
            </a:r>
            <a:r>
              <a:rPr sz="2250" spc="17" dirty="0"/>
              <a:t>to</a:t>
            </a:r>
            <a:r>
              <a:rPr sz="2250" spc="-54" dirty="0"/>
              <a:t> </a:t>
            </a:r>
            <a:r>
              <a:rPr sz="2250" spc="83" dirty="0"/>
              <a:t>put</a:t>
            </a:r>
            <a:r>
              <a:rPr sz="2250" spc="-62" dirty="0"/>
              <a:t> </a:t>
            </a:r>
            <a:r>
              <a:rPr sz="2250" spc="158" dirty="0"/>
              <a:t>any</a:t>
            </a:r>
            <a:r>
              <a:rPr sz="2250" spc="-62" dirty="0"/>
              <a:t> </a:t>
            </a:r>
            <a:r>
              <a:rPr sz="2250" spc="104" dirty="0"/>
              <a:t>number</a:t>
            </a:r>
            <a:r>
              <a:rPr sz="2250" spc="-62" dirty="0"/>
              <a:t> </a:t>
            </a:r>
            <a:r>
              <a:rPr sz="2250" spc="129" dirty="0"/>
              <a:t>of</a:t>
            </a:r>
            <a:r>
              <a:rPr sz="2250" spc="-71" dirty="0"/>
              <a:t> </a:t>
            </a:r>
            <a:r>
              <a:rPr sz="2250" spc="154" dirty="0"/>
              <a:t>if</a:t>
            </a:r>
            <a:r>
              <a:rPr sz="2250" spc="-62" dirty="0"/>
              <a:t> </a:t>
            </a:r>
            <a:r>
              <a:rPr sz="2250" spc="142" dirty="0"/>
              <a:t>statements</a:t>
            </a:r>
            <a:r>
              <a:rPr sz="2250" spc="-71" dirty="0"/>
              <a:t> </a:t>
            </a:r>
            <a:r>
              <a:rPr sz="2250" spc="104" dirty="0"/>
              <a:t>in</a:t>
            </a:r>
            <a:r>
              <a:rPr sz="2250" spc="-71" dirty="0"/>
              <a:t> </a:t>
            </a:r>
            <a:r>
              <a:rPr sz="2250" spc="75" dirty="0"/>
              <a:t>another</a:t>
            </a:r>
            <a:r>
              <a:rPr sz="2250" spc="-58" dirty="0"/>
              <a:t> </a:t>
            </a:r>
            <a:r>
              <a:rPr sz="2250" spc="154" dirty="0"/>
              <a:t>if</a:t>
            </a:r>
            <a:r>
              <a:rPr sz="2250" spc="-71" dirty="0"/>
              <a:t> </a:t>
            </a:r>
            <a:r>
              <a:rPr sz="2250" spc="129" dirty="0"/>
              <a:t>statement.</a:t>
            </a:r>
          </a:p>
          <a:p>
            <a:pPr marL="396330" indent="-386276">
              <a:spcBef>
                <a:spcPts val="833"/>
              </a:spcBef>
              <a:buSzPct val="100000"/>
              <a:buChar char="•"/>
              <a:tabLst>
                <a:tab pos="391568" algn="l"/>
                <a:tab pos="391568" algn="l"/>
              </a:tabLst>
              <a:defRPr sz="2700" spc="160">
                <a:latin typeface="Gill Sans MT"/>
                <a:ea typeface="Gill Sans MT"/>
                <a:cs typeface="Gill Sans MT"/>
                <a:sym typeface="Gill Sans MT"/>
              </a:defRPr>
            </a:pPr>
            <a:r>
              <a:rPr sz="2250" dirty="0"/>
              <a:t>Syntax</a:t>
            </a:r>
            <a:r>
              <a:rPr sz="2250" spc="-58" dirty="0"/>
              <a:t> </a:t>
            </a:r>
            <a:r>
              <a:rPr sz="2250" spc="100" dirty="0"/>
              <a:t>:</a:t>
            </a:r>
          </a:p>
          <a:p>
            <a:pPr indent="772022">
              <a:spcBef>
                <a:spcPts val="833"/>
              </a:spcBef>
              <a:defRPr sz="2700" spc="180">
                <a:latin typeface="Gill Sans MT"/>
                <a:ea typeface="Gill Sans MT"/>
                <a:cs typeface="Gill Sans MT"/>
                <a:sym typeface="Gill Sans MT"/>
              </a:defRPr>
            </a:pPr>
            <a:r>
              <a:rPr sz="2250" dirty="0"/>
              <a:t>if</a:t>
            </a:r>
            <a:r>
              <a:rPr sz="2250" spc="-83" dirty="0"/>
              <a:t> </a:t>
            </a:r>
            <a:r>
              <a:rPr sz="2250" spc="50" dirty="0" err="1"/>
              <a:t>conditon_outer</a:t>
            </a:r>
            <a:r>
              <a:rPr sz="2250" spc="50" dirty="0"/>
              <a:t>:</a:t>
            </a:r>
          </a:p>
          <a:p>
            <a:pPr indent="1534522">
              <a:spcBef>
                <a:spcPts val="833"/>
              </a:spcBef>
              <a:defRPr sz="2700" spc="180">
                <a:latin typeface="Gill Sans MT"/>
                <a:ea typeface="Gill Sans MT"/>
                <a:cs typeface="Gill Sans MT"/>
                <a:sym typeface="Gill Sans MT"/>
              </a:defRPr>
            </a:pPr>
            <a:r>
              <a:rPr sz="2250" dirty="0"/>
              <a:t>if</a:t>
            </a:r>
            <a:r>
              <a:rPr sz="2250" spc="-87" dirty="0"/>
              <a:t> </a:t>
            </a:r>
            <a:r>
              <a:rPr sz="2250" spc="62" dirty="0" err="1"/>
              <a:t>condition_inner</a:t>
            </a:r>
            <a:r>
              <a:rPr sz="2250" spc="62" dirty="0"/>
              <a:t>:</a:t>
            </a:r>
          </a:p>
          <a:p>
            <a:pPr indent="2296491">
              <a:spcBef>
                <a:spcPts val="833"/>
              </a:spcBef>
              <a:defRPr sz="2700" spc="150">
                <a:latin typeface="Gill Sans MT"/>
                <a:ea typeface="Gill Sans MT"/>
                <a:cs typeface="Gill Sans MT"/>
                <a:sym typeface="Gill Sans MT"/>
              </a:defRPr>
            </a:pPr>
            <a:r>
              <a:rPr sz="2250" dirty="0"/>
              <a:t>statement</a:t>
            </a:r>
            <a:r>
              <a:rPr sz="2250" spc="-83" dirty="0"/>
              <a:t> </a:t>
            </a:r>
            <a:r>
              <a:rPr sz="2250" spc="129" dirty="0"/>
              <a:t>of</a:t>
            </a:r>
            <a:r>
              <a:rPr sz="2250" spc="-62" dirty="0"/>
              <a:t> </a:t>
            </a:r>
            <a:r>
              <a:rPr sz="2250" spc="129" dirty="0"/>
              <a:t>nested</a:t>
            </a:r>
            <a:r>
              <a:rPr sz="2250" spc="-71" dirty="0"/>
              <a:t> </a:t>
            </a:r>
            <a:r>
              <a:rPr sz="2250" spc="150" dirty="0"/>
              <a:t>if</a:t>
            </a:r>
          </a:p>
          <a:p>
            <a:pPr indent="1534522">
              <a:spcBef>
                <a:spcPts val="833"/>
              </a:spcBef>
              <a:defRPr sz="2700" spc="160">
                <a:latin typeface="Gill Sans MT"/>
                <a:ea typeface="Gill Sans MT"/>
                <a:cs typeface="Gill Sans MT"/>
                <a:sym typeface="Gill Sans MT"/>
              </a:defRPr>
            </a:pPr>
            <a:r>
              <a:rPr sz="2250" dirty="0"/>
              <a:t>else:</a:t>
            </a:r>
          </a:p>
          <a:p>
            <a:pPr marR="5064451" indent="2296491">
              <a:lnSpc>
                <a:spcPct val="132600"/>
              </a:lnSpc>
              <a:defRPr sz="2700" spc="150">
                <a:latin typeface="Gill Sans MT"/>
                <a:ea typeface="Gill Sans MT"/>
                <a:cs typeface="Gill Sans MT"/>
                <a:sym typeface="Gill Sans MT"/>
              </a:defRPr>
            </a:pPr>
            <a:r>
              <a:rPr sz="2250" dirty="0"/>
              <a:t>statement</a:t>
            </a:r>
            <a:r>
              <a:rPr sz="2250" spc="-83" dirty="0"/>
              <a:t> </a:t>
            </a:r>
            <a:r>
              <a:rPr sz="2250" spc="129" dirty="0"/>
              <a:t>of</a:t>
            </a:r>
            <a:r>
              <a:rPr sz="2250" spc="-62" dirty="0"/>
              <a:t> </a:t>
            </a:r>
            <a:r>
              <a:rPr sz="2250" spc="129" dirty="0"/>
              <a:t>nested</a:t>
            </a:r>
            <a:r>
              <a:rPr sz="2250" spc="-71" dirty="0"/>
              <a:t> </a:t>
            </a:r>
            <a:r>
              <a:rPr sz="2250" spc="150" dirty="0"/>
              <a:t>if</a:t>
            </a:r>
            <a:r>
              <a:rPr sz="2250" spc="-83" dirty="0"/>
              <a:t> </a:t>
            </a:r>
            <a:r>
              <a:rPr sz="2250" spc="133" dirty="0"/>
              <a:t>else </a:t>
            </a:r>
            <a:r>
              <a:rPr lang="en-US" sz="2250" spc="133" dirty="0"/>
              <a:t>#</a:t>
            </a:r>
            <a:r>
              <a:rPr sz="2250" dirty="0"/>
              <a:t>statement </a:t>
            </a:r>
            <a:r>
              <a:rPr sz="2250" spc="129" dirty="0"/>
              <a:t>of</a:t>
            </a:r>
            <a:r>
              <a:rPr sz="2250" spc="-370" dirty="0"/>
              <a:t> </a:t>
            </a:r>
            <a:r>
              <a:rPr sz="2250" spc="33" dirty="0"/>
              <a:t>outer </a:t>
            </a:r>
            <a:r>
              <a:rPr sz="2250" spc="150" dirty="0"/>
              <a:t>if</a:t>
            </a:r>
          </a:p>
          <a:p>
            <a:pPr indent="772022">
              <a:spcBef>
                <a:spcPts val="833"/>
              </a:spcBef>
              <a:defRPr sz="2700" spc="160">
                <a:latin typeface="Gill Sans MT"/>
                <a:ea typeface="Gill Sans MT"/>
                <a:cs typeface="Gill Sans MT"/>
                <a:sym typeface="Gill Sans MT"/>
              </a:defRPr>
            </a:pPr>
            <a:r>
              <a:rPr sz="2250" dirty="0"/>
              <a:t>else:</a:t>
            </a:r>
          </a:p>
          <a:p>
            <a:pPr marR="6745017" indent="1533992">
              <a:lnSpc>
                <a:spcPct val="132600"/>
              </a:lnSpc>
              <a:defRPr sz="2700" spc="-35">
                <a:latin typeface="Gill Sans MT"/>
                <a:ea typeface="Gill Sans MT"/>
                <a:cs typeface="Gill Sans MT"/>
                <a:sym typeface="Gill Sans MT"/>
              </a:defRPr>
            </a:pPr>
            <a:r>
              <a:rPr lang="en-US" sz="2250" dirty="0"/>
              <a:t>statement</a:t>
            </a:r>
            <a:r>
              <a:rPr lang="en-US" sz="2250" spc="-83" dirty="0"/>
              <a:t> </a:t>
            </a:r>
            <a:r>
              <a:rPr lang="en-US" sz="2250" spc="129" dirty="0"/>
              <a:t>of</a:t>
            </a:r>
            <a:r>
              <a:rPr lang="en-US" sz="2250" spc="-62" dirty="0"/>
              <a:t> </a:t>
            </a:r>
            <a:r>
              <a:rPr lang="en-US" sz="2250" spc="129" dirty="0" err="1"/>
              <a:t>outerelse</a:t>
            </a:r>
            <a:r>
              <a:rPr lang="en-US" sz="2250" spc="-83" dirty="0"/>
              <a:t> </a:t>
            </a:r>
            <a:r>
              <a:rPr lang="en-US" sz="2250" spc="146" dirty="0"/>
              <a:t>#</a:t>
            </a:r>
            <a:r>
              <a:rPr sz="2250" spc="125" dirty="0"/>
              <a:t>statement </a:t>
            </a:r>
            <a:r>
              <a:rPr sz="2250" spc="108" dirty="0"/>
              <a:t>outside </a:t>
            </a:r>
            <a:r>
              <a:rPr sz="2250" spc="150" dirty="0"/>
              <a:t>if</a:t>
            </a:r>
            <a:r>
              <a:rPr sz="2250" spc="-462" dirty="0"/>
              <a:t> </a:t>
            </a:r>
            <a:r>
              <a:rPr sz="2250" spc="100" dirty="0"/>
              <a:t>block</a:t>
            </a:r>
          </a:p>
        </p:txBody>
      </p:sp>
    </p:spTree>
    <p:extLst>
      <p:ext uri="{BB962C8B-B14F-4D97-AF65-F5344CB8AC3E}">
        <p14:creationId xmlns:p14="http://schemas.microsoft.com/office/powerpoint/2010/main" val="295354492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5459" y="579549"/>
            <a:ext cx="10658341" cy="5597414"/>
          </a:xfrm>
        </p:spPr>
        <p:txBody>
          <a:bodyPr>
            <a:normAutofit fontScale="55000" lnSpcReduction="20000"/>
          </a:bodyPr>
          <a:lstStyle/>
          <a:p>
            <a:pPr marL="0" indent="0">
              <a:buNone/>
            </a:pPr>
            <a:r>
              <a:rPr lang="en-US" dirty="0"/>
              <a:t># Example: Program to check if a number is prime or not</a:t>
            </a:r>
          </a:p>
          <a:p>
            <a:pPr marL="0" indent="0">
              <a:buNone/>
            </a:pPr>
            <a:r>
              <a:rPr lang="en-US" dirty="0" err="1"/>
              <a:t>num</a:t>
            </a:r>
            <a:r>
              <a:rPr lang="en-US" dirty="0"/>
              <a:t> = </a:t>
            </a:r>
            <a:r>
              <a:rPr lang="en-US" dirty="0" err="1"/>
              <a:t>int</a:t>
            </a:r>
            <a:r>
              <a:rPr lang="en-US" dirty="0"/>
              <a:t>(input("Enter a number: "))</a:t>
            </a:r>
          </a:p>
          <a:p>
            <a:pPr marL="0" indent="0">
              <a:buNone/>
            </a:pPr>
            <a:r>
              <a:rPr lang="en-US" dirty="0"/>
              <a:t># check if the number is greater than 1</a:t>
            </a:r>
          </a:p>
          <a:p>
            <a:pPr marL="0" indent="0">
              <a:buNone/>
            </a:pPr>
            <a:r>
              <a:rPr lang="en-US" dirty="0"/>
              <a:t>if </a:t>
            </a:r>
            <a:r>
              <a:rPr lang="en-US" dirty="0" err="1"/>
              <a:t>num</a:t>
            </a:r>
            <a:r>
              <a:rPr lang="en-US" dirty="0"/>
              <a:t> &gt; 1:</a:t>
            </a:r>
          </a:p>
          <a:p>
            <a:pPr marL="0" indent="0">
              <a:buNone/>
            </a:pPr>
            <a:r>
              <a:rPr lang="en-US" dirty="0"/>
              <a:t>    # check for factors</a:t>
            </a:r>
          </a:p>
          <a:p>
            <a:pPr marL="0" indent="0">
              <a:buNone/>
            </a:pPr>
            <a:r>
              <a:rPr lang="en-US" dirty="0"/>
              <a:t>    for </a:t>
            </a:r>
            <a:r>
              <a:rPr lang="en-US" dirty="0" err="1"/>
              <a:t>i</a:t>
            </a:r>
            <a:r>
              <a:rPr lang="en-US" dirty="0"/>
              <a:t> in range(2, </a:t>
            </a:r>
            <a:r>
              <a:rPr lang="en-US" dirty="0" err="1"/>
              <a:t>num</a:t>
            </a:r>
            <a:r>
              <a:rPr lang="en-US" dirty="0"/>
              <a:t>):</a:t>
            </a:r>
          </a:p>
          <a:p>
            <a:pPr marL="0" indent="0">
              <a:buNone/>
            </a:pPr>
            <a:r>
              <a:rPr lang="en-US" dirty="0"/>
              <a:t>        if (</a:t>
            </a:r>
            <a:r>
              <a:rPr lang="en-US" dirty="0" err="1"/>
              <a:t>num</a:t>
            </a:r>
            <a:r>
              <a:rPr lang="en-US" dirty="0"/>
              <a:t> % </a:t>
            </a:r>
            <a:r>
              <a:rPr lang="en-US" dirty="0" err="1"/>
              <a:t>i</a:t>
            </a:r>
            <a:r>
              <a:rPr lang="en-US" dirty="0"/>
              <a:t>) == 0:</a:t>
            </a:r>
          </a:p>
          <a:p>
            <a:pPr marL="0" indent="0">
              <a:buNone/>
            </a:pPr>
            <a:r>
              <a:rPr lang="en-US" dirty="0"/>
              <a:t>             count=1</a:t>
            </a:r>
          </a:p>
          <a:p>
            <a:pPr marL="0" indent="0">
              <a:buNone/>
            </a:pPr>
            <a:r>
              <a:rPr lang="en-US" dirty="0"/>
              <a:t>             break  # exit the loop if a factor is found</a:t>
            </a:r>
          </a:p>
          <a:p>
            <a:pPr marL="0" indent="0">
              <a:buNone/>
            </a:pPr>
            <a:r>
              <a:rPr lang="en-US" dirty="0"/>
              <a:t>        else:</a:t>
            </a:r>
          </a:p>
          <a:p>
            <a:pPr marL="0" indent="0">
              <a:buNone/>
            </a:pPr>
            <a:r>
              <a:rPr lang="en-US" dirty="0"/>
              <a:t>              count=0</a:t>
            </a:r>
          </a:p>
          <a:p>
            <a:pPr marL="0" indent="0">
              <a:buNone/>
            </a:pPr>
            <a:r>
              <a:rPr lang="en-US" dirty="0"/>
              <a:t>    if count==1:</a:t>
            </a:r>
          </a:p>
          <a:p>
            <a:pPr marL="0" indent="0">
              <a:buNone/>
            </a:pPr>
            <a:r>
              <a:rPr lang="en-US" dirty="0"/>
              <a:t>        print(</a:t>
            </a:r>
            <a:r>
              <a:rPr lang="en-US" dirty="0" err="1"/>
              <a:t>num</a:t>
            </a:r>
            <a:r>
              <a:rPr lang="en-US" dirty="0"/>
              <a:t>, "is not a prime number")</a:t>
            </a:r>
          </a:p>
          <a:p>
            <a:pPr marL="0" indent="0">
              <a:buNone/>
            </a:pPr>
            <a:r>
              <a:rPr lang="en-US" dirty="0"/>
              <a:t>     else:</a:t>
            </a:r>
          </a:p>
          <a:p>
            <a:pPr marL="0" indent="0">
              <a:buNone/>
            </a:pPr>
            <a:r>
              <a:rPr lang="en-US" dirty="0"/>
              <a:t>         print(</a:t>
            </a:r>
            <a:r>
              <a:rPr lang="en-US" dirty="0" err="1"/>
              <a:t>num</a:t>
            </a:r>
            <a:r>
              <a:rPr lang="en-US" dirty="0"/>
              <a:t>, "is a prime number")</a:t>
            </a:r>
          </a:p>
          <a:p>
            <a:pPr marL="0" indent="0">
              <a:buNone/>
            </a:pPr>
            <a:endParaRPr lang="en-US" dirty="0"/>
          </a:p>
          <a:p>
            <a:pPr marL="0" indent="0">
              <a:buNone/>
            </a:pPr>
            <a:r>
              <a:rPr lang="en-US" dirty="0"/>
              <a:t>else:</a:t>
            </a:r>
          </a:p>
          <a:p>
            <a:pPr marL="0" indent="0">
              <a:buNone/>
            </a:pPr>
            <a:r>
              <a:rPr lang="en-US" dirty="0"/>
              <a:t>    print(</a:t>
            </a:r>
            <a:r>
              <a:rPr lang="en-US" dirty="0" err="1"/>
              <a:t>num</a:t>
            </a:r>
            <a:r>
              <a:rPr lang="en-US" dirty="0"/>
              <a:t>, "is not a prime number")</a:t>
            </a:r>
          </a:p>
          <a:p>
            <a:pPr marL="0" indent="0">
              <a:buNone/>
            </a:pPr>
            <a:endParaRPr lang="en-US" dirty="0"/>
          </a:p>
        </p:txBody>
      </p:sp>
    </p:spTree>
    <p:extLst>
      <p:ext uri="{BB962C8B-B14F-4D97-AF65-F5344CB8AC3E}">
        <p14:creationId xmlns:p14="http://schemas.microsoft.com/office/powerpoint/2010/main" val="173351967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0913" y="437882"/>
            <a:ext cx="10812887" cy="5739081"/>
          </a:xfrm>
        </p:spPr>
        <p:txBody>
          <a:bodyPr>
            <a:normAutofit fontScale="77500" lnSpcReduction="20000"/>
          </a:bodyPr>
          <a:lstStyle/>
          <a:p>
            <a:pPr marL="0" indent="0">
              <a:buNone/>
            </a:pPr>
            <a:r>
              <a:rPr lang="en-US" dirty="0"/>
              <a:t># Program to determine if a number is even or odd, and if it's positive, negative, or zero</a:t>
            </a:r>
          </a:p>
          <a:p>
            <a:pPr marL="0" indent="0">
              <a:buNone/>
            </a:pPr>
            <a:endParaRPr lang="en-US" dirty="0"/>
          </a:p>
          <a:p>
            <a:pPr marL="0" indent="0">
              <a:buNone/>
            </a:pPr>
            <a:r>
              <a:rPr lang="en-US" dirty="0" err="1"/>
              <a:t>num</a:t>
            </a:r>
            <a:r>
              <a:rPr lang="en-US" dirty="0"/>
              <a:t> = </a:t>
            </a:r>
            <a:r>
              <a:rPr lang="en-US" dirty="0" err="1"/>
              <a:t>int</a:t>
            </a:r>
            <a:r>
              <a:rPr lang="en-US" dirty="0"/>
              <a:t>(input("Enter a number: "))</a:t>
            </a:r>
          </a:p>
          <a:p>
            <a:pPr marL="0" indent="0">
              <a:buNone/>
            </a:pPr>
            <a:endParaRPr lang="en-US" dirty="0"/>
          </a:p>
          <a:p>
            <a:pPr marL="0" indent="0">
              <a:buNone/>
            </a:pPr>
            <a:r>
              <a:rPr lang="en-US" dirty="0"/>
              <a:t>if </a:t>
            </a:r>
            <a:r>
              <a:rPr lang="en-US" dirty="0" err="1"/>
              <a:t>num</a:t>
            </a:r>
            <a:r>
              <a:rPr lang="en-US" dirty="0"/>
              <a:t> &gt;= 0:</a:t>
            </a:r>
          </a:p>
          <a:p>
            <a:pPr marL="0" indent="0">
              <a:buNone/>
            </a:pPr>
            <a:r>
              <a:rPr lang="en-US" dirty="0"/>
              <a:t>    if </a:t>
            </a:r>
            <a:r>
              <a:rPr lang="en-US" dirty="0" err="1"/>
              <a:t>num</a:t>
            </a:r>
            <a:r>
              <a:rPr lang="en-US" dirty="0"/>
              <a:t> == 0:</a:t>
            </a:r>
          </a:p>
          <a:p>
            <a:pPr marL="0" indent="0">
              <a:buNone/>
            </a:pPr>
            <a:r>
              <a:rPr lang="en-US" dirty="0"/>
              <a:t>        print("The number is zero.")</a:t>
            </a:r>
          </a:p>
          <a:p>
            <a:pPr marL="0" indent="0">
              <a:buNone/>
            </a:pPr>
            <a:r>
              <a:rPr lang="en-US" dirty="0"/>
              <a:t>    else:</a:t>
            </a:r>
          </a:p>
          <a:p>
            <a:pPr marL="0" indent="0">
              <a:buNone/>
            </a:pPr>
            <a:r>
              <a:rPr lang="en-US" dirty="0"/>
              <a:t>        print("The number is positive.")</a:t>
            </a:r>
          </a:p>
          <a:p>
            <a:pPr marL="0" indent="0">
              <a:buNone/>
            </a:pPr>
            <a:r>
              <a:rPr lang="en-US" dirty="0"/>
              <a:t>        if </a:t>
            </a:r>
            <a:r>
              <a:rPr lang="en-US" dirty="0" err="1"/>
              <a:t>num</a:t>
            </a:r>
            <a:r>
              <a:rPr lang="en-US" dirty="0"/>
              <a:t> % 2 == 0:</a:t>
            </a:r>
          </a:p>
          <a:p>
            <a:pPr marL="0" indent="0">
              <a:buNone/>
            </a:pPr>
            <a:r>
              <a:rPr lang="en-US" dirty="0"/>
              <a:t>            print("The number is even.")</a:t>
            </a:r>
          </a:p>
          <a:p>
            <a:pPr marL="0" indent="0">
              <a:buNone/>
            </a:pPr>
            <a:r>
              <a:rPr lang="en-US" dirty="0"/>
              <a:t>        else:</a:t>
            </a:r>
          </a:p>
          <a:p>
            <a:pPr marL="0" indent="0">
              <a:buNone/>
            </a:pPr>
            <a:r>
              <a:rPr lang="en-US" dirty="0"/>
              <a:t>            print("The number is odd.")</a:t>
            </a:r>
          </a:p>
          <a:p>
            <a:pPr marL="0" indent="0">
              <a:buNone/>
            </a:pPr>
            <a:r>
              <a:rPr lang="en-US" dirty="0"/>
              <a:t>else:</a:t>
            </a:r>
          </a:p>
          <a:p>
            <a:pPr marL="0" indent="0">
              <a:buNone/>
            </a:pPr>
            <a:r>
              <a:rPr lang="en-US" dirty="0"/>
              <a:t>    print("The number is negative.")</a:t>
            </a:r>
          </a:p>
          <a:p>
            <a:pPr marL="0" indent="0">
              <a:buNone/>
            </a:pPr>
            <a:endParaRPr lang="en-US" dirty="0"/>
          </a:p>
        </p:txBody>
      </p:sp>
    </p:spTree>
    <p:extLst>
      <p:ext uri="{BB962C8B-B14F-4D97-AF65-F5344CB8AC3E}">
        <p14:creationId xmlns:p14="http://schemas.microsoft.com/office/powerpoint/2010/main" val="354358425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object 3"/>
          <p:cNvSpPr txBox="1">
            <a:spLocks noGrp="1"/>
          </p:cNvSpPr>
          <p:nvPr>
            <p:ph type="title"/>
          </p:nvPr>
        </p:nvSpPr>
        <p:spPr>
          <a:xfrm>
            <a:off x="838200" y="365125"/>
            <a:ext cx="10515600" cy="523517"/>
          </a:xfrm>
          <a:prstGeom prst="rect">
            <a:avLst/>
          </a:prstGeom>
        </p:spPr>
        <p:txBody>
          <a:bodyPr>
            <a:normAutofit/>
          </a:bodyPr>
          <a:lstStyle/>
          <a:p>
            <a:pPr indent="9207" defTabSz="662913">
              <a:defRPr sz="2958"/>
            </a:pPr>
            <a:r>
              <a:rPr b="1" dirty="0"/>
              <a:t>NESTED</a:t>
            </a:r>
            <a:r>
              <a:rPr b="1" spc="-217" dirty="0"/>
              <a:t> </a:t>
            </a:r>
            <a:r>
              <a:rPr b="1" spc="145" dirty="0"/>
              <a:t>IF-ELSE</a:t>
            </a:r>
          </a:p>
        </p:txBody>
      </p:sp>
      <p:sp>
        <p:nvSpPr>
          <p:cNvPr id="2" name="Rectangle 1"/>
          <p:cNvSpPr/>
          <p:nvPr/>
        </p:nvSpPr>
        <p:spPr>
          <a:xfrm>
            <a:off x="1018912" y="888642"/>
            <a:ext cx="10154175" cy="5262979"/>
          </a:xfrm>
          <a:prstGeom prst="rect">
            <a:avLst/>
          </a:prstGeom>
        </p:spPr>
        <p:txBody>
          <a:bodyPr wrap="square">
            <a:spAutoFit/>
          </a:bodyPr>
          <a:lstStyle/>
          <a:p>
            <a:r>
              <a:rPr lang="en-US" sz="2400" dirty="0"/>
              <a:t># Program to check if a given year is a leap year or not using nested if-else</a:t>
            </a:r>
          </a:p>
          <a:p>
            <a:endParaRPr lang="en-US" sz="2400" dirty="0"/>
          </a:p>
          <a:p>
            <a:r>
              <a:rPr lang="en-US" sz="2400" dirty="0"/>
              <a:t>year = </a:t>
            </a:r>
            <a:r>
              <a:rPr lang="en-US" sz="2400" dirty="0" err="1"/>
              <a:t>int</a:t>
            </a:r>
            <a:r>
              <a:rPr lang="en-US" sz="2400" dirty="0"/>
              <a:t>(input("Enter a year: "))</a:t>
            </a:r>
          </a:p>
          <a:p>
            <a:endParaRPr lang="en-US" sz="2400" dirty="0"/>
          </a:p>
          <a:p>
            <a:r>
              <a:rPr lang="en-US" sz="2400" dirty="0"/>
              <a:t>if year % 4 == 0:</a:t>
            </a:r>
          </a:p>
          <a:p>
            <a:r>
              <a:rPr lang="en-US" sz="2400" dirty="0"/>
              <a:t>    if year % 100 == 0:</a:t>
            </a:r>
          </a:p>
          <a:p>
            <a:r>
              <a:rPr lang="en-US" sz="2400" dirty="0"/>
              <a:t>        if year % 400 == 0:</a:t>
            </a:r>
          </a:p>
          <a:p>
            <a:r>
              <a:rPr lang="en-US" sz="2400" dirty="0"/>
              <a:t>            print(year, "is a leap year.")</a:t>
            </a:r>
          </a:p>
          <a:p>
            <a:r>
              <a:rPr lang="en-US" sz="2400" dirty="0"/>
              <a:t>        else:</a:t>
            </a:r>
          </a:p>
          <a:p>
            <a:r>
              <a:rPr lang="en-US" sz="2400" dirty="0"/>
              <a:t>            print(year, "is not a leap year.")</a:t>
            </a:r>
          </a:p>
          <a:p>
            <a:r>
              <a:rPr lang="en-US" sz="2400" dirty="0"/>
              <a:t>    else:</a:t>
            </a:r>
          </a:p>
          <a:p>
            <a:r>
              <a:rPr lang="en-US" sz="2400" dirty="0"/>
              <a:t>        print(year, "is a leap year.")</a:t>
            </a:r>
          </a:p>
          <a:p>
            <a:r>
              <a:rPr lang="en-US" sz="2400" dirty="0"/>
              <a:t>else:</a:t>
            </a:r>
          </a:p>
          <a:p>
            <a:r>
              <a:rPr lang="en-US" sz="2400" dirty="0"/>
              <a:t>    print(year, "is not a leap year.")</a:t>
            </a:r>
          </a:p>
        </p:txBody>
      </p:sp>
    </p:spTree>
    <p:extLst>
      <p:ext uri="{BB962C8B-B14F-4D97-AF65-F5344CB8AC3E}">
        <p14:creationId xmlns:p14="http://schemas.microsoft.com/office/powerpoint/2010/main" val="290325865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8338" y="502276"/>
            <a:ext cx="10645462" cy="5674687"/>
          </a:xfrm>
        </p:spPr>
        <p:txBody>
          <a:bodyPr>
            <a:normAutofit/>
          </a:bodyPr>
          <a:lstStyle/>
          <a:p>
            <a:pPr marL="0" indent="0">
              <a:buNone/>
            </a:pPr>
            <a:r>
              <a:rPr lang="en-US" dirty="0"/>
              <a:t>Explanation:</a:t>
            </a:r>
          </a:p>
          <a:p>
            <a:pPr marL="0" indent="0">
              <a:buNone/>
            </a:pPr>
            <a:endParaRPr lang="en-US" dirty="0"/>
          </a:p>
          <a:p>
            <a:pPr algn="just"/>
            <a:r>
              <a:rPr lang="en-US" sz="2400" dirty="0">
                <a:latin typeface="Times New Roman" panose="02020603050405020304" pitchFamily="18" charset="0"/>
                <a:cs typeface="Times New Roman" panose="02020603050405020304" pitchFamily="18" charset="0"/>
              </a:rPr>
              <a:t>The outer if statement checks if the year is divisible by 4 without leaving a remainder. If the condition is true, it means the year could be a leap year, so it proceeds to the nested if statement.</a:t>
            </a:r>
          </a:p>
          <a:p>
            <a:pPr algn="just"/>
            <a:r>
              <a:rPr lang="en-US" sz="2400" dirty="0">
                <a:latin typeface="Times New Roman" panose="02020603050405020304" pitchFamily="18" charset="0"/>
                <a:cs typeface="Times New Roman" panose="02020603050405020304" pitchFamily="18" charset="0"/>
              </a:rPr>
              <a:t>Inside the nested if statement, it further checks if the year is divisible by 100. If it is, it could still be a leap year (e.g., 2000 is a leap year), so it proceeds to another nested if statement.</a:t>
            </a:r>
          </a:p>
          <a:p>
            <a:pPr algn="just"/>
            <a:r>
              <a:rPr lang="en-US" sz="2400" dirty="0">
                <a:latin typeface="Times New Roman" panose="02020603050405020304" pitchFamily="18" charset="0"/>
                <a:cs typeface="Times New Roman" panose="02020603050405020304" pitchFamily="18" charset="0"/>
              </a:rPr>
              <a:t>Inside the second nested if statement, it checks if the year is divisible by 400. If it is, it confirms that it's a leap year. If not, it's not a leap year.</a:t>
            </a:r>
          </a:p>
          <a:p>
            <a:pPr algn="just"/>
            <a:r>
              <a:rPr lang="en-US" sz="2400" dirty="0">
                <a:latin typeface="Times New Roman" panose="02020603050405020304" pitchFamily="18" charset="0"/>
                <a:cs typeface="Times New Roman" panose="02020603050405020304" pitchFamily="18" charset="0"/>
              </a:rPr>
              <a:t>If the year is not divisible by 100 in the first nested if statement, it skips the second nested if statement and directly concludes that it's a leap year.</a:t>
            </a:r>
          </a:p>
          <a:p>
            <a:pPr algn="just"/>
            <a:r>
              <a:rPr lang="en-US" sz="2400" dirty="0">
                <a:latin typeface="Times New Roman" panose="02020603050405020304" pitchFamily="18" charset="0"/>
                <a:cs typeface="Times New Roman" panose="02020603050405020304" pitchFamily="18" charset="0"/>
              </a:rPr>
              <a:t>If the year is not divisible by 4 in the outer if statement, it concludes that it's not a leap year.</a:t>
            </a:r>
          </a:p>
        </p:txBody>
      </p:sp>
    </p:spTree>
    <p:extLst>
      <p:ext uri="{BB962C8B-B14F-4D97-AF65-F5344CB8AC3E}">
        <p14:creationId xmlns:p14="http://schemas.microsoft.com/office/powerpoint/2010/main" val="3012032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156" name="object 3"/>
          <p:cNvSpPr txBox="1">
            <a:spLocks noGrp="1"/>
          </p:cNvSpPr>
          <p:nvPr>
            <p:ph type="title"/>
          </p:nvPr>
        </p:nvSpPr>
        <p:spPr>
          <a:prstGeom prst="rect">
            <a:avLst/>
          </a:prstGeom>
        </p:spPr>
        <p:txBody>
          <a:bodyPr>
            <a:normAutofit/>
          </a:bodyPr>
          <a:lstStyle/>
          <a:p>
            <a:pPr indent="10265" defTabSz="739110">
              <a:defRPr sz="3298" spc="-97"/>
            </a:pPr>
            <a:r>
              <a:t>FOR</a:t>
            </a:r>
            <a:r>
              <a:rPr spc="-242"/>
              <a:t> </a:t>
            </a:r>
            <a:r>
              <a:rPr spc="-162"/>
              <a:t>LOOP</a:t>
            </a:r>
          </a:p>
        </p:txBody>
      </p:sp>
      <p:sp>
        <p:nvSpPr>
          <p:cNvPr id="157" name="object 4"/>
          <p:cNvSpPr txBox="1"/>
          <p:nvPr/>
        </p:nvSpPr>
        <p:spPr>
          <a:xfrm>
            <a:off x="776308" y="1427967"/>
            <a:ext cx="10355793" cy="34756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L="486285" marR="4233" indent="-476231">
              <a:spcBef>
                <a:spcPts val="83"/>
              </a:spcBef>
              <a:buSzPct val="100000"/>
              <a:buFont typeface="Arial"/>
              <a:buChar char="•"/>
              <a:tabLst>
                <a:tab pos="476231" algn="l"/>
                <a:tab pos="486814" algn="l"/>
              </a:tabLst>
              <a:defRPr sz="2900" spc="-10">
                <a:latin typeface="Gill Sans MT"/>
                <a:ea typeface="Gill Sans MT"/>
                <a:cs typeface="Gill Sans MT"/>
                <a:sym typeface="Gill Sans MT"/>
              </a:defRPr>
            </a:pPr>
            <a:r>
              <a:rPr sz="2417"/>
              <a:t>A</a:t>
            </a:r>
            <a:r>
              <a:rPr sz="2417" spc="-71"/>
              <a:t> </a:t>
            </a:r>
            <a:r>
              <a:rPr sz="2417" spc="58"/>
              <a:t>for</a:t>
            </a:r>
            <a:r>
              <a:rPr sz="2417" spc="-67"/>
              <a:t> </a:t>
            </a:r>
            <a:r>
              <a:rPr sz="2417" spc="79"/>
              <a:t>loop</a:t>
            </a:r>
            <a:r>
              <a:rPr sz="2417" spc="-67"/>
              <a:t> </a:t>
            </a:r>
            <a:r>
              <a:rPr sz="2417" spc="200"/>
              <a:t>is</a:t>
            </a:r>
            <a:r>
              <a:rPr sz="2417" spc="-79"/>
              <a:t> </a:t>
            </a:r>
            <a:r>
              <a:rPr sz="2417" spc="179"/>
              <a:t>used</a:t>
            </a:r>
            <a:r>
              <a:rPr sz="2417" spc="-100"/>
              <a:t> </a:t>
            </a:r>
            <a:r>
              <a:rPr sz="2417" spc="58"/>
              <a:t>for</a:t>
            </a:r>
            <a:r>
              <a:rPr sz="2417" spc="-58"/>
              <a:t> </a:t>
            </a:r>
            <a:r>
              <a:rPr sz="2417" spc="104"/>
              <a:t>iterating</a:t>
            </a:r>
            <a:r>
              <a:rPr sz="2417" spc="-92"/>
              <a:t> </a:t>
            </a:r>
            <a:r>
              <a:rPr sz="2417" spc="50"/>
              <a:t>over</a:t>
            </a:r>
            <a:r>
              <a:rPr sz="2417" spc="-67"/>
              <a:t> </a:t>
            </a:r>
            <a:r>
              <a:rPr sz="2417" spc="271"/>
              <a:t>a</a:t>
            </a:r>
            <a:r>
              <a:rPr sz="2417" spc="-79"/>
              <a:t> </a:t>
            </a:r>
            <a:r>
              <a:rPr sz="2417" spc="170"/>
              <a:t>sequence</a:t>
            </a:r>
            <a:r>
              <a:rPr sz="2417" spc="-108"/>
              <a:t> </a:t>
            </a:r>
            <a:r>
              <a:rPr sz="2417" spc="179"/>
              <a:t>and</a:t>
            </a:r>
            <a:r>
              <a:rPr sz="2417" spc="-50"/>
              <a:t> </a:t>
            </a:r>
            <a:r>
              <a:rPr sz="2417" spc="117"/>
              <a:t>iterables</a:t>
            </a:r>
            <a:r>
              <a:rPr sz="2417" spc="-75"/>
              <a:t> </a:t>
            </a:r>
            <a:r>
              <a:rPr sz="2417" spc="92"/>
              <a:t>(like</a:t>
            </a:r>
            <a:r>
              <a:rPr sz="2417" spc="-83"/>
              <a:t> </a:t>
            </a:r>
            <a:r>
              <a:rPr sz="2417" spc="129"/>
              <a:t>range,  </a:t>
            </a:r>
            <a:r>
              <a:rPr sz="2417" spc="100"/>
              <a:t>list,</a:t>
            </a:r>
            <a:r>
              <a:rPr sz="2417" spc="-92"/>
              <a:t> </a:t>
            </a:r>
            <a:r>
              <a:rPr sz="2417" spc="271"/>
              <a:t>a</a:t>
            </a:r>
            <a:r>
              <a:rPr sz="2417" spc="-71"/>
              <a:t> </a:t>
            </a:r>
            <a:r>
              <a:rPr sz="2417" spc="87"/>
              <a:t>tuple,</a:t>
            </a:r>
            <a:r>
              <a:rPr sz="2417" spc="-92"/>
              <a:t> </a:t>
            </a:r>
            <a:r>
              <a:rPr sz="2417" spc="271"/>
              <a:t>a</a:t>
            </a:r>
            <a:r>
              <a:rPr sz="2417" spc="-71"/>
              <a:t> </a:t>
            </a:r>
            <a:r>
              <a:rPr sz="2417" spc="87"/>
              <a:t>dictionary,</a:t>
            </a:r>
            <a:r>
              <a:rPr sz="2417" spc="-83"/>
              <a:t> </a:t>
            </a:r>
            <a:r>
              <a:rPr sz="2417" spc="271"/>
              <a:t>a</a:t>
            </a:r>
            <a:r>
              <a:rPr sz="2417" spc="-71"/>
              <a:t> </a:t>
            </a:r>
            <a:r>
              <a:rPr sz="2417" spc="150"/>
              <a:t>set</a:t>
            </a:r>
            <a:r>
              <a:rPr sz="2417" spc="-87"/>
              <a:t> </a:t>
            </a:r>
            <a:r>
              <a:rPr sz="2417" spc="-33"/>
              <a:t>or</a:t>
            </a:r>
            <a:r>
              <a:rPr sz="2417" spc="-71"/>
              <a:t> </a:t>
            </a:r>
            <a:r>
              <a:rPr sz="2417" spc="271"/>
              <a:t>a</a:t>
            </a:r>
            <a:r>
              <a:rPr sz="2417" spc="-71"/>
              <a:t> </a:t>
            </a:r>
            <a:r>
              <a:rPr sz="2417" spc="121"/>
              <a:t>string).</a:t>
            </a:r>
          </a:p>
          <a:p>
            <a:pPr marL="423845" indent="-413791">
              <a:spcBef>
                <a:spcPts val="1333"/>
              </a:spcBef>
              <a:buSzPct val="100000"/>
              <a:buChar char="•"/>
              <a:tabLst>
                <a:tab pos="423316" algn="l"/>
                <a:tab pos="423316" algn="l"/>
              </a:tabLst>
              <a:defRPr sz="2900" spc="180">
                <a:latin typeface="Gill Sans MT"/>
                <a:ea typeface="Gill Sans MT"/>
                <a:cs typeface="Gill Sans MT"/>
                <a:sym typeface="Gill Sans MT"/>
              </a:defRPr>
            </a:pPr>
            <a:r>
              <a:rPr sz="2417"/>
              <a:t>Syntax</a:t>
            </a:r>
            <a:r>
              <a:rPr sz="2417" spc="-100"/>
              <a:t> </a:t>
            </a:r>
            <a:r>
              <a:rPr sz="2417" spc="104"/>
              <a:t>:</a:t>
            </a:r>
          </a:p>
          <a:p>
            <a:pPr marR="6340751" indent="772022" algn="ctr">
              <a:lnSpc>
                <a:spcPts val="4250"/>
              </a:lnSpc>
              <a:spcBef>
                <a:spcPts val="333"/>
              </a:spcBef>
              <a:defRPr sz="2900" spc="65">
                <a:latin typeface="Gill Sans MT"/>
                <a:ea typeface="Gill Sans MT"/>
                <a:cs typeface="Gill Sans MT"/>
                <a:sym typeface="Gill Sans MT"/>
              </a:defRPr>
            </a:pPr>
            <a:r>
              <a:rPr sz="2417"/>
              <a:t>for </a:t>
            </a:r>
            <a:r>
              <a:rPr sz="2417" spc="87"/>
              <a:t>i </a:t>
            </a:r>
            <a:r>
              <a:rPr sz="2417" spc="112"/>
              <a:t>in</a:t>
            </a:r>
            <a:r>
              <a:rPr sz="2417" spc="-508"/>
              <a:t> </a:t>
            </a:r>
            <a:r>
              <a:rPr sz="2417" spc="158"/>
              <a:t>range/sequence:  </a:t>
            </a:r>
            <a:r>
              <a:rPr sz="2417" spc="133"/>
              <a:t>statement</a:t>
            </a:r>
            <a:r>
              <a:rPr sz="2417" spc="-112"/>
              <a:t> </a:t>
            </a:r>
            <a:r>
              <a:rPr sz="2417" spc="167"/>
              <a:t>1</a:t>
            </a:r>
          </a:p>
          <a:p>
            <a:pPr marR="5632754" algn="ctr">
              <a:spcBef>
                <a:spcPts val="1000"/>
              </a:spcBef>
              <a:defRPr sz="2900" spc="165">
                <a:latin typeface="Gill Sans MT"/>
                <a:ea typeface="Gill Sans MT"/>
                <a:cs typeface="Gill Sans MT"/>
                <a:sym typeface="Gill Sans MT"/>
              </a:defRPr>
            </a:pPr>
            <a:r>
              <a:rPr sz="2417"/>
              <a:t>statement</a:t>
            </a:r>
            <a:r>
              <a:rPr sz="2417" spc="-179"/>
              <a:t> </a:t>
            </a:r>
            <a:r>
              <a:rPr sz="2417" spc="167"/>
              <a:t>2</a:t>
            </a:r>
          </a:p>
          <a:p>
            <a:pPr marR="5637516" algn="ctr">
              <a:spcBef>
                <a:spcPts val="1417"/>
              </a:spcBef>
              <a:defRPr sz="2900" spc="160">
                <a:latin typeface="Gill Sans MT"/>
                <a:ea typeface="Gill Sans MT"/>
                <a:cs typeface="Gill Sans MT"/>
                <a:sym typeface="Gill Sans MT"/>
              </a:defRPr>
            </a:pPr>
            <a:r>
              <a:rPr sz="2417"/>
              <a:t>statement</a:t>
            </a:r>
            <a:r>
              <a:rPr sz="2417" spc="-158"/>
              <a:t> </a:t>
            </a:r>
            <a:r>
              <a:rPr sz="2417" spc="137"/>
              <a:t>n</a:t>
            </a:r>
          </a:p>
        </p:txBody>
      </p:sp>
    </p:spTree>
    <p:extLst>
      <p:ext uri="{BB962C8B-B14F-4D97-AF65-F5344CB8AC3E}">
        <p14:creationId xmlns:p14="http://schemas.microsoft.com/office/powerpoint/2010/main" val="70304699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4096" y="476518"/>
            <a:ext cx="10619704" cy="5700445"/>
          </a:xfrm>
        </p:spPr>
        <p:txBody>
          <a:bodyPr>
            <a:normAutofit fontScale="62500" lnSpcReduction="20000"/>
          </a:bodyPr>
          <a:lstStyle/>
          <a:p>
            <a:pPr marL="0" indent="0">
              <a:buNone/>
            </a:pPr>
            <a:r>
              <a:rPr lang="en-US" dirty="0"/>
              <a:t># Example 1: Iterating over a range of numbers</a:t>
            </a:r>
          </a:p>
          <a:p>
            <a:pPr marL="0" indent="0">
              <a:buNone/>
            </a:pPr>
            <a:r>
              <a:rPr lang="en-US" dirty="0"/>
              <a:t>for </a:t>
            </a:r>
            <a:r>
              <a:rPr lang="en-US" dirty="0" err="1"/>
              <a:t>i</a:t>
            </a:r>
            <a:r>
              <a:rPr lang="en-US" dirty="0"/>
              <a:t> in range(5):</a:t>
            </a:r>
          </a:p>
          <a:p>
            <a:pPr marL="0" indent="0">
              <a:buNone/>
            </a:pPr>
            <a:r>
              <a:rPr lang="en-US" dirty="0"/>
              <a:t>    print(</a:t>
            </a:r>
            <a:r>
              <a:rPr lang="en-US" dirty="0" err="1"/>
              <a:t>i</a:t>
            </a:r>
            <a:r>
              <a:rPr lang="en-US" dirty="0"/>
              <a:t>)</a:t>
            </a:r>
          </a:p>
          <a:p>
            <a:pPr marL="0" indent="0">
              <a:buNone/>
            </a:pPr>
            <a:r>
              <a:rPr lang="en-US" dirty="0"/>
              <a:t>Output:</a:t>
            </a:r>
          </a:p>
          <a:p>
            <a:pPr marL="0" indent="0">
              <a:buNone/>
            </a:pPr>
            <a:r>
              <a:rPr lang="en-US" dirty="0"/>
              <a:t>0</a:t>
            </a:r>
          </a:p>
          <a:p>
            <a:pPr marL="0" indent="0">
              <a:buNone/>
            </a:pPr>
            <a:r>
              <a:rPr lang="en-US" dirty="0"/>
              <a:t>1</a:t>
            </a:r>
          </a:p>
          <a:p>
            <a:pPr marL="0" indent="0">
              <a:buNone/>
            </a:pPr>
            <a:r>
              <a:rPr lang="en-US" dirty="0"/>
              <a:t>2</a:t>
            </a:r>
          </a:p>
          <a:p>
            <a:pPr marL="0" indent="0">
              <a:buNone/>
            </a:pPr>
            <a:r>
              <a:rPr lang="en-US" dirty="0"/>
              <a:t>3</a:t>
            </a:r>
          </a:p>
          <a:p>
            <a:pPr marL="0" indent="0">
              <a:buNone/>
            </a:pPr>
            <a:r>
              <a:rPr lang="en-US" dirty="0"/>
              <a:t>4</a:t>
            </a:r>
          </a:p>
          <a:p>
            <a:pPr marL="0" indent="0">
              <a:buNone/>
            </a:pPr>
            <a:r>
              <a:rPr lang="en-US" dirty="0"/>
              <a:t># Example 2: Iterating over elements of a list</a:t>
            </a:r>
          </a:p>
          <a:p>
            <a:pPr marL="0" indent="0">
              <a:buNone/>
            </a:pPr>
            <a:r>
              <a:rPr lang="en-US" dirty="0"/>
              <a:t>fruits = ["apple", "banana", "cherry"]</a:t>
            </a:r>
          </a:p>
          <a:p>
            <a:pPr marL="0" indent="0">
              <a:buNone/>
            </a:pPr>
            <a:r>
              <a:rPr lang="en-US" dirty="0"/>
              <a:t>for fruit in fruits:</a:t>
            </a:r>
          </a:p>
          <a:p>
            <a:pPr marL="0" indent="0">
              <a:buNone/>
            </a:pPr>
            <a:r>
              <a:rPr lang="en-US" dirty="0"/>
              <a:t>    print(fruit)</a:t>
            </a:r>
          </a:p>
          <a:p>
            <a:pPr marL="0" indent="0">
              <a:buNone/>
            </a:pPr>
            <a:r>
              <a:rPr lang="en-US" dirty="0"/>
              <a:t>Output:</a:t>
            </a:r>
          </a:p>
          <a:p>
            <a:pPr marL="0" indent="0">
              <a:buNone/>
            </a:pPr>
            <a:r>
              <a:rPr lang="en-US" dirty="0"/>
              <a:t>apple</a:t>
            </a:r>
          </a:p>
          <a:p>
            <a:pPr marL="0" indent="0">
              <a:buNone/>
            </a:pPr>
            <a:r>
              <a:rPr lang="en-US" dirty="0"/>
              <a:t>banana</a:t>
            </a:r>
          </a:p>
          <a:p>
            <a:pPr marL="0" indent="0">
              <a:buNone/>
            </a:pPr>
            <a:r>
              <a:rPr lang="en-US" dirty="0"/>
              <a:t>cherry</a:t>
            </a:r>
          </a:p>
          <a:p>
            <a:pPr marL="0" indent="0">
              <a:buNone/>
            </a:pPr>
            <a:endParaRPr lang="en-US" dirty="0"/>
          </a:p>
        </p:txBody>
      </p:sp>
    </p:spTree>
    <p:extLst>
      <p:ext uri="{BB962C8B-B14F-4D97-AF65-F5344CB8AC3E}">
        <p14:creationId xmlns:p14="http://schemas.microsoft.com/office/powerpoint/2010/main" val="283055390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4248" y="386366"/>
            <a:ext cx="10529552" cy="5790597"/>
          </a:xfrm>
        </p:spPr>
        <p:txBody>
          <a:bodyPr>
            <a:normAutofit fontScale="55000" lnSpcReduction="20000"/>
          </a:bodyPr>
          <a:lstStyle/>
          <a:p>
            <a:pPr marL="0" indent="0">
              <a:buNone/>
            </a:pPr>
            <a:r>
              <a:rPr lang="en-US" dirty="0"/>
              <a:t># Example 3: Iterating over characters of a string</a:t>
            </a:r>
          </a:p>
          <a:p>
            <a:pPr marL="0" indent="0">
              <a:buNone/>
            </a:pPr>
            <a:r>
              <a:rPr lang="en-US" dirty="0"/>
              <a:t>word = "Python"</a:t>
            </a:r>
          </a:p>
          <a:p>
            <a:pPr marL="0" indent="0">
              <a:buNone/>
            </a:pPr>
            <a:r>
              <a:rPr lang="en-US" dirty="0"/>
              <a:t>for char in word:</a:t>
            </a:r>
          </a:p>
          <a:p>
            <a:pPr marL="0" indent="0">
              <a:buNone/>
            </a:pPr>
            <a:r>
              <a:rPr lang="en-US" dirty="0"/>
              <a:t>    print(char)</a:t>
            </a:r>
          </a:p>
          <a:p>
            <a:pPr marL="0" indent="0">
              <a:buNone/>
            </a:pPr>
            <a:r>
              <a:rPr lang="en-US" dirty="0"/>
              <a:t>Output: </a:t>
            </a:r>
          </a:p>
          <a:p>
            <a:pPr marL="0" indent="0">
              <a:buNone/>
            </a:pPr>
            <a:r>
              <a:rPr lang="pt-BR" dirty="0"/>
              <a:t>P</a:t>
            </a:r>
          </a:p>
          <a:p>
            <a:pPr marL="0" indent="0">
              <a:buNone/>
            </a:pPr>
            <a:r>
              <a:rPr lang="pt-BR" dirty="0"/>
              <a:t>y</a:t>
            </a:r>
          </a:p>
          <a:p>
            <a:pPr marL="0" indent="0">
              <a:buNone/>
            </a:pPr>
            <a:r>
              <a:rPr lang="pt-BR" dirty="0"/>
              <a:t>t</a:t>
            </a:r>
          </a:p>
          <a:p>
            <a:pPr marL="0" indent="0">
              <a:buNone/>
            </a:pPr>
            <a:r>
              <a:rPr lang="pt-BR" dirty="0"/>
              <a:t>h</a:t>
            </a:r>
          </a:p>
          <a:p>
            <a:pPr marL="0" indent="0">
              <a:buNone/>
            </a:pPr>
            <a:r>
              <a:rPr lang="pt-BR" dirty="0"/>
              <a:t>o</a:t>
            </a:r>
          </a:p>
          <a:p>
            <a:pPr marL="0" indent="0">
              <a:buNone/>
            </a:pPr>
            <a:r>
              <a:rPr lang="pt-BR" dirty="0"/>
              <a:t>n</a:t>
            </a:r>
          </a:p>
          <a:p>
            <a:pPr marL="0" indent="0">
              <a:buNone/>
            </a:pPr>
            <a:r>
              <a:rPr lang="en-US" dirty="0"/>
              <a:t># Example 4: Iterating over key-value pairs of a dictionary</a:t>
            </a:r>
          </a:p>
          <a:p>
            <a:pPr marL="0" indent="0">
              <a:buNone/>
            </a:pPr>
            <a:r>
              <a:rPr lang="en-US" dirty="0"/>
              <a:t>person = {"name": "John", "age": 30, "city": "New York"}</a:t>
            </a:r>
          </a:p>
          <a:p>
            <a:pPr marL="0" indent="0">
              <a:buNone/>
            </a:pPr>
            <a:r>
              <a:rPr lang="en-US" dirty="0"/>
              <a:t>for key, value in </a:t>
            </a:r>
            <a:r>
              <a:rPr lang="en-US" dirty="0" err="1"/>
              <a:t>person.items</a:t>
            </a:r>
            <a:r>
              <a:rPr lang="en-US" dirty="0"/>
              <a:t>():</a:t>
            </a:r>
          </a:p>
          <a:p>
            <a:pPr marL="0" indent="0">
              <a:buNone/>
            </a:pPr>
            <a:r>
              <a:rPr lang="en-US" dirty="0"/>
              <a:t>    print(key, ":", value)</a:t>
            </a:r>
          </a:p>
          <a:p>
            <a:pPr marL="0" indent="0">
              <a:buNone/>
            </a:pPr>
            <a:r>
              <a:rPr lang="en-US" dirty="0"/>
              <a:t>Output:</a:t>
            </a:r>
          </a:p>
          <a:p>
            <a:pPr marL="0" indent="0">
              <a:buNone/>
            </a:pPr>
            <a:r>
              <a:rPr lang="en-US" dirty="0"/>
              <a:t>name : John</a:t>
            </a:r>
          </a:p>
          <a:p>
            <a:pPr marL="0" indent="0">
              <a:buNone/>
            </a:pPr>
            <a:r>
              <a:rPr lang="en-US" dirty="0"/>
              <a:t>age : 30</a:t>
            </a:r>
          </a:p>
          <a:p>
            <a:pPr marL="0" indent="0">
              <a:buNone/>
            </a:pPr>
            <a:r>
              <a:rPr lang="en-US" dirty="0"/>
              <a:t>city : New York</a:t>
            </a:r>
          </a:p>
          <a:p>
            <a:pPr marL="0" indent="0">
              <a:buNone/>
            </a:pPr>
            <a:endParaRPr lang="en-US" dirty="0"/>
          </a:p>
        </p:txBody>
      </p:sp>
    </p:spTree>
    <p:extLst>
      <p:ext uri="{BB962C8B-B14F-4D97-AF65-F5344CB8AC3E}">
        <p14:creationId xmlns:p14="http://schemas.microsoft.com/office/powerpoint/2010/main" val="55935921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4248" y="618186"/>
            <a:ext cx="10529552" cy="5558777"/>
          </a:xfrm>
        </p:spPr>
        <p:txBody>
          <a:bodyPr>
            <a:normAutofit/>
          </a:bodyPr>
          <a:lstStyle/>
          <a:p>
            <a:pPr marL="0" indent="0">
              <a:buNone/>
            </a:pPr>
            <a:r>
              <a:rPr lang="en-US" dirty="0"/>
              <a:t># Example 5: Iterating over a sequence with a custom step size</a:t>
            </a:r>
          </a:p>
          <a:p>
            <a:pPr marL="0" indent="0">
              <a:buNone/>
            </a:pPr>
            <a:r>
              <a:rPr lang="en-US" dirty="0"/>
              <a:t>for </a:t>
            </a:r>
            <a:r>
              <a:rPr lang="en-US" dirty="0" err="1"/>
              <a:t>i</a:t>
            </a:r>
            <a:r>
              <a:rPr lang="en-US" dirty="0"/>
              <a:t> in range(0, 10, 2):</a:t>
            </a:r>
          </a:p>
          <a:p>
            <a:pPr marL="0" indent="0">
              <a:buNone/>
            </a:pPr>
            <a:r>
              <a:rPr lang="en-US" dirty="0"/>
              <a:t>    print(</a:t>
            </a:r>
            <a:r>
              <a:rPr lang="en-US" dirty="0" err="1"/>
              <a:t>i</a:t>
            </a:r>
            <a:r>
              <a:rPr lang="en-US" dirty="0"/>
              <a:t>)</a:t>
            </a:r>
          </a:p>
          <a:p>
            <a:pPr marL="0" indent="0">
              <a:buNone/>
            </a:pPr>
            <a:r>
              <a:rPr lang="en-US" dirty="0"/>
              <a:t>Output:</a:t>
            </a:r>
          </a:p>
          <a:p>
            <a:pPr marL="0" indent="0">
              <a:buNone/>
            </a:pPr>
            <a:r>
              <a:rPr lang="en-US" dirty="0"/>
              <a:t>0</a:t>
            </a:r>
          </a:p>
          <a:p>
            <a:pPr marL="0" indent="0">
              <a:buNone/>
            </a:pPr>
            <a:r>
              <a:rPr lang="en-US" dirty="0"/>
              <a:t>2</a:t>
            </a:r>
          </a:p>
          <a:p>
            <a:pPr marL="0" indent="0">
              <a:buNone/>
            </a:pPr>
            <a:r>
              <a:rPr lang="en-US" dirty="0"/>
              <a:t>4</a:t>
            </a:r>
          </a:p>
          <a:p>
            <a:pPr marL="0" indent="0">
              <a:buNone/>
            </a:pPr>
            <a:r>
              <a:rPr lang="en-US" dirty="0"/>
              <a:t>6</a:t>
            </a:r>
          </a:p>
          <a:p>
            <a:pPr marL="0" indent="0">
              <a:buNone/>
            </a:pPr>
            <a:r>
              <a:rPr lang="en-US" dirty="0"/>
              <a:t>8</a:t>
            </a:r>
          </a:p>
          <a:p>
            <a:pPr marL="0" indent="0">
              <a:buNone/>
            </a:pPr>
            <a:endParaRPr lang="en-US" dirty="0"/>
          </a:p>
        </p:txBody>
      </p:sp>
    </p:spTree>
    <p:extLst>
      <p:ext uri="{BB962C8B-B14F-4D97-AF65-F5344CB8AC3E}">
        <p14:creationId xmlns:p14="http://schemas.microsoft.com/office/powerpoint/2010/main" val="73224128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9549" y="631065"/>
            <a:ext cx="10774251" cy="5545898"/>
          </a:xfrm>
        </p:spPr>
        <p:txBody>
          <a:bodyPr/>
          <a:lstStyle/>
          <a:p>
            <a:pPr marL="0" indent="0">
              <a:buNone/>
            </a:pPr>
            <a:r>
              <a:rPr lang="en-US" dirty="0"/>
              <a:t># Example 1: Summing the elements of a list</a:t>
            </a:r>
          </a:p>
          <a:p>
            <a:pPr marL="0" indent="0">
              <a:buNone/>
            </a:pPr>
            <a:r>
              <a:rPr lang="en-US" dirty="0"/>
              <a:t>numbers = [1, 2, 3, 4, 5]</a:t>
            </a:r>
          </a:p>
          <a:p>
            <a:pPr marL="0" indent="0">
              <a:buNone/>
            </a:pPr>
            <a:r>
              <a:rPr lang="en-US" dirty="0"/>
              <a:t>total = 0</a:t>
            </a:r>
          </a:p>
          <a:p>
            <a:pPr marL="0" indent="0">
              <a:buNone/>
            </a:pPr>
            <a:r>
              <a:rPr lang="en-US" dirty="0"/>
              <a:t>for </a:t>
            </a:r>
            <a:r>
              <a:rPr lang="en-US" dirty="0" err="1"/>
              <a:t>num</a:t>
            </a:r>
            <a:r>
              <a:rPr lang="en-US" dirty="0"/>
              <a:t> in numbers:</a:t>
            </a:r>
          </a:p>
          <a:p>
            <a:pPr marL="0" indent="0">
              <a:buNone/>
            </a:pPr>
            <a:r>
              <a:rPr lang="en-US" dirty="0"/>
              <a:t>    total += </a:t>
            </a:r>
            <a:r>
              <a:rPr lang="en-US" dirty="0" err="1"/>
              <a:t>num</a:t>
            </a:r>
            <a:endParaRPr lang="en-US" dirty="0"/>
          </a:p>
          <a:p>
            <a:pPr marL="0" indent="0">
              <a:buNone/>
            </a:pPr>
            <a:r>
              <a:rPr lang="en-US" dirty="0"/>
              <a:t>print("Sum of numbers:", total)</a:t>
            </a:r>
          </a:p>
          <a:p>
            <a:pPr marL="0" indent="0">
              <a:buNone/>
            </a:pPr>
            <a:r>
              <a:rPr lang="en-US" dirty="0"/>
              <a:t>Output:</a:t>
            </a:r>
          </a:p>
          <a:p>
            <a:pPr marL="0" indent="0">
              <a:buNone/>
            </a:pPr>
            <a:r>
              <a:rPr lang="en-US" dirty="0"/>
              <a:t>Sum of numbers: 15</a:t>
            </a:r>
          </a:p>
          <a:p>
            <a:pPr marL="0" indent="0">
              <a:buNone/>
            </a:pPr>
            <a:endParaRPr lang="en-US" dirty="0"/>
          </a:p>
        </p:txBody>
      </p:sp>
    </p:spTree>
    <p:extLst>
      <p:ext uri="{BB962C8B-B14F-4D97-AF65-F5344CB8AC3E}">
        <p14:creationId xmlns:p14="http://schemas.microsoft.com/office/powerpoint/2010/main" val="56700497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2580" y="489397"/>
            <a:ext cx="10671220" cy="5687566"/>
          </a:xfrm>
        </p:spPr>
        <p:txBody>
          <a:bodyPr/>
          <a:lstStyle/>
          <a:p>
            <a:pPr marL="0" indent="0">
              <a:buNone/>
            </a:pPr>
            <a:r>
              <a:rPr lang="en-US" dirty="0"/>
              <a:t># Example 2: Counting the number of vowels in a string</a:t>
            </a:r>
          </a:p>
          <a:p>
            <a:pPr marL="0" indent="0">
              <a:buNone/>
            </a:pPr>
            <a:r>
              <a:rPr lang="en-US" dirty="0"/>
              <a:t>text = "Hello, World!"</a:t>
            </a:r>
          </a:p>
          <a:p>
            <a:pPr marL="0" indent="0">
              <a:buNone/>
            </a:pPr>
            <a:r>
              <a:rPr lang="en-US" dirty="0" err="1"/>
              <a:t>vowel_count</a:t>
            </a:r>
            <a:r>
              <a:rPr lang="en-US" dirty="0"/>
              <a:t> = 0</a:t>
            </a:r>
          </a:p>
          <a:p>
            <a:pPr marL="0" indent="0">
              <a:buNone/>
            </a:pPr>
            <a:r>
              <a:rPr lang="en-US" dirty="0"/>
              <a:t>for char in text:</a:t>
            </a:r>
          </a:p>
          <a:p>
            <a:pPr marL="0" indent="0">
              <a:buNone/>
            </a:pPr>
            <a:r>
              <a:rPr lang="en-US" dirty="0"/>
              <a:t>    if </a:t>
            </a:r>
            <a:r>
              <a:rPr lang="en-US" dirty="0" err="1"/>
              <a:t>char.lower</a:t>
            </a:r>
            <a:r>
              <a:rPr lang="en-US" dirty="0"/>
              <a:t>() in '</a:t>
            </a:r>
            <a:r>
              <a:rPr lang="en-US" dirty="0" err="1"/>
              <a:t>aeiou</a:t>
            </a:r>
            <a:r>
              <a:rPr lang="en-US" dirty="0"/>
              <a:t>':</a:t>
            </a:r>
          </a:p>
          <a:p>
            <a:pPr marL="0" indent="0">
              <a:buNone/>
            </a:pPr>
            <a:r>
              <a:rPr lang="en-US" dirty="0"/>
              <a:t>        </a:t>
            </a:r>
            <a:r>
              <a:rPr lang="en-US" dirty="0" err="1"/>
              <a:t>vowel_count</a:t>
            </a:r>
            <a:r>
              <a:rPr lang="en-US" dirty="0"/>
              <a:t> += 1</a:t>
            </a:r>
          </a:p>
          <a:p>
            <a:pPr marL="0" indent="0">
              <a:buNone/>
            </a:pPr>
            <a:r>
              <a:rPr lang="en-US" dirty="0"/>
              <a:t>print("Number of vowels:", </a:t>
            </a:r>
            <a:r>
              <a:rPr lang="en-US" dirty="0" err="1"/>
              <a:t>vowel_count</a:t>
            </a:r>
            <a:r>
              <a:rPr lang="en-US" dirty="0"/>
              <a:t>)</a:t>
            </a:r>
          </a:p>
          <a:p>
            <a:pPr marL="0" indent="0">
              <a:buNone/>
            </a:pPr>
            <a:r>
              <a:rPr lang="en-US" dirty="0"/>
              <a:t>Output:</a:t>
            </a:r>
          </a:p>
          <a:p>
            <a:pPr marL="0" indent="0">
              <a:buNone/>
            </a:pPr>
            <a:r>
              <a:rPr lang="en-US" dirty="0"/>
              <a:t>Number of vowels: 3</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19606793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1217" y="502276"/>
            <a:ext cx="10632583" cy="5674687"/>
          </a:xfrm>
        </p:spPr>
        <p:txBody>
          <a:bodyPr>
            <a:normAutofit fontScale="62500" lnSpcReduction="20000"/>
          </a:bodyPr>
          <a:lstStyle/>
          <a:p>
            <a:pPr marL="0" indent="0">
              <a:buNone/>
            </a:pPr>
            <a:r>
              <a:rPr lang="en-US" dirty="0"/>
              <a:t># Example 3: Printing a multiplication table</a:t>
            </a:r>
          </a:p>
          <a:p>
            <a:pPr marL="0" indent="0">
              <a:buNone/>
            </a:pPr>
            <a:r>
              <a:rPr lang="en-US" dirty="0" err="1"/>
              <a:t>num</a:t>
            </a:r>
            <a:r>
              <a:rPr lang="en-US" dirty="0"/>
              <a:t> = 5</a:t>
            </a:r>
          </a:p>
          <a:p>
            <a:pPr marL="0" indent="0">
              <a:buNone/>
            </a:pPr>
            <a:r>
              <a:rPr lang="en-US" dirty="0"/>
              <a:t>print("Multiplication table of", </a:t>
            </a:r>
            <a:r>
              <a:rPr lang="en-US" dirty="0" err="1"/>
              <a:t>num</a:t>
            </a:r>
            <a:r>
              <a:rPr lang="en-US" dirty="0"/>
              <a:t>)</a:t>
            </a:r>
          </a:p>
          <a:p>
            <a:pPr marL="0" indent="0">
              <a:buNone/>
            </a:pPr>
            <a:r>
              <a:rPr lang="en-US" dirty="0"/>
              <a:t>for </a:t>
            </a:r>
            <a:r>
              <a:rPr lang="en-US" dirty="0" err="1"/>
              <a:t>i</a:t>
            </a:r>
            <a:r>
              <a:rPr lang="en-US" dirty="0"/>
              <a:t> in range(1, 11):</a:t>
            </a:r>
          </a:p>
          <a:p>
            <a:pPr marL="0" indent="0">
              <a:buNone/>
            </a:pPr>
            <a:r>
              <a:rPr lang="en-US" dirty="0"/>
              <a:t>    print(</a:t>
            </a:r>
            <a:r>
              <a:rPr lang="en-US" dirty="0" err="1"/>
              <a:t>num</a:t>
            </a:r>
            <a:r>
              <a:rPr lang="en-US" dirty="0"/>
              <a:t>, "x", </a:t>
            </a:r>
            <a:r>
              <a:rPr lang="en-US" dirty="0" err="1"/>
              <a:t>i</a:t>
            </a:r>
            <a:r>
              <a:rPr lang="en-US" dirty="0"/>
              <a:t>, "=", </a:t>
            </a:r>
            <a:r>
              <a:rPr lang="en-US" dirty="0" err="1"/>
              <a:t>num</a:t>
            </a:r>
            <a:r>
              <a:rPr lang="en-US" dirty="0"/>
              <a:t> * </a:t>
            </a:r>
            <a:r>
              <a:rPr lang="en-US" dirty="0" err="1"/>
              <a:t>i</a:t>
            </a:r>
            <a:r>
              <a:rPr lang="en-US" dirty="0"/>
              <a:t>)</a:t>
            </a:r>
          </a:p>
          <a:p>
            <a:pPr marL="0" indent="0">
              <a:buNone/>
            </a:pPr>
            <a:r>
              <a:rPr lang="en-US" dirty="0"/>
              <a:t>Output:</a:t>
            </a:r>
          </a:p>
          <a:p>
            <a:pPr marL="0" indent="0">
              <a:buNone/>
            </a:pPr>
            <a:r>
              <a:rPr lang="en-US" dirty="0"/>
              <a:t>Multiplication table of 5</a:t>
            </a:r>
          </a:p>
          <a:p>
            <a:pPr marL="0" indent="0">
              <a:buNone/>
            </a:pPr>
            <a:r>
              <a:rPr lang="en-US" dirty="0"/>
              <a:t>5 x 1 = 5</a:t>
            </a:r>
          </a:p>
          <a:p>
            <a:pPr marL="0" indent="0">
              <a:buNone/>
            </a:pPr>
            <a:r>
              <a:rPr lang="en-US" dirty="0"/>
              <a:t>5 x 2 = 10</a:t>
            </a:r>
          </a:p>
          <a:p>
            <a:pPr marL="0" indent="0">
              <a:buNone/>
            </a:pPr>
            <a:r>
              <a:rPr lang="en-US" dirty="0"/>
              <a:t>5 x 3 = 15</a:t>
            </a:r>
          </a:p>
          <a:p>
            <a:pPr marL="0" indent="0">
              <a:buNone/>
            </a:pPr>
            <a:r>
              <a:rPr lang="en-US" dirty="0"/>
              <a:t>5 x 4 = 20</a:t>
            </a:r>
          </a:p>
          <a:p>
            <a:pPr marL="0" indent="0">
              <a:buNone/>
            </a:pPr>
            <a:r>
              <a:rPr lang="en-US" dirty="0"/>
              <a:t>5 x 5 = 25</a:t>
            </a:r>
          </a:p>
          <a:p>
            <a:pPr marL="0" indent="0">
              <a:buNone/>
            </a:pPr>
            <a:r>
              <a:rPr lang="en-US" dirty="0"/>
              <a:t>5 x 6 = 30</a:t>
            </a:r>
          </a:p>
          <a:p>
            <a:pPr marL="0" indent="0">
              <a:buNone/>
            </a:pPr>
            <a:r>
              <a:rPr lang="en-US" dirty="0"/>
              <a:t>5 x 7 = 35</a:t>
            </a:r>
          </a:p>
          <a:p>
            <a:pPr marL="0" indent="0">
              <a:buNone/>
            </a:pPr>
            <a:r>
              <a:rPr lang="en-US" dirty="0"/>
              <a:t>5 x 8 = 40</a:t>
            </a:r>
          </a:p>
          <a:p>
            <a:pPr marL="0" indent="0">
              <a:buNone/>
            </a:pPr>
            <a:r>
              <a:rPr lang="en-US" dirty="0"/>
              <a:t>5 x 9 = 45</a:t>
            </a:r>
          </a:p>
          <a:p>
            <a:pPr marL="0" indent="0">
              <a:buNone/>
            </a:pPr>
            <a:r>
              <a:rPr lang="en-US" dirty="0"/>
              <a:t>5 x 10 = 50</a:t>
            </a:r>
          </a:p>
          <a:p>
            <a:pPr marL="0" indent="0">
              <a:buNone/>
            </a:pPr>
            <a:endParaRPr lang="en-US" dirty="0"/>
          </a:p>
        </p:txBody>
      </p:sp>
    </p:spTree>
    <p:extLst>
      <p:ext uri="{BB962C8B-B14F-4D97-AF65-F5344CB8AC3E}">
        <p14:creationId xmlns:p14="http://schemas.microsoft.com/office/powerpoint/2010/main" val="196325078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8642" y="643944"/>
            <a:ext cx="10465158" cy="5533019"/>
          </a:xfrm>
        </p:spPr>
        <p:txBody>
          <a:bodyPr>
            <a:normAutofit/>
          </a:bodyPr>
          <a:lstStyle/>
          <a:p>
            <a:pPr marL="0" indent="0">
              <a:buNone/>
            </a:pPr>
            <a:r>
              <a:rPr lang="en-US" dirty="0"/>
              <a:t># Example 4: Finding the maximum element in a list</a:t>
            </a:r>
          </a:p>
          <a:p>
            <a:pPr marL="0" indent="0">
              <a:buNone/>
            </a:pPr>
            <a:r>
              <a:rPr lang="en-US" dirty="0"/>
              <a:t>numbers = [10, 5, 20, 15, 25]</a:t>
            </a:r>
          </a:p>
          <a:p>
            <a:pPr marL="0" indent="0">
              <a:buNone/>
            </a:pPr>
            <a:r>
              <a:rPr lang="en-US" dirty="0" err="1"/>
              <a:t>max_num</a:t>
            </a:r>
            <a:r>
              <a:rPr lang="en-US" dirty="0"/>
              <a:t> = numbers[0]</a:t>
            </a:r>
          </a:p>
          <a:p>
            <a:pPr marL="0" indent="0">
              <a:buNone/>
            </a:pPr>
            <a:r>
              <a:rPr lang="en-US" dirty="0"/>
              <a:t>for </a:t>
            </a:r>
            <a:r>
              <a:rPr lang="en-US" dirty="0" err="1"/>
              <a:t>num</a:t>
            </a:r>
            <a:r>
              <a:rPr lang="en-US" dirty="0"/>
              <a:t> in numbers:</a:t>
            </a:r>
          </a:p>
          <a:p>
            <a:pPr marL="0" indent="0">
              <a:buNone/>
            </a:pPr>
            <a:r>
              <a:rPr lang="en-US" dirty="0"/>
              <a:t>    if </a:t>
            </a:r>
            <a:r>
              <a:rPr lang="en-US" dirty="0" err="1"/>
              <a:t>num</a:t>
            </a:r>
            <a:r>
              <a:rPr lang="en-US" dirty="0"/>
              <a:t> &gt; </a:t>
            </a:r>
            <a:r>
              <a:rPr lang="en-US" dirty="0" err="1"/>
              <a:t>max_num</a:t>
            </a:r>
            <a:r>
              <a:rPr lang="en-US" dirty="0"/>
              <a:t>:</a:t>
            </a:r>
          </a:p>
          <a:p>
            <a:pPr marL="0" indent="0">
              <a:buNone/>
            </a:pPr>
            <a:r>
              <a:rPr lang="en-US" dirty="0"/>
              <a:t>        </a:t>
            </a:r>
            <a:r>
              <a:rPr lang="en-US" dirty="0" err="1"/>
              <a:t>max_num</a:t>
            </a:r>
            <a:r>
              <a:rPr lang="en-US" dirty="0"/>
              <a:t> = </a:t>
            </a:r>
            <a:r>
              <a:rPr lang="en-US" dirty="0" err="1"/>
              <a:t>num</a:t>
            </a:r>
            <a:endParaRPr lang="en-US" dirty="0"/>
          </a:p>
          <a:p>
            <a:pPr marL="0" indent="0">
              <a:buNone/>
            </a:pPr>
            <a:r>
              <a:rPr lang="en-US" dirty="0"/>
              <a:t>print("Maximum number:", </a:t>
            </a:r>
            <a:r>
              <a:rPr lang="en-US" dirty="0" err="1"/>
              <a:t>max_num</a:t>
            </a:r>
            <a:r>
              <a:rPr lang="en-US" dirty="0"/>
              <a:t>)</a:t>
            </a:r>
          </a:p>
          <a:p>
            <a:pPr marL="0" indent="0">
              <a:buNone/>
            </a:pPr>
            <a:r>
              <a:rPr lang="en-US" dirty="0"/>
              <a:t>Output:</a:t>
            </a:r>
          </a:p>
          <a:p>
            <a:pPr marL="0" indent="0">
              <a:buNone/>
            </a:pPr>
            <a:r>
              <a:rPr lang="en-US" dirty="0"/>
              <a:t>Maximum number: 25</a:t>
            </a:r>
          </a:p>
          <a:p>
            <a:pPr marL="0" indent="0">
              <a:buNone/>
            </a:pPr>
            <a:endParaRPr lang="en-US" dirty="0"/>
          </a:p>
        </p:txBody>
      </p:sp>
    </p:spTree>
    <p:extLst>
      <p:ext uri="{BB962C8B-B14F-4D97-AF65-F5344CB8AC3E}">
        <p14:creationId xmlns:p14="http://schemas.microsoft.com/office/powerpoint/2010/main" val="26271623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1217" y="489397"/>
            <a:ext cx="10632583" cy="5687566"/>
          </a:xfrm>
        </p:spPr>
        <p:txBody>
          <a:bodyPr>
            <a:normAutofit fontScale="85000" lnSpcReduction="20000"/>
          </a:bodyPr>
          <a:lstStyle/>
          <a:p>
            <a:pPr marL="0" indent="0">
              <a:buNone/>
            </a:pPr>
            <a:r>
              <a:rPr lang="en-US" dirty="0"/>
              <a:t># Program to calculate the factorial of a number without using a function</a:t>
            </a:r>
          </a:p>
          <a:p>
            <a:pPr marL="0" indent="0">
              <a:buNone/>
            </a:pPr>
            <a:endParaRPr lang="en-US" dirty="0"/>
          </a:p>
          <a:p>
            <a:pPr marL="0" indent="0">
              <a:buNone/>
            </a:pPr>
            <a:r>
              <a:rPr lang="en-US" dirty="0"/>
              <a:t># Input a number</a:t>
            </a:r>
          </a:p>
          <a:p>
            <a:pPr marL="0" indent="0">
              <a:buNone/>
            </a:pPr>
            <a:r>
              <a:rPr lang="en-US" dirty="0"/>
              <a:t>number = </a:t>
            </a:r>
            <a:r>
              <a:rPr lang="en-US" dirty="0" err="1"/>
              <a:t>int</a:t>
            </a:r>
            <a:r>
              <a:rPr lang="en-US" dirty="0"/>
              <a:t>(input("Enter a number to calculate its factorial: "))</a:t>
            </a:r>
          </a:p>
          <a:p>
            <a:pPr marL="0" indent="0">
              <a:buNone/>
            </a:pPr>
            <a:endParaRPr lang="en-US" dirty="0"/>
          </a:p>
          <a:p>
            <a:pPr marL="0" indent="0">
              <a:buNone/>
            </a:pPr>
            <a:r>
              <a:rPr lang="en-US" dirty="0"/>
              <a:t># Initialize the result variable to store the factorial</a:t>
            </a:r>
          </a:p>
          <a:p>
            <a:pPr marL="0" indent="0">
              <a:buNone/>
            </a:pPr>
            <a:r>
              <a:rPr lang="en-US" dirty="0"/>
              <a:t>factorial = 1</a:t>
            </a:r>
          </a:p>
          <a:p>
            <a:pPr marL="0" indent="0">
              <a:buNone/>
            </a:pPr>
            <a:endParaRPr lang="en-US" dirty="0"/>
          </a:p>
          <a:p>
            <a:pPr marL="0" indent="0">
              <a:buNone/>
            </a:pPr>
            <a:r>
              <a:rPr lang="en-US" dirty="0"/>
              <a:t># Calculate factorial using a for loop</a:t>
            </a:r>
          </a:p>
          <a:p>
            <a:pPr marL="0" indent="0">
              <a:buNone/>
            </a:pPr>
            <a:r>
              <a:rPr lang="en-US" dirty="0"/>
              <a:t>for </a:t>
            </a:r>
            <a:r>
              <a:rPr lang="en-US" dirty="0" err="1"/>
              <a:t>i</a:t>
            </a:r>
            <a:r>
              <a:rPr lang="en-US" dirty="0"/>
              <a:t> in range(1, number + 1):</a:t>
            </a:r>
          </a:p>
          <a:p>
            <a:pPr marL="0" indent="0">
              <a:buNone/>
            </a:pPr>
            <a:r>
              <a:rPr lang="en-US" dirty="0"/>
              <a:t>    factorial *= </a:t>
            </a:r>
            <a:r>
              <a:rPr lang="en-US" dirty="0" err="1"/>
              <a:t>i</a:t>
            </a:r>
            <a:endParaRPr lang="en-US" dirty="0"/>
          </a:p>
          <a:p>
            <a:pPr marL="0" indent="0">
              <a:buNone/>
            </a:pPr>
            <a:endParaRPr lang="en-US" dirty="0"/>
          </a:p>
          <a:p>
            <a:pPr marL="0" indent="0">
              <a:buNone/>
            </a:pPr>
            <a:r>
              <a:rPr lang="en-US" dirty="0"/>
              <a:t># Print the factorial</a:t>
            </a:r>
          </a:p>
          <a:p>
            <a:pPr marL="0" indent="0">
              <a:buNone/>
            </a:pPr>
            <a:r>
              <a:rPr lang="en-US" dirty="0"/>
              <a:t>print("The factorial of", number, "is:", factorial)</a:t>
            </a:r>
          </a:p>
          <a:p>
            <a:pPr marL="0" indent="0">
              <a:buNone/>
            </a:pPr>
            <a:endParaRPr lang="en-US" dirty="0"/>
          </a:p>
        </p:txBody>
      </p:sp>
    </p:spTree>
    <p:extLst>
      <p:ext uri="{BB962C8B-B14F-4D97-AF65-F5344CB8AC3E}">
        <p14:creationId xmlns:p14="http://schemas.microsoft.com/office/powerpoint/2010/main" val="309468840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160" name="object 3"/>
          <p:cNvSpPr txBox="1">
            <a:spLocks noGrp="1"/>
          </p:cNvSpPr>
          <p:nvPr>
            <p:ph type="title"/>
          </p:nvPr>
        </p:nvSpPr>
        <p:spPr>
          <a:prstGeom prst="rect">
            <a:avLst/>
          </a:prstGeom>
        </p:spPr>
        <p:txBody>
          <a:bodyPr>
            <a:normAutofit/>
          </a:bodyPr>
          <a:lstStyle/>
          <a:p>
            <a:pPr indent="10265" defTabSz="739110">
              <a:defRPr sz="3298" spc="-97"/>
            </a:pPr>
            <a:r>
              <a:t>FOR</a:t>
            </a:r>
            <a:r>
              <a:rPr spc="-242"/>
              <a:t> </a:t>
            </a:r>
            <a:r>
              <a:rPr spc="-162"/>
              <a:t>LOOP</a:t>
            </a:r>
          </a:p>
        </p:txBody>
      </p:sp>
      <p:sp>
        <p:nvSpPr>
          <p:cNvPr id="161" name="object 4"/>
          <p:cNvSpPr txBox="1"/>
          <p:nvPr/>
        </p:nvSpPr>
        <p:spPr>
          <a:xfrm>
            <a:off x="776308" y="1361970"/>
            <a:ext cx="7351714" cy="39114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83"/>
              </a:spcBef>
              <a:defRPr sz="2900" u="sng" spc="150">
                <a:uFill>
                  <a:solidFill>
                    <a:srgbClr val="000000"/>
                  </a:solidFill>
                </a:uFill>
                <a:latin typeface="Gill Sans MT"/>
                <a:ea typeface="Gill Sans MT"/>
                <a:cs typeface="Gill Sans MT"/>
                <a:sym typeface="Gill Sans MT"/>
              </a:defRPr>
            </a:pPr>
            <a:r>
              <a:rPr sz="2417"/>
              <a:t>Program</a:t>
            </a:r>
            <a:r>
              <a:rPr sz="2417" spc="-167"/>
              <a:t> </a:t>
            </a:r>
            <a:r>
              <a:rPr sz="2417" spc="104"/>
              <a:t>:</a:t>
            </a:r>
          </a:p>
          <a:p>
            <a:pPr marR="4233" indent="772022">
              <a:lnSpc>
                <a:spcPct val="125400"/>
              </a:lnSpc>
              <a:spcBef>
                <a:spcPts val="1167"/>
              </a:spcBef>
              <a:tabLst>
                <a:tab pos="6751897" algn="l"/>
              </a:tabLst>
              <a:defRPr sz="2400" spc="135">
                <a:latin typeface="Gill Sans MT"/>
                <a:ea typeface="Gill Sans MT"/>
                <a:cs typeface="Gill Sans MT"/>
                <a:sym typeface="Gill Sans MT"/>
              </a:defRPr>
            </a:pPr>
            <a:r>
              <a:rPr sz="2000"/>
              <a:t>n</a:t>
            </a:r>
            <a:r>
              <a:rPr sz="2000" spc="-58"/>
              <a:t> </a:t>
            </a:r>
            <a:r>
              <a:rPr sz="2000" spc="8"/>
              <a:t>,</a:t>
            </a:r>
            <a:r>
              <a:rPr sz="2000" spc="-54"/>
              <a:t> </a:t>
            </a:r>
            <a:r>
              <a:rPr sz="2000" spc="204"/>
              <a:t>f</a:t>
            </a:r>
            <a:r>
              <a:rPr sz="2000" spc="-50"/>
              <a:t> </a:t>
            </a:r>
            <a:r>
              <a:rPr sz="2000" spc="-46"/>
              <a:t>=</a:t>
            </a:r>
            <a:r>
              <a:rPr sz="2000" spc="-42"/>
              <a:t> </a:t>
            </a:r>
            <a:r>
              <a:rPr sz="2000" spc="54"/>
              <a:t>int(input("Enter</a:t>
            </a:r>
            <a:r>
              <a:rPr sz="2000" spc="-50"/>
              <a:t> </a:t>
            </a:r>
            <a:r>
              <a:rPr sz="2000" spc="50"/>
              <a:t>Number</a:t>
            </a:r>
            <a:r>
              <a:rPr sz="2000" spc="-54"/>
              <a:t> </a:t>
            </a:r>
            <a:r>
              <a:rPr sz="2000" spc="12"/>
              <a:t>to</a:t>
            </a:r>
            <a:r>
              <a:rPr sz="2000" spc="-50"/>
              <a:t> </a:t>
            </a:r>
            <a:r>
              <a:rPr sz="2000" spc="121"/>
              <a:t>find</a:t>
            </a:r>
            <a:r>
              <a:rPr sz="2000" spc="-54"/>
              <a:t> </a:t>
            </a:r>
            <a:r>
              <a:rPr sz="2000" spc="133"/>
              <a:t>PRIME</a:t>
            </a:r>
            <a:r>
              <a:rPr sz="2000" spc="-62"/>
              <a:t> </a:t>
            </a:r>
            <a:r>
              <a:rPr sz="2000" spc="-29"/>
              <a:t>or</a:t>
            </a:r>
            <a:r>
              <a:rPr sz="2000" spc="-50"/>
              <a:t> </a:t>
            </a:r>
            <a:r>
              <a:rPr sz="2000" spc="42"/>
              <a:t>not</a:t>
            </a:r>
            <a:r>
              <a:rPr sz="2000" spc="-50"/>
              <a:t> </a:t>
            </a:r>
            <a:r>
              <a:rPr sz="2000" spc="87"/>
              <a:t>:	</a:t>
            </a:r>
            <a:r>
              <a:rPr sz="2000" spc="8"/>
              <a:t>")) ,</a:t>
            </a:r>
            <a:r>
              <a:rPr sz="2000" spc="-212"/>
              <a:t> </a:t>
            </a:r>
            <a:r>
              <a:rPr sz="2000" spc="133"/>
              <a:t>0  </a:t>
            </a:r>
            <a:r>
              <a:rPr sz="2000" spc="46"/>
              <a:t>for </a:t>
            </a:r>
            <a:r>
              <a:rPr sz="2000" spc="71"/>
              <a:t>i </a:t>
            </a:r>
            <a:r>
              <a:rPr sz="2000" spc="92"/>
              <a:t>in</a:t>
            </a:r>
            <a:r>
              <a:rPr sz="2000" spc="-287"/>
              <a:t> </a:t>
            </a:r>
            <a:r>
              <a:rPr sz="2000" spc="83"/>
              <a:t>range(1,n+1):</a:t>
            </a:r>
          </a:p>
          <a:p>
            <a:pPr marR="4588220" algn="r">
              <a:spcBef>
                <a:spcPts val="500"/>
              </a:spcBef>
              <a:defRPr sz="2400" spc="125">
                <a:latin typeface="Gill Sans MT"/>
                <a:ea typeface="Gill Sans MT"/>
                <a:cs typeface="Gill Sans MT"/>
                <a:sym typeface="Gill Sans MT"/>
              </a:defRPr>
            </a:pPr>
            <a:r>
              <a:rPr sz="2000"/>
              <a:t>if(</a:t>
            </a:r>
            <a:r>
              <a:rPr sz="2000" spc="95"/>
              <a:t>n</a:t>
            </a:r>
            <a:r>
              <a:rPr sz="2000" spc="125"/>
              <a:t>%</a:t>
            </a:r>
            <a:r>
              <a:rPr sz="2000" spc="67"/>
              <a:t>i</a:t>
            </a:r>
            <a:r>
              <a:rPr sz="2000" spc="-46"/>
              <a:t>=</a:t>
            </a:r>
            <a:r>
              <a:rPr sz="2000" spc="-42"/>
              <a:t>=</a:t>
            </a:r>
            <a:r>
              <a:rPr sz="2000" spc="87"/>
              <a:t>0):</a:t>
            </a:r>
          </a:p>
          <a:p>
            <a:pPr marR="4528956" algn="r">
              <a:spcBef>
                <a:spcPts val="500"/>
              </a:spcBef>
              <a:defRPr sz="2400" spc="30">
                <a:latin typeface="Gill Sans MT"/>
                <a:ea typeface="Gill Sans MT"/>
                <a:cs typeface="Gill Sans MT"/>
                <a:sym typeface="Gill Sans MT"/>
              </a:defRPr>
            </a:pPr>
            <a:r>
              <a:rPr sz="2000"/>
              <a:t>f+</a:t>
            </a:r>
            <a:r>
              <a:rPr sz="2000" spc="46"/>
              <a:t>=</a:t>
            </a:r>
            <a:r>
              <a:rPr sz="2000" spc="133"/>
              <a:t>1</a:t>
            </a:r>
          </a:p>
          <a:p>
            <a:pPr>
              <a:defRPr sz="3500">
                <a:latin typeface="Gill Sans MT"/>
                <a:ea typeface="Gill Sans MT"/>
                <a:cs typeface="Gill Sans MT"/>
                <a:sym typeface="Gill Sans MT"/>
              </a:defRPr>
            </a:pPr>
            <a:endParaRPr sz="2917" spc="133"/>
          </a:p>
          <a:p>
            <a:pPr indent="772022">
              <a:defRPr sz="2400" spc="95">
                <a:latin typeface="Gill Sans MT"/>
                <a:ea typeface="Gill Sans MT"/>
                <a:cs typeface="Gill Sans MT"/>
                <a:sym typeface="Gill Sans MT"/>
              </a:defRPr>
            </a:pPr>
            <a:r>
              <a:rPr sz="2000"/>
              <a:t>if(f==2):</a:t>
            </a:r>
          </a:p>
          <a:p>
            <a:pPr indent="1534522">
              <a:spcBef>
                <a:spcPts val="500"/>
              </a:spcBef>
              <a:defRPr sz="2400" spc="70">
                <a:latin typeface="Gill Sans MT"/>
                <a:ea typeface="Gill Sans MT"/>
                <a:cs typeface="Gill Sans MT"/>
                <a:sym typeface="Gill Sans MT"/>
              </a:defRPr>
            </a:pPr>
            <a:r>
              <a:rPr sz="2000"/>
              <a:t>print(n,"is</a:t>
            </a:r>
            <a:r>
              <a:rPr sz="2000" spc="-62"/>
              <a:t> </a:t>
            </a:r>
            <a:r>
              <a:rPr sz="2000" spc="75"/>
              <a:t>Prime")</a:t>
            </a:r>
          </a:p>
          <a:p>
            <a:pPr indent="772022">
              <a:spcBef>
                <a:spcPts val="500"/>
              </a:spcBef>
              <a:defRPr sz="2400" spc="155">
                <a:latin typeface="Gill Sans MT"/>
                <a:ea typeface="Gill Sans MT"/>
                <a:cs typeface="Gill Sans MT"/>
                <a:sym typeface="Gill Sans MT"/>
              </a:defRPr>
            </a:pPr>
            <a:r>
              <a:rPr sz="2000"/>
              <a:t>else:</a:t>
            </a:r>
          </a:p>
          <a:p>
            <a:pPr indent="1534522">
              <a:spcBef>
                <a:spcPts val="500"/>
              </a:spcBef>
              <a:defRPr sz="2400" spc="70">
                <a:latin typeface="Gill Sans MT"/>
                <a:ea typeface="Gill Sans MT"/>
                <a:cs typeface="Gill Sans MT"/>
                <a:sym typeface="Gill Sans MT"/>
              </a:defRPr>
            </a:pPr>
            <a:r>
              <a:rPr sz="2000"/>
              <a:t>print(n,"is </a:t>
            </a:r>
            <a:r>
              <a:rPr sz="2000" spc="-42"/>
              <a:t>Not</a:t>
            </a:r>
            <a:r>
              <a:rPr sz="2000" spc="-183"/>
              <a:t> </a:t>
            </a:r>
            <a:r>
              <a:rPr sz="2000" spc="75"/>
              <a:t>Prime")</a:t>
            </a:r>
          </a:p>
        </p:txBody>
      </p:sp>
    </p:spTree>
    <p:extLst>
      <p:ext uri="{BB962C8B-B14F-4D97-AF65-F5344CB8AC3E}">
        <p14:creationId xmlns:p14="http://schemas.microsoft.com/office/powerpoint/2010/main" val="156399049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164" name="object 3"/>
          <p:cNvSpPr txBox="1">
            <a:spLocks noGrp="1"/>
          </p:cNvSpPr>
          <p:nvPr>
            <p:ph type="title"/>
          </p:nvPr>
        </p:nvSpPr>
        <p:spPr>
          <a:prstGeom prst="rect">
            <a:avLst/>
          </a:prstGeom>
        </p:spPr>
        <p:txBody>
          <a:bodyPr>
            <a:normAutofit/>
          </a:bodyPr>
          <a:lstStyle/>
          <a:p>
            <a:pPr indent="9947" defTabSz="716251">
              <a:defRPr sz="3196"/>
            </a:pPr>
            <a:r>
              <a:t>NESTED </a:t>
            </a:r>
            <a:r>
              <a:rPr spc="-78"/>
              <a:t>FOR</a:t>
            </a:r>
            <a:r>
              <a:rPr spc="-392"/>
              <a:t> </a:t>
            </a:r>
            <a:r>
              <a:rPr spc="-157"/>
              <a:t>LOOP</a:t>
            </a:r>
          </a:p>
        </p:txBody>
      </p:sp>
      <p:sp>
        <p:nvSpPr>
          <p:cNvPr id="165" name="object 4"/>
          <p:cNvSpPr txBox="1"/>
          <p:nvPr/>
        </p:nvSpPr>
        <p:spPr>
          <a:xfrm>
            <a:off x="776308" y="1427848"/>
            <a:ext cx="8304214" cy="37118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L="486285" indent="-476231">
              <a:spcBef>
                <a:spcPts val="1417"/>
              </a:spcBef>
              <a:buSzPct val="100000"/>
              <a:buFont typeface="Arial"/>
              <a:buChar char="•"/>
              <a:tabLst>
                <a:tab pos="476231" algn="l"/>
                <a:tab pos="486814" algn="l"/>
              </a:tabLst>
              <a:defRPr sz="2900" spc="-10">
                <a:latin typeface="Gill Sans MT"/>
                <a:ea typeface="Gill Sans MT"/>
                <a:cs typeface="Gill Sans MT"/>
                <a:sym typeface="Gill Sans MT"/>
              </a:defRPr>
            </a:pPr>
            <a:r>
              <a:rPr sz="2417"/>
              <a:t>A</a:t>
            </a:r>
            <a:r>
              <a:rPr sz="2417" spc="-71"/>
              <a:t> </a:t>
            </a:r>
            <a:r>
              <a:rPr sz="2417" spc="92"/>
              <a:t>Nested</a:t>
            </a:r>
            <a:r>
              <a:rPr sz="2417" spc="-100"/>
              <a:t> </a:t>
            </a:r>
            <a:r>
              <a:rPr sz="2417" spc="42"/>
              <a:t>For</a:t>
            </a:r>
            <a:r>
              <a:rPr sz="2417" spc="-58"/>
              <a:t> </a:t>
            </a:r>
            <a:r>
              <a:rPr sz="2417" spc="83"/>
              <a:t>Loop</a:t>
            </a:r>
            <a:r>
              <a:rPr sz="2417" spc="-79"/>
              <a:t> </a:t>
            </a:r>
            <a:r>
              <a:rPr sz="2417" spc="200"/>
              <a:t>is</a:t>
            </a:r>
            <a:r>
              <a:rPr sz="2417" spc="-75"/>
              <a:t> </a:t>
            </a:r>
            <a:r>
              <a:rPr sz="2417" spc="271"/>
              <a:t>a</a:t>
            </a:r>
            <a:r>
              <a:rPr sz="2417" spc="-79"/>
              <a:t> </a:t>
            </a:r>
            <a:r>
              <a:rPr sz="2417" spc="42"/>
              <a:t>For</a:t>
            </a:r>
            <a:r>
              <a:rPr sz="2417" spc="-62"/>
              <a:t> </a:t>
            </a:r>
            <a:r>
              <a:rPr sz="2417" spc="83"/>
              <a:t>Loop</a:t>
            </a:r>
            <a:r>
              <a:rPr sz="2417" spc="-75"/>
              <a:t> </a:t>
            </a:r>
            <a:r>
              <a:rPr sz="2417" spc="4"/>
              <a:t>Within</a:t>
            </a:r>
            <a:r>
              <a:rPr sz="2417" spc="-95"/>
              <a:t> </a:t>
            </a:r>
            <a:r>
              <a:rPr sz="2417" spc="46"/>
              <a:t>Another</a:t>
            </a:r>
            <a:r>
              <a:rPr sz="2417" spc="-79"/>
              <a:t> </a:t>
            </a:r>
            <a:r>
              <a:rPr sz="2417" spc="42"/>
              <a:t>For</a:t>
            </a:r>
            <a:r>
              <a:rPr sz="2417" spc="-67"/>
              <a:t> </a:t>
            </a:r>
            <a:r>
              <a:rPr sz="2417" spc="83"/>
              <a:t>Loop</a:t>
            </a:r>
          </a:p>
          <a:p>
            <a:pPr marL="423845" indent="-413791">
              <a:spcBef>
                <a:spcPts val="1333"/>
              </a:spcBef>
              <a:buSzPct val="100000"/>
              <a:buChar char="•"/>
              <a:tabLst>
                <a:tab pos="423316" algn="l"/>
                <a:tab pos="423316" algn="l"/>
              </a:tabLst>
              <a:defRPr sz="2900" spc="180">
                <a:latin typeface="Gill Sans MT"/>
                <a:ea typeface="Gill Sans MT"/>
                <a:cs typeface="Gill Sans MT"/>
                <a:sym typeface="Gill Sans MT"/>
              </a:defRPr>
            </a:pPr>
            <a:r>
              <a:rPr sz="2417"/>
              <a:t>Syntax</a:t>
            </a:r>
            <a:r>
              <a:rPr sz="2417" spc="-100"/>
              <a:t> </a:t>
            </a:r>
            <a:r>
              <a:rPr sz="2417" spc="104"/>
              <a:t>:</a:t>
            </a:r>
          </a:p>
          <a:p>
            <a:pPr indent="772022">
              <a:spcBef>
                <a:spcPts val="1417"/>
              </a:spcBef>
              <a:defRPr sz="2900" spc="65">
                <a:latin typeface="Gill Sans MT"/>
                <a:ea typeface="Gill Sans MT"/>
                <a:cs typeface="Gill Sans MT"/>
                <a:sym typeface="Gill Sans MT"/>
              </a:defRPr>
            </a:pPr>
            <a:r>
              <a:rPr sz="2417"/>
              <a:t>for </a:t>
            </a:r>
            <a:r>
              <a:rPr sz="2417" spc="125"/>
              <a:t>element </a:t>
            </a:r>
            <a:r>
              <a:rPr sz="2417" spc="108"/>
              <a:t>in</a:t>
            </a:r>
            <a:r>
              <a:rPr sz="2417" spc="-504"/>
              <a:t> </a:t>
            </a:r>
            <a:r>
              <a:rPr sz="2417" spc="170"/>
              <a:t>sequence</a:t>
            </a:r>
          </a:p>
          <a:p>
            <a:pPr marL="761970" marR="3060578" indent="772552">
              <a:lnSpc>
                <a:spcPct val="148600"/>
              </a:lnSpc>
              <a:defRPr sz="2900" spc="65">
                <a:latin typeface="Gill Sans MT"/>
                <a:ea typeface="Gill Sans MT"/>
                <a:cs typeface="Gill Sans MT"/>
                <a:sym typeface="Gill Sans MT"/>
              </a:defRPr>
            </a:pPr>
            <a:r>
              <a:rPr sz="2417"/>
              <a:t>for </a:t>
            </a:r>
            <a:r>
              <a:rPr sz="2417" spc="125"/>
              <a:t>element </a:t>
            </a:r>
            <a:r>
              <a:rPr sz="2417" spc="108"/>
              <a:t>in </a:t>
            </a:r>
            <a:r>
              <a:rPr sz="2417" spc="162"/>
              <a:t>sequence:  </a:t>
            </a:r>
            <a:r>
              <a:rPr sz="2417" spc="108"/>
              <a:t>body</a:t>
            </a:r>
            <a:r>
              <a:rPr sz="2417" spc="-87"/>
              <a:t> </a:t>
            </a:r>
            <a:r>
              <a:rPr sz="2417" spc="142"/>
              <a:t>of</a:t>
            </a:r>
            <a:r>
              <a:rPr sz="2417" spc="-83"/>
              <a:t> </a:t>
            </a:r>
            <a:r>
              <a:rPr sz="2417" spc="79"/>
              <a:t>inner</a:t>
            </a:r>
            <a:r>
              <a:rPr sz="2417" spc="-104"/>
              <a:t> </a:t>
            </a:r>
            <a:r>
              <a:rPr sz="2417"/>
              <a:t>for</a:t>
            </a:r>
            <a:r>
              <a:rPr sz="2417" spc="-104"/>
              <a:t> </a:t>
            </a:r>
            <a:r>
              <a:rPr sz="2417" spc="79"/>
              <a:t>loop</a:t>
            </a:r>
          </a:p>
          <a:p>
            <a:pPr marR="3798206" indent="1533992">
              <a:lnSpc>
                <a:spcPts val="4250"/>
              </a:lnSpc>
              <a:spcBef>
                <a:spcPts val="333"/>
              </a:spcBef>
              <a:defRPr sz="2900" spc="130">
                <a:latin typeface="Gill Sans MT"/>
                <a:ea typeface="Gill Sans MT"/>
                <a:cs typeface="Gill Sans MT"/>
                <a:sym typeface="Gill Sans MT"/>
              </a:defRPr>
            </a:pPr>
            <a:r>
              <a:rPr sz="2417"/>
              <a:t>body</a:t>
            </a:r>
            <a:r>
              <a:rPr sz="2417" spc="-79"/>
              <a:t> </a:t>
            </a:r>
            <a:r>
              <a:rPr sz="2417" spc="142"/>
              <a:t>of</a:t>
            </a:r>
            <a:r>
              <a:rPr sz="2417" spc="-92"/>
              <a:t> </a:t>
            </a:r>
            <a:r>
              <a:rPr sz="2417" spc="42"/>
              <a:t>outer</a:t>
            </a:r>
            <a:r>
              <a:rPr sz="2417" spc="-95"/>
              <a:t> </a:t>
            </a:r>
            <a:r>
              <a:rPr sz="2417" spc="54"/>
              <a:t>for</a:t>
            </a:r>
            <a:r>
              <a:rPr sz="2417" spc="-129"/>
              <a:t> </a:t>
            </a:r>
            <a:r>
              <a:rPr sz="2417" spc="79"/>
              <a:t>loop  </a:t>
            </a:r>
            <a:r>
              <a:rPr sz="2417" spc="37"/>
              <a:t>other</a:t>
            </a:r>
            <a:r>
              <a:rPr sz="2417" spc="-79"/>
              <a:t> </a:t>
            </a:r>
            <a:r>
              <a:rPr sz="2417" spc="150"/>
              <a:t>statements</a:t>
            </a:r>
          </a:p>
        </p:txBody>
      </p:sp>
    </p:spTree>
    <p:extLst>
      <p:ext uri="{BB962C8B-B14F-4D97-AF65-F5344CB8AC3E}">
        <p14:creationId xmlns:p14="http://schemas.microsoft.com/office/powerpoint/2010/main" val="302997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168" name="object 3"/>
          <p:cNvSpPr txBox="1">
            <a:spLocks noGrp="1"/>
          </p:cNvSpPr>
          <p:nvPr>
            <p:ph type="title"/>
          </p:nvPr>
        </p:nvSpPr>
        <p:spPr>
          <a:prstGeom prst="rect">
            <a:avLst/>
          </a:prstGeom>
        </p:spPr>
        <p:txBody>
          <a:bodyPr>
            <a:normAutofit/>
          </a:bodyPr>
          <a:lstStyle/>
          <a:p>
            <a:pPr indent="9947" defTabSz="716251">
              <a:defRPr sz="3196"/>
            </a:pPr>
            <a:r>
              <a:rPr b="1" dirty="0"/>
              <a:t>NESTED </a:t>
            </a:r>
            <a:r>
              <a:rPr b="1" spc="-78" dirty="0"/>
              <a:t>FOR</a:t>
            </a:r>
            <a:r>
              <a:rPr b="1" spc="-392" dirty="0"/>
              <a:t> </a:t>
            </a:r>
            <a:r>
              <a:rPr b="1" spc="-157" dirty="0"/>
              <a:t>LOOP</a:t>
            </a:r>
          </a:p>
        </p:txBody>
      </p:sp>
      <p:sp>
        <p:nvSpPr>
          <p:cNvPr id="169" name="object 4"/>
          <p:cNvSpPr txBox="1"/>
          <p:nvPr/>
        </p:nvSpPr>
        <p:spPr>
          <a:xfrm>
            <a:off x="776308" y="1362264"/>
            <a:ext cx="4482043" cy="26531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1417"/>
              </a:spcBef>
              <a:defRPr sz="2900" u="sng" spc="150">
                <a:uFill>
                  <a:solidFill>
                    <a:srgbClr val="000000"/>
                  </a:solidFill>
                </a:uFill>
                <a:latin typeface="Gill Sans MT"/>
                <a:ea typeface="Gill Sans MT"/>
                <a:cs typeface="Gill Sans MT"/>
                <a:sym typeface="Gill Sans MT"/>
              </a:defRPr>
            </a:pPr>
            <a:r>
              <a:rPr sz="2417"/>
              <a:t>Program</a:t>
            </a:r>
            <a:r>
              <a:rPr sz="2417" spc="-167"/>
              <a:t> </a:t>
            </a:r>
            <a:r>
              <a:rPr sz="2417" spc="104"/>
              <a:t>:</a:t>
            </a:r>
          </a:p>
          <a:p>
            <a:pPr indent="772022">
              <a:spcBef>
                <a:spcPts val="1333"/>
              </a:spcBef>
              <a:defRPr sz="2900" spc="95">
                <a:latin typeface="Gill Sans MT"/>
                <a:ea typeface="Gill Sans MT"/>
                <a:cs typeface="Gill Sans MT"/>
                <a:sym typeface="Gill Sans MT"/>
              </a:defRPr>
            </a:pPr>
            <a:r>
              <a:rPr sz="2417"/>
              <a:t>rows </a:t>
            </a:r>
            <a:r>
              <a:rPr sz="2417" spc="-54"/>
              <a:t>=</a:t>
            </a:r>
            <a:r>
              <a:rPr sz="2417" spc="-242"/>
              <a:t> </a:t>
            </a:r>
            <a:r>
              <a:rPr sz="2417" spc="167"/>
              <a:t>5</a:t>
            </a:r>
          </a:p>
          <a:p>
            <a:pPr indent="772022">
              <a:spcBef>
                <a:spcPts val="500"/>
              </a:spcBef>
              <a:defRPr sz="2900" spc="65">
                <a:latin typeface="Gill Sans MT"/>
                <a:ea typeface="Gill Sans MT"/>
                <a:cs typeface="Gill Sans MT"/>
                <a:sym typeface="Gill Sans MT"/>
              </a:defRPr>
            </a:pPr>
            <a:r>
              <a:rPr sz="2417"/>
              <a:t>for</a:t>
            </a:r>
            <a:r>
              <a:rPr sz="2417" spc="-125"/>
              <a:t> </a:t>
            </a:r>
            <a:r>
              <a:rPr sz="2417" spc="83"/>
              <a:t>i</a:t>
            </a:r>
            <a:r>
              <a:rPr sz="2417" spc="-75"/>
              <a:t> </a:t>
            </a:r>
            <a:r>
              <a:rPr sz="2417" spc="112"/>
              <a:t>in</a:t>
            </a:r>
            <a:r>
              <a:rPr sz="2417" spc="-117"/>
              <a:t> </a:t>
            </a:r>
            <a:r>
              <a:rPr sz="2417" spc="117"/>
              <a:t>range(0,</a:t>
            </a:r>
            <a:r>
              <a:rPr sz="2417" spc="-104"/>
              <a:t> </a:t>
            </a:r>
            <a:r>
              <a:rPr sz="2417" spc="79"/>
              <a:t>rows):</a:t>
            </a:r>
          </a:p>
          <a:p>
            <a:pPr marL="761970" marR="4233" indent="772552">
              <a:lnSpc>
                <a:spcPct val="117200"/>
              </a:lnSpc>
              <a:defRPr sz="2900" spc="65">
                <a:latin typeface="Gill Sans MT"/>
                <a:ea typeface="Gill Sans MT"/>
                <a:cs typeface="Gill Sans MT"/>
                <a:sym typeface="Gill Sans MT"/>
              </a:defRPr>
            </a:pPr>
            <a:r>
              <a:rPr sz="2417"/>
              <a:t>for</a:t>
            </a:r>
            <a:r>
              <a:rPr sz="2417" spc="-133"/>
              <a:t> </a:t>
            </a:r>
            <a:r>
              <a:rPr sz="2417" spc="75"/>
              <a:t>j</a:t>
            </a:r>
            <a:r>
              <a:rPr sz="2417" spc="-79"/>
              <a:t> </a:t>
            </a:r>
            <a:r>
              <a:rPr sz="2417" spc="112"/>
              <a:t>in</a:t>
            </a:r>
            <a:r>
              <a:rPr sz="2417" spc="-121"/>
              <a:t> </a:t>
            </a:r>
            <a:r>
              <a:rPr sz="2417" spc="117"/>
              <a:t>range(0,</a:t>
            </a:r>
            <a:r>
              <a:rPr sz="2417" spc="-112"/>
              <a:t> </a:t>
            </a:r>
            <a:r>
              <a:rPr sz="2417" spc="83"/>
              <a:t>i</a:t>
            </a:r>
            <a:r>
              <a:rPr sz="2417" spc="-83"/>
              <a:t> </a:t>
            </a:r>
            <a:r>
              <a:rPr sz="2417" spc="-71"/>
              <a:t>+</a:t>
            </a:r>
            <a:r>
              <a:rPr sz="2417" spc="-79"/>
              <a:t> </a:t>
            </a:r>
            <a:r>
              <a:rPr sz="2417" spc="112"/>
              <a:t>1):  </a:t>
            </a:r>
            <a:r>
              <a:rPr sz="2417" spc="12"/>
              <a:t>print("*", </a:t>
            </a:r>
            <a:r>
              <a:rPr sz="2417" spc="58"/>
              <a:t>end='</a:t>
            </a:r>
            <a:r>
              <a:rPr sz="2417" spc="-208"/>
              <a:t> </a:t>
            </a:r>
            <a:r>
              <a:rPr sz="2417"/>
              <a:t>')</a:t>
            </a:r>
          </a:p>
          <a:p>
            <a:pPr indent="1534522">
              <a:spcBef>
                <a:spcPts val="500"/>
              </a:spcBef>
              <a:defRPr sz="2900" spc="40">
                <a:latin typeface="Gill Sans MT"/>
                <a:ea typeface="Gill Sans MT"/>
                <a:cs typeface="Gill Sans MT"/>
                <a:sym typeface="Gill Sans MT"/>
              </a:defRPr>
            </a:pPr>
            <a:r>
              <a:rPr sz="2417"/>
              <a:t>print("\r")</a:t>
            </a:r>
          </a:p>
        </p:txBody>
      </p:sp>
    </p:spTree>
    <p:extLst>
      <p:ext uri="{BB962C8B-B14F-4D97-AF65-F5344CB8AC3E}">
        <p14:creationId xmlns:p14="http://schemas.microsoft.com/office/powerpoint/2010/main" val="85375162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173" name="object 4"/>
          <p:cNvSpPr txBox="1">
            <a:spLocks noGrp="1"/>
          </p:cNvSpPr>
          <p:nvPr>
            <p:ph type="title"/>
          </p:nvPr>
        </p:nvSpPr>
        <p:spPr>
          <a:xfrm>
            <a:off x="838200" y="365125"/>
            <a:ext cx="10515600" cy="658457"/>
          </a:xfrm>
          <a:prstGeom prst="rect">
            <a:avLst/>
          </a:prstGeom>
        </p:spPr>
        <p:txBody>
          <a:bodyPr>
            <a:normAutofit/>
          </a:bodyPr>
          <a:lstStyle/>
          <a:p>
            <a:pPr indent="10583">
              <a:spcBef>
                <a:spcPts val="83"/>
              </a:spcBef>
              <a:defRPr sz="2700"/>
            </a:pPr>
            <a:r>
              <a:rPr b="1" dirty="0"/>
              <a:t>Control</a:t>
            </a:r>
            <a:r>
              <a:rPr b="1" spc="-167" dirty="0"/>
              <a:t> </a:t>
            </a:r>
            <a:r>
              <a:rPr b="1" dirty="0"/>
              <a:t>Structure</a:t>
            </a:r>
          </a:p>
        </p:txBody>
      </p:sp>
      <p:sp>
        <p:nvSpPr>
          <p:cNvPr id="174" name="object 5"/>
          <p:cNvSpPr txBox="1"/>
          <p:nvPr/>
        </p:nvSpPr>
        <p:spPr>
          <a:xfrm>
            <a:off x="1275120" y="1307245"/>
            <a:ext cx="3203577" cy="38343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spcBef>
                <a:spcPts val="917"/>
              </a:spcBef>
              <a:tabLst>
                <a:tab pos="455065" algn="l"/>
              </a:tabLst>
              <a:defRPr sz="2700" spc="170">
                <a:latin typeface="Gill Sans MT"/>
                <a:ea typeface="Gill Sans MT"/>
                <a:cs typeface="Gill Sans MT"/>
                <a:sym typeface="Gill Sans MT"/>
              </a:defRPr>
            </a:pPr>
            <a:r>
              <a:rPr sz="2250" dirty="0"/>
              <a:t>1.	</a:t>
            </a:r>
            <a:r>
              <a:rPr sz="2250" spc="75" dirty="0"/>
              <a:t>Iterative</a:t>
            </a:r>
            <a:r>
              <a:rPr sz="2250" spc="-92" dirty="0"/>
              <a:t> </a:t>
            </a:r>
            <a:r>
              <a:rPr sz="2250" dirty="0"/>
              <a:t>Statements</a:t>
            </a:r>
          </a:p>
          <a:p>
            <a:pPr marL="380456" indent="-380985">
              <a:spcBef>
                <a:spcPts val="833"/>
              </a:spcBef>
              <a:buSzPct val="100000"/>
              <a:buFont typeface="Arial"/>
              <a:buChar char="•"/>
              <a:tabLst>
                <a:tab pos="370402" algn="l"/>
                <a:tab pos="380985" algn="l"/>
              </a:tabLst>
              <a:defRPr sz="2700" spc="45">
                <a:latin typeface="Gill Sans MT"/>
                <a:ea typeface="Gill Sans MT"/>
                <a:cs typeface="Gill Sans MT"/>
                <a:sym typeface="Gill Sans MT"/>
              </a:defRPr>
            </a:pPr>
            <a:r>
              <a:rPr sz="2250" dirty="0"/>
              <a:t>For</a:t>
            </a:r>
            <a:r>
              <a:rPr sz="2250" spc="-75" dirty="0"/>
              <a:t> </a:t>
            </a:r>
            <a:r>
              <a:rPr sz="2250" spc="71" dirty="0"/>
              <a:t>loop</a:t>
            </a:r>
          </a:p>
          <a:p>
            <a:pPr marL="380456" indent="-380985">
              <a:spcBef>
                <a:spcPts val="833"/>
              </a:spcBef>
              <a:buSzPct val="100000"/>
              <a:buFont typeface="Arial"/>
              <a:buChar char="•"/>
              <a:tabLst>
                <a:tab pos="370402" algn="l"/>
                <a:tab pos="380985" algn="l"/>
              </a:tabLst>
              <a:defRPr sz="2700" spc="5">
                <a:latin typeface="Gill Sans MT"/>
                <a:ea typeface="Gill Sans MT"/>
                <a:cs typeface="Gill Sans MT"/>
                <a:sym typeface="Gill Sans MT"/>
              </a:defRPr>
            </a:pPr>
            <a:r>
              <a:rPr sz="2250" dirty="0"/>
              <a:t>While</a:t>
            </a:r>
            <a:r>
              <a:rPr sz="2250" spc="-58" dirty="0"/>
              <a:t> </a:t>
            </a:r>
            <a:r>
              <a:rPr sz="2250" spc="75" dirty="0"/>
              <a:t>Loop</a:t>
            </a:r>
          </a:p>
          <a:p>
            <a:pPr marL="380456" indent="-380985">
              <a:spcBef>
                <a:spcPts val="833"/>
              </a:spcBef>
              <a:buSzPct val="100000"/>
              <a:buFont typeface="Arial"/>
              <a:buChar char="•"/>
              <a:tabLst>
                <a:tab pos="370402" algn="l"/>
                <a:tab pos="380985" algn="l"/>
              </a:tabLst>
              <a:defRPr sz="2700" spc="185">
                <a:latin typeface="Gill Sans MT"/>
                <a:ea typeface="Gill Sans MT"/>
                <a:cs typeface="Gill Sans MT"/>
                <a:sym typeface="Gill Sans MT"/>
              </a:defRPr>
            </a:pPr>
            <a:r>
              <a:rPr sz="2250" dirty="0"/>
              <a:t>Examples</a:t>
            </a:r>
          </a:p>
          <a:p>
            <a:pPr>
              <a:spcBef>
                <a:spcPts val="833"/>
              </a:spcBef>
              <a:tabLst>
                <a:tab pos="455065" algn="l"/>
              </a:tabLst>
              <a:defRPr sz="2700" spc="170">
                <a:latin typeface="Gill Sans MT"/>
                <a:ea typeface="Gill Sans MT"/>
                <a:cs typeface="Gill Sans MT"/>
                <a:sym typeface="Gill Sans MT"/>
              </a:defRPr>
            </a:pPr>
            <a:r>
              <a:rPr sz="2250" dirty="0"/>
              <a:t>2.	</a:t>
            </a:r>
            <a:r>
              <a:rPr sz="2250" spc="117" dirty="0"/>
              <a:t>Selection</a:t>
            </a:r>
            <a:r>
              <a:rPr sz="2250" spc="-83" dirty="0"/>
              <a:t> </a:t>
            </a:r>
            <a:r>
              <a:rPr sz="2250" dirty="0"/>
              <a:t>Statements</a:t>
            </a:r>
          </a:p>
          <a:p>
            <a:pPr marL="380456" indent="-380985">
              <a:spcBef>
                <a:spcPts val="833"/>
              </a:spcBef>
              <a:buSzPct val="100000"/>
              <a:buFont typeface="Arial"/>
              <a:buChar char="•"/>
              <a:tabLst>
                <a:tab pos="370402" algn="l"/>
                <a:tab pos="380985" algn="l"/>
              </a:tabLst>
              <a:defRPr sz="2700" spc="180">
                <a:latin typeface="Gill Sans MT"/>
                <a:ea typeface="Gill Sans MT"/>
                <a:cs typeface="Gill Sans MT"/>
                <a:sym typeface="Gill Sans MT"/>
              </a:defRPr>
            </a:pPr>
            <a:r>
              <a:rPr sz="2250" dirty="0"/>
              <a:t>If</a:t>
            </a:r>
            <a:r>
              <a:rPr sz="2250" spc="-71" dirty="0"/>
              <a:t> </a:t>
            </a:r>
            <a:r>
              <a:rPr sz="2250" spc="142" dirty="0"/>
              <a:t>Statements</a:t>
            </a:r>
          </a:p>
          <a:p>
            <a:pPr marL="380456" indent="-380985">
              <a:spcBef>
                <a:spcPts val="833"/>
              </a:spcBef>
              <a:buSzPct val="100000"/>
              <a:buFont typeface="Arial"/>
              <a:buChar char="•"/>
              <a:tabLst>
                <a:tab pos="370402" algn="l"/>
                <a:tab pos="380985" algn="l"/>
              </a:tabLst>
              <a:defRPr sz="2700" spc="165">
                <a:latin typeface="Gill Sans MT"/>
                <a:ea typeface="Gill Sans MT"/>
                <a:cs typeface="Gill Sans MT"/>
                <a:sym typeface="Gill Sans MT"/>
              </a:defRPr>
            </a:pPr>
            <a:r>
              <a:rPr sz="2250" dirty="0"/>
              <a:t>If-Else</a:t>
            </a:r>
            <a:r>
              <a:rPr sz="2250" spc="-79" dirty="0"/>
              <a:t> </a:t>
            </a:r>
            <a:r>
              <a:rPr sz="2250" spc="146" dirty="0"/>
              <a:t>Statements</a:t>
            </a:r>
          </a:p>
          <a:p>
            <a:pPr marL="380456" indent="-380985">
              <a:spcBef>
                <a:spcPts val="833"/>
              </a:spcBef>
              <a:buSzPct val="100000"/>
              <a:buFont typeface="Arial"/>
              <a:buChar char="•"/>
              <a:tabLst>
                <a:tab pos="370402" algn="l"/>
                <a:tab pos="380985" algn="l"/>
              </a:tabLst>
              <a:defRPr sz="2700" spc="155">
                <a:latin typeface="Gill Sans MT"/>
                <a:ea typeface="Gill Sans MT"/>
                <a:cs typeface="Gill Sans MT"/>
                <a:sym typeface="Gill Sans MT"/>
              </a:defRPr>
            </a:pPr>
            <a:r>
              <a:rPr sz="2250" dirty="0" err="1"/>
              <a:t>Elif</a:t>
            </a:r>
            <a:r>
              <a:rPr sz="2250" spc="-62" dirty="0"/>
              <a:t> </a:t>
            </a:r>
            <a:r>
              <a:rPr sz="2250" spc="142" dirty="0"/>
              <a:t>Statements</a:t>
            </a:r>
          </a:p>
        </p:txBody>
      </p:sp>
    </p:spTree>
    <p:extLst>
      <p:ext uri="{BB962C8B-B14F-4D97-AF65-F5344CB8AC3E}">
        <p14:creationId xmlns:p14="http://schemas.microsoft.com/office/powerpoint/2010/main" val="106614198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177" name="object 3"/>
          <p:cNvSpPr txBox="1">
            <a:spLocks noGrp="1"/>
          </p:cNvSpPr>
          <p:nvPr>
            <p:ph type="title"/>
          </p:nvPr>
        </p:nvSpPr>
        <p:spPr>
          <a:prstGeom prst="rect">
            <a:avLst/>
          </a:prstGeom>
        </p:spPr>
        <p:txBody>
          <a:bodyPr>
            <a:normAutofit/>
          </a:bodyPr>
          <a:lstStyle>
            <a:lvl1pPr indent="12700">
              <a:defRPr spc="-100">
                <a:solidFill>
                  <a:srgbClr val="252525"/>
                </a:solidFill>
              </a:defRPr>
            </a:lvl1pPr>
          </a:lstStyle>
          <a:p>
            <a:r>
              <a:t>ITERATION</a:t>
            </a:r>
          </a:p>
        </p:txBody>
      </p:sp>
      <p:sp>
        <p:nvSpPr>
          <p:cNvPr id="178" name="object 4"/>
          <p:cNvSpPr txBox="1"/>
          <p:nvPr/>
        </p:nvSpPr>
        <p:spPr>
          <a:xfrm>
            <a:off x="776309" y="1808776"/>
            <a:ext cx="7605183" cy="29753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1500"/>
              </a:spcBef>
              <a:tabLst>
                <a:tab pos="465648" algn="l"/>
              </a:tabLst>
              <a:defRPr sz="2900" b="1">
                <a:solidFill>
                  <a:srgbClr val="252525"/>
                </a:solidFill>
                <a:latin typeface="Times New Roman"/>
                <a:ea typeface="Times New Roman"/>
                <a:cs typeface="Times New Roman"/>
                <a:sym typeface="Times New Roman"/>
              </a:defRPr>
            </a:pPr>
            <a:r>
              <a:rPr sz="2417"/>
              <a:t>1.	While</a:t>
            </a:r>
            <a:r>
              <a:rPr sz="2417" spc="-25"/>
              <a:t> </a:t>
            </a:r>
            <a:r>
              <a:rPr sz="2417"/>
              <a:t>loop:</a:t>
            </a:r>
          </a:p>
          <a:p>
            <a:pPr marR="4233" indent="772022">
              <a:lnSpc>
                <a:spcPts val="4250"/>
              </a:lnSpc>
              <a:spcBef>
                <a:spcPts val="333"/>
              </a:spcBef>
              <a:defRPr sz="2900">
                <a:solidFill>
                  <a:srgbClr val="252525"/>
                </a:solidFill>
                <a:latin typeface="Times New Roman"/>
                <a:ea typeface="Times New Roman"/>
                <a:cs typeface="Times New Roman"/>
                <a:sym typeface="Times New Roman"/>
              </a:defRPr>
            </a:pPr>
            <a:r>
              <a:rPr sz="2417"/>
              <a:t>The while </a:t>
            </a:r>
            <a:r>
              <a:rPr sz="2417" spc="-8"/>
              <a:t>statement </a:t>
            </a:r>
            <a:r>
              <a:rPr sz="2417" spc="-4"/>
              <a:t>repeats </a:t>
            </a:r>
            <a:r>
              <a:rPr sz="2417"/>
              <a:t>a body of code as long as a  condition is</a:t>
            </a:r>
            <a:r>
              <a:rPr sz="2417" spc="-37"/>
              <a:t> </a:t>
            </a:r>
            <a:r>
              <a:rPr sz="2417"/>
              <a:t>true.</a:t>
            </a:r>
          </a:p>
          <a:p>
            <a:pPr indent="772022">
              <a:spcBef>
                <a:spcPts val="1000"/>
              </a:spcBef>
              <a:defRPr sz="2900">
                <a:solidFill>
                  <a:srgbClr val="252525"/>
                </a:solidFill>
                <a:latin typeface="Times New Roman"/>
                <a:ea typeface="Times New Roman"/>
                <a:cs typeface="Times New Roman"/>
                <a:sym typeface="Times New Roman"/>
              </a:defRPr>
            </a:pPr>
            <a:r>
              <a:rPr sz="2417"/>
              <a:t>Syntax:</a:t>
            </a:r>
          </a:p>
          <a:p>
            <a:pPr marR="3796619" algn="r">
              <a:spcBef>
                <a:spcPts val="1417"/>
              </a:spcBef>
              <a:defRPr sz="2400" spc="-5">
                <a:solidFill>
                  <a:srgbClr val="252525"/>
                </a:solidFill>
                <a:latin typeface="Times New Roman"/>
                <a:ea typeface="Times New Roman"/>
                <a:cs typeface="Times New Roman"/>
                <a:sym typeface="Times New Roman"/>
              </a:defRPr>
            </a:pPr>
            <a:r>
              <a:rPr sz="2000"/>
              <a:t>while</a:t>
            </a:r>
            <a:r>
              <a:rPr sz="2000" spc="-58"/>
              <a:t> </a:t>
            </a:r>
            <a:r>
              <a:rPr sz="2000"/>
              <a:t>test_expression:</a:t>
            </a:r>
          </a:p>
          <a:p>
            <a:pPr marR="3847946" algn="r">
              <a:spcBef>
                <a:spcPts val="1333"/>
              </a:spcBef>
              <a:defRPr sz="2400">
                <a:solidFill>
                  <a:srgbClr val="252525"/>
                </a:solidFill>
                <a:latin typeface="Times New Roman"/>
                <a:ea typeface="Times New Roman"/>
                <a:cs typeface="Times New Roman"/>
                <a:sym typeface="Times New Roman"/>
              </a:defRPr>
            </a:pPr>
            <a:r>
              <a:rPr sz="2000"/>
              <a:t>Body of</a:t>
            </a:r>
            <a:r>
              <a:rPr sz="2000" spc="-87"/>
              <a:t> </a:t>
            </a:r>
            <a:r>
              <a:rPr sz="2000"/>
              <a:t>while</a:t>
            </a:r>
          </a:p>
        </p:txBody>
      </p:sp>
      <p:sp>
        <p:nvSpPr>
          <p:cNvPr id="179" name="object 5"/>
          <p:cNvSpPr/>
          <p:nvPr/>
        </p:nvSpPr>
        <p:spPr>
          <a:xfrm>
            <a:off x="8636000" y="1397000"/>
            <a:ext cx="2851452" cy="4020301"/>
          </a:xfrm>
          <a:prstGeom prst="rect">
            <a:avLst/>
          </a:prstGeom>
          <a:blipFill>
            <a:blip r:embed="rId3"/>
            <a:stretch>
              <a:fillRect/>
            </a:stretch>
          </a:blipFill>
          <a:ln w="12700">
            <a:miter lim="400000"/>
          </a:ln>
        </p:spPr>
        <p:txBody>
          <a:bodyPr lIns="38099" rIns="38099"/>
          <a:lstStyle/>
          <a:p>
            <a:endParaRPr sz="1500"/>
          </a:p>
        </p:txBody>
      </p:sp>
    </p:spTree>
    <p:extLst>
      <p:ext uri="{BB962C8B-B14F-4D97-AF65-F5344CB8AC3E}">
        <p14:creationId xmlns:p14="http://schemas.microsoft.com/office/powerpoint/2010/main" val="189739444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182" name="object 3"/>
          <p:cNvSpPr txBox="1">
            <a:spLocks noGrp="1"/>
          </p:cNvSpPr>
          <p:nvPr>
            <p:ph type="title"/>
          </p:nvPr>
        </p:nvSpPr>
        <p:spPr>
          <a:prstGeom prst="rect">
            <a:avLst/>
          </a:prstGeom>
        </p:spPr>
        <p:txBody>
          <a:bodyPr>
            <a:normAutofit/>
          </a:bodyPr>
          <a:lstStyle>
            <a:lvl1pPr indent="12700">
              <a:defRPr spc="-100">
                <a:solidFill>
                  <a:srgbClr val="252525"/>
                </a:solidFill>
              </a:defRPr>
            </a:lvl1pPr>
          </a:lstStyle>
          <a:p>
            <a:r>
              <a:t>ITERATION</a:t>
            </a:r>
          </a:p>
        </p:txBody>
      </p:sp>
      <p:sp>
        <p:nvSpPr>
          <p:cNvPr id="183" name="object 4"/>
          <p:cNvSpPr txBox="1"/>
          <p:nvPr/>
        </p:nvSpPr>
        <p:spPr>
          <a:xfrm>
            <a:off x="776307" y="1768242"/>
            <a:ext cx="6807202" cy="37575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1167"/>
              </a:spcBef>
              <a:tabLst>
                <a:tab pos="465648" algn="l"/>
              </a:tabLst>
              <a:defRPr sz="3200" b="1">
                <a:solidFill>
                  <a:srgbClr val="252525"/>
                </a:solidFill>
                <a:latin typeface="Times New Roman"/>
                <a:ea typeface="Times New Roman"/>
                <a:cs typeface="Times New Roman"/>
                <a:sym typeface="Times New Roman"/>
              </a:defRPr>
            </a:pPr>
            <a:r>
              <a:rPr sz="2667"/>
              <a:t>1.	For</a:t>
            </a:r>
            <a:r>
              <a:rPr sz="2667" spc="-67"/>
              <a:t> </a:t>
            </a:r>
            <a:r>
              <a:rPr sz="2667"/>
              <a:t>Loop:</a:t>
            </a:r>
          </a:p>
          <a:p>
            <a:pPr marR="4233" indent="772022">
              <a:lnSpc>
                <a:spcPts val="4250"/>
              </a:lnSpc>
              <a:spcBef>
                <a:spcPts val="250"/>
              </a:spcBef>
              <a:defRPr sz="3200">
                <a:solidFill>
                  <a:srgbClr val="252525"/>
                </a:solidFill>
                <a:latin typeface="Times New Roman"/>
                <a:ea typeface="Times New Roman"/>
                <a:cs typeface="Times New Roman"/>
                <a:sym typeface="Times New Roman"/>
              </a:defRPr>
            </a:pPr>
            <a:r>
              <a:rPr sz="2667"/>
              <a:t>The for statement can be used to iterate</a:t>
            </a:r>
            <a:r>
              <a:rPr sz="2667" spc="-71"/>
              <a:t> </a:t>
            </a:r>
            <a:r>
              <a:rPr sz="2667"/>
              <a:t>over  the members of a collection, so long as</a:t>
            </a:r>
            <a:r>
              <a:rPr sz="2667" spc="-71"/>
              <a:t> </a:t>
            </a:r>
            <a:r>
              <a:rPr sz="2667"/>
              <a:t>the</a:t>
            </a:r>
          </a:p>
          <a:p>
            <a:pPr marR="2729862" indent="772022">
              <a:lnSpc>
                <a:spcPts val="4250"/>
              </a:lnSpc>
              <a:defRPr sz="3200">
                <a:solidFill>
                  <a:srgbClr val="252525"/>
                </a:solidFill>
                <a:latin typeface="Times New Roman"/>
                <a:ea typeface="Times New Roman"/>
                <a:cs typeface="Times New Roman"/>
                <a:sym typeface="Times New Roman"/>
              </a:defRPr>
            </a:pPr>
            <a:r>
              <a:rPr sz="2667"/>
              <a:t>collection is a</a:t>
            </a:r>
            <a:r>
              <a:rPr sz="2667" spc="-54"/>
              <a:t> </a:t>
            </a:r>
            <a:r>
              <a:rPr sz="2667"/>
              <a:t>sequence.  Syntax:</a:t>
            </a:r>
          </a:p>
          <a:p>
            <a:pPr marL="847162" marR="1435043" indent="687359">
              <a:lnSpc>
                <a:spcPts val="4250"/>
              </a:lnSpc>
              <a:defRPr sz="3200">
                <a:solidFill>
                  <a:srgbClr val="252525"/>
                </a:solidFill>
                <a:latin typeface="Times New Roman"/>
                <a:ea typeface="Times New Roman"/>
                <a:cs typeface="Times New Roman"/>
                <a:sym typeface="Times New Roman"/>
              </a:defRPr>
            </a:pPr>
            <a:r>
              <a:rPr sz="2667"/>
              <a:t>for iterator_var in</a:t>
            </a:r>
            <a:r>
              <a:rPr sz="2667" spc="-83"/>
              <a:t> </a:t>
            </a:r>
            <a:r>
              <a:rPr sz="2667"/>
              <a:t>sequence:  statements(s)</a:t>
            </a:r>
          </a:p>
        </p:txBody>
      </p:sp>
      <p:sp>
        <p:nvSpPr>
          <p:cNvPr id="184" name="object 5"/>
          <p:cNvSpPr/>
          <p:nvPr/>
        </p:nvSpPr>
        <p:spPr>
          <a:xfrm>
            <a:off x="8001000" y="840740"/>
            <a:ext cx="2984500" cy="5233670"/>
          </a:xfrm>
          <a:prstGeom prst="rect">
            <a:avLst/>
          </a:prstGeom>
          <a:blipFill>
            <a:blip r:embed="rId3"/>
            <a:stretch>
              <a:fillRect/>
            </a:stretch>
          </a:blipFill>
          <a:ln w="12700">
            <a:miter lim="400000"/>
          </a:ln>
        </p:spPr>
        <p:txBody>
          <a:bodyPr lIns="38099" rIns="38099"/>
          <a:lstStyle/>
          <a:p>
            <a:endParaRPr sz="1500"/>
          </a:p>
        </p:txBody>
      </p:sp>
    </p:spTree>
    <p:extLst>
      <p:ext uri="{BB962C8B-B14F-4D97-AF65-F5344CB8AC3E}">
        <p14:creationId xmlns:p14="http://schemas.microsoft.com/office/powerpoint/2010/main" val="189154737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187" name="object 3"/>
          <p:cNvSpPr txBox="1">
            <a:spLocks noGrp="1"/>
          </p:cNvSpPr>
          <p:nvPr>
            <p:ph type="title"/>
          </p:nvPr>
        </p:nvSpPr>
        <p:spPr>
          <a:prstGeom prst="rect">
            <a:avLst/>
          </a:prstGeom>
        </p:spPr>
        <p:txBody>
          <a:bodyPr>
            <a:normAutofit/>
          </a:bodyPr>
          <a:lstStyle/>
          <a:p>
            <a:pPr indent="10265" defTabSz="739110">
              <a:defRPr sz="3298"/>
            </a:pPr>
            <a:r>
              <a:t>ITERATING </a:t>
            </a:r>
            <a:r>
              <a:rPr spc="-81"/>
              <a:t>OVER A</a:t>
            </a:r>
            <a:r>
              <a:rPr spc="-323"/>
              <a:t> </a:t>
            </a:r>
            <a:r>
              <a:rPr spc="81"/>
              <a:t>LIST:</a:t>
            </a:r>
          </a:p>
        </p:txBody>
      </p:sp>
      <p:sp>
        <p:nvSpPr>
          <p:cNvPr id="188" name="object 4"/>
          <p:cNvSpPr txBox="1"/>
          <p:nvPr/>
        </p:nvSpPr>
        <p:spPr>
          <a:xfrm>
            <a:off x="1538288" y="1805176"/>
            <a:ext cx="4244976" cy="2013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1417"/>
              </a:spcBef>
              <a:defRPr sz="2900" spc="25">
                <a:latin typeface="Gill Sans MT"/>
                <a:ea typeface="Gill Sans MT"/>
                <a:cs typeface="Gill Sans MT"/>
                <a:sym typeface="Gill Sans MT"/>
              </a:defRPr>
            </a:pPr>
            <a:r>
              <a:rPr sz="2417"/>
              <a:t>&gt;&gt;&gt;print("List</a:t>
            </a:r>
            <a:r>
              <a:rPr sz="2417" spc="-87"/>
              <a:t> </a:t>
            </a:r>
            <a:r>
              <a:rPr sz="2417" spc="54"/>
              <a:t>Iteration")</a:t>
            </a:r>
          </a:p>
          <a:p>
            <a:pPr indent="10583">
              <a:spcBef>
                <a:spcPts val="1333"/>
              </a:spcBef>
              <a:defRPr sz="2900" spc="-110">
                <a:latin typeface="Gill Sans MT"/>
                <a:ea typeface="Gill Sans MT"/>
                <a:cs typeface="Gill Sans MT"/>
                <a:sym typeface="Gill Sans MT"/>
              </a:defRPr>
            </a:pPr>
            <a:r>
              <a:rPr sz="2417"/>
              <a:t>&gt;&gt;&gt;l </a:t>
            </a:r>
            <a:r>
              <a:rPr sz="2417" spc="-54"/>
              <a:t>= </a:t>
            </a:r>
            <a:r>
              <a:rPr sz="2417" spc="87"/>
              <a:t>[“Manikanta",</a:t>
            </a:r>
            <a:r>
              <a:rPr sz="2417" spc="-108"/>
              <a:t> </a:t>
            </a:r>
            <a:r>
              <a:rPr sz="2417" spc="75"/>
              <a:t>“Pradhan"]</a:t>
            </a:r>
          </a:p>
          <a:p>
            <a:pPr indent="10583">
              <a:spcBef>
                <a:spcPts val="1417"/>
              </a:spcBef>
              <a:defRPr sz="2900" spc="-55">
                <a:latin typeface="Gill Sans MT"/>
                <a:ea typeface="Gill Sans MT"/>
                <a:cs typeface="Gill Sans MT"/>
                <a:sym typeface="Gill Sans MT"/>
              </a:defRPr>
            </a:pPr>
            <a:r>
              <a:rPr sz="2417"/>
              <a:t>&gt;&gt;&gt;for </a:t>
            </a:r>
            <a:r>
              <a:rPr sz="2417" spc="87"/>
              <a:t>i </a:t>
            </a:r>
            <a:r>
              <a:rPr sz="2417" spc="112"/>
              <a:t>in</a:t>
            </a:r>
            <a:r>
              <a:rPr sz="2417" spc="-271"/>
              <a:t> </a:t>
            </a:r>
            <a:r>
              <a:rPr sz="2417" spc="95"/>
              <a:t>l:</a:t>
            </a:r>
          </a:p>
          <a:p>
            <a:pPr indent="10583">
              <a:spcBef>
                <a:spcPts val="1417"/>
              </a:spcBef>
              <a:tabLst>
                <a:tab pos="1534522" algn="l"/>
              </a:tabLst>
              <a:defRPr sz="2900" spc="-340">
                <a:latin typeface="Gill Sans MT"/>
                <a:ea typeface="Gill Sans MT"/>
                <a:cs typeface="Gill Sans MT"/>
                <a:sym typeface="Gill Sans MT"/>
              </a:defRPr>
            </a:pPr>
            <a:r>
              <a:rPr sz="2417"/>
              <a:t>….	</a:t>
            </a:r>
            <a:r>
              <a:rPr sz="2417" spc="58"/>
              <a:t>print(i)</a:t>
            </a:r>
          </a:p>
        </p:txBody>
      </p:sp>
    </p:spTree>
    <p:extLst>
      <p:ext uri="{BB962C8B-B14F-4D97-AF65-F5344CB8AC3E}">
        <p14:creationId xmlns:p14="http://schemas.microsoft.com/office/powerpoint/2010/main" val="17026022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191" name="object 3"/>
          <p:cNvSpPr txBox="1">
            <a:spLocks noGrp="1"/>
          </p:cNvSpPr>
          <p:nvPr>
            <p:ph type="title"/>
          </p:nvPr>
        </p:nvSpPr>
        <p:spPr>
          <a:prstGeom prst="rect">
            <a:avLst/>
          </a:prstGeom>
        </p:spPr>
        <p:txBody>
          <a:bodyPr>
            <a:normAutofit/>
          </a:bodyPr>
          <a:lstStyle/>
          <a:p>
            <a:pPr indent="10053" defTabSz="723871">
              <a:defRPr sz="3230"/>
            </a:pPr>
            <a:r>
              <a:t>ITERATING </a:t>
            </a:r>
            <a:r>
              <a:rPr spc="-79"/>
              <a:t>OVER A</a:t>
            </a:r>
            <a:r>
              <a:rPr spc="-317"/>
              <a:t> </a:t>
            </a:r>
            <a:r>
              <a:rPr spc="79"/>
              <a:t>TUPLE:</a:t>
            </a:r>
          </a:p>
        </p:txBody>
      </p:sp>
      <p:sp>
        <p:nvSpPr>
          <p:cNvPr id="192" name="object 4"/>
          <p:cNvSpPr txBox="1"/>
          <p:nvPr/>
        </p:nvSpPr>
        <p:spPr>
          <a:xfrm>
            <a:off x="1538287" y="1805176"/>
            <a:ext cx="4334406" cy="2013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1417"/>
              </a:spcBef>
              <a:defRPr sz="2900" spc="20">
                <a:latin typeface="Gill Sans MT"/>
                <a:ea typeface="Gill Sans MT"/>
                <a:cs typeface="Gill Sans MT"/>
                <a:sym typeface="Gill Sans MT"/>
              </a:defRPr>
            </a:pPr>
            <a:r>
              <a:rPr sz="2417"/>
              <a:t>&gt;&gt;&gt;print(“Tuple</a:t>
            </a:r>
            <a:r>
              <a:rPr sz="2417" spc="-83"/>
              <a:t> </a:t>
            </a:r>
            <a:r>
              <a:rPr sz="2417" spc="54"/>
              <a:t>Iteration")</a:t>
            </a:r>
          </a:p>
          <a:p>
            <a:pPr indent="10583">
              <a:spcBef>
                <a:spcPts val="1333"/>
              </a:spcBef>
              <a:defRPr sz="2900" spc="-140">
                <a:latin typeface="Gill Sans MT"/>
                <a:ea typeface="Gill Sans MT"/>
                <a:cs typeface="Gill Sans MT"/>
                <a:sym typeface="Gill Sans MT"/>
              </a:defRPr>
            </a:pPr>
            <a:r>
              <a:rPr sz="2417"/>
              <a:t>&gt;&gt;&gt;t </a:t>
            </a:r>
            <a:r>
              <a:rPr sz="2417" spc="-54"/>
              <a:t>= </a:t>
            </a:r>
            <a:r>
              <a:rPr sz="2417" spc="104"/>
              <a:t>(“Manikanta",</a:t>
            </a:r>
            <a:r>
              <a:rPr sz="2417" spc="-112"/>
              <a:t> </a:t>
            </a:r>
            <a:r>
              <a:rPr sz="2417" spc="95"/>
              <a:t>“Pradhan“)</a:t>
            </a:r>
          </a:p>
          <a:p>
            <a:pPr indent="10583">
              <a:spcBef>
                <a:spcPts val="1417"/>
              </a:spcBef>
              <a:defRPr sz="2900" spc="-55">
                <a:latin typeface="Gill Sans MT"/>
                <a:ea typeface="Gill Sans MT"/>
                <a:cs typeface="Gill Sans MT"/>
                <a:sym typeface="Gill Sans MT"/>
              </a:defRPr>
            </a:pPr>
            <a:r>
              <a:rPr sz="2417"/>
              <a:t>&gt;&gt;&gt;for </a:t>
            </a:r>
            <a:r>
              <a:rPr sz="2417" spc="87"/>
              <a:t>i </a:t>
            </a:r>
            <a:r>
              <a:rPr sz="2417" spc="112"/>
              <a:t>in</a:t>
            </a:r>
            <a:r>
              <a:rPr sz="2417" spc="-271"/>
              <a:t> </a:t>
            </a:r>
            <a:r>
              <a:rPr sz="2417" spc="54"/>
              <a:t>t:</a:t>
            </a:r>
          </a:p>
          <a:p>
            <a:pPr indent="10583">
              <a:spcBef>
                <a:spcPts val="1417"/>
              </a:spcBef>
              <a:tabLst>
                <a:tab pos="1534522" algn="l"/>
              </a:tabLst>
              <a:defRPr sz="2900" spc="-340">
                <a:latin typeface="Gill Sans MT"/>
                <a:ea typeface="Gill Sans MT"/>
                <a:cs typeface="Gill Sans MT"/>
                <a:sym typeface="Gill Sans MT"/>
              </a:defRPr>
            </a:pPr>
            <a:r>
              <a:rPr sz="2417"/>
              <a:t>….	</a:t>
            </a:r>
            <a:r>
              <a:rPr sz="2417" spc="58"/>
              <a:t>print(i)</a:t>
            </a:r>
          </a:p>
        </p:txBody>
      </p:sp>
    </p:spTree>
    <p:extLst>
      <p:ext uri="{BB962C8B-B14F-4D97-AF65-F5344CB8AC3E}">
        <p14:creationId xmlns:p14="http://schemas.microsoft.com/office/powerpoint/2010/main" val="333251463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195" name="object 3"/>
          <p:cNvSpPr txBox="1">
            <a:spLocks noGrp="1"/>
          </p:cNvSpPr>
          <p:nvPr>
            <p:ph type="title"/>
          </p:nvPr>
        </p:nvSpPr>
        <p:spPr>
          <a:prstGeom prst="rect">
            <a:avLst/>
          </a:prstGeom>
        </p:spPr>
        <p:txBody>
          <a:bodyPr>
            <a:normAutofit/>
          </a:bodyPr>
          <a:lstStyle/>
          <a:p>
            <a:pPr indent="10159" defTabSz="731490">
              <a:defRPr sz="3264"/>
            </a:pPr>
            <a:r>
              <a:t>ITERATING </a:t>
            </a:r>
            <a:r>
              <a:rPr spc="-80"/>
              <a:t>OVER A</a:t>
            </a:r>
            <a:r>
              <a:rPr spc="-320"/>
              <a:t> </a:t>
            </a:r>
            <a:r>
              <a:t>STRING:</a:t>
            </a:r>
          </a:p>
        </p:txBody>
      </p:sp>
      <p:sp>
        <p:nvSpPr>
          <p:cNvPr id="196" name="object 4"/>
          <p:cNvSpPr txBox="1"/>
          <p:nvPr/>
        </p:nvSpPr>
        <p:spPr>
          <a:xfrm>
            <a:off x="1538288" y="1805176"/>
            <a:ext cx="3893080" cy="2013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1417"/>
              </a:spcBef>
              <a:defRPr sz="2900" spc="20">
                <a:latin typeface="Gill Sans MT"/>
                <a:ea typeface="Gill Sans MT"/>
                <a:cs typeface="Gill Sans MT"/>
                <a:sym typeface="Gill Sans MT"/>
              </a:defRPr>
            </a:pPr>
            <a:r>
              <a:rPr sz="2417"/>
              <a:t>&gt;&gt;&gt;print(“Tuple</a:t>
            </a:r>
            <a:r>
              <a:rPr sz="2417" spc="-87"/>
              <a:t> </a:t>
            </a:r>
            <a:r>
              <a:rPr sz="2417" spc="54"/>
              <a:t>Iteration")</a:t>
            </a:r>
          </a:p>
          <a:p>
            <a:pPr indent="10583">
              <a:spcBef>
                <a:spcPts val="1333"/>
              </a:spcBef>
              <a:defRPr sz="2900" spc="-45">
                <a:latin typeface="Gill Sans MT"/>
                <a:ea typeface="Gill Sans MT"/>
                <a:cs typeface="Gill Sans MT"/>
                <a:sym typeface="Gill Sans MT"/>
              </a:defRPr>
            </a:pPr>
            <a:r>
              <a:rPr sz="2417"/>
              <a:t>&gt;&gt;&gt;s </a:t>
            </a:r>
            <a:r>
              <a:rPr sz="2417" spc="-54"/>
              <a:t>= </a:t>
            </a:r>
            <a:r>
              <a:rPr sz="2417" spc="137"/>
              <a:t>“Manikanta</a:t>
            </a:r>
            <a:r>
              <a:rPr sz="2417" spc="-204"/>
              <a:t> </a:t>
            </a:r>
            <a:r>
              <a:rPr sz="2417" spc="129"/>
              <a:t>Pradhan”</a:t>
            </a:r>
          </a:p>
          <a:p>
            <a:pPr indent="10583">
              <a:spcBef>
                <a:spcPts val="1417"/>
              </a:spcBef>
              <a:defRPr sz="2900" spc="-55">
                <a:latin typeface="Gill Sans MT"/>
                <a:ea typeface="Gill Sans MT"/>
                <a:cs typeface="Gill Sans MT"/>
                <a:sym typeface="Gill Sans MT"/>
              </a:defRPr>
            </a:pPr>
            <a:r>
              <a:rPr sz="2417"/>
              <a:t>&gt;&gt;&gt;for </a:t>
            </a:r>
            <a:r>
              <a:rPr sz="2417" spc="87"/>
              <a:t>i </a:t>
            </a:r>
            <a:r>
              <a:rPr sz="2417" spc="112"/>
              <a:t>in</a:t>
            </a:r>
            <a:r>
              <a:rPr sz="2417" spc="-271"/>
              <a:t> </a:t>
            </a:r>
            <a:r>
              <a:rPr sz="2417" spc="212"/>
              <a:t>s:</a:t>
            </a:r>
          </a:p>
          <a:p>
            <a:pPr indent="10583">
              <a:spcBef>
                <a:spcPts val="1417"/>
              </a:spcBef>
              <a:tabLst>
                <a:tab pos="1534522" algn="l"/>
              </a:tabLst>
              <a:defRPr sz="2900" spc="-340">
                <a:latin typeface="Gill Sans MT"/>
                <a:ea typeface="Gill Sans MT"/>
                <a:cs typeface="Gill Sans MT"/>
                <a:sym typeface="Gill Sans MT"/>
              </a:defRPr>
            </a:pPr>
            <a:r>
              <a:rPr sz="2417"/>
              <a:t>….	</a:t>
            </a:r>
            <a:r>
              <a:rPr sz="2417" spc="58"/>
              <a:t>print(i)</a:t>
            </a:r>
          </a:p>
        </p:txBody>
      </p:sp>
    </p:spTree>
    <p:extLst>
      <p:ext uri="{BB962C8B-B14F-4D97-AF65-F5344CB8AC3E}">
        <p14:creationId xmlns:p14="http://schemas.microsoft.com/office/powerpoint/2010/main" val="389308483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199" name="object 3"/>
          <p:cNvSpPr txBox="1">
            <a:spLocks noGrp="1"/>
          </p:cNvSpPr>
          <p:nvPr>
            <p:ph type="title"/>
          </p:nvPr>
        </p:nvSpPr>
        <p:spPr>
          <a:prstGeom prst="rect">
            <a:avLst/>
          </a:prstGeom>
        </p:spPr>
        <p:txBody>
          <a:bodyPr>
            <a:normAutofit/>
          </a:bodyPr>
          <a:lstStyle/>
          <a:p>
            <a:pPr indent="10371" defTabSz="746729">
              <a:defRPr sz="3332"/>
            </a:pPr>
            <a:r>
              <a:t>ITERATING </a:t>
            </a:r>
            <a:r>
              <a:rPr spc="-82"/>
              <a:t>OVER A</a:t>
            </a:r>
            <a:r>
              <a:rPr spc="-327"/>
              <a:t> </a:t>
            </a:r>
            <a:r>
              <a:rPr spc="-82"/>
              <a:t>DICTIONARY:</a:t>
            </a:r>
          </a:p>
        </p:txBody>
      </p:sp>
      <p:sp>
        <p:nvSpPr>
          <p:cNvPr id="200" name="object 4"/>
          <p:cNvSpPr txBox="1"/>
          <p:nvPr/>
        </p:nvSpPr>
        <p:spPr>
          <a:xfrm>
            <a:off x="1538287" y="1805176"/>
            <a:ext cx="4463522" cy="34757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1417"/>
              </a:spcBef>
              <a:defRPr sz="2900" spc="45">
                <a:latin typeface="Gill Sans MT"/>
                <a:ea typeface="Gill Sans MT"/>
                <a:cs typeface="Gill Sans MT"/>
                <a:sym typeface="Gill Sans MT"/>
              </a:defRPr>
            </a:pPr>
            <a:r>
              <a:rPr sz="2417"/>
              <a:t>&gt;&gt;&gt;print("\nDictionary</a:t>
            </a:r>
            <a:r>
              <a:rPr sz="2417" spc="-146"/>
              <a:t> </a:t>
            </a:r>
            <a:r>
              <a:rPr sz="2417" spc="58"/>
              <a:t>Iteration")</a:t>
            </a:r>
          </a:p>
          <a:p>
            <a:pPr indent="10583">
              <a:spcBef>
                <a:spcPts val="1333"/>
              </a:spcBef>
              <a:defRPr sz="2900" spc="-100">
                <a:latin typeface="Gill Sans MT"/>
                <a:ea typeface="Gill Sans MT"/>
                <a:cs typeface="Gill Sans MT"/>
                <a:sym typeface="Gill Sans MT"/>
              </a:defRPr>
            </a:pPr>
            <a:r>
              <a:rPr sz="2417"/>
              <a:t>&gt;&gt;&gt;d </a:t>
            </a:r>
            <a:r>
              <a:rPr sz="2417" spc="-54"/>
              <a:t>= </a:t>
            </a:r>
            <a:r>
              <a:rPr sz="2417" spc="87"/>
              <a:t>dict()</a:t>
            </a:r>
          </a:p>
          <a:p>
            <a:pPr indent="10583">
              <a:spcBef>
                <a:spcPts val="1417"/>
              </a:spcBef>
              <a:defRPr sz="2900" spc="-45">
                <a:latin typeface="Gill Sans MT"/>
                <a:ea typeface="Gill Sans MT"/>
                <a:cs typeface="Gill Sans MT"/>
                <a:sym typeface="Gill Sans MT"/>
              </a:defRPr>
            </a:pPr>
            <a:r>
              <a:rPr sz="2417"/>
              <a:t>&gt;&gt;&gt;d['xyz'] </a:t>
            </a:r>
            <a:r>
              <a:rPr sz="2417" spc="-50"/>
              <a:t>=</a:t>
            </a:r>
            <a:r>
              <a:rPr sz="2417" spc="-108"/>
              <a:t> </a:t>
            </a:r>
            <a:r>
              <a:rPr sz="2417" spc="162"/>
              <a:t>123</a:t>
            </a:r>
          </a:p>
          <a:p>
            <a:pPr indent="10583">
              <a:spcBef>
                <a:spcPts val="1417"/>
              </a:spcBef>
              <a:defRPr sz="2900" spc="-15">
                <a:latin typeface="Gill Sans MT"/>
                <a:ea typeface="Gill Sans MT"/>
                <a:cs typeface="Gill Sans MT"/>
                <a:sym typeface="Gill Sans MT"/>
              </a:defRPr>
            </a:pPr>
            <a:r>
              <a:rPr sz="2417"/>
              <a:t>&gt;&gt;&gt;d['abc'] </a:t>
            </a:r>
            <a:r>
              <a:rPr sz="2417" spc="-54"/>
              <a:t>=</a:t>
            </a:r>
            <a:r>
              <a:rPr sz="2417" spc="-133"/>
              <a:t> </a:t>
            </a:r>
            <a:r>
              <a:rPr sz="2417" spc="162"/>
              <a:t>345</a:t>
            </a:r>
          </a:p>
          <a:p>
            <a:pPr indent="10583">
              <a:spcBef>
                <a:spcPts val="1333"/>
              </a:spcBef>
              <a:defRPr sz="2900" spc="-55">
                <a:latin typeface="Gill Sans MT"/>
                <a:ea typeface="Gill Sans MT"/>
                <a:cs typeface="Gill Sans MT"/>
                <a:sym typeface="Gill Sans MT"/>
              </a:defRPr>
            </a:pPr>
            <a:r>
              <a:rPr sz="2417"/>
              <a:t>&gt;&gt;&gt;for </a:t>
            </a:r>
            <a:r>
              <a:rPr sz="2417" spc="87"/>
              <a:t>i </a:t>
            </a:r>
            <a:r>
              <a:rPr sz="2417" spc="112"/>
              <a:t>in </a:t>
            </a:r>
            <a:r>
              <a:rPr sz="2417" spc="129"/>
              <a:t>d</a:t>
            </a:r>
            <a:r>
              <a:rPr sz="2417" spc="-454"/>
              <a:t> </a:t>
            </a:r>
            <a:r>
              <a:rPr sz="2417" spc="108"/>
              <a:t>:</a:t>
            </a:r>
          </a:p>
          <a:p>
            <a:pPr indent="10583">
              <a:spcBef>
                <a:spcPts val="1417"/>
              </a:spcBef>
              <a:tabLst>
                <a:tab pos="539728" algn="l"/>
                <a:tab pos="1904924" algn="l"/>
              </a:tabLst>
              <a:defRPr sz="2900" spc="-340">
                <a:latin typeface="Gill Sans MT"/>
                <a:ea typeface="Gill Sans MT"/>
                <a:cs typeface="Gill Sans MT"/>
                <a:sym typeface="Gill Sans MT"/>
              </a:defRPr>
            </a:pPr>
            <a:r>
              <a:rPr sz="2417"/>
              <a:t>….	</a:t>
            </a:r>
            <a:r>
              <a:rPr sz="2417" spc="75"/>
              <a:t>print("%s	</a:t>
            </a:r>
            <a:r>
              <a:rPr sz="2417" spc="62"/>
              <a:t>%d" </a:t>
            </a:r>
            <a:r>
              <a:rPr sz="2417" spc="75"/>
              <a:t>%(i,</a:t>
            </a:r>
            <a:r>
              <a:rPr sz="2417" spc="-221"/>
              <a:t> </a:t>
            </a:r>
            <a:r>
              <a:rPr sz="2417" spc="4"/>
              <a:t>d[i]))</a:t>
            </a:r>
          </a:p>
        </p:txBody>
      </p:sp>
    </p:spTree>
    <p:extLst>
      <p:ext uri="{BB962C8B-B14F-4D97-AF65-F5344CB8AC3E}">
        <p14:creationId xmlns:p14="http://schemas.microsoft.com/office/powerpoint/2010/main" val="79383203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203" name="object 3"/>
          <p:cNvSpPr txBox="1">
            <a:spLocks noGrp="1"/>
          </p:cNvSpPr>
          <p:nvPr>
            <p:ph type="title"/>
          </p:nvPr>
        </p:nvSpPr>
        <p:spPr>
          <a:prstGeom prst="rect">
            <a:avLst/>
          </a:prstGeom>
        </p:spPr>
        <p:txBody>
          <a:bodyPr>
            <a:normAutofit/>
          </a:bodyPr>
          <a:lstStyle/>
          <a:p>
            <a:pPr indent="9842" defTabSz="708631">
              <a:defRPr sz="3162"/>
            </a:pPr>
            <a:r>
              <a:t>SELECTION</a:t>
            </a:r>
            <a:r>
              <a:rPr spc="-155"/>
              <a:t> </a:t>
            </a:r>
            <a:r>
              <a:rPr spc="77"/>
              <a:t>STATEMENTS</a:t>
            </a:r>
          </a:p>
        </p:txBody>
      </p:sp>
      <p:sp>
        <p:nvSpPr>
          <p:cNvPr id="204" name="object 4"/>
          <p:cNvSpPr txBox="1">
            <a:spLocks noGrp="1"/>
          </p:cNvSpPr>
          <p:nvPr>
            <p:ph idx="1"/>
          </p:nvPr>
        </p:nvSpPr>
        <p:spPr>
          <a:prstGeom prst="rect">
            <a:avLst/>
          </a:prstGeom>
        </p:spPr>
        <p:txBody>
          <a:bodyPr/>
          <a:lstStyle/>
          <a:p>
            <a:pPr marL="467235" marR="4233" indent="-457182">
              <a:spcBef>
                <a:spcPts val="83"/>
              </a:spcBef>
              <a:buSzPct val="100000"/>
              <a:buAutoNum type="arabicPeriod"/>
              <a:tabLst>
                <a:tab pos="465648" algn="l"/>
                <a:tab pos="465648" algn="l"/>
              </a:tabLst>
            </a:pPr>
            <a:r>
              <a:t>Selection statements allow programmers to ask questions and then,</a:t>
            </a:r>
            <a:r>
              <a:rPr spc="-250"/>
              <a:t> </a:t>
            </a:r>
            <a:r>
              <a:t>based  on the result, perform </a:t>
            </a:r>
            <a:r>
              <a:rPr spc="-83"/>
              <a:t>different</a:t>
            </a:r>
            <a:r>
              <a:rPr spc="-167"/>
              <a:t> </a:t>
            </a:r>
            <a:r>
              <a:t>actions.</a:t>
            </a:r>
          </a:p>
          <a:p>
            <a:pPr marL="467235" indent="-457182">
              <a:spcBef>
                <a:spcPts val="1417"/>
              </a:spcBef>
              <a:buSzPct val="100000"/>
              <a:buAutoNum type="arabicPeriod"/>
              <a:tabLst>
                <a:tab pos="465648" algn="l"/>
                <a:tab pos="465648" algn="l"/>
              </a:tabLst>
              <a:defRPr spc="-100"/>
            </a:pPr>
            <a:r>
              <a:t>Types:</a:t>
            </a:r>
          </a:p>
          <a:p>
            <a:pPr marL="710112" lvl="1" indent="-457711">
              <a:spcBef>
                <a:spcPts val="1333"/>
              </a:spcBef>
              <a:buSzPct val="100000"/>
              <a:buAutoNum type="arabicPeriod"/>
              <a:tabLst>
                <a:tab pos="709055" algn="l"/>
                <a:tab pos="709055" algn="l"/>
              </a:tabLst>
            </a:pPr>
            <a:r>
              <a:t>If</a:t>
            </a:r>
            <a:r>
              <a:rPr spc="-83"/>
              <a:t> </a:t>
            </a:r>
            <a:r>
              <a:t>statement:</a:t>
            </a:r>
          </a:p>
          <a:p>
            <a:pPr marR="752444" indent="772022">
              <a:spcBef>
                <a:spcPts val="1417"/>
              </a:spcBef>
            </a:pPr>
            <a:r>
              <a:t>The simple if statement allows the program to branch based on</a:t>
            </a:r>
            <a:r>
              <a:rPr spc="-250"/>
              <a:t> </a:t>
            </a:r>
            <a:r>
              <a:t>the  evaluation of an</a:t>
            </a:r>
            <a:r>
              <a:rPr spc="-83"/>
              <a:t> </a:t>
            </a:r>
            <a:r>
              <a:t>expression.</a:t>
            </a:r>
          </a:p>
        </p:txBody>
      </p:sp>
      <p:sp>
        <p:nvSpPr>
          <p:cNvPr id="205" name="object 5"/>
          <p:cNvSpPr txBox="1"/>
          <p:nvPr/>
        </p:nvSpPr>
        <p:spPr>
          <a:xfrm>
            <a:off x="1538287" y="4741649"/>
            <a:ext cx="1047222" cy="3719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83"/>
              </a:spcBef>
              <a:defRPr sz="2900">
                <a:latin typeface="Arial"/>
                <a:ea typeface="Arial"/>
                <a:cs typeface="Arial"/>
                <a:sym typeface="Arial"/>
              </a:defRPr>
            </a:pPr>
            <a:r>
              <a:rPr sz="2417"/>
              <a:t>Synt</a:t>
            </a:r>
            <a:r>
              <a:rPr sz="2417" spc="4"/>
              <a:t>a</a:t>
            </a:r>
            <a:r>
              <a:rPr sz="2417"/>
              <a:t>x:</a:t>
            </a:r>
          </a:p>
        </p:txBody>
      </p:sp>
      <p:sp>
        <p:nvSpPr>
          <p:cNvPr id="206" name="object 6"/>
          <p:cNvSpPr txBox="1"/>
          <p:nvPr/>
        </p:nvSpPr>
        <p:spPr>
          <a:xfrm>
            <a:off x="3062605" y="4741733"/>
            <a:ext cx="4211108" cy="9106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1417"/>
              </a:spcBef>
              <a:defRPr sz="2900" spc="-5">
                <a:latin typeface="Arial"/>
                <a:ea typeface="Arial"/>
                <a:cs typeface="Arial"/>
                <a:sym typeface="Arial"/>
              </a:defRPr>
            </a:pPr>
            <a:r>
              <a:rPr sz="2417"/>
              <a:t>&gt;&gt;&gt;if condition</a:t>
            </a:r>
            <a:r>
              <a:rPr sz="2417" spc="-50"/>
              <a:t> </a:t>
            </a:r>
            <a:r>
              <a:rPr sz="2417"/>
              <a:t>:</a:t>
            </a:r>
          </a:p>
          <a:p>
            <a:pPr indent="772552">
              <a:spcBef>
                <a:spcPts val="1333"/>
              </a:spcBef>
              <a:defRPr sz="2900">
                <a:latin typeface="Arial"/>
                <a:ea typeface="Arial"/>
                <a:cs typeface="Arial"/>
                <a:sym typeface="Arial"/>
              </a:defRPr>
            </a:pPr>
            <a:r>
              <a:rPr sz="2417"/>
              <a:t>statements or</a:t>
            </a:r>
            <a:r>
              <a:rPr sz="2417" spc="-104"/>
              <a:t> </a:t>
            </a:r>
            <a:r>
              <a:rPr sz="2417"/>
              <a:t>expression</a:t>
            </a:r>
          </a:p>
        </p:txBody>
      </p:sp>
    </p:spTree>
    <p:extLst>
      <p:ext uri="{BB962C8B-B14F-4D97-AF65-F5344CB8AC3E}">
        <p14:creationId xmlns:p14="http://schemas.microsoft.com/office/powerpoint/2010/main" val="225045705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209" name="object 3"/>
          <p:cNvSpPr txBox="1">
            <a:spLocks noGrp="1"/>
          </p:cNvSpPr>
          <p:nvPr>
            <p:ph type="title"/>
          </p:nvPr>
        </p:nvSpPr>
        <p:spPr>
          <a:prstGeom prst="rect">
            <a:avLst/>
          </a:prstGeom>
        </p:spPr>
        <p:txBody>
          <a:bodyPr>
            <a:normAutofit/>
          </a:bodyPr>
          <a:lstStyle/>
          <a:p>
            <a:pPr indent="9842" defTabSz="708631">
              <a:defRPr sz="3162"/>
            </a:pPr>
            <a:r>
              <a:t>SELECTION</a:t>
            </a:r>
            <a:r>
              <a:rPr spc="-155"/>
              <a:t> </a:t>
            </a:r>
            <a:r>
              <a:rPr spc="77"/>
              <a:t>STATEMENTS</a:t>
            </a:r>
          </a:p>
        </p:txBody>
      </p:sp>
      <p:sp>
        <p:nvSpPr>
          <p:cNvPr id="210" name="object 4"/>
          <p:cNvSpPr txBox="1"/>
          <p:nvPr/>
        </p:nvSpPr>
        <p:spPr>
          <a:xfrm>
            <a:off x="776308" y="1805176"/>
            <a:ext cx="6189134" cy="31163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1417"/>
              </a:spcBef>
              <a:tabLst>
                <a:tab pos="465648" algn="l"/>
              </a:tabLst>
              <a:defRPr sz="2900" spc="185">
                <a:latin typeface="Gill Sans MT"/>
                <a:ea typeface="Gill Sans MT"/>
                <a:cs typeface="Gill Sans MT"/>
                <a:sym typeface="Gill Sans MT"/>
              </a:defRPr>
            </a:pPr>
            <a:r>
              <a:rPr sz="2417"/>
              <a:t>1.	</a:t>
            </a:r>
            <a:r>
              <a:rPr sz="2417" spc="146"/>
              <a:t>If-else</a:t>
            </a:r>
            <a:r>
              <a:rPr sz="2417" spc="-87"/>
              <a:t> </a:t>
            </a:r>
            <a:r>
              <a:rPr sz="2417" spc="137"/>
              <a:t>Statement:</a:t>
            </a:r>
          </a:p>
          <a:p>
            <a:pPr marR="4233" indent="772022">
              <a:lnSpc>
                <a:spcPts val="4250"/>
              </a:lnSpc>
              <a:spcBef>
                <a:spcPts val="333"/>
              </a:spcBef>
              <a:defRPr sz="2900" spc="110">
                <a:latin typeface="Gill Sans MT"/>
                <a:ea typeface="Gill Sans MT"/>
                <a:cs typeface="Gill Sans MT"/>
                <a:sym typeface="Gill Sans MT"/>
              </a:defRPr>
            </a:pPr>
            <a:r>
              <a:rPr sz="2417"/>
              <a:t>The </a:t>
            </a:r>
            <a:r>
              <a:rPr sz="2417" spc="150"/>
              <a:t>if-else </a:t>
            </a:r>
            <a:r>
              <a:rPr sz="2417" spc="133"/>
              <a:t>statement </a:t>
            </a:r>
            <a:r>
              <a:rPr sz="2417" spc="158"/>
              <a:t>evaluates </a:t>
            </a:r>
            <a:r>
              <a:rPr sz="2417" spc="112"/>
              <a:t>test  </a:t>
            </a:r>
            <a:r>
              <a:rPr sz="2417" spc="121"/>
              <a:t>expression</a:t>
            </a:r>
            <a:r>
              <a:rPr sz="2417" spc="-100"/>
              <a:t> </a:t>
            </a:r>
            <a:r>
              <a:rPr sz="2417" spc="179"/>
              <a:t>and</a:t>
            </a:r>
            <a:r>
              <a:rPr sz="2417" spc="-75"/>
              <a:t> </a:t>
            </a:r>
            <a:r>
              <a:rPr sz="2417" spc="75"/>
              <a:t>will</a:t>
            </a:r>
            <a:r>
              <a:rPr sz="2417" spc="-87"/>
              <a:t> </a:t>
            </a:r>
            <a:r>
              <a:rPr sz="2417" spc="108"/>
              <a:t>execute</a:t>
            </a:r>
            <a:r>
              <a:rPr sz="2417" spc="-83"/>
              <a:t> </a:t>
            </a:r>
            <a:r>
              <a:rPr sz="2417"/>
              <a:t>the</a:t>
            </a:r>
            <a:r>
              <a:rPr sz="2417" spc="-79"/>
              <a:t> </a:t>
            </a:r>
            <a:r>
              <a:rPr sz="2417" spc="108"/>
              <a:t>body</a:t>
            </a:r>
            <a:r>
              <a:rPr sz="2417" spc="-100"/>
              <a:t> </a:t>
            </a:r>
            <a:r>
              <a:rPr sz="2417" spc="142"/>
              <a:t>of</a:t>
            </a:r>
          </a:p>
          <a:p>
            <a:pPr marR="189963" indent="772022">
              <a:lnSpc>
                <a:spcPts val="4250"/>
              </a:lnSpc>
              <a:defRPr sz="2900" spc="200">
                <a:latin typeface="Gill Sans MT"/>
                <a:ea typeface="Gill Sans MT"/>
                <a:cs typeface="Gill Sans MT"/>
                <a:sym typeface="Gill Sans MT"/>
              </a:defRPr>
            </a:pPr>
            <a:r>
              <a:rPr sz="2417"/>
              <a:t>if</a:t>
            </a:r>
            <a:r>
              <a:rPr sz="2417" spc="-75"/>
              <a:t> </a:t>
            </a:r>
            <a:r>
              <a:rPr sz="2417" spc="92"/>
              <a:t>only</a:t>
            </a:r>
            <a:r>
              <a:rPr sz="2417" spc="-75"/>
              <a:t> </a:t>
            </a:r>
            <a:r>
              <a:rPr sz="2417" spc="117"/>
              <a:t>when</a:t>
            </a:r>
            <a:r>
              <a:rPr sz="2417" spc="-87"/>
              <a:t> </a:t>
            </a:r>
            <a:r>
              <a:rPr sz="2417" spc="92"/>
              <a:t>the</a:t>
            </a:r>
            <a:r>
              <a:rPr sz="2417" spc="-75"/>
              <a:t> </a:t>
            </a:r>
            <a:r>
              <a:rPr sz="2417" spc="112"/>
              <a:t>test</a:t>
            </a:r>
            <a:r>
              <a:rPr sz="2417" spc="-100"/>
              <a:t> </a:t>
            </a:r>
            <a:r>
              <a:rPr sz="2417" spc="95"/>
              <a:t>condition</a:t>
            </a:r>
            <a:r>
              <a:rPr sz="2417" spc="-75"/>
              <a:t> </a:t>
            </a:r>
            <a:r>
              <a:rPr sz="2417" spc="200"/>
              <a:t>is</a:t>
            </a:r>
            <a:r>
              <a:rPr sz="2417" spc="-100"/>
              <a:t> </a:t>
            </a:r>
            <a:r>
              <a:rPr sz="2417" spc="50"/>
              <a:t>True.  </a:t>
            </a:r>
            <a:r>
              <a:rPr sz="2417" spc="162"/>
              <a:t>If</a:t>
            </a:r>
            <a:r>
              <a:rPr sz="2417" spc="-75"/>
              <a:t> </a:t>
            </a:r>
            <a:r>
              <a:rPr sz="2417" spc="92"/>
              <a:t>the</a:t>
            </a:r>
            <a:r>
              <a:rPr sz="2417" spc="-87"/>
              <a:t> </a:t>
            </a:r>
            <a:r>
              <a:rPr sz="2417" spc="95"/>
              <a:t>condition</a:t>
            </a:r>
            <a:r>
              <a:rPr sz="2417" spc="-79"/>
              <a:t> </a:t>
            </a:r>
            <a:r>
              <a:rPr sz="2417" spc="200"/>
              <a:t>is</a:t>
            </a:r>
            <a:r>
              <a:rPr sz="2417" spc="-100"/>
              <a:t> </a:t>
            </a:r>
            <a:r>
              <a:rPr sz="2417" spc="154"/>
              <a:t>False,</a:t>
            </a:r>
            <a:r>
              <a:rPr sz="2417" spc="-100"/>
              <a:t> </a:t>
            </a:r>
            <a:r>
              <a:rPr sz="2417" spc="92"/>
              <a:t>the</a:t>
            </a:r>
            <a:r>
              <a:rPr sz="2417" spc="-83"/>
              <a:t> </a:t>
            </a:r>
            <a:r>
              <a:rPr sz="2417" spc="108"/>
              <a:t>body</a:t>
            </a:r>
            <a:r>
              <a:rPr sz="2417" spc="-75"/>
              <a:t> </a:t>
            </a:r>
            <a:r>
              <a:rPr sz="2417" spc="142"/>
              <a:t>of</a:t>
            </a:r>
          </a:p>
          <a:p>
            <a:pPr indent="772022">
              <a:spcBef>
                <a:spcPts val="1000"/>
              </a:spcBef>
              <a:defRPr sz="2900" spc="204">
                <a:latin typeface="Gill Sans MT"/>
                <a:ea typeface="Gill Sans MT"/>
                <a:cs typeface="Gill Sans MT"/>
                <a:sym typeface="Gill Sans MT"/>
              </a:defRPr>
            </a:pPr>
            <a:r>
              <a:rPr sz="2417"/>
              <a:t>else </a:t>
            </a:r>
            <a:r>
              <a:rPr sz="2417" spc="200"/>
              <a:t>is</a:t>
            </a:r>
            <a:r>
              <a:rPr sz="2417" spc="-346"/>
              <a:t> </a:t>
            </a:r>
            <a:r>
              <a:rPr sz="2417" spc="117"/>
              <a:t>executed.</a:t>
            </a:r>
          </a:p>
        </p:txBody>
      </p:sp>
      <p:sp>
        <p:nvSpPr>
          <p:cNvPr id="211" name="object 5"/>
          <p:cNvSpPr/>
          <p:nvPr/>
        </p:nvSpPr>
        <p:spPr>
          <a:xfrm>
            <a:off x="7048501" y="815340"/>
            <a:ext cx="4895849" cy="4772660"/>
          </a:xfrm>
          <a:prstGeom prst="rect">
            <a:avLst/>
          </a:prstGeom>
          <a:blipFill>
            <a:blip r:embed="rId3"/>
            <a:stretch>
              <a:fillRect/>
            </a:stretch>
          </a:blipFill>
          <a:ln w="12700">
            <a:miter lim="400000"/>
          </a:ln>
        </p:spPr>
        <p:txBody>
          <a:bodyPr lIns="38099" rIns="38099"/>
          <a:lstStyle/>
          <a:p>
            <a:endParaRPr sz="1500"/>
          </a:p>
        </p:txBody>
      </p:sp>
    </p:spTree>
    <p:extLst>
      <p:ext uri="{BB962C8B-B14F-4D97-AF65-F5344CB8AC3E}">
        <p14:creationId xmlns:p14="http://schemas.microsoft.com/office/powerpoint/2010/main" val="54037952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214" name="object 3"/>
          <p:cNvSpPr txBox="1">
            <a:spLocks noGrp="1"/>
          </p:cNvSpPr>
          <p:nvPr>
            <p:ph type="title"/>
          </p:nvPr>
        </p:nvSpPr>
        <p:spPr>
          <a:prstGeom prst="rect">
            <a:avLst/>
          </a:prstGeom>
        </p:spPr>
        <p:txBody>
          <a:bodyPr>
            <a:normAutofit/>
          </a:bodyPr>
          <a:lstStyle/>
          <a:p>
            <a:pPr indent="9842" defTabSz="708631">
              <a:defRPr sz="3162"/>
            </a:pPr>
            <a:r>
              <a:t>SELECTION</a:t>
            </a:r>
            <a:r>
              <a:rPr spc="-155"/>
              <a:t> </a:t>
            </a:r>
            <a:r>
              <a:rPr spc="77"/>
              <a:t>STATEMENTS</a:t>
            </a:r>
          </a:p>
        </p:txBody>
      </p:sp>
      <p:sp>
        <p:nvSpPr>
          <p:cNvPr id="215" name="object 4"/>
          <p:cNvSpPr txBox="1"/>
          <p:nvPr/>
        </p:nvSpPr>
        <p:spPr>
          <a:xfrm>
            <a:off x="776308" y="1805409"/>
            <a:ext cx="10345209" cy="30906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83"/>
              </a:spcBef>
              <a:defRPr sz="2900" spc="85">
                <a:latin typeface="Gill Sans MT"/>
                <a:ea typeface="Gill Sans MT"/>
                <a:cs typeface="Gill Sans MT"/>
                <a:sym typeface="Gill Sans MT"/>
              </a:defRPr>
            </a:pPr>
            <a:r>
              <a:rPr sz="2417"/>
              <a:t>-&gt;&gt;&gt;If-else-if</a:t>
            </a:r>
            <a:r>
              <a:rPr sz="2417" spc="-100"/>
              <a:t> </a:t>
            </a:r>
            <a:r>
              <a:rPr sz="2417" spc="146"/>
              <a:t>statements:</a:t>
            </a:r>
          </a:p>
          <a:p>
            <a:pPr indent="772022">
              <a:spcBef>
                <a:spcPts val="1417"/>
              </a:spcBef>
              <a:tabLst>
                <a:tab pos="7630278" algn="l"/>
              </a:tabLst>
              <a:defRPr sz="2400" spc="90">
                <a:latin typeface="Gill Sans MT"/>
                <a:ea typeface="Gill Sans MT"/>
                <a:cs typeface="Gill Sans MT"/>
                <a:sym typeface="Gill Sans MT"/>
              </a:defRPr>
            </a:pPr>
            <a:r>
              <a:rPr sz="2000"/>
              <a:t>The</a:t>
            </a:r>
            <a:r>
              <a:rPr sz="2000" spc="-37"/>
              <a:t> </a:t>
            </a:r>
            <a:r>
              <a:rPr sz="2000" spc="112"/>
              <a:t>elif</a:t>
            </a:r>
            <a:r>
              <a:rPr sz="2000" spc="-54"/>
              <a:t> </a:t>
            </a:r>
            <a:r>
              <a:rPr sz="2000" spc="162"/>
              <a:t>is</a:t>
            </a:r>
            <a:r>
              <a:rPr sz="2000" spc="-50"/>
              <a:t> </a:t>
            </a:r>
            <a:r>
              <a:rPr sz="2000" spc="62"/>
              <a:t>short</a:t>
            </a:r>
            <a:r>
              <a:rPr sz="2000" spc="-42"/>
              <a:t> </a:t>
            </a:r>
            <a:r>
              <a:rPr sz="2000" spc="46"/>
              <a:t>for</a:t>
            </a:r>
            <a:r>
              <a:rPr sz="2000" spc="-54"/>
              <a:t> </a:t>
            </a:r>
            <a:r>
              <a:rPr sz="2000" spc="137"/>
              <a:t>else</a:t>
            </a:r>
            <a:r>
              <a:rPr sz="2000" spc="-42"/>
              <a:t> </a:t>
            </a:r>
            <a:r>
              <a:rPr sz="2000" spc="129"/>
              <a:t>if.</a:t>
            </a:r>
            <a:r>
              <a:rPr sz="2000" spc="-58"/>
              <a:t> </a:t>
            </a:r>
            <a:r>
              <a:rPr sz="2000" spc="29"/>
              <a:t>It</a:t>
            </a:r>
            <a:r>
              <a:rPr sz="2000" spc="-58"/>
              <a:t> </a:t>
            </a:r>
            <a:r>
              <a:rPr sz="2000" spc="112"/>
              <a:t>allows</a:t>
            </a:r>
            <a:r>
              <a:rPr sz="2000" spc="-37"/>
              <a:t> </a:t>
            </a:r>
            <a:r>
              <a:rPr sz="2000" spc="183"/>
              <a:t>us</a:t>
            </a:r>
            <a:r>
              <a:rPr sz="2000" spc="-54"/>
              <a:t> </a:t>
            </a:r>
            <a:r>
              <a:rPr sz="2000" spc="12"/>
              <a:t>to</a:t>
            </a:r>
            <a:r>
              <a:rPr sz="2000" spc="-54"/>
              <a:t> </a:t>
            </a:r>
            <a:r>
              <a:rPr sz="2000" spc="125"/>
              <a:t>check</a:t>
            </a:r>
            <a:r>
              <a:rPr sz="2000" spc="-37"/>
              <a:t> </a:t>
            </a:r>
            <a:r>
              <a:rPr sz="2000" spc="46"/>
              <a:t>for</a:t>
            </a:r>
            <a:r>
              <a:rPr sz="2000" spc="-54"/>
              <a:t> </a:t>
            </a:r>
            <a:r>
              <a:rPr sz="2000" spc="92"/>
              <a:t>multiple	</a:t>
            </a:r>
            <a:r>
              <a:rPr sz="2000" spc="112"/>
              <a:t>expressions.</a:t>
            </a:r>
          </a:p>
          <a:p>
            <a:pPr indent="772022">
              <a:spcBef>
                <a:spcPts val="1333"/>
              </a:spcBef>
              <a:defRPr sz="2400" spc="160">
                <a:latin typeface="Gill Sans MT"/>
                <a:ea typeface="Gill Sans MT"/>
                <a:cs typeface="Gill Sans MT"/>
                <a:sym typeface="Gill Sans MT"/>
              </a:defRPr>
            </a:pPr>
            <a:r>
              <a:rPr sz="2000"/>
              <a:t>If</a:t>
            </a:r>
            <a:r>
              <a:rPr sz="2000" spc="-58"/>
              <a:t> </a:t>
            </a:r>
            <a:r>
              <a:rPr sz="2000" spc="75"/>
              <a:t>the</a:t>
            </a:r>
            <a:r>
              <a:rPr sz="2000" spc="-54"/>
              <a:t> </a:t>
            </a:r>
            <a:r>
              <a:rPr sz="2000" spc="71"/>
              <a:t>condition</a:t>
            </a:r>
            <a:r>
              <a:rPr sz="2000" spc="-42"/>
              <a:t> </a:t>
            </a:r>
            <a:r>
              <a:rPr sz="2000" spc="46"/>
              <a:t>for</a:t>
            </a:r>
            <a:r>
              <a:rPr sz="2000" spc="-50"/>
              <a:t> </a:t>
            </a:r>
            <a:r>
              <a:rPr sz="2000" spc="137"/>
              <a:t>if</a:t>
            </a:r>
            <a:r>
              <a:rPr sz="2000" spc="-54"/>
              <a:t> </a:t>
            </a:r>
            <a:r>
              <a:rPr sz="2000" spc="162"/>
              <a:t>is</a:t>
            </a:r>
            <a:r>
              <a:rPr sz="2000" spc="-54"/>
              <a:t> </a:t>
            </a:r>
            <a:r>
              <a:rPr sz="2000" spc="137"/>
              <a:t>False,</a:t>
            </a:r>
            <a:r>
              <a:rPr sz="2000" spc="-42"/>
              <a:t> </a:t>
            </a:r>
            <a:r>
              <a:rPr sz="2000" spc="33"/>
              <a:t>it</a:t>
            </a:r>
            <a:r>
              <a:rPr sz="2000" spc="-54"/>
              <a:t> </a:t>
            </a:r>
            <a:r>
              <a:rPr sz="2000" spc="146"/>
              <a:t>checks</a:t>
            </a:r>
            <a:r>
              <a:rPr sz="2000" spc="-46"/>
              <a:t> </a:t>
            </a:r>
            <a:r>
              <a:rPr sz="2000" spc="75"/>
              <a:t>the</a:t>
            </a:r>
            <a:r>
              <a:rPr sz="2000" spc="-46"/>
              <a:t> </a:t>
            </a:r>
            <a:r>
              <a:rPr sz="2000" spc="75"/>
              <a:t>condition</a:t>
            </a:r>
            <a:r>
              <a:rPr sz="2000" spc="-54"/>
              <a:t> </a:t>
            </a:r>
            <a:r>
              <a:rPr sz="2000" spc="117"/>
              <a:t>of</a:t>
            </a:r>
            <a:r>
              <a:rPr sz="2000" spc="-58"/>
              <a:t> </a:t>
            </a:r>
            <a:r>
              <a:rPr sz="2000" spc="75"/>
              <a:t>the</a:t>
            </a:r>
            <a:r>
              <a:rPr sz="2000" spc="-46"/>
              <a:t> </a:t>
            </a:r>
            <a:r>
              <a:rPr sz="2000" spc="54"/>
              <a:t>next</a:t>
            </a:r>
            <a:r>
              <a:rPr sz="2000" spc="-21"/>
              <a:t> </a:t>
            </a:r>
            <a:r>
              <a:rPr sz="2000" spc="112"/>
              <a:t>elif</a:t>
            </a:r>
            <a:r>
              <a:rPr sz="2000" spc="-42"/>
              <a:t> </a:t>
            </a:r>
            <a:r>
              <a:rPr sz="2000" spc="92"/>
              <a:t>block</a:t>
            </a:r>
            <a:r>
              <a:rPr sz="2000" spc="-50"/>
              <a:t> </a:t>
            </a:r>
            <a:r>
              <a:rPr sz="2000" spc="146"/>
              <a:t>and</a:t>
            </a:r>
            <a:r>
              <a:rPr sz="2000" spc="-54"/>
              <a:t> </a:t>
            </a:r>
            <a:r>
              <a:rPr sz="2000" spc="146"/>
              <a:t>so</a:t>
            </a:r>
            <a:r>
              <a:rPr sz="2000" spc="-54"/>
              <a:t> </a:t>
            </a:r>
            <a:r>
              <a:rPr sz="2000" spc="83"/>
              <a:t>on.</a:t>
            </a:r>
          </a:p>
          <a:p>
            <a:pPr indent="772022">
              <a:spcBef>
                <a:spcPts val="1417"/>
              </a:spcBef>
              <a:defRPr sz="2400" spc="160">
                <a:latin typeface="Gill Sans MT"/>
                <a:ea typeface="Gill Sans MT"/>
                <a:cs typeface="Gill Sans MT"/>
                <a:sym typeface="Gill Sans MT"/>
              </a:defRPr>
            </a:pPr>
            <a:r>
              <a:rPr sz="2000"/>
              <a:t>If</a:t>
            </a:r>
            <a:r>
              <a:rPr sz="2000" spc="-62"/>
              <a:t> </a:t>
            </a:r>
            <a:r>
              <a:rPr sz="2000" spc="117"/>
              <a:t>all</a:t>
            </a:r>
            <a:r>
              <a:rPr sz="2000" spc="-58"/>
              <a:t> </a:t>
            </a:r>
            <a:r>
              <a:rPr sz="2000" spc="75"/>
              <a:t>the</a:t>
            </a:r>
            <a:r>
              <a:rPr sz="2000" spc="-54"/>
              <a:t> </a:t>
            </a:r>
            <a:r>
              <a:rPr sz="2000" spc="95"/>
              <a:t>conditions</a:t>
            </a:r>
            <a:r>
              <a:rPr sz="2000" spc="-54"/>
              <a:t> </a:t>
            </a:r>
            <a:r>
              <a:rPr sz="2000" spc="79"/>
              <a:t>are</a:t>
            </a:r>
            <a:r>
              <a:rPr sz="2000" spc="-50"/>
              <a:t> </a:t>
            </a:r>
            <a:r>
              <a:rPr sz="2000" spc="137"/>
              <a:t>False,</a:t>
            </a:r>
            <a:r>
              <a:rPr sz="2000" spc="-50"/>
              <a:t> </a:t>
            </a:r>
            <a:r>
              <a:rPr sz="2000" spc="71"/>
              <a:t>the</a:t>
            </a:r>
            <a:r>
              <a:rPr sz="2000" spc="-58"/>
              <a:t> </a:t>
            </a:r>
            <a:r>
              <a:rPr sz="2000" spc="87"/>
              <a:t>body</a:t>
            </a:r>
            <a:r>
              <a:rPr sz="2000" spc="-50"/>
              <a:t> </a:t>
            </a:r>
            <a:r>
              <a:rPr sz="2000" spc="112"/>
              <a:t>of</a:t>
            </a:r>
            <a:r>
              <a:rPr sz="2000" spc="-62"/>
              <a:t> </a:t>
            </a:r>
            <a:r>
              <a:rPr sz="2000" spc="137"/>
              <a:t>else</a:t>
            </a:r>
            <a:r>
              <a:rPr sz="2000" spc="-50"/>
              <a:t> </a:t>
            </a:r>
            <a:r>
              <a:rPr sz="2000" spc="162"/>
              <a:t>is</a:t>
            </a:r>
            <a:r>
              <a:rPr sz="2000" spc="-58"/>
              <a:t> </a:t>
            </a:r>
            <a:r>
              <a:rPr sz="2000" spc="92"/>
              <a:t>executed.</a:t>
            </a:r>
          </a:p>
          <a:p>
            <a:pPr marR="97362" indent="772022">
              <a:spcBef>
                <a:spcPts val="1417"/>
              </a:spcBef>
              <a:tabLst>
                <a:tab pos="8392248" algn="l"/>
              </a:tabLst>
              <a:defRPr sz="2400" spc="5">
                <a:latin typeface="Gill Sans MT"/>
                <a:ea typeface="Gill Sans MT"/>
                <a:cs typeface="Gill Sans MT"/>
                <a:sym typeface="Gill Sans MT"/>
              </a:defRPr>
            </a:pPr>
            <a:r>
              <a:rPr sz="2000"/>
              <a:t>Only</a:t>
            </a:r>
            <a:r>
              <a:rPr sz="2000" spc="-46"/>
              <a:t> </a:t>
            </a:r>
            <a:r>
              <a:rPr sz="2000" spc="79"/>
              <a:t>one</a:t>
            </a:r>
            <a:r>
              <a:rPr sz="2000" spc="-46"/>
              <a:t> </a:t>
            </a:r>
            <a:r>
              <a:rPr sz="2000" spc="92"/>
              <a:t>block</a:t>
            </a:r>
            <a:r>
              <a:rPr sz="2000" spc="-33"/>
              <a:t> </a:t>
            </a:r>
            <a:r>
              <a:rPr sz="2000" spc="162"/>
              <a:t>among</a:t>
            </a:r>
            <a:r>
              <a:rPr sz="2000" spc="-46"/>
              <a:t> </a:t>
            </a:r>
            <a:r>
              <a:rPr sz="2000" spc="71"/>
              <a:t>the</a:t>
            </a:r>
            <a:r>
              <a:rPr sz="2000" spc="-37"/>
              <a:t> </a:t>
            </a:r>
            <a:r>
              <a:rPr sz="2000" spc="112"/>
              <a:t>several</a:t>
            </a:r>
            <a:r>
              <a:rPr sz="2000" spc="-33"/>
              <a:t> </a:t>
            </a:r>
            <a:r>
              <a:rPr sz="2000" spc="125"/>
              <a:t>if...elif...else</a:t>
            </a:r>
            <a:r>
              <a:rPr sz="2000" spc="-67"/>
              <a:t> </a:t>
            </a:r>
            <a:r>
              <a:rPr sz="2000" spc="117"/>
              <a:t>blocks</a:t>
            </a:r>
            <a:r>
              <a:rPr sz="2000" spc="-37"/>
              <a:t> </a:t>
            </a:r>
            <a:r>
              <a:rPr sz="2000" spc="162"/>
              <a:t>is</a:t>
            </a:r>
            <a:r>
              <a:rPr sz="2000" spc="-37"/>
              <a:t> </a:t>
            </a:r>
            <a:r>
              <a:rPr sz="2000" spc="87"/>
              <a:t>executed	</a:t>
            </a:r>
            <a:r>
              <a:rPr sz="2000" spc="112"/>
              <a:t>according </a:t>
            </a:r>
            <a:r>
              <a:rPr sz="2000" spc="12"/>
              <a:t>to</a:t>
            </a:r>
            <a:r>
              <a:rPr sz="2000" spc="-250"/>
              <a:t> </a:t>
            </a:r>
            <a:r>
              <a:rPr sz="2000" spc="71"/>
              <a:t>the  </a:t>
            </a:r>
            <a:r>
              <a:rPr sz="2000" spc="79"/>
              <a:t>condition.</a:t>
            </a:r>
          </a:p>
          <a:p>
            <a:pPr indent="772022">
              <a:spcBef>
                <a:spcPts val="1333"/>
              </a:spcBef>
              <a:defRPr sz="2400" spc="90">
                <a:latin typeface="Gill Sans MT"/>
                <a:ea typeface="Gill Sans MT"/>
                <a:cs typeface="Gill Sans MT"/>
                <a:sym typeface="Gill Sans MT"/>
              </a:defRPr>
            </a:pPr>
            <a:r>
              <a:rPr sz="2000"/>
              <a:t>The</a:t>
            </a:r>
            <a:r>
              <a:rPr sz="2000" spc="-50"/>
              <a:t> </a:t>
            </a:r>
            <a:r>
              <a:rPr sz="2000" spc="137"/>
              <a:t>if</a:t>
            </a:r>
            <a:r>
              <a:rPr sz="2000" spc="-58"/>
              <a:t> </a:t>
            </a:r>
            <a:r>
              <a:rPr sz="2000" spc="92"/>
              <a:t>block</a:t>
            </a:r>
            <a:r>
              <a:rPr sz="2000" spc="-42"/>
              <a:t> </a:t>
            </a:r>
            <a:r>
              <a:rPr sz="2000" spc="167"/>
              <a:t>can</a:t>
            </a:r>
            <a:r>
              <a:rPr sz="2000" spc="-50"/>
              <a:t> </a:t>
            </a:r>
            <a:r>
              <a:rPr sz="2000" spc="137"/>
              <a:t>have</a:t>
            </a:r>
            <a:r>
              <a:rPr sz="2000" spc="-54"/>
              <a:t> </a:t>
            </a:r>
            <a:r>
              <a:rPr sz="2000"/>
              <a:t>only</a:t>
            </a:r>
            <a:r>
              <a:rPr sz="2000" spc="-50"/>
              <a:t> </a:t>
            </a:r>
            <a:r>
              <a:rPr sz="2000" spc="79"/>
              <a:t>one</a:t>
            </a:r>
            <a:r>
              <a:rPr sz="2000" spc="-50"/>
              <a:t> </a:t>
            </a:r>
            <a:r>
              <a:rPr sz="2000" spc="137"/>
              <a:t>else</a:t>
            </a:r>
            <a:r>
              <a:rPr sz="2000" spc="-50"/>
              <a:t> </a:t>
            </a:r>
            <a:r>
              <a:rPr sz="2000" spc="95"/>
              <a:t>block.</a:t>
            </a:r>
            <a:r>
              <a:rPr sz="2000" spc="-46"/>
              <a:t> </a:t>
            </a:r>
            <a:r>
              <a:rPr sz="2000" spc="79"/>
              <a:t>But</a:t>
            </a:r>
            <a:r>
              <a:rPr sz="2000" spc="-62"/>
              <a:t> </a:t>
            </a:r>
            <a:r>
              <a:rPr sz="2000" spc="33"/>
              <a:t>it</a:t>
            </a:r>
            <a:r>
              <a:rPr sz="2000" spc="-62"/>
              <a:t> </a:t>
            </a:r>
            <a:r>
              <a:rPr sz="2000" spc="167"/>
              <a:t>can</a:t>
            </a:r>
            <a:r>
              <a:rPr sz="2000" spc="-50"/>
              <a:t> </a:t>
            </a:r>
            <a:r>
              <a:rPr sz="2000" spc="137"/>
              <a:t>have</a:t>
            </a:r>
            <a:r>
              <a:rPr sz="2000" spc="-54"/>
              <a:t> </a:t>
            </a:r>
            <a:r>
              <a:rPr sz="2000" spc="92"/>
              <a:t>multiple</a:t>
            </a:r>
            <a:r>
              <a:rPr sz="2000" spc="-29"/>
              <a:t> </a:t>
            </a:r>
            <a:r>
              <a:rPr sz="2000" spc="112"/>
              <a:t>elif</a:t>
            </a:r>
            <a:r>
              <a:rPr sz="2000" spc="-46"/>
              <a:t> </a:t>
            </a:r>
            <a:r>
              <a:rPr sz="2000" spc="117"/>
              <a:t>blocks.</a:t>
            </a:r>
          </a:p>
        </p:txBody>
      </p:sp>
    </p:spTree>
    <p:extLst>
      <p:ext uri="{BB962C8B-B14F-4D97-AF65-F5344CB8AC3E}">
        <p14:creationId xmlns:p14="http://schemas.microsoft.com/office/powerpoint/2010/main" val="399642467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218" name="object 3"/>
          <p:cNvSpPr txBox="1">
            <a:spLocks noGrp="1"/>
          </p:cNvSpPr>
          <p:nvPr>
            <p:ph type="title"/>
          </p:nvPr>
        </p:nvSpPr>
        <p:spPr>
          <a:prstGeom prst="rect">
            <a:avLst/>
          </a:prstGeom>
        </p:spPr>
        <p:txBody>
          <a:bodyPr>
            <a:normAutofit/>
          </a:bodyPr>
          <a:lstStyle/>
          <a:p>
            <a:pPr indent="9842" defTabSz="708631">
              <a:defRPr sz="3162"/>
            </a:pPr>
            <a:r>
              <a:t>SELECTION</a:t>
            </a:r>
            <a:r>
              <a:rPr spc="-155"/>
              <a:t> </a:t>
            </a:r>
            <a:r>
              <a:rPr spc="77"/>
              <a:t>STATEMENTS</a:t>
            </a:r>
          </a:p>
        </p:txBody>
      </p:sp>
      <p:sp>
        <p:nvSpPr>
          <p:cNvPr id="219" name="object 4"/>
          <p:cNvSpPr txBox="1"/>
          <p:nvPr/>
        </p:nvSpPr>
        <p:spPr>
          <a:xfrm>
            <a:off x="776308" y="1762209"/>
            <a:ext cx="4515910" cy="37194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1167"/>
              </a:spcBef>
              <a:tabLst>
                <a:tab pos="465648" algn="l"/>
              </a:tabLst>
              <a:defRPr sz="3200" spc="200">
                <a:latin typeface="Gill Sans MT"/>
                <a:ea typeface="Gill Sans MT"/>
                <a:cs typeface="Gill Sans MT"/>
                <a:sym typeface="Gill Sans MT"/>
              </a:defRPr>
            </a:pPr>
            <a:r>
              <a:rPr sz="2667"/>
              <a:t>1.	</a:t>
            </a:r>
            <a:r>
              <a:rPr sz="2667" spc="158"/>
              <a:t>Syntax:</a:t>
            </a:r>
          </a:p>
          <a:p>
            <a:pPr indent="1534522">
              <a:spcBef>
                <a:spcPts val="1083"/>
              </a:spcBef>
              <a:defRPr sz="3200" spc="220">
                <a:latin typeface="Gill Sans MT"/>
                <a:ea typeface="Gill Sans MT"/>
                <a:cs typeface="Gill Sans MT"/>
                <a:sym typeface="Gill Sans MT"/>
              </a:defRPr>
            </a:pPr>
            <a:r>
              <a:rPr sz="2667"/>
              <a:t>if </a:t>
            </a:r>
            <a:r>
              <a:rPr sz="2667" spc="121"/>
              <a:t>test</a:t>
            </a:r>
            <a:r>
              <a:rPr sz="2667" spc="-375"/>
              <a:t> </a:t>
            </a:r>
            <a:r>
              <a:rPr sz="2667" spc="129"/>
              <a:t>expression:</a:t>
            </a:r>
          </a:p>
          <a:p>
            <a:pPr indent="2296491">
              <a:spcBef>
                <a:spcPts val="1083"/>
              </a:spcBef>
              <a:defRPr sz="3200" spc="150">
                <a:latin typeface="Gill Sans MT"/>
                <a:ea typeface="Gill Sans MT"/>
                <a:cs typeface="Gill Sans MT"/>
                <a:sym typeface="Gill Sans MT"/>
              </a:defRPr>
            </a:pPr>
            <a:r>
              <a:rPr sz="2667"/>
              <a:t>Body </a:t>
            </a:r>
            <a:r>
              <a:rPr sz="2667" spc="158"/>
              <a:t>of</a:t>
            </a:r>
            <a:r>
              <a:rPr sz="2667" spc="-321"/>
              <a:t> </a:t>
            </a:r>
            <a:r>
              <a:rPr sz="2667" spc="183"/>
              <a:t>if</a:t>
            </a:r>
          </a:p>
          <a:p>
            <a:pPr indent="1534522">
              <a:spcBef>
                <a:spcPts val="1083"/>
              </a:spcBef>
              <a:defRPr sz="3200" spc="180">
                <a:latin typeface="Gill Sans MT"/>
                <a:ea typeface="Gill Sans MT"/>
                <a:cs typeface="Gill Sans MT"/>
                <a:sym typeface="Gill Sans MT"/>
              </a:defRPr>
            </a:pPr>
            <a:r>
              <a:rPr sz="2667"/>
              <a:t>elif </a:t>
            </a:r>
            <a:r>
              <a:rPr sz="2667" spc="121"/>
              <a:t>test</a:t>
            </a:r>
            <a:r>
              <a:rPr sz="2667" spc="-367"/>
              <a:t> </a:t>
            </a:r>
            <a:r>
              <a:rPr sz="2667" spc="129"/>
              <a:t>expression:</a:t>
            </a:r>
          </a:p>
          <a:p>
            <a:pPr indent="2296491">
              <a:spcBef>
                <a:spcPts val="1083"/>
              </a:spcBef>
              <a:defRPr sz="3200" spc="150">
                <a:latin typeface="Gill Sans MT"/>
                <a:ea typeface="Gill Sans MT"/>
                <a:cs typeface="Gill Sans MT"/>
                <a:sym typeface="Gill Sans MT"/>
              </a:defRPr>
            </a:pPr>
            <a:r>
              <a:rPr sz="2667"/>
              <a:t>Body </a:t>
            </a:r>
            <a:r>
              <a:rPr sz="2667" spc="158"/>
              <a:t>of</a:t>
            </a:r>
            <a:r>
              <a:rPr sz="2667" spc="-321"/>
              <a:t> </a:t>
            </a:r>
            <a:r>
              <a:rPr sz="2667" spc="150"/>
              <a:t>elif</a:t>
            </a:r>
          </a:p>
          <a:p>
            <a:pPr indent="1534522">
              <a:spcBef>
                <a:spcPts val="1083"/>
              </a:spcBef>
              <a:defRPr sz="3200" spc="204">
                <a:latin typeface="Gill Sans MT"/>
                <a:ea typeface="Gill Sans MT"/>
                <a:cs typeface="Gill Sans MT"/>
                <a:sym typeface="Gill Sans MT"/>
              </a:defRPr>
            </a:pPr>
            <a:r>
              <a:rPr sz="2667"/>
              <a:t>else:</a:t>
            </a:r>
          </a:p>
          <a:p>
            <a:pPr indent="2296491">
              <a:spcBef>
                <a:spcPts val="1083"/>
              </a:spcBef>
              <a:defRPr sz="3200" spc="150">
                <a:latin typeface="Gill Sans MT"/>
                <a:ea typeface="Gill Sans MT"/>
                <a:cs typeface="Gill Sans MT"/>
                <a:sym typeface="Gill Sans MT"/>
              </a:defRPr>
            </a:pPr>
            <a:r>
              <a:rPr sz="2667"/>
              <a:t>Body </a:t>
            </a:r>
            <a:r>
              <a:rPr sz="2667" spc="150"/>
              <a:t>of</a:t>
            </a:r>
            <a:r>
              <a:rPr sz="2667" spc="-308"/>
              <a:t> </a:t>
            </a:r>
            <a:r>
              <a:rPr sz="2667" spc="183"/>
              <a:t>else</a:t>
            </a:r>
          </a:p>
        </p:txBody>
      </p:sp>
      <p:sp>
        <p:nvSpPr>
          <p:cNvPr id="220" name="object 5"/>
          <p:cNvSpPr/>
          <p:nvPr/>
        </p:nvSpPr>
        <p:spPr>
          <a:xfrm>
            <a:off x="5397500" y="396240"/>
            <a:ext cx="5143500" cy="5119371"/>
          </a:xfrm>
          <a:prstGeom prst="rect">
            <a:avLst/>
          </a:prstGeom>
          <a:blipFill>
            <a:blip r:embed="rId3"/>
            <a:stretch>
              <a:fillRect/>
            </a:stretch>
          </a:blipFill>
          <a:ln w="12700">
            <a:miter lim="400000"/>
          </a:ln>
        </p:spPr>
        <p:txBody>
          <a:bodyPr lIns="38099" rIns="38099"/>
          <a:lstStyle/>
          <a:p>
            <a:endParaRPr sz="1500"/>
          </a:p>
        </p:txBody>
      </p:sp>
    </p:spTree>
    <p:extLst>
      <p:ext uri="{BB962C8B-B14F-4D97-AF65-F5344CB8AC3E}">
        <p14:creationId xmlns:p14="http://schemas.microsoft.com/office/powerpoint/2010/main" val="384565190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223" name="object 3"/>
          <p:cNvSpPr txBox="1">
            <a:spLocks noGrp="1"/>
          </p:cNvSpPr>
          <p:nvPr>
            <p:ph type="title"/>
          </p:nvPr>
        </p:nvSpPr>
        <p:spPr>
          <a:prstGeom prst="rect">
            <a:avLst/>
          </a:prstGeom>
        </p:spPr>
        <p:txBody>
          <a:bodyPr>
            <a:normAutofit/>
          </a:bodyPr>
          <a:lstStyle/>
          <a:p>
            <a:pPr indent="10053" defTabSz="723871">
              <a:defRPr sz="3230" spc="-190">
                <a:solidFill>
                  <a:srgbClr val="252525"/>
                </a:solidFill>
              </a:defRPr>
            </a:pPr>
            <a:r>
              <a:t>CONTROL STRUCTURES</a:t>
            </a:r>
          </a:p>
        </p:txBody>
      </p:sp>
      <p:sp>
        <p:nvSpPr>
          <p:cNvPr id="224" name="object 4"/>
          <p:cNvSpPr txBox="1"/>
          <p:nvPr/>
        </p:nvSpPr>
        <p:spPr>
          <a:xfrm>
            <a:off x="776308" y="1805176"/>
            <a:ext cx="6798735" cy="26161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1417"/>
              </a:spcBef>
              <a:tabLst>
                <a:tab pos="465648" algn="l"/>
              </a:tabLst>
              <a:defRPr sz="2900" spc="185">
                <a:solidFill>
                  <a:srgbClr val="252525"/>
                </a:solidFill>
                <a:latin typeface="Gill Sans MT"/>
                <a:ea typeface="Gill Sans MT"/>
                <a:cs typeface="Gill Sans MT"/>
                <a:sym typeface="Gill Sans MT"/>
              </a:defRPr>
            </a:pPr>
            <a:r>
              <a:rPr sz="2417"/>
              <a:t>1.	</a:t>
            </a:r>
            <a:r>
              <a:rPr sz="2417" spc="112"/>
              <a:t>Break</a:t>
            </a:r>
            <a:r>
              <a:rPr sz="2417" spc="-100"/>
              <a:t> </a:t>
            </a:r>
            <a:r>
              <a:rPr sz="2417" spc="133"/>
              <a:t>Statement:</a:t>
            </a:r>
          </a:p>
          <a:p>
            <a:pPr marR="199488" indent="772022">
              <a:lnSpc>
                <a:spcPts val="4250"/>
              </a:lnSpc>
              <a:spcBef>
                <a:spcPts val="333"/>
              </a:spcBef>
              <a:defRPr sz="2900" spc="110">
                <a:solidFill>
                  <a:srgbClr val="252525"/>
                </a:solidFill>
                <a:latin typeface="Gill Sans MT"/>
                <a:ea typeface="Gill Sans MT"/>
                <a:cs typeface="Gill Sans MT"/>
                <a:sym typeface="Gill Sans MT"/>
              </a:defRPr>
            </a:pPr>
            <a:r>
              <a:rPr sz="2417"/>
              <a:t>The </a:t>
            </a:r>
            <a:r>
              <a:rPr sz="2417" spc="108"/>
              <a:t>break </a:t>
            </a:r>
            <a:r>
              <a:rPr sz="2417" spc="137"/>
              <a:t>statement </a:t>
            </a:r>
            <a:r>
              <a:rPr sz="2417" spc="121"/>
              <a:t>terminates </a:t>
            </a:r>
            <a:r>
              <a:rPr sz="2417"/>
              <a:t>the </a:t>
            </a:r>
            <a:r>
              <a:rPr sz="2417" spc="79"/>
              <a:t>loop  </a:t>
            </a:r>
            <a:r>
              <a:rPr sz="2417" spc="146"/>
              <a:t>containing</a:t>
            </a:r>
            <a:r>
              <a:rPr sz="2417" spc="-100"/>
              <a:t> </a:t>
            </a:r>
            <a:r>
              <a:rPr sz="2417" spc="75"/>
              <a:t>it.</a:t>
            </a:r>
            <a:r>
              <a:rPr sz="2417" spc="-83"/>
              <a:t> </a:t>
            </a:r>
            <a:r>
              <a:rPr sz="2417" spc="8"/>
              <a:t>Control</a:t>
            </a:r>
            <a:r>
              <a:rPr sz="2417" spc="-100"/>
              <a:t> </a:t>
            </a:r>
            <a:r>
              <a:rPr sz="2417" spc="142"/>
              <a:t>of</a:t>
            </a:r>
            <a:r>
              <a:rPr sz="2417" spc="-75"/>
              <a:t> </a:t>
            </a:r>
            <a:r>
              <a:rPr sz="2417"/>
              <a:t>the</a:t>
            </a:r>
            <a:r>
              <a:rPr sz="2417" spc="-83"/>
              <a:t> </a:t>
            </a:r>
            <a:r>
              <a:rPr sz="2417" spc="117"/>
              <a:t>program</a:t>
            </a:r>
            <a:r>
              <a:rPr sz="2417" spc="-75"/>
              <a:t> </a:t>
            </a:r>
            <a:r>
              <a:rPr sz="2417" spc="146"/>
              <a:t>flows</a:t>
            </a:r>
          </a:p>
          <a:p>
            <a:pPr marR="4233" indent="772022">
              <a:lnSpc>
                <a:spcPts val="4250"/>
              </a:lnSpc>
              <a:defRPr sz="2900" spc="20">
                <a:solidFill>
                  <a:srgbClr val="252525"/>
                </a:solidFill>
                <a:latin typeface="Gill Sans MT"/>
                <a:ea typeface="Gill Sans MT"/>
                <a:cs typeface="Gill Sans MT"/>
                <a:sym typeface="Gill Sans MT"/>
              </a:defRPr>
            </a:pPr>
            <a:r>
              <a:rPr sz="2417"/>
              <a:t>to</a:t>
            </a:r>
            <a:r>
              <a:rPr sz="2417" spc="-75"/>
              <a:t> </a:t>
            </a:r>
            <a:r>
              <a:rPr sz="2417" spc="92"/>
              <a:t>the</a:t>
            </a:r>
            <a:r>
              <a:rPr sz="2417" spc="-71"/>
              <a:t> </a:t>
            </a:r>
            <a:r>
              <a:rPr sz="2417" spc="137"/>
              <a:t>statement</a:t>
            </a:r>
            <a:r>
              <a:rPr sz="2417" spc="-87"/>
              <a:t> </a:t>
            </a:r>
            <a:r>
              <a:rPr sz="2417" spc="137"/>
              <a:t>immediately</a:t>
            </a:r>
            <a:r>
              <a:rPr sz="2417" spc="-100"/>
              <a:t> </a:t>
            </a:r>
            <a:r>
              <a:rPr sz="2417" spc="108"/>
              <a:t>after</a:t>
            </a:r>
            <a:r>
              <a:rPr sz="2417" spc="-75"/>
              <a:t> </a:t>
            </a:r>
            <a:r>
              <a:rPr sz="2417" spc="92"/>
              <a:t>the</a:t>
            </a:r>
            <a:r>
              <a:rPr sz="2417" spc="-87"/>
              <a:t> </a:t>
            </a:r>
            <a:r>
              <a:rPr sz="2417" spc="104"/>
              <a:t>body  </a:t>
            </a:r>
            <a:r>
              <a:rPr sz="2417" spc="142"/>
              <a:t>of </a:t>
            </a:r>
            <a:r>
              <a:rPr sz="2417" spc="92"/>
              <a:t>the</a:t>
            </a:r>
            <a:r>
              <a:rPr sz="2417" spc="-296"/>
              <a:t> </a:t>
            </a:r>
            <a:r>
              <a:rPr sz="2417" spc="92"/>
              <a:t>loop.</a:t>
            </a:r>
          </a:p>
        </p:txBody>
      </p:sp>
      <p:sp>
        <p:nvSpPr>
          <p:cNvPr id="225" name="object 5"/>
          <p:cNvSpPr/>
          <p:nvPr/>
        </p:nvSpPr>
        <p:spPr>
          <a:xfrm>
            <a:off x="7556500" y="508000"/>
            <a:ext cx="4505961" cy="5270500"/>
          </a:xfrm>
          <a:prstGeom prst="rect">
            <a:avLst/>
          </a:prstGeom>
          <a:blipFill>
            <a:blip r:embed="rId3"/>
            <a:stretch>
              <a:fillRect/>
            </a:stretch>
          </a:blipFill>
          <a:ln w="12700">
            <a:miter lim="400000"/>
          </a:ln>
        </p:spPr>
        <p:txBody>
          <a:bodyPr lIns="38099" rIns="38099"/>
          <a:lstStyle/>
          <a:p>
            <a:endParaRPr sz="1500"/>
          </a:p>
        </p:txBody>
      </p:sp>
    </p:spTree>
    <p:extLst>
      <p:ext uri="{BB962C8B-B14F-4D97-AF65-F5344CB8AC3E}">
        <p14:creationId xmlns:p14="http://schemas.microsoft.com/office/powerpoint/2010/main" val="403381821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228" name="object 3"/>
          <p:cNvSpPr txBox="1">
            <a:spLocks noGrp="1"/>
          </p:cNvSpPr>
          <p:nvPr>
            <p:ph type="title"/>
          </p:nvPr>
        </p:nvSpPr>
        <p:spPr>
          <a:prstGeom prst="rect">
            <a:avLst/>
          </a:prstGeom>
        </p:spPr>
        <p:txBody>
          <a:bodyPr>
            <a:normAutofit/>
          </a:bodyPr>
          <a:lstStyle/>
          <a:p>
            <a:pPr indent="10053" defTabSz="723871">
              <a:defRPr sz="3230" spc="-190">
                <a:solidFill>
                  <a:srgbClr val="252525"/>
                </a:solidFill>
              </a:defRPr>
            </a:pPr>
            <a:r>
              <a:t>CONTROL STRUCTURES</a:t>
            </a:r>
          </a:p>
        </p:txBody>
      </p:sp>
      <p:sp>
        <p:nvSpPr>
          <p:cNvPr id="229" name="object 4"/>
          <p:cNvSpPr txBox="1"/>
          <p:nvPr/>
        </p:nvSpPr>
        <p:spPr>
          <a:xfrm>
            <a:off x="776308" y="1805176"/>
            <a:ext cx="6357938" cy="31548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1417"/>
              </a:spcBef>
              <a:tabLst>
                <a:tab pos="465648" algn="l"/>
              </a:tabLst>
              <a:defRPr sz="2900" spc="185">
                <a:solidFill>
                  <a:srgbClr val="252525"/>
                </a:solidFill>
                <a:latin typeface="Gill Sans MT"/>
                <a:ea typeface="Gill Sans MT"/>
                <a:cs typeface="Gill Sans MT"/>
                <a:sym typeface="Gill Sans MT"/>
              </a:defRPr>
            </a:pPr>
            <a:r>
              <a:rPr sz="2417"/>
              <a:t>1.	</a:t>
            </a:r>
            <a:r>
              <a:rPr sz="2417" spc="67"/>
              <a:t>Continue</a:t>
            </a:r>
            <a:r>
              <a:rPr sz="2417" spc="-112"/>
              <a:t> </a:t>
            </a:r>
            <a:r>
              <a:rPr sz="2417" spc="137"/>
              <a:t>Statement:</a:t>
            </a:r>
          </a:p>
          <a:p>
            <a:pPr marR="1292702" indent="391039">
              <a:lnSpc>
                <a:spcPts val="4250"/>
              </a:lnSpc>
              <a:spcBef>
                <a:spcPts val="333"/>
              </a:spcBef>
              <a:defRPr sz="2900" spc="104">
                <a:solidFill>
                  <a:srgbClr val="252525"/>
                </a:solidFill>
                <a:latin typeface="Gill Sans MT"/>
                <a:ea typeface="Gill Sans MT"/>
                <a:cs typeface="Gill Sans MT"/>
                <a:sym typeface="Gill Sans MT"/>
              </a:defRPr>
            </a:pPr>
            <a:r>
              <a:rPr sz="2417"/>
              <a:t>The</a:t>
            </a:r>
            <a:r>
              <a:rPr sz="2417" spc="-75"/>
              <a:t> </a:t>
            </a:r>
            <a:r>
              <a:rPr sz="2417" spc="108"/>
              <a:t>continue</a:t>
            </a:r>
            <a:r>
              <a:rPr sz="2417" spc="-79"/>
              <a:t> </a:t>
            </a:r>
            <a:r>
              <a:rPr sz="2417" spc="133"/>
              <a:t>statement</a:t>
            </a:r>
            <a:r>
              <a:rPr sz="2417" spc="-104"/>
              <a:t> </a:t>
            </a:r>
            <a:r>
              <a:rPr sz="2417" spc="200"/>
              <a:t>is</a:t>
            </a:r>
            <a:r>
              <a:rPr sz="2417" spc="-71"/>
              <a:t> </a:t>
            </a:r>
            <a:r>
              <a:rPr sz="2417" spc="174"/>
              <a:t>used</a:t>
            </a:r>
            <a:r>
              <a:rPr sz="2417" spc="-92"/>
              <a:t> </a:t>
            </a:r>
            <a:r>
              <a:rPr sz="2417" spc="17"/>
              <a:t>to  </a:t>
            </a:r>
            <a:r>
              <a:rPr sz="2417" spc="162"/>
              <a:t>skip</a:t>
            </a:r>
            <a:r>
              <a:rPr sz="2417" spc="-95"/>
              <a:t> </a:t>
            </a:r>
            <a:r>
              <a:rPr sz="2417" spc="92"/>
              <a:t>the</a:t>
            </a:r>
            <a:r>
              <a:rPr sz="2417" spc="-87"/>
              <a:t> </a:t>
            </a:r>
            <a:r>
              <a:rPr sz="2417"/>
              <a:t>rest</a:t>
            </a:r>
            <a:r>
              <a:rPr sz="2417" spc="-92"/>
              <a:t> </a:t>
            </a:r>
            <a:r>
              <a:rPr sz="2417" spc="142"/>
              <a:t>of</a:t>
            </a:r>
            <a:r>
              <a:rPr sz="2417" spc="-79"/>
              <a:t> </a:t>
            </a:r>
            <a:r>
              <a:rPr sz="2417" spc="92"/>
              <a:t>the</a:t>
            </a:r>
            <a:r>
              <a:rPr sz="2417" spc="-92"/>
              <a:t> </a:t>
            </a:r>
            <a:r>
              <a:rPr sz="2417" spc="125"/>
              <a:t>code</a:t>
            </a:r>
            <a:r>
              <a:rPr sz="2417" spc="-75"/>
              <a:t> </a:t>
            </a:r>
            <a:r>
              <a:rPr sz="2417" spc="150"/>
              <a:t>inside</a:t>
            </a:r>
            <a:r>
              <a:rPr sz="2417" spc="-95"/>
              <a:t> </a:t>
            </a:r>
            <a:r>
              <a:rPr sz="2417" spc="271"/>
              <a:t>a</a:t>
            </a:r>
          </a:p>
          <a:p>
            <a:pPr indent="391039">
              <a:spcBef>
                <a:spcPts val="1000"/>
              </a:spcBef>
              <a:defRPr sz="2900" spc="95">
                <a:solidFill>
                  <a:srgbClr val="252525"/>
                </a:solidFill>
                <a:latin typeface="Gill Sans MT"/>
                <a:ea typeface="Gill Sans MT"/>
                <a:cs typeface="Gill Sans MT"/>
                <a:sym typeface="Gill Sans MT"/>
              </a:defRPr>
            </a:pPr>
            <a:r>
              <a:rPr sz="2417"/>
              <a:t>loop</a:t>
            </a:r>
            <a:r>
              <a:rPr sz="2417" spc="-75"/>
              <a:t> </a:t>
            </a:r>
            <a:r>
              <a:rPr sz="2417" spc="58"/>
              <a:t>for</a:t>
            </a:r>
            <a:r>
              <a:rPr sz="2417" spc="-67"/>
              <a:t> </a:t>
            </a:r>
            <a:r>
              <a:rPr sz="2417" spc="92"/>
              <a:t>the</a:t>
            </a:r>
            <a:r>
              <a:rPr sz="2417" spc="-87"/>
              <a:t> </a:t>
            </a:r>
            <a:r>
              <a:rPr sz="2417" spc="58"/>
              <a:t>current</a:t>
            </a:r>
            <a:r>
              <a:rPr sz="2417" spc="-71"/>
              <a:t> </a:t>
            </a:r>
            <a:r>
              <a:rPr sz="2417" spc="71"/>
              <a:t>iteration</a:t>
            </a:r>
            <a:r>
              <a:rPr sz="2417" spc="-108"/>
              <a:t> </a:t>
            </a:r>
            <a:r>
              <a:rPr sz="2417" spc="100"/>
              <a:t>only.</a:t>
            </a:r>
          </a:p>
          <a:p>
            <a:pPr marR="4233" indent="391039">
              <a:lnSpc>
                <a:spcPts val="4250"/>
              </a:lnSpc>
              <a:spcBef>
                <a:spcPts val="333"/>
              </a:spcBef>
              <a:defRPr sz="2900" spc="100">
                <a:solidFill>
                  <a:srgbClr val="252525"/>
                </a:solidFill>
                <a:latin typeface="Gill Sans MT"/>
                <a:ea typeface="Gill Sans MT"/>
                <a:cs typeface="Gill Sans MT"/>
                <a:sym typeface="Gill Sans MT"/>
              </a:defRPr>
            </a:pPr>
            <a:r>
              <a:rPr sz="2417"/>
              <a:t>Loop</a:t>
            </a:r>
            <a:r>
              <a:rPr sz="2417" spc="-79"/>
              <a:t> </a:t>
            </a:r>
            <a:r>
              <a:rPr sz="2417" spc="154"/>
              <a:t>does</a:t>
            </a:r>
            <a:r>
              <a:rPr sz="2417" spc="-71"/>
              <a:t> </a:t>
            </a:r>
            <a:r>
              <a:rPr sz="2417" spc="54"/>
              <a:t>not</a:t>
            </a:r>
            <a:r>
              <a:rPr sz="2417" spc="-75"/>
              <a:t> </a:t>
            </a:r>
            <a:r>
              <a:rPr sz="2417" spc="100"/>
              <a:t>terminate</a:t>
            </a:r>
            <a:r>
              <a:rPr sz="2417" spc="-108"/>
              <a:t> </a:t>
            </a:r>
            <a:r>
              <a:rPr sz="2417" spc="92"/>
              <a:t>but</a:t>
            </a:r>
            <a:r>
              <a:rPr sz="2417" spc="-75"/>
              <a:t> </a:t>
            </a:r>
            <a:r>
              <a:rPr sz="2417" spc="129"/>
              <a:t>continues</a:t>
            </a:r>
            <a:r>
              <a:rPr sz="2417" spc="-117"/>
              <a:t> </a:t>
            </a:r>
            <a:r>
              <a:rPr sz="2417" spc="67"/>
              <a:t>with  </a:t>
            </a:r>
            <a:r>
              <a:rPr sz="2417" spc="92"/>
              <a:t>the </a:t>
            </a:r>
            <a:r>
              <a:rPr sz="2417" spc="71"/>
              <a:t>next</a:t>
            </a:r>
            <a:r>
              <a:rPr sz="2417" spc="-271"/>
              <a:t> </a:t>
            </a:r>
            <a:r>
              <a:rPr sz="2417" spc="79"/>
              <a:t>iteration.</a:t>
            </a:r>
          </a:p>
        </p:txBody>
      </p:sp>
      <p:sp>
        <p:nvSpPr>
          <p:cNvPr id="230" name="object 5"/>
          <p:cNvSpPr/>
          <p:nvPr/>
        </p:nvSpPr>
        <p:spPr>
          <a:xfrm>
            <a:off x="7408354" y="582418"/>
            <a:ext cx="4331094" cy="5213037"/>
          </a:xfrm>
          <a:prstGeom prst="rect">
            <a:avLst/>
          </a:prstGeom>
          <a:blipFill>
            <a:blip r:embed="rId3"/>
            <a:stretch>
              <a:fillRect/>
            </a:stretch>
          </a:blipFill>
          <a:ln w="12700">
            <a:miter lim="400000"/>
          </a:ln>
        </p:spPr>
        <p:txBody>
          <a:bodyPr lIns="38099" rIns="38099"/>
          <a:lstStyle/>
          <a:p>
            <a:endParaRPr sz="1500"/>
          </a:p>
        </p:txBody>
      </p:sp>
    </p:spTree>
    <p:extLst>
      <p:ext uri="{BB962C8B-B14F-4D97-AF65-F5344CB8AC3E}">
        <p14:creationId xmlns:p14="http://schemas.microsoft.com/office/powerpoint/2010/main" val="118687276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233" name="object 3"/>
          <p:cNvSpPr txBox="1">
            <a:spLocks noGrp="1"/>
          </p:cNvSpPr>
          <p:nvPr>
            <p:ph type="title"/>
          </p:nvPr>
        </p:nvSpPr>
        <p:spPr>
          <a:prstGeom prst="rect">
            <a:avLst/>
          </a:prstGeom>
        </p:spPr>
        <p:txBody>
          <a:bodyPr>
            <a:normAutofit/>
          </a:bodyPr>
          <a:lstStyle/>
          <a:p>
            <a:pPr indent="10053" defTabSz="723871">
              <a:defRPr sz="3230" spc="-190"/>
            </a:pPr>
            <a:r>
              <a:t>CONTROL STRUCTURES</a:t>
            </a:r>
          </a:p>
        </p:txBody>
      </p:sp>
      <p:sp>
        <p:nvSpPr>
          <p:cNvPr id="234" name="object 4"/>
          <p:cNvSpPr txBox="1"/>
          <p:nvPr/>
        </p:nvSpPr>
        <p:spPr>
          <a:xfrm>
            <a:off x="776309" y="1805176"/>
            <a:ext cx="9991196" cy="16545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1417"/>
              </a:spcBef>
              <a:tabLst>
                <a:tab pos="465648" algn="l"/>
              </a:tabLst>
              <a:defRPr sz="2900" spc="185">
                <a:latin typeface="Gill Sans MT"/>
                <a:ea typeface="Gill Sans MT"/>
                <a:cs typeface="Gill Sans MT"/>
                <a:sym typeface="Gill Sans MT"/>
              </a:defRPr>
            </a:pPr>
            <a:r>
              <a:rPr sz="2417"/>
              <a:t>1.	</a:t>
            </a:r>
            <a:r>
              <a:rPr sz="2417" spc="300"/>
              <a:t>Pass</a:t>
            </a:r>
            <a:r>
              <a:rPr sz="2417" spc="-83"/>
              <a:t> </a:t>
            </a:r>
            <a:r>
              <a:rPr sz="2417" spc="133"/>
              <a:t>Statement:</a:t>
            </a:r>
          </a:p>
          <a:p>
            <a:pPr marR="4233" indent="391039">
              <a:spcBef>
                <a:spcPts val="1333"/>
              </a:spcBef>
              <a:defRPr sz="2900" spc="125">
                <a:latin typeface="Gill Sans MT"/>
                <a:ea typeface="Gill Sans MT"/>
                <a:cs typeface="Gill Sans MT"/>
                <a:sym typeface="Gill Sans MT"/>
              </a:defRPr>
            </a:pPr>
            <a:r>
              <a:rPr sz="2417"/>
              <a:t>In </a:t>
            </a:r>
            <a:r>
              <a:rPr sz="2417" spc="121"/>
              <a:t>Python </a:t>
            </a:r>
            <a:r>
              <a:rPr sz="2417" spc="133"/>
              <a:t>programming, </a:t>
            </a:r>
            <a:r>
              <a:rPr sz="2417" spc="92"/>
              <a:t>the </a:t>
            </a:r>
            <a:r>
              <a:rPr sz="2417" spc="258"/>
              <a:t>pass </a:t>
            </a:r>
            <a:r>
              <a:rPr sz="2417" spc="133"/>
              <a:t>statement </a:t>
            </a:r>
            <a:r>
              <a:rPr sz="2417" spc="200"/>
              <a:t>is </a:t>
            </a:r>
            <a:r>
              <a:rPr sz="2417" spc="271"/>
              <a:t>a </a:t>
            </a:r>
            <a:r>
              <a:rPr sz="2417" spc="112"/>
              <a:t>null </a:t>
            </a:r>
            <a:r>
              <a:rPr sz="2417" spc="133"/>
              <a:t>statement. </a:t>
            </a:r>
            <a:r>
              <a:rPr sz="2417" spc="87"/>
              <a:t>The  </a:t>
            </a:r>
            <a:r>
              <a:rPr sz="2417" spc="133"/>
              <a:t>difference</a:t>
            </a:r>
            <a:r>
              <a:rPr sz="2417" spc="-87"/>
              <a:t> </a:t>
            </a:r>
            <a:r>
              <a:rPr sz="2417" spc="108"/>
              <a:t>between</a:t>
            </a:r>
            <a:r>
              <a:rPr sz="2417" spc="-79"/>
              <a:t> </a:t>
            </a:r>
            <a:r>
              <a:rPr sz="2417" spc="271"/>
              <a:t>a</a:t>
            </a:r>
            <a:r>
              <a:rPr sz="2417" spc="-104"/>
              <a:t> </a:t>
            </a:r>
            <a:r>
              <a:rPr sz="2417" spc="142"/>
              <a:t>comment</a:t>
            </a:r>
            <a:r>
              <a:rPr sz="2417" spc="-87"/>
              <a:t> </a:t>
            </a:r>
            <a:r>
              <a:rPr sz="2417" spc="179"/>
              <a:t>and</a:t>
            </a:r>
            <a:r>
              <a:rPr sz="2417" spc="-79"/>
              <a:t> </a:t>
            </a:r>
            <a:r>
              <a:rPr sz="2417" spc="271"/>
              <a:t>a</a:t>
            </a:r>
            <a:r>
              <a:rPr sz="2417" spc="-79"/>
              <a:t> </a:t>
            </a:r>
            <a:r>
              <a:rPr sz="2417" spc="258"/>
              <a:t>pass</a:t>
            </a:r>
            <a:r>
              <a:rPr sz="2417" spc="-87"/>
              <a:t> </a:t>
            </a:r>
            <a:r>
              <a:rPr sz="2417" spc="137"/>
              <a:t>statement</a:t>
            </a:r>
            <a:r>
              <a:rPr sz="2417" spc="-108"/>
              <a:t> </a:t>
            </a:r>
            <a:r>
              <a:rPr sz="2417" spc="112"/>
              <a:t>in</a:t>
            </a:r>
            <a:r>
              <a:rPr sz="2417" spc="-79"/>
              <a:t> </a:t>
            </a:r>
            <a:r>
              <a:rPr sz="2417" spc="121"/>
              <a:t>Python</a:t>
            </a:r>
            <a:r>
              <a:rPr sz="2417" spc="-67"/>
              <a:t> </a:t>
            </a:r>
            <a:r>
              <a:rPr sz="2417" spc="200"/>
              <a:t>is</a:t>
            </a:r>
            <a:r>
              <a:rPr sz="2417" spc="-79"/>
              <a:t> </a:t>
            </a:r>
            <a:r>
              <a:rPr sz="2417" spc="100"/>
              <a:t>that  </a:t>
            </a:r>
            <a:r>
              <a:rPr sz="2417" spc="95"/>
              <a:t>while</a:t>
            </a:r>
            <a:r>
              <a:rPr sz="2417" spc="-87"/>
              <a:t> </a:t>
            </a:r>
            <a:r>
              <a:rPr sz="2417" spc="92"/>
              <a:t>the</a:t>
            </a:r>
            <a:r>
              <a:rPr sz="2417" spc="-79"/>
              <a:t> </a:t>
            </a:r>
            <a:r>
              <a:rPr sz="2417" spc="42"/>
              <a:t>interpreter</a:t>
            </a:r>
            <a:r>
              <a:rPr sz="2417" spc="-92"/>
              <a:t> </a:t>
            </a:r>
            <a:r>
              <a:rPr sz="2417" spc="133"/>
              <a:t>ignores</a:t>
            </a:r>
            <a:r>
              <a:rPr sz="2417" spc="-79"/>
              <a:t> </a:t>
            </a:r>
            <a:r>
              <a:rPr sz="2417" spc="271"/>
              <a:t>a</a:t>
            </a:r>
            <a:r>
              <a:rPr sz="2417" spc="-67"/>
              <a:t> </a:t>
            </a:r>
            <a:r>
              <a:rPr sz="2417" spc="137"/>
              <a:t>comment</a:t>
            </a:r>
            <a:r>
              <a:rPr sz="2417" spc="-79"/>
              <a:t> </a:t>
            </a:r>
            <a:r>
              <a:rPr sz="2417" spc="67"/>
              <a:t>entirely,</a:t>
            </a:r>
            <a:r>
              <a:rPr sz="2417" spc="-87"/>
              <a:t> </a:t>
            </a:r>
            <a:r>
              <a:rPr sz="2417" spc="258"/>
              <a:t>pass</a:t>
            </a:r>
            <a:r>
              <a:rPr sz="2417" spc="-87"/>
              <a:t> </a:t>
            </a:r>
            <a:r>
              <a:rPr sz="2417" spc="200"/>
              <a:t>is</a:t>
            </a:r>
            <a:r>
              <a:rPr sz="2417" spc="-83"/>
              <a:t> </a:t>
            </a:r>
            <a:r>
              <a:rPr sz="2417" spc="58"/>
              <a:t>not</a:t>
            </a:r>
            <a:r>
              <a:rPr sz="2417" spc="-67"/>
              <a:t> </a:t>
            </a:r>
            <a:r>
              <a:rPr sz="2417" spc="112"/>
              <a:t>ignored.</a:t>
            </a:r>
          </a:p>
        </p:txBody>
      </p:sp>
    </p:spTree>
    <p:extLst>
      <p:ext uri="{BB962C8B-B14F-4D97-AF65-F5344CB8AC3E}">
        <p14:creationId xmlns:p14="http://schemas.microsoft.com/office/powerpoint/2010/main" val="99013005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237" name="object 3"/>
          <p:cNvSpPr txBox="1">
            <a:spLocks noGrp="1"/>
          </p:cNvSpPr>
          <p:nvPr>
            <p:ph type="title"/>
          </p:nvPr>
        </p:nvSpPr>
        <p:spPr>
          <a:prstGeom prst="rect">
            <a:avLst/>
          </a:prstGeom>
        </p:spPr>
        <p:txBody>
          <a:bodyPr>
            <a:normAutofit/>
          </a:bodyPr>
          <a:lstStyle/>
          <a:p>
            <a:pPr indent="9947" defTabSz="716251">
              <a:defRPr sz="3196"/>
            </a:pPr>
            <a:r>
              <a:t>NESTED</a:t>
            </a:r>
            <a:r>
              <a:rPr spc="-157"/>
              <a:t> </a:t>
            </a:r>
            <a:r>
              <a:rPr spc="-78"/>
              <a:t>LOOP</a:t>
            </a:r>
          </a:p>
        </p:txBody>
      </p:sp>
      <p:sp>
        <p:nvSpPr>
          <p:cNvPr id="238" name="object 4"/>
          <p:cNvSpPr txBox="1"/>
          <p:nvPr/>
        </p:nvSpPr>
        <p:spPr>
          <a:xfrm>
            <a:off x="776308" y="1809220"/>
            <a:ext cx="10485438" cy="34169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L="457182" marR="4233" indent="-447128">
              <a:spcBef>
                <a:spcPts val="83"/>
              </a:spcBef>
              <a:defRPr sz="2900">
                <a:latin typeface="Times New Roman"/>
                <a:ea typeface="Times New Roman"/>
                <a:cs typeface="Times New Roman"/>
                <a:sym typeface="Times New Roman"/>
              </a:defRPr>
            </a:pPr>
            <a:r>
              <a:rPr sz="2417"/>
              <a:t>Python </a:t>
            </a:r>
            <a:r>
              <a:rPr sz="2417" spc="-8"/>
              <a:t>programming </a:t>
            </a:r>
            <a:r>
              <a:rPr sz="2417" spc="-4"/>
              <a:t>language allows </a:t>
            </a:r>
            <a:r>
              <a:rPr sz="2417"/>
              <a:t>to use one loop inside </a:t>
            </a:r>
            <a:r>
              <a:rPr sz="2417" spc="-4"/>
              <a:t>another </a:t>
            </a:r>
            <a:r>
              <a:rPr sz="2417"/>
              <a:t>loop is </a:t>
            </a:r>
            <a:r>
              <a:rPr sz="2417" spc="-4"/>
              <a:t>called </a:t>
            </a:r>
            <a:r>
              <a:rPr sz="2417"/>
              <a:t>as  </a:t>
            </a:r>
            <a:r>
              <a:rPr sz="2417" spc="-4"/>
              <a:t>nested</a:t>
            </a:r>
            <a:r>
              <a:rPr sz="2417" spc="-17"/>
              <a:t> </a:t>
            </a:r>
            <a:r>
              <a:rPr sz="2417"/>
              <a:t>loop</a:t>
            </a:r>
          </a:p>
          <a:p>
            <a:pPr indent="10583">
              <a:spcBef>
                <a:spcPts val="1417"/>
              </a:spcBef>
              <a:defRPr sz="2400" spc="-5">
                <a:latin typeface="Times New Roman"/>
                <a:ea typeface="Times New Roman"/>
                <a:cs typeface="Times New Roman"/>
                <a:sym typeface="Times New Roman"/>
              </a:defRPr>
            </a:pPr>
            <a:r>
              <a:rPr sz="2000"/>
              <a:t>BASIC</a:t>
            </a:r>
            <a:r>
              <a:rPr sz="2000" spc="8"/>
              <a:t> </a:t>
            </a:r>
            <a:r>
              <a:rPr sz="2000" spc="-33"/>
              <a:t>SYNTAX</a:t>
            </a:r>
          </a:p>
          <a:p>
            <a:pPr indent="240232">
              <a:spcBef>
                <a:spcPts val="1333"/>
              </a:spcBef>
              <a:defRPr sz="2900">
                <a:latin typeface="Times New Roman"/>
                <a:ea typeface="Times New Roman"/>
                <a:cs typeface="Times New Roman"/>
                <a:sym typeface="Times New Roman"/>
              </a:defRPr>
            </a:pPr>
            <a:r>
              <a:rPr sz="2417"/>
              <a:t>outer</a:t>
            </a:r>
            <a:r>
              <a:rPr sz="2417" spc="-21"/>
              <a:t> </a:t>
            </a:r>
            <a:r>
              <a:rPr sz="2417"/>
              <a:t>loop:</a:t>
            </a:r>
          </a:p>
          <a:p>
            <a:pPr indent="854570">
              <a:spcBef>
                <a:spcPts val="1333"/>
              </a:spcBef>
              <a:defRPr sz="2900">
                <a:latin typeface="Times New Roman"/>
                <a:ea typeface="Times New Roman"/>
                <a:cs typeface="Times New Roman"/>
                <a:sym typeface="Times New Roman"/>
              </a:defRPr>
            </a:pPr>
            <a:r>
              <a:rPr sz="2417"/>
              <a:t>inner</a:t>
            </a:r>
            <a:r>
              <a:rPr sz="2417" spc="-21"/>
              <a:t> </a:t>
            </a:r>
            <a:r>
              <a:rPr sz="2417"/>
              <a:t>loop:</a:t>
            </a:r>
          </a:p>
          <a:p>
            <a:pPr marR="5902089" indent="1622360">
              <a:lnSpc>
                <a:spcPct val="149000"/>
              </a:lnSpc>
              <a:defRPr sz="2900" spc="-5">
                <a:latin typeface="Times New Roman"/>
                <a:ea typeface="Times New Roman"/>
                <a:cs typeface="Times New Roman"/>
                <a:sym typeface="Times New Roman"/>
              </a:defRPr>
            </a:pPr>
            <a:r>
              <a:rPr sz="2417"/>
              <a:t>statements of inner</a:t>
            </a:r>
            <a:r>
              <a:rPr sz="2417" spc="-83"/>
              <a:t> </a:t>
            </a:r>
            <a:r>
              <a:rPr sz="2417"/>
              <a:t>loop  statements of outer</a:t>
            </a:r>
            <a:r>
              <a:rPr sz="2417" spc="-83"/>
              <a:t> </a:t>
            </a:r>
            <a:r>
              <a:rPr sz="2417"/>
              <a:t>loop</a:t>
            </a:r>
          </a:p>
        </p:txBody>
      </p:sp>
      <p:sp>
        <p:nvSpPr>
          <p:cNvPr id="239" name="object 5"/>
          <p:cNvSpPr/>
          <p:nvPr/>
        </p:nvSpPr>
        <p:spPr>
          <a:xfrm flipH="1">
            <a:off x="952500" y="4064000"/>
            <a:ext cx="635000" cy="0"/>
          </a:xfrm>
          <a:prstGeom prst="line">
            <a:avLst/>
          </a:prstGeom>
          <a:ln>
            <a:solidFill>
              <a:srgbClr val="497DBA"/>
            </a:solidFill>
          </a:ln>
        </p:spPr>
        <p:txBody>
          <a:bodyPr lIns="38099" rIns="38099"/>
          <a:lstStyle/>
          <a:p>
            <a:endParaRPr sz="1500"/>
          </a:p>
        </p:txBody>
      </p:sp>
      <p:sp>
        <p:nvSpPr>
          <p:cNvPr id="240" name="object 6"/>
          <p:cNvSpPr/>
          <p:nvPr/>
        </p:nvSpPr>
        <p:spPr>
          <a:xfrm flipH="1">
            <a:off x="952500" y="4064000"/>
            <a:ext cx="1" cy="508000"/>
          </a:xfrm>
          <a:prstGeom prst="line">
            <a:avLst/>
          </a:prstGeom>
          <a:ln>
            <a:solidFill>
              <a:srgbClr val="497DBA"/>
            </a:solidFill>
          </a:ln>
        </p:spPr>
        <p:txBody>
          <a:bodyPr lIns="38099" rIns="38099"/>
          <a:lstStyle/>
          <a:p>
            <a:endParaRPr sz="1500"/>
          </a:p>
        </p:txBody>
      </p:sp>
      <p:grpSp>
        <p:nvGrpSpPr>
          <p:cNvPr id="244" name="object 7"/>
          <p:cNvGrpSpPr/>
          <p:nvPr/>
        </p:nvGrpSpPr>
        <p:grpSpPr>
          <a:xfrm>
            <a:off x="952500" y="4540250"/>
            <a:ext cx="1397001" cy="63500"/>
            <a:chOff x="0" y="0"/>
            <a:chExt cx="1676400" cy="76200"/>
          </a:xfrm>
        </p:grpSpPr>
        <p:sp>
          <p:nvSpPr>
            <p:cNvPr id="241" name="Shape"/>
            <p:cNvSpPr/>
            <p:nvPr/>
          </p:nvSpPr>
          <p:spPr>
            <a:xfrm>
              <a:off x="1600200" y="0"/>
              <a:ext cx="635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2600"/>
                  </a:lnTo>
                  <a:lnTo>
                    <a:pt x="4320" y="12600"/>
                  </a:lnTo>
                  <a:lnTo>
                    <a:pt x="4320" y="9000"/>
                  </a:lnTo>
                  <a:lnTo>
                    <a:pt x="21600" y="9000"/>
                  </a:lnTo>
                  <a:lnTo>
                    <a:pt x="0" y="0"/>
                  </a:lnTo>
                  <a:close/>
                </a:path>
              </a:pathLst>
            </a:custGeom>
            <a:solidFill>
              <a:srgbClr val="497DBA"/>
            </a:solidFill>
            <a:ln w="12700" cap="flat">
              <a:noFill/>
              <a:miter lim="400000"/>
            </a:ln>
            <a:effectLst/>
          </p:spPr>
          <p:txBody>
            <a:bodyPr wrap="square" lIns="38099" tIns="38099" rIns="38099" bIns="38099" numCol="1" anchor="t">
              <a:noAutofit/>
            </a:bodyPr>
            <a:lstStyle/>
            <a:p>
              <a:endParaRPr sz="1500"/>
            </a:p>
          </p:txBody>
        </p:sp>
        <p:sp>
          <p:nvSpPr>
            <p:cNvPr id="242" name="Rectangle"/>
            <p:cNvSpPr/>
            <p:nvPr/>
          </p:nvSpPr>
          <p:spPr>
            <a:xfrm>
              <a:off x="-1" y="31750"/>
              <a:ext cx="1600201" cy="12700"/>
            </a:xfrm>
            <a:prstGeom prst="rect">
              <a:avLst/>
            </a:prstGeom>
            <a:solidFill>
              <a:srgbClr val="497DBA"/>
            </a:solidFill>
            <a:ln w="12700" cap="flat">
              <a:noFill/>
              <a:miter lim="400000"/>
            </a:ln>
            <a:effectLst/>
          </p:spPr>
          <p:txBody>
            <a:bodyPr wrap="square" lIns="38099" tIns="38099" rIns="38099" bIns="38099" numCol="1" anchor="t">
              <a:noAutofit/>
            </a:bodyPr>
            <a:lstStyle/>
            <a:p>
              <a:endParaRPr sz="1500"/>
            </a:p>
          </p:txBody>
        </p:sp>
        <p:sp>
          <p:nvSpPr>
            <p:cNvPr id="243" name="Shape"/>
            <p:cNvSpPr/>
            <p:nvPr/>
          </p:nvSpPr>
          <p:spPr>
            <a:xfrm>
              <a:off x="1612900" y="31750"/>
              <a:ext cx="63500" cy="12700"/>
            </a:xfrm>
            <a:custGeom>
              <a:avLst/>
              <a:gdLst/>
              <a:ahLst/>
              <a:cxnLst>
                <a:cxn ang="0">
                  <a:pos x="wd2" y="hd2"/>
                </a:cxn>
                <a:cxn ang="5400000">
                  <a:pos x="wd2" y="hd2"/>
                </a:cxn>
                <a:cxn ang="10800000">
                  <a:pos x="wd2" y="hd2"/>
                </a:cxn>
                <a:cxn ang="16200000">
                  <a:pos x="wd2" y="hd2"/>
                </a:cxn>
              </a:cxnLst>
              <a:rect l="0" t="0" r="r" b="b"/>
              <a:pathLst>
                <a:path w="21600" h="21600" extrusionOk="0">
                  <a:moveTo>
                    <a:pt x="17280" y="0"/>
                  </a:moveTo>
                  <a:lnTo>
                    <a:pt x="0" y="0"/>
                  </a:lnTo>
                  <a:lnTo>
                    <a:pt x="0" y="21600"/>
                  </a:lnTo>
                  <a:lnTo>
                    <a:pt x="17280" y="21600"/>
                  </a:lnTo>
                  <a:lnTo>
                    <a:pt x="21600" y="10800"/>
                  </a:lnTo>
                  <a:lnTo>
                    <a:pt x="17280" y="0"/>
                  </a:lnTo>
                  <a:close/>
                </a:path>
              </a:pathLst>
            </a:custGeom>
            <a:solidFill>
              <a:srgbClr val="497DBA"/>
            </a:solidFill>
            <a:ln w="12700" cap="flat">
              <a:noFill/>
              <a:miter lim="400000"/>
            </a:ln>
            <a:effectLst/>
          </p:spPr>
          <p:txBody>
            <a:bodyPr wrap="square" lIns="38099" tIns="38099" rIns="38099" bIns="38099" numCol="1" anchor="t">
              <a:noAutofit/>
            </a:bodyPr>
            <a:lstStyle/>
            <a:p>
              <a:endParaRPr sz="1500"/>
            </a:p>
          </p:txBody>
        </p:sp>
      </p:grpSp>
      <p:sp>
        <p:nvSpPr>
          <p:cNvPr id="245" name="object 8"/>
          <p:cNvSpPr/>
          <p:nvPr/>
        </p:nvSpPr>
        <p:spPr>
          <a:xfrm flipH="1">
            <a:off x="317500" y="3492500"/>
            <a:ext cx="635000" cy="0"/>
          </a:xfrm>
          <a:prstGeom prst="line">
            <a:avLst/>
          </a:prstGeom>
          <a:ln>
            <a:solidFill>
              <a:srgbClr val="497DBA"/>
            </a:solidFill>
          </a:ln>
        </p:spPr>
        <p:txBody>
          <a:bodyPr lIns="38099" rIns="38099"/>
          <a:lstStyle/>
          <a:p>
            <a:endParaRPr sz="1500"/>
          </a:p>
        </p:txBody>
      </p:sp>
      <p:sp>
        <p:nvSpPr>
          <p:cNvPr id="246" name="object 9"/>
          <p:cNvSpPr/>
          <p:nvPr/>
        </p:nvSpPr>
        <p:spPr>
          <a:xfrm flipH="1">
            <a:off x="317499" y="3492500"/>
            <a:ext cx="2" cy="1651000"/>
          </a:xfrm>
          <a:prstGeom prst="line">
            <a:avLst/>
          </a:prstGeom>
          <a:ln>
            <a:solidFill>
              <a:srgbClr val="497DBA"/>
            </a:solidFill>
          </a:ln>
        </p:spPr>
        <p:txBody>
          <a:bodyPr lIns="38099" rIns="38099"/>
          <a:lstStyle/>
          <a:p>
            <a:endParaRPr sz="1500"/>
          </a:p>
        </p:txBody>
      </p:sp>
      <p:grpSp>
        <p:nvGrpSpPr>
          <p:cNvPr id="250" name="object 10"/>
          <p:cNvGrpSpPr/>
          <p:nvPr/>
        </p:nvGrpSpPr>
        <p:grpSpPr>
          <a:xfrm>
            <a:off x="317500" y="5111750"/>
            <a:ext cx="2032001" cy="63500"/>
            <a:chOff x="0" y="0"/>
            <a:chExt cx="2438400" cy="76200"/>
          </a:xfrm>
        </p:grpSpPr>
        <p:sp>
          <p:nvSpPr>
            <p:cNvPr id="247" name="Shape"/>
            <p:cNvSpPr/>
            <p:nvPr/>
          </p:nvSpPr>
          <p:spPr>
            <a:xfrm>
              <a:off x="2362200" y="0"/>
              <a:ext cx="635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2600"/>
                  </a:lnTo>
                  <a:lnTo>
                    <a:pt x="4320" y="12600"/>
                  </a:lnTo>
                  <a:lnTo>
                    <a:pt x="4320" y="9000"/>
                  </a:lnTo>
                  <a:lnTo>
                    <a:pt x="21600" y="9000"/>
                  </a:lnTo>
                  <a:lnTo>
                    <a:pt x="0" y="0"/>
                  </a:lnTo>
                  <a:close/>
                </a:path>
              </a:pathLst>
            </a:custGeom>
            <a:solidFill>
              <a:srgbClr val="497DBA"/>
            </a:solidFill>
            <a:ln w="12700" cap="flat">
              <a:noFill/>
              <a:miter lim="400000"/>
            </a:ln>
            <a:effectLst/>
          </p:spPr>
          <p:txBody>
            <a:bodyPr wrap="square" lIns="38099" tIns="38099" rIns="38099" bIns="38099" numCol="1" anchor="t">
              <a:noAutofit/>
            </a:bodyPr>
            <a:lstStyle/>
            <a:p>
              <a:endParaRPr sz="1500"/>
            </a:p>
          </p:txBody>
        </p:sp>
        <p:sp>
          <p:nvSpPr>
            <p:cNvPr id="248" name="Rectangle"/>
            <p:cNvSpPr/>
            <p:nvPr/>
          </p:nvSpPr>
          <p:spPr>
            <a:xfrm>
              <a:off x="-1" y="31750"/>
              <a:ext cx="2362201" cy="12700"/>
            </a:xfrm>
            <a:prstGeom prst="rect">
              <a:avLst/>
            </a:prstGeom>
            <a:solidFill>
              <a:srgbClr val="497DBA"/>
            </a:solidFill>
            <a:ln w="12700" cap="flat">
              <a:noFill/>
              <a:miter lim="400000"/>
            </a:ln>
            <a:effectLst/>
          </p:spPr>
          <p:txBody>
            <a:bodyPr wrap="square" lIns="38099" tIns="38099" rIns="38099" bIns="38099" numCol="1" anchor="t">
              <a:noAutofit/>
            </a:bodyPr>
            <a:lstStyle/>
            <a:p>
              <a:endParaRPr sz="1500"/>
            </a:p>
          </p:txBody>
        </p:sp>
        <p:sp>
          <p:nvSpPr>
            <p:cNvPr id="249" name="Shape"/>
            <p:cNvSpPr/>
            <p:nvPr/>
          </p:nvSpPr>
          <p:spPr>
            <a:xfrm>
              <a:off x="2374900" y="31750"/>
              <a:ext cx="63500" cy="12700"/>
            </a:xfrm>
            <a:custGeom>
              <a:avLst/>
              <a:gdLst/>
              <a:ahLst/>
              <a:cxnLst>
                <a:cxn ang="0">
                  <a:pos x="wd2" y="hd2"/>
                </a:cxn>
                <a:cxn ang="5400000">
                  <a:pos x="wd2" y="hd2"/>
                </a:cxn>
                <a:cxn ang="10800000">
                  <a:pos x="wd2" y="hd2"/>
                </a:cxn>
                <a:cxn ang="16200000">
                  <a:pos x="wd2" y="hd2"/>
                </a:cxn>
              </a:cxnLst>
              <a:rect l="0" t="0" r="r" b="b"/>
              <a:pathLst>
                <a:path w="21600" h="21600" extrusionOk="0">
                  <a:moveTo>
                    <a:pt x="17280" y="0"/>
                  </a:moveTo>
                  <a:lnTo>
                    <a:pt x="0" y="0"/>
                  </a:lnTo>
                  <a:lnTo>
                    <a:pt x="0" y="21600"/>
                  </a:lnTo>
                  <a:lnTo>
                    <a:pt x="17280" y="21600"/>
                  </a:lnTo>
                  <a:lnTo>
                    <a:pt x="21600" y="10800"/>
                  </a:lnTo>
                  <a:lnTo>
                    <a:pt x="17280" y="0"/>
                  </a:lnTo>
                  <a:close/>
                </a:path>
              </a:pathLst>
            </a:custGeom>
            <a:solidFill>
              <a:srgbClr val="497DBA"/>
            </a:solidFill>
            <a:ln w="12700" cap="flat">
              <a:noFill/>
              <a:miter lim="400000"/>
            </a:ln>
            <a:effectLst/>
          </p:spPr>
          <p:txBody>
            <a:bodyPr wrap="square" lIns="38099" tIns="38099" rIns="38099" bIns="38099" numCol="1" anchor="t">
              <a:noAutofit/>
            </a:bodyPr>
            <a:lstStyle/>
            <a:p>
              <a:endParaRPr sz="1500"/>
            </a:p>
          </p:txBody>
        </p:sp>
      </p:grpSp>
    </p:spTree>
    <p:extLst>
      <p:ext uri="{BB962C8B-B14F-4D97-AF65-F5344CB8AC3E}">
        <p14:creationId xmlns:p14="http://schemas.microsoft.com/office/powerpoint/2010/main" val="261322215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253" name="object 3"/>
          <p:cNvSpPr txBox="1">
            <a:spLocks noGrp="1"/>
          </p:cNvSpPr>
          <p:nvPr>
            <p:ph type="title"/>
          </p:nvPr>
        </p:nvSpPr>
        <p:spPr>
          <a:prstGeom prst="rect">
            <a:avLst/>
          </a:prstGeom>
        </p:spPr>
        <p:txBody>
          <a:bodyPr>
            <a:normAutofit/>
          </a:bodyPr>
          <a:lstStyle/>
          <a:p>
            <a:pPr indent="9947" defTabSz="716251">
              <a:defRPr sz="3196"/>
            </a:pPr>
            <a:r>
              <a:t>NESTED</a:t>
            </a:r>
            <a:r>
              <a:rPr spc="-157"/>
              <a:t> </a:t>
            </a:r>
            <a:r>
              <a:rPr spc="-78"/>
              <a:t>LOOP</a:t>
            </a:r>
          </a:p>
        </p:txBody>
      </p:sp>
      <p:sp>
        <p:nvSpPr>
          <p:cNvPr id="254" name="object 4"/>
          <p:cNvSpPr txBox="1"/>
          <p:nvPr/>
        </p:nvSpPr>
        <p:spPr>
          <a:xfrm>
            <a:off x="776308" y="1809220"/>
            <a:ext cx="10592860" cy="31295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L="467235" marR="116941" indent="-457182">
              <a:spcBef>
                <a:spcPts val="83"/>
              </a:spcBef>
              <a:buSzPct val="100000"/>
              <a:buFont typeface="Arial"/>
              <a:buChar char="•"/>
              <a:tabLst>
                <a:tab pos="465648" algn="l"/>
                <a:tab pos="465648" algn="l"/>
              </a:tabLst>
              <a:defRPr sz="2900" spc="-5">
                <a:latin typeface="Times New Roman"/>
                <a:ea typeface="Times New Roman"/>
                <a:cs typeface="Times New Roman"/>
                <a:sym typeface="Times New Roman"/>
              </a:defRPr>
            </a:pPr>
            <a:r>
              <a:rPr sz="2417"/>
              <a:t>When a loop is nested inside another loop. The inner loop runs </a:t>
            </a:r>
            <a:r>
              <a:rPr sz="2417" spc="-8"/>
              <a:t>many times</a:t>
            </a:r>
            <a:r>
              <a:rPr sz="2417" spc="-79"/>
              <a:t> </a:t>
            </a:r>
            <a:r>
              <a:rPr sz="2417"/>
              <a:t>inside  the outer loop. Each iteration of the outer loop, the inner loop will be</a:t>
            </a:r>
            <a:r>
              <a:rPr sz="2417" spc="-158"/>
              <a:t> </a:t>
            </a:r>
            <a:r>
              <a:rPr sz="2417"/>
              <a:t>restarted.</a:t>
            </a:r>
          </a:p>
          <a:p>
            <a:pPr marL="467235" marR="314312" indent="-457182">
              <a:spcBef>
                <a:spcPts val="1417"/>
              </a:spcBef>
              <a:buSzPct val="100000"/>
              <a:buFont typeface="Arial"/>
              <a:buChar char="•"/>
              <a:tabLst>
                <a:tab pos="465648" algn="l"/>
                <a:tab pos="465648" algn="l"/>
              </a:tabLst>
              <a:defRPr sz="2900">
                <a:latin typeface="Times New Roman"/>
                <a:ea typeface="Times New Roman"/>
                <a:cs typeface="Times New Roman"/>
                <a:sym typeface="Times New Roman"/>
              </a:defRPr>
            </a:pPr>
            <a:r>
              <a:rPr sz="2417"/>
              <a:t>The </a:t>
            </a:r>
            <a:r>
              <a:rPr sz="2417" spc="-4"/>
              <a:t>inner </a:t>
            </a:r>
            <a:r>
              <a:rPr sz="2417"/>
              <a:t>loop </a:t>
            </a:r>
            <a:r>
              <a:rPr sz="2417" spc="-8"/>
              <a:t>must </a:t>
            </a:r>
            <a:r>
              <a:rPr sz="2417"/>
              <a:t>finish </a:t>
            </a:r>
            <a:r>
              <a:rPr sz="2417" spc="-4"/>
              <a:t>all </a:t>
            </a:r>
            <a:r>
              <a:rPr sz="2417"/>
              <a:t>its </a:t>
            </a:r>
            <a:r>
              <a:rPr sz="2417" spc="-4"/>
              <a:t>iterations </a:t>
            </a:r>
            <a:r>
              <a:rPr sz="2417"/>
              <a:t>before the </a:t>
            </a:r>
            <a:r>
              <a:rPr sz="2417" spc="-4"/>
              <a:t>outer </a:t>
            </a:r>
            <a:r>
              <a:rPr sz="2417"/>
              <a:t>loop </a:t>
            </a:r>
            <a:r>
              <a:rPr sz="2417" spc="-4"/>
              <a:t>can </a:t>
            </a:r>
            <a:r>
              <a:rPr sz="2417"/>
              <a:t>continue</a:t>
            </a:r>
            <a:r>
              <a:rPr sz="2417" spc="-79"/>
              <a:t> </a:t>
            </a:r>
            <a:r>
              <a:rPr sz="2417"/>
              <a:t>to  its next</a:t>
            </a:r>
            <a:r>
              <a:rPr sz="2417" spc="-25"/>
              <a:t> </a:t>
            </a:r>
            <a:r>
              <a:rPr sz="2417" spc="-4"/>
              <a:t>iteration.</a:t>
            </a:r>
          </a:p>
          <a:p>
            <a:pPr marL="467235" indent="-457182">
              <a:spcBef>
                <a:spcPts val="1417"/>
              </a:spcBef>
              <a:buSzPct val="100000"/>
              <a:buChar char="➢"/>
              <a:tabLst>
                <a:tab pos="465648" algn="l"/>
                <a:tab pos="465648" algn="l"/>
              </a:tabLst>
              <a:defRPr sz="2900">
                <a:latin typeface="Times New Roman"/>
                <a:ea typeface="Times New Roman"/>
                <a:cs typeface="Times New Roman"/>
                <a:sym typeface="Times New Roman"/>
              </a:defRPr>
            </a:pPr>
            <a:r>
              <a:rPr sz="2417"/>
              <a:t>It is used to </a:t>
            </a:r>
            <a:r>
              <a:rPr sz="2417" spc="-4"/>
              <a:t>deal </a:t>
            </a:r>
            <a:r>
              <a:rPr sz="2417"/>
              <a:t>with </a:t>
            </a:r>
            <a:r>
              <a:rPr sz="2417" spc="-8"/>
              <a:t>multiple </a:t>
            </a:r>
            <a:r>
              <a:rPr sz="2417"/>
              <a:t>condition in</a:t>
            </a:r>
            <a:r>
              <a:rPr sz="2417" spc="-79"/>
              <a:t> </a:t>
            </a:r>
            <a:r>
              <a:rPr sz="2417" spc="-4"/>
              <a:t>program.</a:t>
            </a:r>
          </a:p>
          <a:p>
            <a:pPr marL="391039" marR="4233" indent="-380985">
              <a:spcBef>
                <a:spcPts val="1333"/>
              </a:spcBef>
              <a:buSzPct val="100000"/>
              <a:buChar char="➢"/>
              <a:tabLst>
                <a:tab pos="380985" algn="l"/>
                <a:tab pos="391568" algn="l"/>
              </a:tabLst>
              <a:defRPr sz="2900">
                <a:latin typeface="Times New Roman"/>
                <a:ea typeface="Times New Roman"/>
                <a:cs typeface="Times New Roman"/>
                <a:sym typeface="Times New Roman"/>
              </a:defRPr>
            </a:pPr>
            <a:r>
              <a:rPr sz="2417"/>
              <a:t>These are </a:t>
            </a:r>
            <a:r>
              <a:rPr sz="2417" spc="-4"/>
              <a:t>typically used </a:t>
            </a:r>
            <a:r>
              <a:rPr sz="2417"/>
              <a:t>for working with two </a:t>
            </a:r>
            <a:r>
              <a:rPr sz="2417" spc="-4"/>
              <a:t>dimensions </a:t>
            </a:r>
            <a:r>
              <a:rPr sz="2417"/>
              <a:t>such as printing </a:t>
            </a:r>
            <a:r>
              <a:rPr sz="2417" spc="-4"/>
              <a:t>starts</a:t>
            </a:r>
            <a:r>
              <a:rPr sz="2417" spc="-100"/>
              <a:t> </a:t>
            </a:r>
            <a:r>
              <a:rPr sz="2417"/>
              <a:t>in  rows and</a:t>
            </a:r>
            <a:r>
              <a:rPr sz="2417" spc="-17"/>
              <a:t> </a:t>
            </a:r>
            <a:r>
              <a:rPr sz="2417" spc="-4"/>
              <a:t>columns.</a:t>
            </a:r>
          </a:p>
        </p:txBody>
      </p:sp>
    </p:spTree>
    <p:extLst>
      <p:ext uri="{BB962C8B-B14F-4D97-AF65-F5344CB8AC3E}">
        <p14:creationId xmlns:p14="http://schemas.microsoft.com/office/powerpoint/2010/main" val="328991741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257" name="object 3"/>
          <p:cNvSpPr txBox="1">
            <a:spLocks noGrp="1"/>
          </p:cNvSpPr>
          <p:nvPr>
            <p:ph type="title"/>
          </p:nvPr>
        </p:nvSpPr>
        <p:spPr>
          <a:prstGeom prst="rect">
            <a:avLst/>
          </a:prstGeom>
        </p:spPr>
        <p:txBody>
          <a:bodyPr/>
          <a:lstStyle/>
          <a:p>
            <a:pPr indent="9947" defTabSz="716251">
              <a:defRPr sz="3196"/>
            </a:pPr>
            <a:r>
              <a:t>NESTED</a:t>
            </a:r>
            <a:r>
              <a:rPr spc="-157"/>
              <a:t> </a:t>
            </a:r>
            <a:r>
              <a:rPr spc="-78"/>
              <a:t>LOOP</a:t>
            </a:r>
          </a:p>
        </p:txBody>
      </p:sp>
      <p:sp>
        <p:nvSpPr>
          <p:cNvPr id="258" name="object 4"/>
          <p:cNvSpPr txBox="1"/>
          <p:nvPr/>
        </p:nvSpPr>
        <p:spPr>
          <a:xfrm>
            <a:off x="776308" y="1398435"/>
            <a:ext cx="4480984" cy="43216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1500"/>
              </a:spcBef>
              <a:defRPr sz="2700">
                <a:latin typeface="Times New Roman"/>
                <a:ea typeface="Times New Roman"/>
                <a:cs typeface="Times New Roman"/>
                <a:sym typeface="Times New Roman"/>
              </a:defRPr>
            </a:pPr>
            <a:r>
              <a:rPr sz="2250"/>
              <a:t>Loops can be nested in following</a:t>
            </a:r>
            <a:r>
              <a:rPr sz="2250" spc="-112"/>
              <a:t> </a:t>
            </a:r>
            <a:r>
              <a:rPr sz="2250"/>
              <a:t>ways</a:t>
            </a:r>
          </a:p>
          <a:p>
            <a:pPr marL="467235" indent="-457182">
              <a:spcBef>
                <a:spcPts val="1417"/>
              </a:spcBef>
              <a:buSzPct val="100000"/>
              <a:buAutoNum type="arabicPeriod"/>
              <a:tabLst>
                <a:tab pos="465648" algn="l"/>
                <a:tab pos="465648" algn="l"/>
              </a:tabLst>
              <a:defRPr sz="2700" spc="-5">
                <a:latin typeface="Times New Roman"/>
                <a:ea typeface="Times New Roman"/>
                <a:cs typeface="Times New Roman"/>
                <a:sym typeface="Times New Roman"/>
              </a:defRPr>
            </a:pPr>
            <a:r>
              <a:rPr sz="2250"/>
              <a:t>For loop:</a:t>
            </a:r>
          </a:p>
          <a:p>
            <a:pPr indent="1153537">
              <a:spcBef>
                <a:spcPts val="1417"/>
              </a:spcBef>
              <a:defRPr sz="2700" spc="-5">
                <a:latin typeface="Times New Roman"/>
                <a:ea typeface="Times New Roman"/>
                <a:cs typeface="Times New Roman"/>
                <a:sym typeface="Times New Roman"/>
              </a:defRPr>
            </a:pPr>
            <a:r>
              <a:rPr sz="2250"/>
              <a:t>for</a:t>
            </a:r>
            <a:r>
              <a:rPr sz="2250" spc="4"/>
              <a:t> </a:t>
            </a:r>
            <a:r>
              <a:rPr sz="2250"/>
              <a:t>loop:</a:t>
            </a:r>
          </a:p>
          <a:p>
            <a:pPr marL="439191" indent="-357702">
              <a:spcBef>
                <a:spcPts val="1083"/>
              </a:spcBef>
              <a:buSzPct val="100000"/>
              <a:buAutoNum type="arabicPeriod" startAt="2"/>
              <a:tabLst>
                <a:tab pos="433899" algn="l"/>
                <a:tab pos="433899" algn="l"/>
              </a:tabLst>
              <a:defRPr sz="2700" spc="-5">
                <a:latin typeface="Times New Roman"/>
                <a:ea typeface="Times New Roman"/>
                <a:cs typeface="Times New Roman"/>
                <a:sym typeface="Times New Roman"/>
              </a:defRPr>
            </a:pPr>
            <a:r>
              <a:rPr sz="2250"/>
              <a:t>while loop:</a:t>
            </a:r>
          </a:p>
          <a:p>
            <a:pPr indent="1153537">
              <a:spcBef>
                <a:spcPts val="1083"/>
              </a:spcBef>
              <a:defRPr sz="2700">
                <a:latin typeface="Times New Roman"/>
                <a:ea typeface="Times New Roman"/>
                <a:cs typeface="Times New Roman"/>
                <a:sym typeface="Times New Roman"/>
              </a:defRPr>
            </a:pPr>
            <a:r>
              <a:rPr sz="2250"/>
              <a:t>while</a:t>
            </a:r>
            <a:r>
              <a:rPr sz="2250" spc="-17"/>
              <a:t> </a:t>
            </a:r>
            <a:r>
              <a:rPr sz="2250"/>
              <a:t>loop:</a:t>
            </a:r>
          </a:p>
          <a:p>
            <a:pPr marL="439191" indent="-428608">
              <a:spcBef>
                <a:spcPts val="1083"/>
              </a:spcBef>
              <a:buSzPct val="100000"/>
              <a:buAutoNum type="arabicPeriod" startAt="3"/>
              <a:tabLst>
                <a:tab pos="433899" algn="l"/>
                <a:tab pos="433899" algn="l"/>
              </a:tabLst>
              <a:defRPr sz="2700" spc="-5">
                <a:latin typeface="Times New Roman"/>
                <a:ea typeface="Times New Roman"/>
                <a:cs typeface="Times New Roman"/>
                <a:sym typeface="Times New Roman"/>
              </a:defRPr>
            </a:pPr>
            <a:r>
              <a:rPr sz="2250"/>
              <a:t>For loop:</a:t>
            </a:r>
          </a:p>
          <a:p>
            <a:pPr indent="1153537">
              <a:spcBef>
                <a:spcPts val="1083"/>
              </a:spcBef>
              <a:defRPr sz="2700">
                <a:latin typeface="Times New Roman"/>
                <a:ea typeface="Times New Roman"/>
                <a:cs typeface="Times New Roman"/>
                <a:sym typeface="Times New Roman"/>
              </a:defRPr>
            </a:pPr>
            <a:r>
              <a:rPr sz="2250"/>
              <a:t>while</a:t>
            </a:r>
            <a:r>
              <a:rPr sz="2250" spc="-17"/>
              <a:t> </a:t>
            </a:r>
            <a:r>
              <a:rPr sz="2250"/>
              <a:t>loop:</a:t>
            </a:r>
          </a:p>
          <a:p>
            <a:pPr marL="433370" indent="-423316">
              <a:spcBef>
                <a:spcPts val="1083"/>
              </a:spcBef>
              <a:buSzPct val="100000"/>
              <a:buAutoNum type="arabicPeriod" startAt="4"/>
              <a:tabLst>
                <a:tab pos="423316" algn="l"/>
                <a:tab pos="433899" algn="l"/>
                <a:tab pos="1269949" algn="l"/>
              </a:tabLst>
              <a:defRPr sz="2700">
                <a:latin typeface="Times New Roman"/>
                <a:ea typeface="Times New Roman"/>
                <a:cs typeface="Times New Roman"/>
                <a:sym typeface="Times New Roman"/>
              </a:defRPr>
            </a:pPr>
            <a:r>
              <a:rPr sz="2250"/>
              <a:t>While	loop:</a:t>
            </a:r>
          </a:p>
          <a:p>
            <a:pPr indent="1153537">
              <a:spcBef>
                <a:spcPts val="1083"/>
              </a:spcBef>
              <a:defRPr sz="2700" spc="-5">
                <a:latin typeface="Times New Roman"/>
                <a:ea typeface="Times New Roman"/>
                <a:cs typeface="Times New Roman"/>
                <a:sym typeface="Times New Roman"/>
              </a:defRPr>
            </a:pPr>
            <a:r>
              <a:rPr sz="2250"/>
              <a:t>for</a:t>
            </a:r>
            <a:r>
              <a:rPr sz="2250" spc="4"/>
              <a:t> </a:t>
            </a:r>
            <a:r>
              <a:rPr sz="2250"/>
              <a:t>loop:</a:t>
            </a:r>
          </a:p>
        </p:txBody>
      </p:sp>
    </p:spTree>
    <p:extLst>
      <p:ext uri="{BB962C8B-B14F-4D97-AF65-F5344CB8AC3E}">
        <p14:creationId xmlns:p14="http://schemas.microsoft.com/office/powerpoint/2010/main" val="332576804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261" name="object 3"/>
          <p:cNvSpPr txBox="1"/>
          <p:nvPr/>
        </p:nvSpPr>
        <p:spPr>
          <a:xfrm>
            <a:off x="776308" y="1808776"/>
            <a:ext cx="10316105" cy="29552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1500"/>
              </a:spcBef>
              <a:defRPr sz="2900">
                <a:latin typeface="Times New Roman"/>
                <a:ea typeface="Times New Roman"/>
                <a:cs typeface="Times New Roman"/>
                <a:sym typeface="Times New Roman"/>
              </a:defRPr>
            </a:pPr>
            <a:r>
              <a:rPr sz="2417"/>
              <a:t>For</a:t>
            </a:r>
            <a:r>
              <a:rPr sz="2417" spc="-12"/>
              <a:t> </a:t>
            </a:r>
            <a:r>
              <a:rPr sz="2417"/>
              <a:t>loop</a:t>
            </a:r>
          </a:p>
          <a:p>
            <a:pPr indent="10583">
              <a:spcBef>
                <a:spcPts val="1417"/>
              </a:spcBef>
              <a:defRPr sz="2900">
                <a:latin typeface="Times New Roman"/>
                <a:ea typeface="Times New Roman"/>
                <a:cs typeface="Times New Roman"/>
                <a:sym typeface="Times New Roman"/>
              </a:defRPr>
            </a:pPr>
            <a:r>
              <a:rPr sz="2417"/>
              <a:t>where </a:t>
            </a:r>
            <a:r>
              <a:rPr sz="2417" spc="-8"/>
              <a:t>it </a:t>
            </a:r>
            <a:r>
              <a:rPr sz="2417"/>
              <a:t>falls under the </a:t>
            </a:r>
            <a:r>
              <a:rPr sz="2417" spc="-4"/>
              <a:t>category </a:t>
            </a:r>
            <a:r>
              <a:rPr sz="2417"/>
              <a:t>of </a:t>
            </a:r>
            <a:r>
              <a:rPr sz="2417" spc="-4"/>
              <a:t>definite</a:t>
            </a:r>
            <a:r>
              <a:rPr sz="2417" spc="-83"/>
              <a:t> </a:t>
            </a:r>
            <a:r>
              <a:rPr sz="2417" spc="-4"/>
              <a:t>iteration.</a:t>
            </a:r>
          </a:p>
          <a:p>
            <a:pPr marR="4233" indent="10583">
              <a:lnSpc>
                <a:spcPct val="148700"/>
              </a:lnSpc>
              <a:defRPr sz="2900">
                <a:latin typeface="Times New Roman"/>
                <a:ea typeface="Times New Roman"/>
                <a:cs typeface="Times New Roman"/>
                <a:sym typeface="Times New Roman"/>
              </a:defRPr>
            </a:pPr>
            <a:r>
              <a:rPr sz="2417"/>
              <a:t>Definite </a:t>
            </a:r>
            <a:r>
              <a:rPr sz="2417" spc="-4"/>
              <a:t>iteration </a:t>
            </a:r>
            <a:r>
              <a:rPr sz="2417" spc="-8"/>
              <a:t>means </a:t>
            </a:r>
            <a:r>
              <a:rPr sz="2417"/>
              <a:t>the </a:t>
            </a:r>
            <a:r>
              <a:rPr sz="2417" spc="-8"/>
              <a:t>number </a:t>
            </a:r>
            <a:r>
              <a:rPr sz="2417"/>
              <a:t>of repetitions is </a:t>
            </a:r>
            <a:r>
              <a:rPr sz="2417" spc="-4"/>
              <a:t>specified explicitly </a:t>
            </a:r>
            <a:r>
              <a:rPr sz="2417"/>
              <a:t>in </a:t>
            </a:r>
            <a:r>
              <a:rPr sz="2417" spc="-4"/>
              <a:t>advance.  Nested </a:t>
            </a:r>
            <a:r>
              <a:rPr sz="2417"/>
              <a:t>for</a:t>
            </a:r>
            <a:r>
              <a:rPr sz="2417" spc="-12"/>
              <a:t> </a:t>
            </a:r>
            <a:r>
              <a:rPr sz="2417"/>
              <a:t>loop</a:t>
            </a:r>
          </a:p>
          <a:p>
            <a:pPr marL="457182" marR="382572" indent="-447128">
              <a:spcBef>
                <a:spcPts val="1417"/>
              </a:spcBef>
              <a:defRPr sz="2900">
                <a:latin typeface="Times New Roman"/>
                <a:ea typeface="Times New Roman"/>
                <a:cs typeface="Times New Roman"/>
                <a:sym typeface="Times New Roman"/>
              </a:defRPr>
            </a:pPr>
            <a:r>
              <a:rPr sz="2417"/>
              <a:t>A </a:t>
            </a:r>
            <a:r>
              <a:rPr sz="2417" spc="-4"/>
              <a:t>nested </a:t>
            </a:r>
            <a:r>
              <a:rPr sz="2417"/>
              <a:t>for loop is a loop </a:t>
            </a:r>
            <a:r>
              <a:rPr sz="2417" spc="-4"/>
              <a:t>that </a:t>
            </a:r>
            <a:r>
              <a:rPr sz="2417"/>
              <a:t>occurs within </a:t>
            </a:r>
            <a:r>
              <a:rPr sz="2417" spc="-4"/>
              <a:t>another </a:t>
            </a:r>
            <a:r>
              <a:rPr sz="2417"/>
              <a:t>loop, structurally </a:t>
            </a:r>
            <a:r>
              <a:rPr sz="2417" spc="-8"/>
              <a:t>similar</a:t>
            </a:r>
            <a:r>
              <a:rPr sz="2417" spc="-242"/>
              <a:t> </a:t>
            </a:r>
            <a:r>
              <a:rPr sz="2417"/>
              <a:t>to  </a:t>
            </a:r>
            <a:r>
              <a:rPr sz="2417" spc="-4"/>
              <a:t>nested </a:t>
            </a:r>
            <a:r>
              <a:rPr sz="2417"/>
              <a:t>if</a:t>
            </a:r>
            <a:r>
              <a:rPr sz="2417" spc="-29"/>
              <a:t> </a:t>
            </a:r>
            <a:r>
              <a:rPr sz="2417" spc="-8"/>
              <a:t>statements.</a:t>
            </a:r>
          </a:p>
        </p:txBody>
      </p:sp>
      <p:sp>
        <p:nvSpPr>
          <p:cNvPr id="262" name="object 4"/>
          <p:cNvSpPr txBox="1">
            <a:spLocks noGrp="1"/>
          </p:cNvSpPr>
          <p:nvPr>
            <p:ph type="title"/>
          </p:nvPr>
        </p:nvSpPr>
        <p:spPr>
          <a:prstGeom prst="rect">
            <a:avLst/>
          </a:prstGeom>
        </p:spPr>
        <p:txBody>
          <a:bodyPr>
            <a:normAutofit/>
          </a:bodyPr>
          <a:lstStyle>
            <a:lvl1pPr indent="12700">
              <a:defRPr spc="-100">
                <a:latin typeface="Times New Roman"/>
                <a:ea typeface="Times New Roman"/>
                <a:cs typeface="Times New Roman"/>
                <a:sym typeface="Times New Roman"/>
              </a:defRPr>
            </a:lvl1pPr>
          </a:lstStyle>
          <a:p>
            <a:r>
              <a:t>NESTED FOR LOOP</a:t>
            </a:r>
          </a:p>
        </p:txBody>
      </p:sp>
    </p:spTree>
    <p:extLst>
      <p:ext uri="{BB962C8B-B14F-4D97-AF65-F5344CB8AC3E}">
        <p14:creationId xmlns:p14="http://schemas.microsoft.com/office/powerpoint/2010/main" val="102043925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265" name="object 3"/>
          <p:cNvSpPr txBox="1">
            <a:spLocks noGrp="1"/>
          </p:cNvSpPr>
          <p:nvPr>
            <p:ph type="title"/>
          </p:nvPr>
        </p:nvSpPr>
        <p:spPr>
          <a:prstGeom prst="rect">
            <a:avLst/>
          </a:prstGeom>
        </p:spPr>
        <p:txBody>
          <a:bodyPr>
            <a:normAutofit/>
          </a:bodyPr>
          <a:lstStyle>
            <a:lvl1pPr indent="12700">
              <a:defRPr spc="-100">
                <a:latin typeface="Times New Roman"/>
                <a:ea typeface="Times New Roman"/>
                <a:cs typeface="Times New Roman"/>
                <a:sym typeface="Times New Roman"/>
              </a:defRPr>
            </a:lvl1pPr>
          </a:lstStyle>
          <a:p>
            <a:r>
              <a:t>NESTED FOR LOOP</a:t>
            </a:r>
          </a:p>
        </p:txBody>
      </p:sp>
      <p:sp>
        <p:nvSpPr>
          <p:cNvPr id="266" name="object 4"/>
          <p:cNvSpPr txBox="1"/>
          <p:nvPr/>
        </p:nvSpPr>
        <p:spPr>
          <a:xfrm>
            <a:off x="776308" y="1808776"/>
            <a:ext cx="4303713" cy="25649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1500"/>
              </a:spcBef>
              <a:defRPr sz="2900">
                <a:latin typeface="Times New Roman"/>
                <a:ea typeface="Times New Roman"/>
                <a:cs typeface="Times New Roman"/>
                <a:sym typeface="Times New Roman"/>
              </a:defRPr>
            </a:pPr>
            <a:r>
              <a:rPr sz="2417"/>
              <a:t>Syntax</a:t>
            </a:r>
          </a:p>
          <a:p>
            <a:pPr marL="461414" marR="4233" indent="-451360">
              <a:lnSpc>
                <a:spcPts val="4250"/>
              </a:lnSpc>
              <a:spcBef>
                <a:spcPts val="333"/>
              </a:spcBef>
              <a:defRPr sz="2900">
                <a:latin typeface="Times New Roman"/>
                <a:ea typeface="Times New Roman"/>
                <a:cs typeface="Times New Roman"/>
                <a:sym typeface="Times New Roman"/>
              </a:defRPr>
            </a:pPr>
            <a:r>
              <a:rPr sz="2417"/>
              <a:t>For </a:t>
            </a:r>
            <a:r>
              <a:rPr sz="2417" spc="-4"/>
              <a:t>iterating_var1 </a:t>
            </a:r>
            <a:r>
              <a:rPr sz="2417"/>
              <a:t>in </a:t>
            </a:r>
            <a:r>
              <a:rPr sz="2417" spc="-4"/>
              <a:t>sequence:  </a:t>
            </a:r>
            <a:r>
              <a:rPr sz="2417"/>
              <a:t>For </a:t>
            </a:r>
            <a:r>
              <a:rPr sz="2417" spc="-4"/>
              <a:t>iterating_var2 </a:t>
            </a:r>
            <a:r>
              <a:rPr sz="2417"/>
              <a:t>in</a:t>
            </a:r>
            <a:r>
              <a:rPr sz="2417" spc="-46"/>
              <a:t> </a:t>
            </a:r>
            <a:r>
              <a:rPr sz="2417" spc="-4"/>
              <a:t>sequence:</a:t>
            </a:r>
          </a:p>
          <a:p>
            <a:pPr indent="1007492">
              <a:spcBef>
                <a:spcPts val="1000"/>
              </a:spcBef>
              <a:defRPr sz="2900" spc="-5">
                <a:latin typeface="Times New Roman"/>
                <a:ea typeface="Times New Roman"/>
                <a:cs typeface="Times New Roman"/>
                <a:sym typeface="Times New Roman"/>
              </a:defRPr>
            </a:pPr>
            <a:r>
              <a:rPr sz="2417"/>
              <a:t>statements(s)</a:t>
            </a:r>
          </a:p>
          <a:p>
            <a:pPr indent="547666">
              <a:spcBef>
                <a:spcPts val="1417"/>
              </a:spcBef>
              <a:defRPr sz="2900" spc="-5">
                <a:latin typeface="Times New Roman"/>
                <a:ea typeface="Times New Roman"/>
                <a:cs typeface="Times New Roman"/>
                <a:sym typeface="Times New Roman"/>
              </a:defRPr>
            </a:pPr>
            <a:r>
              <a:rPr sz="2417"/>
              <a:t>statements(s)</a:t>
            </a:r>
          </a:p>
        </p:txBody>
      </p:sp>
    </p:spTree>
    <p:extLst>
      <p:ext uri="{BB962C8B-B14F-4D97-AF65-F5344CB8AC3E}">
        <p14:creationId xmlns:p14="http://schemas.microsoft.com/office/powerpoint/2010/main" val="187449456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269" name="object 3"/>
          <p:cNvSpPr txBox="1">
            <a:spLocks noGrp="1"/>
          </p:cNvSpPr>
          <p:nvPr>
            <p:ph type="title"/>
          </p:nvPr>
        </p:nvSpPr>
        <p:spPr>
          <a:prstGeom prst="rect">
            <a:avLst/>
          </a:prstGeom>
        </p:spPr>
        <p:txBody>
          <a:bodyPr>
            <a:normAutofit/>
          </a:bodyPr>
          <a:lstStyle/>
          <a:p>
            <a:pPr indent="9947" defTabSz="716251">
              <a:defRPr sz="3196"/>
            </a:pPr>
            <a:r>
              <a:t>NESTED </a:t>
            </a:r>
            <a:r>
              <a:rPr spc="-78"/>
              <a:t>FOR</a:t>
            </a:r>
            <a:r>
              <a:rPr spc="-235"/>
              <a:t> </a:t>
            </a:r>
            <a:r>
              <a:rPr spc="-78"/>
              <a:t>LOOP</a:t>
            </a:r>
          </a:p>
        </p:txBody>
      </p:sp>
      <p:sp>
        <p:nvSpPr>
          <p:cNvPr id="270" name="object 4"/>
          <p:cNvSpPr/>
          <p:nvPr/>
        </p:nvSpPr>
        <p:spPr>
          <a:xfrm>
            <a:off x="4266309" y="2005329"/>
            <a:ext cx="2896483" cy="4070898"/>
          </a:xfrm>
          <a:prstGeom prst="rect">
            <a:avLst/>
          </a:prstGeom>
          <a:blipFill>
            <a:blip r:embed="rId3"/>
            <a:stretch>
              <a:fillRect/>
            </a:stretch>
          </a:blipFill>
          <a:ln w="12700">
            <a:miter lim="400000"/>
          </a:ln>
        </p:spPr>
        <p:txBody>
          <a:bodyPr lIns="38099" rIns="38099"/>
          <a:lstStyle/>
          <a:p>
            <a:endParaRPr sz="1500"/>
          </a:p>
        </p:txBody>
      </p:sp>
    </p:spTree>
    <p:extLst>
      <p:ext uri="{BB962C8B-B14F-4D97-AF65-F5344CB8AC3E}">
        <p14:creationId xmlns:p14="http://schemas.microsoft.com/office/powerpoint/2010/main" val="56086299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273" name="object 3"/>
          <p:cNvSpPr txBox="1">
            <a:spLocks noGrp="1"/>
          </p:cNvSpPr>
          <p:nvPr>
            <p:ph type="title"/>
          </p:nvPr>
        </p:nvSpPr>
        <p:spPr>
          <a:prstGeom prst="rect">
            <a:avLst/>
          </a:prstGeom>
        </p:spPr>
        <p:txBody>
          <a:bodyPr>
            <a:normAutofit/>
          </a:bodyPr>
          <a:lstStyle>
            <a:lvl1pPr indent="12700">
              <a:defRPr spc="-100">
                <a:latin typeface="Times New Roman"/>
                <a:ea typeface="Times New Roman"/>
                <a:cs typeface="Times New Roman"/>
                <a:sym typeface="Times New Roman"/>
              </a:defRPr>
            </a:lvl1pPr>
          </a:lstStyle>
          <a:p>
            <a:r>
              <a:t>NESTED FOR LOOP</a:t>
            </a:r>
          </a:p>
        </p:txBody>
      </p:sp>
      <p:sp>
        <p:nvSpPr>
          <p:cNvPr id="274" name="object 4"/>
          <p:cNvSpPr txBox="1"/>
          <p:nvPr/>
        </p:nvSpPr>
        <p:spPr>
          <a:xfrm>
            <a:off x="776308" y="1809220"/>
            <a:ext cx="10591800" cy="29627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L="457182" marR="587880" indent="-447128" algn="just">
              <a:spcBef>
                <a:spcPts val="83"/>
              </a:spcBef>
              <a:defRPr sz="2900">
                <a:latin typeface="Times New Roman"/>
                <a:ea typeface="Times New Roman"/>
                <a:cs typeface="Times New Roman"/>
                <a:sym typeface="Times New Roman"/>
              </a:defRPr>
            </a:pPr>
            <a:r>
              <a:rPr sz="2417"/>
              <a:t>The program first encounters the outer loop, </a:t>
            </a:r>
            <a:r>
              <a:rPr sz="2417" spc="-4"/>
              <a:t>executing its </a:t>
            </a:r>
            <a:r>
              <a:rPr sz="2417"/>
              <a:t>first </a:t>
            </a:r>
            <a:r>
              <a:rPr sz="2417" spc="-4"/>
              <a:t>iteration. </a:t>
            </a:r>
            <a:r>
              <a:rPr sz="2417"/>
              <a:t>This</a:t>
            </a:r>
            <a:r>
              <a:rPr sz="2417" spc="-179"/>
              <a:t> </a:t>
            </a:r>
            <a:r>
              <a:rPr sz="2417"/>
              <a:t>first  </a:t>
            </a:r>
            <a:r>
              <a:rPr sz="2417" spc="-4"/>
              <a:t>iteration </a:t>
            </a:r>
            <a:r>
              <a:rPr sz="2417"/>
              <a:t>triggers the </a:t>
            </a:r>
            <a:r>
              <a:rPr sz="2417" spc="-21"/>
              <a:t>inner, </a:t>
            </a:r>
            <a:r>
              <a:rPr sz="2417" spc="-4"/>
              <a:t>nested </a:t>
            </a:r>
            <a:r>
              <a:rPr sz="2417"/>
              <a:t>loop, which then runs to</a:t>
            </a:r>
            <a:r>
              <a:rPr sz="2417" spc="-95"/>
              <a:t> </a:t>
            </a:r>
            <a:r>
              <a:rPr sz="2417" spc="-4"/>
              <a:t>completion.</a:t>
            </a:r>
          </a:p>
          <a:p>
            <a:pPr marL="457182" marR="536024" indent="-447128" algn="just">
              <a:spcBef>
                <a:spcPts val="1417"/>
              </a:spcBef>
              <a:defRPr sz="2900">
                <a:latin typeface="Times New Roman"/>
                <a:ea typeface="Times New Roman"/>
                <a:cs typeface="Times New Roman"/>
                <a:sym typeface="Times New Roman"/>
              </a:defRPr>
            </a:pPr>
            <a:r>
              <a:rPr sz="2417"/>
              <a:t>Then the program returns </a:t>
            </a:r>
            <a:r>
              <a:rPr sz="2417" spc="-4"/>
              <a:t>back </a:t>
            </a:r>
            <a:r>
              <a:rPr sz="2417"/>
              <a:t>to the top of </a:t>
            </a:r>
            <a:r>
              <a:rPr sz="2417" spc="-4"/>
              <a:t>the outer </a:t>
            </a:r>
            <a:r>
              <a:rPr sz="2417"/>
              <a:t>loop, </a:t>
            </a:r>
            <a:r>
              <a:rPr sz="2417" spc="-4"/>
              <a:t>completing </a:t>
            </a:r>
            <a:r>
              <a:rPr sz="2417"/>
              <a:t>the</a:t>
            </a:r>
            <a:r>
              <a:rPr sz="2417" spc="-71"/>
              <a:t> </a:t>
            </a:r>
            <a:r>
              <a:rPr sz="2417" spc="-4"/>
              <a:t>second  iteration </a:t>
            </a:r>
            <a:r>
              <a:rPr sz="2417"/>
              <a:t>and </a:t>
            </a:r>
            <a:r>
              <a:rPr sz="2417" spc="-4"/>
              <a:t>again </a:t>
            </a:r>
            <a:r>
              <a:rPr sz="2417"/>
              <a:t>triggering the </a:t>
            </a:r>
            <a:r>
              <a:rPr sz="2417" spc="-4"/>
              <a:t>nested</a:t>
            </a:r>
            <a:r>
              <a:rPr sz="2417" spc="-92"/>
              <a:t> </a:t>
            </a:r>
            <a:r>
              <a:rPr sz="2417"/>
              <a:t>loop.</a:t>
            </a:r>
          </a:p>
          <a:p>
            <a:pPr marL="397917" marR="4233" indent="-328599" algn="just">
              <a:spcBef>
                <a:spcPts val="1417"/>
              </a:spcBef>
              <a:defRPr sz="2900">
                <a:latin typeface="Times New Roman"/>
                <a:ea typeface="Times New Roman"/>
                <a:cs typeface="Times New Roman"/>
                <a:sym typeface="Times New Roman"/>
              </a:defRPr>
            </a:pPr>
            <a:r>
              <a:rPr sz="2417"/>
              <a:t>Again, the </a:t>
            </a:r>
            <a:r>
              <a:rPr sz="2417" spc="-4"/>
              <a:t>nested loop </a:t>
            </a:r>
            <a:r>
              <a:rPr sz="2417"/>
              <a:t>runs to </a:t>
            </a:r>
            <a:r>
              <a:rPr sz="2417" spc="-4"/>
              <a:t>completion, </a:t>
            </a:r>
            <a:r>
              <a:rPr sz="2417"/>
              <a:t>and the program returns </a:t>
            </a:r>
            <a:r>
              <a:rPr sz="2417" spc="-4"/>
              <a:t>back to the </a:t>
            </a:r>
            <a:r>
              <a:rPr sz="2417"/>
              <a:t>top of  the </a:t>
            </a:r>
            <a:r>
              <a:rPr sz="2417" spc="-4"/>
              <a:t>outer </a:t>
            </a:r>
            <a:r>
              <a:rPr sz="2417"/>
              <a:t>loop </a:t>
            </a:r>
            <a:r>
              <a:rPr sz="2417" spc="-4"/>
              <a:t>until </a:t>
            </a:r>
            <a:r>
              <a:rPr sz="2417"/>
              <a:t>the </a:t>
            </a:r>
            <a:r>
              <a:rPr sz="2417" spc="-4"/>
              <a:t>sequence </a:t>
            </a:r>
            <a:r>
              <a:rPr sz="2417"/>
              <a:t>is </a:t>
            </a:r>
            <a:r>
              <a:rPr sz="2417" spc="-8"/>
              <a:t>complete </a:t>
            </a:r>
            <a:r>
              <a:rPr sz="2417"/>
              <a:t>or a </a:t>
            </a:r>
            <a:r>
              <a:rPr sz="2417" spc="-4"/>
              <a:t>break or other </a:t>
            </a:r>
            <a:r>
              <a:rPr sz="2417" spc="-8"/>
              <a:t>statement </a:t>
            </a:r>
            <a:r>
              <a:rPr sz="2417"/>
              <a:t>disrupts  the</a:t>
            </a:r>
            <a:r>
              <a:rPr sz="2417" spc="-17"/>
              <a:t> </a:t>
            </a:r>
            <a:r>
              <a:rPr sz="2417"/>
              <a:t>process.</a:t>
            </a:r>
          </a:p>
        </p:txBody>
      </p:sp>
    </p:spTree>
    <p:extLst>
      <p:ext uri="{BB962C8B-B14F-4D97-AF65-F5344CB8AC3E}">
        <p14:creationId xmlns:p14="http://schemas.microsoft.com/office/powerpoint/2010/main" val="341936592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277" name="object 3"/>
          <p:cNvSpPr txBox="1">
            <a:spLocks noGrp="1"/>
          </p:cNvSpPr>
          <p:nvPr>
            <p:ph type="title"/>
          </p:nvPr>
        </p:nvSpPr>
        <p:spPr>
          <a:prstGeom prst="rect">
            <a:avLst/>
          </a:prstGeom>
        </p:spPr>
        <p:txBody>
          <a:bodyPr>
            <a:normAutofit/>
          </a:bodyPr>
          <a:lstStyle>
            <a:lvl1pPr indent="12700">
              <a:defRPr spc="-100">
                <a:latin typeface="Times New Roman"/>
                <a:ea typeface="Times New Roman"/>
                <a:cs typeface="Times New Roman"/>
                <a:sym typeface="Times New Roman"/>
              </a:defRPr>
            </a:lvl1pPr>
          </a:lstStyle>
          <a:p>
            <a:r>
              <a:t>NESTED FOR LOOP</a:t>
            </a:r>
          </a:p>
        </p:txBody>
      </p:sp>
      <p:sp>
        <p:nvSpPr>
          <p:cNvPr id="278" name="object 4"/>
          <p:cNvSpPr txBox="1"/>
          <p:nvPr/>
        </p:nvSpPr>
        <p:spPr>
          <a:xfrm>
            <a:off x="535940" y="1554967"/>
            <a:ext cx="136526" cy="3719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spcBef>
                <a:spcPts val="100"/>
              </a:spcBef>
              <a:defRPr sz="2900" spc="75">
                <a:latin typeface="Gill Sans MT"/>
                <a:ea typeface="Gill Sans MT"/>
                <a:cs typeface="Gill Sans MT"/>
                <a:sym typeface="Gill Sans MT"/>
              </a:defRPr>
            </a:lvl1pPr>
          </a:lstStyle>
          <a:p>
            <a:r>
              <a:rPr sz="2417"/>
              <a:t>*</a:t>
            </a:r>
          </a:p>
        </p:txBody>
      </p:sp>
      <p:sp>
        <p:nvSpPr>
          <p:cNvPr id="279" name="object 5"/>
          <p:cNvSpPr txBox="1"/>
          <p:nvPr/>
        </p:nvSpPr>
        <p:spPr>
          <a:xfrm>
            <a:off x="3177329" y="1375460"/>
            <a:ext cx="1678518" cy="11083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R="4233" indent="485226">
              <a:lnSpc>
                <a:spcPct val="148700"/>
              </a:lnSpc>
              <a:spcBef>
                <a:spcPts val="83"/>
              </a:spcBef>
              <a:defRPr sz="2900" spc="180">
                <a:latin typeface="Gill Sans MT"/>
                <a:ea typeface="Gill Sans MT"/>
                <a:cs typeface="Gill Sans MT"/>
                <a:sym typeface="Gill Sans MT"/>
              </a:defRPr>
            </a:pPr>
            <a:r>
              <a:rPr sz="2417"/>
              <a:t>columns  </a:t>
            </a:r>
            <a:r>
              <a:rPr sz="2417" spc="75">
                <a:solidFill>
                  <a:srgbClr val="E36C09"/>
                </a:solidFill>
              </a:rPr>
              <a:t>rows</a:t>
            </a:r>
          </a:p>
        </p:txBody>
      </p:sp>
      <p:sp>
        <p:nvSpPr>
          <p:cNvPr id="280" name="object 6"/>
          <p:cNvSpPr txBox="1"/>
          <p:nvPr/>
        </p:nvSpPr>
        <p:spPr>
          <a:xfrm>
            <a:off x="535940" y="2102463"/>
            <a:ext cx="543984" cy="18469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spcBef>
                <a:spcPts val="1500"/>
              </a:spcBef>
              <a:defRPr sz="2900" spc="70">
                <a:latin typeface="Gill Sans MT"/>
                <a:ea typeface="Gill Sans MT"/>
                <a:cs typeface="Gill Sans MT"/>
                <a:sym typeface="Gill Sans MT"/>
              </a:defRPr>
            </a:pPr>
            <a:r>
              <a:rPr sz="2417"/>
              <a:t>**</a:t>
            </a:r>
          </a:p>
          <a:p>
            <a:pPr>
              <a:spcBef>
                <a:spcPts val="1417"/>
              </a:spcBef>
              <a:defRPr sz="2900" spc="70">
                <a:latin typeface="Gill Sans MT"/>
                <a:ea typeface="Gill Sans MT"/>
                <a:cs typeface="Gill Sans MT"/>
                <a:sym typeface="Gill Sans MT"/>
              </a:defRPr>
            </a:pPr>
            <a:r>
              <a:rPr sz="2417"/>
              <a:t>***</a:t>
            </a:r>
          </a:p>
          <a:p>
            <a:pPr>
              <a:spcBef>
                <a:spcPts val="1417"/>
              </a:spcBef>
              <a:defRPr sz="2900" spc="70">
                <a:latin typeface="Gill Sans MT"/>
                <a:ea typeface="Gill Sans MT"/>
                <a:cs typeface="Gill Sans MT"/>
                <a:sym typeface="Gill Sans MT"/>
              </a:defRPr>
            </a:pPr>
            <a:r>
              <a:rPr sz="2417"/>
              <a:t>****</a:t>
            </a:r>
          </a:p>
        </p:txBody>
      </p:sp>
      <p:graphicFrame>
        <p:nvGraphicFramePr>
          <p:cNvPr id="281" name="object 7"/>
          <p:cNvGraphicFramePr/>
          <p:nvPr/>
        </p:nvGraphicFramePr>
        <p:xfrm>
          <a:off x="5838030" y="2536030"/>
          <a:ext cx="3810000" cy="2539998"/>
        </p:xfrm>
        <a:graphic>
          <a:graphicData uri="http://schemas.openxmlformats.org/drawingml/2006/table">
            <a:tbl>
              <a:tblPr/>
              <a:tblGrid>
                <a:gridCol w="889000">
                  <a:extLst>
                    <a:ext uri="{9D8B030D-6E8A-4147-A177-3AD203B41FA5}">
                      <a16:colId xmlns:a16="http://schemas.microsoft.com/office/drawing/2014/main" val="20000"/>
                    </a:ext>
                  </a:extLst>
                </a:gridCol>
                <a:gridCol w="940329">
                  <a:extLst>
                    <a:ext uri="{9D8B030D-6E8A-4147-A177-3AD203B41FA5}">
                      <a16:colId xmlns:a16="http://schemas.microsoft.com/office/drawing/2014/main" val="20001"/>
                    </a:ext>
                  </a:extLst>
                </a:gridCol>
                <a:gridCol w="964671">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tblGrid>
              <a:tr h="600709">
                <a:tc>
                  <a:txBody>
                    <a:bodyPr/>
                    <a:lstStyle/>
                    <a:p>
                      <a:pPr algn="l">
                        <a:spcBef>
                          <a:spcPts val="300"/>
                        </a:spcBef>
                      </a:pPr>
                      <a:r>
                        <a:rPr sz="2200"/>
                        <a:t>*</a:t>
                      </a:r>
                    </a:p>
                  </a:txBody>
                  <a:tcPr marL="0" marR="0" marT="0" marB="0" horzOverflow="overflow">
                    <a:lnL>
                      <a:solidFill>
                        <a:srgbClr val="497DBA"/>
                      </a:solidFill>
                    </a:lnL>
                    <a:lnR>
                      <a:solidFill>
                        <a:srgbClr val="497DBA"/>
                      </a:solidFill>
                    </a:lnR>
                    <a:lnT>
                      <a:solidFill>
                        <a:srgbClr val="497DBA"/>
                      </a:solidFill>
                    </a:lnT>
                    <a:lnB>
                      <a:solidFill>
                        <a:srgbClr val="497DBA"/>
                      </a:solidFill>
                    </a:lnB>
                  </a:tcPr>
                </a:tc>
                <a:tc>
                  <a:txBody>
                    <a:bodyPr/>
                    <a:lstStyle/>
                    <a:p>
                      <a:pPr algn="l">
                        <a:defRPr sz="2900">
                          <a:latin typeface="Times New Roman"/>
                          <a:ea typeface="Times New Roman"/>
                          <a:cs typeface="Times New Roman"/>
                          <a:sym typeface="Times New Roman"/>
                        </a:defRPr>
                      </a:pPr>
                      <a:endParaRPr sz="2400"/>
                    </a:p>
                  </a:txBody>
                  <a:tcPr marL="0" marR="0" marT="0" marB="0" horzOverflow="overflow">
                    <a:lnL>
                      <a:solidFill>
                        <a:srgbClr val="497DBA"/>
                      </a:solidFill>
                    </a:lnL>
                    <a:lnR w="38100">
                      <a:solidFill>
                        <a:srgbClr val="497DBA"/>
                      </a:solidFill>
                    </a:lnR>
                    <a:lnT>
                      <a:solidFill>
                        <a:srgbClr val="497DBA"/>
                      </a:solidFill>
                    </a:lnT>
                    <a:lnB>
                      <a:solidFill>
                        <a:srgbClr val="497DBA"/>
                      </a:solidFill>
                    </a:lnB>
                  </a:tcPr>
                </a:tc>
                <a:tc>
                  <a:txBody>
                    <a:bodyPr/>
                    <a:lstStyle/>
                    <a:p>
                      <a:pPr algn="l">
                        <a:defRPr sz="2900">
                          <a:latin typeface="Times New Roman"/>
                          <a:ea typeface="Times New Roman"/>
                          <a:cs typeface="Times New Roman"/>
                          <a:sym typeface="Times New Roman"/>
                        </a:defRPr>
                      </a:pPr>
                      <a:endParaRPr sz="2400"/>
                    </a:p>
                  </a:txBody>
                  <a:tcPr marL="0" marR="0" marT="0" marB="0" horzOverflow="overflow">
                    <a:lnL w="38100">
                      <a:solidFill>
                        <a:srgbClr val="497DBA"/>
                      </a:solidFill>
                    </a:lnL>
                    <a:lnR>
                      <a:solidFill>
                        <a:srgbClr val="497DBA"/>
                      </a:solidFill>
                    </a:lnR>
                    <a:lnT>
                      <a:solidFill>
                        <a:srgbClr val="497DBA"/>
                      </a:solidFill>
                    </a:lnT>
                    <a:lnB>
                      <a:solidFill>
                        <a:srgbClr val="497DBA"/>
                      </a:solidFill>
                    </a:lnB>
                  </a:tcPr>
                </a:tc>
                <a:tc>
                  <a:txBody>
                    <a:bodyPr/>
                    <a:lstStyle/>
                    <a:p>
                      <a:pPr algn="l">
                        <a:defRPr sz="2900">
                          <a:latin typeface="Times New Roman"/>
                          <a:ea typeface="Times New Roman"/>
                          <a:cs typeface="Times New Roman"/>
                          <a:sym typeface="Times New Roman"/>
                        </a:defRPr>
                      </a:pPr>
                      <a:endParaRPr sz="2400"/>
                    </a:p>
                  </a:txBody>
                  <a:tcPr marL="0" marR="0" marT="0" marB="0" horzOverflow="overflow">
                    <a:lnL>
                      <a:solidFill>
                        <a:srgbClr val="497DBA"/>
                      </a:solidFill>
                    </a:lnL>
                    <a:lnR>
                      <a:solidFill>
                        <a:srgbClr val="497DBA"/>
                      </a:solidFill>
                    </a:lnR>
                    <a:lnT>
                      <a:solidFill>
                        <a:srgbClr val="497DBA"/>
                      </a:solidFill>
                    </a:lnT>
                    <a:lnB>
                      <a:solidFill>
                        <a:srgbClr val="497DBA"/>
                      </a:solidFill>
                    </a:lnB>
                  </a:tcPr>
                </a:tc>
                <a:extLst>
                  <a:ext uri="{0D108BD9-81ED-4DB2-BD59-A6C34878D82A}">
                    <a16:rowId xmlns:a16="http://schemas.microsoft.com/office/drawing/2014/main" val="10000"/>
                  </a:ext>
                </a:extLst>
              </a:tr>
              <a:tr h="601503">
                <a:tc>
                  <a:txBody>
                    <a:bodyPr/>
                    <a:lstStyle/>
                    <a:p>
                      <a:pPr marR="344804">
                        <a:spcBef>
                          <a:spcPts val="2300"/>
                        </a:spcBef>
                      </a:pPr>
                      <a:r>
                        <a:rPr sz="2200"/>
                        <a:t>*</a:t>
                      </a:r>
                    </a:p>
                  </a:txBody>
                  <a:tcPr marL="0" marR="0" marT="0" marB="0" horzOverflow="overflow">
                    <a:lnL>
                      <a:solidFill>
                        <a:srgbClr val="497DBA"/>
                      </a:solidFill>
                    </a:lnL>
                    <a:lnR>
                      <a:solidFill>
                        <a:srgbClr val="497DBA"/>
                      </a:solidFill>
                    </a:lnR>
                    <a:lnT>
                      <a:solidFill>
                        <a:srgbClr val="497DBA"/>
                      </a:solidFill>
                    </a:lnT>
                    <a:lnB w="19050">
                      <a:solidFill>
                        <a:srgbClr val="497DBA"/>
                      </a:solidFill>
                    </a:lnB>
                  </a:tcPr>
                </a:tc>
                <a:tc>
                  <a:txBody>
                    <a:bodyPr/>
                    <a:lstStyle/>
                    <a:p>
                      <a:pPr marR="19050" algn="ctr">
                        <a:spcBef>
                          <a:spcPts val="2300"/>
                        </a:spcBef>
                      </a:pPr>
                      <a:r>
                        <a:rPr sz="2200"/>
                        <a:t>*</a:t>
                      </a:r>
                    </a:p>
                  </a:txBody>
                  <a:tcPr marL="0" marR="0" marT="0" marB="0" horzOverflow="overflow">
                    <a:lnL>
                      <a:solidFill>
                        <a:srgbClr val="497DBA"/>
                      </a:solidFill>
                    </a:lnL>
                    <a:lnR w="38100">
                      <a:solidFill>
                        <a:srgbClr val="497DBA"/>
                      </a:solidFill>
                    </a:lnR>
                    <a:lnT>
                      <a:solidFill>
                        <a:srgbClr val="497DBA"/>
                      </a:solidFill>
                    </a:lnT>
                    <a:lnB w="19050">
                      <a:solidFill>
                        <a:srgbClr val="497DBA"/>
                      </a:solidFill>
                    </a:lnB>
                  </a:tcPr>
                </a:tc>
                <a:tc>
                  <a:txBody>
                    <a:bodyPr/>
                    <a:lstStyle/>
                    <a:p>
                      <a:pPr algn="l">
                        <a:defRPr sz="2900">
                          <a:latin typeface="Times New Roman"/>
                          <a:ea typeface="Times New Roman"/>
                          <a:cs typeface="Times New Roman"/>
                          <a:sym typeface="Times New Roman"/>
                        </a:defRPr>
                      </a:pPr>
                      <a:endParaRPr sz="2400"/>
                    </a:p>
                  </a:txBody>
                  <a:tcPr marL="0" marR="0" marT="0" marB="0" horzOverflow="overflow">
                    <a:lnL w="38100">
                      <a:solidFill>
                        <a:srgbClr val="497DBA"/>
                      </a:solidFill>
                    </a:lnL>
                    <a:lnR>
                      <a:solidFill>
                        <a:srgbClr val="497DBA"/>
                      </a:solidFill>
                    </a:lnR>
                    <a:lnT>
                      <a:solidFill>
                        <a:srgbClr val="497DBA"/>
                      </a:solidFill>
                    </a:lnT>
                    <a:lnB w="19050">
                      <a:solidFill>
                        <a:srgbClr val="497DBA"/>
                      </a:solidFill>
                    </a:lnB>
                  </a:tcPr>
                </a:tc>
                <a:tc>
                  <a:txBody>
                    <a:bodyPr/>
                    <a:lstStyle/>
                    <a:p>
                      <a:pPr algn="l">
                        <a:defRPr sz="2900">
                          <a:latin typeface="Times New Roman"/>
                          <a:ea typeface="Times New Roman"/>
                          <a:cs typeface="Times New Roman"/>
                          <a:sym typeface="Times New Roman"/>
                        </a:defRPr>
                      </a:pPr>
                      <a:endParaRPr sz="2400"/>
                    </a:p>
                  </a:txBody>
                  <a:tcPr marL="0" marR="0" marT="0" marB="0" horzOverflow="overflow">
                    <a:lnL>
                      <a:solidFill>
                        <a:srgbClr val="497DBA"/>
                      </a:solidFill>
                    </a:lnL>
                    <a:lnR>
                      <a:solidFill>
                        <a:srgbClr val="497DBA"/>
                      </a:solidFill>
                    </a:lnR>
                    <a:lnT>
                      <a:solidFill>
                        <a:srgbClr val="497DBA"/>
                      </a:solidFill>
                    </a:lnT>
                    <a:lnB w="19050">
                      <a:solidFill>
                        <a:srgbClr val="497DBA"/>
                      </a:solidFill>
                    </a:lnB>
                  </a:tcPr>
                </a:tc>
                <a:extLst>
                  <a:ext uri="{0D108BD9-81ED-4DB2-BD59-A6C34878D82A}">
                    <a16:rowId xmlns:a16="http://schemas.microsoft.com/office/drawing/2014/main" val="10001"/>
                  </a:ext>
                </a:extLst>
              </a:tr>
              <a:tr h="639286">
                <a:tc>
                  <a:txBody>
                    <a:bodyPr/>
                    <a:lstStyle/>
                    <a:p>
                      <a:pPr algn="ctr">
                        <a:spcBef>
                          <a:spcPts val="1300"/>
                        </a:spcBef>
                      </a:pPr>
                      <a:r>
                        <a:rPr sz="2200"/>
                        <a:t>*</a:t>
                      </a:r>
                    </a:p>
                  </a:txBody>
                  <a:tcPr marL="0" marR="0" marT="0" marB="0" horzOverflow="overflow">
                    <a:lnL>
                      <a:solidFill>
                        <a:srgbClr val="497DBA"/>
                      </a:solidFill>
                    </a:lnL>
                    <a:lnR>
                      <a:solidFill>
                        <a:srgbClr val="497DBA"/>
                      </a:solidFill>
                    </a:lnR>
                    <a:lnT w="19050">
                      <a:solidFill>
                        <a:srgbClr val="497DBA"/>
                      </a:solidFill>
                    </a:lnT>
                    <a:lnB>
                      <a:solidFill>
                        <a:srgbClr val="497DBA"/>
                      </a:solidFill>
                    </a:lnB>
                  </a:tcPr>
                </a:tc>
                <a:tc>
                  <a:txBody>
                    <a:bodyPr/>
                    <a:lstStyle/>
                    <a:p>
                      <a:pPr marR="415925">
                        <a:spcBef>
                          <a:spcPts val="1300"/>
                        </a:spcBef>
                      </a:pPr>
                      <a:r>
                        <a:rPr sz="2200"/>
                        <a:t>*</a:t>
                      </a:r>
                    </a:p>
                  </a:txBody>
                  <a:tcPr marL="0" marR="0" marT="0" marB="0" horzOverflow="overflow">
                    <a:lnL>
                      <a:solidFill>
                        <a:srgbClr val="497DBA"/>
                      </a:solidFill>
                    </a:lnL>
                    <a:lnR w="38100">
                      <a:solidFill>
                        <a:srgbClr val="497DBA"/>
                      </a:solidFill>
                    </a:lnR>
                    <a:lnT w="19050">
                      <a:solidFill>
                        <a:srgbClr val="497DBA"/>
                      </a:solidFill>
                    </a:lnT>
                    <a:lnB>
                      <a:solidFill>
                        <a:srgbClr val="497DBA"/>
                      </a:solidFill>
                    </a:lnB>
                  </a:tcPr>
                </a:tc>
                <a:tc>
                  <a:txBody>
                    <a:bodyPr/>
                    <a:lstStyle/>
                    <a:p>
                      <a:pPr marR="289559">
                        <a:spcBef>
                          <a:spcPts val="1300"/>
                        </a:spcBef>
                      </a:pPr>
                      <a:r>
                        <a:rPr sz="2200"/>
                        <a:t>*</a:t>
                      </a:r>
                    </a:p>
                  </a:txBody>
                  <a:tcPr marL="0" marR="0" marT="0" marB="0" horzOverflow="overflow">
                    <a:lnL w="38100">
                      <a:solidFill>
                        <a:srgbClr val="497DBA"/>
                      </a:solidFill>
                    </a:lnL>
                    <a:lnR>
                      <a:solidFill>
                        <a:srgbClr val="497DBA"/>
                      </a:solidFill>
                    </a:lnR>
                    <a:lnT w="19050">
                      <a:solidFill>
                        <a:srgbClr val="497DBA"/>
                      </a:solidFill>
                    </a:lnT>
                    <a:lnB>
                      <a:solidFill>
                        <a:srgbClr val="497DBA"/>
                      </a:solidFill>
                    </a:lnB>
                  </a:tcPr>
                </a:tc>
                <a:tc>
                  <a:txBody>
                    <a:bodyPr/>
                    <a:lstStyle/>
                    <a:p>
                      <a:pPr algn="l">
                        <a:defRPr sz="2900">
                          <a:latin typeface="Times New Roman"/>
                          <a:ea typeface="Times New Roman"/>
                          <a:cs typeface="Times New Roman"/>
                          <a:sym typeface="Times New Roman"/>
                        </a:defRPr>
                      </a:pPr>
                      <a:endParaRPr sz="2400"/>
                    </a:p>
                  </a:txBody>
                  <a:tcPr marL="0" marR="0" marT="0" marB="0" horzOverflow="overflow">
                    <a:lnL>
                      <a:solidFill>
                        <a:srgbClr val="497DBA"/>
                      </a:solidFill>
                    </a:lnL>
                    <a:lnR>
                      <a:solidFill>
                        <a:srgbClr val="497DBA"/>
                      </a:solidFill>
                    </a:lnR>
                    <a:lnT w="19050">
                      <a:solidFill>
                        <a:srgbClr val="497DBA"/>
                      </a:solidFill>
                    </a:lnT>
                    <a:lnB>
                      <a:solidFill>
                        <a:srgbClr val="497DBA"/>
                      </a:solidFill>
                    </a:lnB>
                  </a:tcPr>
                </a:tc>
                <a:extLst>
                  <a:ext uri="{0D108BD9-81ED-4DB2-BD59-A6C34878D82A}">
                    <a16:rowId xmlns:a16="http://schemas.microsoft.com/office/drawing/2014/main" val="10002"/>
                  </a:ext>
                </a:extLst>
              </a:tr>
              <a:tr h="698500">
                <a:tc>
                  <a:txBody>
                    <a:bodyPr/>
                    <a:lstStyle/>
                    <a:p>
                      <a:pPr algn="l">
                        <a:defRPr sz="2000">
                          <a:latin typeface="Times New Roman"/>
                          <a:ea typeface="Times New Roman"/>
                          <a:cs typeface="Times New Roman"/>
                          <a:sym typeface="Times New Roman"/>
                        </a:defRPr>
                      </a:pPr>
                      <a:endParaRPr sz="1700"/>
                    </a:p>
                    <a:p>
                      <a:pPr marR="372745">
                        <a:defRPr sz="2600"/>
                      </a:pPr>
                      <a:r>
                        <a:rPr sz="2200"/>
                        <a:t>*</a:t>
                      </a:r>
                    </a:p>
                  </a:txBody>
                  <a:tcPr marL="0" marR="0" marT="0" marB="0" horzOverflow="overflow">
                    <a:lnL>
                      <a:solidFill>
                        <a:srgbClr val="497DBA"/>
                      </a:solidFill>
                    </a:lnL>
                    <a:lnR>
                      <a:solidFill>
                        <a:srgbClr val="497DBA"/>
                      </a:solidFill>
                    </a:lnR>
                    <a:lnT>
                      <a:solidFill>
                        <a:srgbClr val="497DBA"/>
                      </a:solidFill>
                    </a:lnT>
                    <a:lnB>
                      <a:solidFill>
                        <a:srgbClr val="497DBA"/>
                      </a:solidFill>
                    </a:lnB>
                  </a:tcPr>
                </a:tc>
                <a:tc>
                  <a:txBody>
                    <a:bodyPr/>
                    <a:lstStyle/>
                    <a:p>
                      <a:pPr algn="l">
                        <a:defRPr sz="2000">
                          <a:latin typeface="Times New Roman"/>
                          <a:ea typeface="Times New Roman"/>
                          <a:cs typeface="Times New Roman"/>
                          <a:sym typeface="Times New Roman"/>
                        </a:defRPr>
                      </a:pPr>
                      <a:endParaRPr sz="1700"/>
                    </a:p>
                    <a:p>
                      <a:pPr marR="441325">
                        <a:defRPr sz="2600"/>
                      </a:pPr>
                      <a:r>
                        <a:rPr sz="2200"/>
                        <a:t>*</a:t>
                      </a:r>
                    </a:p>
                  </a:txBody>
                  <a:tcPr marL="0" marR="0" marT="0" marB="0" horzOverflow="overflow">
                    <a:lnL>
                      <a:solidFill>
                        <a:srgbClr val="497DBA"/>
                      </a:solidFill>
                    </a:lnL>
                    <a:lnR w="38100">
                      <a:solidFill>
                        <a:srgbClr val="497DBA"/>
                      </a:solidFill>
                    </a:lnR>
                    <a:lnT>
                      <a:solidFill>
                        <a:srgbClr val="497DBA"/>
                      </a:solidFill>
                    </a:lnT>
                    <a:lnB>
                      <a:solidFill>
                        <a:srgbClr val="497DBA"/>
                      </a:solidFill>
                    </a:lnB>
                  </a:tcPr>
                </a:tc>
                <a:tc>
                  <a:txBody>
                    <a:bodyPr/>
                    <a:lstStyle/>
                    <a:p>
                      <a:pPr algn="l">
                        <a:defRPr sz="2000">
                          <a:latin typeface="Times New Roman"/>
                          <a:ea typeface="Times New Roman"/>
                          <a:cs typeface="Times New Roman"/>
                          <a:sym typeface="Times New Roman"/>
                        </a:defRPr>
                      </a:pPr>
                      <a:endParaRPr sz="1700"/>
                    </a:p>
                    <a:p>
                      <a:pPr marR="314325">
                        <a:defRPr sz="2600"/>
                      </a:pPr>
                      <a:r>
                        <a:rPr sz="2200"/>
                        <a:t>*</a:t>
                      </a:r>
                    </a:p>
                  </a:txBody>
                  <a:tcPr marL="0" marR="0" marT="0" marB="0" horzOverflow="overflow">
                    <a:lnL w="38100">
                      <a:solidFill>
                        <a:srgbClr val="497DBA"/>
                      </a:solidFill>
                    </a:lnL>
                    <a:lnR>
                      <a:solidFill>
                        <a:srgbClr val="497DBA"/>
                      </a:solidFill>
                    </a:lnR>
                    <a:lnT>
                      <a:solidFill>
                        <a:srgbClr val="497DBA"/>
                      </a:solidFill>
                    </a:lnT>
                    <a:lnB>
                      <a:solidFill>
                        <a:srgbClr val="497DBA"/>
                      </a:solidFill>
                    </a:lnB>
                  </a:tcPr>
                </a:tc>
                <a:tc>
                  <a:txBody>
                    <a:bodyPr/>
                    <a:lstStyle/>
                    <a:p>
                      <a:pPr algn="l">
                        <a:defRPr sz="2000">
                          <a:latin typeface="Times New Roman"/>
                          <a:ea typeface="Times New Roman"/>
                          <a:cs typeface="Times New Roman"/>
                          <a:sym typeface="Times New Roman"/>
                        </a:defRPr>
                      </a:pPr>
                      <a:endParaRPr sz="1700"/>
                    </a:p>
                    <a:p>
                      <a:pPr indent="90169" algn="ctr">
                        <a:defRPr sz="2600"/>
                      </a:pPr>
                      <a:r>
                        <a:rPr sz="2200"/>
                        <a:t>*</a:t>
                      </a:r>
                    </a:p>
                  </a:txBody>
                  <a:tcPr marL="0" marR="0" marT="0" marB="0" horzOverflow="overflow">
                    <a:lnL>
                      <a:solidFill>
                        <a:srgbClr val="497DBA"/>
                      </a:solidFill>
                    </a:lnL>
                    <a:lnR>
                      <a:solidFill>
                        <a:srgbClr val="497DBA"/>
                      </a:solidFill>
                    </a:lnR>
                    <a:lnT>
                      <a:solidFill>
                        <a:srgbClr val="497DBA"/>
                      </a:solidFill>
                    </a:lnT>
                    <a:lnB>
                      <a:solidFill>
                        <a:srgbClr val="497DBA"/>
                      </a:solidFill>
                    </a:lnB>
                  </a:tcPr>
                </a:tc>
                <a:extLst>
                  <a:ext uri="{0D108BD9-81ED-4DB2-BD59-A6C34878D82A}">
                    <a16:rowId xmlns:a16="http://schemas.microsoft.com/office/drawing/2014/main" val="10003"/>
                  </a:ext>
                </a:extLst>
              </a:tr>
            </a:tbl>
          </a:graphicData>
        </a:graphic>
      </p:graphicFrame>
      <p:sp>
        <p:nvSpPr>
          <p:cNvPr id="282" name="object 8"/>
          <p:cNvSpPr txBox="1"/>
          <p:nvPr/>
        </p:nvSpPr>
        <p:spPr>
          <a:xfrm>
            <a:off x="6343967" y="1989878"/>
            <a:ext cx="160868"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1</a:t>
            </a:r>
          </a:p>
        </p:txBody>
      </p:sp>
      <p:sp>
        <p:nvSpPr>
          <p:cNvPr id="283" name="object 9"/>
          <p:cNvSpPr txBox="1"/>
          <p:nvPr/>
        </p:nvSpPr>
        <p:spPr>
          <a:xfrm>
            <a:off x="6980624" y="1989878"/>
            <a:ext cx="160868"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2</a:t>
            </a:r>
          </a:p>
        </p:txBody>
      </p:sp>
      <p:sp>
        <p:nvSpPr>
          <p:cNvPr id="284" name="object 10"/>
          <p:cNvSpPr txBox="1"/>
          <p:nvPr/>
        </p:nvSpPr>
        <p:spPr>
          <a:xfrm>
            <a:off x="7990707" y="1989878"/>
            <a:ext cx="160868"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3</a:t>
            </a:r>
          </a:p>
        </p:txBody>
      </p:sp>
      <p:sp>
        <p:nvSpPr>
          <p:cNvPr id="285" name="object 11"/>
          <p:cNvSpPr txBox="1"/>
          <p:nvPr/>
        </p:nvSpPr>
        <p:spPr>
          <a:xfrm>
            <a:off x="9123152" y="1989878"/>
            <a:ext cx="160868"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4</a:t>
            </a:r>
          </a:p>
        </p:txBody>
      </p:sp>
      <p:sp>
        <p:nvSpPr>
          <p:cNvPr id="286" name="object 12"/>
          <p:cNvSpPr txBox="1"/>
          <p:nvPr/>
        </p:nvSpPr>
        <p:spPr>
          <a:xfrm>
            <a:off x="5333048" y="2642658"/>
            <a:ext cx="160868"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solidFill>
                  <a:srgbClr val="E36C09"/>
                </a:solidFill>
              </a:defRPr>
            </a:lvl1pPr>
          </a:lstStyle>
          <a:p>
            <a:r>
              <a:rPr sz="2167"/>
              <a:t>1</a:t>
            </a:r>
          </a:p>
        </p:txBody>
      </p:sp>
      <p:sp>
        <p:nvSpPr>
          <p:cNvPr id="287" name="object 13"/>
          <p:cNvSpPr txBox="1"/>
          <p:nvPr/>
        </p:nvSpPr>
        <p:spPr>
          <a:xfrm>
            <a:off x="5333048" y="3303269"/>
            <a:ext cx="160868"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solidFill>
                  <a:srgbClr val="E36C09"/>
                </a:solidFill>
              </a:defRPr>
            </a:lvl1pPr>
          </a:lstStyle>
          <a:p>
            <a:r>
              <a:rPr sz="2167"/>
              <a:t>2</a:t>
            </a:r>
          </a:p>
        </p:txBody>
      </p:sp>
      <p:sp>
        <p:nvSpPr>
          <p:cNvPr id="288" name="object 14"/>
          <p:cNvSpPr txBox="1"/>
          <p:nvPr/>
        </p:nvSpPr>
        <p:spPr>
          <a:xfrm>
            <a:off x="5333048" y="3963670"/>
            <a:ext cx="160868" cy="9875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83"/>
              </a:spcBef>
              <a:defRPr sz="2600">
                <a:solidFill>
                  <a:srgbClr val="E36C09"/>
                </a:solidFill>
              </a:defRPr>
            </a:pPr>
            <a:r>
              <a:rPr sz="2167"/>
              <a:t>3</a:t>
            </a:r>
          </a:p>
          <a:p>
            <a:pPr>
              <a:defRPr sz="2500"/>
            </a:pPr>
            <a:endParaRPr sz="2083"/>
          </a:p>
          <a:p>
            <a:pPr indent="10583">
              <a:defRPr sz="2600">
                <a:solidFill>
                  <a:srgbClr val="E36C09"/>
                </a:solidFill>
              </a:defRPr>
            </a:pPr>
            <a:r>
              <a:rPr sz="2167"/>
              <a:t>4</a:t>
            </a:r>
          </a:p>
        </p:txBody>
      </p:sp>
    </p:spTree>
    <p:extLst>
      <p:ext uri="{BB962C8B-B14F-4D97-AF65-F5344CB8AC3E}">
        <p14:creationId xmlns:p14="http://schemas.microsoft.com/office/powerpoint/2010/main" val="244638539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291" name="object 3"/>
          <p:cNvSpPr txBox="1"/>
          <p:nvPr/>
        </p:nvSpPr>
        <p:spPr>
          <a:xfrm>
            <a:off x="776307" y="1799061"/>
            <a:ext cx="6844772" cy="20521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L="457182" marR="4233" indent="-447128">
              <a:spcBef>
                <a:spcPts val="83"/>
              </a:spcBef>
              <a:tabLst>
                <a:tab pos="465648" algn="l"/>
              </a:tabLst>
              <a:defRPr sz="3200" spc="-5">
                <a:solidFill>
                  <a:srgbClr val="A9B7C5"/>
                </a:solidFill>
              </a:defRPr>
            </a:pPr>
            <a:r>
              <a:rPr sz="2667" dirty="0" err="1"/>
              <a:t>num</a:t>
            </a:r>
            <a:r>
              <a:rPr sz="2667" dirty="0"/>
              <a:t> = </a:t>
            </a:r>
            <a:r>
              <a:rPr sz="2667" spc="-8" dirty="0" err="1"/>
              <a:t>int</a:t>
            </a:r>
            <a:r>
              <a:rPr sz="2667" spc="-8" dirty="0"/>
              <a:t>(input("enter </a:t>
            </a:r>
            <a:r>
              <a:rPr sz="2667" dirty="0"/>
              <a:t>the number of </a:t>
            </a:r>
            <a:r>
              <a:rPr sz="2667" spc="-8" dirty="0"/>
              <a:t>rows:"))  </a:t>
            </a:r>
            <a:r>
              <a:rPr sz="2667" spc="-25" dirty="0"/>
              <a:t>for </a:t>
            </a:r>
            <a:r>
              <a:rPr sz="2667" dirty="0" err="1"/>
              <a:t>i</a:t>
            </a:r>
            <a:r>
              <a:rPr sz="2667" dirty="0"/>
              <a:t> in</a:t>
            </a:r>
            <a:r>
              <a:rPr sz="2667" spc="33" dirty="0"/>
              <a:t> </a:t>
            </a:r>
            <a:r>
              <a:rPr sz="2667" spc="-8" dirty="0"/>
              <a:t>range(1,num+1):</a:t>
            </a:r>
          </a:p>
          <a:p>
            <a:pPr marL="306375" marR="3238899" indent="468293">
              <a:defRPr sz="3200" spc="-30">
                <a:solidFill>
                  <a:srgbClr val="CC7831"/>
                </a:solidFill>
              </a:defRPr>
            </a:pPr>
            <a:r>
              <a:rPr sz="2667" dirty="0"/>
              <a:t>for j in </a:t>
            </a:r>
            <a:r>
              <a:rPr sz="2667" spc="-8" dirty="0"/>
              <a:t>range(1,i+1):  </a:t>
            </a:r>
            <a:r>
              <a:rPr sz="2667" spc="-4" dirty="0"/>
              <a:t>print("*", </a:t>
            </a:r>
            <a:r>
              <a:rPr sz="2667" dirty="0"/>
              <a:t>end="</a:t>
            </a:r>
            <a:r>
              <a:rPr sz="2667" spc="-29" dirty="0"/>
              <a:t> </a:t>
            </a:r>
            <a:r>
              <a:rPr sz="2667" dirty="0"/>
              <a:t>")</a:t>
            </a:r>
          </a:p>
          <a:p>
            <a:pPr indent="774668">
              <a:defRPr sz="3200" spc="-10">
                <a:solidFill>
                  <a:srgbClr val="8787C5"/>
                </a:solidFill>
              </a:defRPr>
            </a:pPr>
            <a:r>
              <a:rPr sz="2667" dirty="0"/>
              <a:t>print()</a:t>
            </a:r>
          </a:p>
        </p:txBody>
      </p:sp>
    </p:spTree>
    <p:extLst>
      <p:ext uri="{BB962C8B-B14F-4D97-AF65-F5344CB8AC3E}">
        <p14:creationId xmlns:p14="http://schemas.microsoft.com/office/powerpoint/2010/main" val="154094578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294" name="object 3"/>
          <p:cNvSpPr txBox="1">
            <a:spLocks noGrp="1"/>
          </p:cNvSpPr>
          <p:nvPr>
            <p:ph type="title"/>
          </p:nvPr>
        </p:nvSpPr>
        <p:spPr>
          <a:prstGeom prst="rect">
            <a:avLst/>
          </a:prstGeom>
        </p:spPr>
        <p:txBody>
          <a:bodyPr>
            <a:normAutofit/>
          </a:bodyPr>
          <a:lstStyle>
            <a:lvl1pPr indent="12700">
              <a:defRPr spc="-100">
                <a:latin typeface="Times New Roman"/>
                <a:ea typeface="Times New Roman"/>
                <a:cs typeface="Times New Roman"/>
                <a:sym typeface="Times New Roman"/>
              </a:defRPr>
            </a:lvl1pPr>
          </a:lstStyle>
          <a:p>
            <a:r>
              <a:t>WHILE NESTED LOOP</a:t>
            </a:r>
          </a:p>
        </p:txBody>
      </p:sp>
      <p:sp>
        <p:nvSpPr>
          <p:cNvPr id="295" name="object 4"/>
          <p:cNvSpPr txBox="1"/>
          <p:nvPr/>
        </p:nvSpPr>
        <p:spPr>
          <a:xfrm>
            <a:off x="749893" y="1834939"/>
            <a:ext cx="10641543" cy="18430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83"/>
              </a:spcBef>
              <a:tabLst>
                <a:tab pos="4592983" algn="l"/>
              </a:tabLst>
              <a:defRPr sz="2900" spc="-5">
                <a:latin typeface="Times New Roman"/>
                <a:ea typeface="Times New Roman"/>
                <a:cs typeface="Times New Roman"/>
                <a:sym typeface="Times New Roman"/>
              </a:defRPr>
            </a:pPr>
            <a:r>
              <a:rPr sz="2417"/>
              <a:t>While loop we can executed a</a:t>
            </a:r>
            <a:r>
              <a:rPr sz="2417" spc="29"/>
              <a:t> </a:t>
            </a:r>
            <a:r>
              <a:rPr sz="2417"/>
              <a:t>set of	statements as long as a condition is</a:t>
            </a:r>
            <a:r>
              <a:rPr sz="2417" spc="-54"/>
              <a:t> </a:t>
            </a:r>
            <a:r>
              <a:rPr sz="2417"/>
              <a:t>true.</a:t>
            </a:r>
          </a:p>
          <a:p>
            <a:pPr>
              <a:defRPr sz="3200">
                <a:latin typeface="Times New Roman"/>
                <a:ea typeface="Times New Roman"/>
                <a:cs typeface="Times New Roman"/>
                <a:sym typeface="Times New Roman"/>
              </a:defRPr>
            </a:pPr>
            <a:endParaRPr sz="2667"/>
          </a:p>
          <a:p>
            <a:pPr marR="4233" indent="10583">
              <a:lnSpc>
                <a:spcPct val="115198"/>
              </a:lnSpc>
              <a:spcBef>
                <a:spcPts val="1583"/>
              </a:spcBef>
              <a:tabLst>
                <a:tab pos="994794" algn="l"/>
                <a:tab pos="2783305" algn="l"/>
                <a:tab pos="4010923" algn="l"/>
                <a:tab pos="4931636" algn="l"/>
                <a:tab pos="5429033" algn="l"/>
                <a:tab pos="5958178" algn="l"/>
                <a:tab pos="6328580" algn="l"/>
                <a:tab pos="6582570" algn="l"/>
                <a:tab pos="7386871" algn="l"/>
                <a:tab pos="8053595" algn="l"/>
                <a:tab pos="8900227" algn="l"/>
                <a:tab pos="9947935" algn="l"/>
              </a:tabLst>
              <a:defRPr sz="2900">
                <a:latin typeface="Times New Roman"/>
                <a:ea typeface="Times New Roman"/>
                <a:cs typeface="Times New Roman"/>
                <a:sym typeface="Times New Roman"/>
              </a:defRPr>
            </a:pPr>
            <a:r>
              <a:rPr sz="2417"/>
              <a:t>Pyth</a:t>
            </a:r>
            <a:r>
              <a:rPr sz="2417" spc="-12"/>
              <a:t>o</a:t>
            </a:r>
            <a:r>
              <a:rPr sz="2417"/>
              <a:t>n	</a:t>
            </a:r>
            <a:r>
              <a:rPr sz="2417" spc="-12"/>
              <a:t>p</a:t>
            </a:r>
            <a:r>
              <a:rPr sz="2417"/>
              <a:t>r</a:t>
            </a:r>
            <a:r>
              <a:rPr sz="2417" spc="-8"/>
              <a:t>o</a:t>
            </a:r>
            <a:r>
              <a:rPr sz="2417"/>
              <a:t>gra</a:t>
            </a:r>
            <a:r>
              <a:rPr sz="2417" spc="-17"/>
              <a:t>m</a:t>
            </a:r>
            <a:r>
              <a:rPr sz="2417" spc="-21"/>
              <a:t>m</a:t>
            </a:r>
            <a:r>
              <a:rPr sz="2417"/>
              <a:t>ing	l</a:t>
            </a:r>
            <a:r>
              <a:rPr sz="2417" spc="-12"/>
              <a:t>a</a:t>
            </a:r>
            <a:r>
              <a:rPr sz="2417"/>
              <a:t>ngu</a:t>
            </a:r>
            <a:r>
              <a:rPr sz="2417" spc="-8"/>
              <a:t>a</a:t>
            </a:r>
            <a:r>
              <a:rPr sz="2417" spc="-12"/>
              <a:t>g</a:t>
            </a:r>
            <a:r>
              <a:rPr sz="2417"/>
              <a:t>e	a</a:t>
            </a:r>
            <a:r>
              <a:rPr sz="2417" spc="-12"/>
              <a:t>l</a:t>
            </a:r>
            <a:r>
              <a:rPr sz="2417"/>
              <a:t>lows	</a:t>
            </a:r>
            <a:r>
              <a:rPr sz="2417" spc="-12"/>
              <a:t>t</a:t>
            </a:r>
            <a:r>
              <a:rPr sz="2417"/>
              <a:t>he	use	</a:t>
            </a:r>
            <a:r>
              <a:rPr sz="2417" spc="-12"/>
              <a:t>o</a:t>
            </a:r>
            <a:r>
              <a:rPr sz="2417"/>
              <a:t>f	a	wh</a:t>
            </a:r>
            <a:r>
              <a:rPr sz="2417" spc="-12"/>
              <a:t>i</a:t>
            </a:r>
            <a:r>
              <a:rPr sz="2417"/>
              <a:t>le	</a:t>
            </a:r>
            <a:r>
              <a:rPr sz="2417" spc="-12"/>
              <a:t>l</a:t>
            </a:r>
            <a:r>
              <a:rPr sz="2417"/>
              <a:t>oop	</a:t>
            </a:r>
            <a:r>
              <a:rPr sz="2417" spc="-12"/>
              <a:t>i</a:t>
            </a:r>
            <a:r>
              <a:rPr sz="2417"/>
              <a:t>nsi</a:t>
            </a:r>
            <a:r>
              <a:rPr sz="2417" spc="-21"/>
              <a:t>d</a:t>
            </a:r>
            <a:r>
              <a:rPr sz="2417"/>
              <a:t>e	an</a:t>
            </a:r>
            <a:r>
              <a:rPr sz="2417" spc="-8"/>
              <a:t>o</a:t>
            </a:r>
            <a:r>
              <a:rPr sz="2417"/>
              <a:t>th</a:t>
            </a:r>
            <a:r>
              <a:rPr sz="2417" spc="-12"/>
              <a:t>e</a:t>
            </a:r>
            <a:r>
              <a:rPr sz="2417"/>
              <a:t>r	whi</a:t>
            </a:r>
            <a:r>
              <a:rPr sz="2417" spc="-21"/>
              <a:t>l</a:t>
            </a:r>
            <a:r>
              <a:rPr sz="2417"/>
              <a:t>e  loop, </a:t>
            </a:r>
            <a:r>
              <a:rPr sz="2417" spc="-4"/>
              <a:t>it is </a:t>
            </a:r>
            <a:r>
              <a:rPr sz="2417"/>
              <a:t>known </a:t>
            </a:r>
            <a:r>
              <a:rPr sz="2417" spc="-4"/>
              <a:t>as nested </a:t>
            </a:r>
            <a:r>
              <a:rPr sz="2417"/>
              <a:t>while loop </a:t>
            </a:r>
            <a:r>
              <a:rPr sz="2417" spc="-4"/>
              <a:t>in </a:t>
            </a:r>
            <a:r>
              <a:rPr sz="2417"/>
              <a:t>Python </a:t>
            </a:r>
            <a:r>
              <a:rPr sz="2417" spc="-8"/>
              <a:t>programming</a:t>
            </a:r>
            <a:r>
              <a:rPr sz="2417" spc="-21"/>
              <a:t> </a:t>
            </a:r>
            <a:r>
              <a:rPr sz="2417" spc="-4"/>
              <a:t>language</a:t>
            </a:r>
          </a:p>
        </p:txBody>
      </p:sp>
    </p:spTree>
    <p:extLst>
      <p:ext uri="{BB962C8B-B14F-4D97-AF65-F5344CB8AC3E}">
        <p14:creationId xmlns:p14="http://schemas.microsoft.com/office/powerpoint/2010/main" val="344943788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298" name="object 3"/>
          <p:cNvSpPr txBox="1">
            <a:spLocks noGrp="1"/>
          </p:cNvSpPr>
          <p:nvPr>
            <p:ph type="title"/>
          </p:nvPr>
        </p:nvSpPr>
        <p:spPr>
          <a:xfrm>
            <a:off x="838200" y="365126"/>
            <a:ext cx="10515600" cy="617514"/>
          </a:xfrm>
          <a:prstGeom prst="rect">
            <a:avLst/>
          </a:prstGeom>
        </p:spPr>
        <p:txBody>
          <a:bodyPr>
            <a:normAutofit/>
          </a:bodyPr>
          <a:lstStyle>
            <a:lvl1pPr indent="12700">
              <a:defRPr spc="-100">
                <a:latin typeface="Times New Roman"/>
                <a:ea typeface="Times New Roman"/>
                <a:cs typeface="Times New Roman"/>
                <a:sym typeface="Times New Roman"/>
              </a:defRPr>
            </a:lvl1pPr>
          </a:lstStyle>
          <a:p>
            <a:r>
              <a:rPr sz="3600" dirty="0">
                <a:latin typeface="+mj-lt"/>
              </a:rPr>
              <a:t>WHILE NESTED LOOP</a:t>
            </a:r>
          </a:p>
        </p:txBody>
      </p:sp>
      <p:sp>
        <p:nvSpPr>
          <p:cNvPr id="299" name="object 4"/>
          <p:cNvSpPr txBox="1"/>
          <p:nvPr/>
        </p:nvSpPr>
        <p:spPr>
          <a:xfrm>
            <a:off x="749893" y="1812904"/>
            <a:ext cx="2791883" cy="25649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1500"/>
              </a:spcBef>
              <a:defRPr sz="2900">
                <a:latin typeface="Times New Roman"/>
                <a:ea typeface="Times New Roman"/>
                <a:cs typeface="Times New Roman"/>
                <a:sym typeface="Times New Roman"/>
              </a:defRPr>
            </a:pPr>
            <a:r>
              <a:rPr sz="2417"/>
              <a:t>Syntax</a:t>
            </a:r>
          </a:p>
          <a:p>
            <a:pPr marL="461414" marR="4233" indent="-451360">
              <a:lnSpc>
                <a:spcPts val="4250"/>
              </a:lnSpc>
              <a:spcBef>
                <a:spcPts val="333"/>
              </a:spcBef>
              <a:defRPr sz="2900" spc="-5">
                <a:latin typeface="Times New Roman"/>
                <a:ea typeface="Times New Roman"/>
                <a:cs typeface="Times New Roman"/>
                <a:sym typeface="Times New Roman"/>
              </a:defRPr>
            </a:pPr>
            <a:r>
              <a:rPr sz="2417"/>
              <a:t>While expression1:  while</a:t>
            </a:r>
            <a:r>
              <a:rPr sz="2417" spc="-95"/>
              <a:t> </a:t>
            </a:r>
            <a:r>
              <a:rPr sz="2417"/>
              <a:t>expression2:</a:t>
            </a:r>
          </a:p>
          <a:p>
            <a:pPr indent="1007492">
              <a:spcBef>
                <a:spcPts val="1000"/>
              </a:spcBef>
              <a:defRPr sz="2900" spc="-5">
                <a:latin typeface="Times New Roman"/>
                <a:ea typeface="Times New Roman"/>
                <a:cs typeface="Times New Roman"/>
                <a:sym typeface="Times New Roman"/>
              </a:defRPr>
            </a:pPr>
            <a:r>
              <a:rPr sz="2417"/>
              <a:t>statements(s)</a:t>
            </a:r>
          </a:p>
          <a:p>
            <a:pPr indent="547666">
              <a:spcBef>
                <a:spcPts val="1417"/>
              </a:spcBef>
              <a:defRPr sz="2900" spc="-5">
                <a:latin typeface="Times New Roman"/>
                <a:ea typeface="Times New Roman"/>
                <a:cs typeface="Times New Roman"/>
                <a:sym typeface="Times New Roman"/>
              </a:defRPr>
            </a:pPr>
            <a:r>
              <a:rPr sz="2417"/>
              <a:t>statements(s)</a:t>
            </a:r>
          </a:p>
        </p:txBody>
      </p:sp>
    </p:spTree>
    <p:extLst>
      <p:ext uri="{BB962C8B-B14F-4D97-AF65-F5344CB8AC3E}">
        <p14:creationId xmlns:p14="http://schemas.microsoft.com/office/powerpoint/2010/main" val="20505916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302" name="object 3"/>
          <p:cNvSpPr txBox="1">
            <a:spLocks noGrp="1"/>
          </p:cNvSpPr>
          <p:nvPr>
            <p:ph type="title"/>
          </p:nvPr>
        </p:nvSpPr>
        <p:spPr>
          <a:prstGeom prst="rect">
            <a:avLst/>
          </a:prstGeom>
        </p:spPr>
        <p:txBody>
          <a:bodyPr>
            <a:normAutofit/>
          </a:bodyPr>
          <a:lstStyle>
            <a:lvl1pPr indent="12700">
              <a:defRPr spc="-100">
                <a:latin typeface="Times New Roman"/>
                <a:ea typeface="Times New Roman"/>
                <a:cs typeface="Times New Roman"/>
                <a:sym typeface="Times New Roman"/>
              </a:defRPr>
            </a:lvl1pPr>
          </a:lstStyle>
          <a:p>
            <a:r>
              <a:rPr sz="3600" dirty="0">
                <a:latin typeface="+mj-lt"/>
              </a:rPr>
              <a:t>WHILE NESTED LOOP</a:t>
            </a:r>
          </a:p>
        </p:txBody>
      </p:sp>
      <p:sp>
        <p:nvSpPr>
          <p:cNvPr id="2" name="Content Placeholder 1"/>
          <p:cNvSpPr>
            <a:spLocks noGrp="1"/>
          </p:cNvSpPr>
          <p:nvPr>
            <p:ph idx="1"/>
          </p:nvPr>
        </p:nvSpPr>
        <p:spPr/>
        <p:txBody>
          <a:bodyPr/>
          <a:lstStyle/>
          <a:p>
            <a:endParaRPr lang="en-US"/>
          </a:p>
        </p:txBody>
      </p:sp>
      <p:sp>
        <p:nvSpPr>
          <p:cNvPr id="303" name="object 4"/>
          <p:cNvSpPr/>
          <p:nvPr/>
        </p:nvSpPr>
        <p:spPr>
          <a:xfrm>
            <a:off x="2794000" y="1299982"/>
            <a:ext cx="5880788" cy="4822108"/>
          </a:xfrm>
          <a:prstGeom prst="rect">
            <a:avLst/>
          </a:prstGeom>
          <a:blipFill>
            <a:blip r:embed="rId3"/>
            <a:stretch>
              <a:fillRect/>
            </a:stretch>
          </a:blipFill>
          <a:ln w="12700">
            <a:miter lim="400000"/>
          </a:ln>
        </p:spPr>
        <p:txBody>
          <a:bodyPr lIns="38099" rIns="38099"/>
          <a:lstStyle/>
          <a:p>
            <a:endParaRPr sz="1500"/>
          </a:p>
        </p:txBody>
      </p:sp>
    </p:spTree>
    <p:extLst>
      <p:ext uri="{BB962C8B-B14F-4D97-AF65-F5344CB8AC3E}">
        <p14:creationId xmlns:p14="http://schemas.microsoft.com/office/powerpoint/2010/main" val="19793589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306" name="object 3"/>
          <p:cNvSpPr txBox="1">
            <a:spLocks noGrp="1"/>
          </p:cNvSpPr>
          <p:nvPr>
            <p:ph type="title"/>
          </p:nvPr>
        </p:nvSpPr>
        <p:spPr>
          <a:prstGeom prst="rect">
            <a:avLst/>
          </a:prstGeom>
        </p:spPr>
        <p:txBody>
          <a:bodyPr>
            <a:normAutofit/>
          </a:bodyPr>
          <a:lstStyle/>
          <a:p>
            <a:pPr indent="10053" defTabSz="723871">
              <a:defRPr sz="3230" spc="-95"/>
            </a:pPr>
            <a:r>
              <a:t>WHILE NESTED</a:t>
            </a:r>
            <a:r>
              <a:rPr spc="-158"/>
              <a:t> </a:t>
            </a:r>
            <a:r>
              <a:t>LOOP</a:t>
            </a:r>
          </a:p>
        </p:txBody>
      </p:sp>
      <p:sp>
        <p:nvSpPr>
          <p:cNvPr id="307" name="object 4"/>
          <p:cNvSpPr txBox="1"/>
          <p:nvPr/>
        </p:nvSpPr>
        <p:spPr>
          <a:xfrm>
            <a:off x="776308" y="1440263"/>
            <a:ext cx="10641543" cy="43708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R="917537" indent="10583">
              <a:lnSpc>
                <a:spcPct val="138000"/>
              </a:lnSpc>
              <a:spcBef>
                <a:spcPts val="83"/>
              </a:spcBef>
              <a:defRPr sz="2900">
                <a:latin typeface="Times New Roman"/>
                <a:ea typeface="Times New Roman"/>
                <a:cs typeface="Times New Roman"/>
                <a:sym typeface="Times New Roman"/>
              </a:defRPr>
            </a:pPr>
            <a:r>
              <a:rPr sz="2417" dirty="0"/>
              <a:t>In the nested-while loop in Python, </a:t>
            </a:r>
            <a:r>
              <a:rPr sz="2417" spc="-54" dirty="0"/>
              <a:t>Two </a:t>
            </a:r>
            <a:r>
              <a:rPr sz="2417" dirty="0"/>
              <a:t>type of while </a:t>
            </a:r>
            <a:r>
              <a:rPr sz="2417" spc="-8" dirty="0"/>
              <a:t>statements </a:t>
            </a:r>
            <a:r>
              <a:rPr sz="2417" dirty="0"/>
              <a:t>are</a:t>
            </a:r>
            <a:r>
              <a:rPr sz="2417" spc="-71" dirty="0"/>
              <a:t> </a:t>
            </a:r>
            <a:r>
              <a:rPr sz="2417" spc="-4" dirty="0"/>
              <a:t>available:  </a:t>
            </a:r>
            <a:r>
              <a:rPr sz="2417" dirty="0"/>
              <a:t>Outer while</a:t>
            </a:r>
            <a:r>
              <a:rPr sz="2417" spc="-29" dirty="0"/>
              <a:t> </a:t>
            </a:r>
            <a:r>
              <a:rPr sz="2417" dirty="0"/>
              <a:t>loop.</a:t>
            </a:r>
          </a:p>
          <a:p>
            <a:pPr indent="10583">
              <a:spcBef>
                <a:spcPts val="1083"/>
              </a:spcBef>
              <a:defRPr sz="2900">
                <a:latin typeface="Times New Roman"/>
                <a:ea typeface="Times New Roman"/>
                <a:cs typeface="Times New Roman"/>
                <a:sym typeface="Times New Roman"/>
              </a:defRPr>
            </a:pPr>
            <a:r>
              <a:rPr sz="2417" dirty="0"/>
              <a:t>Inner while</a:t>
            </a:r>
            <a:r>
              <a:rPr sz="2417" spc="-25" dirty="0"/>
              <a:t> </a:t>
            </a:r>
            <a:r>
              <a:rPr sz="2417" dirty="0"/>
              <a:t>loop</a:t>
            </a:r>
          </a:p>
          <a:p>
            <a:pPr indent="10583">
              <a:spcBef>
                <a:spcPts val="1083"/>
              </a:spcBef>
              <a:defRPr sz="2900" spc="-25">
                <a:latin typeface="Times New Roman"/>
                <a:ea typeface="Times New Roman"/>
                <a:cs typeface="Times New Roman"/>
                <a:sym typeface="Times New Roman"/>
              </a:defRPr>
            </a:pPr>
            <a:r>
              <a:rPr sz="2417" dirty="0"/>
              <a:t>Initially, Outer loop </a:t>
            </a:r>
            <a:r>
              <a:rPr sz="2417" spc="-4" dirty="0"/>
              <a:t>test </a:t>
            </a:r>
            <a:r>
              <a:rPr sz="2417" dirty="0"/>
              <a:t>expression </a:t>
            </a:r>
            <a:r>
              <a:rPr sz="2417" spc="-4" dirty="0"/>
              <a:t>is evaluated </a:t>
            </a:r>
            <a:r>
              <a:rPr sz="2417" dirty="0"/>
              <a:t>only</a:t>
            </a:r>
            <a:r>
              <a:rPr sz="2417" spc="-62" dirty="0"/>
              <a:t> </a:t>
            </a:r>
            <a:r>
              <a:rPr sz="2417" spc="-4" dirty="0"/>
              <a:t>once.</a:t>
            </a:r>
          </a:p>
          <a:p>
            <a:pPr marR="4233" indent="10583" algn="just">
              <a:lnSpc>
                <a:spcPct val="114798"/>
              </a:lnSpc>
              <a:spcBef>
                <a:spcPts val="667"/>
              </a:spcBef>
              <a:defRPr sz="2900" spc="-5">
                <a:latin typeface="Times New Roman"/>
                <a:ea typeface="Times New Roman"/>
                <a:cs typeface="Times New Roman"/>
                <a:sym typeface="Times New Roman"/>
              </a:defRPr>
            </a:pPr>
            <a:r>
              <a:rPr sz="2417" dirty="0"/>
              <a:t>When its return true, the flow of control </a:t>
            </a:r>
            <a:r>
              <a:rPr sz="2417" spc="-8" dirty="0"/>
              <a:t>jumps </a:t>
            </a:r>
            <a:r>
              <a:rPr sz="2417" dirty="0"/>
              <a:t>to the inner while loop. the inner while  loop executes to completion.</a:t>
            </a:r>
            <a:r>
              <a:rPr sz="2417" spc="-21" dirty="0"/>
              <a:t> </a:t>
            </a:r>
            <a:r>
              <a:rPr sz="2417" spc="-12" dirty="0"/>
              <a:t>However,</a:t>
            </a:r>
          </a:p>
          <a:p>
            <a:pPr marR="4761" indent="10583" algn="just">
              <a:lnSpc>
                <a:spcPct val="114998"/>
              </a:lnSpc>
              <a:spcBef>
                <a:spcPts val="667"/>
              </a:spcBef>
              <a:defRPr sz="2900">
                <a:latin typeface="Times New Roman"/>
                <a:ea typeface="Times New Roman"/>
                <a:cs typeface="Times New Roman"/>
                <a:sym typeface="Times New Roman"/>
              </a:defRPr>
            </a:pPr>
            <a:r>
              <a:rPr sz="2417" dirty="0"/>
              <a:t>when </a:t>
            </a:r>
            <a:r>
              <a:rPr sz="2417" spc="-4" dirty="0"/>
              <a:t>the test expression is false, </a:t>
            </a:r>
            <a:r>
              <a:rPr sz="2417" dirty="0"/>
              <a:t>the </a:t>
            </a:r>
            <a:r>
              <a:rPr sz="2417" spc="-4" dirty="0"/>
              <a:t>flow </a:t>
            </a:r>
            <a:r>
              <a:rPr sz="2417" spc="-8" dirty="0"/>
              <a:t>of </a:t>
            </a:r>
            <a:r>
              <a:rPr sz="2417" spc="-4" dirty="0"/>
              <a:t>control comes out </a:t>
            </a:r>
            <a:r>
              <a:rPr sz="2417" spc="-8" dirty="0"/>
              <a:t>of </a:t>
            </a:r>
            <a:r>
              <a:rPr sz="2417" spc="-4" dirty="0"/>
              <a:t>inner while </a:t>
            </a:r>
            <a:r>
              <a:rPr sz="2417" spc="-8" dirty="0"/>
              <a:t>loop  </a:t>
            </a:r>
            <a:r>
              <a:rPr sz="2417" dirty="0"/>
              <a:t>and </a:t>
            </a:r>
            <a:r>
              <a:rPr sz="2417" spc="-4" dirty="0"/>
              <a:t>executes again </a:t>
            </a:r>
            <a:r>
              <a:rPr sz="2417" dirty="0"/>
              <a:t>from the </a:t>
            </a:r>
            <a:r>
              <a:rPr sz="2417" spc="-4" dirty="0"/>
              <a:t>outer while loop only once. This flow </a:t>
            </a:r>
            <a:r>
              <a:rPr sz="2417" spc="-8" dirty="0"/>
              <a:t>of </a:t>
            </a:r>
            <a:r>
              <a:rPr sz="2417" spc="-4" dirty="0"/>
              <a:t>control persists  until test </a:t>
            </a:r>
            <a:r>
              <a:rPr sz="2417" dirty="0"/>
              <a:t>expression of the </a:t>
            </a:r>
            <a:r>
              <a:rPr sz="2417" spc="-4" dirty="0"/>
              <a:t>outer </a:t>
            </a:r>
            <a:r>
              <a:rPr sz="2417" dirty="0"/>
              <a:t>loop </a:t>
            </a:r>
            <a:r>
              <a:rPr sz="2417" spc="-4" dirty="0"/>
              <a:t>is</a:t>
            </a:r>
            <a:r>
              <a:rPr sz="2417" spc="-87" dirty="0"/>
              <a:t> </a:t>
            </a:r>
            <a:r>
              <a:rPr sz="2417" spc="-4" dirty="0"/>
              <a:t>false.</a:t>
            </a:r>
          </a:p>
        </p:txBody>
      </p:sp>
    </p:spTree>
    <p:extLst>
      <p:ext uri="{BB962C8B-B14F-4D97-AF65-F5344CB8AC3E}">
        <p14:creationId xmlns:p14="http://schemas.microsoft.com/office/powerpoint/2010/main" val="340289111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object 2"/>
          <p:cNvSpPr/>
          <p:nvPr/>
        </p:nvSpPr>
        <p:spPr>
          <a:xfrm>
            <a:off x="515620" y="396240"/>
            <a:ext cx="85091" cy="840739"/>
          </a:xfrm>
          <a:prstGeom prst="rect">
            <a:avLst/>
          </a:prstGeom>
          <a:solidFill>
            <a:srgbClr val="000000"/>
          </a:solidFill>
          <a:ln w="12700">
            <a:miter lim="400000"/>
          </a:ln>
        </p:spPr>
        <p:txBody>
          <a:bodyPr lIns="38099" rIns="38099"/>
          <a:lstStyle/>
          <a:p>
            <a:endParaRPr sz="1500"/>
          </a:p>
        </p:txBody>
      </p:sp>
      <p:sp>
        <p:nvSpPr>
          <p:cNvPr id="310" name="object 3"/>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311" name="object 4"/>
          <p:cNvSpPr txBox="1"/>
          <p:nvPr/>
        </p:nvSpPr>
        <p:spPr>
          <a:xfrm>
            <a:off x="776308" y="1809220"/>
            <a:ext cx="10164235" cy="7439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L="457182" marR="4233" indent="-447128">
              <a:spcBef>
                <a:spcPts val="83"/>
              </a:spcBef>
              <a:defRPr sz="2900" spc="-15">
                <a:latin typeface="Times New Roman"/>
                <a:ea typeface="Times New Roman"/>
                <a:cs typeface="Times New Roman"/>
                <a:sym typeface="Times New Roman"/>
              </a:defRPr>
            </a:pPr>
            <a:r>
              <a:rPr sz="2417"/>
              <a:t>Thereafter, if </a:t>
            </a:r>
            <a:r>
              <a:rPr sz="2417" spc="-4"/>
              <a:t>test </a:t>
            </a:r>
            <a:r>
              <a:rPr sz="2417"/>
              <a:t>expression of the </a:t>
            </a:r>
            <a:r>
              <a:rPr sz="2417" spc="-4"/>
              <a:t>outer </a:t>
            </a:r>
            <a:r>
              <a:rPr sz="2417"/>
              <a:t>loop is </a:t>
            </a:r>
            <a:r>
              <a:rPr sz="2417" spc="-4"/>
              <a:t>false, </a:t>
            </a:r>
            <a:r>
              <a:rPr sz="2417"/>
              <a:t>the flow of control skips</a:t>
            </a:r>
            <a:r>
              <a:rPr sz="2417" spc="-112"/>
              <a:t> </a:t>
            </a:r>
            <a:r>
              <a:rPr sz="2417"/>
              <a:t>the  </a:t>
            </a:r>
            <a:r>
              <a:rPr sz="2417" spc="-4"/>
              <a:t>execution and goes </a:t>
            </a:r>
            <a:r>
              <a:rPr sz="2417" spc="-8"/>
              <a:t>to</a:t>
            </a:r>
            <a:r>
              <a:rPr sz="2417" spc="8"/>
              <a:t> </a:t>
            </a:r>
            <a:r>
              <a:rPr sz="2417" spc="-4"/>
              <a:t>rest.</a:t>
            </a:r>
          </a:p>
        </p:txBody>
      </p:sp>
      <p:sp>
        <p:nvSpPr>
          <p:cNvPr id="312" name="object 5"/>
          <p:cNvSpPr txBox="1"/>
          <p:nvPr/>
        </p:nvSpPr>
        <p:spPr>
          <a:xfrm>
            <a:off x="776308" y="587270"/>
            <a:ext cx="3668185" cy="4359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defRPr sz="3400" spc="-5">
                <a:latin typeface="Times New Roman"/>
                <a:ea typeface="Times New Roman"/>
                <a:cs typeface="Times New Roman"/>
                <a:sym typeface="Times New Roman"/>
              </a:defRPr>
            </a:pPr>
            <a:r>
              <a:rPr sz="2833"/>
              <a:t>NESTED WHILE</a:t>
            </a:r>
            <a:r>
              <a:rPr sz="2833" spc="-112"/>
              <a:t> </a:t>
            </a:r>
            <a:r>
              <a:rPr sz="2833"/>
              <a:t>LOOP</a:t>
            </a:r>
          </a:p>
        </p:txBody>
      </p:sp>
    </p:spTree>
    <p:extLst>
      <p:ext uri="{BB962C8B-B14F-4D97-AF65-F5344CB8AC3E}">
        <p14:creationId xmlns:p14="http://schemas.microsoft.com/office/powerpoint/2010/main" val="368649222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315" name="object 3"/>
          <p:cNvSpPr txBox="1"/>
          <p:nvPr/>
        </p:nvSpPr>
        <p:spPr>
          <a:xfrm>
            <a:off x="1620836" y="1805409"/>
            <a:ext cx="157693" cy="3719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900" spc="75">
                <a:latin typeface="Gill Sans MT"/>
                <a:ea typeface="Gill Sans MT"/>
                <a:cs typeface="Gill Sans MT"/>
                <a:sym typeface="Gill Sans MT"/>
              </a:defRPr>
            </a:lvl1pPr>
          </a:lstStyle>
          <a:p>
            <a:r>
              <a:rPr sz="2417"/>
              <a:t>*</a:t>
            </a:r>
          </a:p>
        </p:txBody>
      </p:sp>
      <p:sp>
        <p:nvSpPr>
          <p:cNvPr id="316" name="object 4"/>
          <p:cNvSpPr txBox="1"/>
          <p:nvPr/>
        </p:nvSpPr>
        <p:spPr>
          <a:xfrm>
            <a:off x="1313498" y="2352780"/>
            <a:ext cx="753533" cy="11158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tabLst>
                <a:tab pos="723900" algn="l"/>
              </a:tabLst>
              <a:defRPr sz="2900" spc="75">
                <a:latin typeface="Gill Sans MT"/>
                <a:ea typeface="Gill Sans MT"/>
                <a:cs typeface="Gill Sans MT"/>
                <a:sym typeface="Gill Sans MT"/>
              </a:defRPr>
            </a:lvl1pPr>
          </a:lstStyle>
          <a:p>
            <a:r>
              <a:rPr sz="2417"/>
              <a:t>*	*</a:t>
            </a:r>
          </a:p>
        </p:txBody>
      </p:sp>
      <p:sp>
        <p:nvSpPr>
          <p:cNvPr id="317" name="object 5"/>
          <p:cNvSpPr txBox="1"/>
          <p:nvPr/>
        </p:nvSpPr>
        <p:spPr>
          <a:xfrm>
            <a:off x="929979" y="2901166"/>
            <a:ext cx="1503363" cy="7439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tabLst>
                <a:tab pos="812800" algn="l"/>
                <a:tab pos="1625600" algn="l"/>
              </a:tabLst>
              <a:defRPr sz="2900" spc="75">
                <a:latin typeface="Gill Sans MT"/>
                <a:ea typeface="Gill Sans MT"/>
                <a:cs typeface="Gill Sans MT"/>
                <a:sym typeface="Gill Sans MT"/>
              </a:defRPr>
            </a:lvl1pPr>
          </a:lstStyle>
          <a:p>
            <a:r>
              <a:rPr sz="2417"/>
              <a:t>*	*	*</a:t>
            </a:r>
          </a:p>
        </p:txBody>
      </p:sp>
      <p:sp>
        <p:nvSpPr>
          <p:cNvPr id="318" name="object 6"/>
          <p:cNvSpPr txBox="1"/>
          <p:nvPr/>
        </p:nvSpPr>
        <p:spPr>
          <a:xfrm>
            <a:off x="776307" y="3450378"/>
            <a:ext cx="2098677" cy="7439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tabLst>
                <a:tab pos="635000" algn="l"/>
                <a:tab pos="1346200" algn="l"/>
                <a:tab pos="2336800" algn="l"/>
              </a:tabLst>
              <a:defRPr sz="2900" spc="75">
                <a:latin typeface="Gill Sans MT"/>
                <a:ea typeface="Gill Sans MT"/>
                <a:cs typeface="Gill Sans MT"/>
                <a:sym typeface="Gill Sans MT"/>
              </a:defRPr>
            </a:lvl1pPr>
          </a:lstStyle>
          <a:p>
            <a:r>
              <a:rPr sz="2417"/>
              <a:t>*	*	*	*</a:t>
            </a:r>
          </a:p>
        </p:txBody>
      </p:sp>
      <p:sp>
        <p:nvSpPr>
          <p:cNvPr id="319" name="object 7"/>
          <p:cNvSpPr txBox="1">
            <a:spLocks noGrp="1"/>
          </p:cNvSpPr>
          <p:nvPr>
            <p:ph type="title"/>
          </p:nvPr>
        </p:nvSpPr>
        <p:spPr>
          <a:prstGeom prst="rect">
            <a:avLst/>
          </a:prstGeom>
        </p:spPr>
        <p:txBody>
          <a:bodyPr>
            <a:normAutofit/>
          </a:bodyPr>
          <a:lstStyle/>
          <a:p>
            <a:pPr indent="10583">
              <a:defRPr spc="-100">
                <a:latin typeface="Times New Roman"/>
                <a:ea typeface="Times New Roman"/>
                <a:cs typeface="Times New Roman"/>
                <a:sym typeface="Times New Roman"/>
              </a:defRPr>
            </a:pPr>
            <a:r>
              <a:t>NESTED WHILE</a:t>
            </a:r>
            <a:r>
              <a:rPr spc="-167"/>
              <a:t> </a:t>
            </a:r>
            <a:r>
              <a:t>LOOP</a:t>
            </a:r>
          </a:p>
        </p:txBody>
      </p:sp>
      <p:sp>
        <p:nvSpPr>
          <p:cNvPr id="320" name="object 8"/>
          <p:cNvSpPr/>
          <p:nvPr/>
        </p:nvSpPr>
        <p:spPr>
          <a:xfrm flipH="1">
            <a:off x="5016500" y="1774189"/>
            <a:ext cx="1" cy="2935077"/>
          </a:xfrm>
          <a:prstGeom prst="line">
            <a:avLst/>
          </a:prstGeom>
          <a:ln>
            <a:solidFill>
              <a:srgbClr val="497DBA"/>
            </a:solidFill>
          </a:ln>
        </p:spPr>
        <p:txBody>
          <a:bodyPr lIns="38099" rIns="38099"/>
          <a:lstStyle/>
          <a:p>
            <a:endParaRPr sz="1500"/>
          </a:p>
        </p:txBody>
      </p:sp>
      <p:sp>
        <p:nvSpPr>
          <p:cNvPr id="321" name="object 9"/>
          <p:cNvSpPr/>
          <p:nvPr/>
        </p:nvSpPr>
        <p:spPr>
          <a:xfrm>
            <a:off x="5016499" y="1803398"/>
            <a:ext cx="6303223" cy="32705"/>
          </a:xfrm>
          <a:prstGeom prst="line">
            <a:avLst/>
          </a:prstGeom>
          <a:ln>
            <a:solidFill>
              <a:srgbClr val="497DBA"/>
            </a:solidFill>
          </a:ln>
        </p:spPr>
        <p:txBody>
          <a:bodyPr lIns="38099" rIns="38099"/>
          <a:lstStyle/>
          <a:p>
            <a:endParaRPr sz="1500"/>
          </a:p>
        </p:txBody>
      </p:sp>
      <p:sp>
        <p:nvSpPr>
          <p:cNvPr id="322" name="object 10"/>
          <p:cNvSpPr/>
          <p:nvPr/>
        </p:nvSpPr>
        <p:spPr>
          <a:xfrm>
            <a:off x="5016500" y="2539999"/>
            <a:ext cx="6299836" cy="63502"/>
          </a:xfrm>
          <a:prstGeom prst="line">
            <a:avLst/>
          </a:prstGeom>
          <a:ln>
            <a:solidFill>
              <a:srgbClr val="497DBA"/>
            </a:solidFill>
          </a:ln>
        </p:spPr>
        <p:txBody>
          <a:bodyPr lIns="38099" rIns="38099"/>
          <a:lstStyle/>
          <a:p>
            <a:endParaRPr sz="1500"/>
          </a:p>
        </p:txBody>
      </p:sp>
      <p:sp>
        <p:nvSpPr>
          <p:cNvPr id="323" name="object 11"/>
          <p:cNvSpPr/>
          <p:nvPr/>
        </p:nvSpPr>
        <p:spPr>
          <a:xfrm>
            <a:off x="5016500" y="3208019"/>
            <a:ext cx="6299836" cy="28153"/>
          </a:xfrm>
          <a:prstGeom prst="line">
            <a:avLst/>
          </a:prstGeom>
          <a:ln>
            <a:solidFill>
              <a:srgbClr val="497DBA"/>
            </a:solidFill>
          </a:ln>
        </p:spPr>
        <p:txBody>
          <a:bodyPr lIns="38099" rIns="38099"/>
          <a:lstStyle/>
          <a:p>
            <a:endParaRPr sz="1500"/>
          </a:p>
        </p:txBody>
      </p:sp>
      <p:sp>
        <p:nvSpPr>
          <p:cNvPr id="324" name="object 12"/>
          <p:cNvSpPr/>
          <p:nvPr/>
        </p:nvSpPr>
        <p:spPr>
          <a:xfrm>
            <a:off x="5016500" y="4000499"/>
            <a:ext cx="6286501" cy="63502"/>
          </a:xfrm>
          <a:prstGeom prst="line">
            <a:avLst/>
          </a:prstGeom>
          <a:ln>
            <a:solidFill>
              <a:srgbClr val="497DBA"/>
            </a:solidFill>
          </a:ln>
        </p:spPr>
        <p:txBody>
          <a:bodyPr lIns="38099" rIns="38099"/>
          <a:lstStyle/>
          <a:p>
            <a:endParaRPr sz="1500"/>
          </a:p>
        </p:txBody>
      </p:sp>
      <p:sp>
        <p:nvSpPr>
          <p:cNvPr id="325" name="object 13"/>
          <p:cNvSpPr/>
          <p:nvPr/>
        </p:nvSpPr>
        <p:spPr>
          <a:xfrm>
            <a:off x="5016499" y="4698999"/>
            <a:ext cx="6286502" cy="56835"/>
          </a:xfrm>
          <a:prstGeom prst="line">
            <a:avLst/>
          </a:prstGeom>
          <a:ln>
            <a:solidFill>
              <a:srgbClr val="497DBA"/>
            </a:solidFill>
          </a:ln>
        </p:spPr>
        <p:txBody>
          <a:bodyPr lIns="38099" rIns="38099"/>
          <a:lstStyle/>
          <a:p>
            <a:endParaRPr sz="1500"/>
          </a:p>
        </p:txBody>
      </p:sp>
      <p:sp>
        <p:nvSpPr>
          <p:cNvPr id="326" name="object 14"/>
          <p:cNvSpPr/>
          <p:nvPr/>
        </p:nvSpPr>
        <p:spPr>
          <a:xfrm>
            <a:off x="6096000" y="1774189"/>
            <a:ext cx="0" cy="2925023"/>
          </a:xfrm>
          <a:prstGeom prst="line">
            <a:avLst/>
          </a:prstGeom>
          <a:ln>
            <a:solidFill>
              <a:srgbClr val="497DBA"/>
            </a:solidFill>
          </a:ln>
        </p:spPr>
        <p:txBody>
          <a:bodyPr lIns="38099" rIns="38099"/>
          <a:lstStyle/>
          <a:p>
            <a:endParaRPr sz="1500"/>
          </a:p>
        </p:txBody>
      </p:sp>
      <p:sp>
        <p:nvSpPr>
          <p:cNvPr id="327" name="object 15"/>
          <p:cNvSpPr/>
          <p:nvPr/>
        </p:nvSpPr>
        <p:spPr>
          <a:xfrm>
            <a:off x="7145020" y="1784350"/>
            <a:ext cx="1" cy="2925023"/>
          </a:xfrm>
          <a:prstGeom prst="line">
            <a:avLst/>
          </a:prstGeom>
          <a:ln>
            <a:solidFill>
              <a:srgbClr val="497DBA"/>
            </a:solidFill>
          </a:ln>
        </p:spPr>
        <p:txBody>
          <a:bodyPr lIns="38099" rIns="38099"/>
          <a:lstStyle/>
          <a:p>
            <a:endParaRPr sz="1500"/>
          </a:p>
        </p:txBody>
      </p:sp>
      <p:sp>
        <p:nvSpPr>
          <p:cNvPr id="328" name="object 16"/>
          <p:cNvSpPr/>
          <p:nvPr/>
        </p:nvSpPr>
        <p:spPr>
          <a:xfrm>
            <a:off x="8107680" y="1797049"/>
            <a:ext cx="1" cy="2925023"/>
          </a:xfrm>
          <a:prstGeom prst="line">
            <a:avLst/>
          </a:prstGeom>
          <a:ln>
            <a:solidFill>
              <a:srgbClr val="497DBA"/>
            </a:solidFill>
          </a:ln>
        </p:spPr>
        <p:txBody>
          <a:bodyPr lIns="38099" rIns="38099"/>
          <a:lstStyle/>
          <a:p>
            <a:endParaRPr sz="1500"/>
          </a:p>
        </p:txBody>
      </p:sp>
      <p:sp>
        <p:nvSpPr>
          <p:cNvPr id="329" name="object 17"/>
          <p:cNvSpPr/>
          <p:nvPr/>
        </p:nvSpPr>
        <p:spPr>
          <a:xfrm>
            <a:off x="9023349" y="1797049"/>
            <a:ext cx="1" cy="2925023"/>
          </a:xfrm>
          <a:prstGeom prst="line">
            <a:avLst/>
          </a:prstGeom>
          <a:ln>
            <a:solidFill>
              <a:srgbClr val="497DBA"/>
            </a:solidFill>
          </a:ln>
        </p:spPr>
        <p:txBody>
          <a:bodyPr lIns="38099" rIns="38099"/>
          <a:lstStyle/>
          <a:p>
            <a:endParaRPr sz="1500"/>
          </a:p>
        </p:txBody>
      </p:sp>
      <p:sp>
        <p:nvSpPr>
          <p:cNvPr id="330" name="object 18"/>
          <p:cNvSpPr/>
          <p:nvPr/>
        </p:nvSpPr>
        <p:spPr>
          <a:xfrm>
            <a:off x="9878060" y="1807209"/>
            <a:ext cx="1" cy="2925023"/>
          </a:xfrm>
          <a:prstGeom prst="line">
            <a:avLst/>
          </a:prstGeom>
          <a:ln>
            <a:solidFill>
              <a:srgbClr val="497DBA"/>
            </a:solidFill>
          </a:ln>
        </p:spPr>
        <p:txBody>
          <a:bodyPr lIns="38099" rIns="38099"/>
          <a:lstStyle/>
          <a:p>
            <a:endParaRPr sz="1500"/>
          </a:p>
        </p:txBody>
      </p:sp>
      <p:sp>
        <p:nvSpPr>
          <p:cNvPr id="331" name="object 19"/>
          <p:cNvSpPr/>
          <p:nvPr/>
        </p:nvSpPr>
        <p:spPr>
          <a:xfrm>
            <a:off x="10590530" y="1831339"/>
            <a:ext cx="1" cy="2925023"/>
          </a:xfrm>
          <a:prstGeom prst="line">
            <a:avLst/>
          </a:prstGeom>
          <a:ln>
            <a:solidFill>
              <a:srgbClr val="497DBA"/>
            </a:solidFill>
          </a:ln>
        </p:spPr>
        <p:txBody>
          <a:bodyPr lIns="38099" rIns="38099"/>
          <a:lstStyle/>
          <a:p>
            <a:endParaRPr sz="1500"/>
          </a:p>
        </p:txBody>
      </p:sp>
      <p:sp>
        <p:nvSpPr>
          <p:cNvPr id="332" name="object 20"/>
          <p:cNvSpPr/>
          <p:nvPr/>
        </p:nvSpPr>
        <p:spPr>
          <a:xfrm>
            <a:off x="11303000" y="1837689"/>
            <a:ext cx="0" cy="2925023"/>
          </a:xfrm>
          <a:prstGeom prst="line">
            <a:avLst/>
          </a:prstGeom>
          <a:ln>
            <a:solidFill>
              <a:srgbClr val="497DBA"/>
            </a:solidFill>
          </a:ln>
        </p:spPr>
        <p:txBody>
          <a:bodyPr lIns="38099" rIns="38099"/>
          <a:lstStyle/>
          <a:p>
            <a:endParaRPr sz="1500"/>
          </a:p>
        </p:txBody>
      </p:sp>
      <p:sp>
        <p:nvSpPr>
          <p:cNvPr id="333" name="object 21"/>
          <p:cNvSpPr txBox="1"/>
          <p:nvPr/>
        </p:nvSpPr>
        <p:spPr>
          <a:xfrm>
            <a:off x="8443276" y="2053378"/>
            <a:ext cx="158751"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a:t>
            </a:r>
          </a:p>
        </p:txBody>
      </p:sp>
      <p:sp>
        <p:nvSpPr>
          <p:cNvPr id="334" name="object 22"/>
          <p:cNvSpPr txBox="1"/>
          <p:nvPr/>
        </p:nvSpPr>
        <p:spPr>
          <a:xfrm>
            <a:off x="7428018" y="2815124"/>
            <a:ext cx="158751"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a:t>
            </a:r>
          </a:p>
        </p:txBody>
      </p:sp>
      <p:sp>
        <p:nvSpPr>
          <p:cNvPr id="335" name="object 23"/>
          <p:cNvSpPr txBox="1"/>
          <p:nvPr/>
        </p:nvSpPr>
        <p:spPr>
          <a:xfrm>
            <a:off x="9242678" y="2815124"/>
            <a:ext cx="158751"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a:t>
            </a:r>
          </a:p>
        </p:txBody>
      </p:sp>
      <p:sp>
        <p:nvSpPr>
          <p:cNvPr id="336" name="object 24"/>
          <p:cNvSpPr txBox="1"/>
          <p:nvPr/>
        </p:nvSpPr>
        <p:spPr>
          <a:xfrm>
            <a:off x="6370109" y="3321578"/>
            <a:ext cx="158751"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a:t>
            </a:r>
          </a:p>
        </p:txBody>
      </p:sp>
      <p:sp>
        <p:nvSpPr>
          <p:cNvPr id="337" name="object 25"/>
          <p:cNvSpPr txBox="1"/>
          <p:nvPr/>
        </p:nvSpPr>
        <p:spPr>
          <a:xfrm>
            <a:off x="8372807" y="3321578"/>
            <a:ext cx="158751"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a:t>
            </a:r>
          </a:p>
        </p:txBody>
      </p:sp>
      <p:sp>
        <p:nvSpPr>
          <p:cNvPr id="338" name="object 26"/>
          <p:cNvSpPr txBox="1"/>
          <p:nvPr/>
        </p:nvSpPr>
        <p:spPr>
          <a:xfrm>
            <a:off x="10376886" y="3321578"/>
            <a:ext cx="158751"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a:t>
            </a:r>
          </a:p>
        </p:txBody>
      </p:sp>
      <p:sp>
        <p:nvSpPr>
          <p:cNvPr id="339" name="object 27"/>
          <p:cNvSpPr txBox="1"/>
          <p:nvPr/>
        </p:nvSpPr>
        <p:spPr>
          <a:xfrm>
            <a:off x="5483224" y="4108725"/>
            <a:ext cx="158751"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a:t>
            </a:r>
          </a:p>
        </p:txBody>
      </p:sp>
      <p:sp>
        <p:nvSpPr>
          <p:cNvPr id="340" name="object 28"/>
          <p:cNvSpPr txBox="1"/>
          <p:nvPr/>
        </p:nvSpPr>
        <p:spPr>
          <a:xfrm>
            <a:off x="7422145" y="4108725"/>
            <a:ext cx="158751"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a:t>
            </a:r>
          </a:p>
        </p:txBody>
      </p:sp>
      <p:sp>
        <p:nvSpPr>
          <p:cNvPr id="341" name="object 29"/>
          <p:cNvSpPr txBox="1"/>
          <p:nvPr/>
        </p:nvSpPr>
        <p:spPr>
          <a:xfrm>
            <a:off x="9300590" y="4108725"/>
            <a:ext cx="158751"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a:t>
            </a:r>
          </a:p>
        </p:txBody>
      </p:sp>
      <p:sp>
        <p:nvSpPr>
          <p:cNvPr id="342" name="object 30"/>
          <p:cNvSpPr txBox="1"/>
          <p:nvPr/>
        </p:nvSpPr>
        <p:spPr>
          <a:xfrm>
            <a:off x="10867559" y="4108725"/>
            <a:ext cx="158751"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a:t>
            </a:r>
          </a:p>
        </p:txBody>
      </p:sp>
      <p:sp>
        <p:nvSpPr>
          <p:cNvPr id="343" name="object 31"/>
          <p:cNvSpPr txBox="1"/>
          <p:nvPr/>
        </p:nvSpPr>
        <p:spPr>
          <a:xfrm>
            <a:off x="4409017" y="1942358"/>
            <a:ext cx="160868"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0</a:t>
            </a:r>
          </a:p>
        </p:txBody>
      </p:sp>
      <p:sp>
        <p:nvSpPr>
          <p:cNvPr id="344" name="object 32"/>
          <p:cNvSpPr txBox="1"/>
          <p:nvPr/>
        </p:nvSpPr>
        <p:spPr>
          <a:xfrm>
            <a:off x="4409017" y="2602970"/>
            <a:ext cx="160868"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1</a:t>
            </a:r>
          </a:p>
        </p:txBody>
      </p:sp>
      <p:sp>
        <p:nvSpPr>
          <p:cNvPr id="345" name="object 33"/>
          <p:cNvSpPr txBox="1"/>
          <p:nvPr/>
        </p:nvSpPr>
        <p:spPr>
          <a:xfrm>
            <a:off x="4409017" y="3593316"/>
            <a:ext cx="161397"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2</a:t>
            </a:r>
          </a:p>
        </p:txBody>
      </p:sp>
      <p:sp>
        <p:nvSpPr>
          <p:cNvPr id="346" name="object 34"/>
          <p:cNvSpPr txBox="1"/>
          <p:nvPr/>
        </p:nvSpPr>
        <p:spPr>
          <a:xfrm>
            <a:off x="4409017" y="4253758"/>
            <a:ext cx="160868"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3</a:t>
            </a:r>
          </a:p>
        </p:txBody>
      </p:sp>
      <p:sp>
        <p:nvSpPr>
          <p:cNvPr id="347" name="object 35"/>
          <p:cNvSpPr txBox="1"/>
          <p:nvPr/>
        </p:nvSpPr>
        <p:spPr>
          <a:xfrm>
            <a:off x="5375487" y="1395518"/>
            <a:ext cx="160868"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0</a:t>
            </a:r>
          </a:p>
        </p:txBody>
      </p:sp>
      <p:sp>
        <p:nvSpPr>
          <p:cNvPr id="348" name="object 36"/>
          <p:cNvSpPr txBox="1"/>
          <p:nvPr/>
        </p:nvSpPr>
        <p:spPr>
          <a:xfrm>
            <a:off x="6385844" y="1395518"/>
            <a:ext cx="160868"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1</a:t>
            </a:r>
          </a:p>
        </p:txBody>
      </p:sp>
      <p:sp>
        <p:nvSpPr>
          <p:cNvPr id="349" name="object 37"/>
          <p:cNvSpPr txBox="1"/>
          <p:nvPr/>
        </p:nvSpPr>
        <p:spPr>
          <a:xfrm>
            <a:off x="7520219" y="1395518"/>
            <a:ext cx="160868"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2</a:t>
            </a:r>
          </a:p>
        </p:txBody>
      </p:sp>
      <p:sp>
        <p:nvSpPr>
          <p:cNvPr id="350" name="object 38"/>
          <p:cNvSpPr txBox="1"/>
          <p:nvPr/>
        </p:nvSpPr>
        <p:spPr>
          <a:xfrm>
            <a:off x="8465814" y="1395518"/>
            <a:ext cx="160868"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3</a:t>
            </a:r>
          </a:p>
        </p:txBody>
      </p:sp>
      <p:sp>
        <p:nvSpPr>
          <p:cNvPr id="351" name="object 39"/>
          <p:cNvSpPr txBox="1"/>
          <p:nvPr/>
        </p:nvSpPr>
        <p:spPr>
          <a:xfrm>
            <a:off x="9351329" y="1395518"/>
            <a:ext cx="160868"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4</a:t>
            </a:r>
          </a:p>
        </p:txBody>
      </p:sp>
      <p:sp>
        <p:nvSpPr>
          <p:cNvPr id="352" name="object 40"/>
          <p:cNvSpPr txBox="1"/>
          <p:nvPr/>
        </p:nvSpPr>
        <p:spPr>
          <a:xfrm>
            <a:off x="10049995" y="1395518"/>
            <a:ext cx="160868"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5</a:t>
            </a:r>
          </a:p>
        </p:txBody>
      </p:sp>
      <p:sp>
        <p:nvSpPr>
          <p:cNvPr id="353" name="object 41"/>
          <p:cNvSpPr txBox="1"/>
          <p:nvPr/>
        </p:nvSpPr>
        <p:spPr>
          <a:xfrm>
            <a:off x="10810944" y="1395518"/>
            <a:ext cx="160868"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7</a:t>
            </a:r>
          </a:p>
        </p:txBody>
      </p:sp>
    </p:spTree>
    <p:extLst>
      <p:ext uri="{BB962C8B-B14F-4D97-AF65-F5344CB8AC3E}">
        <p14:creationId xmlns:p14="http://schemas.microsoft.com/office/powerpoint/2010/main" val="296584609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356" name="object 3"/>
          <p:cNvSpPr txBox="1"/>
          <p:nvPr/>
        </p:nvSpPr>
        <p:spPr>
          <a:xfrm>
            <a:off x="1063325" y="588960"/>
            <a:ext cx="7357758" cy="252376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marR="4233" indent="10583">
              <a:spcBef>
                <a:spcPts val="83"/>
              </a:spcBef>
              <a:defRPr sz="2400" spc="-5">
                <a:solidFill>
                  <a:srgbClr val="A9B7C5"/>
                </a:solidFill>
              </a:defRPr>
            </a:pPr>
            <a:r>
              <a:rPr sz="2400" b="1" dirty="0" err="1"/>
              <a:t>num</a:t>
            </a:r>
            <a:r>
              <a:rPr sz="2400" b="1" dirty="0"/>
              <a:t> = </a:t>
            </a:r>
            <a:r>
              <a:rPr sz="2400" b="1" spc="-8" dirty="0" err="1"/>
              <a:t>int</a:t>
            </a:r>
            <a:r>
              <a:rPr sz="2400" b="1" spc="-8" dirty="0"/>
              <a:t>(input("enter </a:t>
            </a:r>
            <a:r>
              <a:rPr sz="2400" b="1" dirty="0"/>
              <a:t>the number of </a:t>
            </a:r>
            <a:r>
              <a:rPr sz="2400" b="1" spc="-17" dirty="0"/>
              <a:t>rows </a:t>
            </a:r>
            <a:r>
              <a:rPr sz="2400" b="1" dirty="0"/>
              <a:t>:"))  </a:t>
            </a:r>
            <a:r>
              <a:rPr sz="2400" b="1" spc="-17" dirty="0"/>
              <a:t>row </a:t>
            </a:r>
            <a:r>
              <a:rPr sz="2400" b="1" dirty="0"/>
              <a:t>= 0</a:t>
            </a:r>
          </a:p>
          <a:p>
            <a:pPr marL="227533" marR="2614508" indent="-217478">
              <a:defRPr sz="2400">
                <a:solidFill>
                  <a:srgbClr val="CC7831"/>
                </a:solidFill>
              </a:defRPr>
            </a:pPr>
            <a:r>
              <a:rPr sz="2400" b="1" dirty="0"/>
              <a:t>while </a:t>
            </a:r>
            <a:r>
              <a:rPr sz="2400" b="1" spc="-8" dirty="0"/>
              <a:t>row&lt;</a:t>
            </a:r>
            <a:r>
              <a:rPr sz="2400" b="1" spc="-8" dirty="0" err="1"/>
              <a:t>num</a:t>
            </a:r>
            <a:r>
              <a:rPr sz="2400" b="1" spc="-8" dirty="0"/>
              <a:t>:  </a:t>
            </a:r>
            <a:r>
              <a:rPr sz="2400" b="1" spc="-4" dirty="0"/>
              <a:t>space </a:t>
            </a:r>
            <a:r>
              <a:rPr sz="2400" b="1" dirty="0"/>
              <a:t>=</a:t>
            </a:r>
            <a:r>
              <a:rPr sz="2400" b="1" spc="-67" dirty="0"/>
              <a:t> </a:t>
            </a:r>
            <a:r>
              <a:rPr sz="2400" b="1" spc="-8" dirty="0"/>
              <a:t>num-row-1  </a:t>
            </a:r>
            <a:r>
              <a:rPr sz="2400" b="1" dirty="0"/>
              <a:t>while</a:t>
            </a:r>
            <a:r>
              <a:rPr sz="2400" b="1" spc="-8" dirty="0"/>
              <a:t> </a:t>
            </a:r>
            <a:r>
              <a:rPr sz="2400" b="1" spc="-4" dirty="0"/>
              <a:t>space&gt;0:</a:t>
            </a:r>
          </a:p>
          <a:p>
            <a:pPr marR="2744148" indent="465119">
              <a:defRPr sz="2400" spc="-5">
                <a:solidFill>
                  <a:srgbClr val="8787C5"/>
                </a:solidFill>
              </a:defRPr>
            </a:pPr>
            <a:r>
              <a:rPr sz="2400" b="1" dirty="0"/>
              <a:t>print(end=" ")  space =</a:t>
            </a:r>
            <a:r>
              <a:rPr sz="2400" b="1" spc="-62" dirty="0"/>
              <a:t> </a:t>
            </a:r>
            <a:r>
              <a:rPr sz="2400" b="1" dirty="0"/>
              <a:t>space-1</a:t>
            </a:r>
          </a:p>
          <a:p>
            <a:pPr marR="3267473" indent="237586">
              <a:defRPr sz="2400" spc="-15">
                <a:solidFill>
                  <a:srgbClr val="A9B7C5"/>
                </a:solidFill>
              </a:defRPr>
            </a:pPr>
            <a:r>
              <a:rPr sz="2400" b="1" dirty="0"/>
              <a:t>star = </a:t>
            </a:r>
            <a:r>
              <a:rPr sz="2400" b="1" spc="-8" dirty="0"/>
              <a:t>row+1  </a:t>
            </a:r>
            <a:r>
              <a:rPr sz="2400" b="1" dirty="0"/>
              <a:t>while</a:t>
            </a:r>
            <a:r>
              <a:rPr sz="2400" b="1" spc="-67" dirty="0"/>
              <a:t> </a:t>
            </a:r>
            <a:r>
              <a:rPr sz="2400" b="1" spc="-8" dirty="0"/>
              <a:t>star&gt;0:</a:t>
            </a:r>
          </a:p>
          <a:p>
            <a:pPr marR="2543073" indent="465119">
              <a:defRPr sz="2400" spc="-5">
                <a:solidFill>
                  <a:srgbClr val="8787C5"/>
                </a:solidFill>
              </a:defRPr>
            </a:pPr>
            <a:r>
              <a:rPr sz="2400" b="1" dirty="0"/>
              <a:t>print("*",end="</a:t>
            </a:r>
            <a:r>
              <a:rPr sz="2400" b="1" spc="-50" dirty="0"/>
              <a:t> </a:t>
            </a:r>
            <a:r>
              <a:rPr sz="2400" b="1" dirty="0"/>
              <a:t>")  </a:t>
            </a:r>
            <a:r>
              <a:rPr sz="2400" b="1" spc="-12" dirty="0"/>
              <a:t>star=</a:t>
            </a:r>
            <a:r>
              <a:rPr sz="2400" b="1" spc="-17" dirty="0"/>
              <a:t> </a:t>
            </a:r>
            <a:r>
              <a:rPr sz="2400" b="1" spc="-8" dirty="0"/>
              <a:t>star-1</a:t>
            </a:r>
          </a:p>
          <a:p>
            <a:pPr marR="3302926" indent="237586">
              <a:lnSpc>
                <a:spcPts val="2417"/>
              </a:lnSpc>
              <a:defRPr sz="2400" spc="-20">
                <a:solidFill>
                  <a:srgbClr val="A9B7C5"/>
                </a:solidFill>
              </a:defRPr>
            </a:pPr>
            <a:r>
              <a:rPr sz="2400" b="1" dirty="0"/>
              <a:t>row =</a:t>
            </a:r>
            <a:r>
              <a:rPr sz="2400" b="1" spc="-75" dirty="0"/>
              <a:t> </a:t>
            </a:r>
            <a:r>
              <a:rPr sz="2400" b="1" spc="-8" dirty="0"/>
              <a:t>row+1  print()</a:t>
            </a:r>
          </a:p>
        </p:txBody>
      </p:sp>
    </p:spTree>
    <p:extLst>
      <p:ext uri="{BB962C8B-B14F-4D97-AF65-F5344CB8AC3E}">
        <p14:creationId xmlns:p14="http://schemas.microsoft.com/office/powerpoint/2010/main" val="298990067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359" name="object 3"/>
          <p:cNvSpPr txBox="1">
            <a:spLocks noGrp="1"/>
          </p:cNvSpPr>
          <p:nvPr>
            <p:ph type="title"/>
          </p:nvPr>
        </p:nvSpPr>
        <p:spPr>
          <a:prstGeom prst="rect">
            <a:avLst/>
          </a:prstGeom>
        </p:spPr>
        <p:txBody>
          <a:bodyPr>
            <a:normAutofit/>
          </a:bodyPr>
          <a:lstStyle/>
          <a:p>
            <a:pPr indent="10371" defTabSz="746729">
              <a:defRPr sz="3332"/>
            </a:pPr>
            <a:r>
              <a:t>INVERTED </a:t>
            </a:r>
            <a:r>
              <a:rPr spc="-245"/>
              <a:t>HOLLOW </a:t>
            </a:r>
            <a:r>
              <a:t>PATTERN</a:t>
            </a:r>
          </a:p>
        </p:txBody>
      </p:sp>
      <p:sp>
        <p:nvSpPr>
          <p:cNvPr id="360" name="object 4"/>
          <p:cNvSpPr/>
          <p:nvPr/>
        </p:nvSpPr>
        <p:spPr>
          <a:xfrm>
            <a:off x="4572000" y="2222500"/>
            <a:ext cx="4940936" cy="0"/>
          </a:xfrm>
          <a:prstGeom prst="line">
            <a:avLst/>
          </a:prstGeom>
          <a:ln>
            <a:solidFill>
              <a:srgbClr val="497DBA"/>
            </a:solidFill>
          </a:ln>
        </p:spPr>
        <p:txBody>
          <a:bodyPr lIns="38099" rIns="38099"/>
          <a:lstStyle/>
          <a:p>
            <a:endParaRPr sz="1500"/>
          </a:p>
        </p:txBody>
      </p:sp>
      <p:sp>
        <p:nvSpPr>
          <p:cNvPr id="361" name="object 5"/>
          <p:cNvSpPr/>
          <p:nvPr/>
        </p:nvSpPr>
        <p:spPr>
          <a:xfrm>
            <a:off x="4572000" y="2921000"/>
            <a:ext cx="4940936" cy="0"/>
          </a:xfrm>
          <a:prstGeom prst="line">
            <a:avLst/>
          </a:prstGeom>
          <a:ln>
            <a:solidFill>
              <a:srgbClr val="497DBA"/>
            </a:solidFill>
          </a:ln>
        </p:spPr>
        <p:txBody>
          <a:bodyPr lIns="38099" rIns="38099"/>
          <a:lstStyle/>
          <a:p>
            <a:endParaRPr sz="1500"/>
          </a:p>
        </p:txBody>
      </p:sp>
      <p:sp>
        <p:nvSpPr>
          <p:cNvPr id="362" name="object 6"/>
          <p:cNvSpPr/>
          <p:nvPr/>
        </p:nvSpPr>
        <p:spPr>
          <a:xfrm>
            <a:off x="4572000" y="3556000"/>
            <a:ext cx="4940936" cy="0"/>
          </a:xfrm>
          <a:prstGeom prst="line">
            <a:avLst/>
          </a:prstGeom>
          <a:ln>
            <a:solidFill>
              <a:srgbClr val="497DBA"/>
            </a:solidFill>
          </a:ln>
        </p:spPr>
        <p:txBody>
          <a:bodyPr lIns="38099" rIns="38099"/>
          <a:lstStyle/>
          <a:p>
            <a:endParaRPr sz="1500"/>
          </a:p>
        </p:txBody>
      </p:sp>
      <p:sp>
        <p:nvSpPr>
          <p:cNvPr id="363" name="object 7"/>
          <p:cNvSpPr/>
          <p:nvPr/>
        </p:nvSpPr>
        <p:spPr>
          <a:xfrm>
            <a:off x="4521200" y="4191000"/>
            <a:ext cx="4940935" cy="0"/>
          </a:xfrm>
          <a:prstGeom prst="line">
            <a:avLst/>
          </a:prstGeom>
          <a:ln>
            <a:solidFill>
              <a:srgbClr val="497DBA"/>
            </a:solidFill>
          </a:ln>
        </p:spPr>
        <p:txBody>
          <a:bodyPr lIns="38099" rIns="38099"/>
          <a:lstStyle/>
          <a:p>
            <a:endParaRPr sz="1500"/>
          </a:p>
        </p:txBody>
      </p:sp>
      <p:sp>
        <p:nvSpPr>
          <p:cNvPr id="364" name="object 8"/>
          <p:cNvSpPr/>
          <p:nvPr/>
        </p:nvSpPr>
        <p:spPr>
          <a:xfrm>
            <a:off x="4521200" y="4762500"/>
            <a:ext cx="4940935" cy="0"/>
          </a:xfrm>
          <a:prstGeom prst="line">
            <a:avLst/>
          </a:prstGeom>
          <a:ln>
            <a:solidFill>
              <a:srgbClr val="497DBA"/>
            </a:solidFill>
          </a:ln>
        </p:spPr>
        <p:txBody>
          <a:bodyPr lIns="38099" rIns="38099"/>
          <a:lstStyle/>
          <a:p>
            <a:endParaRPr sz="1500"/>
          </a:p>
        </p:txBody>
      </p:sp>
      <p:sp>
        <p:nvSpPr>
          <p:cNvPr id="365" name="object 9"/>
          <p:cNvSpPr/>
          <p:nvPr/>
        </p:nvSpPr>
        <p:spPr>
          <a:xfrm>
            <a:off x="4521200" y="5388610"/>
            <a:ext cx="4940935" cy="1"/>
          </a:xfrm>
          <a:prstGeom prst="line">
            <a:avLst/>
          </a:prstGeom>
          <a:ln>
            <a:solidFill>
              <a:srgbClr val="497DBA"/>
            </a:solidFill>
          </a:ln>
        </p:spPr>
        <p:txBody>
          <a:bodyPr lIns="38099" rIns="38099"/>
          <a:lstStyle/>
          <a:p>
            <a:endParaRPr sz="1500"/>
          </a:p>
        </p:txBody>
      </p:sp>
      <p:graphicFrame>
        <p:nvGraphicFramePr>
          <p:cNvPr id="366" name="object 10"/>
          <p:cNvGraphicFramePr/>
          <p:nvPr/>
        </p:nvGraphicFramePr>
        <p:xfrm>
          <a:off x="4568031" y="2218530"/>
          <a:ext cx="4889500" cy="3253740"/>
        </p:xfrm>
        <a:graphic>
          <a:graphicData uri="http://schemas.openxmlformats.org/drawingml/2006/table">
            <a:tbl>
              <a:tblPr/>
              <a:tblGrid>
                <a:gridCol w="825500">
                  <a:extLst>
                    <a:ext uri="{9D8B030D-6E8A-4147-A177-3AD203B41FA5}">
                      <a16:colId xmlns:a16="http://schemas.microsoft.com/office/drawing/2014/main" val="20000"/>
                    </a:ext>
                  </a:extLst>
                </a:gridCol>
                <a:gridCol w="8255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795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tblGrid>
              <a:tr h="698500">
                <a:tc>
                  <a:txBody>
                    <a:bodyPr/>
                    <a:lstStyle/>
                    <a:p>
                      <a:pPr algn="l">
                        <a:spcBef>
                          <a:spcPts val="2000"/>
                        </a:spcBef>
                      </a:pPr>
                      <a:r>
                        <a:rPr sz="2200"/>
                        <a:t>*</a:t>
                      </a:r>
                    </a:p>
                  </a:txBody>
                  <a:tcPr marL="0" marR="0" marT="0" marB="0" horzOverflow="overflow">
                    <a:lnL>
                      <a:solidFill>
                        <a:srgbClr val="497DBA"/>
                      </a:solidFill>
                    </a:lnL>
                    <a:lnR>
                      <a:solidFill>
                        <a:srgbClr val="497DBA"/>
                      </a:solidFill>
                    </a:lnR>
                    <a:lnT>
                      <a:solidFill>
                        <a:srgbClr val="497DBA"/>
                      </a:solidFill>
                    </a:lnT>
                    <a:lnB>
                      <a:solidFill>
                        <a:srgbClr val="497DBA"/>
                      </a:solidFill>
                    </a:lnB>
                  </a:tcPr>
                </a:tc>
                <a:tc>
                  <a:txBody>
                    <a:bodyPr/>
                    <a:lstStyle/>
                    <a:p>
                      <a:pPr algn="l">
                        <a:spcBef>
                          <a:spcPts val="2000"/>
                        </a:spcBef>
                      </a:pPr>
                      <a:r>
                        <a:rPr sz="2200"/>
                        <a:t>*</a:t>
                      </a:r>
                    </a:p>
                  </a:txBody>
                  <a:tcPr marL="0" marR="0" marT="0" marB="0" horzOverflow="overflow">
                    <a:lnL>
                      <a:solidFill>
                        <a:srgbClr val="497DBA"/>
                      </a:solidFill>
                    </a:lnL>
                    <a:lnR>
                      <a:solidFill>
                        <a:srgbClr val="497DBA"/>
                      </a:solidFill>
                    </a:lnR>
                    <a:lnT>
                      <a:solidFill>
                        <a:srgbClr val="497DBA"/>
                      </a:solidFill>
                    </a:lnT>
                    <a:lnB>
                      <a:solidFill>
                        <a:srgbClr val="497DBA"/>
                      </a:solidFill>
                    </a:lnB>
                  </a:tcPr>
                </a:tc>
                <a:tc>
                  <a:txBody>
                    <a:bodyPr/>
                    <a:lstStyle/>
                    <a:p>
                      <a:pPr algn="l">
                        <a:spcBef>
                          <a:spcPts val="2000"/>
                        </a:spcBef>
                      </a:pPr>
                      <a:r>
                        <a:rPr sz="2200"/>
                        <a:t>*</a:t>
                      </a:r>
                    </a:p>
                  </a:txBody>
                  <a:tcPr marL="0" marR="0" marT="0" marB="0" horzOverflow="overflow">
                    <a:lnL>
                      <a:solidFill>
                        <a:srgbClr val="497DBA"/>
                      </a:solidFill>
                    </a:lnL>
                    <a:lnR>
                      <a:solidFill>
                        <a:srgbClr val="497DBA"/>
                      </a:solidFill>
                    </a:lnR>
                    <a:lnT>
                      <a:solidFill>
                        <a:srgbClr val="497DBA"/>
                      </a:solidFill>
                    </a:lnT>
                    <a:lnB>
                      <a:solidFill>
                        <a:srgbClr val="497DBA"/>
                      </a:solidFill>
                    </a:lnB>
                  </a:tcPr>
                </a:tc>
                <a:tc>
                  <a:txBody>
                    <a:bodyPr/>
                    <a:lstStyle/>
                    <a:p>
                      <a:pPr algn="l">
                        <a:spcBef>
                          <a:spcPts val="2000"/>
                        </a:spcBef>
                      </a:pPr>
                      <a:r>
                        <a:rPr sz="2200"/>
                        <a:t>*</a:t>
                      </a:r>
                    </a:p>
                  </a:txBody>
                  <a:tcPr marL="0" marR="0" marT="0" marB="0" horzOverflow="overflow">
                    <a:lnL>
                      <a:solidFill>
                        <a:srgbClr val="497DBA"/>
                      </a:solidFill>
                    </a:lnL>
                    <a:lnR>
                      <a:solidFill>
                        <a:srgbClr val="497DBA"/>
                      </a:solidFill>
                    </a:lnR>
                    <a:lnT>
                      <a:solidFill>
                        <a:srgbClr val="497DBA"/>
                      </a:solidFill>
                    </a:lnT>
                    <a:lnB>
                      <a:solidFill>
                        <a:srgbClr val="497DBA"/>
                      </a:solidFill>
                    </a:lnB>
                  </a:tcPr>
                </a:tc>
                <a:tc>
                  <a:txBody>
                    <a:bodyPr/>
                    <a:lstStyle/>
                    <a:p>
                      <a:pPr algn="l">
                        <a:spcBef>
                          <a:spcPts val="2000"/>
                        </a:spcBef>
                      </a:pPr>
                      <a:r>
                        <a:rPr sz="2200"/>
                        <a:t>*</a:t>
                      </a:r>
                    </a:p>
                  </a:txBody>
                  <a:tcPr marL="0" marR="0" marT="0" marB="0" horzOverflow="overflow">
                    <a:lnL>
                      <a:solidFill>
                        <a:srgbClr val="497DBA"/>
                      </a:solidFill>
                    </a:lnL>
                    <a:lnR>
                      <a:solidFill>
                        <a:srgbClr val="497DBA"/>
                      </a:solidFill>
                    </a:lnR>
                    <a:lnT>
                      <a:solidFill>
                        <a:srgbClr val="497DBA"/>
                      </a:solidFill>
                    </a:lnT>
                    <a:lnB>
                      <a:solidFill>
                        <a:srgbClr val="497DBA"/>
                      </a:solidFill>
                    </a:lnB>
                  </a:tcPr>
                </a:tc>
                <a:extLst>
                  <a:ext uri="{0D108BD9-81ED-4DB2-BD59-A6C34878D82A}">
                    <a16:rowId xmlns:a16="http://schemas.microsoft.com/office/drawing/2014/main" val="10000"/>
                  </a:ext>
                </a:extLst>
              </a:tr>
              <a:tr h="635000">
                <a:tc>
                  <a:txBody>
                    <a:bodyPr/>
                    <a:lstStyle/>
                    <a:p>
                      <a:pPr algn="l">
                        <a:spcBef>
                          <a:spcPts val="2000"/>
                        </a:spcBef>
                      </a:pPr>
                      <a:r>
                        <a:rPr sz="2200"/>
                        <a:t>*</a:t>
                      </a:r>
                    </a:p>
                  </a:txBody>
                  <a:tcPr marL="0" marR="0" marT="0" marB="0" horzOverflow="overflow">
                    <a:lnL>
                      <a:solidFill>
                        <a:srgbClr val="497DBA"/>
                      </a:solidFill>
                    </a:lnL>
                    <a:lnR>
                      <a:solidFill>
                        <a:srgbClr val="497DBA"/>
                      </a:solidFill>
                    </a:lnR>
                    <a:lnT>
                      <a:solidFill>
                        <a:srgbClr val="497DBA"/>
                      </a:solidFill>
                    </a:lnT>
                    <a:lnB>
                      <a:solidFill>
                        <a:srgbClr val="497DBA"/>
                      </a:solidFill>
                    </a:lnB>
                  </a:tcPr>
                </a:tc>
                <a:tc>
                  <a:txBody>
                    <a:bodyPr/>
                    <a:lstStyle/>
                    <a:p>
                      <a:pPr algn="l">
                        <a:defRPr sz="2900">
                          <a:latin typeface="Times New Roman"/>
                          <a:ea typeface="Times New Roman"/>
                          <a:cs typeface="Times New Roman"/>
                          <a:sym typeface="Times New Roman"/>
                        </a:defRPr>
                      </a:pPr>
                      <a:endParaRPr sz="2400"/>
                    </a:p>
                  </a:txBody>
                  <a:tcPr marL="0" marR="0" marT="0" marB="0" horzOverflow="overflow">
                    <a:lnL>
                      <a:solidFill>
                        <a:srgbClr val="497DBA"/>
                      </a:solidFill>
                    </a:lnL>
                    <a:lnR>
                      <a:solidFill>
                        <a:srgbClr val="497DBA"/>
                      </a:solidFill>
                    </a:lnR>
                    <a:lnT>
                      <a:solidFill>
                        <a:srgbClr val="497DBA"/>
                      </a:solidFill>
                    </a:lnT>
                    <a:lnB>
                      <a:solidFill>
                        <a:srgbClr val="497DBA"/>
                      </a:solidFill>
                    </a:lnB>
                  </a:tcPr>
                </a:tc>
                <a:tc>
                  <a:txBody>
                    <a:bodyPr/>
                    <a:lstStyle/>
                    <a:p>
                      <a:pPr algn="l">
                        <a:defRPr sz="2900">
                          <a:latin typeface="Times New Roman"/>
                          <a:ea typeface="Times New Roman"/>
                          <a:cs typeface="Times New Roman"/>
                          <a:sym typeface="Times New Roman"/>
                        </a:defRPr>
                      </a:pPr>
                      <a:endParaRPr sz="2400"/>
                    </a:p>
                  </a:txBody>
                  <a:tcPr marL="0" marR="0" marT="0" marB="0" horzOverflow="overflow">
                    <a:lnL>
                      <a:solidFill>
                        <a:srgbClr val="497DBA"/>
                      </a:solidFill>
                    </a:lnL>
                    <a:lnR>
                      <a:solidFill>
                        <a:srgbClr val="497DBA"/>
                      </a:solidFill>
                    </a:lnR>
                    <a:lnT>
                      <a:solidFill>
                        <a:srgbClr val="497DBA"/>
                      </a:solidFill>
                    </a:lnT>
                    <a:lnB>
                      <a:solidFill>
                        <a:srgbClr val="497DBA"/>
                      </a:solidFill>
                    </a:lnB>
                  </a:tcPr>
                </a:tc>
                <a:tc>
                  <a:txBody>
                    <a:bodyPr/>
                    <a:lstStyle/>
                    <a:p>
                      <a:pPr algn="l">
                        <a:spcBef>
                          <a:spcPts val="2000"/>
                        </a:spcBef>
                      </a:pPr>
                      <a:r>
                        <a:rPr sz="2200"/>
                        <a:t>*</a:t>
                      </a:r>
                    </a:p>
                  </a:txBody>
                  <a:tcPr marL="0" marR="0" marT="0" marB="0" horzOverflow="overflow">
                    <a:lnL>
                      <a:solidFill>
                        <a:srgbClr val="497DBA"/>
                      </a:solidFill>
                    </a:lnL>
                    <a:lnR>
                      <a:solidFill>
                        <a:srgbClr val="497DBA"/>
                      </a:solidFill>
                    </a:lnR>
                    <a:lnT>
                      <a:solidFill>
                        <a:srgbClr val="497DBA"/>
                      </a:solidFill>
                    </a:lnT>
                    <a:lnB>
                      <a:solidFill>
                        <a:srgbClr val="497DBA"/>
                      </a:solidFill>
                    </a:lnB>
                  </a:tcPr>
                </a:tc>
                <a:tc>
                  <a:txBody>
                    <a:bodyPr/>
                    <a:lstStyle/>
                    <a:p>
                      <a:pPr algn="l">
                        <a:defRPr sz="2900">
                          <a:latin typeface="Times New Roman"/>
                          <a:ea typeface="Times New Roman"/>
                          <a:cs typeface="Times New Roman"/>
                          <a:sym typeface="Times New Roman"/>
                        </a:defRPr>
                      </a:pPr>
                      <a:endParaRPr sz="2400"/>
                    </a:p>
                  </a:txBody>
                  <a:tcPr marL="0" marR="0" marT="0" marB="0" horzOverflow="overflow">
                    <a:lnL>
                      <a:solidFill>
                        <a:srgbClr val="497DBA"/>
                      </a:solidFill>
                    </a:lnL>
                    <a:lnR>
                      <a:solidFill>
                        <a:srgbClr val="497DBA"/>
                      </a:solidFill>
                    </a:lnR>
                    <a:lnT>
                      <a:solidFill>
                        <a:srgbClr val="497DBA"/>
                      </a:solidFill>
                    </a:lnT>
                    <a:lnB>
                      <a:solidFill>
                        <a:srgbClr val="497DBA"/>
                      </a:solidFill>
                    </a:lnB>
                  </a:tcPr>
                </a:tc>
                <a:extLst>
                  <a:ext uri="{0D108BD9-81ED-4DB2-BD59-A6C34878D82A}">
                    <a16:rowId xmlns:a16="http://schemas.microsoft.com/office/drawing/2014/main" val="10001"/>
                  </a:ext>
                </a:extLst>
              </a:tr>
              <a:tr h="635000">
                <a:tc>
                  <a:txBody>
                    <a:bodyPr/>
                    <a:lstStyle/>
                    <a:p>
                      <a:pPr algn="l">
                        <a:spcBef>
                          <a:spcPts val="2200"/>
                        </a:spcBef>
                      </a:pPr>
                      <a:r>
                        <a:rPr sz="2200"/>
                        <a:t>*</a:t>
                      </a:r>
                    </a:p>
                  </a:txBody>
                  <a:tcPr marL="0" marR="0" marT="0" marB="0" horzOverflow="overflow">
                    <a:lnL>
                      <a:solidFill>
                        <a:srgbClr val="497DBA"/>
                      </a:solidFill>
                    </a:lnL>
                    <a:lnR>
                      <a:solidFill>
                        <a:srgbClr val="497DBA"/>
                      </a:solidFill>
                    </a:lnR>
                    <a:lnT>
                      <a:solidFill>
                        <a:srgbClr val="497DBA"/>
                      </a:solidFill>
                    </a:lnT>
                    <a:lnB>
                      <a:solidFill>
                        <a:srgbClr val="497DBA"/>
                      </a:solidFill>
                    </a:lnB>
                  </a:tcPr>
                </a:tc>
                <a:tc>
                  <a:txBody>
                    <a:bodyPr/>
                    <a:lstStyle/>
                    <a:p>
                      <a:pPr algn="l">
                        <a:defRPr sz="2900">
                          <a:latin typeface="Times New Roman"/>
                          <a:ea typeface="Times New Roman"/>
                          <a:cs typeface="Times New Roman"/>
                          <a:sym typeface="Times New Roman"/>
                        </a:defRPr>
                      </a:pPr>
                      <a:endParaRPr sz="2400"/>
                    </a:p>
                  </a:txBody>
                  <a:tcPr marL="0" marR="0" marT="0" marB="0" horzOverflow="overflow">
                    <a:lnL>
                      <a:solidFill>
                        <a:srgbClr val="497DBA"/>
                      </a:solidFill>
                    </a:lnL>
                    <a:lnR>
                      <a:solidFill>
                        <a:srgbClr val="497DBA"/>
                      </a:solidFill>
                    </a:lnR>
                    <a:lnT>
                      <a:solidFill>
                        <a:srgbClr val="497DBA"/>
                      </a:solidFill>
                    </a:lnT>
                    <a:lnB>
                      <a:solidFill>
                        <a:srgbClr val="497DBA"/>
                      </a:solidFill>
                    </a:lnB>
                  </a:tcPr>
                </a:tc>
                <a:tc>
                  <a:txBody>
                    <a:bodyPr/>
                    <a:lstStyle/>
                    <a:p>
                      <a:pPr marR="8254" algn="ctr">
                        <a:spcBef>
                          <a:spcPts val="2200"/>
                        </a:spcBef>
                      </a:pPr>
                      <a:r>
                        <a:rPr sz="2200"/>
                        <a:t>*</a:t>
                      </a:r>
                    </a:p>
                  </a:txBody>
                  <a:tcPr marL="0" marR="0" marT="0" marB="0" horzOverflow="overflow">
                    <a:lnL>
                      <a:solidFill>
                        <a:srgbClr val="497DBA"/>
                      </a:solidFill>
                    </a:lnL>
                    <a:lnR>
                      <a:solidFill>
                        <a:srgbClr val="497DBA"/>
                      </a:solidFill>
                    </a:lnR>
                    <a:lnT>
                      <a:solidFill>
                        <a:srgbClr val="497DBA"/>
                      </a:solidFill>
                    </a:lnT>
                    <a:lnB>
                      <a:solidFill>
                        <a:srgbClr val="497DBA"/>
                      </a:solidFill>
                    </a:lnB>
                  </a:tcPr>
                </a:tc>
                <a:tc>
                  <a:txBody>
                    <a:bodyPr/>
                    <a:lstStyle/>
                    <a:p>
                      <a:pPr algn="l">
                        <a:defRPr sz="2900">
                          <a:latin typeface="Times New Roman"/>
                          <a:ea typeface="Times New Roman"/>
                          <a:cs typeface="Times New Roman"/>
                          <a:sym typeface="Times New Roman"/>
                        </a:defRPr>
                      </a:pPr>
                      <a:endParaRPr sz="2400"/>
                    </a:p>
                  </a:txBody>
                  <a:tcPr marL="0" marR="0" marT="0" marB="0" horzOverflow="overflow">
                    <a:lnL>
                      <a:solidFill>
                        <a:srgbClr val="497DBA"/>
                      </a:solidFill>
                    </a:lnL>
                    <a:lnR>
                      <a:solidFill>
                        <a:srgbClr val="497DBA"/>
                      </a:solidFill>
                    </a:lnR>
                    <a:lnT>
                      <a:solidFill>
                        <a:srgbClr val="497DBA"/>
                      </a:solidFill>
                    </a:lnT>
                    <a:lnB>
                      <a:solidFill>
                        <a:srgbClr val="497DBA"/>
                      </a:solidFill>
                    </a:lnB>
                  </a:tcPr>
                </a:tc>
                <a:tc>
                  <a:txBody>
                    <a:bodyPr/>
                    <a:lstStyle/>
                    <a:p>
                      <a:pPr algn="l">
                        <a:defRPr sz="2900">
                          <a:latin typeface="Times New Roman"/>
                          <a:ea typeface="Times New Roman"/>
                          <a:cs typeface="Times New Roman"/>
                          <a:sym typeface="Times New Roman"/>
                        </a:defRPr>
                      </a:pPr>
                      <a:endParaRPr sz="2400"/>
                    </a:p>
                  </a:txBody>
                  <a:tcPr marL="0" marR="0" marT="0" marB="0" horzOverflow="overflow">
                    <a:lnL>
                      <a:solidFill>
                        <a:srgbClr val="497DBA"/>
                      </a:solidFill>
                    </a:lnL>
                    <a:lnR>
                      <a:solidFill>
                        <a:srgbClr val="497DBA"/>
                      </a:solidFill>
                    </a:lnR>
                    <a:lnT>
                      <a:solidFill>
                        <a:srgbClr val="497DBA"/>
                      </a:solidFill>
                    </a:lnT>
                    <a:lnB>
                      <a:solidFill>
                        <a:srgbClr val="497DBA"/>
                      </a:solidFill>
                    </a:lnB>
                  </a:tcPr>
                </a:tc>
                <a:extLst>
                  <a:ext uri="{0D108BD9-81ED-4DB2-BD59-A6C34878D82A}">
                    <a16:rowId xmlns:a16="http://schemas.microsoft.com/office/drawing/2014/main" val="10002"/>
                  </a:ext>
                </a:extLst>
              </a:tr>
              <a:tr h="571500">
                <a:tc>
                  <a:txBody>
                    <a:bodyPr/>
                    <a:lstStyle/>
                    <a:p>
                      <a:pPr algn="l">
                        <a:defRPr sz="2100">
                          <a:latin typeface="Times New Roman"/>
                          <a:ea typeface="Times New Roman"/>
                          <a:cs typeface="Times New Roman"/>
                          <a:sym typeface="Times New Roman"/>
                        </a:defRPr>
                      </a:pPr>
                      <a:endParaRPr sz="1800"/>
                    </a:p>
                    <a:p>
                      <a:pPr indent="244475" algn="l">
                        <a:lnSpc>
                          <a:spcPts val="2800"/>
                        </a:lnSpc>
                        <a:defRPr sz="2600"/>
                      </a:pPr>
                      <a:r>
                        <a:rPr sz="2200"/>
                        <a:t>*</a:t>
                      </a:r>
                    </a:p>
                  </a:txBody>
                  <a:tcPr marL="0" marR="0" marT="0" marB="0" horzOverflow="overflow">
                    <a:lnL>
                      <a:solidFill>
                        <a:srgbClr val="497DBA"/>
                      </a:solidFill>
                    </a:lnL>
                    <a:lnR>
                      <a:solidFill>
                        <a:srgbClr val="497DBA"/>
                      </a:solidFill>
                    </a:lnR>
                    <a:lnT>
                      <a:solidFill>
                        <a:srgbClr val="497DBA"/>
                      </a:solidFill>
                    </a:lnT>
                    <a:lnB>
                      <a:solidFill>
                        <a:srgbClr val="497DBA"/>
                      </a:solidFill>
                    </a:lnB>
                  </a:tcPr>
                </a:tc>
                <a:tc>
                  <a:txBody>
                    <a:bodyPr/>
                    <a:lstStyle/>
                    <a:p>
                      <a:pPr algn="l">
                        <a:defRPr sz="2100">
                          <a:latin typeface="Times New Roman"/>
                          <a:ea typeface="Times New Roman"/>
                          <a:cs typeface="Times New Roman"/>
                          <a:sym typeface="Times New Roman"/>
                        </a:defRPr>
                      </a:pPr>
                      <a:endParaRPr sz="1800"/>
                    </a:p>
                    <a:p>
                      <a:pPr indent="539750" algn="l">
                        <a:lnSpc>
                          <a:spcPts val="2800"/>
                        </a:lnSpc>
                        <a:defRPr sz="2600"/>
                      </a:pPr>
                      <a:r>
                        <a:rPr sz="2200"/>
                        <a:t>*</a:t>
                      </a:r>
                    </a:p>
                  </a:txBody>
                  <a:tcPr marL="0" marR="0" marT="0" marB="0" horzOverflow="overflow">
                    <a:lnL>
                      <a:solidFill>
                        <a:srgbClr val="497DBA"/>
                      </a:solidFill>
                    </a:lnL>
                    <a:lnR>
                      <a:solidFill>
                        <a:srgbClr val="497DBA"/>
                      </a:solidFill>
                    </a:lnR>
                    <a:lnT>
                      <a:solidFill>
                        <a:srgbClr val="497DBA"/>
                      </a:solidFill>
                    </a:lnT>
                    <a:lnB>
                      <a:solidFill>
                        <a:srgbClr val="497DBA"/>
                      </a:solidFill>
                    </a:lnB>
                  </a:tcPr>
                </a:tc>
                <a:tc>
                  <a:txBody>
                    <a:bodyPr/>
                    <a:lstStyle/>
                    <a:p>
                      <a:pPr algn="l">
                        <a:defRPr sz="2900">
                          <a:latin typeface="Times New Roman"/>
                          <a:ea typeface="Times New Roman"/>
                          <a:cs typeface="Times New Roman"/>
                          <a:sym typeface="Times New Roman"/>
                        </a:defRPr>
                      </a:pPr>
                      <a:endParaRPr sz="2400"/>
                    </a:p>
                  </a:txBody>
                  <a:tcPr marL="0" marR="0" marT="0" marB="0" horzOverflow="overflow">
                    <a:lnL>
                      <a:solidFill>
                        <a:srgbClr val="497DBA"/>
                      </a:solidFill>
                    </a:lnL>
                    <a:lnR>
                      <a:solidFill>
                        <a:srgbClr val="497DBA"/>
                      </a:solidFill>
                    </a:lnR>
                    <a:lnT>
                      <a:solidFill>
                        <a:srgbClr val="497DBA"/>
                      </a:solidFill>
                    </a:lnT>
                    <a:lnB>
                      <a:solidFill>
                        <a:srgbClr val="497DBA"/>
                      </a:solidFill>
                    </a:lnB>
                  </a:tcPr>
                </a:tc>
                <a:tc>
                  <a:txBody>
                    <a:bodyPr/>
                    <a:lstStyle/>
                    <a:p>
                      <a:pPr algn="l">
                        <a:defRPr sz="2900">
                          <a:latin typeface="Times New Roman"/>
                          <a:ea typeface="Times New Roman"/>
                          <a:cs typeface="Times New Roman"/>
                          <a:sym typeface="Times New Roman"/>
                        </a:defRPr>
                      </a:pPr>
                      <a:endParaRPr sz="2400"/>
                    </a:p>
                  </a:txBody>
                  <a:tcPr marL="0" marR="0" marT="0" marB="0" horzOverflow="overflow">
                    <a:lnL>
                      <a:solidFill>
                        <a:srgbClr val="497DBA"/>
                      </a:solidFill>
                    </a:lnL>
                    <a:lnR>
                      <a:solidFill>
                        <a:srgbClr val="497DBA"/>
                      </a:solidFill>
                    </a:lnR>
                    <a:lnT>
                      <a:solidFill>
                        <a:srgbClr val="497DBA"/>
                      </a:solidFill>
                    </a:lnT>
                    <a:lnB>
                      <a:solidFill>
                        <a:srgbClr val="497DBA"/>
                      </a:solidFill>
                    </a:lnB>
                  </a:tcPr>
                </a:tc>
                <a:tc>
                  <a:txBody>
                    <a:bodyPr/>
                    <a:lstStyle/>
                    <a:p>
                      <a:pPr algn="l">
                        <a:defRPr sz="2900">
                          <a:latin typeface="Times New Roman"/>
                          <a:ea typeface="Times New Roman"/>
                          <a:cs typeface="Times New Roman"/>
                          <a:sym typeface="Times New Roman"/>
                        </a:defRPr>
                      </a:pPr>
                      <a:endParaRPr sz="2400"/>
                    </a:p>
                  </a:txBody>
                  <a:tcPr marL="0" marR="0" marT="0" marB="0" horzOverflow="overflow">
                    <a:lnL>
                      <a:solidFill>
                        <a:srgbClr val="497DBA"/>
                      </a:solidFill>
                    </a:lnL>
                    <a:lnR>
                      <a:solidFill>
                        <a:srgbClr val="497DBA"/>
                      </a:solidFill>
                    </a:lnR>
                    <a:lnT>
                      <a:solidFill>
                        <a:srgbClr val="497DBA"/>
                      </a:solidFill>
                    </a:lnT>
                    <a:lnB>
                      <a:solidFill>
                        <a:srgbClr val="497DBA"/>
                      </a:solidFill>
                    </a:lnB>
                  </a:tcPr>
                </a:tc>
                <a:extLst>
                  <a:ext uri="{0D108BD9-81ED-4DB2-BD59-A6C34878D82A}">
                    <a16:rowId xmlns:a16="http://schemas.microsoft.com/office/drawing/2014/main" val="10003"/>
                  </a:ext>
                </a:extLst>
              </a:tr>
              <a:tr h="626110">
                <a:tc>
                  <a:txBody>
                    <a:bodyPr/>
                    <a:lstStyle/>
                    <a:p>
                      <a:pPr algn="l">
                        <a:defRPr sz="2800">
                          <a:latin typeface="Times New Roman"/>
                          <a:ea typeface="Times New Roman"/>
                          <a:cs typeface="Times New Roman"/>
                          <a:sym typeface="Times New Roman"/>
                        </a:defRPr>
                      </a:pPr>
                      <a:endParaRPr sz="2300"/>
                    </a:p>
                    <a:p>
                      <a:pPr indent="244475" algn="l">
                        <a:lnSpc>
                          <a:spcPts val="2400"/>
                        </a:lnSpc>
                        <a:defRPr sz="2600"/>
                      </a:pPr>
                      <a:r>
                        <a:rPr sz="2200"/>
                        <a:t>*</a:t>
                      </a:r>
                    </a:p>
                  </a:txBody>
                  <a:tcPr marL="0" marR="0" marT="0" marB="0" horzOverflow="overflow">
                    <a:lnL>
                      <a:solidFill>
                        <a:srgbClr val="497DBA"/>
                      </a:solidFill>
                    </a:lnL>
                    <a:lnR>
                      <a:solidFill>
                        <a:srgbClr val="497DBA"/>
                      </a:solidFill>
                    </a:lnR>
                    <a:lnT>
                      <a:solidFill>
                        <a:srgbClr val="497DBA"/>
                      </a:solidFill>
                    </a:lnT>
                    <a:lnB>
                      <a:solidFill>
                        <a:srgbClr val="497DBA"/>
                      </a:solidFill>
                    </a:lnB>
                  </a:tcPr>
                </a:tc>
                <a:tc>
                  <a:txBody>
                    <a:bodyPr/>
                    <a:lstStyle/>
                    <a:p>
                      <a:pPr algn="l">
                        <a:defRPr sz="2900">
                          <a:latin typeface="Times New Roman"/>
                          <a:ea typeface="Times New Roman"/>
                          <a:cs typeface="Times New Roman"/>
                          <a:sym typeface="Times New Roman"/>
                        </a:defRPr>
                      </a:pPr>
                      <a:endParaRPr sz="2400"/>
                    </a:p>
                  </a:txBody>
                  <a:tcPr marL="0" marR="0" marT="0" marB="0" horzOverflow="overflow">
                    <a:lnL>
                      <a:solidFill>
                        <a:srgbClr val="497DBA"/>
                      </a:solidFill>
                    </a:lnL>
                    <a:lnR>
                      <a:solidFill>
                        <a:srgbClr val="497DBA"/>
                      </a:solidFill>
                    </a:lnR>
                    <a:lnT>
                      <a:solidFill>
                        <a:srgbClr val="497DBA"/>
                      </a:solidFill>
                    </a:lnT>
                    <a:lnB>
                      <a:solidFill>
                        <a:srgbClr val="497DBA"/>
                      </a:solidFill>
                    </a:lnB>
                  </a:tcPr>
                </a:tc>
                <a:tc>
                  <a:txBody>
                    <a:bodyPr/>
                    <a:lstStyle/>
                    <a:p>
                      <a:pPr algn="l">
                        <a:defRPr sz="2900">
                          <a:latin typeface="Times New Roman"/>
                          <a:ea typeface="Times New Roman"/>
                          <a:cs typeface="Times New Roman"/>
                          <a:sym typeface="Times New Roman"/>
                        </a:defRPr>
                      </a:pPr>
                      <a:endParaRPr sz="2400"/>
                    </a:p>
                  </a:txBody>
                  <a:tcPr marL="0" marR="0" marT="0" marB="0" horzOverflow="overflow">
                    <a:lnL>
                      <a:solidFill>
                        <a:srgbClr val="497DBA"/>
                      </a:solidFill>
                    </a:lnL>
                    <a:lnR>
                      <a:solidFill>
                        <a:srgbClr val="497DBA"/>
                      </a:solidFill>
                    </a:lnR>
                    <a:lnT>
                      <a:solidFill>
                        <a:srgbClr val="497DBA"/>
                      </a:solidFill>
                    </a:lnT>
                    <a:lnB>
                      <a:solidFill>
                        <a:srgbClr val="497DBA"/>
                      </a:solidFill>
                    </a:lnB>
                  </a:tcPr>
                </a:tc>
                <a:tc>
                  <a:txBody>
                    <a:bodyPr/>
                    <a:lstStyle/>
                    <a:p>
                      <a:pPr algn="l">
                        <a:defRPr sz="2900">
                          <a:latin typeface="Times New Roman"/>
                          <a:ea typeface="Times New Roman"/>
                          <a:cs typeface="Times New Roman"/>
                          <a:sym typeface="Times New Roman"/>
                        </a:defRPr>
                      </a:pPr>
                      <a:endParaRPr sz="2400"/>
                    </a:p>
                  </a:txBody>
                  <a:tcPr marL="0" marR="0" marT="0" marB="0" horzOverflow="overflow">
                    <a:lnL>
                      <a:solidFill>
                        <a:srgbClr val="497DBA"/>
                      </a:solidFill>
                    </a:lnL>
                    <a:lnR>
                      <a:solidFill>
                        <a:srgbClr val="497DBA"/>
                      </a:solidFill>
                    </a:lnR>
                    <a:lnT>
                      <a:solidFill>
                        <a:srgbClr val="497DBA"/>
                      </a:solidFill>
                    </a:lnT>
                    <a:lnB>
                      <a:solidFill>
                        <a:srgbClr val="497DBA"/>
                      </a:solidFill>
                    </a:lnB>
                  </a:tcPr>
                </a:tc>
                <a:tc>
                  <a:txBody>
                    <a:bodyPr/>
                    <a:lstStyle/>
                    <a:p>
                      <a:pPr algn="l">
                        <a:defRPr sz="2900">
                          <a:latin typeface="Times New Roman"/>
                          <a:ea typeface="Times New Roman"/>
                          <a:cs typeface="Times New Roman"/>
                          <a:sym typeface="Times New Roman"/>
                        </a:defRPr>
                      </a:pPr>
                      <a:endParaRPr sz="2400"/>
                    </a:p>
                  </a:txBody>
                  <a:tcPr marL="0" marR="0" marT="0" marB="0" horzOverflow="overflow">
                    <a:lnL>
                      <a:solidFill>
                        <a:srgbClr val="497DBA"/>
                      </a:solidFill>
                    </a:lnL>
                    <a:lnR>
                      <a:solidFill>
                        <a:srgbClr val="497DBA"/>
                      </a:solidFill>
                    </a:lnR>
                    <a:lnT>
                      <a:solidFill>
                        <a:srgbClr val="497DBA"/>
                      </a:solidFill>
                    </a:lnT>
                    <a:lnB>
                      <a:solidFill>
                        <a:srgbClr val="497DBA"/>
                      </a:solidFill>
                    </a:lnB>
                  </a:tcPr>
                </a:tc>
                <a:extLst>
                  <a:ext uri="{0D108BD9-81ED-4DB2-BD59-A6C34878D82A}">
                    <a16:rowId xmlns:a16="http://schemas.microsoft.com/office/drawing/2014/main" val="10004"/>
                  </a:ext>
                </a:extLst>
              </a:tr>
            </a:tbl>
          </a:graphicData>
        </a:graphic>
      </p:graphicFrame>
      <p:sp>
        <p:nvSpPr>
          <p:cNvPr id="367" name="object 11"/>
          <p:cNvSpPr txBox="1"/>
          <p:nvPr/>
        </p:nvSpPr>
        <p:spPr>
          <a:xfrm>
            <a:off x="3812646" y="2574077"/>
            <a:ext cx="160867" cy="29495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83"/>
              </a:spcBef>
              <a:defRPr sz="2600"/>
            </a:pPr>
            <a:r>
              <a:rPr sz="2167"/>
              <a:t>0</a:t>
            </a:r>
          </a:p>
          <a:p>
            <a:pPr>
              <a:defRPr sz="2500"/>
            </a:pPr>
            <a:endParaRPr sz="2083"/>
          </a:p>
          <a:p>
            <a:pPr indent="10583">
              <a:defRPr sz="2600"/>
            </a:pPr>
            <a:r>
              <a:rPr sz="2167"/>
              <a:t>1</a:t>
            </a:r>
          </a:p>
          <a:p>
            <a:pPr>
              <a:defRPr sz="2500"/>
            </a:pPr>
            <a:endParaRPr sz="2083"/>
          </a:p>
          <a:p>
            <a:pPr indent="10583">
              <a:defRPr sz="2600"/>
            </a:pPr>
            <a:r>
              <a:rPr sz="2167"/>
              <a:t>2</a:t>
            </a:r>
          </a:p>
          <a:p>
            <a:pPr>
              <a:defRPr sz="2500"/>
            </a:pPr>
            <a:endParaRPr sz="2083"/>
          </a:p>
          <a:p>
            <a:pPr indent="10583">
              <a:defRPr sz="2600"/>
            </a:pPr>
            <a:r>
              <a:rPr sz="2167"/>
              <a:t>3</a:t>
            </a:r>
          </a:p>
          <a:p>
            <a:pPr>
              <a:defRPr sz="2500"/>
            </a:pPr>
            <a:endParaRPr sz="2083"/>
          </a:p>
          <a:p>
            <a:pPr indent="10583">
              <a:defRPr sz="2600"/>
            </a:pPr>
            <a:r>
              <a:rPr sz="2167"/>
              <a:t>4</a:t>
            </a:r>
          </a:p>
        </p:txBody>
      </p:sp>
      <p:sp>
        <p:nvSpPr>
          <p:cNvPr id="368" name="object 12"/>
          <p:cNvSpPr txBox="1"/>
          <p:nvPr/>
        </p:nvSpPr>
        <p:spPr>
          <a:xfrm>
            <a:off x="5050896" y="1700848"/>
            <a:ext cx="735542" cy="10004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tabLst>
                <a:tab pos="698500" algn="l"/>
              </a:tabLst>
              <a:defRPr sz="2600"/>
            </a:lvl1pPr>
          </a:lstStyle>
          <a:p>
            <a:r>
              <a:rPr sz="2167"/>
              <a:t>1	2</a:t>
            </a:r>
          </a:p>
        </p:txBody>
      </p:sp>
      <p:sp>
        <p:nvSpPr>
          <p:cNvPr id="369" name="object 13"/>
          <p:cNvSpPr txBox="1"/>
          <p:nvPr/>
        </p:nvSpPr>
        <p:spPr>
          <a:xfrm>
            <a:off x="6510787" y="1700848"/>
            <a:ext cx="160868"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3</a:t>
            </a:r>
          </a:p>
        </p:txBody>
      </p:sp>
      <p:sp>
        <p:nvSpPr>
          <p:cNvPr id="370" name="object 14"/>
          <p:cNvSpPr txBox="1"/>
          <p:nvPr/>
        </p:nvSpPr>
        <p:spPr>
          <a:xfrm>
            <a:off x="7458310" y="1700848"/>
            <a:ext cx="160868"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4</a:t>
            </a:r>
          </a:p>
        </p:txBody>
      </p:sp>
      <p:sp>
        <p:nvSpPr>
          <p:cNvPr id="371" name="object 15"/>
          <p:cNvSpPr txBox="1"/>
          <p:nvPr/>
        </p:nvSpPr>
        <p:spPr>
          <a:xfrm>
            <a:off x="8592684" y="1700848"/>
            <a:ext cx="160867"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indent="12700">
              <a:spcBef>
                <a:spcPts val="100"/>
              </a:spcBef>
              <a:defRPr sz="2600"/>
            </a:lvl1pPr>
          </a:lstStyle>
          <a:p>
            <a:r>
              <a:rPr sz="2167"/>
              <a:t>5</a:t>
            </a:r>
          </a:p>
        </p:txBody>
      </p:sp>
    </p:spTree>
    <p:extLst>
      <p:ext uri="{BB962C8B-B14F-4D97-AF65-F5344CB8AC3E}">
        <p14:creationId xmlns:p14="http://schemas.microsoft.com/office/powerpoint/2010/main" val="47810535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374" name="object 3"/>
          <p:cNvSpPr txBox="1"/>
          <p:nvPr/>
        </p:nvSpPr>
        <p:spPr>
          <a:xfrm>
            <a:off x="1665027" y="956994"/>
            <a:ext cx="9198591" cy="26776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indent="10583">
              <a:defRPr sz="1600" spc="-10">
                <a:solidFill>
                  <a:srgbClr val="A9B7C5"/>
                </a:solidFill>
              </a:defRPr>
            </a:pPr>
            <a:r>
              <a:rPr dirty="0"/>
              <a:t>count</a:t>
            </a:r>
            <a:r>
              <a:rPr spc="-4" dirty="0"/>
              <a:t> =</a:t>
            </a:r>
            <a:r>
              <a:rPr spc="-4" dirty="0">
                <a:solidFill>
                  <a:srgbClr val="6896BA"/>
                </a:solidFill>
              </a:rPr>
              <a:t>0</a:t>
            </a:r>
          </a:p>
          <a:p>
            <a:pPr marL="153981" marR="235470" indent="-143928">
              <a:defRPr sz="1600" spc="-15">
                <a:solidFill>
                  <a:srgbClr val="CC7831"/>
                </a:solidFill>
              </a:defRPr>
            </a:pPr>
            <a:r>
              <a:rPr dirty="0"/>
              <a:t>for </a:t>
            </a:r>
            <a:r>
              <a:rPr spc="-4" dirty="0" err="1">
                <a:solidFill>
                  <a:srgbClr val="A9B7C5"/>
                </a:solidFill>
              </a:rPr>
              <a:t>i</a:t>
            </a:r>
            <a:r>
              <a:rPr spc="-4" dirty="0">
                <a:solidFill>
                  <a:srgbClr val="A9B7C5"/>
                </a:solidFill>
              </a:rPr>
              <a:t> </a:t>
            </a:r>
            <a:r>
              <a:rPr spc="-4" dirty="0"/>
              <a:t>in </a:t>
            </a:r>
            <a:r>
              <a:rPr spc="-8" dirty="0">
                <a:solidFill>
                  <a:srgbClr val="8787C5"/>
                </a:solidFill>
              </a:rPr>
              <a:t>range</a:t>
            </a:r>
            <a:r>
              <a:rPr spc="-8" dirty="0">
                <a:solidFill>
                  <a:srgbClr val="A9B7C5"/>
                </a:solidFill>
              </a:rPr>
              <a:t>(</a:t>
            </a:r>
            <a:r>
              <a:rPr spc="-8" dirty="0">
                <a:solidFill>
                  <a:srgbClr val="6896BA"/>
                </a:solidFill>
              </a:rPr>
              <a:t>5</a:t>
            </a:r>
            <a:r>
              <a:rPr spc="-8" dirty="0"/>
              <a:t>,</a:t>
            </a:r>
            <a:r>
              <a:rPr spc="-8" dirty="0">
                <a:solidFill>
                  <a:srgbClr val="6896BA"/>
                </a:solidFill>
              </a:rPr>
              <a:t>0</a:t>
            </a:r>
            <a:r>
              <a:rPr spc="-8" dirty="0"/>
              <a:t>,</a:t>
            </a:r>
            <a:r>
              <a:rPr spc="-8" dirty="0">
                <a:solidFill>
                  <a:srgbClr val="A9B7C5"/>
                </a:solidFill>
              </a:rPr>
              <a:t>-</a:t>
            </a:r>
            <a:r>
              <a:rPr spc="-8" dirty="0">
                <a:solidFill>
                  <a:srgbClr val="6896BA"/>
                </a:solidFill>
              </a:rPr>
              <a:t>1</a:t>
            </a:r>
            <a:r>
              <a:rPr spc="-8" dirty="0">
                <a:solidFill>
                  <a:srgbClr val="A9B7C5"/>
                </a:solidFill>
              </a:rPr>
              <a:t>):  </a:t>
            </a:r>
            <a:r>
              <a:rPr spc="-4" dirty="0">
                <a:solidFill>
                  <a:srgbClr val="A9B7C5"/>
                </a:solidFill>
              </a:rPr>
              <a:t>j=</a:t>
            </a:r>
            <a:r>
              <a:rPr spc="-4" dirty="0">
                <a:solidFill>
                  <a:srgbClr val="6896BA"/>
                </a:solidFill>
              </a:rPr>
              <a:t>1</a:t>
            </a:r>
          </a:p>
          <a:p>
            <a:pPr indent="164035">
              <a:defRPr sz="1600">
                <a:solidFill>
                  <a:srgbClr val="CC7831"/>
                </a:solidFill>
              </a:defRPr>
            </a:pPr>
            <a:r>
              <a:rPr dirty="0"/>
              <a:t>while</a:t>
            </a:r>
            <a:r>
              <a:rPr dirty="0">
                <a:solidFill>
                  <a:srgbClr val="A9B7C5"/>
                </a:solidFill>
              </a:rPr>
              <a:t>(j&lt;=</a:t>
            </a:r>
            <a:r>
              <a:rPr dirty="0" err="1">
                <a:solidFill>
                  <a:srgbClr val="A9B7C5"/>
                </a:solidFill>
              </a:rPr>
              <a:t>i</a:t>
            </a:r>
            <a:r>
              <a:rPr dirty="0">
                <a:solidFill>
                  <a:srgbClr val="A9B7C5"/>
                </a:solidFill>
              </a:rPr>
              <a:t>):</a:t>
            </a:r>
          </a:p>
          <a:p>
            <a:pPr marL="152393" marR="4233" indent="165093">
              <a:defRPr sz="1600" spc="-10">
                <a:solidFill>
                  <a:srgbClr val="CC7831"/>
                </a:solidFill>
              </a:defRPr>
            </a:pPr>
            <a:r>
              <a:rPr dirty="0"/>
              <a:t>if</a:t>
            </a:r>
            <a:r>
              <a:rPr dirty="0">
                <a:solidFill>
                  <a:srgbClr val="A9B7C5"/>
                </a:solidFill>
              </a:rPr>
              <a:t>(count </a:t>
            </a:r>
            <a:r>
              <a:rPr spc="-4" dirty="0">
                <a:solidFill>
                  <a:srgbClr val="A9B7C5"/>
                </a:solidFill>
              </a:rPr>
              <a:t>== </a:t>
            </a:r>
            <a:r>
              <a:rPr dirty="0">
                <a:solidFill>
                  <a:srgbClr val="6896BA"/>
                </a:solidFill>
              </a:rPr>
              <a:t>0</a:t>
            </a:r>
            <a:r>
              <a:rPr dirty="0">
                <a:solidFill>
                  <a:srgbClr val="A9B7C5"/>
                </a:solidFill>
              </a:rPr>
              <a:t>):  </a:t>
            </a:r>
            <a:r>
              <a:rPr dirty="0">
                <a:solidFill>
                  <a:srgbClr val="8787C5"/>
                </a:solidFill>
              </a:rPr>
              <a:t>print</a:t>
            </a:r>
            <a:r>
              <a:rPr dirty="0">
                <a:solidFill>
                  <a:srgbClr val="A9B7C5"/>
                </a:solidFill>
              </a:rPr>
              <a:t>(</a:t>
            </a:r>
            <a:r>
              <a:rPr dirty="0">
                <a:solidFill>
                  <a:srgbClr val="6A8658"/>
                </a:solidFill>
              </a:rPr>
              <a:t>"*"</a:t>
            </a:r>
            <a:r>
              <a:rPr dirty="0"/>
              <a:t>,</a:t>
            </a:r>
            <a:r>
              <a:rPr dirty="0">
                <a:solidFill>
                  <a:srgbClr val="AA4825"/>
                </a:solidFill>
              </a:rPr>
              <a:t>end</a:t>
            </a:r>
            <a:r>
              <a:rPr dirty="0">
                <a:solidFill>
                  <a:srgbClr val="A9B7C5"/>
                </a:solidFill>
              </a:rPr>
              <a:t>=</a:t>
            </a:r>
            <a:r>
              <a:rPr dirty="0">
                <a:solidFill>
                  <a:srgbClr val="6A8658"/>
                </a:solidFill>
              </a:rPr>
              <a:t>""</a:t>
            </a:r>
            <a:r>
              <a:rPr dirty="0">
                <a:solidFill>
                  <a:srgbClr val="A9B7C5"/>
                </a:solidFill>
              </a:rPr>
              <a:t>)  j+=</a:t>
            </a:r>
            <a:r>
              <a:rPr dirty="0">
                <a:solidFill>
                  <a:srgbClr val="6896BA"/>
                </a:solidFill>
              </a:rPr>
              <a:t>1</a:t>
            </a:r>
          </a:p>
          <a:p>
            <a:pPr>
              <a:defRPr sz="1500"/>
            </a:pPr>
            <a:endParaRPr dirty="0">
              <a:solidFill>
                <a:srgbClr val="6896BA"/>
              </a:solidFill>
            </a:endParaRPr>
          </a:p>
          <a:p>
            <a:pPr marL="152393" marR="4233" indent="165093">
              <a:defRPr sz="1600" spc="5">
                <a:solidFill>
                  <a:srgbClr val="CC7831"/>
                </a:solidFill>
              </a:defRPr>
            </a:pPr>
            <a:r>
              <a:rPr dirty="0" err="1"/>
              <a:t>elif</a:t>
            </a:r>
            <a:r>
              <a:rPr dirty="0">
                <a:solidFill>
                  <a:srgbClr val="A9B7C5"/>
                </a:solidFill>
              </a:rPr>
              <a:t>(j </a:t>
            </a:r>
            <a:r>
              <a:rPr spc="-4" dirty="0">
                <a:solidFill>
                  <a:srgbClr val="A9B7C5"/>
                </a:solidFill>
              </a:rPr>
              <a:t>== </a:t>
            </a:r>
            <a:r>
              <a:rPr spc="-4" dirty="0">
                <a:solidFill>
                  <a:srgbClr val="6896BA"/>
                </a:solidFill>
              </a:rPr>
              <a:t>1 </a:t>
            </a:r>
            <a:r>
              <a:rPr spc="-4" dirty="0"/>
              <a:t>or </a:t>
            </a:r>
            <a:r>
              <a:rPr spc="-4" dirty="0">
                <a:solidFill>
                  <a:srgbClr val="A9B7C5"/>
                </a:solidFill>
              </a:rPr>
              <a:t>j== </a:t>
            </a:r>
            <a:r>
              <a:rPr spc="-4" dirty="0" err="1">
                <a:solidFill>
                  <a:srgbClr val="A9B7C5"/>
                </a:solidFill>
              </a:rPr>
              <a:t>i</a:t>
            </a:r>
            <a:r>
              <a:rPr spc="-4" dirty="0">
                <a:solidFill>
                  <a:srgbClr val="A9B7C5"/>
                </a:solidFill>
              </a:rPr>
              <a:t>):  </a:t>
            </a:r>
            <a:r>
              <a:rPr spc="-8" dirty="0">
                <a:solidFill>
                  <a:srgbClr val="8787C5"/>
                </a:solidFill>
              </a:rPr>
              <a:t>p</a:t>
            </a:r>
            <a:r>
              <a:rPr spc="-12" dirty="0">
                <a:solidFill>
                  <a:srgbClr val="8787C5"/>
                </a:solidFill>
              </a:rPr>
              <a:t>r</a:t>
            </a:r>
            <a:r>
              <a:rPr spc="-4" dirty="0">
                <a:solidFill>
                  <a:srgbClr val="8787C5"/>
                </a:solidFill>
              </a:rPr>
              <a:t>i</a:t>
            </a:r>
            <a:r>
              <a:rPr spc="-12" dirty="0">
                <a:solidFill>
                  <a:srgbClr val="8787C5"/>
                </a:solidFill>
              </a:rPr>
              <a:t>n</a:t>
            </a:r>
            <a:r>
              <a:rPr spc="-4" dirty="0">
                <a:solidFill>
                  <a:srgbClr val="8787C5"/>
                </a:solidFill>
              </a:rPr>
              <a:t>t</a:t>
            </a:r>
            <a:r>
              <a:rPr spc="-8" dirty="0">
                <a:solidFill>
                  <a:srgbClr val="A9B7C5"/>
                </a:solidFill>
              </a:rPr>
              <a:t>(</a:t>
            </a:r>
            <a:r>
              <a:rPr spc="-8" dirty="0">
                <a:solidFill>
                  <a:srgbClr val="6A8658"/>
                </a:solidFill>
              </a:rPr>
              <a:t>"*"</a:t>
            </a:r>
            <a:r>
              <a:rPr spc="-8" dirty="0"/>
              <a:t>,</a:t>
            </a:r>
            <a:r>
              <a:rPr spc="-4" dirty="0">
                <a:solidFill>
                  <a:srgbClr val="AA4825"/>
                </a:solidFill>
              </a:rPr>
              <a:t>en</a:t>
            </a:r>
            <a:r>
              <a:rPr spc="-8" dirty="0">
                <a:solidFill>
                  <a:srgbClr val="AA4825"/>
                </a:solidFill>
              </a:rPr>
              <a:t>d</a:t>
            </a:r>
            <a:r>
              <a:rPr spc="-8" dirty="0">
                <a:solidFill>
                  <a:srgbClr val="A9B7C5"/>
                </a:solidFill>
              </a:rPr>
              <a:t>=</a:t>
            </a:r>
            <a:r>
              <a:rPr spc="-8" dirty="0">
                <a:solidFill>
                  <a:srgbClr val="6A8658"/>
                </a:solidFill>
              </a:rPr>
              <a:t>""</a:t>
            </a:r>
            <a:r>
              <a:rPr spc="-4" dirty="0">
                <a:solidFill>
                  <a:srgbClr val="A9B7C5"/>
                </a:solidFill>
              </a:rPr>
              <a:t>)  </a:t>
            </a:r>
            <a:r>
              <a:rPr spc="-8" dirty="0">
                <a:solidFill>
                  <a:srgbClr val="A9B7C5"/>
                </a:solidFill>
              </a:rPr>
              <a:t>j+=</a:t>
            </a:r>
            <a:r>
              <a:rPr spc="-8" dirty="0">
                <a:solidFill>
                  <a:srgbClr val="6896BA"/>
                </a:solidFill>
              </a:rPr>
              <a:t>1</a:t>
            </a:r>
          </a:p>
          <a:p>
            <a:pPr indent="317487">
              <a:defRPr sz="1600" spc="-5">
                <a:solidFill>
                  <a:srgbClr val="CC7831"/>
                </a:solidFill>
              </a:defRPr>
            </a:pPr>
            <a:r>
              <a:rPr dirty="0"/>
              <a:t>else</a:t>
            </a:r>
            <a:r>
              <a:rPr dirty="0">
                <a:solidFill>
                  <a:srgbClr val="A9B7C5"/>
                </a:solidFill>
              </a:rPr>
              <a:t>:</a:t>
            </a:r>
          </a:p>
          <a:p>
            <a:pPr marR="48680" indent="469881">
              <a:defRPr sz="1600" spc="-10">
                <a:solidFill>
                  <a:srgbClr val="8787C5"/>
                </a:solidFill>
              </a:defRPr>
            </a:pPr>
            <a:r>
              <a:rPr dirty="0"/>
              <a:t>print</a:t>
            </a:r>
            <a:r>
              <a:rPr dirty="0">
                <a:solidFill>
                  <a:srgbClr val="A9B7C5"/>
                </a:solidFill>
              </a:rPr>
              <a:t>(</a:t>
            </a:r>
            <a:r>
              <a:rPr dirty="0">
                <a:solidFill>
                  <a:srgbClr val="6A8658"/>
                </a:solidFill>
              </a:rPr>
              <a:t>"</a:t>
            </a:r>
            <a:r>
              <a:rPr spc="-46" dirty="0">
                <a:solidFill>
                  <a:srgbClr val="6A8658"/>
                </a:solidFill>
              </a:rPr>
              <a:t> </a:t>
            </a:r>
            <a:r>
              <a:rPr spc="-4" dirty="0">
                <a:solidFill>
                  <a:srgbClr val="6A8658"/>
                </a:solidFill>
              </a:rPr>
              <a:t>"</a:t>
            </a:r>
            <a:r>
              <a:rPr spc="-4" dirty="0">
                <a:solidFill>
                  <a:srgbClr val="CC7831"/>
                </a:solidFill>
              </a:rPr>
              <a:t>,</a:t>
            </a:r>
            <a:r>
              <a:rPr spc="-4" dirty="0">
                <a:solidFill>
                  <a:srgbClr val="AA4825"/>
                </a:solidFill>
              </a:rPr>
              <a:t>end</a:t>
            </a:r>
            <a:r>
              <a:rPr spc="-4" dirty="0">
                <a:solidFill>
                  <a:srgbClr val="A9B7C5"/>
                </a:solidFill>
              </a:rPr>
              <a:t>=</a:t>
            </a:r>
            <a:r>
              <a:rPr spc="-4" dirty="0">
                <a:solidFill>
                  <a:srgbClr val="6A8658"/>
                </a:solidFill>
              </a:rPr>
              <a:t>""</a:t>
            </a:r>
            <a:r>
              <a:rPr spc="-4" dirty="0">
                <a:solidFill>
                  <a:srgbClr val="A9B7C5"/>
                </a:solidFill>
              </a:rPr>
              <a:t>)  </a:t>
            </a:r>
            <a:r>
              <a:rPr dirty="0">
                <a:solidFill>
                  <a:srgbClr val="A9B7C5"/>
                </a:solidFill>
              </a:rPr>
              <a:t>j+=</a:t>
            </a:r>
            <a:r>
              <a:rPr dirty="0">
                <a:solidFill>
                  <a:srgbClr val="6896BA"/>
                </a:solidFill>
              </a:rPr>
              <a:t>1</a:t>
            </a:r>
          </a:p>
          <a:p>
            <a:pPr>
              <a:defRPr sz="1500"/>
            </a:pPr>
            <a:endParaRPr dirty="0">
              <a:solidFill>
                <a:srgbClr val="6896BA"/>
              </a:solidFill>
            </a:endParaRPr>
          </a:p>
          <a:p>
            <a:pPr indent="164035">
              <a:defRPr sz="1600" spc="-10">
                <a:solidFill>
                  <a:srgbClr val="A9B7C5"/>
                </a:solidFill>
              </a:defRPr>
            </a:pPr>
            <a:r>
              <a:rPr dirty="0"/>
              <a:t>count+=</a:t>
            </a:r>
            <a:r>
              <a:rPr dirty="0">
                <a:solidFill>
                  <a:srgbClr val="6896BA"/>
                </a:solidFill>
              </a:rPr>
              <a:t>1</a:t>
            </a:r>
          </a:p>
          <a:p>
            <a:pPr indent="164035">
              <a:defRPr sz="1600" spc="-10">
                <a:solidFill>
                  <a:srgbClr val="8787C5"/>
                </a:solidFill>
              </a:defRPr>
            </a:pPr>
            <a:r>
              <a:rPr dirty="0"/>
              <a:t>print</a:t>
            </a:r>
            <a:r>
              <a:rPr dirty="0">
                <a:solidFill>
                  <a:srgbClr val="A9B7C5"/>
                </a:solidFill>
              </a:rPr>
              <a:t>()</a:t>
            </a:r>
          </a:p>
        </p:txBody>
      </p:sp>
    </p:spTree>
    <p:extLst>
      <p:ext uri="{BB962C8B-B14F-4D97-AF65-F5344CB8AC3E}">
        <p14:creationId xmlns:p14="http://schemas.microsoft.com/office/powerpoint/2010/main" val="368551508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 name="object 2"/>
          <p:cNvSpPr/>
          <p:nvPr/>
        </p:nvSpPr>
        <p:spPr>
          <a:xfrm>
            <a:off x="494721" y="5839934"/>
            <a:ext cx="568604" cy="562427"/>
          </a:xfrm>
          <a:prstGeom prst="rect">
            <a:avLst/>
          </a:prstGeom>
          <a:blipFill>
            <a:blip r:embed="rId2"/>
            <a:stretch>
              <a:fillRect/>
            </a:stretch>
          </a:blipFill>
          <a:ln w="12700">
            <a:miter lim="400000"/>
          </a:ln>
        </p:spPr>
        <p:txBody>
          <a:bodyPr lIns="38099" rIns="38099"/>
          <a:lstStyle/>
          <a:p>
            <a:endParaRPr sz="1500"/>
          </a:p>
        </p:txBody>
      </p:sp>
      <p:sp>
        <p:nvSpPr>
          <p:cNvPr id="377" name="object 7"/>
          <p:cNvSpPr txBox="1">
            <a:spLocks noGrp="1"/>
          </p:cNvSpPr>
          <p:nvPr>
            <p:ph type="title"/>
          </p:nvPr>
        </p:nvSpPr>
        <p:spPr>
          <a:prstGeom prst="rect">
            <a:avLst/>
          </a:prstGeom>
        </p:spPr>
        <p:txBody>
          <a:bodyPr>
            <a:normAutofit/>
          </a:bodyPr>
          <a:lstStyle>
            <a:lvl1pPr indent="12700">
              <a:defRPr sz="2800" b="1">
                <a:latin typeface="Arial"/>
                <a:ea typeface="Arial"/>
                <a:cs typeface="Arial"/>
                <a:sym typeface="Arial"/>
              </a:defRPr>
            </a:lvl1pPr>
          </a:lstStyle>
          <a:p>
            <a:r>
              <a:t>Control statements</a:t>
            </a:r>
          </a:p>
        </p:txBody>
      </p:sp>
      <p:sp>
        <p:nvSpPr>
          <p:cNvPr id="378" name="Text Placeholder 41"/>
          <p:cNvSpPr txBox="1">
            <a:spLocks noGrp="1"/>
          </p:cNvSpPr>
          <p:nvPr>
            <p:ph idx="1"/>
          </p:nvPr>
        </p:nvSpPr>
        <p:spPr>
          <a:prstGeom prst="rect">
            <a:avLst/>
          </a:prstGeom>
        </p:spPr>
        <p:txBody>
          <a:bodyPr>
            <a:normAutofit/>
          </a:bodyPr>
          <a:lstStyle/>
          <a:p>
            <a:pPr marL="380985" indent="-380985">
              <a:buSzPct val="100000"/>
              <a:buFont typeface="Arial"/>
              <a:buChar char="•"/>
              <a:defRPr sz="2800" b="1"/>
            </a:pPr>
            <a:r>
              <a:t>BREAK</a:t>
            </a:r>
          </a:p>
          <a:p>
            <a:pPr marL="380985" indent="-380985">
              <a:buSzPct val="100000"/>
              <a:buFont typeface="Arial"/>
              <a:buChar char="•"/>
              <a:defRPr sz="2800" b="1" spc="-100"/>
            </a:pPr>
            <a:r>
              <a:t>CONTINUE</a:t>
            </a:r>
          </a:p>
          <a:p>
            <a:pPr marL="380985" indent="-380985">
              <a:buSzPct val="100000"/>
              <a:buFont typeface="Arial"/>
              <a:buChar char="•"/>
              <a:defRPr sz="2800" b="1"/>
            </a:pPr>
            <a:r>
              <a:t> PASS</a:t>
            </a:r>
            <a:r>
              <a:rPr spc="-83"/>
              <a:t> STATEMENTS</a:t>
            </a:r>
          </a:p>
        </p:txBody>
      </p:sp>
    </p:spTree>
    <p:extLst>
      <p:ext uri="{BB962C8B-B14F-4D97-AF65-F5344CB8AC3E}">
        <p14:creationId xmlns:p14="http://schemas.microsoft.com/office/powerpoint/2010/main" val="3965935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 name="object 2"/>
          <p:cNvSpPr/>
          <p:nvPr/>
        </p:nvSpPr>
        <p:spPr>
          <a:xfrm>
            <a:off x="495300" y="5839460"/>
            <a:ext cx="567691" cy="562611"/>
          </a:xfrm>
          <a:prstGeom prst="rect">
            <a:avLst/>
          </a:prstGeom>
          <a:blipFill>
            <a:blip r:embed="rId2"/>
            <a:stretch>
              <a:fillRect/>
            </a:stretch>
          </a:blipFill>
          <a:ln w="12700">
            <a:miter lim="400000"/>
          </a:ln>
        </p:spPr>
        <p:txBody>
          <a:bodyPr lIns="38099" rIns="38099"/>
          <a:lstStyle/>
          <a:p>
            <a:endParaRPr sz="1500"/>
          </a:p>
        </p:txBody>
      </p:sp>
      <p:sp>
        <p:nvSpPr>
          <p:cNvPr id="381" name="object 3"/>
          <p:cNvSpPr txBox="1">
            <a:spLocks noGrp="1"/>
          </p:cNvSpPr>
          <p:nvPr>
            <p:ph type="title"/>
          </p:nvPr>
        </p:nvSpPr>
        <p:spPr>
          <a:xfrm>
            <a:off x="838200" y="365125"/>
            <a:ext cx="10515600" cy="562923"/>
          </a:xfrm>
          <a:prstGeom prst="rect">
            <a:avLst/>
          </a:prstGeom>
        </p:spPr>
        <p:txBody>
          <a:bodyPr>
            <a:normAutofit fontScale="90000"/>
          </a:bodyPr>
          <a:lstStyle>
            <a:lvl1pPr indent="12700">
              <a:spcBef>
                <a:spcPts val="100"/>
              </a:spcBef>
              <a:defRPr sz="3600" b="1" spc="-100">
                <a:latin typeface="Arial"/>
                <a:ea typeface="Arial"/>
                <a:cs typeface="Arial"/>
                <a:sym typeface="Arial"/>
              </a:defRPr>
            </a:lvl1pPr>
          </a:lstStyle>
          <a:p>
            <a:r>
              <a:rPr dirty="0">
                <a:latin typeface="+mj-lt"/>
              </a:rPr>
              <a:t>INTRODUCTION</a:t>
            </a:r>
          </a:p>
        </p:txBody>
      </p:sp>
      <p:sp>
        <p:nvSpPr>
          <p:cNvPr id="382" name="object 4"/>
          <p:cNvSpPr txBox="1"/>
          <p:nvPr/>
        </p:nvSpPr>
        <p:spPr>
          <a:xfrm>
            <a:off x="827615" y="1280857"/>
            <a:ext cx="10800278" cy="32316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marL="10583" marR="46034" algn="just">
              <a:lnSpc>
                <a:spcPct val="150000"/>
              </a:lnSpc>
              <a:buSzPct val="97500"/>
              <a:buFont typeface="Arial"/>
              <a:buChar char="•"/>
              <a:tabLst>
                <a:tab pos="158744" algn="l"/>
              </a:tabLst>
              <a:defRPr sz="4000" spc="-110"/>
            </a:pPr>
            <a:r>
              <a:rPr sz="2800" dirty="0"/>
              <a:t>You </a:t>
            </a:r>
            <a:r>
              <a:rPr sz="2800" spc="-7" dirty="0"/>
              <a:t>might </a:t>
            </a:r>
            <a:r>
              <a:rPr sz="2800" spc="-16" dirty="0"/>
              <a:t>face </a:t>
            </a:r>
            <a:r>
              <a:rPr sz="2800" spc="-3" dirty="0"/>
              <a:t>a </a:t>
            </a:r>
            <a:r>
              <a:rPr sz="2800" spc="-7" dirty="0"/>
              <a:t>situation </a:t>
            </a:r>
            <a:r>
              <a:rPr sz="2800" spc="-3" dirty="0"/>
              <a:t>in </a:t>
            </a:r>
            <a:r>
              <a:rPr sz="2800" spc="-7" dirty="0"/>
              <a:t>which </a:t>
            </a:r>
            <a:r>
              <a:rPr sz="2800" spc="-21" dirty="0"/>
              <a:t>you </a:t>
            </a:r>
            <a:r>
              <a:rPr sz="2800" spc="-3" dirty="0"/>
              <a:t>need </a:t>
            </a:r>
            <a:r>
              <a:rPr sz="2800" spc="-16" dirty="0"/>
              <a:t>to </a:t>
            </a:r>
            <a:r>
              <a:rPr sz="2800" spc="-21" dirty="0"/>
              <a:t>exit </a:t>
            </a:r>
            <a:r>
              <a:rPr sz="2800" spc="-3" dirty="0"/>
              <a:t>a  loop </a:t>
            </a:r>
            <a:r>
              <a:rPr sz="2800" spc="-12" dirty="0"/>
              <a:t>completely </a:t>
            </a:r>
            <a:r>
              <a:rPr sz="2800" spc="-3" dirty="0"/>
              <a:t>when an </a:t>
            </a:r>
            <a:r>
              <a:rPr sz="2800" spc="-12" dirty="0"/>
              <a:t>external </a:t>
            </a:r>
            <a:r>
              <a:rPr sz="2800" spc="-7" dirty="0"/>
              <a:t>condition is  triggered </a:t>
            </a:r>
            <a:r>
              <a:rPr sz="2800" spc="-3" dirty="0"/>
              <a:t>or </a:t>
            </a:r>
            <a:r>
              <a:rPr sz="2800" spc="-7" dirty="0"/>
              <a:t>there </a:t>
            </a:r>
            <a:r>
              <a:rPr sz="2800" spc="-25" dirty="0"/>
              <a:t>may </a:t>
            </a:r>
            <a:r>
              <a:rPr sz="2800" spc="-3" dirty="0"/>
              <a:t>also be a </a:t>
            </a:r>
            <a:r>
              <a:rPr sz="2800" spc="-7" dirty="0"/>
              <a:t>situation </a:t>
            </a:r>
            <a:r>
              <a:rPr sz="2800" spc="-3" dirty="0"/>
              <a:t>when </a:t>
            </a:r>
            <a:r>
              <a:rPr sz="2800" spc="-21" dirty="0"/>
              <a:t>you  want </a:t>
            </a:r>
            <a:r>
              <a:rPr sz="2800" spc="-16" dirty="0"/>
              <a:t>to </a:t>
            </a:r>
            <a:r>
              <a:rPr sz="2800" spc="-7" dirty="0"/>
              <a:t>skip </a:t>
            </a:r>
            <a:r>
              <a:rPr sz="2800" spc="-3" dirty="0"/>
              <a:t>a </a:t>
            </a:r>
            <a:r>
              <a:rPr sz="2800" spc="-7" dirty="0"/>
              <a:t>part </a:t>
            </a:r>
            <a:r>
              <a:rPr sz="2800" dirty="0"/>
              <a:t>of </a:t>
            </a:r>
            <a:r>
              <a:rPr sz="2800" spc="-3" dirty="0"/>
              <a:t>the loop and </a:t>
            </a:r>
            <a:r>
              <a:rPr sz="2800" spc="-16" dirty="0"/>
              <a:t>start </a:t>
            </a:r>
            <a:r>
              <a:rPr sz="2800" spc="-21" dirty="0"/>
              <a:t>next  </a:t>
            </a:r>
            <a:r>
              <a:rPr sz="2800" spc="-16" dirty="0"/>
              <a:t>execution.</a:t>
            </a:r>
          </a:p>
          <a:p>
            <a:pPr marL="10583" marR="4233" algn="just">
              <a:lnSpc>
                <a:spcPct val="150000"/>
              </a:lnSpc>
              <a:buSzPct val="97500"/>
              <a:buFont typeface="Arial"/>
              <a:buChar char="•"/>
              <a:tabLst>
                <a:tab pos="158744" algn="l"/>
              </a:tabLst>
              <a:defRPr sz="4000" spc="4"/>
            </a:pPr>
            <a:r>
              <a:rPr sz="2800" dirty="0"/>
              <a:t>Python </a:t>
            </a:r>
            <a:r>
              <a:rPr sz="2800" spc="-12" dirty="0"/>
              <a:t>provides </a:t>
            </a:r>
            <a:r>
              <a:rPr sz="2800" b="1" spc="-12" dirty="0"/>
              <a:t>break </a:t>
            </a:r>
            <a:r>
              <a:rPr sz="2800" b="1" spc="-7" dirty="0"/>
              <a:t>continue </a:t>
            </a:r>
            <a:r>
              <a:rPr sz="2800" spc="-3" dirty="0"/>
              <a:t>and </a:t>
            </a:r>
            <a:r>
              <a:rPr sz="2800" b="1" spc="-3" dirty="0"/>
              <a:t>pass </a:t>
            </a:r>
            <a:r>
              <a:rPr sz="2800" spc="-21" dirty="0"/>
              <a:t>statements  </a:t>
            </a:r>
            <a:r>
              <a:rPr sz="2800" spc="-16" dirty="0"/>
              <a:t>to </a:t>
            </a:r>
            <a:r>
              <a:rPr sz="2800" spc="-7" dirty="0"/>
              <a:t>handle such situations </a:t>
            </a:r>
            <a:r>
              <a:rPr sz="2800" spc="-3" dirty="0"/>
              <a:t>and </a:t>
            </a:r>
            <a:r>
              <a:rPr sz="2800" spc="-16" dirty="0"/>
              <a:t>to </a:t>
            </a:r>
            <a:r>
              <a:rPr sz="2800" spc="-29" dirty="0"/>
              <a:t>have </a:t>
            </a:r>
            <a:r>
              <a:rPr sz="2800" spc="-7" dirty="0"/>
              <a:t>good </a:t>
            </a:r>
            <a:r>
              <a:rPr sz="2800" spc="-21" dirty="0"/>
              <a:t>control </a:t>
            </a:r>
            <a:r>
              <a:rPr sz="2800" spc="-7" dirty="0"/>
              <a:t>on  </a:t>
            </a:r>
            <a:r>
              <a:rPr sz="2800" spc="-16" dirty="0"/>
              <a:t>your</a:t>
            </a:r>
            <a:r>
              <a:rPr sz="2800" dirty="0"/>
              <a:t> </a:t>
            </a:r>
            <a:r>
              <a:rPr sz="2800" spc="-3" dirty="0"/>
              <a:t>loop..</a:t>
            </a:r>
          </a:p>
        </p:txBody>
      </p:sp>
    </p:spTree>
    <p:extLst>
      <p:ext uri="{BB962C8B-B14F-4D97-AF65-F5344CB8AC3E}">
        <p14:creationId xmlns:p14="http://schemas.microsoft.com/office/powerpoint/2010/main" val="147963134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 name="object 2"/>
          <p:cNvSpPr/>
          <p:nvPr/>
        </p:nvSpPr>
        <p:spPr>
          <a:xfrm>
            <a:off x="495300" y="5839460"/>
            <a:ext cx="567691" cy="562611"/>
          </a:xfrm>
          <a:prstGeom prst="rect">
            <a:avLst/>
          </a:prstGeom>
          <a:blipFill>
            <a:blip r:embed="rId2"/>
            <a:stretch>
              <a:fillRect/>
            </a:stretch>
          </a:blipFill>
          <a:ln w="12700">
            <a:miter lim="400000"/>
          </a:ln>
        </p:spPr>
        <p:txBody>
          <a:bodyPr lIns="38099" rIns="38099"/>
          <a:lstStyle/>
          <a:p>
            <a:endParaRPr sz="1500"/>
          </a:p>
        </p:txBody>
      </p:sp>
      <p:sp>
        <p:nvSpPr>
          <p:cNvPr id="385" name="object 3"/>
          <p:cNvSpPr txBox="1">
            <a:spLocks noGrp="1"/>
          </p:cNvSpPr>
          <p:nvPr>
            <p:ph type="title"/>
          </p:nvPr>
        </p:nvSpPr>
        <p:spPr>
          <a:prstGeom prst="rect">
            <a:avLst/>
          </a:prstGeom>
        </p:spPr>
        <p:txBody>
          <a:bodyPr>
            <a:normAutofit/>
          </a:bodyPr>
          <a:lstStyle/>
          <a:p>
            <a:pPr indent="10583">
              <a:spcBef>
                <a:spcPts val="83"/>
              </a:spcBef>
              <a:defRPr sz="3600" b="1" spc="-100">
                <a:solidFill>
                  <a:srgbClr val="252525"/>
                </a:solidFill>
                <a:latin typeface="+mn-lt"/>
                <a:ea typeface="+mn-ea"/>
                <a:cs typeface="+mn-cs"/>
                <a:sym typeface="Calibri"/>
              </a:defRPr>
            </a:pPr>
            <a:r>
              <a:t>The </a:t>
            </a:r>
            <a:r>
              <a:rPr i="1"/>
              <a:t>break</a:t>
            </a:r>
            <a:r>
              <a:rPr i="1" spc="-167"/>
              <a:t> </a:t>
            </a:r>
            <a:r>
              <a:t>Statement</a:t>
            </a:r>
          </a:p>
        </p:txBody>
      </p:sp>
      <p:sp>
        <p:nvSpPr>
          <p:cNvPr id="386" name="object 4"/>
          <p:cNvSpPr txBox="1"/>
          <p:nvPr/>
        </p:nvSpPr>
        <p:spPr>
          <a:xfrm>
            <a:off x="1011765" y="2153179"/>
            <a:ext cx="9961035" cy="184665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R="4233" indent="10583">
              <a:spcBef>
                <a:spcPts val="83"/>
              </a:spcBef>
              <a:defRPr sz="3600" spc="-5">
                <a:solidFill>
                  <a:srgbClr val="252525"/>
                </a:solidFill>
              </a:defRPr>
            </a:pPr>
            <a:r>
              <a:rPr sz="3000"/>
              <a:t>The break statement takes care of terminating the loop in</a:t>
            </a:r>
            <a:r>
              <a:rPr sz="3000" spc="-116"/>
              <a:t> </a:t>
            </a:r>
            <a:r>
              <a:rPr sz="3000" spc="-8"/>
              <a:t>which  </a:t>
            </a:r>
            <a:r>
              <a:rPr sz="3000"/>
              <a:t>it is used. If the break statement is used inside nested loops, </a:t>
            </a:r>
            <a:r>
              <a:rPr sz="3000" spc="-8"/>
              <a:t>the  </a:t>
            </a:r>
            <a:r>
              <a:rPr sz="3000"/>
              <a:t>current loop is terminated, and the flow will continue with the  code followed that comes after the</a:t>
            </a:r>
            <a:r>
              <a:rPr sz="3000" spc="-57"/>
              <a:t> </a:t>
            </a:r>
            <a:r>
              <a:rPr sz="3000"/>
              <a:t>loop.</a:t>
            </a:r>
          </a:p>
        </p:txBody>
      </p:sp>
    </p:spTree>
    <p:extLst>
      <p:ext uri="{BB962C8B-B14F-4D97-AF65-F5344CB8AC3E}">
        <p14:creationId xmlns:p14="http://schemas.microsoft.com/office/powerpoint/2010/main" val="50940762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object 2"/>
          <p:cNvSpPr/>
          <p:nvPr/>
        </p:nvSpPr>
        <p:spPr>
          <a:xfrm>
            <a:off x="495300" y="5839460"/>
            <a:ext cx="567691" cy="562611"/>
          </a:xfrm>
          <a:prstGeom prst="rect">
            <a:avLst/>
          </a:prstGeom>
          <a:blipFill>
            <a:blip r:embed="rId2"/>
            <a:stretch>
              <a:fillRect/>
            </a:stretch>
          </a:blipFill>
          <a:ln w="12700">
            <a:miter lim="400000"/>
          </a:ln>
        </p:spPr>
        <p:txBody>
          <a:bodyPr lIns="38099" rIns="38099"/>
          <a:lstStyle/>
          <a:p>
            <a:endParaRPr sz="1500"/>
          </a:p>
        </p:txBody>
      </p:sp>
      <p:sp>
        <p:nvSpPr>
          <p:cNvPr id="389" name="object 3"/>
          <p:cNvSpPr txBox="1">
            <a:spLocks noGrp="1"/>
          </p:cNvSpPr>
          <p:nvPr>
            <p:ph type="title"/>
          </p:nvPr>
        </p:nvSpPr>
        <p:spPr>
          <a:xfrm>
            <a:off x="838200" y="365126"/>
            <a:ext cx="10515600" cy="617514"/>
          </a:xfrm>
          <a:prstGeom prst="rect">
            <a:avLst/>
          </a:prstGeom>
        </p:spPr>
        <p:txBody>
          <a:bodyPr>
            <a:normAutofit fontScale="90000"/>
          </a:bodyPr>
          <a:lstStyle/>
          <a:p>
            <a:pPr indent="10583">
              <a:defRPr sz="4000" spc="-100">
                <a:latin typeface="+mn-lt"/>
                <a:ea typeface="+mn-ea"/>
                <a:cs typeface="+mn-cs"/>
                <a:sym typeface="Calibri"/>
              </a:defRPr>
            </a:pPr>
            <a:r>
              <a:rPr dirty="0"/>
              <a:t>The flow chart for the break statement is as follows:</a:t>
            </a:r>
          </a:p>
        </p:txBody>
      </p:sp>
      <p:sp>
        <p:nvSpPr>
          <p:cNvPr id="390" name="object 4"/>
          <p:cNvSpPr/>
          <p:nvPr/>
        </p:nvSpPr>
        <p:spPr>
          <a:xfrm>
            <a:off x="3767612" y="1352103"/>
            <a:ext cx="5622048" cy="5212470"/>
          </a:xfrm>
          <a:prstGeom prst="rect">
            <a:avLst/>
          </a:prstGeom>
          <a:blipFill>
            <a:blip r:embed="rId3"/>
            <a:stretch>
              <a:fillRect/>
            </a:stretch>
          </a:blipFill>
          <a:ln w="12700">
            <a:miter lim="400000"/>
          </a:ln>
        </p:spPr>
        <p:txBody>
          <a:bodyPr lIns="38099" rIns="38099"/>
          <a:lstStyle/>
          <a:p>
            <a:endParaRPr sz="1500"/>
          </a:p>
        </p:txBody>
      </p:sp>
    </p:spTree>
    <p:extLst>
      <p:ext uri="{BB962C8B-B14F-4D97-AF65-F5344CB8AC3E}">
        <p14:creationId xmlns:p14="http://schemas.microsoft.com/office/powerpoint/2010/main" val="81366224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object 2"/>
          <p:cNvSpPr/>
          <p:nvPr/>
        </p:nvSpPr>
        <p:spPr>
          <a:xfrm>
            <a:off x="495300" y="5839460"/>
            <a:ext cx="567691" cy="562611"/>
          </a:xfrm>
          <a:prstGeom prst="rect">
            <a:avLst/>
          </a:prstGeom>
          <a:blipFill>
            <a:blip r:embed="rId2"/>
            <a:stretch>
              <a:fillRect/>
            </a:stretch>
          </a:blipFill>
          <a:ln w="12700">
            <a:miter lim="400000"/>
          </a:ln>
        </p:spPr>
        <p:txBody>
          <a:bodyPr lIns="38099" rIns="38099"/>
          <a:lstStyle/>
          <a:p>
            <a:endParaRPr sz="1500"/>
          </a:p>
        </p:txBody>
      </p:sp>
      <p:sp>
        <p:nvSpPr>
          <p:cNvPr id="393" name="object 3"/>
          <p:cNvSpPr txBox="1">
            <a:spLocks noGrp="1"/>
          </p:cNvSpPr>
          <p:nvPr>
            <p:ph type="title"/>
          </p:nvPr>
        </p:nvSpPr>
        <p:spPr>
          <a:prstGeom prst="rect">
            <a:avLst/>
          </a:prstGeom>
        </p:spPr>
        <p:txBody>
          <a:bodyPr>
            <a:normAutofit/>
          </a:bodyPr>
          <a:lstStyle/>
          <a:p>
            <a:pPr indent="10583">
              <a:spcBef>
                <a:spcPts val="83"/>
              </a:spcBef>
              <a:defRPr sz="3600" spc="-100">
                <a:latin typeface="+mn-lt"/>
                <a:ea typeface="+mn-ea"/>
                <a:cs typeface="+mn-cs"/>
                <a:sym typeface="Calibri"/>
              </a:defRPr>
            </a:pPr>
            <a:r>
              <a:t>The following are the steps involved in the flowchart.</a:t>
            </a:r>
          </a:p>
        </p:txBody>
      </p:sp>
      <p:sp>
        <p:nvSpPr>
          <p:cNvPr id="394" name="object 4"/>
          <p:cNvSpPr txBox="1"/>
          <p:nvPr/>
        </p:nvSpPr>
        <p:spPr>
          <a:xfrm>
            <a:off x="1030287" y="1252014"/>
            <a:ext cx="10131425" cy="50261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defRPr sz="2800" b="1" spc="-15"/>
            </a:pPr>
            <a:r>
              <a:rPr sz="2333" dirty="0"/>
              <a:t>Step</a:t>
            </a:r>
            <a:r>
              <a:rPr sz="2333" spc="8" dirty="0"/>
              <a:t> </a:t>
            </a:r>
            <a:r>
              <a:rPr sz="2333" spc="-4" dirty="0"/>
              <a:t>1)</a:t>
            </a:r>
          </a:p>
          <a:p>
            <a:pPr indent="10583">
              <a:defRPr sz="2800" spc="-10"/>
            </a:pPr>
            <a:r>
              <a:rPr sz="2333" dirty="0"/>
              <a:t>The </a:t>
            </a:r>
            <a:r>
              <a:rPr sz="2333" spc="-4" dirty="0"/>
              <a:t>loop </a:t>
            </a:r>
            <a:r>
              <a:rPr sz="2333" spc="-17" dirty="0"/>
              <a:t>execution</a:t>
            </a:r>
            <a:r>
              <a:rPr sz="2333" spc="29" dirty="0"/>
              <a:t> </a:t>
            </a:r>
            <a:r>
              <a:rPr sz="2333" spc="-12" dirty="0"/>
              <a:t>starts.</a:t>
            </a:r>
          </a:p>
          <a:p>
            <a:pPr indent="10583">
              <a:defRPr sz="2800" b="1" spc="-15"/>
            </a:pPr>
            <a:r>
              <a:rPr sz="2333" dirty="0"/>
              <a:t>Step</a:t>
            </a:r>
            <a:r>
              <a:rPr sz="2333" spc="8" dirty="0"/>
              <a:t> </a:t>
            </a:r>
            <a:r>
              <a:rPr sz="2333" spc="-4" dirty="0"/>
              <a:t>2)</a:t>
            </a:r>
          </a:p>
          <a:p>
            <a:pPr marR="123290" indent="10583">
              <a:defRPr sz="2800" spc="-5"/>
            </a:pPr>
            <a:r>
              <a:rPr sz="2333" dirty="0"/>
              <a:t>If </a:t>
            </a:r>
            <a:r>
              <a:rPr sz="2333" spc="-8" dirty="0"/>
              <a:t>the </a:t>
            </a:r>
            <a:r>
              <a:rPr sz="2333" dirty="0"/>
              <a:t>loop </a:t>
            </a:r>
            <a:r>
              <a:rPr sz="2333" spc="-8" dirty="0"/>
              <a:t>condition </a:t>
            </a:r>
            <a:r>
              <a:rPr sz="2333" dirty="0"/>
              <a:t>is true, it </a:t>
            </a:r>
            <a:r>
              <a:rPr sz="2333" spc="-8" dirty="0"/>
              <a:t>will </a:t>
            </a:r>
            <a:r>
              <a:rPr sz="2333" spc="-21" dirty="0"/>
              <a:t>execute </a:t>
            </a:r>
            <a:r>
              <a:rPr sz="2333" spc="-17" dirty="0"/>
              <a:t>step </a:t>
            </a:r>
            <a:r>
              <a:rPr sz="2333" dirty="0"/>
              <a:t>2, </a:t>
            </a:r>
            <a:r>
              <a:rPr sz="2333" spc="-8" dirty="0"/>
              <a:t>wherein </a:t>
            </a:r>
            <a:r>
              <a:rPr sz="2333" dirty="0"/>
              <a:t>the </a:t>
            </a:r>
            <a:r>
              <a:rPr sz="2333" spc="-8" dirty="0"/>
              <a:t>body </a:t>
            </a:r>
            <a:r>
              <a:rPr sz="2333" dirty="0"/>
              <a:t>of the loop will  </a:t>
            </a:r>
            <a:r>
              <a:rPr sz="2333" spc="-12" dirty="0"/>
              <a:t>get </a:t>
            </a:r>
            <a:r>
              <a:rPr sz="2333" spc="-17" dirty="0"/>
              <a:t>executed.</a:t>
            </a:r>
          </a:p>
          <a:p>
            <a:pPr indent="10583">
              <a:defRPr sz="2800" b="1" spc="-15"/>
            </a:pPr>
            <a:r>
              <a:rPr sz="2333" dirty="0"/>
              <a:t>Step</a:t>
            </a:r>
            <a:r>
              <a:rPr sz="2333" spc="8" dirty="0"/>
              <a:t> </a:t>
            </a:r>
            <a:r>
              <a:rPr sz="2333" spc="-4" dirty="0"/>
              <a:t>3)</a:t>
            </a:r>
          </a:p>
          <a:p>
            <a:pPr indent="10583">
              <a:defRPr sz="2800" spc="-5"/>
            </a:pPr>
            <a:r>
              <a:rPr sz="2333" dirty="0"/>
              <a:t>If </a:t>
            </a:r>
            <a:r>
              <a:rPr sz="2333" spc="-8" dirty="0"/>
              <a:t>the </a:t>
            </a:r>
            <a:r>
              <a:rPr sz="2333" dirty="0"/>
              <a:t>loop's </a:t>
            </a:r>
            <a:r>
              <a:rPr sz="2333" spc="-8" dirty="0"/>
              <a:t>body has </a:t>
            </a:r>
            <a:r>
              <a:rPr sz="2333" dirty="0"/>
              <a:t>a </a:t>
            </a:r>
            <a:r>
              <a:rPr sz="2333" spc="-12" dirty="0"/>
              <a:t>break </a:t>
            </a:r>
            <a:r>
              <a:rPr sz="2333" spc="-17" dirty="0"/>
              <a:t>statement, </a:t>
            </a:r>
            <a:r>
              <a:rPr sz="2333" dirty="0"/>
              <a:t>the loop will </a:t>
            </a:r>
            <a:r>
              <a:rPr sz="2333" spc="-17" dirty="0"/>
              <a:t>exit </a:t>
            </a:r>
            <a:r>
              <a:rPr sz="2333" dirty="0"/>
              <a:t>and </a:t>
            </a:r>
            <a:r>
              <a:rPr sz="2333" spc="-12" dirty="0"/>
              <a:t>go to </a:t>
            </a:r>
            <a:r>
              <a:rPr sz="2333" spc="-8" dirty="0"/>
              <a:t>Step</a:t>
            </a:r>
            <a:r>
              <a:rPr sz="2333" spc="221" dirty="0"/>
              <a:t> </a:t>
            </a:r>
            <a:r>
              <a:rPr sz="2333" dirty="0"/>
              <a:t>6.</a:t>
            </a:r>
          </a:p>
          <a:p>
            <a:pPr indent="10583">
              <a:defRPr sz="2800" b="1" spc="-15"/>
            </a:pPr>
            <a:r>
              <a:rPr sz="2333" dirty="0"/>
              <a:t>Step</a:t>
            </a:r>
            <a:r>
              <a:rPr sz="2333" spc="8" dirty="0"/>
              <a:t> </a:t>
            </a:r>
            <a:r>
              <a:rPr sz="2333" spc="-4" dirty="0"/>
              <a:t>4)</a:t>
            </a:r>
          </a:p>
          <a:p>
            <a:pPr marR="4233" indent="10583">
              <a:defRPr sz="2800" spc="-10"/>
            </a:pPr>
            <a:r>
              <a:rPr sz="2333" dirty="0"/>
              <a:t>After </a:t>
            </a:r>
            <a:r>
              <a:rPr sz="2333" spc="-4" dirty="0"/>
              <a:t>the loop </a:t>
            </a:r>
            <a:r>
              <a:rPr sz="2333" dirty="0"/>
              <a:t>condition </a:t>
            </a:r>
            <a:r>
              <a:rPr sz="2333" spc="-4" dirty="0"/>
              <a:t>is </a:t>
            </a:r>
            <a:r>
              <a:rPr sz="2333" spc="-17" dirty="0"/>
              <a:t>executed </a:t>
            </a:r>
            <a:r>
              <a:rPr sz="2333" spc="-4" dirty="0"/>
              <a:t>and </a:t>
            </a:r>
            <a:r>
              <a:rPr sz="2333" dirty="0"/>
              <a:t>done, </a:t>
            </a:r>
            <a:r>
              <a:rPr sz="2333" spc="-4" dirty="0"/>
              <a:t>it </a:t>
            </a:r>
            <a:r>
              <a:rPr sz="2333" dirty="0"/>
              <a:t>will </a:t>
            </a:r>
            <a:r>
              <a:rPr sz="2333" spc="-12" dirty="0"/>
              <a:t>proceed </a:t>
            </a:r>
            <a:r>
              <a:rPr sz="2333" spc="-17" dirty="0"/>
              <a:t>to </a:t>
            </a:r>
            <a:r>
              <a:rPr sz="2333" spc="-4" dirty="0"/>
              <a:t>the </a:t>
            </a:r>
            <a:r>
              <a:rPr sz="2333" spc="-12" dirty="0"/>
              <a:t>next iteration </a:t>
            </a:r>
            <a:r>
              <a:rPr sz="2333" spc="-4" dirty="0"/>
              <a:t>in  </a:t>
            </a:r>
            <a:r>
              <a:rPr sz="2333" dirty="0"/>
              <a:t>Step </a:t>
            </a:r>
            <a:r>
              <a:rPr sz="2333" spc="-4" dirty="0"/>
              <a:t>4.</a:t>
            </a:r>
          </a:p>
          <a:p>
            <a:pPr indent="10583">
              <a:defRPr sz="2800" b="1" spc="-15"/>
            </a:pPr>
            <a:r>
              <a:rPr sz="2333" dirty="0"/>
              <a:t>Step</a:t>
            </a:r>
            <a:r>
              <a:rPr sz="2333" spc="8" dirty="0"/>
              <a:t> </a:t>
            </a:r>
            <a:r>
              <a:rPr sz="2333" spc="-4" dirty="0"/>
              <a:t>5)</a:t>
            </a:r>
          </a:p>
          <a:p>
            <a:pPr indent="10583">
              <a:defRPr sz="2800" spc="-5"/>
            </a:pPr>
            <a:r>
              <a:rPr sz="2333" dirty="0"/>
              <a:t>If </a:t>
            </a:r>
            <a:r>
              <a:rPr sz="2333" spc="-8" dirty="0"/>
              <a:t>the </a:t>
            </a:r>
            <a:r>
              <a:rPr sz="2333" dirty="0"/>
              <a:t>loop </a:t>
            </a:r>
            <a:r>
              <a:rPr sz="2333" spc="-8" dirty="0"/>
              <a:t>condition </a:t>
            </a:r>
            <a:r>
              <a:rPr sz="2333" dirty="0"/>
              <a:t>is </a:t>
            </a:r>
            <a:r>
              <a:rPr sz="2333" spc="-12" dirty="0"/>
              <a:t>false, </a:t>
            </a:r>
            <a:r>
              <a:rPr sz="2333" dirty="0"/>
              <a:t>it </a:t>
            </a:r>
            <a:r>
              <a:rPr sz="2333" spc="-8" dirty="0"/>
              <a:t>will </a:t>
            </a:r>
            <a:r>
              <a:rPr sz="2333" spc="-17" dirty="0"/>
              <a:t>exit </a:t>
            </a:r>
            <a:r>
              <a:rPr sz="2333" dirty="0"/>
              <a:t>the loop and </a:t>
            </a:r>
            <a:r>
              <a:rPr sz="2333" spc="-12" dirty="0"/>
              <a:t>go to </a:t>
            </a:r>
            <a:r>
              <a:rPr sz="2333" spc="-8" dirty="0"/>
              <a:t>Step</a:t>
            </a:r>
            <a:r>
              <a:rPr sz="2333" spc="179" dirty="0"/>
              <a:t> </a:t>
            </a:r>
            <a:r>
              <a:rPr sz="2333" dirty="0"/>
              <a:t>6.</a:t>
            </a:r>
          </a:p>
          <a:p>
            <a:pPr indent="10583">
              <a:defRPr sz="2800" b="1" spc="-15"/>
            </a:pPr>
            <a:r>
              <a:rPr sz="2333" dirty="0"/>
              <a:t>Step</a:t>
            </a:r>
            <a:r>
              <a:rPr sz="2333" spc="8" dirty="0"/>
              <a:t> </a:t>
            </a:r>
            <a:r>
              <a:rPr sz="2333" spc="-4" dirty="0"/>
              <a:t>6)</a:t>
            </a:r>
          </a:p>
          <a:p>
            <a:pPr indent="10583">
              <a:defRPr sz="2800" spc="-10"/>
            </a:pPr>
            <a:r>
              <a:rPr sz="2333" dirty="0"/>
              <a:t>End </a:t>
            </a:r>
            <a:r>
              <a:rPr sz="2333" spc="-4" dirty="0"/>
              <a:t>of the</a:t>
            </a:r>
            <a:r>
              <a:rPr sz="2333" spc="17" dirty="0"/>
              <a:t> </a:t>
            </a:r>
            <a:r>
              <a:rPr sz="2333" spc="-4" dirty="0"/>
              <a:t>loop.</a:t>
            </a:r>
          </a:p>
        </p:txBody>
      </p:sp>
    </p:spTree>
    <p:extLst>
      <p:ext uri="{BB962C8B-B14F-4D97-AF65-F5344CB8AC3E}">
        <p14:creationId xmlns:p14="http://schemas.microsoft.com/office/powerpoint/2010/main" val="54529318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 name="object 2"/>
          <p:cNvSpPr/>
          <p:nvPr/>
        </p:nvSpPr>
        <p:spPr>
          <a:xfrm>
            <a:off x="495300" y="5839460"/>
            <a:ext cx="567691" cy="562611"/>
          </a:xfrm>
          <a:prstGeom prst="rect">
            <a:avLst/>
          </a:prstGeom>
          <a:blipFill>
            <a:blip r:embed="rId2"/>
            <a:stretch>
              <a:fillRect/>
            </a:stretch>
          </a:blipFill>
          <a:ln w="12700">
            <a:miter lim="400000"/>
          </a:ln>
        </p:spPr>
        <p:txBody>
          <a:bodyPr lIns="38099" rIns="38099"/>
          <a:lstStyle/>
          <a:p>
            <a:endParaRPr sz="1500"/>
          </a:p>
        </p:txBody>
      </p:sp>
      <p:sp>
        <p:nvSpPr>
          <p:cNvPr id="397" name="object 3"/>
          <p:cNvSpPr txBox="1">
            <a:spLocks noGrp="1"/>
          </p:cNvSpPr>
          <p:nvPr>
            <p:ph type="title"/>
          </p:nvPr>
        </p:nvSpPr>
        <p:spPr>
          <a:prstGeom prst="rect">
            <a:avLst/>
          </a:prstGeom>
        </p:spPr>
        <p:txBody>
          <a:bodyPr>
            <a:normAutofit/>
          </a:bodyPr>
          <a:lstStyle>
            <a:lvl1pPr indent="12700">
              <a:spcBef>
                <a:spcPts val="100"/>
              </a:spcBef>
              <a:defRPr sz="3600">
                <a:solidFill>
                  <a:srgbClr val="252525"/>
                </a:solidFill>
                <a:latin typeface="+mn-lt"/>
                <a:ea typeface="+mn-ea"/>
                <a:cs typeface="+mn-cs"/>
                <a:sym typeface="Calibri"/>
              </a:defRPr>
            </a:lvl1pPr>
          </a:lstStyle>
          <a:p>
            <a:r>
              <a:t>Programs:</a:t>
            </a:r>
          </a:p>
        </p:txBody>
      </p:sp>
      <p:sp>
        <p:nvSpPr>
          <p:cNvPr id="398" name="object 4"/>
          <p:cNvSpPr txBox="1"/>
          <p:nvPr/>
        </p:nvSpPr>
        <p:spPr>
          <a:xfrm>
            <a:off x="1323127" y="1251162"/>
            <a:ext cx="6660813" cy="3655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indent="10583">
              <a:defRPr sz="2400"/>
            </a:pPr>
            <a:r>
              <a:rPr sz="2000" dirty="0"/>
              <a:t># Use </a:t>
            </a:r>
            <a:r>
              <a:rPr sz="2000" spc="-4" dirty="0"/>
              <a:t>of </a:t>
            </a:r>
            <a:r>
              <a:rPr sz="2000" spc="-8" dirty="0"/>
              <a:t>break </a:t>
            </a:r>
            <a:r>
              <a:rPr sz="2000" spc="-12" dirty="0"/>
              <a:t>statement </a:t>
            </a:r>
            <a:r>
              <a:rPr sz="2000" dirty="0"/>
              <a:t>inside the</a:t>
            </a:r>
            <a:r>
              <a:rPr sz="2000" spc="-71" dirty="0"/>
              <a:t> </a:t>
            </a:r>
            <a:r>
              <a:rPr sz="2000" spc="-4" dirty="0"/>
              <a:t>loop</a:t>
            </a:r>
          </a:p>
          <a:p>
            <a:pPr>
              <a:defRPr sz="2300"/>
            </a:pPr>
            <a:endParaRPr sz="1917" spc="-4" dirty="0"/>
          </a:p>
          <a:p>
            <a:pPr indent="10583">
              <a:defRPr sz="2400" spc="-20"/>
            </a:pPr>
            <a:r>
              <a:rPr sz="2000" dirty="0"/>
              <a:t>for </a:t>
            </a:r>
            <a:r>
              <a:rPr sz="2000" spc="-12" dirty="0" err="1"/>
              <a:t>val</a:t>
            </a:r>
            <a:r>
              <a:rPr sz="2000" spc="-12" dirty="0"/>
              <a:t> </a:t>
            </a:r>
            <a:r>
              <a:rPr sz="2000" dirty="0"/>
              <a:t>in</a:t>
            </a:r>
            <a:r>
              <a:rPr sz="2000" spc="12" dirty="0"/>
              <a:t> </a:t>
            </a:r>
            <a:r>
              <a:rPr sz="2000" spc="-4" dirty="0"/>
              <a:t>"string":</a:t>
            </a:r>
          </a:p>
          <a:p>
            <a:pPr marL="227533" marR="2770077" indent="10054">
              <a:defRPr sz="2400"/>
            </a:pPr>
            <a:r>
              <a:rPr sz="2000" dirty="0"/>
              <a:t>if </a:t>
            </a:r>
            <a:r>
              <a:rPr sz="2000" spc="-12" dirty="0" err="1"/>
              <a:t>val</a:t>
            </a:r>
            <a:r>
              <a:rPr sz="2000" spc="-12" dirty="0"/>
              <a:t> </a:t>
            </a:r>
            <a:r>
              <a:rPr sz="2000" spc="-4" dirty="0"/>
              <a:t>==</a:t>
            </a:r>
            <a:r>
              <a:rPr sz="2000" spc="-62" dirty="0"/>
              <a:t> </a:t>
            </a:r>
            <a:r>
              <a:rPr sz="2000" spc="-4" dirty="0"/>
              <a:t>"</a:t>
            </a:r>
            <a:r>
              <a:rPr sz="2000" spc="-4" dirty="0" err="1"/>
              <a:t>i</a:t>
            </a:r>
            <a:r>
              <a:rPr sz="2000" spc="-4" dirty="0"/>
              <a:t>":  </a:t>
            </a:r>
            <a:r>
              <a:rPr sz="2000" spc="-8" dirty="0"/>
              <a:t>break</a:t>
            </a:r>
          </a:p>
          <a:p>
            <a:pPr indent="237586">
              <a:defRPr sz="2400" spc="-10"/>
            </a:pPr>
            <a:r>
              <a:rPr sz="2000" dirty="0"/>
              <a:t>print(</a:t>
            </a:r>
            <a:r>
              <a:rPr sz="2000" dirty="0" err="1"/>
              <a:t>val</a:t>
            </a:r>
            <a:r>
              <a:rPr sz="2000" dirty="0"/>
              <a:t>)</a:t>
            </a:r>
          </a:p>
          <a:p>
            <a:pPr>
              <a:defRPr sz="2300"/>
            </a:pPr>
            <a:endParaRPr sz="1917" dirty="0"/>
          </a:p>
          <a:p>
            <a:pPr indent="10583">
              <a:defRPr sz="2400" spc="-5"/>
            </a:pPr>
            <a:r>
              <a:rPr sz="2000" dirty="0"/>
              <a:t>print("The end")</a:t>
            </a:r>
          </a:p>
          <a:p>
            <a:pPr>
              <a:defRPr sz="2400"/>
            </a:pPr>
            <a:endParaRPr sz="2000" dirty="0"/>
          </a:p>
          <a:p>
            <a:pPr>
              <a:defRPr sz="2300"/>
            </a:pPr>
            <a:endParaRPr sz="1917" dirty="0"/>
          </a:p>
          <a:p>
            <a:pPr indent="10583">
              <a:defRPr sz="2400" b="1" spc="-5"/>
            </a:pPr>
            <a:r>
              <a:rPr sz="2000" dirty="0"/>
              <a:t>Output</a:t>
            </a:r>
          </a:p>
          <a:p>
            <a:pPr marR="4080240" indent="10583" algn="just">
              <a:defRPr sz="2400"/>
            </a:pPr>
            <a:r>
              <a:rPr sz="2000" dirty="0"/>
              <a:t>s  t  r</a:t>
            </a:r>
          </a:p>
          <a:p>
            <a:pPr indent="10583" algn="just">
              <a:defRPr sz="2400" spc="-5"/>
            </a:pPr>
            <a:r>
              <a:rPr sz="2000" dirty="0"/>
              <a:t>The end</a:t>
            </a:r>
          </a:p>
        </p:txBody>
      </p:sp>
    </p:spTree>
    <p:extLst>
      <p:ext uri="{BB962C8B-B14F-4D97-AF65-F5344CB8AC3E}">
        <p14:creationId xmlns:p14="http://schemas.microsoft.com/office/powerpoint/2010/main" val="267054147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 name="object 2"/>
          <p:cNvSpPr/>
          <p:nvPr/>
        </p:nvSpPr>
        <p:spPr>
          <a:xfrm>
            <a:off x="495300" y="5839460"/>
            <a:ext cx="567691" cy="562611"/>
          </a:xfrm>
          <a:prstGeom prst="rect">
            <a:avLst/>
          </a:prstGeom>
          <a:blipFill>
            <a:blip r:embed="rId2"/>
            <a:stretch>
              <a:fillRect/>
            </a:stretch>
          </a:blipFill>
          <a:ln w="12700">
            <a:miter lim="400000"/>
          </a:ln>
        </p:spPr>
        <p:txBody>
          <a:bodyPr lIns="38099" rIns="38099"/>
          <a:lstStyle/>
          <a:p>
            <a:endParaRPr sz="1500"/>
          </a:p>
        </p:txBody>
      </p:sp>
      <p:sp>
        <p:nvSpPr>
          <p:cNvPr id="401" name="object 3"/>
          <p:cNvSpPr txBox="1"/>
          <p:nvPr/>
        </p:nvSpPr>
        <p:spPr>
          <a:xfrm>
            <a:off x="779102" y="462555"/>
            <a:ext cx="5059893" cy="45273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defRPr sz="3400" spc="-15">
                <a:latin typeface="Arial"/>
                <a:ea typeface="Arial"/>
                <a:cs typeface="Arial"/>
                <a:sym typeface="Arial"/>
              </a:defRPr>
            </a:pPr>
            <a:r>
              <a:rPr lang="en-US" sz="2833" dirty="0"/>
              <a:t>Program </a:t>
            </a:r>
            <a:r>
              <a:rPr sz="2833" dirty="0"/>
              <a:t>2.</a:t>
            </a:r>
            <a:endParaRPr sz="3500" dirty="0"/>
          </a:p>
          <a:p>
            <a:pPr indent="173031">
              <a:defRPr sz="3200" spc="-5"/>
            </a:pPr>
            <a:r>
              <a:rPr sz="2667" dirty="0"/>
              <a:t>number=[10,20,30,0,5,0,30]</a:t>
            </a:r>
          </a:p>
          <a:p>
            <a:pPr marL="307963" marR="2640436" indent="-135460">
              <a:defRPr sz="3200" spc="-30"/>
            </a:pPr>
            <a:r>
              <a:rPr sz="2667" dirty="0"/>
              <a:t>for n in </a:t>
            </a:r>
            <a:r>
              <a:rPr sz="2667" spc="-4" dirty="0"/>
              <a:t>number:  </a:t>
            </a:r>
            <a:r>
              <a:rPr sz="2667" dirty="0"/>
              <a:t>if</a:t>
            </a:r>
            <a:r>
              <a:rPr sz="2667" spc="-17" dirty="0"/>
              <a:t> </a:t>
            </a:r>
            <a:r>
              <a:rPr sz="2667" spc="-4" dirty="0"/>
              <a:t>n==0:</a:t>
            </a:r>
          </a:p>
          <a:p>
            <a:pPr marR="4233" indent="786310">
              <a:defRPr sz="3200" spc="-10"/>
            </a:pPr>
            <a:r>
              <a:rPr sz="2667" dirty="0"/>
              <a:t>break  print('100/{}={}'.format(n,100/n))</a:t>
            </a:r>
          </a:p>
          <a:p>
            <a:pPr>
              <a:defRPr sz="3100"/>
            </a:pPr>
            <a:endParaRPr sz="2583" dirty="0"/>
          </a:p>
          <a:p>
            <a:pPr marR="3122487" indent="173031">
              <a:defRPr sz="3200" spc="-5"/>
            </a:pPr>
            <a:r>
              <a:rPr sz="2667" dirty="0"/>
              <a:t>Output  1</a:t>
            </a:r>
            <a:r>
              <a:rPr sz="2667" spc="-12" dirty="0"/>
              <a:t>0</a:t>
            </a:r>
            <a:r>
              <a:rPr sz="2667" dirty="0"/>
              <a:t>0/</a:t>
            </a:r>
            <a:r>
              <a:rPr sz="2667" spc="-12" dirty="0"/>
              <a:t>1</a:t>
            </a:r>
            <a:r>
              <a:rPr sz="2667" dirty="0"/>
              <a:t>0=</a:t>
            </a:r>
            <a:r>
              <a:rPr sz="2667" spc="-12" dirty="0"/>
              <a:t>1</a:t>
            </a:r>
            <a:r>
              <a:rPr sz="2667" dirty="0"/>
              <a:t>0</a:t>
            </a:r>
            <a:r>
              <a:rPr sz="2667" spc="-8" dirty="0"/>
              <a:t>.</a:t>
            </a:r>
            <a:r>
              <a:rPr sz="2667" dirty="0"/>
              <a:t>0</a:t>
            </a:r>
          </a:p>
          <a:p>
            <a:pPr indent="173031">
              <a:defRPr sz="3200" spc="-5"/>
            </a:pPr>
            <a:r>
              <a:rPr sz="2667" dirty="0"/>
              <a:t>100/20=5.0</a:t>
            </a:r>
          </a:p>
          <a:p>
            <a:pPr indent="173031">
              <a:defRPr sz="3200" spc="-5"/>
            </a:pPr>
            <a:r>
              <a:rPr sz="2667" dirty="0"/>
              <a:t>100/30=3.3333333333333335</a:t>
            </a:r>
          </a:p>
        </p:txBody>
      </p:sp>
    </p:spTree>
    <p:extLst>
      <p:ext uri="{BB962C8B-B14F-4D97-AF65-F5344CB8AC3E}">
        <p14:creationId xmlns:p14="http://schemas.microsoft.com/office/powerpoint/2010/main" val="273187560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 name="object 2"/>
          <p:cNvSpPr/>
          <p:nvPr/>
        </p:nvSpPr>
        <p:spPr>
          <a:xfrm>
            <a:off x="495300" y="5839460"/>
            <a:ext cx="567691" cy="562611"/>
          </a:xfrm>
          <a:prstGeom prst="rect">
            <a:avLst/>
          </a:prstGeom>
          <a:blipFill>
            <a:blip r:embed="rId2"/>
            <a:stretch>
              <a:fillRect/>
            </a:stretch>
          </a:blipFill>
          <a:ln w="12700">
            <a:miter lim="400000"/>
          </a:ln>
        </p:spPr>
        <p:txBody>
          <a:bodyPr lIns="38099" rIns="38099"/>
          <a:lstStyle/>
          <a:p>
            <a:endParaRPr sz="1500"/>
          </a:p>
        </p:txBody>
      </p:sp>
      <p:sp>
        <p:nvSpPr>
          <p:cNvPr id="404" name="object 3"/>
          <p:cNvSpPr txBox="1">
            <a:spLocks noGrp="1"/>
          </p:cNvSpPr>
          <p:nvPr>
            <p:ph type="title"/>
          </p:nvPr>
        </p:nvSpPr>
        <p:spPr>
          <a:prstGeom prst="rect">
            <a:avLst/>
          </a:prstGeom>
        </p:spPr>
        <p:txBody>
          <a:bodyPr>
            <a:normAutofit/>
          </a:bodyPr>
          <a:lstStyle>
            <a:lvl1pPr indent="12700">
              <a:spcBef>
                <a:spcPts val="100"/>
              </a:spcBef>
              <a:defRPr sz="4800" b="1" spc="-100">
                <a:solidFill>
                  <a:srgbClr val="252525"/>
                </a:solidFill>
                <a:latin typeface="+mn-lt"/>
                <a:ea typeface="+mn-ea"/>
                <a:cs typeface="+mn-cs"/>
                <a:sym typeface="Calibri"/>
              </a:defRPr>
            </a:lvl1pPr>
          </a:lstStyle>
          <a:p>
            <a:r>
              <a:t>format():</a:t>
            </a:r>
          </a:p>
        </p:txBody>
      </p:sp>
      <p:sp>
        <p:nvSpPr>
          <p:cNvPr id="405" name="object 4"/>
          <p:cNvSpPr txBox="1"/>
          <p:nvPr/>
        </p:nvSpPr>
        <p:spPr>
          <a:xfrm>
            <a:off x="1335828" y="1732069"/>
            <a:ext cx="10335685" cy="24496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L="10583" marR="4233">
              <a:spcBef>
                <a:spcPts val="83"/>
              </a:spcBef>
              <a:buSzPct val="96875"/>
              <a:buFont typeface="Arial"/>
              <a:buChar char="•"/>
              <a:tabLst>
                <a:tab pos="126995" algn="l"/>
              </a:tabLst>
              <a:defRPr sz="3200" spc="-5">
                <a:solidFill>
                  <a:srgbClr val="0D0D0D"/>
                </a:solidFill>
              </a:defRPr>
            </a:pPr>
            <a:r>
              <a:rPr sz="2667"/>
              <a:t>The </a:t>
            </a:r>
            <a:r>
              <a:rPr sz="2667" spc="-12"/>
              <a:t>format() </a:t>
            </a:r>
            <a:r>
              <a:rPr sz="2667"/>
              <a:t>method </a:t>
            </a:r>
            <a:r>
              <a:rPr sz="2667" spc="-17"/>
              <a:t>formats </a:t>
            </a:r>
            <a:r>
              <a:rPr sz="2667"/>
              <a:t>the specified value(s) and insert them inside  the </a:t>
            </a:r>
            <a:r>
              <a:rPr sz="2667" spc="-8"/>
              <a:t>string's </a:t>
            </a:r>
            <a:r>
              <a:rPr sz="2667" spc="-29"/>
              <a:t>placeholder. </a:t>
            </a:r>
            <a:r>
              <a:rPr sz="2667"/>
              <a:t>The placeholder is </a:t>
            </a:r>
            <a:r>
              <a:rPr sz="2667" spc="-8"/>
              <a:t>defined </a:t>
            </a:r>
            <a:r>
              <a:rPr sz="2667"/>
              <a:t>using curly </a:t>
            </a:r>
            <a:r>
              <a:rPr sz="2667" spc="-21"/>
              <a:t>brackets:</a:t>
            </a:r>
            <a:r>
              <a:rPr sz="2667" spc="117"/>
              <a:t> </a:t>
            </a:r>
            <a:r>
              <a:rPr sz="2667"/>
              <a:t>{}.</a:t>
            </a:r>
          </a:p>
          <a:p>
            <a:pPr marL="129641" indent="-119587">
              <a:buSzPct val="96875"/>
              <a:buFont typeface="Arial"/>
              <a:buChar char="•"/>
              <a:tabLst>
                <a:tab pos="126995" algn="l"/>
              </a:tabLst>
              <a:defRPr sz="3200" spc="-5">
                <a:solidFill>
                  <a:srgbClr val="0D0D0D"/>
                </a:solidFill>
              </a:defRPr>
            </a:pPr>
            <a:r>
              <a:rPr sz="2667"/>
              <a:t>The </a:t>
            </a:r>
            <a:r>
              <a:rPr sz="2667" spc="-12"/>
              <a:t>format() </a:t>
            </a:r>
            <a:r>
              <a:rPr sz="2667"/>
              <a:t>method </a:t>
            </a:r>
            <a:r>
              <a:rPr sz="2667" spc="-8"/>
              <a:t>returns </a:t>
            </a:r>
            <a:r>
              <a:rPr sz="2667"/>
              <a:t>the </a:t>
            </a:r>
            <a:r>
              <a:rPr sz="2667" spc="-21"/>
              <a:t>formatted</a:t>
            </a:r>
            <a:r>
              <a:rPr sz="2667" spc="42"/>
              <a:t> </a:t>
            </a:r>
            <a:r>
              <a:rPr sz="2667" spc="-8"/>
              <a:t>string.</a:t>
            </a:r>
          </a:p>
          <a:p>
            <a:pPr>
              <a:defRPr sz="3100"/>
            </a:pPr>
            <a:endParaRPr sz="2583" spc="-8"/>
          </a:p>
          <a:p>
            <a:pPr indent="10583">
              <a:defRPr sz="3200" spc="-20">
                <a:solidFill>
                  <a:srgbClr val="0D0D0D"/>
                </a:solidFill>
              </a:defRPr>
            </a:pPr>
            <a:r>
              <a:rPr sz="2667"/>
              <a:t>Syntax</a:t>
            </a:r>
          </a:p>
          <a:p>
            <a:pPr indent="164035">
              <a:defRPr sz="3200" i="1" spc="-15">
                <a:solidFill>
                  <a:srgbClr val="0D0D0D"/>
                </a:solidFill>
              </a:defRPr>
            </a:pPr>
            <a:r>
              <a:rPr sz="2667"/>
              <a:t>string.format(value1,</a:t>
            </a:r>
            <a:r>
              <a:rPr sz="2667" spc="37"/>
              <a:t> </a:t>
            </a:r>
            <a:r>
              <a:rPr sz="2667" spc="-4"/>
              <a:t>value2...)</a:t>
            </a:r>
          </a:p>
        </p:txBody>
      </p:sp>
    </p:spTree>
    <p:extLst>
      <p:ext uri="{BB962C8B-B14F-4D97-AF65-F5344CB8AC3E}">
        <p14:creationId xmlns:p14="http://schemas.microsoft.com/office/powerpoint/2010/main" val="169675635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 name="object 2"/>
          <p:cNvSpPr/>
          <p:nvPr/>
        </p:nvSpPr>
        <p:spPr>
          <a:xfrm>
            <a:off x="495300" y="5839460"/>
            <a:ext cx="567691" cy="562611"/>
          </a:xfrm>
          <a:prstGeom prst="rect">
            <a:avLst/>
          </a:prstGeom>
          <a:blipFill>
            <a:blip r:embed="rId2"/>
            <a:stretch>
              <a:fillRect/>
            </a:stretch>
          </a:blipFill>
          <a:ln w="12700">
            <a:miter lim="400000"/>
          </a:ln>
        </p:spPr>
        <p:txBody>
          <a:bodyPr lIns="38099" rIns="38099"/>
          <a:lstStyle/>
          <a:p>
            <a:endParaRPr sz="1500"/>
          </a:p>
        </p:txBody>
      </p:sp>
      <p:sp>
        <p:nvSpPr>
          <p:cNvPr id="408" name="object 3"/>
          <p:cNvSpPr txBox="1"/>
          <p:nvPr/>
        </p:nvSpPr>
        <p:spPr>
          <a:xfrm>
            <a:off x="1335828" y="1601997"/>
            <a:ext cx="9958389" cy="27572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L="10583" marR="4233">
              <a:spcBef>
                <a:spcPts val="83"/>
              </a:spcBef>
              <a:buSzPct val="97222"/>
              <a:buFont typeface="Arial"/>
              <a:buChar char="•"/>
              <a:tabLst>
                <a:tab pos="137578" algn="l"/>
              </a:tabLst>
              <a:defRPr sz="3600" spc="-5">
                <a:solidFill>
                  <a:srgbClr val="0D0D0D"/>
                </a:solidFill>
              </a:defRPr>
            </a:pPr>
            <a:r>
              <a:rPr sz="3000"/>
              <a:t>The </a:t>
            </a:r>
            <a:r>
              <a:rPr sz="3000" spc="-8"/>
              <a:t>placeholders can </a:t>
            </a:r>
            <a:r>
              <a:rPr sz="3000"/>
              <a:t>be identified using named </a:t>
            </a:r>
            <a:r>
              <a:rPr sz="3000" spc="-21"/>
              <a:t>indexes </a:t>
            </a:r>
            <a:r>
              <a:rPr sz="3000"/>
              <a:t>{price},  numbered </a:t>
            </a:r>
            <a:r>
              <a:rPr sz="3000" spc="-21"/>
              <a:t>indexes </a:t>
            </a:r>
            <a:r>
              <a:rPr sz="3000"/>
              <a:t>{0}, or </a:t>
            </a:r>
            <a:r>
              <a:rPr sz="3000" spc="-12"/>
              <a:t>even </a:t>
            </a:r>
            <a:r>
              <a:rPr sz="3000"/>
              <a:t>empty </a:t>
            </a:r>
            <a:r>
              <a:rPr sz="3000" spc="-8"/>
              <a:t>placeholders</a:t>
            </a:r>
            <a:r>
              <a:rPr sz="3000" spc="-71"/>
              <a:t> </a:t>
            </a:r>
            <a:r>
              <a:rPr sz="3000"/>
              <a:t>{}.</a:t>
            </a:r>
          </a:p>
          <a:p>
            <a:pPr>
              <a:defRPr sz="3500"/>
            </a:pPr>
            <a:endParaRPr sz="2917"/>
          </a:p>
          <a:p>
            <a:pPr indent="10583">
              <a:defRPr sz="3600" spc="-10">
                <a:solidFill>
                  <a:srgbClr val="0D0D0D"/>
                </a:solidFill>
              </a:defRPr>
            </a:pPr>
            <a:r>
              <a:rPr sz="3000"/>
              <a:t>Example</a:t>
            </a:r>
          </a:p>
          <a:p>
            <a:pPr marL="300025" indent="-289971">
              <a:buSzPct val="97222"/>
              <a:buAutoNum type="arabicPeriod"/>
              <a:tabLst>
                <a:tab pos="296321" algn="l"/>
              </a:tabLst>
              <a:defRPr sz="3600" spc="-15">
                <a:solidFill>
                  <a:srgbClr val="0D0D0D"/>
                </a:solidFill>
              </a:defRPr>
            </a:pPr>
            <a:r>
              <a:rPr sz="3000"/>
              <a:t>print("my </a:t>
            </a:r>
            <a:r>
              <a:rPr sz="3000" spc="-8"/>
              <a:t>age </a:t>
            </a:r>
            <a:r>
              <a:rPr sz="3000"/>
              <a:t>is </a:t>
            </a:r>
            <a:r>
              <a:rPr sz="3000" spc="-4"/>
              <a:t>{}"</a:t>
            </a:r>
            <a:r>
              <a:rPr sz="3000" spc="-25"/>
              <a:t> </a:t>
            </a:r>
            <a:r>
              <a:rPr sz="3000" spc="-17"/>
              <a:t>.format(10))</a:t>
            </a:r>
          </a:p>
          <a:p>
            <a:pPr marL="386276" indent="-376222">
              <a:buSzPct val="97222"/>
              <a:buAutoNum type="arabicPeriod"/>
              <a:tabLst>
                <a:tab pos="380985" algn="l"/>
              </a:tabLst>
              <a:defRPr sz="3600" spc="-15">
                <a:solidFill>
                  <a:srgbClr val="0D0D0D"/>
                </a:solidFill>
              </a:defRPr>
            </a:pPr>
            <a:r>
              <a:rPr sz="3000"/>
              <a:t>print("my </a:t>
            </a:r>
            <a:r>
              <a:rPr sz="3000" spc="-4"/>
              <a:t>name </a:t>
            </a:r>
            <a:r>
              <a:rPr sz="3000"/>
              <a:t>is </a:t>
            </a:r>
            <a:r>
              <a:rPr sz="3000" spc="-4"/>
              <a:t>{} </a:t>
            </a:r>
            <a:r>
              <a:rPr sz="3000"/>
              <a:t>and </a:t>
            </a:r>
            <a:r>
              <a:rPr sz="3000" spc="-33"/>
              <a:t>my </a:t>
            </a:r>
            <a:r>
              <a:rPr sz="3000"/>
              <a:t>age is </a:t>
            </a:r>
            <a:r>
              <a:rPr sz="3000" spc="-8"/>
              <a:t>{}"</a:t>
            </a:r>
            <a:r>
              <a:rPr sz="3000" spc="-4"/>
              <a:t> </a:t>
            </a:r>
            <a:r>
              <a:rPr sz="3000" spc="-8"/>
              <a:t>.format(“Rani",20))</a:t>
            </a:r>
          </a:p>
        </p:txBody>
      </p:sp>
    </p:spTree>
    <p:extLst>
      <p:ext uri="{BB962C8B-B14F-4D97-AF65-F5344CB8AC3E}">
        <p14:creationId xmlns:p14="http://schemas.microsoft.com/office/powerpoint/2010/main" val="324389317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 name="object 2"/>
          <p:cNvSpPr/>
          <p:nvPr/>
        </p:nvSpPr>
        <p:spPr>
          <a:xfrm>
            <a:off x="515620" y="396239"/>
            <a:ext cx="84986" cy="840633"/>
          </a:xfrm>
          <a:prstGeom prst="rect">
            <a:avLst/>
          </a:prstGeom>
          <a:solidFill>
            <a:srgbClr val="000000"/>
          </a:solidFill>
          <a:ln w="12700">
            <a:miter lim="400000"/>
          </a:ln>
        </p:spPr>
        <p:txBody>
          <a:bodyPr lIns="38099" rIns="38099"/>
          <a:lstStyle/>
          <a:p>
            <a:endParaRPr sz="1500"/>
          </a:p>
        </p:txBody>
      </p:sp>
      <p:sp>
        <p:nvSpPr>
          <p:cNvPr id="411" name="object 3"/>
          <p:cNvSpPr/>
          <p:nvPr/>
        </p:nvSpPr>
        <p:spPr>
          <a:xfrm>
            <a:off x="495300" y="5839460"/>
            <a:ext cx="567691" cy="562611"/>
          </a:xfrm>
          <a:prstGeom prst="rect">
            <a:avLst/>
          </a:prstGeom>
          <a:blipFill>
            <a:blip r:embed="rId2"/>
            <a:stretch>
              <a:fillRect/>
            </a:stretch>
          </a:blipFill>
          <a:ln w="12700">
            <a:miter lim="400000"/>
          </a:ln>
        </p:spPr>
        <p:txBody>
          <a:bodyPr lIns="38099" rIns="38099"/>
          <a:lstStyle/>
          <a:p>
            <a:endParaRPr sz="1500"/>
          </a:p>
        </p:txBody>
      </p:sp>
      <p:sp>
        <p:nvSpPr>
          <p:cNvPr id="413" name="object 5"/>
          <p:cNvSpPr txBox="1">
            <a:spLocks noGrp="1"/>
          </p:cNvSpPr>
          <p:nvPr>
            <p:ph type="title"/>
          </p:nvPr>
        </p:nvSpPr>
        <p:spPr>
          <a:xfrm>
            <a:off x="779145" y="476361"/>
            <a:ext cx="10515600" cy="1325563"/>
          </a:xfrm>
          <a:prstGeom prst="rect">
            <a:avLst/>
          </a:prstGeom>
        </p:spPr>
        <p:txBody>
          <a:bodyPr>
            <a:normAutofit fontScale="90000"/>
          </a:bodyPr>
          <a:lstStyle/>
          <a:p>
            <a:pPr marR="4233" indent="10583">
              <a:spcBef>
                <a:spcPts val="83"/>
              </a:spcBef>
            </a:pPr>
            <a:br>
              <a:rPr lang="en-US" dirty="0"/>
            </a:br>
            <a:br>
              <a:rPr lang="en-US" dirty="0"/>
            </a:br>
            <a:r>
              <a:rPr lang="en-US" dirty="0"/>
              <a:t>Program 3:</a:t>
            </a:r>
            <a:br>
              <a:rPr lang="en-US" dirty="0"/>
            </a:br>
            <a:r>
              <a:rPr sz="4000" dirty="0"/>
              <a:t># </a:t>
            </a:r>
            <a:r>
              <a:rPr sz="4000" spc="-83" dirty="0"/>
              <a:t>printing table from </a:t>
            </a:r>
            <a:r>
              <a:rPr sz="4000" dirty="0"/>
              <a:t>2 to 5, each </a:t>
            </a:r>
            <a:r>
              <a:rPr sz="4000" spc="-83" dirty="0"/>
              <a:t>table </a:t>
            </a:r>
            <a:r>
              <a:rPr sz="4000" spc="-83" dirty="0" err="1"/>
              <a:t>upto</a:t>
            </a:r>
            <a:r>
              <a:rPr sz="4000" spc="-83" dirty="0"/>
              <a:t> </a:t>
            </a:r>
            <a:r>
              <a:rPr sz="4000" dirty="0"/>
              <a:t>5 </a:t>
            </a:r>
            <a:r>
              <a:rPr sz="4000" spc="-83" dirty="0"/>
              <a:t>iterations only  </a:t>
            </a:r>
            <a:br>
              <a:rPr lang="en-US" sz="4000" spc="-83" dirty="0"/>
            </a:br>
            <a:r>
              <a:rPr sz="3600" spc="-83" dirty="0"/>
              <a:t>for </a:t>
            </a:r>
            <a:r>
              <a:rPr sz="3600" dirty="0" err="1"/>
              <a:t>i</a:t>
            </a:r>
            <a:r>
              <a:rPr sz="3600" dirty="0"/>
              <a:t> in</a:t>
            </a:r>
            <a:r>
              <a:rPr sz="3600" spc="-83" dirty="0"/>
              <a:t> </a:t>
            </a:r>
            <a:r>
              <a:rPr sz="3600" dirty="0"/>
              <a:t>range(2,6):</a:t>
            </a:r>
          </a:p>
          <a:p>
            <a:pPr marR="5320029" indent="394213">
              <a:defRPr spc="-100"/>
            </a:pPr>
            <a:r>
              <a:rPr sz="3600" dirty="0"/>
              <a:t>print('Table of ',</a:t>
            </a:r>
            <a:r>
              <a:rPr sz="3600" dirty="0" err="1"/>
              <a:t>i</a:t>
            </a:r>
            <a:r>
              <a:rPr sz="3600" dirty="0"/>
              <a:t>)  </a:t>
            </a:r>
            <a:br>
              <a:rPr lang="en-US" sz="3600" dirty="0"/>
            </a:br>
            <a:r>
              <a:rPr sz="3600" dirty="0"/>
              <a:t>for j in range(1,11):</a:t>
            </a:r>
          </a:p>
        </p:txBody>
      </p:sp>
      <p:sp>
        <p:nvSpPr>
          <p:cNvPr id="414" name="object 6"/>
          <p:cNvSpPr txBox="1"/>
          <p:nvPr/>
        </p:nvSpPr>
        <p:spPr>
          <a:xfrm>
            <a:off x="1709209" y="4032599"/>
            <a:ext cx="1321329" cy="12312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R="4233" indent="10583">
              <a:spcBef>
                <a:spcPts val="83"/>
              </a:spcBef>
              <a:defRPr sz="3200" spc="-5">
                <a:solidFill>
                  <a:srgbClr val="252525"/>
                </a:solidFill>
              </a:defRPr>
            </a:pPr>
            <a:r>
              <a:rPr sz="2667" dirty="0"/>
              <a:t>print(</a:t>
            </a:r>
            <a:r>
              <a:rPr sz="2667" dirty="0" err="1"/>
              <a:t>i</a:t>
            </a:r>
            <a:r>
              <a:rPr sz="2667" dirty="0"/>
              <a:t>*j)  if (j ==</a:t>
            </a:r>
            <a:r>
              <a:rPr sz="2667" spc="-46" dirty="0"/>
              <a:t> </a:t>
            </a:r>
            <a:r>
              <a:rPr sz="2667" dirty="0"/>
              <a:t>5):</a:t>
            </a:r>
          </a:p>
          <a:p>
            <a:pPr indent="393684">
              <a:defRPr sz="3200" spc="-5">
                <a:solidFill>
                  <a:srgbClr val="252525"/>
                </a:solidFill>
              </a:defRPr>
            </a:pPr>
            <a:r>
              <a:rPr sz="2667" dirty="0"/>
              <a:t>break</a:t>
            </a:r>
          </a:p>
        </p:txBody>
      </p:sp>
      <p:sp>
        <p:nvSpPr>
          <p:cNvPr id="415" name="object 7"/>
          <p:cNvSpPr/>
          <p:nvPr/>
        </p:nvSpPr>
        <p:spPr>
          <a:xfrm>
            <a:off x="4000500" y="3440436"/>
            <a:ext cx="7810500" cy="3036563"/>
          </a:xfrm>
          <a:prstGeom prst="rect">
            <a:avLst/>
          </a:prstGeom>
          <a:blipFill>
            <a:blip r:embed="rId3"/>
            <a:stretch>
              <a:fillRect/>
            </a:stretch>
          </a:blipFill>
          <a:ln w="12700">
            <a:miter lim="400000"/>
          </a:ln>
        </p:spPr>
        <p:txBody>
          <a:bodyPr lIns="38099" rIns="38099"/>
          <a:lstStyle/>
          <a:p>
            <a:endParaRPr sz="1500"/>
          </a:p>
        </p:txBody>
      </p:sp>
    </p:spTree>
    <p:extLst>
      <p:ext uri="{BB962C8B-B14F-4D97-AF65-F5344CB8AC3E}">
        <p14:creationId xmlns:p14="http://schemas.microsoft.com/office/powerpoint/2010/main" val="296483114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 name="object 2"/>
          <p:cNvSpPr/>
          <p:nvPr/>
        </p:nvSpPr>
        <p:spPr>
          <a:xfrm>
            <a:off x="495300" y="5839460"/>
            <a:ext cx="567691" cy="562611"/>
          </a:xfrm>
          <a:prstGeom prst="rect">
            <a:avLst/>
          </a:prstGeom>
          <a:blipFill>
            <a:blip r:embed="rId2"/>
            <a:stretch>
              <a:fillRect/>
            </a:stretch>
          </a:blipFill>
          <a:ln w="12700">
            <a:miter lim="400000"/>
          </a:ln>
        </p:spPr>
        <p:txBody>
          <a:bodyPr lIns="38099" rIns="38099"/>
          <a:lstStyle/>
          <a:p>
            <a:endParaRPr sz="1500"/>
          </a:p>
        </p:txBody>
      </p:sp>
      <p:sp>
        <p:nvSpPr>
          <p:cNvPr id="418" name="object 3"/>
          <p:cNvSpPr txBox="1"/>
          <p:nvPr/>
        </p:nvSpPr>
        <p:spPr>
          <a:xfrm>
            <a:off x="1068916" y="565150"/>
            <a:ext cx="3682473" cy="55144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83"/>
              </a:spcBef>
              <a:defRPr sz="2400" spc="-5"/>
            </a:pPr>
            <a:r>
              <a:rPr lang="en-US" sz="2000" dirty="0"/>
              <a:t>Program </a:t>
            </a:r>
            <a:r>
              <a:rPr sz="2000" dirty="0"/>
              <a:t>4.</a:t>
            </a:r>
          </a:p>
          <a:p>
            <a:pPr>
              <a:defRPr sz="2300"/>
            </a:pPr>
            <a:endParaRPr sz="1917" dirty="0"/>
          </a:p>
          <a:p>
            <a:pPr indent="10583">
              <a:defRPr sz="2400" spc="-5"/>
            </a:pPr>
            <a:r>
              <a:rPr sz="2000" dirty="0"/>
              <a:t>cart=[10,20,30,500,40,50]</a:t>
            </a:r>
          </a:p>
          <a:p>
            <a:pPr marL="227533" marR="2057317" indent="-216950">
              <a:defRPr sz="2400" spc="-5"/>
            </a:pPr>
            <a:r>
              <a:rPr sz="2000" dirty="0"/>
              <a:t>for item in</a:t>
            </a:r>
            <a:r>
              <a:rPr sz="2000" spc="-87" dirty="0"/>
              <a:t> </a:t>
            </a:r>
            <a:r>
              <a:rPr sz="2000" dirty="0"/>
              <a:t>cart:  if</a:t>
            </a:r>
            <a:r>
              <a:rPr sz="2000" spc="-50" dirty="0"/>
              <a:t> </a:t>
            </a:r>
            <a:r>
              <a:rPr sz="2000" dirty="0"/>
              <a:t>item&gt;=500:</a:t>
            </a:r>
          </a:p>
          <a:p>
            <a:pPr indent="465119">
              <a:defRPr sz="2400" spc="-5"/>
            </a:pPr>
            <a:r>
              <a:rPr sz="2000" dirty="0"/>
              <a:t>print("cant process this</a:t>
            </a:r>
            <a:r>
              <a:rPr sz="2000" spc="-83" dirty="0"/>
              <a:t> </a:t>
            </a:r>
            <a:r>
              <a:rPr sz="2000" dirty="0"/>
              <a:t>order")</a:t>
            </a:r>
          </a:p>
          <a:p>
            <a:pPr marR="2311307" indent="465119">
              <a:defRPr sz="2400" spc="-5"/>
            </a:pPr>
            <a:r>
              <a:rPr sz="2000" dirty="0"/>
              <a:t>break  print(ite</a:t>
            </a:r>
            <a:r>
              <a:rPr sz="2000" spc="4" dirty="0"/>
              <a:t>m</a:t>
            </a:r>
            <a:r>
              <a:rPr sz="2000" dirty="0"/>
              <a:t>)</a:t>
            </a:r>
          </a:p>
          <a:p>
            <a:pPr indent="10583">
              <a:defRPr sz="2400"/>
            </a:pPr>
            <a:r>
              <a:rPr sz="2000" dirty="0"/>
              <a:t>else:</a:t>
            </a:r>
          </a:p>
          <a:p>
            <a:pPr indent="238115">
              <a:defRPr sz="2400" spc="-5"/>
            </a:pPr>
            <a:r>
              <a:rPr sz="2000" dirty="0"/>
              <a:t>print("All items</a:t>
            </a:r>
            <a:r>
              <a:rPr sz="2000" spc="-50" dirty="0"/>
              <a:t> </a:t>
            </a:r>
            <a:r>
              <a:rPr sz="2000" dirty="0"/>
              <a:t>processed...")</a:t>
            </a:r>
          </a:p>
          <a:p>
            <a:pPr indent="10583">
              <a:defRPr sz="2400" spc="-5"/>
            </a:pPr>
            <a:r>
              <a:rPr sz="2000" dirty="0"/>
              <a:t>print("out of for</a:t>
            </a:r>
            <a:r>
              <a:rPr sz="2000" spc="-25" dirty="0"/>
              <a:t> </a:t>
            </a:r>
            <a:r>
              <a:rPr sz="2000" dirty="0"/>
              <a:t>loop..")</a:t>
            </a:r>
          </a:p>
          <a:p>
            <a:pPr>
              <a:defRPr sz="2300"/>
            </a:pPr>
            <a:endParaRPr sz="1917" dirty="0"/>
          </a:p>
          <a:p>
            <a:pPr marR="2926703" indent="10583">
              <a:defRPr sz="2400" spc="-5"/>
            </a:pPr>
            <a:r>
              <a:rPr sz="2000" dirty="0"/>
              <a:t>Output  10</a:t>
            </a:r>
          </a:p>
          <a:p>
            <a:pPr indent="10583">
              <a:defRPr sz="2400" spc="-5"/>
            </a:pPr>
            <a:r>
              <a:rPr sz="2000" dirty="0"/>
              <a:t>20</a:t>
            </a:r>
          </a:p>
          <a:p>
            <a:pPr indent="10583">
              <a:defRPr sz="2400" spc="-5"/>
            </a:pPr>
            <a:r>
              <a:rPr sz="2000" dirty="0"/>
              <a:t>30</a:t>
            </a:r>
          </a:p>
          <a:p>
            <a:pPr marR="1313868" indent="10583">
              <a:defRPr sz="2400"/>
            </a:pPr>
            <a:r>
              <a:rPr sz="2000" dirty="0"/>
              <a:t>cant </a:t>
            </a:r>
            <a:r>
              <a:rPr sz="2000" spc="-4" dirty="0"/>
              <a:t>process </a:t>
            </a:r>
            <a:r>
              <a:rPr sz="2000" dirty="0"/>
              <a:t>this</a:t>
            </a:r>
            <a:r>
              <a:rPr sz="2000" spc="-104" dirty="0"/>
              <a:t> </a:t>
            </a:r>
            <a:r>
              <a:rPr sz="2000" spc="-4" dirty="0"/>
              <a:t>order  out of for</a:t>
            </a:r>
            <a:r>
              <a:rPr sz="2000" spc="-21" dirty="0"/>
              <a:t> </a:t>
            </a:r>
            <a:r>
              <a:rPr sz="2000" spc="-4" dirty="0"/>
              <a:t>loop..</a:t>
            </a:r>
          </a:p>
        </p:txBody>
      </p:sp>
    </p:spTree>
    <p:extLst>
      <p:ext uri="{BB962C8B-B14F-4D97-AF65-F5344CB8AC3E}">
        <p14:creationId xmlns:p14="http://schemas.microsoft.com/office/powerpoint/2010/main" val="403234988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 name="object 2"/>
          <p:cNvSpPr/>
          <p:nvPr/>
        </p:nvSpPr>
        <p:spPr>
          <a:xfrm>
            <a:off x="515620" y="396239"/>
            <a:ext cx="84986" cy="840633"/>
          </a:xfrm>
          <a:prstGeom prst="rect">
            <a:avLst/>
          </a:prstGeom>
          <a:solidFill>
            <a:srgbClr val="000000"/>
          </a:solidFill>
          <a:ln w="12700">
            <a:miter lim="400000"/>
          </a:ln>
        </p:spPr>
        <p:txBody>
          <a:bodyPr lIns="38099" rIns="38099"/>
          <a:lstStyle/>
          <a:p>
            <a:endParaRPr sz="1500"/>
          </a:p>
        </p:txBody>
      </p:sp>
      <p:sp>
        <p:nvSpPr>
          <p:cNvPr id="421" name="object 3"/>
          <p:cNvSpPr/>
          <p:nvPr/>
        </p:nvSpPr>
        <p:spPr>
          <a:xfrm>
            <a:off x="495300" y="5839460"/>
            <a:ext cx="567691" cy="562611"/>
          </a:xfrm>
          <a:prstGeom prst="rect">
            <a:avLst/>
          </a:prstGeom>
          <a:blipFill>
            <a:blip r:embed="rId2"/>
            <a:stretch>
              <a:fillRect/>
            </a:stretch>
          </a:blipFill>
          <a:ln w="12700">
            <a:miter lim="400000"/>
          </a:ln>
        </p:spPr>
        <p:txBody>
          <a:bodyPr lIns="38099" rIns="38099"/>
          <a:lstStyle/>
          <a:p>
            <a:endParaRPr sz="1500"/>
          </a:p>
        </p:txBody>
      </p:sp>
      <p:sp>
        <p:nvSpPr>
          <p:cNvPr id="422" name="object 4"/>
          <p:cNvSpPr txBox="1"/>
          <p:nvPr/>
        </p:nvSpPr>
        <p:spPr>
          <a:xfrm>
            <a:off x="698075" y="557275"/>
            <a:ext cx="3817410" cy="461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83"/>
              </a:spcBef>
              <a:defRPr sz="3600" b="1" spc="-5">
                <a:solidFill>
                  <a:srgbClr val="252525"/>
                </a:solidFill>
              </a:defRPr>
            </a:pPr>
            <a:r>
              <a:rPr sz="3000"/>
              <a:t>The </a:t>
            </a:r>
            <a:r>
              <a:rPr sz="3000" i="1"/>
              <a:t>continue</a:t>
            </a:r>
            <a:r>
              <a:rPr sz="3000" i="1" spc="-33"/>
              <a:t> </a:t>
            </a:r>
            <a:r>
              <a:rPr sz="3000"/>
              <a:t>Statement</a:t>
            </a:r>
          </a:p>
        </p:txBody>
      </p:sp>
      <p:sp>
        <p:nvSpPr>
          <p:cNvPr id="423" name="object 5"/>
          <p:cNvSpPr txBox="1"/>
          <p:nvPr/>
        </p:nvSpPr>
        <p:spPr>
          <a:xfrm>
            <a:off x="751416" y="1974109"/>
            <a:ext cx="10074277" cy="15386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R="4233" indent="10583">
              <a:defRPr sz="4000" spc="-9"/>
            </a:pPr>
            <a:r>
              <a:rPr sz="3333"/>
              <a:t>The </a:t>
            </a:r>
            <a:r>
              <a:rPr sz="3333" spc="-12"/>
              <a:t>continue </a:t>
            </a:r>
            <a:r>
              <a:rPr sz="3333" spc="-25"/>
              <a:t>statement </a:t>
            </a:r>
            <a:r>
              <a:rPr sz="3333" spc="-3"/>
              <a:t>is </a:t>
            </a:r>
            <a:r>
              <a:rPr sz="3333"/>
              <a:t>used </a:t>
            </a:r>
            <a:r>
              <a:rPr sz="3333" spc="-21"/>
              <a:t>to </a:t>
            </a:r>
            <a:r>
              <a:rPr sz="3333"/>
              <a:t>skip </a:t>
            </a:r>
            <a:r>
              <a:rPr sz="3333" spc="-3"/>
              <a:t>the </a:t>
            </a:r>
            <a:r>
              <a:rPr sz="3333" spc="-25"/>
              <a:t>rest </a:t>
            </a:r>
            <a:r>
              <a:rPr sz="3333" spc="-3"/>
              <a:t>of the </a:t>
            </a:r>
            <a:r>
              <a:rPr sz="3333" spc="-16"/>
              <a:t>code  </a:t>
            </a:r>
            <a:r>
              <a:rPr sz="3333" spc="-3"/>
              <a:t>inside a loop </a:t>
            </a:r>
            <a:r>
              <a:rPr sz="3333" spc="-29"/>
              <a:t>for </a:t>
            </a:r>
            <a:r>
              <a:rPr sz="3333"/>
              <a:t>the </a:t>
            </a:r>
            <a:r>
              <a:rPr sz="3333" spc="-12"/>
              <a:t>current </a:t>
            </a:r>
            <a:r>
              <a:rPr sz="3333" spc="-21"/>
              <a:t>iteration </a:t>
            </a:r>
            <a:r>
              <a:rPr sz="3333" spc="-50"/>
              <a:t>only. </a:t>
            </a:r>
            <a:r>
              <a:rPr sz="3333" spc="-3"/>
              <a:t>Loop does </a:t>
            </a:r>
            <a:r>
              <a:rPr sz="3333"/>
              <a:t>not  </a:t>
            </a:r>
            <a:r>
              <a:rPr sz="3333" spc="-16"/>
              <a:t>terminate </a:t>
            </a:r>
            <a:r>
              <a:rPr sz="3333"/>
              <a:t>but </a:t>
            </a:r>
            <a:r>
              <a:rPr sz="3333" spc="-12"/>
              <a:t>continues </a:t>
            </a:r>
            <a:r>
              <a:rPr sz="3333" spc="-3"/>
              <a:t>on with the </a:t>
            </a:r>
            <a:r>
              <a:rPr sz="3333" spc="-21"/>
              <a:t>next</a:t>
            </a:r>
            <a:r>
              <a:rPr sz="3333" spc="46"/>
              <a:t> </a:t>
            </a:r>
            <a:r>
              <a:rPr sz="3333" spc="-16"/>
              <a:t>iteration.</a:t>
            </a:r>
          </a:p>
        </p:txBody>
      </p:sp>
    </p:spTree>
    <p:extLst>
      <p:ext uri="{BB962C8B-B14F-4D97-AF65-F5344CB8AC3E}">
        <p14:creationId xmlns:p14="http://schemas.microsoft.com/office/powerpoint/2010/main" val="429296370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 name="object 2"/>
          <p:cNvSpPr/>
          <p:nvPr/>
        </p:nvSpPr>
        <p:spPr>
          <a:xfrm>
            <a:off x="495300" y="5839460"/>
            <a:ext cx="567691" cy="562611"/>
          </a:xfrm>
          <a:prstGeom prst="rect">
            <a:avLst/>
          </a:prstGeom>
          <a:blipFill>
            <a:blip r:embed="rId2"/>
            <a:stretch>
              <a:fillRect/>
            </a:stretch>
          </a:blipFill>
          <a:ln w="12700">
            <a:miter lim="400000"/>
          </a:ln>
        </p:spPr>
        <p:txBody>
          <a:bodyPr lIns="38099" rIns="38099"/>
          <a:lstStyle/>
          <a:p>
            <a:endParaRPr sz="1500"/>
          </a:p>
        </p:txBody>
      </p:sp>
      <p:sp>
        <p:nvSpPr>
          <p:cNvPr id="426" name="object 3"/>
          <p:cNvSpPr txBox="1">
            <a:spLocks noGrp="1"/>
          </p:cNvSpPr>
          <p:nvPr>
            <p:ph type="title"/>
          </p:nvPr>
        </p:nvSpPr>
        <p:spPr>
          <a:prstGeom prst="rect">
            <a:avLst/>
          </a:prstGeom>
        </p:spPr>
        <p:txBody>
          <a:bodyPr>
            <a:normAutofit/>
          </a:bodyPr>
          <a:lstStyle/>
          <a:p>
            <a:pPr indent="10583">
              <a:spcBef>
                <a:spcPts val="83"/>
              </a:spcBef>
              <a:defRPr sz="3600" spc="-100">
                <a:latin typeface="+mn-lt"/>
                <a:ea typeface="+mn-ea"/>
                <a:cs typeface="+mn-cs"/>
                <a:sym typeface="Calibri"/>
              </a:defRPr>
            </a:pPr>
            <a:r>
              <a:t>The flow chart for the continue statement is as</a:t>
            </a:r>
            <a:r>
              <a:rPr spc="-167"/>
              <a:t> </a:t>
            </a:r>
            <a:r>
              <a:t>follows:</a:t>
            </a:r>
          </a:p>
        </p:txBody>
      </p:sp>
      <p:sp>
        <p:nvSpPr>
          <p:cNvPr id="427" name="object 4"/>
          <p:cNvSpPr/>
          <p:nvPr/>
        </p:nvSpPr>
        <p:spPr>
          <a:xfrm>
            <a:off x="4127500" y="1460500"/>
            <a:ext cx="4168588" cy="5016500"/>
          </a:xfrm>
          <a:prstGeom prst="rect">
            <a:avLst/>
          </a:prstGeom>
          <a:blipFill>
            <a:blip r:embed="rId3"/>
            <a:stretch>
              <a:fillRect/>
            </a:stretch>
          </a:blipFill>
          <a:ln w="12700">
            <a:miter lim="400000"/>
          </a:ln>
        </p:spPr>
        <p:txBody>
          <a:bodyPr lIns="38099" rIns="38099"/>
          <a:lstStyle/>
          <a:p>
            <a:endParaRPr sz="1500"/>
          </a:p>
        </p:txBody>
      </p:sp>
    </p:spTree>
    <p:extLst>
      <p:ext uri="{BB962C8B-B14F-4D97-AF65-F5344CB8AC3E}">
        <p14:creationId xmlns:p14="http://schemas.microsoft.com/office/powerpoint/2010/main" val="279511513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 name="object 2"/>
          <p:cNvSpPr/>
          <p:nvPr/>
        </p:nvSpPr>
        <p:spPr>
          <a:xfrm>
            <a:off x="495300" y="5839460"/>
            <a:ext cx="567691" cy="562611"/>
          </a:xfrm>
          <a:prstGeom prst="rect">
            <a:avLst/>
          </a:prstGeom>
          <a:blipFill>
            <a:blip r:embed="rId2"/>
            <a:stretch>
              <a:fillRect/>
            </a:stretch>
          </a:blipFill>
          <a:ln w="12700">
            <a:miter lim="400000"/>
          </a:ln>
        </p:spPr>
        <p:txBody>
          <a:bodyPr lIns="38099" rIns="38099"/>
          <a:lstStyle/>
          <a:p>
            <a:endParaRPr sz="1500"/>
          </a:p>
        </p:txBody>
      </p:sp>
      <p:sp>
        <p:nvSpPr>
          <p:cNvPr id="430" name="object 3"/>
          <p:cNvSpPr txBox="1">
            <a:spLocks noGrp="1"/>
          </p:cNvSpPr>
          <p:nvPr>
            <p:ph type="title"/>
          </p:nvPr>
        </p:nvSpPr>
        <p:spPr>
          <a:prstGeom prst="rect">
            <a:avLst/>
          </a:prstGeom>
        </p:spPr>
        <p:txBody>
          <a:bodyPr>
            <a:normAutofit/>
          </a:bodyPr>
          <a:lstStyle/>
          <a:p>
            <a:pPr indent="10583">
              <a:spcBef>
                <a:spcPts val="83"/>
              </a:spcBef>
              <a:defRPr sz="3600" spc="-100">
                <a:latin typeface="+mn-lt"/>
                <a:ea typeface="+mn-ea"/>
                <a:cs typeface="+mn-cs"/>
                <a:sym typeface="Calibri"/>
              </a:defRPr>
            </a:pPr>
            <a:r>
              <a:t>The following are the steps involved in the</a:t>
            </a:r>
            <a:r>
              <a:rPr spc="-167"/>
              <a:t> </a:t>
            </a:r>
            <a:r>
              <a:t>flowchart.</a:t>
            </a:r>
          </a:p>
        </p:txBody>
      </p:sp>
      <p:sp>
        <p:nvSpPr>
          <p:cNvPr id="431" name="object 4"/>
          <p:cNvSpPr txBox="1"/>
          <p:nvPr/>
        </p:nvSpPr>
        <p:spPr>
          <a:xfrm>
            <a:off x="1062991" y="1485371"/>
            <a:ext cx="10290809" cy="369331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indent="10583">
              <a:spcBef>
                <a:spcPts val="83"/>
              </a:spcBef>
              <a:defRPr sz="2000" b="1" spc="-9"/>
            </a:pPr>
            <a:r>
              <a:rPr sz="2400" dirty="0"/>
              <a:t>Step 1)The loop </a:t>
            </a:r>
            <a:r>
              <a:rPr sz="2400" spc="-7" dirty="0"/>
              <a:t>execution</a:t>
            </a:r>
            <a:r>
              <a:rPr sz="2400" spc="-29" dirty="0"/>
              <a:t> </a:t>
            </a:r>
            <a:r>
              <a:rPr sz="2400" spc="-7" dirty="0"/>
              <a:t>starts.</a:t>
            </a:r>
          </a:p>
          <a:p>
            <a:pPr indent="10583">
              <a:defRPr sz="2000" b="1" spc="-9"/>
            </a:pPr>
            <a:r>
              <a:rPr sz="2400" dirty="0"/>
              <a:t>Step 2)The </a:t>
            </a:r>
            <a:r>
              <a:rPr sz="2400" spc="-7" dirty="0"/>
              <a:t>execution </a:t>
            </a:r>
            <a:r>
              <a:rPr sz="2400" dirty="0"/>
              <a:t>of code inside the loop will be done. If there is a continued </a:t>
            </a:r>
            <a:r>
              <a:rPr sz="2400" spc="-12" dirty="0"/>
              <a:t>statement </a:t>
            </a:r>
            <a:r>
              <a:rPr sz="2400" dirty="0"/>
              <a:t>inside the loop, the </a:t>
            </a:r>
            <a:r>
              <a:rPr sz="2400" spc="-12" dirty="0"/>
              <a:t>control </a:t>
            </a:r>
            <a:r>
              <a:rPr sz="2400" dirty="0"/>
              <a:t>will go back  </a:t>
            </a:r>
            <a:r>
              <a:rPr sz="2400" spc="-12" dirty="0"/>
              <a:t>to </a:t>
            </a:r>
            <a:r>
              <a:rPr sz="2400" dirty="0"/>
              <a:t>Step 4, i.e., the </a:t>
            </a:r>
            <a:r>
              <a:rPr sz="2400" spc="-7" dirty="0"/>
              <a:t>start </a:t>
            </a:r>
            <a:r>
              <a:rPr sz="2400" dirty="0"/>
              <a:t>of the loop </a:t>
            </a:r>
            <a:r>
              <a:rPr sz="2400" spc="-12" dirty="0"/>
              <a:t>for </a:t>
            </a:r>
            <a:r>
              <a:rPr sz="2400" dirty="0"/>
              <a:t>the </a:t>
            </a:r>
            <a:r>
              <a:rPr sz="2400" spc="-7" dirty="0"/>
              <a:t>next</a:t>
            </a:r>
            <a:r>
              <a:rPr sz="2400" dirty="0"/>
              <a:t> </a:t>
            </a:r>
            <a:r>
              <a:rPr sz="2400" spc="-7" dirty="0"/>
              <a:t>iteration.</a:t>
            </a:r>
          </a:p>
          <a:p>
            <a:pPr indent="10583">
              <a:defRPr sz="2000" b="1" spc="-9"/>
            </a:pPr>
            <a:r>
              <a:rPr sz="2400" dirty="0"/>
              <a:t>Step 3)The </a:t>
            </a:r>
            <a:r>
              <a:rPr sz="2400" spc="-7" dirty="0"/>
              <a:t>execution </a:t>
            </a:r>
            <a:r>
              <a:rPr sz="2400" dirty="0"/>
              <a:t>of code inside the loop will be</a:t>
            </a:r>
            <a:r>
              <a:rPr sz="2400" spc="-42" dirty="0"/>
              <a:t> </a:t>
            </a:r>
            <a:r>
              <a:rPr sz="2400" dirty="0"/>
              <a:t>done.</a:t>
            </a:r>
          </a:p>
          <a:p>
            <a:pPr indent="10583">
              <a:defRPr sz="2000" b="1" spc="-9"/>
            </a:pPr>
            <a:r>
              <a:rPr sz="2400" dirty="0"/>
              <a:t>Step 4)If </a:t>
            </a:r>
            <a:r>
              <a:rPr sz="2400" spc="-3" dirty="0"/>
              <a:t>there </a:t>
            </a:r>
            <a:r>
              <a:rPr sz="2400" dirty="0"/>
              <a:t>is a </a:t>
            </a:r>
            <a:r>
              <a:rPr sz="2400" spc="-3" dirty="0"/>
              <a:t>continue </a:t>
            </a:r>
            <a:r>
              <a:rPr sz="2400" spc="-12" dirty="0"/>
              <a:t>statement </a:t>
            </a:r>
            <a:r>
              <a:rPr sz="2400" spc="-3" dirty="0"/>
              <a:t>or </a:t>
            </a:r>
            <a:r>
              <a:rPr sz="2400" dirty="0"/>
              <a:t>the loop </a:t>
            </a:r>
            <a:r>
              <a:rPr sz="2400" spc="-7" dirty="0"/>
              <a:t>execution </a:t>
            </a:r>
            <a:r>
              <a:rPr sz="2400" spc="-3" dirty="0"/>
              <a:t>inside </a:t>
            </a:r>
            <a:r>
              <a:rPr sz="2400" dirty="0"/>
              <a:t>the body is </a:t>
            </a:r>
            <a:r>
              <a:rPr sz="2400" spc="-3" dirty="0"/>
              <a:t>done, </a:t>
            </a:r>
            <a:r>
              <a:rPr sz="2400" dirty="0"/>
              <a:t>it </a:t>
            </a:r>
            <a:r>
              <a:rPr sz="2400" spc="-3" dirty="0"/>
              <a:t>will call </a:t>
            </a:r>
            <a:r>
              <a:rPr sz="2400" dirty="0"/>
              <a:t>the </a:t>
            </a:r>
            <a:r>
              <a:rPr sz="2400" spc="-7" dirty="0"/>
              <a:t>next</a:t>
            </a:r>
            <a:r>
              <a:rPr sz="2400" spc="16" dirty="0"/>
              <a:t> </a:t>
            </a:r>
            <a:r>
              <a:rPr sz="2400" spc="-7" dirty="0"/>
              <a:t>iteration.</a:t>
            </a:r>
          </a:p>
          <a:p>
            <a:pPr indent="10583">
              <a:defRPr sz="2000" b="1" spc="-9"/>
            </a:pPr>
            <a:r>
              <a:rPr sz="2400" dirty="0"/>
              <a:t>Step 5)Once the loop </a:t>
            </a:r>
            <a:r>
              <a:rPr sz="2400" spc="-7" dirty="0"/>
              <a:t>execution </a:t>
            </a:r>
            <a:r>
              <a:rPr sz="2400" dirty="0"/>
              <a:t>is </a:t>
            </a:r>
            <a:r>
              <a:rPr sz="2400" spc="-7" dirty="0"/>
              <a:t>complete, </a:t>
            </a:r>
            <a:r>
              <a:rPr sz="2400" dirty="0"/>
              <a:t>the loop </a:t>
            </a:r>
            <a:r>
              <a:rPr sz="2400" spc="-3" dirty="0"/>
              <a:t>will </a:t>
            </a:r>
            <a:r>
              <a:rPr sz="2400" spc="-12" dirty="0"/>
              <a:t>exit </a:t>
            </a:r>
            <a:r>
              <a:rPr sz="2400" dirty="0"/>
              <a:t>and </a:t>
            </a:r>
            <a:r>
              <a:rPr sz="2400" spc="-3" dirty="0"/>
              <a:t>go </a:t>
            </a:r>
            <a:r>
              <a:rPr sz="2400" spc="-12" dirty="0"/>
              <a:t>to step</a:t>
            </a:r>
            <a:r>
              <a:rPr sz="2400" dirty="0"/>
              <a:t> 7.</a:t>
            </a:r>
          </a:p>
          <a:p>
            <a:pPr indent="10583">
              <a:defRPr sz="2000" b="1" spc="-9"/>
            </a:pPr>
            <a:r>
              <a:rPr sz="2400" dirty="0"/>
              <a:t>Step</a:t>
            </a:r>
            <a:r>
              <a:rPr sz="2400" spc="-12" dirty="0"/>
              <a:t> </a:t>
            </a:r>
            <a:r>
              <a:rPr sz="2400" dirty="0"/>
              <a:t>6)If the loop </a:t>
            </a:r>
            <a:r>
              <a:rPr sz="2400" spc="-3" dirty="0"/>
              <a:t>condition </a:t>
            </a:r>
            <a:r>
              <a:rPr sz="2400" dirty="0"/>
              <a:t>in </a:t>
            </a:r>
            <a:r>
              <a:rPr sz="2400" spc="-12" dirty="0"/>
              <a:t>step </a:t>
            </a:r>
            <a:r>
              <a:rPr sz="2400" dirty="0"/>
              <a:t>1 </a:t>
            </a:r>
            <a:r>
              <a:rPr sz="2400" spc="-7" dirty="0"/>
              <a:t>fails, </a:t>
            </a:r>
            <a:r>
              <a:rPr sz="2400" dirty="0"/>
              <a:t>it </a:t>
            </a:r>
            <a:r>
              <a:rPr sz="2400" spc="-3" dirty="0"/>
              <a:t>will </a:t>
            </a:r>
            <a:r>
              <a:rPr sz="2400" spc="-12" dirty="0"/>
              <a:t>exit </a:t>
            </a:r>
            <a:r>
              <a:rPr sz="2400" dirty="0"/>
              <a:t>the loop and </a:t>
            </a:r>
            <a:r>
              <a:rPr sz="2400" spc="-3" dirty="0"/>
              <a:t>go </a:t>
            </a:r>
            <a:r>
              <a:rPr sz="2400" spc="-12" dirty="0"/>
              <a:t>to step</a:t>
            </a:r>
            <a:r>
              <a:rPr sz="2400" spc="3" dirty="0"/>
              <a:t> </a:t>
            </a:r>
            <a:r>
              <a:rPr sz="2400" dirty="0"/>
              <a:t>7.</a:t>
            </a:r>
          </a:p>
          <a:p>
            <a:pPr indent="10583">
              <a:defRPr sz="2000" b="1" spc="-9"/>
            </a:pPr>
            <a:r>
              <a:rPr sz="2400" dirty="0"/>
              <a:t>Step 7)End </a:t>
            </a:r>
            <a:r>
              <a:rPr sz="2400" spc="-3" dirty="0"/>
              <a:t>of </a:t>
            </a:r>
            <a:r>
              <a:rPr sz="2400" dirty="0"/>
              <a:t>the</a:t>
            </a:r>
            <a:r>
              <a:rPr sz="2400" spc="-29" dirty="0"/>
              <a:t> </a:t>
            </a:r>
            <a:r>
              <a:rPr sz="2400" dirty="0"/>
              <a:t>loop.</a:t>
            </a:r>
          </a:p>
        </p:txBody>
      </p:sp>
    </p:spTree>
    <p:extLst>
      <p:ext uri="{BB962C8B-B14F-4D97-AF65-F5344CB8AC3E}">
        <p14:creationId xmlns:p14="http://schemas.microsoft.com/office/powerpoint/2010/main" val="76822708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 name="object 2"/>
          <p:cNvSpPr/>
          <p:nvPr/>
        </p:nvSpPr>
        <p:spPr>
          <a:xfrm>
            <a:off x="495300" y="5839460"/>
            <a:ext cx="567691" cy="562611"/>
          </a:xfrm>
          <a:prstGeom prst="rect">
            <a:avLst/>
          </a:prstGeom>
          <a:blipFill>
            <a:blip r:embed="rId2"/>
            <a:stretch>
              <a:fillRect/>
            </a:stretch>
          </a:blipFill>
          <a:ln w="12700">
            <a:miter lim="400000"/>
          </a:ln>
        </p:spPr>
        <p:txBody>
          <a:bodyPr lIns="38099" rIns="38099"/>
          <a:lstStyle/>
          <a:p>
            <a:endParaRPr sz="1500"/>
          </a:p>
        </p:txBody>
      </p:sp>
      <p:sp>
        <p:nvSpPr>
          <p:cNvPr id="435" name="object 4"/>
          <p:cNvSpPr txBox="1"/>
          <p:nvPr/>
        </p:nvSpPr>
        <p:spPr>
          <a:xfrm>
            <a:off x="1450129" y="1136861"/>
            <a:ext cx="2969154" cy="49116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indent="10583">
              <a:spcBef>
                <a:spcPts val="83"/>
              </a:spcBef>
              <a:defRPr sz="2400" spc="-5"/>
            </a:pPr>
            <a:r>
              <a:rPr lang="en-US" sz="2000" b="1" dirty="0"/>
              <a:t>Program </a:t>
            </a:r>
            <a:r>
              <a:rPr sz="2000" b="1" dirty="0"/>
              <a:t>1.</a:t>
            </a:r>
          </a:p>
          <a:p>
            <a:pPr marL="227533" marR="1174173" indent="-217478">
              <a:defRPr sz="2400" spc="-20"/>
            </a:pPr>
            <a:r>
              <a:rPr sz="2000" dirty="0"/>
              <a:t>for </a:t>
            </a:r>
            <a:r>
              <a:rPr sz="2000" dirty="0" err="1"/>
              <a:t>i</a:t>
            </a:r>
            <a:r>
              <a:rPr sz="2000" dirty="0"/>
              <a:t> in</a:t>
            </a:r>
            <a:r>
              <a:rPr sz="2000" spc="-71" dirty="0"/>
              <a:t> </a:t>
            </a:r>
            <a:r>
              <a:rPr sz="2000" spc="-8" dirty="0"/>
              <a:t>range(10):  </a:t>
            </a:r>
            <a:r>
              <a:rPr sz="2000" dirty="0"/>
              <a:t>if </a:t>
            </a:r>
            <a:r>
              <a:rPr sz="2000" dirty="0" err="1"/>
              <a:t>i</a:t>
            </a:r>
            <a:r>
              <a:rPr sz="2000" dirty="0"/>
              <a:t> </a:t>
            </a:r>
            <a:r>
              <a:rPr sz="2000" spc="-4" dirty="0"/>
              <a:t>==</a:t>
            </a:r>
            <a:r>
              <a:rPr sz="2000" spc="-21" dirty="0"/>
              <a:t> </a:t>
            </a:r>
            <a:r>
              <a:rPr sz="2000" spc="-4" dirty="0"/>
              <a:t>7:</a:t>
            </a:r>
          </a:p>
          <a:p>
            <a:pPr indent="465119">
              <a:defRPr sz="2400" spc="-10"/>
            </a:pPr>
            <a:r>
              <a:rPr sz="2000" dirty="0"/>
              <a:t>continue</a:t>
            </a:r>
          </a:p>
          <a:p>
            <a:pPr indent="237586">
              <a:defRPr sz="2400" spc="-5"/>
            </a:pPr>
            <a:r>
              <a:rPr sz="2000" dirty="0"/>
              <a:t>print("The Number is :" ,</a:t>
            </a:r>
            <a:r>
              <a:rPr sz="2000" spc="-92" dirty="0"/>
              <a:t> </a:t>
            </a:r>
            <a:r>
              <a:rPr sz="2000" dirty="0" err="1"/>
              <a:t>i</a:t>
            </a:r>
            <a:r>
              <a:rPr sz="2000" dirty="0"/>
              <a:t>)</a:t>
            </a:r>
          </a:p>
          <a:p>
            <a:pPr>
              <a:defRPr sz="2300"/>
            </a:pPr>
            <a:endParaRPr sz="1917" dirty="0"/>
          </a:p>
          <a:p>
            <a:pPr indent="10583">
              <a:defRPr sz="2400" spc="-5"/>
            </a:pPr>
            <a:r>
              <a:rPr sz="2000" dirty="0"/>
              <a:t>Output</a:t>
            </a:r>
          </a:p>
          <a:p>
            <a:pPr marR="1134487" indent="10583" algn="just">
              <a:defRPr sz="2400" spc="-5"/>
            </a:pPr>
            <a:r>
              <a:rPr sz="2000" dirty="0"/>
              <a:t>The Number is :</a:t>
            </a:r>
            <a:r>
              <a:rPr sz="2000" spc="-92" dirty="0"/>
              <a:t> </a:t>
            </a:r>
            <a:r>
              <a:rPr sz="2000" dirty="0"/>
              <a:t>0  The Number is :</a:t>
            </a:r>
            <a:r>
              <a:rPr sz="2000" spc="-92" dirty="0"/>
              <a:t> </a:t>
            </a:r>
            <a:r>
              <a:rPr sz="2000" dirty="0"/>
              <a:t>1  The Number is :</a:t>
            </a:r>
            <a:r>
              <a:rPr sz="2000" spc="-92" dirty="0"/>
              <a:t> </a:t>
            </a:r>
            <a:r>
              <a:rPr sz="2000" dirty="0"/>
              <a:t>2  The Number is :</a:t>
            </a:r>
            <a:r>
              <a:rPr sz="2000" spc="-92" dirty="0"/>
              <a:t> </a:t>
            </a:r>
            <a:r>
              <a:rPr sz="2000" dirty="0"/>
              <a:t>3  The Number is :</a:t>
            </a:r>
            <a:r>
              <a:rPr sz="2000" spc="-92" dirty="0"/>
              <a:t> </a:t>
            </a:r>
            <a:r>
              <a:rPr sz="2000" dirty="0"/>
              <a:t>4  The Number is :</a:t>
            </a:r>
            <a:r>
              <a:rPr sz="2000" spc="-83" dirty="0"/>
              <a:t> </a:t>
            </a:r>
            <a:r>
              <a:rPr sz="2000" dirty="0"/>
              <a:t>5  The Number is :</a:t>
            </a:r>
            <a:r>
              <a:rPr sz="2000" spc="-92" dirty="0"/>
              <a:t> </a:t>
            </a:r>
            <a:r>
              <a:rPr sz="2000" dirty="0"/>
              <a:t>6  The Number is :</a:t>
            </a:r>
            <a:r>
              <a:rPr sz="2000" spc="-92" dirty="0"/>
              <a:t> </a:t>
            </a:r>
            <a:r>
              <a:rPr sz="2000" dirty="0"/>
              <a:t>8  The Number is :</a:t>
            </a:r>
            <a:r>
              <a:rPr sz="2000" spc="-92" dirty="0"/>
              <a:t> </a:t>
            </a:r>
            <a:r>
              <a:rPr sz="2000" dirty="0"/>
              <a:t>9</a:t>
            </a:r>
          </a:p>
        </p:txBody>
      </p:sp>
    </p:spTree>
    <p:extLst>
      <p:ext uri="{BB962C8B-B14F-4D97-AF65-F5344CB8AC3E}">
        <p14:creationId xmlns:p14="http://schemas.microsoft.com/office/powerpoint/2010/main" val="2416289824"/>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 name="object 2"/>
          <p:cNvSpPr/>
          <p:nvPr/>
        </p:nvSpPr>
        <p:spPr>
          <a:xfrm>
            <a:off x="495300" y="5839460"/>
            <a:ext cx="567691" cy="562611"/>
          </a:xfrm>
          <a:prstGeom prst="rect">
            <a:avLst/>
          </a:prstGeom>
          <a:blipFill>
            <a:blip r:embed="rId2"/>
            <a:stretch>
              <a:fillRect/>
            </a:stretch>
          </a:blipFill>
          <a:ln w="12700">
            <a:miter lim="400000"/>
          </a:ln>
        </p:spPr>
        <p:txBody>
          <a:bodyPr lIns="38099" rIns="38099"/>
          <a:lstStyle/>
          <a:p>
            <a:endParaRPr sz="1500"/>
          </a:p>
        </p:txBody>
      </p:sp>
      <p:sp>
        <p:nvSpPr>
          <p:cNvPr id="438" name="object 3"/>
          <p:cNvSpPr txBox="1">
            <a:spLocks noGrp="1"/>
          </p:cNvSpPr>
          <p:nvPr>
            <p:ph type="title"/>
          </p:nvPr>
        </p:nvSpPr>
        <p:spPr>
          <a:xfrm>
            <a:off x="838200" y="365126"/>
            <a:ext cx="10515600" cy="481036"/>
          </a:xfrm>
          <a:prstGeom prst="rect">
            <a:avLst/>
          </a:prstGeom>
        </p:spPr>
        <p:txBody>
          <a:bodyPr>
            <a:normAutofit fontScale="90000"/>
          </a:bodyPr>
          <a:lstStyle>
            <a:lvl1pPr indent="12700">
              <a:defRPr spc="-100">
                <a:latin typeface="+mn-lt"/>
                <a:ea typeface="+mn-ea"/>
                <a:cs typeface="+mn-cs"/>
                <a:sym typeface="Calibri"/>
              </a:defRPr>
            </a:lvl1pPr>
          </a:lstStyle>
          <a:p>
            <a:r>
              <a:rPr lang="en-US" dirty="0"/>
              <a:t>Program </a:t>
            </a:r>
            <a:r>
              <a:rPr dirty="0"/>
              <a:t>2.</a:t>
            </a:r>
          </a:p>
        </p:txBody>
      </p:sp>
      <p:sp>
        <p:nvSpPr>
          <p:cNvPr id="439" name="object 4"/>
          <p:cNvSpPr txBox="1"/>
          <p:nvPr/>
        </p:nvSpPr>
        <p:spPr>
          <a:xfrm>
            <a:off x="1196127" y="1083839"/>
            <a:ext cx="7729509" cy="54630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indent="10583">
              <a:spcBef>
                <a:spcPts val="83"/>
              </a:spcBef>
              <a:defRPr sz="2000"/>
            </a:pPr>
            <a:r>
              <a:rPr sz="2400" dirty="0"/>
              <a:t>cart=[10,20,30,500,40,50]</a:t>
            </a:r>
          </a:p>
          <a:p>
            <a:pPr marL="190492" marR="1720781" indent="-179909">
              <a:defRPr sz="2000" spc="-15"/>
            </a:pPr>
            <a:r>
              <a:rPr sz="2400" dirty="0"/>
              <a:t>for </a:t>
            </a:r>
            <a:r>
              <a:rPr sz="2400" spc="-7" dirty="0"/>
              <a:t>item </a:t>
            </a:r>
            <a:r>
              <a:rPr sz="2400" dirty="0"/>
              <a:t>in</a:t>
            </a:r>
            <a:r>
              <a:rPr sz="2400" spc="-32" dirty="0"/>
              <a:t> </a:t>
            </a:r>
            <a:r>
              <a:rPr sz="2400" spc="-3" dirty="0"/>
              <a:t>cart:  </a:t>
            </a:r>
            <a:r>
              <a:rPr sz="2400" dirty="0"/>
              <a:t>if</a:t>
            </a:r>
            <a:r>
              <a:rPr sz="2400" spc="-66" dirty="0"/>
              <a:t> </a:t>
            </a:r>
            <a:r>
              <a:rPr sz="2400" spc="-3" dirty="0"/>
              <a:t>item&gt;=500:</a:t>
            </a:r>
          </a:p>
          <a:p>
            <a:pPr indent="391568">
              <a:defRPr sz="2000" spc="-4"/>
            </a:pPr>
            <a:r>
              <a:rPr sz="2400" dirty="0"/>
              <a:t>print("cant </a:t>
            </a:r>
            <a:r>
              <a:rPr sz="2400" spc="-7" dirty="0"/>
              <a:t>process </a:t>
            </a:r>
            <a:r>
              <a:rPr sz="2400" dirty="0"/>
              <a:t>this</a:t>
            </a:r>
            <a:r>
              <a:rPr sz="2400" spc="-21" dirty="0"/>
              <a:t> </a:t>
            </a:r>
            <a:r>
              <a:rPr sz="2400" spc="-7" dirty="0"/>
              <a:t>order")</a:t>
            </a:r>
          </a:p>
          <a:p>
            <a:pPr marR="1916036" indent="391568">
              <a:defRPr sz="2000" spc="-9"/>
            </a:pPr>
            <a:r>
              <a:rPr sz="2400" dirty="0"/>
              <a:t>c</a:t>
            </a:r>
            <a:r>
              <a:rPr sz="2400" spc="-3" dirty="0"/>
              <a:t>o</a:t>
            </a:r>
            <a:r>
              <a:rPr sz="2400" spc="-21" dirty="0"/>
              <a:t>n</a:t>
            </a:r>
            <a:r>
              <a:rPr sz="2400" dirty="0"/>
              <a:t>tinue  print(item)</a:t>
            </a:r>
          </a:p>
          <a:p>
            <a:pPr indent="10583">
              <a:defRPr sz="2000" spc="-4"/>
            </a:pPr>
            <a:r>
              <a:rPr sz="2400" dirty="0"/>
              <a:t>else:</a:t>
            </a:r>
          </a:p>
          <a:p>
            <a:pPr indent="201075">
              <a:defRPr sz="2000" spc="-4"/>
            </a:pPr>
            <a:r>
              <a:rPr sz="2400" dirty="0"/>
              <a:t>print("All </a:t>
            </a:r>
            <a:r>
              <a:rPr sz="2400" spc="-7" dirty="0"/>
              <a:t>items</a:t>
            </a:r>
            <a:r>
              <a:rPr sz="2400" spc="25" dirty="0"/>
              <a:t> </a:t>
            </a:r>
            <a:r>
              <a:rPr sz="2400" spc="-7" dirty="0"/>
              <a:t>processed...")</a:t>
            </a:r>
          </a:p>
          <a:p>
            <a:pPr indent="10583">
              <a:defRPr sz="2000" spc="-4"/>
            </a:pPr>
            <a:r>
              <a:rPr sz="2400" dirty="0"/>
              <a:t>print("out of </a:t>
            </a:r>
            <a:r>
              <a:rPr sz="2400" spc="-12" dirty="0"/>
              <a:t>for</a:t>
            </a:r>
            <a:r>
              <a:rPr sz="2400" spc="-21" dirty="0"/>
              <a:t> </a:t>
            </a:r>
            <a:r>
              <a:rPr sz="2400" dirty="0"/>
              <a:t>loop..")</a:t>
            </a:r>
          </a:p>
          <a:p>
            <a:pPr>
              <a:defRPr sz="2000"/>
            </a:pPr>
            <a:endParaRPr sz="2400" dirty="0"/>
          </a:p>
          <a:p>
            <a:pPr>
              <a:defRPr sz="1900"/>
            </a:pPr>
            <a:endParaRPr dirty="0"/>
          </a:p>
          <a:p>
            <a:pPr marR="2436715" indent="10583">
              <a:defRPr sz="2000" spc="-4"/>
            </a:pPr>
            <a:r>
              <a:rPr sz="2400" dirty="0"/>
              <a:t>O</a:t>
            </a:r>
            <a:r>
              <a:rPr sz="2400" spc="3" dirty="0"/>
              <a:t>u</a:t>
            </a:r>
            <a:r>
              <a:rPr sz="2400" dirty="0"/>
              <a:t>tp</a:t>
            </a:r>
            <a:r>
              <a:rPr sz="2400" spc="3" dirty="0"/>
              <a:t>u</a:t>
            </a:r>
            <a:r>
              <a:rPr sz="2400" dirty="0"/>
              <a:t>t  10</a:t>
            </a:r>
          </a:p>
          <a:p>
            <a:pPr indent="10583">
              <a:defRPr sz="2000"/>
            </a:pPr>
            <a:r>
              <a:rPr sz="2400" dirty="0"/>
              <a:t>20</a:t>
            </a:r>
          </a:p>
          <a:p>
            <a:pPr indent="10583">
              <a:defRPr sz="2000"/>
            </a:pPr>
            <a:r>
              <a:rPr sz="2400" dirty="0"/>
              <a:t>30</a:t>
            </a:r>
          </a:p>
          <a:p>
            <a:pPr marR="1099564" indent="10583">
              <a:defRPr sz="2000" spc="-9"/>
            </a:pPr>
            <a:r>
              <a:rPr sz="2400" dirty="0"/>
              <a:t>cant process this order  40</a:t>
            </a:r>
          </a:p>
          <a:p>
            <a:pPr indent="10583">
              <a:defRPr sz="2000"/>
            </a:pPr>
            <a:r>
              <a:rPr sz="2400" dirty="0"/>
              <a:t>50</a:t>
            </a:r>
          </a:p>
          <a:p>
            <a:pPr marR="1232379" indent="10583">
              <a:defRPr sz="2000"/>
            </a:pPr>
            <a:r>
              <a:rPr sz="2400" dirty="0"/>
              <a:t>All </a:t>
            </a:r>
            <a:r>
              <a:rPr sz="2400" spc="-7" dirty="0"/>
              <a:t>items processed...  </a:t>
            </a:r>
            <a:r>
              <a:rPr sz="2400" spc="-3" dirty="0"/>
              <a:t>out of </a:t>
            </a:r>
            <a:r>
              <a:rPr sz="2400" spc="-12" dirty="0"/>
              <a:t>for</a:t>
            </a:r>
            <a:r>
              <a:rPr sz="2400" spc="-37" dirty="0"/>
              <a:t> </a:t>
            </a:r>
            <a:r>
              <a:rPr sz="2400" dirty="0"/>
              <a:t>loop..</a:t>
            </a:r>
          </a:p>
        </p:txBody>
      </p:sp>
    </p:spTree>
    <p:extLst>
      <p:ext uri="{BB962C8B-B14F-4D97-AF65-F5344CB8AC3E}">
        <p14:creationId xmlns:p14="http://schemas.microsoft.com/office/powerpoint/2010/main" val="359422684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 name="object 2"/>
          <p:cNvSpPr/>
          <p:nvPr/>
        </p:nvSpPr>
        <p:spPr>
          <a:xfrm>
            <a:off x="495300" y="5839460"/>
            <a:ext cx="567691" cy="562611"/>
          </a:xfrm>
          <a:prstGeom prst="rect">
            <a:avLst/>
          </a:prstGeom>
          <a:blipFill>
            <a:blip r:embed="rId2"/>
            <a:stretch>
              <a:fillRect/>
            </a:stretch>
          </a:blipFill>
          <a:ln w="12700">
            <a:miter lim="400000"/>
          </a:ln>
        </p:spPr>
        <p:txBody>
          <a:bodyPr lIns="38099" rIns="38099"/>
          <a:lstStyle/>
          <a:p>
            <a:endParaRPr sz="1500"/>
          </a:p>
        </p:txBody>
      </p:sp>
      <p:sp>
        <p:nvSpPr>
          <p:cNvPr id="442" name="object 3"/>
          <p:cNvSpPr txBox="1">
            <a:spLocks noGrp="1"/>
          </p:cNvSpPr>
          <p:nvPr>
            <p:ph type="title"/>
          </p:nvPr>
        </p:nvSpPr>
        <p:spPr>
          <a:xfrm>
            <a:off x="838200" y="365126"/>
            <a:ext cx="10515600" cy="371854"/>
          </a:xfrm>
          <a:prstGeom prst="rect">
            <a:avLst/>
          </a:prstGeom>
        </p:spPr>
        <p:txBody>
          <a:bodyPr>
            <a:normAutofit fontScale="90000"/>
          </a:bodyPr>
          <a:lstStyle>
            <a:lvl1pPr indent="12700">
              <a:defRPr spc="-100">
                <a:latin typeface="Arial"/>
                <a:ea typeface="Arial"/>
                <a:cs typeface="Arial"/>
                <a:sym typeface="Arial"/>
              </a:defRPr>
            </a:lvl1pPr>
          </a:lstStyle>
          <a:p>
            <a:r>
              <a:rPr lang="en-US" dirty="0"/>
              <a:t>Program </a:t>
            </a:r>
            <a:r>
              <a:rPr dirty="0"/>
              <a:t>3.</a:t>
            </a:r>
          </a:p>
        </p:txBody>
      </p:sp>
      <p:sp>
        <p:nvSpPr>
          <p:cNvPr id="443" name="object 4"/>
          <p:cNvSpPr txBox="1"/>
          <p:nvPr/>
        </p:nvSpPr>
        <p:spPr>
          <a:xfrm>
            <a:off x="1272329" y="1167342"/>
            <a:ext cx="6998214" cy="5386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marL="190492" marR="1070461" indent="-179909">
              <a:spcBef>
                <a:spcPts val="83"/>
              </a:spcBef>
              <a:defRPr sz="2000" spc="-15"/>
            </a:pPr>
            <a:r>
              <a:rPr dirty="0"/>
              <a:t>for </a:t>
            </a:r>
            <a:r>
              <a:rPr dirty="0" err="1"/>
              <a:t>i</a:t>
            </a:r>
            <a:r>
              <a:rPr dirty="0"/>
              <a:t> in </a:t>
            </a:r>
            <a:r>
              <a:rPr spc="-3" dirty="0"/>
              <a:t>range(4): </a:t>
            </a:r>
            <a:endParaRPr lang="en-US" spc="-3" dirty="0"/>
          </a:p>
          <a:p>
            <a:pPr marL="190492" marR="1070461" indent="-179909">
              <a:spcBef>
                <a:spcPts val="83"/>
              </a:spcBef>
              <a:defRPr sz="2000" spc="-15"/>
            </a:pPr>
            <a:r>
              <a:rPr lang="en-US" spc="-3" dirty="0"/>
              <a:t>  </a:t>
            </a:r>
            <a:r>
              <a:rPr spc="-3" dirty="0"/>
              <a:t> </a:t>
            </a:r>
            <a:r>
              <a:rPr dirty="0"/>
              <a:t>for j in</a:t>
            </a:r>
            <a:r>
              <a:rPr spc="-71" dirty="0"/>
              <a:t> </a:t>
            </a:r>
            <a:r>
              <a:rPr spc="-3" dirty="0"/>
              <a:t>range(4):</a:t>
            </a:r>
          </a:p>
          <a:p>
            <a:pPr indent="391568">
              <a:defRPr sz="2000"/>
            </a:pPr>
            <a:r>
              <a:rPr dirty="0"/>
              <a:t>if</a:t>
            </a:r>
            <a:r>
              <a:rPr spc="-3" dirty="0"/>
              <a:t> j==2:</a:t>
            </a:r>
          </a:p>
          <a:p>
            <a:pPr indent="582060">
              <a:defRPr sz="2000" spc="-4"/>
            </a:pPr>
            <a:r>
              <a:rPr dirty="0"/>
              <a:t>continue</a:t>
            </a:r>
          </a:p>
          <a:p>
            <a:pPr indent="391568">
              <a:defRPr sz="2000" spc="-4"/>
            </a:pPr>
            <a:r>
              <a:rPr dirty="0"/>
              <a:t>print("The number is</a:t>
            </a:r>
            <a:r>
              <a:rPr spc="-42" dirty="0"/>
              <a:t> </a:t>
            </a:r>
            <a:r>
              <a:rPr dirty="0"/>
              <a:t>",</a:t>
            </a:r>
            <a:r>
              <a:rPr dirty="0" err="1"/>
              <a:t>i,j</a:t>
            </a:r>
            <a:r>
              <a:rPr dirty="0"/>
              <a:t>);</a:t>
            </a:r>
          </a:p>
          <a:p>
            <a:pPr>
              <a:defRPr sz="2000"/>
            </a:pPr>
            <a:endParaRPr sz="1667" dirty="0"/>
          </a:p>
          <a:p>
            <a:pPr>
              <a:defRPr sz="1900"/>
            </a:pPr>
            <a:endParaRPr sz="1583" dirty="0"/>
          </a:p>
          <a:p>
            <a:pPr indent="10583">
              <a:defRPr sz="2000"/>
            </a:pPr>
            <a:r>
              <a:rPr sz="1667" dirty="0"/>
              <a:t>Output</a:t>
            </a:r>
          </a:p>
          <a:p>
            <a:pPr indent="10583">
              <a:defRPr sz="2000" spc="-4"/>
            </a:pPr>
            <a:r>
              <a:rPr sz="1667" dirty="0"/>
              <a:t>The number is 0</a:t>
            </a:r>
            <a:r>
              <a:rPr sz="1667" spc="-83" dirty="0"/>
              <a:t> </a:t>
            </a:r>
            <a:r>
              <a:rPr sz="1667" dirty="0"/>
              <a:t>0</a:t>
            </a:r>
          </a:p>
          <a:p>
            <a:pPr indent="10583">
              <a:defRPr sz="2000" spc="-4"/>
            </a:pPr>
            <a:r>
              <a:rPr sz="1667" dirty="0"/>
              <a:t>The number is 0</a:t>
            </a:r>
            <a:r>
              <a:rPr sz="1667" spc="-83" dirty="0"/>
              <a:t> </a:t>
            </a:r>
            <a:r>
              <a:rPr sz="1667" dirty="0"/>
              <a:t>1</a:t>
            </a:r>
          </a:p>
          <a:p>
            <a:pPr indent="10583">
              <a:defRPr sz="2000" spc="-4"/>
            </a:pPr>
            <a:r>
              <a:rPr sz="1667" dirty="0"/>
              <a:t>The number is 0</a:t>
            </a:r>
            <a:r>
              <a:rPr sz="1667" spc="-83" dirty="0"/>
              <a:t> </a:t>
            </a:r>
            <a:r>
              <a:rPr sz="1667" dirty="0"/>
              <a:t>3</a:t>
            </a:r>
          </a:p>
          <a:p>
            <a:pPr indent="10583">
              <a:defRPr sz="2000" spc="-4"/>
            </a:pPr>
            <a:r>
              <a:rPr sz="1667" dirty="0"/>
              <a:t>The number is 1</a:t>
            </a:r>
            <a:r>
              <a:rPr sz="1667" spc="-83" dirty="0"/>
              <a:t> </a:t>
            </a:r>
            <a:r>
              <a:rPr sz="1667" dirty="0"/>
              <a:t>0</a:t>
            </a:r>
          </a:p>
          <a:p>
            <a:pPr indent="10583">
              <a:defRPr sz="2000" spc="-4"/>
            </a:pPr>
            <a:r>
              <a:rPr sz="1667" dirty="0"/>
              <a:t>The number is 1</a:t>
            </a:r>
            <a:r>
              <a:rPr sz="1667" spc="-58" dirty="0"/>
              <a:t> </a:t>
            </a:r>
            <a:r>
              <a:rPr sz="1667" dirty="0"/>
              <a:t>1</a:t>
            </a:r>
          </a:p>
          <a:p>
            <a:pPr indent="10583">
              <a:defRPr sz="2000" spc="-4"/>
            </a:pPr>
            <a:r>
              <a:rPr sz="1667" dirty="0"/>
              <a:t>The number is 1</a:t>
            </a:r>
            <a:r>
              <a:rPr sz="1667" spc="-83" dirty="0"/>
              <a:t> </a:t>
            </a:r>
            <a:r>
              <a:rPr sz="1667" dirty="0"/>
              <a:t>3</a:t>
            </a:r>
          </a:p>
          <a:p>
            <a:pPr indent="10583">
              <a:defRPr sz="2000" spc="-4"/>
            </a:pPr>
            <a:r>
              <a:rPr sz="1667" dirty="0"/>
              <a:t>The number is 2</a:t>
            </a:r>
            <a:r>
              <a:rPr sz="1667" spc="-83" dirty="0"/>
              <a:t> </a:t>
            </a:r>
            <a:r>
              <a:rPr sz="1667" dirty="0"/>
              <a:t>0</a:t>
            </a:r>
          </a:p>
          <a:p>
            <a:pPr indent="10583">
              <a:defRPr sz="2000" spc="-4"/>
            </a:pPr>
            <a:r>
              <a:rPr sz="1667" dirty="0"/>
              <a:t>The number is 2</a:t>
            </a:r>
            <a:r>
              <a:rPr sz="1667" spc="-83" dirty="0"/>
              <a:t> </a:t>
            </a:r>
            <a:r>
              <a:rPr sz="1667" dirty="0"/>
              <a:t>1</a:t>
            </a:r>
          </a:p>
          <a:p>
            <a:pPr indent="10583">
              <a:defRPr sz="2000" spc="-4"/>
            </a:pPr>
            <a:r>
              <a:rPr sz="1667" dirty="0"/>
              <a:t>The number is 2</a:t>
            </a:r>
            <a:r>
              <a:rPr sz="1667" spc="-83" dirty="0"/>
              <a:t> </a:t>
            </a:r>
            <a:r>
              <a:rPr sz="1667" dirty="0"/>
              <a:t>3</a:t>
            </a:r>
          </a:p>
          <a:p>
            <a:pPr indent="10583">
              <a:defRPr sz="2000" spc="-4"/>
            </a:pPr>
            <a:r>
              <a:rPr sz="1667" dirty="0"/>
              <a:t>The number is 3</a:t>
            </a:r>
            <a:r>
              <a:rPr sz="1667" spc="-58" dirty="0"/>
              <a:t> </a:t>
            </a:r>
            <a:r>
              <a:rPr sz="1667" dirty="0"/>
              <a:t>0</a:t>
            </a:r>
          </a:p>
          <a:p>
            <a:pPr indent="10583">
              <a:defRPr sz="2000" spc="-4"/>
            </a:pPr>
            <a:r>
              <a:rPr sz="1667" dirty="0"/>
              <a:t>The number is 3</a:t>
            </a:r>
            <a:r>
              <a:rPr sz="1667" spc="-83" dirty="0"/>
              <a:t> </a:t>
            </a:r>
            <a:r>
              <a:rPr sz="1667" dirty="0"/>
              <a:t>1</a:t>
            </a:r>
          </a:p>
          <a:p>
            <a:pPr indent="10583">
              <a:defRPr sz="2000" spc="-4"/>
            </a:pPr>
            <a:r>
              <a:rPr sz="1667" dirty="0"/>
              <a:t>The number is 3</a:t>
            </a:r>
            <a:r>
              <a:rPr sz="1667" spc="-83" dirty="0"/>
              <a:t> </a:t>
            </a:r>
            <a:r>
              <a:rPr sz="1667" dirty="0"/>
              <a:t>3</a:t>
            </a:r>
          </a:p>
        </p:txBody>
      </p:sp>
    </p:spTree>
    <p:extLst>
      <p:ext uri="{BB962C8B-B14F-4D97-AF65-F5344CB8AC3E}">
        <p14:creationId xmlns:p14="http://schemas.microsoft.com/office/powerpoint/2010/main" val="109772751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 name="object 2"/>
          <p:cNvSpPr/>
          <p:nvPr/>
        </p:nvSpPr>
        <p:spPr>
          <a:xfrm>
            <a:off x="495300" y="5839460"/>
            <a:ext cx="567691" cy="562611"/>
          </a:xfrm>
          <a:prstGeom prst="rect">
            <a:avLst/>
          </a:prstGeom>
          <a:blipFill>
            <a:blip r:embed="rId2"/>
            <a:stretch>
              <a:fillRect/>
            </a:stretch>
          </a:blipFill>
          <a:ln w="12700">
            <a:miter lim="400000"/>
          </a:ln>
        </p:spPr>
        <p:txBody>
          <a:bodyPr lIns="38099" rIns="38099"/>
          <a:lstStyle/>
          <a:p>
            <a:endParaRPr sz="1500"/>
          </a:p>
        </p:txBody>
      </p:sp>
      <p:sp>
        <p:nvSpPr>
          <p:cNvPr id="446" name="object 3"/>
          <p:cNvSpPr txBox="1">
            <a:spLocks noGrp="1"/>
          </p:cNvSpPr>
          <p:nvPr>
            <p:ph type="title"/>
          </p:nvPr>
        </p:nvSpPr>
        <p:spPr>
          <a:prstGeom prst="rect">
            <a:avLst/>
          </a:prstGeom>
        </p:spPr>
        <p:txBody>
          <a:bodyPr>
            <a:normAutofit/>
          </a:bodyPr>
          <a:lstStyle/>
          <a:p>
            <a:pPr indent="10583">
              <a:spcBef>
                <a:spcPts val="83"/>
              </a:spcBef>
              <a:defRPr sz="3600" b="1" spc="-100">
                <a:solidFill>
                  <a:srgbClr val="252525"/>
                </a:solidFill>
                <a:latin typeface="+mn-lt"/>
                <a:ea typeface="+mn-ea"/>
                <a:cs typeface="+mn-cs"/>
                <a:sym typeface="Calibri"/>
              </a:defRPr>
            </a:pPr>
            <a:r>
              <a:t>The </a:t>
            </a:r>
            <a:r>
              <a:rPr i="1"/>
              <a:t>pass </a:t>
            </a:r>
            <a:r>
              <a:t>Statement</a:t>
            </a:r>
          </a:p>
        </p:txBody>
      </p:sp>
      <p:sp>
        <p:nvSpPr>
          <p:cNvPr id="447" name="object 4"/>
          <p:cNvSpPr txBox="1"/>
          <p:nvPr/>
        </p:nvSpPr>
        <p:spPr>
          <a:xfrm>
            <a:off x="954615" y="2305049"/>
            <a:ext cx="9701743" cy="14232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L="10583" marR="4233">
              <a:buSzPct val="96428"/>
              <a:buFont typeface="Arial"/>
              <a:buChar char="•"/>
              <a:tabLst>
                <a:tab pos="105829" algn="l"/>
              </a:tabLst>
              <a:defRPr sz="2800" spc="-10"/>
            </a:pPr>
            <a:r>
              <a:rPr sz="2333"/>
              <a:t>The </a:t>
            </a:r>
            <a:r>
              <a:rPr sz="2333" b="1" spc="-4"/>
              <a:t>pass </a:t>
            </a:r>
            <a:r>
              <a:rPr sz="2333" spc="-17"/>
              <a:t>statement </a:t>
            </a:r>
            <a:r>
              <a:rPr sz="2333" spc="-4"/>
              <a:t>in Python is </a:t>
            </a:r>
            <a:r>
              <a:rPr sz="2333"/>
              <a:t>used </a:t>
            </a:r>
            <a:r>
              <a:rPr sz="2333" spc="-4"/>
              <a:t>when a </a:t>
            </a:r>
            <a:r>
              <a:rPr sz="2333" spc="-17"/>
              <a:t>statement </a:t>
            </a:r>
            <a:r>
              <a:rPr sz="2333" spc="-4"/>
              <a:t>is </a:t>
            </a:r>
            <a:r>
              <a:rPr sz="2333" spc="-12"/>
              <a:t>required syntactically  </a:t>
            </a:r>
            <a:r>
              <a:rPr sz="2333"/>
              <a:t>but </a:t>
            </a:r>
            <a:r>
              <a:rPr sz="2333" spc="-17"/>
              <a:t>you </a:t>
            </a:r>
            <a:r>
              <a:rPr sz="2333" spc="-4"/>
              <a:t>do </a:t>
            </a:r>
            <a:r>
              <a:rPr sz="2333"/>
              <a:t>not </a:t>
            </a:r>
            <a:r>
              <a:rPr sz="2333" spc="-17"/>
              <a:t>want any </a:t>
            </a:r>
            <a:r>
              <a:rPr sz="2333"/>
              <a:t>command </a:t>
            </a:r>
            <a:r>
              <a:rPr sz="2333" spc="-4"/>
              <a:t>or </a:t>
            </a:r>
            <a:r>
              <a:rPr sz="2333"/>
              <a:t>code </a:t>
            </a:r>
            <a:r>
              <a:rPr sz="2333" spc="-17"/>
              <a:t>to</a:t>
            </a:r>
            <a:r>
              <a:rPr sz="2333" spc="129"/>
              <a:t> </a:t>
            </a:r>
            <a:r>
              <a:rPr sz="2333" spc="-17"/>
              <a:t>execute.</a:t>
            </a:r>
          </a:p>
          <a:p>
            <a:pPr>
              <a:buSzPct val="100000"/>
              <a:buFont typeface="Arial"/>
              <a:buChar char="•"/>
              <a:defRPr sz="2700"/>
            </a:pPr>
            <a:endParaRPr sz="2250" spc="-17"/>
          </a:p>
          <a:p>
            <a:pPr marL="114295" indent="-104242">
              <a:buSzPct val="96428"/>
              <a:buFont typeface="Arial"/>
              <a:buChar char="•"/>
              <a:tabLst>
                <a:tab pos="105829" algn="l"/>
              </a:tabLst>
              <a:defRPr sz="2800" spc="-10"/>
            </a:pPr>
            <a:r>
              <a:rPr sz="2333"/>
              <a:t>The </a:t>
            </a:r>
            <a:r>
              <a:rPr sz="2333" b="1" spc="-4"/>
              <a:t>pass </a:t>
            </a:r>
            <a:r>
              <a:rPr sz="2333" spc="-17"/>
              <a:t>statement </a:t>
            </a:r>
            <a:r>
              <a:rPr sz="2333" spc="-4"/>
              <a:t>is a </a:t>
            </a:r>
            <a:r>
              <a:rPr sz="2333" i="1"/>
              <a:t>null </a:t>
            </a:r>
            <a:r>
              <a:rPr sz="2333" spc="-12"/>
              <a:t>operation; </a:t>
            </a:r>
            <a:r>
              <a:rPr sz="2333"/>
              <a:t>nothing happens </a:t>
            </a:r>
            <a:r>
              <a:rPr sz="2333" spc="-4"/>
              <a:t>when it</a:t>
            </a:r>
            <a:r>
              <a:rPr sz="2333" spc="187"/>
              <a:t> </a:t>
            </a:r>
            <a:r>
              <a:rPr sz="2333" spc="-17"/>
              <a:t>executes.</a:t>
            </a:r>
          </a:p>
        </p:txBody>
      </p:sp>
    </p:spTree>
    <p:extLst>
      <p:ext uri="{BB962C8B-B14F-4D97-AF65-F5344CB8AC3E}">
        <p14:creationId xmlns:p14="http://schemas.microsoft.com/office/powerpoint/2010/main" val="2063171255"/>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 name="object 2"/>
          <p:cNvSpPr/>
          <p:nvPr/>
        </p:nvSpPr>
        <p:spPr>
          <a:xfrm>
            <a:off x="495300" y="5839460"/>
            <a:ext cx="567691" cy="562611"/>
          </a:xfrm>
          <a:prstGeom prst="rect">
            <a:avLst/>
          </a:prstGeom>
          <a:blipFill>
            <a:blip r:embed="rId2"/>
            <a:stretch>
              <a:fillRect/>
            </a:stretch>
          </a:blipFill>
          <a:ln w="12700">
            <a:miter lim="400000"/>
          </a:ln>
        </p:spPr>
        <p:txBody>
          <a:bodyPr lIns="38099" rIns="38099"/>
          <a:lstStyle/>
          <a:p>
            <a:endParaRPr sz="1500"/>
          </a:p>
        </p:txBody>
      </p:sp>
      <p:sp>
        <p:nvSpPr>
          <p:cNvPr id="450" name="object 3"/>
          <p:cNvSpPr txBox="1">
            <a:spLocks noGrp="1"/>
          </p:cNvSpPr>
          <p:nvPr>
            <p:ph type="title"/>
          </p:nvPr>
        </p:nvSpPr>
        <p:spPr>
          <a:prstGeom prst="rect">
            <a:avLst/>
          </a:prstGeom>
        </p:spPr>
        <p:txBody>
          <a:bodyPr>
            <a:normAutofit/>
          </a:bodyPr>
          <a:lstStyle/>
          <a:p>
            <a:pPr indent="10583">
              <a:spcBef>
                <a:spcPts val="83"/>
              </a:spcBef>
              <a:defRPr sz="3600" spc="-100">
                <a:latin typeface="+mn-lt"/>
                <a:ea typeface="+mn-ea"/>
                <a:cs typeface="+mn-cs"/>
                <a:sym typeface="Calibri"/>
              </a:defRPr>
            </a:pPr>
            <a:r>
              <a:t>The flow chart for the break statement is as</a:t>
            </a:r>
            <a:r>
              <a:rPr spc="-167"/>
              <a:t> </a:t>
            </a:r>
            <a:r>
              <a:t>follows:</a:t>
            </a:r>
          </a:p>
        </p:txBody>
      </p:sp>
      <p:sp>
        <p:nvSpPr>
          <p:cNvPr id="451" name="object 4"/>
          <p:cNvSpPr/>
          <p:nvPr/>
        </p:nvSpPr>
        <p:spPr>
          <a:xfrm>
            <a:off x="4096662" y="1479523"/>
            <a:ext cx="3676699" cy="4755399"/>
          </a:xfrm>
          <a:prstGeom prst="rect">
            <a:avLst/>
          </a:prstGeom>
          <a:blipFill>
            <a:blip r:embed="rId3"/>
            <a:stretch>
              <a:fillRect/>
            </a:stretch>
          </a:blipFill>
          <a:ln w="12700">
            <a:miter lim="400000"/>
          </a:ln>
        </p:spPr>
        <p:txBody>
          <a:bodyPr lIns="38099" rIns="38099"/>
          <a:lstStyle/>
          <a:p>
            <a:endParaRPr sz="1500"/>
          </a:p>
        </p:txBody>
      </p:sp>
    </p:spTree>
    <p:extLst>
      <p:ext uri="{BB962C8B-B14F-4D97-AF65-F5344CB8AC3E}">
        <p14:creationId xmlns:p14="http://schemas.microsoft.com/office/powerpoint/2010/main" val="3707525944"/>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 name="object 2"/>
          <p:cNvSpPr/>
          <p:nvPr/>
        </p:nvSpPr>
        <p:spPr>
          <a:xfrm>
            <a:off x="495300" y="5839460"/>
            <a:ext cx="567691" cy="562611"/>
          </a:xfrm>
          <a:prstGeom prst="rect">
            <a:avLst/>
          </a:prstGeom>
          <a:blipFill>
            <a:blip r:embed="rId2"/>
            <a:stretch>
              <a:fillRect/>
            </a:stretch>
          </a:blipFill>
          <a:ln w="12700">
            <a:miter lim="400000"/>
          </a:ln>
        </p:spPr>
        <p:txBody>
          <a:bodyPr lIns="38099" rIns="38099"/>
          <a:lstStyle/>
          <a:p>
            <a:endParaRPr sz="1500"/>
          </a:p>
        </p:txBody>
      </p:sp>
      <p:sp>
        <p:nvSpPr>
          <p:cNvPr id="455" name="object 4"/>
          <p:cNvSpPr txBox="1"/>
          <p:nvPr/>
        </p:nvSpPr>
        <p:spPr>
          <a:xfrm>
            <a:off x="1132416" y="1380700"/>
            <a:ext cx="5268384" cy="2880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marR="2477459" algn="ctr">
              <a:spcBef>
                <a:spcPts val="83"/>
              </a:spcBef>
              <a:defRPr sz="2400" spc="-5">
                <a:solidFill>
                  <a:srgbClr val="252525"/>
                </a:solidFill>
              </a:defRPr>
            </a:pPr>
            <a:r>
              <a:rPr lang="en-US" sz="2800" b="1" dirty="0"/>
              <a:t>program</a:t>
            </a:r>
            <a:r>
              <a:rPr sz="2800" b="1" dirty="0"/>
              <a:t>1.</a:t>
            </a:r>
          </a:p>
          <a:p>
            <a:pPr marR="1387948" indent="10583" algn="ctr">
              <a:defRPr sz="2400">
                <a:solidFill>
                  <a:srgbClr val="252525"/>
                </a:solidFill>
              </a:defRPr>
            </a:pPr>
            <a:r>
              <a:rPr sz="2000" dirty="0"/>
              <a:t>test =</a:t>
            </a:r>
            <a:r>
              <a:rPr sz="2000" spc="-95" dirty="0"/>
              <a:t> </a:t>
            </a:r>
            <a:r>
              <a:rPr sz="2000" dirty="0"/>
              <a:t>"</a:t>
            </a:r>
            <a:r>
              <a:rPr sz="2000" dirty="0" err="1"/>
              <a:t>reva</a:t>
            </a:r>
            <a:r>
              <a:rPr sz="2000" dirty="0"/>
              <a:t>"  </a:t>
            </a:r>
            <a:r>
              <a:rPr sz="2000" spc="-4" dirty="0"/>
              <a:t>for </a:t>
            </a:r>
            <a:r>
              <a:rPr sz="2000" dirty="0" err="1"/>
              <a:t>i</a:t>
            </a:r>
            <a:r>
              <a:rPr sz="2000" dirty="0"/>
              <a:t> in test:  if </a:t>
            </a:r>
            <a:r>
              <a:rPr sz="2000" dirty="0" err="1"/>
              <a:t>i</a:t>
            </a:r>
            <a:r>
              <a:rPr sz="2000" dirty="0"/>
              <a:t> </a:t>
            </a:r>
            <a:r>
              <a:rPr sz="2000" spc="-4" dirty="0"/>
              <a:t>==</a:t>
            </a:r>
            <a:r>
              <a:rPr sz="2000" spc="-42" dirty="0"/>
              <a:t> </a:t>
            </a:r>
            <a:r>
              <a:rPr sz="2000" spc="-4" dirty="0"/>
              <a:t>'v':</a:t>
            </a:r>
          </a:p>
          <a:p>
            <a:pPr marR="4233" indent="465119">
              <a:defRPr sz="2400" spc="-5">
                <a:solidFill>
                  <a:srgbClr val="252525"/>
                </a:solidFill>
              </a:defRPr>
            </a:pPr>
            <a:r>
              <a:rPr sz="2000" dirty="0"/>
              <a:t>print('Pass executed')  pass</a:t>
            </a:r>
          </a:p>
          <a:p>
            <a:pPr indent="238115">
              <a:defRPr sz="2400" spc="-5">
                <a:solidFill>
                  <a:srgbClr val="252525"/>
                </a:solidFill>
              </a:defRPr>
            </a:pPr>
            <a:r>
              <a:rPr sz="2000" dirty="0"/>
              <a:t>print(</a:t>
            </a:r>
            <a:r>
              <a:rPr sz="2000" dirty="0" err="1"/>
              <a:t>i</a:t>
            </a:r>
            <a:r>
              <a:rPr sz="2000" dirty="0"/>
              <a:t>)</a:t>
            </a:r>
          </a:p>
          <a:p>
            <a:pPr>
              <a:defRPr sz="2300"/>
            </a:pPr>
            <a:endParaRPr sz="1917" dirty="0"/>
          </a:p>
          <a:p>
            <a:pPr marR="1941434" indent="10583">
              <a:defRPr sz="2400" spc="-5">
                <a:solidFill>
                  <a:srgbClr val="252525"/>
                </a:solidFill>
              </a:defRPr>
            </a:pPr>
            <a:r>
              <a:rPr sz="2000" dirty="0"/>
              <a:t>Output  r</a:t>
            </a:r>
          </a:p>
          <a:p>
            <a:pPr indent="10583">
              <a:defRPr sz="2400">
                <a:solidFill>
                  <a:srgbClr val="252525"/>
                </a:solidFill>
              </a:defRPr>
            </a:pPr>
            <a:r>
              <a:rPr sz="2000" dirty="0"/>
              <a:t>e</a:t>
            </a:r>
          </a:p>
          <a:p>
            <a:pPr marR="1221796" indent="10583">
              <a:defRPr sz="2400">
                <a:solidFill>
                  <a:srgbClr val="252525"/>
                </a:solidFill>
              </a:defRPr>
            </a:pPr>
            <a:r>
              <a:rPr sz="2000" dirty="0"/>
              <a:t>Pass</a:t>
            </a:r>
            <a:r>
              <a:rPr sz="2000" spc="-62" dirty="0"/>
              <a:t> </a:t>
            </a:r>
            <a:r>
              <a:rPr sz="2000" spc="-4" dirty="0"/>
              <a:t>executed  </a:t>
            </a:r>
            <a:r>
              <a:rPr sz="2000" dirty="0"/>
              <a:t>v</a:t>
            </a:r>
          </a:p>
          <a:p>
            <a:pPr indent="10583">
              <a:defRPr sz="2400">
                <a:solidFill>
                  <a:srgbClr val="252525"/>
                </a:solidFill>
              </a:defRPr>
            </a:pPr>
            <a:r>
              <a:rPr sz="2000" dirty="0"/>
              <a:t>a</a:t>
            </a:r>
          </a:p>
        </p:txBody>
      </p:sp>
    </p:spTree>
    <p:extLst>
      <p:ext uri="{BB962C8B-B14F-4D97-AF65-F5344CB8AC3E}">
        <p14:creationId xmlns:p14="http://schemas.microsoft.com/office/powerpoint/2010/main" val="61666596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1111CBB-FD54-4F31-B47E-B211674C3374}"/>
              </a:ext>
            </a:extLst>
          </p:cNvPr>
          <p:cNvSpPr txBox="1"/>
          <p:nvPr/>
        </p:nvSpPr>
        <p:spPr>
          <a:xfrm>
            <a:off x="2190050" y="2531296"/>
            <a:ext cx="7811900" cy="16850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anchor="b">
            <a:spAutoFit/>
          </a:bodyPr>
          <a:lstStyle>
            <a:lvl1pPr algn="ctr">
              <a:lnSpc>
                <a:spcPct val="90000"/>
              </a:lnSpc>
              <a:defRPr sz="8800" b="1">
                <a:solidFill>
                  <a:srgbClr val="F27E22"/>
                </a:solidFill>
                <a:latin typeface="Bookman Old Style"/>
                <a:ea typeface="Bookman Old Style"/>
                <a:cs typeface="Bookman Old Style"/>
                <a:sym typeface="Bookman Old Style"/>
              </a:defRPr>
            </a:lvl1pPr>
          </a:lstStyle>
          <a:p>
            <a:r>
              <a:rPr lang="en-US" sz="11500" dirty="0">
                <a:latin typeface="Roboto" panose="02000000000000000000" pitchFamily="2" charset="0"/>
                <a:ea typeface="Roboto" panose="02000000000000000000" pitchFamily="2" charset="0"/>
                <a:cs typeface="Roboto" panose="02000000000000000000" pitchFamily="2" charset="0"/>
              </a:rPr>
              <a:t>Thank You</a:t>
            </a:r>
            <a:endParaRPr sz="11500" dirty="0">
              <a:latin typeface="Roboto" panose="02000000000000000000" pitchFamily="2" charset="0"/>
              <a:ea typeface="Roboto" panose="02000000000000000000" pitchFamily="2" charset="0"/>
              <a:cs typeface="Roboto" panose="02000000000000000000" pitchFamily="2" charset="0"/>
            </a:endParaRPr>
          </a:p>
        </p:txBody>
      </p:sp>
      <p:pic>
        <p:nvPicPr>
          <p:cNvPr id="2" name="Picture 1"/>
          <p:cNvPicPr>
            <a:picLocks noChangeAspect="1"/>
          </p:cNvPicPr>
          <p:nvPr/>
        </p:nvPicPr>
        <p:blipFill>
          <a:blip r:embed="rId2"/>
          <a:stretch>
            <a:fillRect/>
          </a:stretch>
        </p:blipFill>
        <p:spPr>
          <a:xfrm>
            <a:off x="515887" y="5823109"/>
            <a:ext cx="3646344" cy="832385"/>
          </a:xfrm>
          <a:prstGeom prst="rect">
            <a:avLst/>
          </a:prstGeom>
        </p:spPr>
      </p:pic>
      <p:cxnSp>
        <p:nvCxnSpPr>
          <p:cNvPr id="4" name="Straight Connector 3"/>
          <p:cNvCxnSpPr/>
          <p:nvPr/>
        </p:nvCxnSpPr>
        <p:spPr>
          <a:xfrm>
            <a:off x="4305993" y="6255384"/>
            <a:ext cx="7886007" cy="0"/>
          </a:xfrm>
          <a:prstGeom prst="line">
            <a:avLst/>
          </a:prstGeom>
          <a:ln w="28575">
            <a:solidFill>
              <a:srgbClr val="FF66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0542781"/>
      </p:ext>
    </p:extLst>
  </p:cSld>
  <p:clrMapOvr>
    <a:masterClrMapping/>
  </p:clrMapOvr>
  <p:transition spd="slow">
    <p:randomBar dir="ver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4417</TotalTime>
  <Words>12924</Words>
  <Application>Microsoft Office PowerPoint</Application>
  <PresentationFormat>Widescreen</PresentationFormat>
  <Paragraphs>1588</Paragraphs>
  <Slides>160</Slides>
  <Notes>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160</vt:i4>
      </vt:variant>
    </vt:vector>
  </HeadingPairs>
  <TitlesOfParts>
    <vt:vector size="176" baseType="lpstr">
      <vt:lpstr>Arial Unicode MS</vt:lpstr>
      <vt:lpstr>Arial</vt:lpstr>
      <vt:lpstr>Calibri</vt:lpstr>
      <vt:lpstr>Calibri Light</vt:lpstr>
      <vt:lpstr>Consolas</vt:lpstr>
      <vt:lpstr>Helvetica</vt:lpstr>
      <vt:lpstr>Inter</vt:lpstr>
      <vt:lpstr>Lucida Grande</vt:lpstr>
      <vt:lpstr>Roboto</vt:lpstr>
      <vt:lpstr>Roboto Medium</vt:lpstr>
      <vt:lpstr>Roboto Slab</vt:lpstr>
      <vt:lpstr>Segoe UI</vt:lpstr>
      <vt:lpstr>Söhne Mono</vt:lpstr>
      <vt:lpstr>Times New Roman</vt:lpstr>
      <vt:lpstr>Verdana</vt:lpstr>
      <vt:lpstr>Office Theme</vt:lpstr>
      <vt:lpstr>PowerPoint Presentation</vt:lpstr>
      <vt:lpstr>outline</vt:lpstr>
      <vt:lpstr>COURSE OBJECTIVES </vt:lpstr>
      <vt:lpstr>COURSE OBJECTIVES </vt:lpstr>
      <vt:lpstr>Syllabus</vt:lpstr>
      <vt:lpstr>PowerPoint Presentation</vt:lpstr>
      <vt:lpstr>PowerPoint Presentation</vt:lpstr>
      <vt:lpstr>PowerPoint Presentation</vt:lpstr>
      <vt:lpstr>Introduction to Python</vt:lpstr>
      <vt:lpstr>Python History</vt:lpstr>
      <vt:lpstr>PowerPoint Presentation</vt:lpstr>
      <vt:lpstr>Introduction to Object-oriented Programming</vt:lpstr>
      <vt:lpstr>PowerPoint Presentation</vt:lpstr>
      <vt:lpstr>Features of OOPs</vt:lpstr>
      <vt:lpstr>PowerPoint Presentation</vt:lpstr>
      <vt:lpstr>PowerPoint Presentation</vt:lpstr>
      <vt:lpstr>PowerPoint Presentation</vt:lpstr>
      <vt:lpstr>Python availability</vt:lpstr>
      <vt:lpstr>Features of Python</vt:lpstr>
      <vt:lpstr>PowerPoint Presentation</vt:lpstr>
      <vt:lpstr>PowerPoint Presentation</vt:lpstr>
      <vt:lpstr>PowerPoint Presentation</vt:lpstr>
      <vt:lpstr>Comparison with other programming languages</vt:lpstr>
      <vt:lpstr>INTRODUCING IDLE </vt:lpstr>
      <vt:lpstr>PowerPoint Presentation</vt:lpstr>
      <vt:lpstr>USEFUL MATHEMATICAL OPERATORS</vt:lpstr>
      <vt:lpstr>Python Comments</vt:lpstr>
      <vt:lpstr>Keywords</vt:lpstr>
      <vt:lpstr>Key words</vt:lpstr>
      <vt:lpstr>PowerPoint Presentation</vt:lpstr>
      <vt:lpstr>PowerPoint Presentation</vt:lpstr>
      <vt:lpstr>Identifiers</vt:lpstr>
      <vt:lpstr>PowerPoint Presentation</vt:lpstr>
      <vt:lpstr>Reading Input in Python</vt:lpstr>
      <vt:lpstr>PowerPoint Presentation</vt:lpstr>
      <vt:lpstr>PowerPoint Presentation</vt:lpstr>
      <vt:lpstr>VARIABLES</vt:lpstr>
      <vt:lpstr>Variable Names</vt:lpstr>
      <vt:lpstr>DATATYPES IN PYTHON</vt:lpstr>
      <vt:lpstr>PowerPoint Presentation</vt:lpstr>
      <vt:lpstr>PowerPoint Presentation</vt:lpstr>
      <vt:lpstr>PowerPoint Presentation</vt:lpstr>
      <vt:lpstr>Strings</vt:lpstr>
      <vt:lpstr>PowerPoint Presentation</vt:lpstr>
      <vt:lpstr>PowerPoint Presentation</vt:lpstr>
      <vt:lpstr>String Slicing</vt:lpstr>
      <vt:lpstr>PowerPoint Presentation</vt:lpstr>
      <vt:lpstr>PowerPoint Presentation</vt:lpstr>
      <vt:lpstr>PowerPoint Presentation</vt:lpstr>
      <vt:lpstr>List &amp; its Operations</vt:lpstr>
      <vt:lpstr>PowerPoint Presentation</vt:lpstr>
      <vt:lpstr>PowerPoint Presentation</vt:lpstr>
      <vt:lpstr>Tuples &amp; its Operations</vt:lpstr>
      <vt:lpstr>PowerPoint Presentation</vt:lpstr>
      <vt:lpstr>PowerPoint Presentation</vt:lpstr>
      <vt:lpstr>Dictionaries &amp; its operations</vt:lpstr>
      <vt:lpstr>PowerPoint Presentation</vt:lpstr>
      <vt:lpstr>PowerPoint Presentation</vt:lpstr>
      <vt:lpstr>PowerPoint Presentation</vt:lpstr>
      <vt:lpstr>Sets &amp; its Operations</vt:lpstr>
      <vt:lpstr>PowerPoint Presentation</vt:lpstr>
      <vt:lpstr>Symmetric difference</vt:lpstr>
      <vt:lpstr>Frozen set</vt:lpstr>
      <vt:lpstr>PowerPoint Presentation</vt:lpstr>
      <vt:lpstr>OPERATORS IN PYTHON</vt:lpstr>
      <vt:lpstr>Arithmetic Operators</vt:lpstr>
      <vt:lpstr>PowerPoint Presentation</vt:lpstr>
      <vt:lpstr>Assignment Operators</vt:lpstr>
      <vt:lpstr>PowerPoint Presentation</vt:lpstr>
      <vt:lpstr>Comparison Operators</vt:lpstr>
      <vt:lpstr>PowerPoint Presentation</vt:lpstr>
      <vt:lpstr>Logical Operators</vt:lpstr>
      <vt:lpstr>PowerPoint Presentation</vt:lpstr>
      <vt:lpstr>Identity Operators</vt:lpstr>
      <vt:lpstr>PowerPoint Presentation</vt:lpstr>
      <vt:lpstr>PowerPoint Presentation</vt:lpstr>
      <vt:lpstr>PowerPoint Presentation</vt:lpstr>
      <vt:lpstr>Membership Operators</vt:lpstr>
      <vt:lpstr>PowerPoint Presentation</vt:lpstr>
      <vt:lpstr>Bitwise Operators</vt:lpstr>
      <vt:lpstr>PowerPoint Presentation</vt:lpstr>
      <vt:lpstr>CONTROL STATEMENTS</vt:lpstr>
      <vt:lpstr>PowerPoint Presentation</vt:lpstr>
      <vt:lpstr>PowerPoint Presentation</vt:lpstr>
      <vt:lpstr>IF-ELSE</vt:lpstr>
      <vt:lpstr>IF-ELSE</vt:lpstr>
      <vt:lpstr>PowerPoint Presentation</vt:lpstr>
      <vt:lpstr>IF-ELIF-ELSE</vt:lpstr>
      <vt:lpstr>PowerPoint Presentation</vt:lpstr>
      <vt:lpstr>IF-ELSE</vt:lpstr>
      <vt:lpstr>NESTED IF-ELSE</vt:lpstr>
      <vt:lpstr>PowerPoint Presentation</vt:lpstr>
      <vt:lpstr>PowerPoint Presentation</vt:lpstr>
      <vt:lpstr>NESTED IF-ELSE</vt:lpstr>
      <vt:lpstr>PowerPoint Presentation</vt:lpstr>
      <vt:lpstr>FOR LOOP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FOR LOOP</vt:lpstr>
      <vt:lpstr>NESTED FOR LOOP</vt:lpstr>
      <vt:lpstr>NESTED FOR LOOP</vt:lpstr>
      <vt:lpstr>Control Structure</vt:lpstr>
      <vt:lpstr>ITERATION</vt:lpstr>
      <vt:lpstr>ITERATION</vt:lpstr>
      <vt:lpstr>ITERATING OVER A LIST:</vt:lpstr>
      <vt:lpstr>ITERATING OVER A TUPLE:</vt:lpstr>
      <vt:lpstr>ITERATING OVER A STRING:</vt:lpstr>
      <vt:lpstr>ITERATING OVER A DICTIONARY:</vt:lpstr>
      <vt:lpstr>SELECTION STATEMENTS</vt:lpstr>
      <vt:lpstr>SELECTION STATEMENTS</vt:lpstr>
      <vt:lpstr>SELECTION STATEMENTS</vt:lpstr>
      <vt:lpstr>SELECTION STATEMENTS</vt:lpstr>
      <vt:lpstr>CONTROL STRUCTURES</vt:lpstr>
      <vt:lpstr>CONTROL STRUCTURES</vt:lpstr>
      <vt:lpstr>CONTROL STRUCTURES</vt:lpstr>
      <vt:lpstr>NESTED LOOP</vt:lpstr>
      <vt:lpstr>NESTED LOOP</vt:lpstr>
      <vt:lpstr>NESTED LOOP</vt:lpstr>
      <vt:lpstr>NESTED FOR LOOP</vt:lpstr>
      <vt:lpstr>NESTED FOR LOOP</vt:lpstr>
      <vt:lpstr>NESTED FOR LOOP</vt:lpstr>
      <vt:lpstr>NESTED FOR LOOP</vt:lpstr>
      <vt:lpstr>NESTED FOR LOOP</vt:lpstr>
      <vt:lpstr>PowerPoint Presentation</vt:lpstr>
      <vt:lpstr>WHILE NESTED LOOP</vt:lpstr>
      <vt:lpstr>WHILE NESTED LOOP</vt:lpstr>
      <vt:lpstr>WHILE NESTED LOOP</vt:lpstr>
      <vt:lpstr>WHILE NESTED LOOP</vt:lpstr>
      <vt:lpstr>PowerPoint Presentation</vt:lpstr>
      <vt:lpstr>NESTED WHILE LOOP</vt:lpstr>
      <vt:lpstr>PowerPoint Presentation</vt:lpstr>
      <vt:lpstr>INVERTED HOLLOW PATTERN</vt:lpstr>
      <vt:lpstr>PowerPoint Presentation</vt:lpstr>
      <vt:lpstr>Control statements</vt:lpstr>
      <vt:lpstr>INTRODUCTION</vt:lpstr>
      <vt:lpstr>The break Statement</vt:lpstr>
      <vt:lpstr>The flow chart for the break statement is as follows:</vt:lpstr>
      <vt:lpstr>The following are the steps involved in the flowchart.</vt:lpstr>
      <vt:lpstr>Programs:</vt:lpstr>
      <vt:lpstr>PowerPoint Presentation</vt:lpstr>
      <vt:lpstr>format():</vt:lpstr>
      <vt:lpstr>PowerPoint Presentation</vt:lpstr>
      <vt:lpstr>  Program 3: # printing table from 2 to 5, each table upto 5 iterations only   for i in range(2,6): print('Table of ',i)   for j in range(1,11):</vt:lpstr>
      <vt:lpstr>PowerPoint Presentation</vt:lpstr>
      <vt:lpstr>PowerPoint Presentation</vt:lpstr>
      <vt:lpstr>The flow chart for the continue statement is as follows:</vt:lpstr>
      <vt:lpstr>The following are the steps involved in the flowchart.</vt:lpstr>
      <vt:lpstr>PowerPoint Presentation</vt:lpstr>
      <vt:lpstr>Program 2.</vt:lpstr>
      <vt:lpstr>Program 3.</vt:lpstr>
      <vt:lpstr>The pass Statement</vt:lpstr>
      <vt:lpstr>The flow chart for the break statement is as follows: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Dileep Suresha Naik</dc:creator>
  <cp:lastModifiedBy>Mohamed Abdul Kader Jailani N</cp:lastModifiedBy>
  <cp:revision>141</cp:revision>
  <dcterms:created xsi:type="dcterms:W3CDTF">2023-08-10T08:59:21Z</dcterms:created>
  <dcterms:modified xsi:type="dcterms:W3CDTF">2025-01-02T07:55:59Z</dcterms:modified>
</cp:coreProperties>
</file>