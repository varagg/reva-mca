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214"/>
  </p:handoutMasterIdLst>
  <p:sldIdLst>
    <p:sldId id="285" r:id="rId2"/>
    <p:sldId id="297" r:id="rId3"/>
    <p:sldId id="257" r:id="rId4"/>
    <p:sldId id="291" r:id="rId5"/>
    <p:sldId id="513" r:id="rId6"/>
    <p:sldId id="515" r:id="rId7"/>
    <p:sldId id="516" r:id="rId8"/>
    <p:sldId id="517" r:id="rId9"/>
    <p:sldId id="518" r:id="rId10"/>
    <p:sldId id="519" r:id="rId11"/>
    <p:sldId id="520" r:id="rId12"/>
    <p:sldId id="524" r:id="rId13"/>
    <p:sldId id="525" r:id="rId14"/>
    <p:sldId id="526" r:id="rId15"/>
    <p:sldId id="521" r:id="rId16"/>
    <p:sldId id="522" r:id="rId17"/>
    <p:sldId id="523" r:id="rId18"/>
    <p:sldId id="527" r:id="rId19"/>
    <p:sldId id="528" r:id="rId20"/>
    <p:sldId id="529" r:id="rId21"/>
    <p:sldId id="530" r:id="rId22"/>
    <p:sldId id="531" r:id="rId23"/>
    <p:sldId id="532" r:id="rId24"/>
    <p:sldId id="533" r:id="rId25"/>
    <p:sldId id="534" r:id="rId26"/>
    <p:sldId id="546" r:id="rId27"/>
    <p:sldId id="547" r:id="rId28"/>
    <p:sldId id="548" r:id="rId29"/>
    <p:sldId id="535" r:id="rId30"/>
    <p:sldId id="536" r:id="rId31"/>
    <p:sldId id="537" r:id="rId32"/>
    <p:sldId id="538" r:id="rId33"/>
    <p:sldId id="539" r:id="rId34"/>
    <p:sldId id="540" r:id="rId35"/>
    <p:sldId id="541" r:id="rId36"/>
    <p:sldId id="542" r:id="rId37"/>
    <p:sldId id="543" r:id="rId38"/>
    <p:sldId id="544" r:id="rId39"/>
    <p:sldId id="545" r:id="rId40"/>
    <p:sldId id="549" r:id="rId41"/>
    <p:sldId id="550" r:id="rId42"/>
    <p:sldId id="551" r:id="rId43"/>
    <p:sldId id="552" r:id="rId44"/>
    <p:sldId id="553" r:id="rId45"/>
    <p:sldId id="554" r:id="rId46"/>
    <p:sldId id="555" r:id="rId47"/>
    <p:sldId id="556" r:id="rId48"/>
    <p:sldId id="557" r:id="rId49"/>
    <p:sldId id="558" r:id="rId50"/>
    <p:sldId id="559" r:id="rId51"/>
    <p:sldId id="560" r:id="rId52"/>
    <p:sldId id="561" r:id="rId53"/>
    <p:sldId id="562" r:id="rId54"/>
    <p:sldId id="565" r:id="rId55"/>
    <p:sldId id="566" r:id="rId56"/>
    <p:sldId id="567" r:id="rId57"/>
    <p:sldId id="568" r:id="rId58"/>
    <p:sldId id="569" r:id="rId59"/>
    <p:sldId id="570" r:id="rId60"/>
    <p:sldId id="571" r:id="rId61"/>
    <p:sldId id="572" r:id="rId62"/>
    <p:sldId id="573" r:id="rId63"/>
    <p:sldId id="574" r:id="rId64"/>
    <p:sldId id="575" r:id="rId65"/>
    <p:sldId id="576" r:id="rId66"/>
    <p:sldId id="577" r:id="rId67"/>
    <p:sldId id="578" r:id="rId68"/>
    <p:sldId id="587" r:id="rId69"/>
    <p:sldId id="588" r:id="rId70"/>
    <p:sldId id="589" r:id="rId71"/>
    <p:sldId id="579" r:id="rId72"/>
    <p:sldId id="580" r:id="rId73"/>
    <p:sldId id="582" r:id="rId74"/>
    <p:sldId id="581" r:id="rId75"/>
    <p:sldId id="583" r:id="rId76"/>
    <p:sldId id="584" r:id="rId77"/>
    <p:sldId id="585" r:id="rId78"/>
    <p:sldId id="586" r:id="rId79"/>
    <p:sldId id="590" r:id="rId80"/>
    <p:sldId id="591" r:id="rId81"/>
    <p:sldId id="592" r:id="rId82"/>
    <p:sldId id="593" r:id="rId83"/>
    <p:sldId id="594" r:id="rId84"/>
    <p:sldId id="595" r:id="rId85"/>
    <p:sldId id="602" r:id="rId86"/>
    <p:sldId id="596" r:id="rId87"/>
    <p:sldId id="597" r:id="rId88"/>
    <p:sldId id="598" r:id="rId89"/>
    <p:sldId id="599" r:id="rId90"/>
    <p:sldId id="601" r:id="rId91"/>
    <p:sldId id="600" r:id="rId92"/>
    <p:sldId id="603" r:id="rId93"/>
    <p:sldId id="604" r:id="rId94"/>
    <p:sldId id="605" r:id="rId95"/>
    <p:sldId id="606" r:id="rId96"/>
    <p:sldId id="608" r:id="rId97"/>
    <p:sldId id="607" r:id="rId98"/>
    <p:sldId id="609" r:id="rId99"/>
    <p:sldId id="610" r:id="rId100"/>
    <p:sldId id="611" r:id="rId101"/>
    <p:sldId id="612" r:id="rId102"/>
    <p:sldId id="613" r:id="rId103"/>
    <p:sldId id="614" r:id="rId104"/>
    <p:sldId id="615" r:id="rId105"/>
    <p:sldId id="616" r:id="rId106"/>
    <p:sldId id="617" r:id="rId107"/>
    <p:sldId id="629" r:id="rId108"/>
    <p:sldId id="630" r:id="rId109"/>
    <p:sldId id="631" r:id="rId110"/>
    <p:sldId id="618" r:id="rId111"/>
    <p:sldId id="619" r:id="rId112"/>
    <p:sldId id="620" r:id="rId113"/>
    <p:sldId id="621" r:id="rId114"/>
    <p:sldId id="622" r:id="rId115"/>
    <p:sldId id="634" r:id="rId116"/>
    <p:sldId id="635" r:id="rId117"/>
    <p:sldId id="636" r:id="rId118"/>
    <p:sldId id="623" r:id="rId119"/>
    <p:sldId id="626" r:id="rId120"/>
    <p:sldId id="624" r:id="rId121"/>
    <p:sldId id="625" r:id="rId122"/>
    <p:sldId id="627" r:id="rId123"/>
    <p:sldId id="628" r:id="rId124"/>
    <p:sldId id="632" r:id="rId125"/>
    <p:sldId id="633" r:id="rId126"/>
    <p:sldId id="637" r:id="rId127"/>
    <p:sldId id="638" r:id="rId128"/>
    <p:sldId id="639" r:id="rId129"/>
    <p:sldId id="640" r:id="rId130"/>
    <p:sldId id="641" r:id="rId131"/>
    <p:sldId id="643" r:id="rId132"/>
    <p:sldId id="644" r:id="rId133"/>
    <p:sldId id="645" r:id="rId134"/>
    <p:sldId id="646" r:id="rId135"/>
    <p:sldId id="642" r:id="rId136"/>
    <p:sldId id="647" r:id="rId137"/>
    <p:sldId id="648" r:id="rId138"/>
    <p:sldId id="650" r:id="rId139"/>
    <p:sldId id="651" r:id="rId140"/>
    <p:sldId id="652" r:id="rId141"/>
    <p:sldId id="653" r:id="rId142"/>
    <p:sldId id="655" r:id="rId143"/>
    <p:sldId id="654" r:id="rId144"/>
    <p:sldId id="656" r:id="rId145"/>
    <p:sldId id="657" r:id="rId146"/>
    <p:sldId id="660" r:id="rId147"/>
    <p:sldId id="661" r:id="rId148"/>
    <p:sldId id="662" r:id="rId149"/>
    <p:sldId id="658" r:id="rId150"/>
    <p:sldId id="663" r:id="rId151"/>
    <p:sldId id="659" r:id="rId152"/>
    <p:sldId id="664" r:id="rId153"/>
    <p:sldId id="665" r:id="rId154"/>
    <p:sldId id="666" r:id="rId155"/>
    <p:sldId id="667" r:id="rId156"/>
    <p:sldId id="668" r:id="rId157"/>
    <p:sldId id="670" r:id="rId158"/>
    <p:sldId id="671" r:id="rId159"/>
    <p:sldId id="669" r:id="rId160"/>
    <p:sldId id="672" r:id="rId161"/>
    <p:sldId id="673" r:id="rId162"/>
    <p:sldId id="674" r:id="rId163"/>
    <p:sldId id="675" r:id="rId164"/>
    <p:sldId id="676" r:id="rId165"/>
    <p:sldId id="677" r:id="rId166"/>
    <p:sldId id="678" r:id="rId167"/>
    <p:sldId id="679" r:id="rId168"/>
    <p:sldId id="680" r:id="rId169"/>
    <p:sldId id="681" r:id="rId170"/>
    <p:sldId id="682" r:id="rId171"/>
    <p:sldId id="683" r:id="rId172"/>
    <p:sldId id="684" r:id="rId173"/>
    <p:sldId id="685" r:id="rId174"/>
    <p:sldId id="686" r:id="rId175"/>
    <p:sldId id="688" r:id="rId176"/>
    <p:sldId id="687" r:id="rId177"/>
    <p:sldId id="689" r:id="rId178"/>
    <p:sldId id="691" r:id="rId179"/>
    <p:sldId id="690" r:id="rId180"/>
    <p:sldId id="692" r:id="rId181"/>
    <p:sldId id="696" r:id="rId182"/>
    <p:sldId id="697" r:id="rId183"/>
    <p:sldId id="698" r:id="rId184"/>
    <p:sldId id="693" r:id="rId185"/>
    <p:sldId id="694" r:id="rId186"/>
    <p:sldId id="695" r:id="rId187"/>
    <p:sldId id="699" r:id="rId188"/>
    <p:sldId id="700" r:id="rId189"/>
    <p:sldId id="701" r:id="rId190"/>
    <p:sldId id="702" r:id="rId191"/>
    <p:sldId id="703" r:id="rId192"/>
    <p:sldId id="704" r:id="rId193"/>
    <p:sldId id="709" r:id="rId194"/>
    <p:sldId id="705" r:id="rId195"/>
    <p:sldId id="707" r:id="rId196"/>
    <p:sldId id="706" r:id="rId197"/>
    <p:sldId id="708" r:id="rId198"/>
    <p:sldId id="710" r:id="rId199"/>
    <p:sldId id="711" r:id="rId200"/>
    <p:sldId id="712" r:id="rId201"/>
    <p:sldId id="715" r:id="rId202"/>
    <p:sldId id="716" r:id="rId203"/>
    <p:sldId id="717" r:id="rId204"/>
    <p:sldId id="718" r:id="rId205"/>
    <p:sldId id="719" r:id="rId206"/>
    <p:sldId id="720" r:id="rId207"/>
    <p:sldId id="721" r:id="rId208"/>
    <p:sldId id="722" r:id="rId209"/>
    <p:sldId id="713" r:id="rId210"/>
    <p:sldId id="714" r:id="rId211"/>
    <p:sldId id="514" r:id="rId212"/>
    <p:sldId id="284" r:id="rId2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CC"/>
    <a:srgbClr val="ED682F"/>
    <a:srgbClr val="FF6600"/>
    <a:srgbClr val="0000FF"/>
    <a:srgbClr val="0066CC"/>
    <a:srgbClr val="006699"/>
    <a:srgbClr val="5F5F5F"/>
    <a:srgbClr val="0099CC"/>
    <a:srgbClr val="009999"/>
    <a:srgbClr val="66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105" d="100"/>
          <a:sy n="105" d="100"/>
        </p:scale>
        <p:origin x="624" y="176"/>
      </p:cViewPr>
      <p:guideLst/>
    </p:cSldViewPr>
  </p:slideViewPr>
  <p:notesTextViewPr>
    <p:cViewPr>
      <p:scale>
        <a:sx n="3" d="2"/>
        <a:sy n="3" d="2"/>
      </p:scale>
      <p:origin x="0" y="0"/>
    </p:cViewPr>
  </p:notesTextViewPr>
  <p:notesViewPr>
    <p:cSldViewPr snapToGrid="0">
      <p:cViewPr varScale="1">
        <p:scale>
          <a:sx n="63" d="100"/>
          <a:sy n="63" d="100"/>
        </p:scale>
        <p:origin x="3206" y="77"/>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viewProps" Target="view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theme" Target="theme/theme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tableStyles" Target="tableStyles.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handoutMaster" Target="handoutMasters/handoutMaster1.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presProps" Target="presProp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37F2447-4073-FE62-C0C3-75D43909471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DC40709-3B98-DC67-4913-E586452CBC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C1F9DF-F3CA-418C-8E48-F7B356B78758}" type="datetimeFigureOut">
              <a:rPr lang="en-US" smtClean="0"/>
              <a:t>3/3/25</a:t>
            </a:fld>
            <a:endParaRPr lang="en-US"/>
          </a:p>
        </p:txBody>
      </p:sp>
      <p:sp>
        <p:nvSpPr>
          <p:cNvPr id="4" name="Footer Placeholder 3">
            <a:extLst>
              <a:ext uri="{FF2B5EF4-FFF2-40B4-BE49-F238E27FC236}">
                <a16:creationId xmlns:a16="http://schemas.microsoft.com/office/drawing/2014/main" id="{55CC38A7-E20B-80B0-8BDE-9E37E2123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0B7C110-7488-6D5F-B40E-46432C8E31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50F109-BA63-4FD6-8A99-1DB5A29DE6ED}" type="slidenum">
              <a:rPr lang="en-US" smtClean="0"/>
              <a:t>‹#›</a:t>
            </a:fld>
            <a:endParaRPr lang="en-US"/>
          </a:p>
        </p:txBody>
      </p:sp>
    </p:spTree>
    <p:extLst>
      <p:ext uri="{BB962C8B-B14F-4D97-AF65-F5344CB8AC3E}">
        <p14:creationId xmlns:p14="http://schemas.microsoft.com/office/powerpoint/2010/main" val="1675759213"/>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1027443-035D-4263-A7FA-C4F2145FEE00}" type="datetimeFigureOut">
              <a:rPr lang="en-IN" smtClean="0"/>
              <a:t>03/03/25</a:t>
            </a:fld>
            <a:endParaRPr lang="en-IN" dirty="0"/>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1F56EE-BA8C-49DD-9007-330E7C7B6D5D}" type="slidenum">
              <a:rPr lang="en-IN" smtClean="0"/>
              <a:t>‹#›</a:t>
            </a:fld>
            <a:endParaRPr lang="en-IN"/>
          </a:p>
        </p:txBody>
      </p:sp>
      <p:sp>
        <p:nvSpPr>
          <p:cNvPr id="7" name="Rectangle 6">
            <a:extLst>
              <a:ext uri="{FF2B5EF4-FFF2-40B4-BE49-F238E27FC236}">
                <a16:creationId xmlns:a16="http://schemas.microsoft.com/office/drawing/2014/main" id="{BABD7640-3F72-24D1-7443-2282E8CF1706}"/>
              </a:ext>
            </a:extLst>
          </p:cNvPr>
          <p:cNvSpPr/>
          <p:nvPr userDrawn="1"/>
        </p:nvSpPr>
        <p:spPr>
          <a:xfrm flipV="1">
            <a:off x="0" y="270165"/>
            <a:ext cx="12192000" cy="45719"/>
          </a:xfrm>
          <a:prstGeom prst="rect">
            <a:avLst/>
          </a:prstGeom>
          <a:solidFill>
            <a:srgbClr val="ED6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79A56E71-EFCF-9F91-A1BB-8FF373E9F1E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Tree>
    <p:extLst>
      <p:ext uri="{BB962C8B-B14F-4D97-AF65-F5344CB8AC3E}">
        <p14:creationId xmlns:p14="http://schemas.microsoft.com/office/powerpoint/2010/main" val="1472860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1027443-035D-4263-A7FA-C4F2145FEE00}" type="datetimeFigureOut">
              <a:rPr lang="en-IN" smtClean="0"/>
              <a:t>03/03/25</a:t>
            </a:fld>
            <a:endParaRPr lang="en-IN" dirty="0"/>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1F56EE-BA8C-49DD-9007-330E7C7B6D5D}" type="slidenum">
              <a:rPr lang="en-IN" smtClean="0"/>
              <a:t>‹#›</a:t>
            </a:fld>
            <a:endParaRPr lang="en-IN"/>
          </a:p>
        </p:txBody>
      </p:sp>
      <p:sp>
        <p:nvSpPr>
          <p:cNvPr id="7" name="Rectangle 6">
            <a:extLst>
              <a:ext uri="{FF2B5EF4-FFF2-40B4-BE49-F238E27FC236}">
                <a16:creationId xmlns:a16="http://schemas.microsoft.com/office/drawing/2014/main" id="{1A0D2130-1B1B-ECF5-E934-C051E93F35C9}"/>
              </a:ext>
            </a:extLst>
          </p:cNvPr>
          <p:cNvSpPr/>
          <p:nvPr userDrawn="1"/>
        </p:nvSpPr>
        <p:spPr>
          <a:xfrm flipV="1">
            <a:off x="0" y="270165"/>
            <a:ext cx="12192000" cy="45719"/>
          </a:xfrm>
          <a:prstGeom prst="rect">
            <a:avLst/>
          </a:prstGeom>
          <a:solidFill>
            <a:srgbClr val="ED6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D0ACDD3-80A2-5245-41A0-3EEB52FA075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pic>
        <p:nvPicPr>
          <p:cNvPr id="9" name="Picture 8">
            <a:extLst>
              <a:ext uri="{FF2B5EF4-FFF2-40B4-BE49-F238E27FC236}">
                <a16:creationId xmlns:a16="http://schemas.microsoft.com/office/drawing/2014/main" id="{177AB47A-A374-AE7C-0E11-8E938CD7B43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Tree>
    <p:extLst>
      <p:ext uri="{BB962C8B-B14F-4D97-AF65-F5344CB8AC3E}">
        <p14:creationId xmlns:p14="http://schemas.microsoft.com/office/powerpoint/2010/main" val="3084996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1027443-035D-4263-A7FA-C4F2145FEE00}" type="datetimeFigureOut">
              <a:rPr lang="en-IN" smtClean="0"/>
              <a:t>03/03/25</a:t>
            </a:fld>
            <a:endParaRPr lang="en-IN" dirty="0"/>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1F56EE-BA8C-49DD-9007-330E7C7B6D5D}" type="slidenum">
              <a:rPr lang="en-IN" smtClean="0"/>
              <a:t>‹#›</a:t>
            </a:fld>
            <a:endParaRPr lang="en-IN"/>
          </a:p>
        </p:txBody>
      </p:sp>
      <p:sp>
        <p:nvSpPr>
          <p:cNvPr id="7" name="Rectangle 6">
            <a:extLst>
              <a:ext uri="{FF2B5EF4-FFF2-40B4-BE49-F238E27FC236}">
                <a16:creationId xmlns:a16="http://schemas.microsoft.com/office/drawing/2014/main" id="{E930D09D-960A-1FCA-82AD-1AA292596FBC}"/>
              </a:ext>
            </a:extLst>
          </p:cNvPr>
          <p:cNvSpPr/>
          <p:nvPr userDrawn="1"/>
        </p:nvSpPr>
        <p:spPr>
          <a:xfrm flipV="1">
            <a:off x="0" y="270165"/>
            <a:ext cx="12192000" cy="45719"/>
          </a:xfrm>
          <a:prstGeom prst="rect">
            <a:avLst/>
          </a:prstGeom>
          <a:solidFill>
            <a:srgbClr val="ED6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344041FD-DC37-3C20-CEE8-0103588488E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pic>
        <p:nvPicPr>
          <p:cNvPr id="9" name="Picture 8">
            <a:extLst>
              <a:ext uri="{FF2B5EF4-FFF2-40B4-BE49-F238E27FC236}">
                <a16:creationId xmlns:a16="http://schemas.microsoft.com/office/drawing/2014/main" id="{16051374-8A08-B2B5-3D4C-458F584ABF6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Tree>
    <p:extLst>
      <p:ext uri="{BB962C8B-B14F-4D97-AF65-F5344CB8AC3E}">
        <p14:creationId xmlns:p14="http://schemas.microsoft.com/office/powerpoint/2010/main" val="2452751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1027443-035D-4263-A7FA-C4F2145FEE00}" type="datetimeFigureOut">
              <a:rPr lang="en-IN" smtClean="0"/>
              <a:t>03/03/25</a:t>
            </a:fld>
            <a:endParaRPr lang="en-IN" dirty="0"/>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1F56EE-BA8C-49DD-9007-330E7C7B6D5D}" type="slidenum">
              <a:rPr lang="en-IN" smtClean="0"/>
              <a:t>‹#›</a:t>
            </a:fld>
            <a:endParaRPr lang="en-IN"/>
          </a:p>
        </p:txBody>
      </p:sp>
      <p:sp>
        <p:nvSpPr>
          <p:cNvPr id="8" name="Rectangle 7">
            <a:extLst>
              <a:ext uri="{FF2B5EF4-FFF2-40B4-BE49-F238E27FC236}">
                <a16:creationId xmlns:a16="http://schemas.microsoft.com/office/drawing/2014/main" id="{2FD38F5E-6DEF-DD58-5C51-CC0FD276BE3E}"/>
              </a:ext>
            </a:extLst>
          </p:cNvPr>
          <p:cNvSpPr/>
          <p:nvPr userDrawn="1"/>
        </p:nvSpPr>
        <p:spPr>
          <a:xfrm flipV="1">
            <a:off x="0" y="270165"/>
            <a:ext cx="12192000" cy="45719"/>
          </a:xfrm>
          <a:prstGeom prst="rect">
            <a:avLst/>
          </a:prstGeom>
          <a:solidFill>
            <a:srgbClr val="ED6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6C2F77F8-A456-895C-D404-686DA178C42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pic>
        <p:nvPicPr>
          <p:cNvPr id="10" name="Picture 9">
            <a:extLst>
              <a:ext uri="{FF2B5EF4-FFF2-40B4-BE49-F238E27FC236}">
                <a16:creationId xmlns:a16="http://schemas.microsoft.com/office/drawing/2014/main" id="{DE25F6B9-8F21-2505-0C36-2BE496B8F64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Tree>
    <p:extLst>
      <p:ext uri="{BB962C8B-B14F-4D97-AF65-F5344CB8AC3E}">
        <p14:creationId xmlns:p14="http://schemas.microsoft.com/office/powerpoint/2010/main" val="452525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1027443-035D-4263-A7FA-C4F2145FEE00}" type="datetimeFigureOut">
              <a:rPr lang="en-IN" smtClean="0"/>
              <a:t>03/03/25</a:t>
            </a:fld>
            <a:endParaRPr lang="en-IN" dirty="0"/>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01F56EE-BA8C-49DD-9007-330E7C7B6D5D}" type="slidenum">
              <a:rPr lang="en-IN" smtClean="0"/>
              <a:t>‹#›</a:t>
            </a:fld>
            <a:endParaRPr lang="en-IN"/>
          </a:p>
        </p:txBody>
      </p:sp>
      <p:sp>
        <p:nvSpPr>
          <p:cNvPr id="10" name="Rectangle 9">
            <a:extLst>
              <a:ext uri="{FF2B5EF4-FFF2-40B4-BE49-F238E27FC236}">
                <a16:creationId xmlns:a16="http://schemas.microsoft.com/office/drawing/2014/main" id="{45C97826-FBF2-F6D8-DDCB-D7EF39D820EE}"/>
              </a:ext>
            </a:extLst>
          </p:cNvPr>
          <p:cNvSpPr/>
          <p:nvPr userDrawn="1"/>
        </p:nvSpPr>
        <p:spPr>
          <a:xfrm flipV="1">
            <a:off x="0" y="270165"/>
            <a:ext cx="12192000" cy="45719"/>
          </a:xfrm>
          <a:prstGeom prst="rect">
            <a:avLst/>
          </a:prstGeom>
          <a:solidFill>
            <a:srgbClr val="ED6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7510A869-58B9-3E31-676F-453FA039DF3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pic>
        <p:nvPicPr>
          <p:cNvPr id="12" name="Picture 11">
            <a:extLst>
              <a:ext uri="{FF2B5EF4-FFF2-40B4-BE49-F238E27FC236}">
                <a16:creationId xmlns:a16="http://schemas.microsoft.com/office/drawing/2014/main" id="{77436E55-F0A2-BF53-8A61-8C70589982B7}"/>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Tree>
    <p:extLst>
      <p:ext uri="{BB962C8B-B14F-4D97-AF65-F5344CB8AC3E}">
        <p14:creationId xmlns:p14="http://schemas.microsoft.com/office/powerpoint/2010/main" val="2115386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1027443-035D-4263-A7FA-C4F2145FEE00}" type="datetimeFigureOut">
              <a:rPr lang="en-IN" smtClean="0"/>
              <a:t>03/03/25</a:t>
            </a:fld>
            <a:endParaRPr lang="en-IN" dirty="0"/>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01F56EE-BA8C-49DD-9007-330E7C7B6D5D}" type="slidenum">
              <a:rPr lang="en-IN" smtClean="0"/>
              <a:t>‹#›</a:t>
            </a:fld>
            <a:endParaRPr lang="en-IN"/>
          </a:p>
        </p:txBody>
      </p:sp>
      <p:sp>
        <p:nvSpPr>
          <p:cNvPr id="6" name="Rectangle 5">
            <a:extLst>
              <a:ext uri="{FF2B5EF4-FFF2-40B4-BE49-F238E27FC236}">
                <a16:creationId xmlns:a16="http://schemas.microsoft.com/office/drawing/2014/main" id="{25B07A2F-75A8-D7CF-8C39-3499BD055D20}"/>
              </a:ext>
            </a:extLst>
          </p:cNvPr>
          <p:cNvSpPr/>
          <p:nvPr userDrawn="1"/>
        </p:nvSpPr>
        <p:spPr>
          <a:xfrm flipV="1">
            <a:off x="0" y="270165"/>
            <a:ext cx="12192000" cy="45719"/>
          </a:xfrm>
          <a:prstGeom prst="rect">
            <a:avLst/>
          </a:prstGeom>
          <a:solidFill>
            <a:srgbClr val="ED6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BFB4DAFF-CFFD-765D-F0B1-849B4901C03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pic>
        <p:nvPicPr>
          <p:cNvPr id="8" name="Picture 7">
            <a:extLst>
              <a:ext uri="{FF2B5EF4-FFF2-40B4-BE49-F238E27FC236}">
                <a16:creationId xmlns:a16="http://schemas.microsoft.com/office/drawing/2014/main" id="{EF503B0F-9755-A213-7AF2-71B2FC5C90C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Tree>
    <p:extLst>
      <p:ext uri="{BB962C8B-B14F-4D97-AF65-F5344CB8AC3E}">
        <p14:creationId xmlns:p14="http://schemas.microsoft.com/office/powerpoint/2010/main" val="2406611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027443-035D-4263-A7FA-C4F2145FEE00}" type="datetimeFigureOut">
              <a:rPr lang="en-IN" smtClean="0"/>
              <a:t>03/03/25</a:t>
            </a:fld>
            <a:endParaRPr lang="en-IN" dirty="0"/>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01F56EE-BA8C-49DD-9007-330E7C7B6D5D}" type="slidenum">
              <a:rPr lang="en-IN" smtClean="0"/>
              <a:t>‹#›</a:t>
            </a:fld>
            <a:endParaRPr lang="en-IN"/>
          </a:p>
        </p:txBody>
      </p:sp>
      <p:pic>
        <p:nvPicPr>
          <p:cNvPr id="8" name="Picture 7">
            <a:extLst>
              <a:ext uri="{FF2B5EF4-FFF2-40B4-BE49-F238E27FC236}">
                <a16:creationId xmlns:a16="http://schemas.microsoft.com/office/drawing/2014/main" id="{05366D0D-F54B-0ABB-B75C-613FEBEA1EA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891"/>
            <a:ext cx="12192000" cy="6854218"/>
          </a:xfrm>
          <a:prstGeom prst="rect">
            <a:avLst/>
          </a:prstGeom>
        </p:spPr>
      </p:pic>
      <p:sp>
        <p:nvSpPr>
          <p:cNvPr id="9" name="Rectangle 8">
            <a:extLst>
              <a:ext uri="{FF2B5EF4-FFF2-40B4-BE49-F238E27FC236}">
                <a16:creationId xmlns:a16="http://schemas.microsoft.com/office/drawing/2014/main" id="{3F7C8214-5533-BE70-7D3B-39BA071A7619}"/>
              </a:ext>
            </a:extLst>
          </p:cNvPr>
          <p:cNvSpPr/>
          <p:nvPr userDrawn="1"/>
        </p:nvSpPr>
        <p:spPr>
          <a:xfrm>
            <a:off x="10305288" y="5907024"/>
            <a:ext cx="1316736" cy="4493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1533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027443-035D-4263-A7FA-C4F2145FEE00}" type="datetimeFigureOut">
              <a:rPr lang="en-IN" smtClean="0"/>
              <a:t>03/03/25</a:t>
            </a:fld>
            <a:endParaRPr lang="en-IN" dirty="0"/>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01F56EE-BA8C-49DD-9007-330E7C7B6D5D}" type="slidenum">
              <a:rPr lang="en-IN" smtClean="0"/>
              <a:t>‹#›</a:t>
            </a:fld>
            <a:endParaRPr lang="en-IN"/>
          </a:p>
        </p:txBody>
      </p:sp>
      <p:pic>
        <p:nvPicPr>
          <p:cNvPr id="6" name="Picture 5">
            <a:extLst>
              <a:ext uri="{FF2B5EF4-FFF2-40B4-BE49-F238E27FC236}">
                <a16:creationId xmlns:a16="http://schemas.microsoft.com/office/drawing/2014/main" id="{DA24B4EC-6E74-E11C-04B5-48BC193690A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891"/>
            <a:ext cx="12192000" cy="6854218"/>
          </a:xfrm>
          <a:prstGeom prst="rect">
            <a:avLst/>
          </a:prstGeom>
        </p:spPr>
      </p:pic>
    </p:spTree>
    <p:extLst>
      <p:ext uri="{BB962C8B-B14F-4D97-AF65-F5344CB8AC3E}">
        <p14:creationId xmlns:p14="http://schemas.microsoft.com/office/powerpoint/2010/main" val="1233487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1027443-035D-4263-A7FA-C4F2145FEE00}" type="datetimeFigureOut">
              <a:rPr lang="en-IN" smtClean="0"/>
              <a:t>03/03/25</a:t>
            </a:fld>
            <a:endParaRPr lang="en-IN" dirty="0"/>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1F56EE-BA8C-49DD-9007-330E7C7B6D5D}" type="slidenum">
              <a:rPr lang="en-IN" smtClean="0"/>
              <a:t>‹#›</a:t>
            </a:fld>
            <a:endParaRPr lang="en-IN"/>
          </a:p>
        </p:txBody>
      </p:sp>
      <p:sp>
        <p:nvSpPr>
          <p:cNvPr id="8" name="Rectangle 7">
            <a:extLst>
              <a:ext uri="{FF2B5EF4-FFF2-40B4-BE49-F238E27FC236}">
                <a16:creationId xmlns:a16="http://schemas.microsoft.com/office/drawing/2014/main" id="{CF8A7419-0EE5-8818-BC14-5E5937C761D0}"/>
              </a:ext>
            </a:extLst>
          </p:cNvPr>
          <p:cNvSpPr/>
          <p:nvPr userDrawn="1"/>
        </p:nvSpPr>
        <p:spPr>
          <a:xfrm flipV="1">
            <a:off x="0" y="270165"/>
            <a:ext cx="12192000" cy="45719"/>
          </a:xfrm>
          <a:prstGeom prst="rect">
            <a:avLst/>
          </a:prstGeom>
          <a:solidFill>
            <a:srgbClr val="ED6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93402B01-8388-1906-BE4B-25D724EFF76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pic>
        <p:nvPicPr>
          <p:cNvPr id="10" name="Picture 9">
            <a:extLst>
              <a:ext uri="{FF2B5EF4-FFF2-40B4-BE49-F238E27FC236}">
                <a16:creationId xmlns:a16="http://schemas.microsoft.com/office/drawing/2014/main" id="{1DBBF8F9-5BA7-01F4-CF6A-956300CB8E5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Tree>
    <p:extLst>
      <p:ext uri="{BB962C8B-B14F-4D97-AF65-F5344CB8AC3E}">
        <p14:creationId xmlns:p14="http://schemas.microsoft.com/office/powerpoint/2010/main" val="2608401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1027443-035D-4263-A7FA-C4F2145FEE00}" type="datetimeFigureOut">
              <a:rPr lang="en-IN" smtClean="0"/>
              <a:t>03/03/25</a:t>
            </a:fld>
            <a:endParaRPr lang="en-IN" dirty="0"/>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1F56EE-BA8C-49DD-9007-330E7C7B6D5D}" type="slidenum">
              <a:rPr lang="en-IN" smtClean="0"/>
              <a:t>‹#›</a:t>
            </a:fld>
            <a:endParaRPr lang="en-IN"/>
          </a:p>
        </p:txBody>
      </p:sp>
      <p:sp>
        <p:nvSpPr>
          <p:cNvPr id="8" name="Rectangle 7">
            <a:extLst>
              <a:ext uri="{FF2B5EF4-FFF2-40B4-BE49-F238E27FC236}">
                <a16:creationId xmlns:a16="http://schemas.microsoft.com/office/drawing/2014/main" id="{D831F74B-A620-BED1-8083-ACD3C2222B33}"/>
              </a:ext>
            </a:extLst>
          </p:cNvPr>
          <p:cNvSpPr/>
          <p:nvPr userDrawn="1"/>
        </p:nvSpPr>
        <p:spPr>
          <a:xfrm flipV="1">
            <a:off x="0" y="270165"/>
            <a:ext cx="12192000" cy="45719"/>
          </a:xfrm>
          <a:prstGeom prst="rect">
            <a:avLst/>
          </a:prstGeom>
          <a:solidFill>
            <a:srgbClr val="ED6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816FE7B0-A325-9F6B-5DEA-6CFFB2DBBC1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pic>
        <p:nvPicPr>
          <p:cNvPr id="10" name="Picture 9">
            <a:extLst>
              <a:ext uri="{FF2B5EF4-FFF2-40B4-BE49-F238E27FC236}">
                <a16:creationId xmlns:a16="http://schemas.microsoft.com/office/drawing/2014/main" id="{1C5AD06A-BD56-1758-E059-92C1C7C4582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Tree>
    <p:extLst>
      <p:ext uri="{BB962C8B-B14F-4D97-AF65-F5344CB8AC3E}">
        <p14:creationId xmlns:p14="http://schemas.microsoft.com/office/powerpoint/2010/main" val="1061150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1027443-035D-4263-A7FA-C4F2145FEE00}" type="datetimeFigureOut">
              <a:rPr lang="en-IN" smtClean="0"/>
              <a:t>03/03/25</a:t>
            </a:fld>
            <a:endParaRPr lang="en-IN" dirty="0"/>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1F56EE-BA8C-49DD-9007-330E7C7B6D5D}" type="slidenum">
              <a:rPr lang="en-IN" smtClean="0"/>
              <a:t>‹#›</a:t>
            </a:fld>
            <a:endParaRPr lang="en-IN"/>
          </a:p>
        </p:txBody>
      </p:sp>
      <p:sp>
        <p:nvSpPr>
          <p:cNvPr id="7" name="Rectangle 6">
            <a:extLst>
              <a:ext uri="{FF2B5EF4-FFF2-40B4-BE49-F238E27FC236}">
                <a16:creationId xmlns:a16="http://schemas.microsoft.com/office/drawing/2014/main" id="{FEF13F31-6E9D-2B76-A67F-6671E18E0B01}"/>
              </a:ext>
            </a:extLst>
          </p:cNvPr>
          <p:cNvSpPr/>
          <p:nvPr userDrawn="1"/>
        </p:nvSpPr>
        <p:spPr>
          <a:xfrm flipV="1">
            <a:off x="0" y="270165"/>
            <a:ext cx="12192000" cy="45719"/>
          </a:xfrm>
          <a:prstGeom prst="rect">
            <a:avLst/>
          </a:prstGeom>
          <a:solidFill>
            <a:srgbClr val="ED6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2BF20BC5-158B-FBD7-0661-46090C9DD14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pic>
        <p:nvPicPr>
          <p:cNvPr id="9" name="Picture 8">
            <a:extLst>
              <a:ext uri="{FF2B5EF4-FFF2-40B4-BE49-F238E27FC236}">
                <a16:creationId xmlns:a16="http://schemas.microsoft.com/office/drawing/2014/main" id="{529CD942-F6EE-95F6-92C9-66D686A7E0F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Tree>
    <p:extLst>
      <p:ext uri="{BB962C8B-B14F-4D97-AF65-F5344CB8AC3E}">
        <p14:creationId xmlns:p14="http://schemas.microsoft.com/office/powerpoint/2010/main" val="9709961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1027443-035D-4263-A7FA-C4F2145FEE00}" type="datetimeFigureOut">
              <a:rPr lang="en-IN" smtClean="0"/>
              <a:t>03/03/25</a:t>
            </a:fld>
            <a:endParaRPr lang="en-IN" dirty="0"/>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1F56EE-BA8C-49DD-9007-330E7C7B6D5D}" type="slidenum">
              <a:rPr lang="en-IN" smtClean="0"/>
              <a:t>‹#›</a:t>
            </a:fld>
            <a:endParaRPr lang="en-IN"/>
          </a:p>
        </p:txBody>
      </p:sp>
      <p:sp>
        <p:nvSpPr>
          <p:cNvPr id="7" name="Rectangle 6">
            <a:extLst>
              <a:ext uri="{FF2B5EF4-FFF2-40B4-BE49-F238E27FC236}">
                <a16:creationId xmlns:a16="http://schemas.microsoft.com/office/drawing/2014/main" id="{C45613ED-840F-189B-6184-7C2E83F74658}"/>
              </a:ext>
            </a:extLst>
          </p:cNvPr>
          <p:cNvSpPr/>
          <p:nvPr userDrawn="1"/>
        </p:nvSpPr>
        <p:spPr>
          <a:xfrm flipV="1">
            <a:off x="0" y="270165"/>
            <a:ext cx="12192000" cy="45719"/>
          </a:xfrm>
          <a:prstGeom prst="rect">
            <a:avLst/>
          </a:prstGeom>
          <a:solidFill>
            <a:srgbClr val="ED6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62EC0B6F-B947-A6A9-12AC-258AD1C53B1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pic>
        <p:nvPicPr>
          <p:cNvPr id="9" name="Picture 8">
            <a:extLst>
              <a:ext uri="{FF2B5EF4-FFF2-40B4-BE49-F238E27FC236}">
                <a16:creationId xmlns:a16="http://schemas.microsoft.com/office/drawing/2014/main" id="{65962AF7-6154-320D-76CC-8BC30D776C8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Tree>
    <p:extLst>
      <p:ext uri="{BB962C8B-B14F-4D97-AF65-F5344CB8AC3E}">
        <p14:creationId xmlns:p14="http://schemas.microsoft.com/office/powerpoint/2010/main" val="3142373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1F56EE-BA8C-49DD-9007-330E7C7B6D5D}" type="slidenum">
              <a:rPr lang="en-IN" smtClean="0"/>
              <a:t>‹#›</a:t>
            </a:fld>
            <a:endParaRPr lang="en-IN"/>
          </a:p>
        </p:txBody>
      </p:sp>
    </p:spTree>
    <p:extLst>
      <p:ext uri="{BB962C8B-B14F-4D97-AF65-F5344CB8AC3E}">
        <p14:creationId xmlns:p14="http://schemas.microsoft.com/office/powerpoint/2010/main" val="31403340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6.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6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3.png"/></Relationships>
</file>

<file path=ppt/slides/_rels/slide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36.png"/><Relationship Id="rId4" Type="http://schemas.openxmlformats.org/officeDocument/2006/relationships/image" Target="../media/image35.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3" Type="http://schemas.openxmlformats.org/officeDocument/2006/relationships/hyperlink" Target="https://prepinsta.com/operating-systems/fragmentation/" TargetMode="External"/><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3" Type="http://schemas.openxmlformats.org/officeDocument/2006/relationships/hyperlink" Target="https://prepinsta.com/operating-systems/fragmentation/" TargetMode="External"/><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7.png"/></Relationships>
</file>

<file path=ppt/slides/_rels/slide120.xml.rels><?xml version="1.0" encoding="UTF-8" standalone="yes"?>
<Relationships xmlns="http://schemas.openxmlformats.org/package/2006/relationships"><Relationship Id="rId3" Type="http://schemas.openxmlformats.org/officeDocument/2006/relationships/hyperlink" Target="https://prepinsta.com/operating-systems/fragmentation/" TargetMode="External"/><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3" Type="http://schemas.openxmlformats.org/officeDocument/2006/relationships/hyperlink" Target="https://prepinsta.com/operating-systems/fragmentation/" TargetMode="External"/><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122.xml.rels><?xml version="1.0" encoding="UTF-8" standalone="yes"?>
<Relationships xmlns="http://schemas.openxmlformats.org/package/2006/relationships"><Relationship Id="rId3" Type="http://schemas.openxmlformats.org/officeDocument/2006/relationships/hyperlink" Target="https://prepinsta.com/operating-systems/fragmentation/" TargetMode="External"/><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9.png"/></Relationships>
</file>

<file path=ppt/slides/_rels/slide123.xml.rels><?xml version="1.0" encoding="UTF-8" standalone="yes"?>
<Relationships xmlns="http://schemas.openxmlformats.org/package/2006/relationships"><Relationship Id="rId3" Type="http://schemas.openxmlformats.org/officeDocument/2006/relationships/hyperlink" Target="https://prepinsta.com/operating-systems/fragmentation/" TargetMode="External"/><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40.png"/></Relationships>
</file>

<file path=ppt/slides/_rels/slide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2.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60.png"/></Relationships>
</file>

<file path=ppt/slides/_rels/slide19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60.png"/></Relationships>
</file>

<file path=ppt/slides/_rels/slide1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4.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5.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664F7C6E-9292-020B-D98B-4DA88C69705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26246"/>
          <a:stretch/>
        </p:blipFill>
        <p:spPr>
          <a:xfrm>
            <a:off x="3564819" y="1286905"/>
            <a:ext cx="4398540" cy="1253096"/>
          </a:xfrm>
          <a:prstGeom prst="rect">
            <a:avLst/>
          </a:prstGeom>
        </p:spPr>
      </p:pic>
      <p:sp>
        <p:nvSpPr>
          <p:cNvPr id="2" name="Title 1">
            <a:extLst>
              <a:ext uri="{FF2B5EF4-FFF2-40B4-BE49-F238E27FC236}">
                <a16:creationId xmlns:a16="http://schemas.microsoft.com/office/drawing/2014/main" id="{45A98601-B17D-0AFB-D108-62AADAD7477E}"/>
              </a:ext>
            </a:extLst>
          </p:cNvPr>
          <p:cNvSpPr txBox="1">
            <a:spLocks/>
          </p:cNvSpPr>
          <p:nvPr/>
        </p:nvSpPr>
        <p:spPr bwMode="gray">
          <a:xfrm>
            <a:off x="659396" y="2722331"/>
            <a:ext cx="10873208" cy="1828083"/>
          </a:xfrm>
          <a:prstGeom prst="rect">
            <a:avLst/>
          </a:prstGeom>
        </p:spPr>
        <p:txBody>
          <a:bodyPr anchor="ctr"/>
          <a:lstStyle>
            <a:lvl1pPr algn="l" defTabSz="914400" rtl="0" eaLnBrk="1" latinLnBrk="0" hangingPunct="1">
              <a:lnSpc>
                <a:spcPct val="90000"/>
              </a:lnSpc>
              <a:spcBef>
                <a:spcPct val="0"/>
              </a:spcBef>
              <a:buNone/>
              <a:defRPr sz="4000" kern="1200" spc="0" baseline="0">
                <a:solidFill>
                  <a:srgbClr val="FF6600"/>
                </a:solidFill>
                <a:latin typeface="Roboto Medium" pitchFamily="2" charset="0"/>
                <a:ea typeface="Roboto Medium" pitchFamily="2" charset="0"/>
                <a:cs typeface="Roboto Medium" pitchFamily="2" charset="0"/>
              </a:defRPr>
            </a:lvl1pPr>
          </a:lstStyle>
          <a:p>
            <a:pPr algn="l"/>
            <a:r>
              <a:rPr lang="en-US" sz="3000" dirty="0"/>
              <a:t>Operating Systems and Linux Programming - </a:t>
            </a:r>
            <a:r>
              <a:rPr lang="en-IN" sz="3000" b="0" i="0" u="none" strike="noStrike" baseline="0" dirty="0">
                <a:solidFill>
                  <a:srgbClr val="000000"/>
                </a:solidFill>
                <a:latin typeface="Times New Roman" panose="02020603050405020304" pitchFamily="18" charset="0"/>
              </a:rPr>
              <a:t> </a:t>
            </a:r>
            <a:r>
              <a:rPr lang="en-IN" sz="3000" dirty="0"/>
              <a:t>M23DE0105 </a:t>
            </a:r>
            <a:r>
              <a:rPr lang="en-IN" sz="1800" b="0" i="0" u="none" strike="noStrike" baseline="0" dirty="0">
                <a:solidFill>
                  <a:srgbClr val="000000"/>
                </a:solidFill>
                <a:latin typeface="Times New Roman" panose="02020603050405020304" pitchFamily="18" charset="0"/>
              </a:rPr>
              <a:t>	</a:t>
            </a:r>
          </a:p>
          <a:p>
            <a:pPr>
              <a:lnSpc>
                <a:spcPct val="150000"/>
              </a:lnSpc>
            </a:pPr>
            <a:r>
              <a:rPr lang="en-US" sz="3200" dirty="0"/>
              <a:t> </a:t>
            </a:r>
            <a:r>
              <a:rPr lang="en-IN" sz="2000" dirty="0">
                <a:solidFill>
                  <a:srgbClr val="0070C0"/>
                </a:solidFill>
              </a:rPr>
              <a:t>MCA Sem I - Academic Year : 2023 - 2024  ODD Semester</a:t>
            </a:r>
            <a:endParaRPr lang="en-US" sz="2000" dirty="0">
              <a:solidFill>
                <a:srgbClr val="0070C0"/>
              </a:solidFill>
            </a:endParaRPr>
          </a:p>
        </p:txBody>
      </p:sp>
    </p:spTree>
    <p:extLst>
      <p:ext uri="{BB962C8B-B14F-4D97-AF65-F5344CB8AC3E}">
        <p14:creationId xmlns:p14="http://schemas.microsoft.com/office/powerpoint/2010/main" val="4096696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98335-6F39-88C7-D5CF-791CE5EE291F}"/>
            </a:ext>
          </a:extLst>
        </p:cNvPr>
        <p:cNvGrpSpPr/>
        <p:nvPr/>
      </p:nvGrpSpPr>
      <p:grpSpPr>
        <a:xfrm>
          <a:off x="0" y="0"/>
          <a:ext cx="0" cy="0"/>
          <a:chOff x="0" y="0"/>
          <a:chExt cx="0" cy="0"/>
        </a:xfrm>
      </p:grpSpPr>
      <p:sp>
        <p:nvSpPr>
          <p:cNvPr id="9" name="Text Placeholder 3">
            <a:extLst>
              <a:ext uri="{FF2B5EF4-FFF2-40B4-BE49-F238E27FC236}">
                <a16:creationId xmlns:a16="http://schemas.microsoft.com/office/drawing/2014/main" id="{887863A9-46E6-1AAC-795A-3963862AF469}"/>
              </a:ext>
            </a:extLst>
          </p:cNvPr>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5" name="Subtitle 4">
            <a:extLst>
              <a:ext uri="{FF2B5EF4-FFF2-40B4-BE49-F238E27FC236}">
                <a16:creationId xmlns:a16="http://schemas.microsoft.com/office/drawing/2014/main" id="{0ECCED30-4574-CA0F-18BE-FDA3DAACCDC4}"/>
              </a:ext>
            </a:extLst>
          </p:cNvPr>
          <p:cNvSpPr>
            <a:spLocks noGrp="1"/>
          </p:cNvSpPr>
          <p:nvPr>
            <p:ph type="subTitle" idx="1"/>
          </p:nvPr>
        </p:nvSpPr>
        <p:spPr>
          <a:xfrm>
            <a:off x="1047345" y="2601119"/>
            <a:ext cx="9144000" cy="1655762"/>
          </a:xfrm>
        </p:spPr>
        <p:txBody>
          <a:bodyPr>
            <a:normAutofit/>
          </a:bodyPr>
          <a:lstStyle/>
          <a:p>
            <a:r>
              <a:rPr lang="en-US" sz="4400" dirty="0">
                <a:solidFill>
                  <a:srgbClr val="0066CC"/>
                </a:solidFill>
              </a:rPr>
              <a:t>Lecture - 1</a:t>
            </a:r>
          </a:p>
        </p:txBody>
      </p:sp>
    </p:spTree>
    <p:extLst>
      <p:ext uri="{BB962C8B-B14F-4D97-AF65-F5344CB8AC3E}">
        <p14:creationId xmlns:p14="http://schemas.microsoft.com/office/powerpoint/2010/main" val="284185588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AGENDA</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latin typeface="+mj-lt"/>
                <a:ea typeface="+mj-ea"/>
                <a:cs typeface="+mj-cs"/>
              </a:rPr>
              <a:t>Introduction</a:t>
            </a:r>
          </a:p>
          <a:p>
            <a:r>
              <a:rPr lang="en-US" sz="3000" dirty="0">
                <a:latin typeface="+mj-lt"/>
                <a:ea typeface="+mj-ea"/>
                <a:cs typeface="+mj-cs"/>
              </a:rPr>
              <a:t>Quick look at Syllabus – Unit 2</a:t>
            </a:r>
          </a:p>
          <a:p>
            <a:r>
              <a:rPr lang="en-US" sz="3000" dirty="0">
                <a:latin typeface="+mj-lt"/>
                <a:ea typeface="+mj-ea"/>
                <a:cs typeface="+mj-cs"/>
              </a:rPr>
              <a:t>Introduction to Deadlocks</a:t>
            </a:r>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111740493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A6DC3-59F1-ED8F-DB87-1415971142C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1D7038DD-77A6-3D0D-9A69-232C778B356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07</a:t>
            </a:r>
          </a:p>
        </p:txBody>
      </p:sp>
      <p:pic>
        <p:nvPicPr>
          <p:cNvPr id="13" name="Picture 12">
            <a:extLst>
              <a:ext uri="{FF2B5EF4-FFF2-40B4-BE49-F238E27FC236}">
                <a16:creationId xmlns:a16="http://schemas.microsoft.com/office/drawing/2014/main" id="{2284D116-3D73-D2F4-4123-096D761605E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8A95E595-FD36-DC1F-B371-92E063E682D7}"/>
              </a:ext>
            </a:extLst>
          </p:cNvPr>
          <p:cNvSpPr>
            <a:spLocks noGrp="1" noChangeArrowheads="1"/>
          </p:cNvSpPr>
          <p:nvPr>
            <p:ph type="title"/>
          </p:nvPr>
        </p:nvSpPr>
        <p:spPr>
          <a:xfrm>
            <a:off x="936487" y="705146"/>
            <a:ext cx="7772400" cy="1143000"/>
          </a:xfrm>
        </p:spPr>
        <p:txBody>
          <a:bodyPr/>
          <a:lstStyle/>
          <a:p>
            <a:r>
              <a:rPr lang="en-US" altLang="zh-TW" sz="3600" dirty="0">
                <a:solidFill>
                  <a:srgbClr val="FF6600"/>
                </a:solidFill>
                <a:latin typeface="Aharoni" pitchFamily="2" charset="-79"/>
                <a:cs typeface="Aharoni" pitchFamily="2" charset="-79"/>
              </a:rPr>
              <a:t>Quick Look at the Syllabus</a:t>
            </a:r>
          </a:p>
        </p:txBody>
      </p:sp>
      <p:sp>
        <p:nvSpPr>
          <p:cNvPr id="4" name="Rectangle 3">
            <a:extLst>
              <a:ext uri="{FF2B5EF4-FFF2-40B4-BE49-F238E27FC236}">
                <a16:creationId xmlns:a16="http://schemas.microsoft.com/office/drawing/2014/main" id="{6995E6D4-E799-ACD9-0C10-FA4357BE546C}"/>
              </a:ext>
            </a:extLst>
          </p:cNvPr>
          <p:cNvSpPr txBox="1">
            <a:spLocks noChangeArrowheads="1"/>
          </p:cNvSpPr>
          <p:nvPr/>
        </p:nvSpPr>
        <p:spPr>
          <a:xfrm>
            <a:off x="1010438" y="1679644"/>
            <a:ext cx="7772400" cy="314527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dirty="0">
                <a:highlight>
                  <a:srgbClr val="FFFF00"/>
                </a:highlight>
              </a:rPr>
              <a:t>Unit 2: Dead locks </a:t>
            </a:r>
          </a:p>
          <a:p>
            <a:pPr marL="0" indent="0" algn="just">
              <a:lnSpc>
                <a:spcPct val="150000"/>
              </a:lnSpc>
              <a:buNone/>
            </a:pPr>
            <a:r>
              <a:rPr lang="en-US" dirty="0">
                <a:latin typeface="+mj-lt"/>
                <a:ea typeface="+mj-ea"/>
                <a:cs typeface="+mj-cs"/>
              </a:rPr>
              <a:t>	</a:t>
            </a:r>
          </a:p>
        </p:txBody>
      </p:sp>
      <p:sp>
        <p:nvSpPr>
          <p:cNvPr id="5" name="TextBox 4">
            <a:extLst>
              <a:ext uri="{FF2B5EF4-FFF2-40B4-BE49-F238E27FC236}">
                <a16:creationId xmlns:a16="http://schemas.microsoft.com/office/drawing/2014/main" id="{2659AB67-E337-99EB-994C-49873662AC0B}"/>
              </a:ext>
            </a:extLst>
          </p:cNvPr>
          <p:cNvSpPr txBox="1"/>
          <p:nvPr/>
        </p:nvSpPr>
        <p:spPr>
          <a:xfrm>
            <a:off x="1010438" y="2490498"/>
            <a:ext cx="10364820" cy="3086871"/>
          </a:xfrm>
          <a:prstGeom prst="rect">
            <a:avLst/>
          </a:prstGeom>
          <a:noFill/>
          <a:ln>
            <a:solidFill>
              <a:srgbClr val="ED682F"/>
            </a:solidFill>
          </a:ln>
        </p:spPr>
        <p:txBody>
          <a:bodyPr wrap="square">
            <a:spAutoFit/>
          </a:bodyPr>
          <a:lstStyle/>
          <a:p>
            <a:pPr algn="just">
              <a:lnSpc>
                <a:spcPct val="150000"/>
              </a:lnSpc>
            </a:pPr>
            <a:r>
              <a:rPr lang="en-US" sz="2200" dirty="0"/>
              <a:t>Deadlocks: system model, Characterization, Deadlock prevention, avoidance and detection, Recovery from deadlock. 	</a:t>
            </a:r>
          </a:p>
          <a:p>
            <a:pPr algn="just">
              <a:lnSpc>
                <a:spcPct val="150000"/>
              </a:lnSpc>
            </a:pPr>
            <a:r>
              <a:rPr lang="en-US" sz="2200" dirty="0"/>
              <a:t>Memory Management: Logical and Physical address space, Swapping, Contiguous allocation, Paging, Segmentation, Segmentation with paging, Virtual memory -Demand paging and its performance, Page replacement algorithms, Allocation of frames, Thrashing. 	</a:t>
            </a:r>
          </a:p>
        </p:txBody>
      </p:sp>
    </p:spTree>
    <p:extLst>
      <p:ext uri="{BB962C8B-B14F-4D97-AF65-F5344CB8AC3E}">
        <p14:creationId xmlns:p14="http://schemas.microsoft.com/office/powerpoint/2010/main" val="144044488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333496" y="212734"/>
            <a:ext cx="5267704"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Introduction to Deadlocks</a:t>
            </a:r>
          </a:p>
        </p:txBody>
      </p:sp>
      <p:sp>
        <p:nvSpPr>
          <p:cNvPr id="4" name="Rectangle 3">
            <a:extLst>
              <a:ext uri="{FF2B5EF4-FFF2-40B4-BE49-F238E27FC236}">
                <a16:creationId xmlns:a16="http://schemas.microsoft.com/office/drawing/2014/main" id="{6022321D-655F-1778-98E5-0E7445DF4823}"/>
              </a:ext>
            </a:extLst>
          </p:cNvPr>
          <p:cNvSpPr/>
          <p:nvPr/>
        </p:nvSpPr>
        <p:spPr>
          <a:xfrm>
            <a:off x="789944" y="1355734"/>
            <a:ext cx="10585314" cy="1143070"/>
          </a:xfrm>
          <a:prstGeom prst="rect">
            <a:avLst/>
          </a:prstGeom>
        </p:spPr>
        <p:txBody>
          <a:bodyPr wrap="square">
            <a:spAutoFit/>
          </a:bodyPr>
          <a:lstStyle/>
          <a:p>
            <a:pPr algn="just">
              <a:lnSpc>
                <a:spcPct val="150000"/>
              </a:lnSpc>
            </a:pPr>
            <a:r>
              <a:rPr lang="en-US" sz="2400" dirty="0"/>
              <a:t>Deadlocks are a set of blocked processes each holding a resource and waiting to acquire a resource held by another process.</a:t>
            </a:r>
            <a:endParaRPr lang="en-IN" sz="2400" dirty="0"/>
          </a:p>
        </p:txBody>
      </p:sp>
      <p:pic>
        <p:nvPicPr>
          <p:cNvPr id="5" name="Picture 4" descr="Deadlocks in Operating Systems">
            <a:extLst>
              <a:ext uri="{FF2B5EF4-FFF2-40B4-BE49-F238E27FC236}">
                <a16:creationId xmlns:a16="http://schemas.microsoft.com/office/drawing/2014/main" id="{72E2878A-F290-5C9D-36F8-A9465BEF99BF}"/>
              </a:ext>
            </a:extLst>
          </p:cNvPr>
          <p:cNvPicPr/>
          <p:nvPr/>
        </p:nvPicPr>
        <p:blipFill>
          <a:blip r:embed="rId3" cstate="print"/>
          <a:srcRect/>
          <a:stretch>
            <a:fillRect/>
          </a:stretch>
        </p:blipFill>
        <p:spPr bwMode="auto">
          <a:xfrm>
            <a:off x="3419272" y="2550528"/>
            <a:ext cx="5943600" cy="3811369"/>
          </a:xfrm>
          <a:prstGeom prst="rect">
            <a:avLst/>
          </a:prstGeom>
          <a:noFill/>
          <a:ln w="9525">
            <a:noFill/>
            <a:miter lim="800000"/>
            <a:headEnd/>
            <a:tailEnd/>
          </a:ln>
        </p:spPr>
      </p:pic>
    </p:spTree>
    <p:extLst>
      <p:ext uri="{BB962C8B-B14F-4D97-AF65-F5344CB8AC3E}">
        <p14:creationId xmlns:p14="http://schemas.microsoft.com/office/powerpoint/2010/main" val="409354125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333496" y="212734"/>
            <a:ext cx="5267704"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Introduction to Deadlocks</a:t>
            </a:r>
          </a:p>
        </p:txBody>
      </p:sp>
      <p:sp>
        <p:nvSpPr>
          <p:cNvPr id="7" name="TextBox 6">
            <a:extLst>
              <a:ext uri="{FF2B5EF4-FFF2-40B4-BE49-F238E27FC236}">
                <a16:creationId xmlns:a16="http://schemas.microsoft.com/office/drawing/2014/main" id="{4BFB58AC-E53B-EAAA-58B3-99CFC214E136}"/>
              </a:ext>
            </a:extLst>
          </p:cNvPr>
          <p:cNvSpPr txBox="1"/>
          <p:nvPr/>
        </p:nvSpPr>
        <p:spPr>
          <a:xfrm>
            <a:off x="589716" y="1195471"/>
            <a:ext cx="10785542" cy="4467057"/>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t>A system consists of a finite number of resources distributed among several competing processes. </a:t>
            </a:r>
          </a:p>
          <a:p>
            <a:pPr marL="342900" indent="-342900" algn="just">
              <a:lnSpc>
                <a:spcPct val="150000"/>
              </a:lnSpc>
              <a:buFont typeface="Arial" panose="020B0604020202020204" pitchFamily="34" charset="0"/>
              <a:buChar char="•"/>
            </a:pPr>
            <a:r>
              <a:rPr lang="en-US" sz="2400" dirty="0"/>
              <a:t>The resources may be partitioned into several types (or classes), each consisting of some number of identical instances. </a:t>
            </a:r>
          </a:p>
          <a:p>
            <a:pPr marL="342900" indent="-342900" algn="just">
              <a:lnSpc>
                <a:spcPct val="150000"/>
              </a:lnSpc>
              <a:buFont typeface="Arial" panose="020B0604020202020204" pitchFamily="34" charset="0"/>
              <a:buChar char="•"/>
            </a:pPr>
            <a:r>
              <a:rPr lang="en-US" sz="2400" dirty="0"/>
              <a:t>CPU cycles, files, and I/O devices (such as printers and DVD drives) are examples of resource types. </a:t>
            </a:r>
          </a:p>
          <a:p>
            <a:pPr marL="342900" indent="-342900" algn="just">
              <a:lnSpc>
                <a:spcPct val="150000"/>
              </a:lnSpc>
              <a:buFont typeface="Arial" panose="020B0604020202020204" pitchFamily="34" charset="0"/>
              <a:buChar char="•"/>
            </a:pPr>
            <a:r>
              <a:rPr lang="en-US" sz="2400" dirty="0"/>
              <a:t>If a system has two CPUs, then the resource type CPU has two instances. Similarly, the resource type printer may have five instances.</a:t>
            </a:r>
            <a:endParaRPr lang="en-IN" sz="2400" dirty="0"/>
          </a:p>
        </p:txBody>
      </p:sp>
    </p:spTree>
    <p:extLst>
      <p:ext uri="{BB962C8B-B14F-4D97-AF65-F5344CB8AC3E}">
        <p14:creationId xmlns:p14="http://schemas.microsoft.com/office/powerpoint/2010/main" val="93185445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333496" y="212734"/>
            <a:ext cx="5267704"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Introduction to Deadlocks</a:t>
            </a:r>
          </a:p>
        </p:txBody>
      </p:sp>
      <p:sp>
        <p:nvSpPr>
          <p:cNvPr id="4" name="TextBox 3">
            <a:extLst>
              <a:ext uri="{FF2B5EF4-FFF2-40B4-BE49-F238E27FC236}">
                <a16:creationId xmlns:a16="http://schemas.microsoft.com/office/drawing/2014/main" id="{5EFC0A6D-FB06-7C48-79DB-CA1DFF134200}"/>
              </a:ext>
            </a:extLst>
          </p:cNvPr>
          <p:cNvSpPr txBox="1"/>
          <p:nvPr/>
        </p:nvSpPr>
        <p:spPr>
          <a:xfrm>
            <a:off x="593387" y="1731932"/>
            <a:ext cx="10379413" cy="225106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t>If a process requests an instance of a resource type, the allocation of any instance of the type should satisfy the request. </a:t>
            </a:r>
          </a:p>
          <a:p>
            <a:pPr marL="342900" indent="-342900" algn="just">
              <a:lnSpc>
                <a:spcPct val="150000"/>
              </a:lnSpc>
              <a:buFont typeface="Arial" panose="020B0604020202020204" pitchFamily="34" charset="0"/>
              <a:buChar char="•"/>
            </a:pPr>
            <a:r>
              <a:rPr lang="en-US" sz="2400" dirty="0"/>
              <a:t>If it does not, then the instances are not identical, and the resource type classes have not been defined properly.</a:t>
            </a:r>
            <a:endParaRPr lang="en-IN" sz="2400" dirty="0"/>
          </a:p>
        </p:txBody>
      </p:sp>
    </p:spTree>
    <p:extLst>
      <p:ext uri="{BB962C8B-B14F-4D97-AF65-F5344CB8AC3E}">
        <p14:creationId xmlns:p14="http://schemas.microsoft.com/office/powerpoint/2010/main" val="80254918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333496" y="212734"/>
            <a:ext cx="5267704"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Introduction to Deadlocks</a:t>
            </a:r>
          </a:p>
        </p:txBody>
      </p:sp>
      <p:sp>
        <p:nvSpPr>
          <p:cNvPr id="5" name="TextBox 4">
            <a:extLst>
              <a:ext uri="{FF2B5EF4-FFF2-40B4-BE49-F238E27FC236}">
                <a16:creationId xmlns:a16="http://schemas.microsoft.com/office/drawing/2014/main" id="{530DA80B-90AC-2DD4-4791-1CC1AD03D471}"/>
              </a:ext>
            </a:extLst>
          </p:cNvPr>
          <p:cNvSpPr txBox="1"/>
          <p:nvPr/>
        </p:nvSpPr>
        <p:spPr>
          <a:xfrm>
            <a:off x="764720" y="1355734"/>
            <a:ext cx="10846340" cy="391305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t>A process must request a resource before using it and must release the resource after using it. </a:t>
            </a:r>
          </a:p>
          <a:p>
            <a:pPr marL="342900" indent="-342900" algn="just">
              <a:lnSpc>
                <a:spcPct val="150000"/>
              </a:lnSpc>
              <a:buFont typeface="Arial" panose="020B0604020202020204" pitchFamily="34" charset="0"/>
              <a:buChar char="•"/>
            </a:pPr>
            <a:r>
              <a:rPr lang="en-US" sz="2400" dirty="0"/>
              <a:t>A process may request as many resources as it requires to carry out its designated task. </a:t>
            </a:r>
          </a:p>
          <a:p>
            <a:pPr marL="342900" indent="-342900" algn="just">
              <a:lnSpc>
                <a:spcPct val="150000"/>
              </a:lnSpc>
              <a:buFont typeface="Arial" panose="020B0604020202020204" pitchFamily="34" charset="0"/>
              <a:buChar char="•"/>
            </a:pPr>
            <a:r>
              <a:rPr lang="en-US" sz="2400" dirty="0"/>
              <a:t>Obviously, the number of resources requested may not exceed the total number of resources available in the system. </a:t>
            </a:r>
          </a:p>
          <a:p>
            <a:pPr marL="342900" indent="-342900" algn="just">
              <a:lnSpc>
                <a:spcPct val="150000"/>
              </a:lnSpc>
              <a:buFont typeface="Arial" panose="020B0604020202020204" pitchFamily="34" charset="0"/>
              <a:buChar char="•"/>
            </a:pPr>
            <a:r>
              <a:rPr lang="en-US" sz="2400" dirty="0"/>
              <a:t>In other words, a process cannot request three printers if the system has only two.</a:t>
            </a:r>
            <a:endParaRPr lang="en-IN" sz="2400" dirty="0"/>
          </a:p>
        </p:txBody>
      </p:sp>
    </p:spTree>
    <p:extLst>
      <p:ext uri="{BB962C8B-B14F-4D97-AF65-F5344CB8AC3E}">
        <p14:creationId xmlns:p14="http://schemas.microsoft.com/office/powerpoint/2010/main" val="373141160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333496" y="212734"/>
            <a:ext cx="5267704"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Introduction to Deadlocks</a:t>
            </a:r>
          </a:p>
        </p:txBody>
      </p:sp>
      <p:sp>
        <p:nvSpPr>
          <p:cNvPr id="4" name="TextBox 3">
            <a:extLst>
              <a:ext uri="{FF2B5EF4-FFF2-40B4-BE49-F238E27FC236}">
                <a16:creationId xmlns:a16="http://schemas.microsoft.com/office/drawing/2014/main" id="{96FAF8B5-23B8-3B37-413A-0660A5D5336F}"/>
              </a:ext>
            </a:extLst>
          </p:cNvPr>
          <p:cNvSpPr txBox="1"/>
          <p:nvPr/>
        </p:nvSpPr>
        <p:spPr>
          <a:xfrm>
            <a:off x="667966" y="1193062"/>
            <a:ext cx="10856068" cy="4467057"/>
          </a:xfrm>
          <a:prstGeom prst="rect">
            <a:avLst/>
          </a:prstGeom>
          <a:noFill/>
        </p:spPr>
        <p:txBody>
          <a:bodyPr wrap="square">
            <a:spAutoFit/>
          </a:bodyPr>
          <a:lstStyle/>
          <a:p>
            <a:pPr algn="just">
              <a:lnSpc>
                <a:spcPct val="150000"/>
              </a:lnSpc>
            </a:pPr>
            <a:r>
              <a:rPr lang="en-US" sz="2400" dirty="0"/>
              <a:t>Under the normal mode of operation, a process may utilize a resource in </a:t>
            </a:r>
            <a:r>
              <a:rPr lang="en-IN" sz="2400" dirty="0"/>
              <a:t>only the following sequence:</a:t>
            </a:r>
          </a:p>
          <a:p>
            <a:pPr marL="457200" indent="-457200" algn="just">
              <a:lnSpc>
                <a:spcPct val="150000"/>
              </a:lnSpc>
              <a:buFont typeface="+mj-lt"/>
              <a:buAutoNum type="arabicPeriod"/>
            </a:pPr>
            <a:r>
              <a:rPr lang="en-US" sz="2400" dirty="0">
                <a:solidFill>
                  <a:srgbClr val="0070C0"/>
                </a:solidFill>
              </a:rPr>
              <a:t>Request.</a:t>
            </a:r>
            <a:r>
              <a:rPr lang="en-US" sz="2400" dirty="0"/>
              <a:t> The process requests the resource. If the request cannot be granted immediately (for example, if the resource is being used by another process), then the requesting process must wait until it can acquire the </a:t>
            </a:r>
            <a:r>
              <a:rPr lang="en-IN" sz="2400" dirty="0"/>
              <a:t>resource.</a:t>
            </a:r>
          </a:p>
          <a:p>
            <a:pPr marL="457200" indent="-457200" algn="just">
              <a:lnSpc>
                <a:spcPct val="150000"/>
              </a:lnSpc>
              <a:buFont typeface="+mj-lt"/>
              <a:buAutoNum type="arabicPeriod"/>
            </a:pPr>
            <a:r>
              <a:rPr lang="en-US" sz="2400" dirty="0">
                <a:solidFill>
                  <a:srgbClr val="0070C0"/>
                </a:solidFill>
              </a:rPr>
              <a:t>Use.</a:t>
            </a:r>
            <a:r>
              <a:rPr lang="en-US" sz="2400" dirty="0"/>
              <a:t> The process can operate on the resource (for example, if the resource is a printer, the process can print on the printer).</a:t>
            </a:r>
          </a:p>
          <a:p>
            <a:pPr marL="457200" indent="-457200" algn="just">
              <a:lnSpc>
                <a:spcPct val="150000"/>
              </a:lnSpc>
              <a:buFont typeface="+mj-lt"/>
              <a:buAutoNum type="arabicPeriod"/>
            </a:pPr>
            <a:r>
              <a:rPr lang="en-US" sz="2400" dirty="0">
                <a:solidFill>
                  <a:srgbClr val="0070C0"/>
                </a:solidFill>
              </a:rPr>
              <a:t>Release.</a:t>
            </a:r>
            <a:r>
              <a:rPr lang="en-US" sz="2400" dirty="0"/>
              <a:t> The process releases the resource.</a:t>
            </a:r>
            <a:endParaRPr lang="en-IN" sz="2400" dirty="0"/>
          </a:p>
        </p:txBody>
      </p:sp>
    </p:spTree>
    <p:extLst>
      <p:ext uri="{BB962C8B-B14F-4D97-AF65-F5344CB8AC3E}">
        <p14:creationId xmlns:p14="http://schemas.microsoft.com/office/powerpoint/2010/main" val="385080360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333496" y="212734"/>
            <a:ext cx="5267704"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Introduction to Deadlocks</a:t>
            </a:r>
          </a:p>
        </p:txBody>
      </p:sp>
      <p:sp>
        <p:nvSpPr>
          <p:cNvPr id="5" name="TextBox 4">
            <a:extLst>
              <a:ext uri="{FF2B5EF4-FFF2-40B4-BE49-F238E27FC236}">
                <a16:creationId xmlns:a16="http://schemas.microsoft.com/office/drawing/2014/main" id="{98ADB67D-BE78-2F0B-523F-35FA3398D864}"/>
              </a:ext>
            </a:extLst>
          </p:cNvPr>
          <p:cNvSpPr txBox="1"/>
          <p:nvPr/>
        </p:nvSpPr>
        <p:spPr>
          <a:xfrm>
            <a:off x="633919" y="1496146"/>
            <a:ext cx="10924162" cy="391305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t>A set of processes is in a </a:t>
            </a:r>
            <a:r>
              <a:rPr lang="en-US" sz="2400" b="1" u="sng" dirty="0">
                <a:solidFill>
                  <a:srgbClr val="0070C0"/>
                </a:solidFill>
              </a:rPr>
              <a:t>deadlocked state </a:t>
            </a:r>
            <a:r>
              <a:rPr lang="en-US" sz="2400" dirty="0"/>
              <a:t>when every process in the set is waiting for an event that can be caused only by another process in the set. </a:t>
            </a:r>
          </a:p>
          <a:p>
            <a:pPr marL="342900" indent="-342900" algn="just">
              <a:lnSpc>
                <a:spcPct val="150000"/>
              </a:lnSpc>
              <a:buFont typeface="Arial" panose="020B0604020202020204" pitchFamily="34" charset="0"/>
              <a:buChar char="•"/>
            </a:pPr>
            <a:r>
              <a:rPr lang="en-US" sz="2400" dirty="0"/>
              <a:t>The events with which we are mainly concerned here are resource acquisition and release. </a:t>
            </a:r>
          </a:p>
          <a:p>
            <a:pPr marL="342900" indent="-342900" algn="just">
              <a:lnSpc>
                <a:spcPct val="150000"/>
              </a:lnSpc>
              <a:buFont typeface="Arial" panose="020B0604020202020204" pitchFamily="34" charset="0"/>
              <a:buChar char="•"/>
            </a:pPr>
            <a:r>
              <a:rPr lang="en-US" sz="2400" dirty="0"/>
              <a:t>The resources may be either physical resources (for example, printers, tape drives, memory space, and CPU cycles) or logical resources (for example, semaphores, mutex locks, and files).</a:t>
            </a:r>
            <a:endParaRPr lang="en-IN" sz="2400" dirty="0"/>
          </a:p>
        </p:txBody>
      </p:sp>
    </p:spTree>
    <p:extLst>
      <p:ext uri="{BB962C8B-B14F-4D97-AF65-F5344CB8AC3E}">
        <p14:creationId xmlns:p14="http://schemas.microsoft.com/office/powerpoint/2010/main" val="26415963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333496" y="212734"/>
            <a:ext cx="5267704"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Introduction to Deadlocks</a:t>
            </a:r>
          </a:p>
        </p:txBody>
      </p:sp>
      <p:pic>
        <p:nvPicPr>
          <p:cNvPr id="1026" name="Picture 2" descr="Deadlock | Hexainclude">
            <a:extLst>
              <a:ext uri="{FF2B5EF4-FFF2-40B4-BE49-F238E27FC236}">
                <a16:creationId xmlns:a16="http://schemas.microsoft.com/office/drawing/2014/main" id="{CC255F9F-936C-A7C1-1DAF-593E943B52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1684" y="1814209"/>
            <a:ext cx="5963056" cy="4472292"/>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CF1F2DD-E855-0546-3253-3E2F0C14C6DE}"/>
              </a:ext>
            </a:extLst>
          </p:cNvPr>
          <p:cNvSpPr txBox="1"/>
          <p:nvPr/>
        </p:nvSpPr>
        <p:spPr>
          <a:xfrm>
            <a:off x="605546" y="1030973"/>
            <a:ext cx="3022871" cy="461665"/>
          </a:xfrm>
          <a:prstGeom prst="rect">
            <a:avLst/>
          </a:prstGeom>
          <a:noFill/>
        </p:spPr>
        <p:txBody>
          <a:bodyPr wrap="square">
            <a:spAutoFit/>
          </a:bodyPr>
          <a:lstStyle/>
          <a:p>
            <a:r>
              <a:rPr lang="en-IN" sz="2400" b="1" dirty="0">
                <a:highlight>
                  <a:srgbClr val="99FFCC"/>
                </a:highlight>
              </a:rPr>
              <a:t>Deadlock Illustration</a:t>
            </a:r>
          </a:p>
        </p:txBody>
      </p:sp>
    </p:spTree>
    <p:extLst>
      <p:ext uri="{BB962C8B-B14F-4D97-AF65-F5344CB8AC3E}">
        <p14:creationId xmlns:p14="http://schemas.microsoft.com/office/powerpoint/2010/main" val="243653890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98335-6F39-88C7-D5CF-791CE5EE291F}"/>
            </a:ext>
          </a:extLst>
        </p:cNvPr>
        <p:cNvGrpSpPr/>
        <p:nvPr/>
      </p:nvGrpSpPr>
      <p:grpSpPr>
        <a:xfrm>
          <a:off x="0" y="0"/>
          <a:ext cx="0" cy="0"/>
          <a:chOff x="0" y="0"/>
          <a:chExt cx="0" cy="0"/>
        </a:xfrm>
      </p:grpSpPr>
      <p:sp>
        <p:nvSpPr>
          <p:cNvPr id="9" name="Text Placeholder 3">
            <a:extLst>
              <a:ext uri="{FF2B5EF4-FFF2-40B4-BE49-F238E27FC236}">
                <a16:creationId xmlns:a16="http://schemas.microsoft.com/office/drawing/2014/main" id="{887863A9-46E6-1AAC-795A-3963862AF469}"/>
              </a:ext>
            </a:extLst>
          </p:cNvPr>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5" name="Subtitle 4">
            <a:extLst>
              <a:ext uri="{FF2B5EF4-FFF2-40B4-BE49-F238E27FC236}">
                <a16:creationId xmlns:a16="http://schemas.microsoft.com/office/drawing/2014/main" id="{0ECCED30-4574-CA0F-18BE-FDA3DAACCDC4}"/>
              </a:ext>
            </a:extLst>
          </p:cNvPr>
          <p:cNvSpPr>
            <a:spLocks noGrp="1"/>
          </p:cNvSpPr>
          <p:nvPr>
            <p:ph type="subTitle" idx="1"/>
          </p:nvPr>
        </p:nvSpPr>
        <p:spPr>
          <a:xfrm>
            <a:off x="1047345" y="2601119"/>
            <a:ext cx="9144000" cy="1655762"/>
          </a:xfrm>
        </p:spPr>
        <p:txBody>
          <a:bodyPr>
            <a:normAutofit/>
          </a:bodyPr>
          <a:lstStyle/>
          <a:p>
            <a:r>
              <a:rPr lang="en-US" sz="4400" dirty="0">
                <a:solidFill>
                  <a:srgbClr val="0066CC"/>
                </a:solidFill>
              </a:rPr>
              <a:t>Lecture - 2</a:t>
            </a:r>
          </a:p>
        </p:txBody>
      </p:sp>
    </p:spTree>
    <p:extLst>
      <p:ext uri="{BB962C8B-B14F-4D97-AF65-F5344CB8AC3E}">
        <p14:creationId xmlns:p14="http://schemas.microsoft.com/office/powerpoint/2010/main" val="195310845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Recap</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latin typeface="+mj-lt"/>
                <a:ea typeface="+mj-ea"/>
                <a:cs typeface="+mj-cs"/>
              </a:rPr>
              <a:t>Introduction</a:t>
            </a:r>
          </a:p>
          <a:p>
            <a:r>
              <a:rPr lang="en-US" sz="3000" dirty="0">
                <a:latin typeface="+mj-lt"/>
                <a:ea typeface="+mj-ea"/>
                <a:cs typeface="+mj-cs"/>
              </a:rPr>
              <a:t>Quick look at Syllabus – Unit 2</a:t>
            </a:r>
          </a:p>
          <a:p>
            <a:r>
              <a:rPr lang="en-US" sz="3000" dirty="0">
                <a:latin typeface="+mj-lt"/>
                <a:ea typeface="+mj-ea"/>
                <a:cs typeface="+mj-cs"/>
              </a:rPr>
              <a:t>Introduction to Deadlocks</a:t>
            </a:r>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257930761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Agenda</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latin typeface="+mj-lt"/>
                <a:ea typeface="+mj-ea"/>
                <a:cs typeface="+mj-cs"/>
              </a:rPr>
              <a:t>Deadlock Characterization</a:t>
            </a:r>
          </a:p>
          <a:p>
            <a:r>
              <a:rPr lang="en-US" sz="3000" dirty="0">
                <a:latin typeface="+mj-lt"/>
                <a:ea typeface="+mj-ea"/>
                <a:cs typeface="+mj-cs"/>
              </a:rPr>
              <a:t>Resource Allocation Graph</a:t>
            </a:r>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229719676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333496" y="212734"/>
            <a:ext cx="4771593"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Deadlock Characterization</a:t>
            </a:r>
          </a:p>
        </p:txBody>
      </p:sp>
      <p:sp>
        <p:nvSpPr>
          <p:cNvPr id="5" name="TextBox 4">
            <a:extLst>
              <a:ext uri="{FF2B5EF4-FFF2-40B4-BE49-F238E27FC236}">
                <a16:creationId xmlns:a16="http://schemas.microsoft.com/office/drawing/2014/main" id="{C869BAAB-34FD-0517-55E2-0E82759122E4}"/>
              </a:ext>
            </a:extLst>
          </p:cNvPr>
          <p:cNvSpPr txBox="1"/>
          <p:nvPr/>
        </p:nvSpPr>
        <p:spPr>
          <a:xfrm>
            <a:off x="624913" y="1206628"/>
            <a:ext cx="10561895" cy="1143070"/>
          </a:xfrm>
          <a:prstGeom prst="rect">
            <a:avLst/>
          </a:prstGeom>
          <a:noFill/>
          <a:ln>
            <a:solidFill>
              <a:schemeClr val="accent1"/>
            </a:solidFill>
          </a:ln>
        </p:spPr>
        <p:txBody>
          <a:bodyPr wrap="square">
            <a:spAutoFit/>
          </a:bodyPr>
          <a:lstStyle/>
          <a:p>
            <a:pPr algn="just">
              <a:lnSpc>
                <a:spcPct val="150000"/>
              </a:lnSpc>
            </a:pPr>
            <a:r>
              <a:rPr lang="en-US" sz="2400" dirty="0"/>
              <a:t>In a deadlock, processes never finish executing, and system resources are tied up, preventing other jobs from starting.</a:t>
            </a:r>
            <a:endParaRPr lang="en-IN" sz="2400" dirty="0"/>
          </a:p>
        </p:txBody>
      </p:sp>
      <p:sp>
        <p:nvSpPr>
          <p:cNvPr id="6" name="Rectangle 5">
            <a:extLst>
              <a:ext uri="{FF2B5EF4-FFF2-40B4-BE49-F238E27FC236}">
                <a16:creationId xmlns:a16="http://schemas.microsoft.com/office/drawing/2014/main" id="{BA68D6D9-D6D6-C4FA-90C5-3C198957EED1}"/>
              </a:ext>
            </a:extLst>
          </p:cNvPr>
          <p:cNvSpPr/>
          <p:nvPr/>
        </p:nvSpPr>
        <p:spPr>
          <a:xfrm>
            <a:off x="624913" y="2612345"/>
            <a:ext cx="10668900" cy="3636316"/>
          </a:xfrm>
          <a:prstGeom prst="rect">
            <a:avLst/>
          </a:prstGeom>
        </p:spPr>
        <p:txBody>
          <a:bodyPr wrap="square">
            <a:spAutoFit/>
          </a:bodyPr>
          <a:lstStyle/>
          <a:p>
            <a:pPr>
              <a:lnSpc>
                <a:spcPct val="150000"/>
              </a:lnSpc>
            </a:pPr>
            <a:r>
              <a:rPr lang="en-US" sz="2000" dirty="0">
                <a:latin typeface="Arial" pitchFamily="34" charset="0"/>
                <a:cs typeface="Arial" pitchFamily="34" charset="0"/>
              </a:rPr>
              <a:t>Features that characterize deadlocks:</a:t>
            </a:r>
          </a:p>
          <a:p>
            <a:pPr>
              <a:lnSpc>
                <a:spcPct val="150000"/>
              </a:lnSpc>
            </a:pPr>
            <a:r>
              <a:rPr lang="en-US" sz="2000" dirty="0">
                <a:latin typeface="Arial" pitchFamily="34" charset="0"/>
                <a:cs typeface="Arial" pitchFamily="34" charset="0"/>
              </a:rPr>
              <a:t>Necessary Conditions</a:t>
            </a:r>
            <a:endParaRPr lang="en-IN" sz="2000" dirty="0">
              <a:latin typeface="Arial" pitchFamily="34" charset="0"/>
              <a:cs typeface="Arial" pitchFamily="34" charset="0"/>
            </a:endParaRPr>
          </a:p>
          <a:p>
            <a:pPr marL="457200" indent="-457200" algn="just">
              <a:buFont typeface="+mj-lt"/>
              <a:buAutoNum type="arabicPeriod"/>
            </a:pPr>
            <a:r>
              <a:rPr lang="en-US" sz="2400" dirty="0">
                <a:solidFill>
                  <a:srgbClr val="0070C0"/>
                </a:solidFill>
              </a:rPr>
              <a:t>Mutual Exclusion. </a:t>
            </a:r>
            <a:r>
              <a:rPr lang="en-US" sz="2400" dirty="0"/>
              <a:t>At least one resource must be held in a non-sharable mode; that is, only one process at a time can use the resource. If another process requests that resource, the requesting process must be delayed until the resource has been released.</a:t>
            </a:r>
          </a:p>
          <a:p>
            <a:pPr marL="457200" indent="-457200" algn="just">
              <a:buFont typeface="+mj-lt"/>
              <a:buAutoNum type="arabicPeriod"/>
            </a:pPr>
            <a:r>
              <a:rPr lang="en-US" sz="2400" dirty="0">
                <a:solidFill>
                  <a:srgbClr val="0070C0"/>
                </a:solidFill>
              </a:rPr>
              <a:t>Hold and wait. </a:t>
            </a:r>
            <a:r>
              <a:rPr lang="en-US" sz="2400" dirty="0"/>
              <a:t>A process must be holding at least one resource and waiting to acquire additional resources that are currently being held by </a:t>
            </a:r>
            <a:r>
              <a:rPr lang="en-IN" sz="2400" dirty="0"/>
              <a:t>other processes.</a:t>
            </a:r>
            <a:endParaRPr lang="en-US" sz="2400" dirty="0"/>
          </a:p>
          <a:p>
            <a:pPr>
              <a:lnSpc>
                <a:spcPct val="150000"/>
              </a:lnSpc>
            </a:pPr>
            <a:r>
              <a:rPr lang="en-US" sz="2000" dirty="0">
                <a:latin typeface="Arial" pitchFamily="34" charset="0"/>
                <a:cs typeface="Arial" pitchFamily="34" charset="0"/>
              </a:rPr>
              <a:t>  </a:t>
            </a:r>
            <a:endParaRPr lang="en-IN" sz="2000" dirty="0">
              <a:latin typeface="Arial" pitchFamily="34" charset="0"/>
              <a:cs typeface="Arial" pitchFamily="34" charset="0"/>
            </a:endParaRPr>
          </a:p>
        </p:txBody>
      </p:sp>
    </p:spTree>
    <p:extLst>
      <p:ext uri="{BB962C8B-B14F-4D97-AF65-F5344CB8AC3E}">
        <p14:creationId xmlns:p14="http://schemas.microsoft.com/office/powerpoint/2010/main" val="376087598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333496" y="212734"/>
            <a:ext cx="4771593"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Deadlock Characterization</a:t>
            </a:r>
          </a:p>
        </p:txBody>
      </p:sp>
      <p:sp>
        <p:nvSpPr>
          <p:cNvPr id="6" name="Rectangle 5">
            <a:extLst>
              <a:ext uri="{FF2B5EF4-FFF2-40B4-BE49-F238E27FC236}">
                <a16:creationId xmlns:a16="http://schemas.microsoft.com/office/drawing/2014/main" id="{BA68D6D9-D6D6-C4FA-90C5-3C198957EED1}"/>
              </a:ext>
            </a:extLst>
          </p:cNvPr>
          <p:cNvSpPr/>
          <p:nvPr/>
        </p:nvSpPr>
        <p:spPr>
          <a:xfrm>
            <a:off x="586003" y="1355734"/>
            <a:ext cx="10668900" cy="3728649"/>
          </a:xfrm>
          <a:prstGeom prst="rect">
            <a:avLst/>
          </a:prstGeom>
        </p:spPr>
        <p:txBody>
          <a:bodyPr wrap="square">
            <a:spAutoFit/>
          </a:bodyPr>
          <a:lstStyle/>
          <a:p>
            <a:pPr>
              <a:lnSpc>
                <a:spcPct val="150000"/>
              </a:lnSpc>
            </a:pPr>
            <a:r>
              <a:rPr lang="en-US" sz="2000" dirty="0">
                <a:latin typeface="Arial" pitchFamily="34" charset="0"/>
                <a:cs typeface="Arial" pitchFamily="34" charset="0"/>
              </a:rPr>
              <a:t>Necessary Conditions</a:t>
            </a:r>
            <a:endParaRPr lang="en-IN" sz="2000" dirty="0">
              <a:latin typeface="Arial" pitchFamily="34" charset="0"/>
              <a:cs typeface="Arial" pitchFamily="34" charset="0"/>
            </a:endParaRPr>
          </a:p>
          <a:p>
            <a:pPr marL="457200" indent="-457200" algn="just">
              <a:lnSpc>
                <a:spcPct val="150000"/>
              </a:lnSpc>
              <a:buFont typeface="+mj-lt"/>
              <a:buAutoNum type="arabicPeriod" startAt="3"/>
            </a:pPr>
            <a:r>
              <a:rPr lang="en-US" sz="2400" dirty="0">
                <a:solidFill>
                  <a:srgbClr val="0070C0"/>
                </a:solidFill>
              </a:rPr>
              <a:t>No Preemption </a:t>
            </a:r>
            <a:r>
              <a:rPr lang="en-US" sz="2400" dirty="0"/>
              <a:t>Resources cannot be preempted; that is, a resource can be released only voluntarily by the process holding it, after that process.</a:t>
            </a:r>
          </a:p>
          <a:p>
            <a:pPr marL="457200" indent="-457200" algn="just">
              <a:lnSpc>
                <a:spcPct val="150000"/>
              </a:lnSpc>
              <a:buFont typeface="+mj-lt"/>
              <a:buAutoNum type="arabicPeriod" startAt="3"/>
            </a:pPr>
            <a:r>
              <a:rPr lang="en-US" sz="2400" dirty="0">
                <a:solidFill>
                  <a:srgbClr val="0070C0"/>
                </a:solidFill>
              </a:rPr>
              <a:t>Circular Wait </a:t>
            </a:r>
            <a:r>
              <a:rPr lang="en-US" sz="2400" dirty="0"/>
              <a:t>A set {P0, P1, ..., </a:t>
            </a:r>
            <a:r>
              <a:rPr lang="en-US" sz="2400" dirty="0" err="1"/>
              <a:t>Pn</a:t>
            </a:r>
            <a:r>
              <a:rPr lang="en-US" sz="2400" dirty="0"/>
              <a:t>} of waiting processes must exist such that P0 is waiting for a resource held by P1, P1 is waiting for a resource held by P2, ..., Pn−1 is waiting for a resource held by </a:t>
            </a:r>
            <a:r>
              <a:rPr lang="en-US" sz="2400" dirty="0" err="1"/>
              <a:t>Pn</a:t>
            </a:r>
            <a:r>
              <a:rPr lang="en-US" sz="2400" dirty="0"/>
              <a:t>, and </a:t>
            </a:r>
            <a:r>
              <a:rPr lang="en-US" sz="2400" dirty="0" err="1"/>
              <a:t>Pn</a:t>
            </a:r>
            <a:r>
              <a:rPr lang="en-US" sz="2400" dirty="0"/>
              <a:t> is waiting for a resource held by P0.</a:t>
            </a:r>
            <a:endParaRPr lang="en-IN" sz="2400" dirty="0"/>
          </a:p>
          <a:p>
            <a:pPr>
              <a:lnSpc>
                <a:spcPct val="150000"/>
              </a:lnSpc>
            </a:pPr>
            <a:r>
              <a:rPr lang="en-US" sz="2000" dirty="0">
                <a:latin typeface="Arial" pitchFamily="34" charset="0"/>
                <a:cs typeface="Arial" pitchFamily="34" charset="0"/>
              </a:rPr>
              <a:t>  </a:t>
            </a:r>
            <a:endParaRPr lang="en-IN" sz="2000" dirty="0">
              <a:latin typeface="Arial" pitchFamily="34" charset="0"/>
              <a:cs typeface="Arial" pitchFamily="34" charset="0"/>
            </a:endParaRPr>
          </a:p>
        </p:txBody>
      </p:sp>
    </p:spTree>
    <p:extLst>
      <p:ext uri="{BB962C8B-B14F-4D97-AF65-F5344CB8AC3E}">
        <p14:creationId xmlns:p14="http://schemas.microsoft.com/office/powerpoint/2010/main" val="302123904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4771593"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Resource Allocation Graph</a:t>
            </a:r>
          </a:p>
        </p:txBody>
      </p:sp>
      <p:sp>
        <p:nvSpPr>
          <p:cNvPr id="4" name="TextBox 3">
            <a:extLst>
              <a:ext uri="{FF2B5EF4-FFF2-40B4-BE49-F238E27FC236}">
                <a16:creationId xmlns:a16="http://schemas.microsoft.com/office/drawing/2014/main" id="{C2CDC643-F06E-D326-AD9F-1CEB7C9C5FBB}"/>
              </a:ext>
            </a:extLst>
          </p:cNvPr>
          <p:cNvSpPr txBox="1"/>
          <p:nvPr/>
        </p:nvSpPr>
        <p:spPr>
          <a:xfrm>
            <a:off x="599267" y="1615191"/>
            <a:ext cx="10775991" cy="1143070"/>
          </a:xfrm>
          <a:prstGeom prst="rect">
            <a:avLst/>
          </a:prstGeom>
          <a:noFill/>
        </p:spPr>
        <p:txBody>
          <a:bodyPr wrap="square">
            <a:spAutoFit/>
          </a:bodyPr>
          <a:lstStyle/>
          <a:p>
            <a:pPr algn="just">
              <a:lnSpc>
                <a:spcPct val="150000"/>
              </a:lnSpc>
            </a:pPr>
            <a:r>
              <a:rPr lang="en-US" sz="2400" dirty="0"/>
              <a:t>Deadlocks can be described more precisely in terms of a directed graph called </a:t>
            </a:r>
            <a:r>
              <a:rPr lang="en-IN" sz="2400" dirty="0"/>
              <a:t>a </a:t>
            </a:r>
            <a:r>
              <a:rPr lang="en-IN" sz="2400" dirty="0">
                <a:solidFill>
                  <a:srgbClr val="0070C0"/>
                </a:solidFill>
              </a:rPr>
              <a:t>System Resource-allocation Graph.</a:t>
            </a:r>
          </a:p>
        </p:txBody>
      </p:sp>
      <p:sp>
        <p:nvSpPr>
          <p:cNvPr id="5" name="Rectangle 4">
            <a:extLst>
              <a:ext uri="{FF2B5EF4-FFF2-40B4-BE49-F238E27FC236}">
                <a16:creationId xmlns:a16="http://schemas.microsoft.com/office/drawing/2014/main" id="{9140EC0E-3D9F-6E45-8E01-825DFD667FE9}"/>
              </a:ext>
            </a:extLst>
          </p:cNvPr>
          <p:cNvSpPr/>
          <p:nvPr/>
        </p:nvSpPr>
        <p:spPr>
          <a:xfrm>
            <a:off x="599266" y="2777317"/>
            <a:ext cx="10775991" cy="2712987"/>
          </a:xfrm>
          <a:prstGeom prst="rect">
            <a:avLst/>
          </a:prstGeom>
        </p:spPr>
        <p:txBody>
          <a:bodyPr wrap="square">
            <a:spAutoFit/>
          </a:bodyPr>
          <a:lstStyle/>
          <a:p>
            <a:pPr algn="just">
              <a:lnSpc>
                <a:spcPct val="150000"/>
              </a:lnSpc>
            </a:pPr>
            <a:r>
              <a:rPr lang="en-US" sz="2000" dirty="0">
                <a:latin typeface="Arial" pitchFamily="34" charset="0"/>
                <a:cs typeface="Arial" pitchFamily="34" charset="0"/>
              </a:rPr>
              <a:t>This graph consists of a set of vertices V and a set of edges E. </a:t>
            </a:r>
            <a:endParaRPr lang="en-IN" sz="2000" dirty="0">
              <a:latin typeface="Arial" pitchFamily="34" charset="0"/>
              <a:cs typeface="Arial" pitchFamily="34" charset="0"/>
            </a:endParaRPr>
          </a:p>
          <a:p>
            <a:pPr algn="just">
              <a:lnSpc>
                <a:spcPct val="150000"/>
              </a:lnSpc>
            </a:pPr>
            <a:endParaRPr lang="en-US" sz="2000" dirty="0">
              <a:latin typeface="Arial" pitchFamily="34" charset="0"/>
              <a:cs typeface="Arial" pitchFamily="34" charset="0"/>
            </a:endParaRPr>
          </a:p>
          <a:p>
            <a:pPr algn="just">
              <a:lnSpc>
                <a:spcPct val="150000"/>
              </a:lnSpc>
            </a:pPr>
            <a:r>
              <a:rPr lang="en-US" sz="2000" dirty="0">
                <a:latin typeface="Arial" pitchFamily="34" charset="0"/>
                <a:cs typeface="Arial" pitchFamily="34" charset="0"/>
              </a:rPr>
              <a:t>The set of vertices V is partitioned into two different types of nodes: </a:t>
            </a:r>
            <a:endParaRPr lang="en-IN" sz="2000" dirty="0">
              <a:latin typeface="Arial" pitchFamily="34" charset="0"/>
              <a:cs typeface="Arial" pitchFamily="34" charset="0"/>
            </a:endParaRPr>
          </a:p>
          <a:p>
            <a:pPr marL="742950" lvl="1" indent="-285750" algn="just">
              <a:lnSpc>
                <a:spcPct val="150000"/>
              </a:lnSpc>
              <a:buFont typeface="Arial" panose="020B0604020202020204" pitchFamily="34" charset="0"/>
              <a:buChar char="•"/>
            </a:pPr>
            <a:r>
              <a:rPr lang="en-US" dirty="0">
                <a:solidFill>
                  <a:schemeClr val="accent6">
                    <a:lumMod val="75000"/>
                  </a:schemeClr>
                </a:solidFill>
                <a:latin typeface="Arial" pitchFamily="34" charset="0"/>
                <a:cs typeface="Arial" pitchFamily="34" charset="0"/>
              </a:rPr>
              <a:t>P = {P1, P2,,.., </a:t>
            </a:r>
            <a:r>
              <a:rPr lang="en-US" dirty="0" err="1">
                <a:solidFill>
                  <a:schemeClr val="accent6">
                    <a:lumMod val="75000"/>
                  </a:schemeClr>
                </a:solidFill>
                <a:latin typeface="Arial" pitchFamily="34" charset="0"/>
                <a:cs typeface="Arial" pitchFamily="34" charset="0"/>
              </a:rPr>
              <a:t>Pn</a:t>
            </a:r>
            <a:r>
              <a:rPr lang="en-US" dirty="0">
                <a:solidFill>
                  <a:schemeClr val="accent6">
                    <a:lumMod val="75000"/>
                  </a:schemeClr>
                </a:solidFill>
                <a:latin typeface="Arial" pitchFamily="34" charset="0"/>
                <a:cs typeface="Arial" pitchFamily="34" charset="0"/>
              </a:rPr>
              <a:t> } </a:t>
            </a:r>
            <a:r>
              <a:rPr lang="en-US" dirty="0">
                <a:latin typeface="Arial" pitchFamily="34" charset="0"/>
                <a:cs typeface="Arial" pitchFamily="34" charset="0"/>
              </a:rPr>
              <a:t>the set consisting of all the active processes in the system, and </a:t>
            </a:r>
            <a:endParaRPr lang="en-IN" dirty="0">
              <a:latin typeface="Arial" pitchFamily="34" charset="0"/>
              <a:cs typeface="Arial" pitchFamily="34" charset="0"/>
            </a:endParaRPr>
          </a:p>
          <a:p>
            <a:pPr marL="742950" lvl="1" indent="-285750" algn="just">
              <a:lnSpc>
                <a:spcPct val="150000"/>
              </a:lnSpc>
              <a:buFont typeface="Arial" panose="020B0604020202020204" pitchFamily="34" charset="0"/>
              <a:buChar char="•"/>
            </a:pPr>
            <a:r>
              <a:rPr lang="en-US" dirty="0">
                <a:solidFill>
                  <a:srgbClr val="00B0F0"/>
                </a:solidFill>
                <a:latin typeface="Arial" pitchFamily="34" charset="0"/>
                <a:cs typeface="Arial" pitchFamily="34" charset="0"/>
              </a:rPr>
              <a:t>R = {R1, R2, •••, </a:t>
            </a:r>
            <a:r>
              <a:rPr lang="en-US" dirty="0" err="1">
                <a:solidFill>
                  <a:srgbClr val="00B0F0"/>
                </a:solidFill>
                <a:latin typeface="Arial" pitchFamily="34" charset="0"/>
                <a:cs typeface="Arial" pitchFamily="34" charset="0"/>
              </a:rPr>
              <a:t>Rm</a:t>
            </a:r>
            <a:r>
              <a:rPr lang="en-US" dirty="0">
                <a:solidFill>
                  <a:srgbClr val="00B0F0"/>
                </a:solidFill>
                <a:latin typeface="Arial" pitchFamily="34" charset="0"/>
                <a:cs typeface="Arial" pitchFamily="34" charset="0"/>
              </a:rPr>
              <a:t>}, </a:t>
            </a:r>
            <a:r>
              <a:rPr lang="en-US" dirty="0">
                <a:latin typeface="Arial" pitchFamily="34" charset="0"/>
                <a:cs typeface="Arial" pitchFamily="34" charset="0"/>
              </a:rPr>
              <a:t>the set consisting of all resource types in the system.</a:t>
            </a:r>
            <a:endParaRPr lang="en-IN" sz="2000" dirty="0">
              <a:latin typeface="Arial" pitchFamily="34" charset="0"/>
              <a:cs typeface="Arial" pitchFamily="34" charset="0"/>
            </a:endParaRPr>
          </a:p>
          <a:p>
            <a:pPr>
              <a:lnSpc>
                <a:spcPct val="150000"/>
              </a:lnSpc>
            </a:pPr>
            <a:r>
              <a:rPr lang="en-US" sz="2000" dirty="0">
                <a:latin typeface="Arial" pitchFamily="34" charset="0"/>
                <a:cs typeface="Arial" pitchFamily="34" charset="0"/>
              </a:rPr>
              <a:t>  </a:t>
            </a:r>
            <a:endParaRPr lang="en-IN" sz="2000" dirty="0">
              <a:latin typeface="Arial" pitchFamily="34" charset="0"/>
              <a:cs typeface="Arial" pitchFamily="34" charset="0"/>
            </a:endParaRPr>
          </a:p>
        </p:txBody>
      </p:sp>
    </p:spTree>
    <p:extLst>
      <p:ext uri="{BB962C8B-B14F-4D97-AF65-F5344CB8AC3E}">
        <p14:creationId xmlns:p14="http://schemas.microsoft.com/office/powerpoint/2010/main" val="300859366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4771593"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Resource Allocation Graph</a:t>
            </a:r>
          </a:p>
        </p:txBody>
      </p:sp>
      <p:sp>
        <p:nvSpPr>
          <p:cNvPr id="2" name="Rectangle 1">
            <a:extLst>
              <a:ext uri="{FF2B5EF4-FFF2-40B4-BE49-F238E27FC236}">
                <a16:creationId xmlns:a16="http://schemas.microsoft.com/office/drawing/2014/main" id="{FBF7862C-7EDE-6F53-E930-3AFECEE7FE44}"/>
              </a:ext>
            </a:extLst>
          </p:cNvPr>
          <p:cNvSpPr/>
          <p:nvPr/>
        </p:nvSpPr>
        <p:spPr>
          <a:xfrm>
            <a:off x="1210732" y="1767007"/>
            <a:ext cx="7848600" cy="1661993"/>
          </a:xfrm>
          <a:prstGeom prst="rect">
            <a:avLst/>
          </a:prstGeom>
        </p:spPr>
        <p:txBody>
          <a:bodyPr wrap="square">
            <a:spAutoFit/>
          </a:bodyPr>
          <a:lstStyle/>
          <a:p>
            <a:pPr>
              <a:lnSpc>
                <a:spcPct val="150000"/>
              </a:lnSpc>
            </a:pPr>
            <a:r>
              <a:rPr lang="en-US" sz="2000" dirty="0">
                <a:latin typeface="Arial" pitchFamily="34" charset="0"/>
                <a:cs typeface="Arial" pitchFamily="34" charset="0"/>
              </a:rPr>
              <a:t>A directed edge </a:t>
            </a:r>
            <a:r>
              <a:rPr lang="en-US" sz="2400" dirty="0">
                <a:solidFill>
                  <a:srgbClr val="FFC000"/>
                </a:solidFill>
                <a:latin typeface="Arial" pitchFamily="34" charset="0"/>
                <a:cs typeface="Arial" pitchFamily="34" charset="0"/>
              </a:rPr>
              <a:t>Pi —&gt; </a:t>
            </a:r>
            <a:r>
              <a:rPr lang="en-US" sz="2400" dirty="0" err="1">
                <a:solidFill>
                  <a:srgbClr val="FFC000"/>
                </a:solidFill>
                <a:latin typeface="Arial" pitchFamily="34" charset="0"/>
                <a:cs typeface="Arial" pitchFamily="34" charset="0"/>
              </a:rPr>
              <a:t>Rj</a:t>
            </a:r>
            <a:r>
              <a:rPr lang="en-US" sz="2400" dirty="0">
                <a:solidFill>
                  <a:srgbClr val="FFC000"/>
                </a:solidFill>
                <a:latin typeface="Arial" pitchFamily="34" charset="0"/>
                <a:cs typeface="Arial" pitchFamily="34" charset="0"/>
              </a:rPr>
              <a:t> </a:t>
            </a:r>
            <a:r>
              <a:rPr lang="en-US" sz="2000" dirty="0">
                <a:latin typeface="Arial" pitchFamily="34" charset="0"/>
                <a:cs typeface="Arial" pitchFamily="34" charset="0"/>
              </a:rPr>
              <a:t>is called a request edge; </a:t>
            </a:r>
            <a:endParaRPr lang="en-IN" sz="2000" dirty="0">
              <a:latin typeface="Arial" pitchFamily="34" charset="0"/>
              <a:cs typeface="Arial" pitchFamily="34" charset="0"/>
            </a:endParaRPr>
          </a:p>
          <a:p>
            <a:pPr>
              <a:lnSpc>
                <a:spcPct val="150000"/>
              </a:lnSpc>
            </a:pPr>
            <a:r>
              <a:rPr lang="en-US" sz="2000" dirty="0">
                <a:latin typeface="Arial" pitchFamily="34" charset="0"/>
                <a:cs typeface="Arial" pitchFamily="34" charset="0"/>
              </a:rPr>
              <a:t>A directed edge </a:t>
            </a:r>
            <a:r>
              <a:rPr lang="en-US" sz="2400" dirty="0" err="1">
                <a:solidFill>
                  <a:schemeClr val="accent2">
                    <a:lumMod val="75000"/>
                  </a:schemeClr>
                </a:solidFill>
                <a:latin typeface="Arial" pitchFamily="34" charset="0"/>
                <a:cs typeface="Arial" pitchFamily="34" charset="0"/>
              </a:rPr>
              <a:t>Rj</a:t>
            </a:r>
            <a:r>
              <a:rPr lang="en-US" sz="2400" dirty="0">
                <a:solidFill>
                  <a:schemeClr val="accent2">
                    <a:lumMod val="75000"/>
                  </a:schemeClr>
                </a:solidFill>
                <a:latin typeface="Arial" pitchFamily="34" charset="0"/>
                <a:cs typeface="Arial" pitchFamily="34" charset="0"/>
              </a:rPr>
              <a:t> —&gt; Pi </a:t>
            </a:r>
            <a:r>
              <a:rPr lang="en-US" sz="2000" dirty="0">
                <a:latin typeface="Arial" pitchFamily="34" charset="0"/>
                <a:cs typeface="Arial" pitchFamily="34" charset="0"/>
              </a:rPr>
              <a:t>is called an assignment edge.</a:t>
            </a:r>
            <a:endParaRPr lang="en-IN" sz="2000" dirty="0">
              <a:latin typeface="Arial" pitchFamily="34" charset="0"/>
              <a:cs typeface="Arial" pitchFamily="34" charset="0"/>
            </a:endParaRPr>
          </a:p>
          <a:p>
            <a:pPr>
              <a:lnSpc>
                <a:spcPct val="150000"/>
              </a:lnSpc>
            </a:pPr>
            <a:r>
              <a:rPr lang="en-US" sz="2000" dirty="0">
                <a:latin typeface="Arial" pitchFamily="34" charset="0"/>
                <a:cs typeface="Arial" pitchFamily="34" charset="0"/>
              </a:rPr>
              <a:t>  </a:t>
            </a:r>
            <a:endParaRPr lang="en-IN" sz="2000" dirty="0">
              <a:latin typeface="Arial" pitchFamily="34" charset="0"/>
              <a:cs typeface="Arial" pitchFamily="34" charset="0"/>
            </a:endParaRPr>
          </a:p>
        </p:txBody>
      </p:sp>
    </p:spTree>
    <p:extLst>
      <p:ext uri="{BB962C8B-B14F-4D97-AF65-F5344CB8AC3E}">
        <p14:creationId xmlns:p14="http://schemas.microsoft.com/office/powerpoint/2010/main" val="41552634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4771593"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Resource Allocation Graph</a:t>
            </a:r>
          </a:p>
        </p:txBody>
      </p:sp>
      <p:sp>
        <p:nvSpPr>
          <p:cNvPr id="4" name="Rectangle 3">
            <a:extLst>
              <a:ext uri="{FF2B5EF4-FFF2-40B4-BE49-F238E27FC236}">
                <a16:creationId xmlns:a16="http://schemas.microsoft.com/office/drawing/2014/main" id="{5552DB8F-B02D-D551-EB2F-FCBDF58C9AD2}"/>
              </a:ext>
            </a:extLst>
          </p:cNvPr>
          <p:cNvSpPr/>
          <p:nvPr/>
        </p:nvSpPr>
        <p:spPr>
          <a:xfrm>
            <a:off x="535781" y="1120400"/>
            <a:ext cx="7848600" cy="496996"/>
          </a:xfrm>
          <a:prstGeom prst="rect">
            <a:avLst/>
          </a:prstGeom>
        </p:spPr>
        <p:txBody>
          <a:bodyPr wrap="square">
            <a:spAutoFit/>
          </a:bodyPr>
          <a:lstStyle/>
          <a:p>
            <a:pPr>
              <a:lnSpc>
                <a:spcPct val="150000"/>
              </a:lnSpc>
            </a:pPr>
            <a:r>
              <a:rPr lang="en-US" sz="2000" dirty="0">
                <a:highlight>
                  <a:srgbClr val="FFFF00"/>
                </a:highlight>
                <a:latin typeface="Arial" pitchFamily="34" charset="0"/>
                <a:cs typeface="Arial" pitchFamily="34" charset="0"/>
              </a:rPr>
              <a:t>Pictorial Representation : </a:t>
            </a:r>
            <a:endParaRPr lang="en-IN" sz="2000" dirty="0">
              <a:highlight>
                <a:srgbClr val="FFFF00"/>
              </a:highlight>
              <a:latin typeface="Arial" pitchFamily="34" charset="0"/>
              <a:cs typeface="Arial" pitchFamily="34" charset="0"/>
            </a:endParaRPr>
          </a:p>
        </p:txBody>
      </p:sp>
      <p:sp>
        <p:nvSpPr>
          <p:cNvPr id="5" name="Rectangle 4">
            <a:extLst>
              <a:ext uri="{FF2B5EF4-FFF2-40B4-BE49-F238E27FC236}">
                <a16:creationId xmlns:a16="http://schemas.microsoft.com/office/drawing/2014/main" id="{E69DBBC1-BBB2-16A0-B3B9-2CB62792775F}"/>
              </a:ext>
            </a:extLst>
          </p:cNvPr>
          <p:cNvSpPr>
            <a:spLocks noGrp="1" noChangeArrowheads="1"/>
          </p:cNvSpPr>
          <p:nvPr/>
        </p:nvSpPr>
        <p:spPr bwMode="auto">
          <a:xfrm>
            <a:off x="896144" y="1757551"/>
            <a:ext cx="7351712" cy="4432300"/>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lvl1pPr marL="341313" indent="-341313" algn="l" defTabSz="457200" rtl="0" eaLnBrk="0" fontAlgn="base" hangingPunct="0">
              <a:lnSpc>
                <a:spcPct val="93000"/>
              </a:lnSpc>
              <a:spcBef>
                <a:spcPts val="788"/>
              </a:spcBef>
              <a:spcAft>
                <a:spcPct val="0"/>
              </a:spcAft>
              <a:buClr>
                <a:srgbClr val="993300"/>
              </a:buClr>
              <a:buSzPct val="90000"/>
              <a:buFont typeface="Monotype Sorts" charset="2"/>
              <a:buChar char=""/>
              <a:defRPr>
                <a:solidFill>
                  <a:srgbClr val="000000"/>
                </a:solidFill>
                <a:latin typeface="+mn-lt"/>
                <a:ea typeface="Lucida Sans Unicode" charset="0"/>
                <a:cs typeface="+mn-cs"/>
              </a:defRPr>
            </a:lvl1pPr>
            <a:lvl2pPr marL="741363" indent="-284163" algn="l" defTabSz="457200" rtl="0" eaLnBrk="0" fontAlgn="base" hangingPunct="0">
              <a:lnSpc>
                <a:spcPct val="93000"/>
              </a:lnSpc>
              <a:spcBef>
                <a:spcPts val="788"/>
              </a:spcBef>
              <a:spcAft>
                <a:spcPct val="0"/>
              </a:spcAft>
              <a:buClr>
                <a:srgbClr val="CC6600"/>
              </a:buClr>
              <a:buSzPct val="80000"/>
              <a:buFont typeface="Monotype Sorts" charset="2"/>
              <a:buChar char=""/>
              <a:defRPr>
                <a:solidFill>
                  <a:srgbClr val="000000"/>
                </a:solidFill>
                <a:latin typeface="+mn-lt"/>
                <a:ea typeface="Lucida Sans Unicode" charset="0"/>
                <a:cs typeface="+mn-cs"/>
              </a:defRPr>
            </a:lvl2pPr>
            <a:lvl3pPr marL="1084263" indent="-228600" algn="l" defTabSz="457200" rtl="0" eaLnBrk="0" fontAlgn="base" hangingPunct="0">
              <a:lnSpc>
                <a:spcPct val="93000"/>
              </a:lnSpc>
              <a:spcBef>
                <a:spcPts val="788"/>
              </a:spcBef>
              <a:spcAft>
                <a:spcPct val="0"/>
              </a:spcAft>
              <a:buClr>
                <a:srgbClr val="009900"/>
              </a:buClr>
              <a:buSzPct val="75000"/>
              <a:buFont typeface="Webdings" pitchFamily="16" charset="2"/>
              <a:buChar char=""/>
              <a:defRPr>
                <a:solidFill>
                  <a:srgbClr val="000000"/>
                </a:solidFill>
                <a:latin typeface="+mn-lt"/>
                <a:ea typeface="Lucida Sans Unicode" charset="0"/>
                <a:cs typeface="+mn-cs"/>
              </a:defRPr>
            </a:lvl3pPr>
            <a:lvl4pPr marL="1427163" indent="-228600" algn="l" defTabSz="457200" rtl="0" eaLnBrk="0" fontAlgn="base" hangingPunct="0">
              <a:lnSpc>
                <a:spcPct val="93000"/>
              </a:lnSpc>
              <a:spcBef>
                <a:spcPts val="788"/>
              </a:spcBef>
              <a:spcAft>
                <a:spcPct val="0"/>
              </a:spcAft>
              <a:buClr>
                <a:srgbClr val="FF9900"/>
              </a:buClr>
              <a:buSzPct val="75000"/>
              <a:buFont typeface="Helvetica" pitchFamily="32" charset="0"/>
              <a:buChar char="–"/>
              <a:defRPr>
                <a:solidFill>
                  <a:srgbClr val="000000"/>
                </a:solidFill>
                <a:latin typeface="+mn-lt"/>
                <a:ea typeface="Lucida Sans Unicode" charset="0"/>
                <a:cs typeface="+mn-cs"/>
              </a:defRPr>
            </a:lvl4pPr>
            <a:lvl5pPr marL="1770063" indent="-228600" algn="l" defTabSz="457200" rtl="0" eaLnBrk="0" fontAlgn="base" hangingPunct="0">
              <a:lnSpc>
                <a:spcPct val="93000"/>
              </a:lnSpc>
              <a:spcBef>
                <a:spcPts val="788"/>
              </a:spcBef>
              <a:spcAft>
                <a:spcPct val="0"/>
              </a:spcAft>
              <a:buClr>
                <a:srgbClr val="FF9900"/>
              </a:buClr>
              <a:buSzPct val="75000"/>
              <a:buFont typeface="Helvetica" pitchFamily="32" charset="0"/>
              <a:buChar char="»"/>
              <a:defRPr>
                <a:solidFill>
                  <a:srgbClr val="000000"/>
                </a:solidFill>
                <a:latin typeface="+mn-lt"/>
                <a:ea typeface="Lucida Sans Unicode" charset="0"/>
                <a:cs typeface="+mn-cs"/>
              </a:defRPr>
            </a:lvl5pPr>
            <a:lvl6pPr marL="2227263" indent="-228600" algn="l" defTabSz="457200" rtl="0" eaLnBrk="0" fontAlgn="base" hangingPunct="0">
              <a:lnSpc>
                <a:spcPct val="93000"/>
              </a:lnSpc>
              <a:spcBef>
                <a:spcPts val="788"/>
              </a:spcBef>
              <a:spcAft>
                <a:spcPct val="0"/>
              </a:spcAft>
              <a:buClr>
                <a:srgbClr val="FF9900"/>
              </a:buClr>
              <a:buSzPct val="75000"/>
              <a:buFont typeface="Helvetica" pitchFamily="32" charset="0"/>
              <a:buChar char="»"/>
              <a:defRPr>
                <a:solidFill>
                  <a:srgbClr val="000000"/>
                </a:solidFill>
                <a:latin typeface="+mn-lt"/>
                <a:cs typeface="+mn-cs"/>
              </a:defRPr>
            </a:lvl6pPr>
            <a:lvl7pPr marL="2684463" indent="-228600" algn="l" defTabSz="457200" rtl="0" eaLnBrk="0" fontAlgn="base" hangingPunct="0">
              <a:lnSpc>
                <a:spcPct val="93000"/>
              </a:lnSpc>
              <a:spcBef>
                <a:spcPts val="788"/>
              </a:spcBef>
              <a:spcAft>
                <a:spcPct val="0"/>
              </a:spcAft>
              <a:buClr>
                <a:srgbClr val="FF9900"/>
              </a:buClr>
              <a:buSzPct val="75000"/>
              <a:buFont typeface="Helvetica" pitchFamily="32" charset="0"/>
              <a:buChar char="»"/>
              <a:defRPr>
                <a:solidFill>
                  <a:srgbClr val="000000"/>
                </a:solidFill>
                <a:latin typeface="+mn-lt"/>
                <a:cs typeface="+mn-cs"/>
              </a:defRPr>
            </a:lvl7pPr>
            <a:lvl8pPr marL="3141663" indent="-228600" algn="l" defTabSz="457200" rtl="0" eaLnBrk="0" fontAlgn="base" hangingPunct="0">
              <a:lnSpc>
                <a:spcPct val="93000"/>
              </a:lnSpc>
              <a:spcBef>
                <a:spcPts val="788"/>
              </a:spcBef>
              <a:spcAft>
                <a:spcPct val="0"/>
              </a:spcAft>
              <a:buClr>
                <a:srgbClr val="FF9900"/>
              </a:buClr>
              <a:buSzPct val="75000"/>
              <a:buFont typeface="Helvetica" pitchFamily="32" charset="0"/>
              <a:buChar char="»"/>
              <a:defRPr>
                <a:solidFill>
                  <a:srgbClr val="000000"/>
                </a:solidFill>
                <a:latin typeface="+mn-lt"/>
                <a:cs typeface="+mn-cs"/>
              </a:defRPr>
            </a:lvl8pPr>
            <a:lvl9pPr marL="3598863" indent="-228600" algn="l" defTabSz="457200" rtl="0" eaLnBrk="0" fontAlgn="base" hangingPunct="0">
              <a:lnSpc>
                <a:spcPct val="93000"/>
              </a:lnSpc>
              <a:spcBef>
                <a:spcPts val="788"/>
              </a:spcBef>
              <a:spcAft>
                <a:spcPct val="0"/>
              </a:spcAft>
              <a:buClr>
                <a:srgbClr val="FF9900"/>
              </a:buClr>
              <a:buSzPct val="75000"/>
              <a:buFont typeface="Helvetica" pitchFamily="32" charset="0"/>
              <a:buChar char="»"/>
              <a:defRPr>
                <a:solidFill>
                  <a:srgbClr val="000000"/>
                </a:solidFill>
                <a:latin typeface="+mn-lt"/>
                <a:cs typeface="+mn-cs"/>
              </a:defRPr>
            </a:lvl9pPr>
          </a:lstStyle>
          <a:p>
            <a:pPr>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Process</a:t>
            </a:r>
            <a:br>
              <a:rPr lang="en-GB" dirty="0"/>
            </a:br>
            <a:br>
              <a:rPr lang="en-GB" dirty="0"/>
            </a:br>
            <a:br>
              <a:rPr lang="en-GB" dirty="0"/>
            </a:br>
            <a:endParaRPr lang="en-GB" dirty="0"/>
          </a:p>
          <a:p>
            <a:pPr>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Resource Type with 4 instances</a:t>
            </a:r>
          </a:p>
          <a:p>
            <a:pPr>
              <a:lnSpc>
                <a:spcPct val="100000"/>
              </a:lnSpc>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p>
          <a:p>
            <a:pPr>
              <a:lnSpc>
                <a:spcPct val="100000"/>
              </a:lnSpc>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p>
          <a:p>
            <a:pPr>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i="1" dirty="0"/>
              <a:t>P</a:t>
            </a:r>
            <a:r>
              <a:rPr lang="en-GB" i="1" baseline="-25000" dirty="0"/>
              <a:t>i</a:t>
            </a:r>
            <a:r>
              <a:rPr lang="en-GB" i="1" dirty="0"/>
              <a:t> </a:t>
            </a:r>
            <a:r>
              <a:rPr lang="en-GB" dirty="0"/>
              <a:t>requests instance of </a:t>
            </a:r>
            <a:r>
              <a:rPr lang="en-GB" i="1" dirty="0" err="1"/>
              <a:t>R</a:t>
            </a:r>
            <a:r>
              <a:rPr lang="en-GB" i="1" baseline="-25000" dirty="0" err="1"/>
              <a:t>j</a:t>
            </a:r>
            <a:endParaRPr lang="en-GB" i="1" baseline="-25000" dirty="0"/>
          </a:p>
          <a:p>
            <a:pPr>
              <a:lnSpc>
                <a:spcPct val="100000"/>
              </a:lnSpc>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p>
          <a:p>
            <a:pPr>
              <a:lnSpc>
                <a:spcPct val="100000"/>
              </a:lnSpc>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p>
          <a:p>
            <a:pPr>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i="1" dirty="0"/>
              <a:t>P</a:t>
            </a:r>
            <a:r>
              <a:rPr lang="en-GB" i="1" baseline="-25000" dirty="0"/>
              <a:t>i</a:t>
            </a:r>
            <a:r>
              <a:rPr lang="en-GB" dirty="0"/>
              <a:t> is holding an instance of </a:t>
            </a:r>
            <a:r>
              <a:rPr lang="en-GB" i="1" dirty="0" err="1"/>
              <a:t>R</a:t>
            </a:r>
            <a:r>
              <a:rPr lang="en-GB" i="1" baseline="-25000" dirty="0" err="1"/>
              <a:t>j</a:t>
            </a:r>
            <a:endParaRPr lang="en-GB" i="1" baseline="-25000" dirty="0"/>
          </a:p>
        </p:txBody>
      </p:sp>
      <p:sp>
        <p:nvSpPr>
          <p:cNvPr id="6" name="Oval 5">
            <a:extLst>
              <a:ext uri="{FF2B5EF4-FFF2-40B4-BE49-F238E27FC236}">
                <a16:creationId xmlns:a16="http://schemas.microsoft.com/office/drawing/2014/main" id="{6F890D95-E52A-E807-5EC6-15E4FD62AD32}"/>
              </a:ext>
            </a:extLst>
          </p:cNvPr>
          <p:cNvSpPr>
            <a:spLocks/>
          </p:cNvSpPr>
          <p:nvPr/>
        </p:nvSpPr>
        <p:spPr bwMode="auto">
          <a:xfrm>
            <a:off x="5684590" y="1832253"/>
            <a:ext cx="495300" cy="495300"/>
          </a:xfrm>
          <a:prstGeom prst="ellipse">
            <a:avLst/>
          </a:prstGeom>
          <a:solidFill>
            <a:srgbClr val="FFCCCC"/>
          </a:solidFill>
          <a:ln w="9360">
            <a:solidFill>
              <a:srgbClr val="000000"/>
            </a:solidFill>
            <a:miter lim="800000"/>
            <a:headEnd/>
            <a:tailEnd type="triangle" w="med" len="med"/>
          </a:ln>
        </p:spPr>
        <p:txBody>
          <a:bodyPr wrap="none" anchor="ctr"/>
          <a:lstStyle>
            <a:defPPr>
              <a:defRPr lang="en-GB"/>
            </a:defPPr>
            <a:lvl1pPr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1pPr>
            <a:lvl2pPr marL="4572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2pPr>
            <a:lvl3pPr marL="9144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3pPr>
            <a:lvl4pPr marL="13716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4pPr>
            <a:lvl5pPr marL="18288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5pPr>
            <a:lvl6pPr marL="2286000" algn="l" defTabSz="914400" rtl="0" eaLnBrk="1" latinLnBrk="0" hangingPunct="1">
              <a:defRPr sz="2400" kern="1200">
                <a:solidFill>
                  <a:schemeClr val="bg1"/>
                </a:solidFill>
                <a:latin typeface="Times New Roman" pitchFamily="16" charset="0"/>
                <a:ea typeface="Lucida Sans Unicode" charset="0"/>
                <a:cs typeface="Lucida Sans Unicode" charset="0"/>
              </a:defRPr>
            </a:lvl6pPr>
            <a:lvl7pPr marL="2743200" algn="l" defTabSz="914400" rtl="0" eaLnBrk="1" latinLnBrk="0" hangingPunct="1">
              <a:defRPr sz="2400" kern="1200">
                <a:solidFill>
                  <a:schemeClr val="bg1"/>
                </a:solidFill>
                <a:latin typeface="Times New Roman" pitchFamily="16" charset="0"/>
                <a:ea typeface="Lucida Sans Unicode" charset="0"/>
                <a:cs typeface="Lucida Sans Unicode" charset="0"/>
              </a:defRPr>
            </a:lvl7pPr>
            <a:lvl8pPr marL="3200400" algn="l" defTabSz="914400" rtl="0" eaLnBrk="1" latinLnBrk="0" hangingPunct="1">
              <a:defRPr sz="2400" kern="1200">
                <a:solidFill>
                  <a:schemeClr val="bg1"/>
                </a:solidFill>
                <a:latin typeface="Times New Roman" pitchFamily="16" charset="0"/>
                <a:ea typeface="Lucida Sans Unicode" charset="0"/>
                <a:cs typeface="Lucida Sans Unicode" charset="0"/>
              </a:defRPr>
            </a:lvl8pPr>
            <a:lvl9pPr marL="3657600" algn="l" defTabSz="914400" rtl="0" eaLnBrk="1" latinLnBrk="0" hangingPunct="1">
              <a:defRPr sz="2400" kern="1200">
                <a:solidFill>
                  <a:schemeClr val="bg1"/>
                </a:solidFill>
                <a:latin typeface="Times New Roman" pitchFamily="16" charset="0"/>
                <a:ea typeface="Lucida Sans Unicode" charset="0"/>
                <a:cs typeface="Lucida Sans Unicode" charset="0"/>
              </a:defRPr>
            </a:lvl9pPr>
          </a:lstStyle>
          <a:p>
            <a:endParaRPr lang="en-US"/>
          </a:p>
        </p:txBody>
      </p:sp>
      <p:sp>
        <p:nvSpPr>
          <p:cNvPr id="7" name="Oval 6">
            <a:extLst>
              <a:ext uri="{FF2B5EF4-FFF2-40B4-BE49-F238E27FC236}">
                <a16:creationId xmlns:a16="http://schemas.microsoft.com/office/drawing/2014/main" id="{C2C105A8-253A-E286-4252-1D148CAE0EC4}"/>
              </a:ext>
            </a:extLst>
          </p:cNvPr>
          <p:cNvSpPr>
            <a:spLocks/>
          </p:cNvSpPr>
          <p:nvPr/>
        </p:nvSpPr>
        <p:spPr bwMode="auto">
          <a:xfrm>
            <a:off x="5332066" y="5261253"/>
            <a:ext cx="495300" cy="495300"/>
          </a:xfrm>
          <a:prstGeom prst="ellipse">
            <a:avLst/>
          </a:prstGeom>
          <a:solidFill>
            <a:srgbClr val="FFCCCC"/>
          </a:solidFill>
          <a:ln w="9360">
            <a:solidFill>
              <a:srgbClr val="000000"/>
            </a:solidFill>
            <a:miter lim="800000"/>
            <a:headEnd/>
            <a:tailEnd type="triangle" w="med" len="med"/>
          </a:ln>
        </p:spPr>
        <p:txBody>
          <a:bodyPr wrap="none" lIns="90000" tIns="46800" rIns="90000" bIns="46800" anchor="ctr"/>
          <a:lstStyle>
            <a:defPPr>
              <a:defRPr lang="en-GB"/>
            </a:defPPr>
            <a:lvl1pPr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1pPr>
            <a:lvl2pPr marL="4572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2pPr>
            <a:lvl3pPr marL="9144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3pPr>
            <a:lvl4pPr marL="13716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4pPr>
            <a:lvl5pPr marL="18288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5pPr>
            <a:lvl6pPr marL="2286000" algn="l" defTabSz="914400" rtl="0" eaLnBrk="1" latinLnBrk="0" hangingPunct="1">
              <a:defRPr sz="2400" kern="1200">
                <a:solidFill>
                  <a:schemeClr val="bg1"/>
                </a:solidFill>
                <a:latin typeface="Times New Roman" pitchFamily="16" charset="0"/>
                <a:ea typeface="Lucida Sans Unicode" charset="0"/>
                <a:cs typeface="Lucida Sans Unicode" charset="0"/>
              </a:defRPr>
            </a:lvl6pPr>
            <a:lvl7pPr marL="2743200" algn="l" defTabSz="914400" rtl="0" eaLnBrk="1" latinLnBrk="0" hangingPunct="1">
              <a:defRPr sz="2400" kern="1200">
                <a:solidFill>
                  <a:schemeClr val="bg1"/>
                </a:solidFill>
                <a:latin typeface="Times New Roman" pitchFamily="16" charset="0"/>
                <a:ea typeface="Lucida Sans Unicode" charset="0"/>
                <a:cs typeface="Lucida Sans Unicode" charset="0"/>
              </a:defRPr>
            </a:lvl7pPr>
            <a:lvl8pPr marL="3200400" algn="l" defTabSz="914400" rtl="0" eaLnBrk="1" latinLnBrk="0" hangingPunct="1">
              <a:defRPr sz="2400" kern="1200">
                <a:solidFill>
                  <a:schemeClr val="bg1"/>
                </a:solidFill>
                <a:latin typeface="Times New Roman" pitchFamily="16" charset="0"/>
                <a:ea typeface="Lucida Sans Unicode" charset="0"/>
                <a:cs typeface="Lucida Sans Unicode" charset="0"/>
              </a:defRPr>
            </a:lvl8pPr>
            <a:lvl9pPr marL="3657600" algn="l" defTabSz="914400" rtl="0" eaLnBrk="1" latinLnBrk="0" hangingPunct="1">
              <a:defRPr sz="2400" kern="1200">
                <a:solidFill>
                  <a:schemeClr val="bg1"/>
                </a:solidFill>
                <a:latin typeface="Times New Roman" pitchFamily="16" charset="0"/>
                <a:ea typeface="Lucida Sans Unicode" charset="0"/>
                <a:cs typeface="Lucida Sans Unicode" charset="0"/>
              </a:defRPr>
            </a:lvl9pPr>
          </a:lstStyle>
          <a:p>
            <a:pPr algn="ctr">
              <a:lnSpc>
                <a:spcPct val="100000"/>
              </a:lnSpc>
              <a:buFont typeface="Helvetica" pitchFamily="32"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a:solidFill>
                  <a:srgbClr val="000000"/>
                </a:solidFill>
                <a:latin typeface="Helvetica" pitchFamily="32" charset="0"/>
              </a:rPr>
              <a:t>P</a:t>
            </a:r>
            <a:r>
              <a:rPr lang="en-GB" sz="1800" i="1" baseline="-25000" dirty="0">
                <a:solidFill>
                  <a:srgbClr val="000000"/>
                </a:solidFill>
                <a:latin typeface="Helvetica" pitchFamily="32" charset="0"/>
              </a:rPr>
              <a:t>i</a:t>
            </a:r>
          </a:p>
        </p:txBody>
      </p:sp>
      <p:sp>
        <p:nvSpPr>
          <p:cNvPr id="8" name="Oval 7">
            <a:extLst>
              <a:ext uri="{FF2B5EF4-FFF2-40B4-BE49-F238E27FC236}">
                <a16:creationId xmlns:a16="http://schemas.microsoft.com/office/drawing/2014/main" id="{CE24CBB0-76AC-7891-0408-D73B5ED6CAD5}"/>
              </a:ext>
            </a:extLst>
          </p:cNvPr>
          <p:cNvSpPr>
            <a:spLocks/>
          </p:cNvSpPr>
          <p:nvPr/>
        </p:nvSpPr>
        <p:spPr bwMode="auto">
          <a:xfrm>
            <a:off x="5303489" y="3956606"/>
            <a:ext cx="495300" cy="495300"/>
          </a:xfrm>
          <a:prstGeom prst="ellipse">
            <a:avLst/>
          </a:prstGeom>
          <a:solidFill>
            <a:srgbClr val="FFCCCC"/>
          </a:solidFill>
          <a:ln w="9360">
            <a:solidFill>
              <a:srgbClr val="000000"/>
            </a:solidFill>
            <a:miter lim="800000"/>
            <a:headEnd/>
            <a:tailEnd type="triangle" w="med" len="med"/>
          </a:ln>
        </p:spPr>
        <p:txBody>
          <a:bodyPr wrap="none" lIns="90000" tIns="46800" rIns="90000" bIns="46800" anchor="ctr"/>
          <a:lstStyle>
            <a:defPPr>
              <a:defRPr lang="en-GB"/>
            </a:defPPr>
            <a:lvl1pPr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1pPr>
            <a:lvl2pPr marL="4572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2pPr>
            <a:lvl3pPr marL="9144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3pPr>
            <a:lvl4pPr marL="13716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4pPr>
            <a:lvl5pPr marL="18288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5pPr>
            <a:lvl6pPr marL="2286000" algn="l" defTabSz="914400" rtl="0" eaLnBrk="1" latinLnBrk="0" hangingPunct="1">
              <a:defRPr sz="2400" kern="1200">
                <a:solidFill>
                  <a:schemeClr val="bg1"/>
                </a:solidFill>
                <a:latin typeface="Times New Roman" pitchFamily="16" charset="0"/>
                <a:ea typeface="Lucida Sans Unicode" charset="0"/>
                <a:cs typeface="Lucida Sans Unicode" charset="0"/>
              </a:defRPr>
            </a:lvl6pPr>
            <a:lvl7pPr marL="2743200" algn="l" defTabSz="914400" rtl="0" eaLnBrk="1" latinLnBrk="0" hangingPunct="1">
              <a:defRPr sz="2400" kern="1200">
                <a:solidFill>
                  <a:schemeClr val="bg1"/>
                </a:solidFill>
                <a:latin typeface="Times New Roman" pitchFamily="16" charset="0"/>
                <a:ea typeface="Lucida Sans Unicode" charset="0"/>
                <a:cs typeface="Lucida Sans Unicode" charset="0"/>
              </a:defRPr>
            </a:lvl7pPr>
            <a:lvl8pPr marL="3200400" algn="l" defTabSz="914400" rtl="0" eaLnBrk="1" latinLnBrk="0" hangingPunct="1">
              <a:defRPr sz="2400" kern="1200">
                <a:solidFill>
                  <a:schemeClr val="bg1"/>
                </a:solidFill>
                <a:latin typeface="Times New Roman" pitchFamily="16" charset="0"/>
                <a:ea typeface="Lucida Sans Unicode" charset="0"/>
                <a:cs typeface="Lucida Sans Unicode" charset="0"/>
              </a:defRPr>
            </a:lvl8pPr>
            <a:lvl9pPr marL="3657600" algn="l" defTabSz="914400" rtl="0" eaLnBrk="1" latinLnBrk="0" hangingPunct="1">
              <a:defRPr sz="2400" kern="1200">
                <a:solidFill>
                  <a:schemeClr val="bg1"/>
                </a:solidFill>
                <a:latin typeface="Times New Roman" pitchFamily="16" charset="0"/>
                <a:ea typeface="Lucida Sans Unicode" charset="0"/>
                <a:cs typeface="Lucida Sans Unicode" charset="0"/>
              </a:defRPr>
            </a:lvl9pPr>
          </a:lstStyle>
          <a:p>
            <a:pPr algn="ctr">
              <a:lnSpc>
                <a:spcPct val="100000"/>
              </a:lnSpc>
              <a:buFont typeface="Helvetica" pitchFamily="32"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a:solidFill>
                  <a:srgbClr val="000000"/>
                </a:solidFill>
                <a:latin typeface="Helvetica" pitchFamily="32" charset="0"/>
              </a:rPr>
              <a:t>P</a:t>
            </a:r>
            <a:r>
              <a:rPr lang="en-GB" sz="1800" i="1" baseline="-25000">
                <a:solidFill>
                  <a:srgbClr val="000000"/>
                </a:solidFill>
                <a:latin typeface="Helvetica" pitchFamily="32" charset="0"/>
              </a:rPr>
              <a:t>i</a:t>
            </a:r>
          </a:p>
        </p:txBody>
      </p:sp>
      <p:grpSp>
        <p:nvGrpSpPr>
          <p:cNvPr id="9" name="Group 8">
            <a:extLst>
              <a:ext uri="{FF2B5EF4-FFF2-40B4-BE49-F238E27FC236}">
                <a16:creationId xmlns:a16="http://schemas.microsoft.com/office/drawing/2014/main" id="{900749C8-A913-D1A9-3338-73F52DDD794A}"/>
              </a:ext>
            </a:extLst>
          </p:cNvPr>
          <p:cNvGrpSpPr>
            <a:grpSpLocks/>
          </p:cNvGrpSpPr>
          <p:nvPr/>
        </p:nvGrpSpPr>
        <p:grpSpPr bwMode="auto">
          <a:xfrm>
            <a:off x="5838034" y="2899053"/>
            <a:ext cx="438153" cy="419103"/>
            <a:chOff x="2666" y="1966"/>
            <a:chExt cx="276" cy="264"/>
          </a:xfrm>
        </p:grpSpPr>
        <p:sp>
          <p:nvSpPr>
            <p:cNvPr id="10" name="Rectangle 9">
              <a:extLst>
                <a:ext uri="{FF2B5EF4-FFF2-40B4-BE49-F238E27FC236}">
                  <a16:creationId xmlns:a16="http://schemas.microsoft.com/office/drawing/2014/main" id="{1DE37FB8-F642-C4D9-C80E-933E52DEFA00}"/>
                </a:ext>
              </a:extLst>
            </p:cNvPr>
            <p:cNvSpPr>
              <a:spLocks/>
            </p:cNvSpPr>
            <p:nvPr/>
          </p:nvSpPr>
          <p:spPr bwMode="auto">
            <a:xfrm>
              <a:off x="2666" y="1966"/>
              <a:ext cx="276" cy="264"/>
            </a:xfrm>
            <a:prstGeom prst="rect">
              <a:avLst/>
            </a:prstGeom>
            <a:solidFill>
              <a:srgbClr val="FFCCCC"/>
            </a:solidFill>
            <a:ln w="9360">
              <a:solidFill>
                <a:srgbClr val="000000"/>
              </a:solidFill>
              <a:miter lim="800000"/>
              <a:headEnd/>
              <a:tailEnd type="triangle" w="med" len="med"/>
            </a:ln>
          </p:spPr>
          <p:txBody>
            <a:bodyPr wrap="none" anchor="ctr"/>
            <a:lstStyle>
              <a:defPPr>
                <a:defRPr lang="en-GB"/>
              </a:defPPr>
              <a:lvl1pPr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1pPr>
              <a:lvl2pPr marL="4572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2pPr>
              <a:lvl3pPr marL="9144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3pPr>
              <a:lvl4pPr marL="13716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4pPr>
              <a:lvl5pPr marL="18288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5pPr>
              <a:lvl6pPr marL="2286000" algn="l" defTabSz="914400" rtl="0" eaLnBrk="1" latinLnBrk="0" hangingPunct="1">
                <a:defRPr sz="2400" kern="1200">
                  <a:solidFill>
                    <a:schemeClr val="bg1"/>
                  </a:solidFill>
                  <a:latin typeface="Times New Roman" pitchFamily="16" charset="0"/>
                  <a:ea typeface="Lucida Sans Unicode" charset="0"/>
                  <a:cs typeface="Lucida Sans Unicode" charset="0"/>
                </a:defRPr>
              </a:lvl6pPr>
              <a:lvl7pPr marL="2743200" algn="l" defTabSz="914400" rtl="0" eaLnBrk="1" latinLnBrk="0" hangingPunct="1">
                <a:defRPr sz="2400" kern="1200">
                  <a:solidFill>
                    <a:schemeClr val="bg1"/>
                  </a:solidFill>
                  <a:latin typeface="Times New Roman" pitchFamily="16" charset="0"/>
                  <a:ea typeface="Lucida Sans Unicode" charset="0"/>
                  <a:cs typeface="Lucida Sans Unicode" charset="0"/>
                </a:defRPr>
              </a:lvl7pPr>
              <a:lvl8pPr marL="3200400" algn="l" defTabSz="914400" rtl="0" eaLnBrk="1" latinLnBrk="0" hangingPunct="1">
                <a:defRPr sz="2400" kern="1200">
                  <a:solidFill>
                    <a:schemeClr val="bg1"/>
                  </a:solidFill>
                  <a:latin typeface="Times New Roman" pitchFamily="16" charset="0"/>
                  <a:ea typeface="Lucida Sans Unicode" charset="0"/>
                  <a:cs typeface="Lucida Sans Unicode" charset="0"/>
                </a:defRPr>
              </a:lvl8pPr>
              <a:lvl9pPr marL="3657600" algn="l" defTabSz="914400" rtl="0" eaLnBrk="1" latinLnBrk="0" hangingPunct="1">
                <a:defRPr sz="2400" kern="1200">
                  <a:solidFill>
                    <a:schemeClr val="bg1"/>
                  </a:solidFill>
                  <a:latin typeface="Times New Roman" pitchFamily="16" charset="0"/>
                  <a:ea typeface="Lucida Sans Unicode" charset="0"/>
                  <a:cs typeface="Lucida Sans Unicode" charset="0"/>
                </a:defRPr>
              </a:lvl9pPr>
            </a:lstStyle>
            <a:p>
              <a:endParaRPr lang="en-US"/>
            </a:p>
          </p:txBody>
        </p:sp>
        <p:sp>
          <p:nvSpPr>
            <p:cNvPr id="11" name="Rectangle 10">
              <a:extLst>
                <a:ext uri="{FF2B5EF4-FFF2-40B4-BE49-F238E27FC236}">
                  <a16:creationId xmlns:a16="http://schemas.microsoft.com/office/drawing/2014/main" id="{907B5318-BA51-5E51-8AC6-339E7ED001E7}"/>
                </a:ext>
              </a:extLst>
            </p:cNvPr>
            <p:cNvSpPr>
              <a:spLocks/>
            </p:cNvSpPr>
            <p:nvPr/>
          </p:nvSpPr>
          <p:spPr bwMode="auto">
            <a:xfrm>
              <a:off x="2736" y="2026"/>
              <a:ext cx="47" cy="47"/>
            </a:xfrm>
            <a:prstGeom prst="rect">
              <a:avLst/>
            </a:prstGeom>
            <a:solidFill>
              <a:srgbClr val="FFCCCC"/>
            </a:solidFill>
            <a:ln w="9360">
              <a:solidFill>
                <a:srgbClr val="000000"/>
              </a:solidFill>
              <a:miter lim="800000"/>
              <a:headEnd/>
              <a:tailEnd type="triangle" w="med" len="med"/>
            </a:ln>
          </p:spPr>
          <p:txBody>
            <a:bodyPr wrap="none" anchor="ctr"/>
            <a:lstStyle>
              <a:defPPr>
                <a:defRPr lang="en-GB"/>
              </a:defPPr>
              <a:lvl1pPr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1pPr>
              <a:lvl2pPr marL="4572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2pPr>
              <a:lvl3pPr marL="9144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3pPr>
              <a:lvl4pPr marL="13716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4pPr>
              <a:lvl5pPr marL="18288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5pPr>
              <a:lvl6pPr marL="2286000" algn="l" defTabSz="914400" rtl="0" eaLnBrk="1" latinLnBrk="0" hangingPunct="1">
                <a:defRPr sz="2400" kern="1200">
                  <a:solidFill>
                    <a:schemeClr val="bg1"/>
                  </a:solidFill>
                  <a:latin typeface="Times New Roman" pitchFamily="16" charset="0"/>
                  <a:ea typeface="Lucida Sans Unicode" charset="0"/>
                  <a:cs typeface="Lucida Sans Unicode" charset="0"/>
                </a:defRPr>
              </a:lvl6pPr>
              <a:lvl7pPr marL="2743200" algn="l" defTabSz="914400" rtl="0" eaLnBrk="1" latinLnBrk="0" hangingPunct="1">
                <a:defRPr sz="2400" kern="1200">
                  <a:solidFill>
                    <a:schemeClr val="bg1"/>
                  </a:solidFill>
                  <a:latin typeface="Times New Roman" pitchFamily="16" charset="0"/>
                  <a:ea typeface="Lucida Sans Unicode" charset="0"/>
                  <a:cs typeface="Lucida Sans Unicode" charset="0"/>
                </a:defRPr>
              </a:lvl7pPr>
              <a:lvl8pPr marL="3200400" algn="l" defTabSz="914400" rtl="0" eaLnBrk="1" latinLnBrk="0" hangingPunct="1">
                <a:defRPr sz="2400" kern="1200">
                  <a:solidFill>
                    <a:schemeClr val="bg1"/>
                  </a:solidFill>
                  <a:latin typeface="Times New Roman" pitchFamily="16" charset="0"/>
                  <a:ea typeface="Lucida Sans Unicode" charset="0"/>
                  <a:cs typeface="Lucida Sans Unicode" charset="0"/>
                </a:defRPr>
              </a:lvl8pPr>
              <a:lvl9pPr marL="3657600" algn="l" defTabSz="914400" rtl="0" eaLnBrk="1" latinLnBrk="0" hangingPunct="1">
                <a:defRPr sz="2400" kern="1200">
                  <a:solidFill>
                    <a:schemeClr val="bg1"/>
                  </a:solidFill>
                  <a:latin typeface="Times New Roman" pitchFamily="16" charset="0"/>
                  <a:ea typeface="Lucida Sans Unicode" charset="0"/>
                  <a:cs typeface="Lucida Sans Unicode" charset="0"/>
                </a:defRPr>
              </a:lvl9pPr>
            </a:lstStyle>
            <a:p>
              <a:endParaRPr lang="en-US"/>
            </a:p>
          </p:txBody>
        </p:sp>
        <p:sp>
          <p:nvSpPr>
            <p:cNvPr id="12" name="Rectangle 11">
              <a:extLst>
                <a:ext uri="{FF2B5EF4-FFF2-40B4-BE49-F238E27FC236}">
                  <a16:creationId xmlns:a16="http://schemas.microsoft.com/office/drawing/2014/main" id="{DF107211-D3E9-48F6-B5B4-B5F0D3F5863A}"/>
                </a:ext>
              </a:extLst>
            </p:cNvPr>
            <p:cNvSpPr>
              <a:spLocks/>
            </p:cNvSpPr>
            <p:nvPr/>
          </p:nvSpPr>
          <p:spPr bwMode="auto">
            <a:xfrm>
              <a:off x="2832" y="2026"/>
              <a:ext cx="47" cy="47"/>
            </a:xfrm>
            <a:prstGeom prst="rect">
              <a:avLst/>
            </a:prstGeom>
            <a:solidFill>
              <a:srgbClr val="FFCCCC"/>
            </a:solidFill>
            <a:ln w="9360">
              <a:solidFill>
                <a:srgbClr val="000000"/>
              </a:solidFill>
              <a:miter lim="800000"/>
              <a:headEnd/>
              <a:tailEnd type="triangle" w="med" len="med"/>
            </a:ln>
          </p:spPr>
          <p:txBody>
            <a:bodyPr wrap="none" anchor="ctr"/>
            <a:lstStyle>
              <a:defPPr>
                <a:defRPr lang="en-GB"/>
              </a:defPPr>
              <a:lvl1pPr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1pPr>
              <a:lvl2pPr marL="4572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2pPr>
              <a:lvl3pPr marL="9144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3pPr>
              <a:lvl4pPr marL="13716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4pPr>
              <a:lvl5pPr marL="18288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5pPr>
              <a:lvl6pPr marL="2286000" algn="l" defTabSz="914400" rtl="0" eaLnBrk="1" latinLnBrk="0" hangingPunct="1">
                <a:defRPr sz="2400" kern="1200">
                  <a:solidFill>
                    <a:schemeClr val="bg1"/>
                  </a:solidFill>
                  <a:latin typeface="Times New Roman" pitchFamily="16" charset="0"/>
                  <a:ea typeface="Lucida Sans Unicode" charset="0"/>
                  <a:cs typeface="Lucida Sans Unicode" charset="0"/>
                </a:defRPr>
              </a:lvl6pPr>
              <a:lvl7pPr marL="2743200" algn="l" defTabSz="914400" rtl="0" eaLnBrk="1" latinLnBrk="0" hangingPunct="1">
                <a:defRPr sz="2400" kern="1200">
                  <a:solidFill>
                    <a:schemeClr val="bg1"/>
                  </a:solidFill>
                  <a:latin typeface="Times New Roman" pitchFamily="16" charset="0"/>
                  <a:ea typeface="Lucida Sans Unicode" charset="0"/>
                  <a:cs typeface="Lucida Sans Unicode" charset="0"/>
                </a:defRPr>
              </a:lvl7pPr>
              <a:lvl8pPr marL="3200400" algn="l" defTabSz="914400" rtl="0" eaLnBrk="1" latinLnBrk="0" hangingPunct="1">
                <a:defRPr sz="2400" kern="1200">
                  <a:solidFill>
                    <a:schemeClr val="bg1"/>
                  </a:solidFill>
                  <a:latin typeface="Times New Roman" pitchFamily="16" charset="0"/>
                  <a:ea typeface="Lucida Sans Unicode" charset="0"/>
                  <a:cs typeface="Lucida Sans Unicode" charset="0"/>
                </a:defRPr>
              </a:lvl8pPr>
              <a:lvl9pPr marL="3657600" algn="l" defTabSz="914400" rtl="0" eaLnBrk="1" latinLnBrk="0" hangingPunct="1">
                <a:defRPr sz="2400" kern="1200">
                  <a:solidFill>
                    <a:schemeClr val="bg1"/>
                  </a:solidFill>
                  <a:latin typeface="Times New Roman" pitchFamily="16" charset="0"/>
                  <a:ea typeface="Lucida Sans Unicode" charset="0"/>
                  <a:cs typeface="Lucida Sans Unicode" charset="0"/>
                </a:defRPr>
              </a:lvl9pPr>
            </a:lstStyle>
            <a:p>
              <a:endParaRPr lang="en-US"/>
            </a:p>
          </p:txBody>
        </p:sp>
        <p:sp>
          <p:nvSpPr>
            <p:cNvPr id="14" name="Rectangle 13">
              <a:extLst>
                <a:ext uri="{FF2B5EF4-FFF2-40B4-BE49-F238E27FC236}">
                  <a16:creationId xmlns:a16="http://schemas.microsoft.com/office/drawing/2014/main" id="{EA44EC5D-754F-CE48-6624-4155B9EA39D6}"/>
                </a:ext>
              </a:extLst>
            </p:cNvPr>
            <p:cNvSpPr>
              <a:spLocks/>
            </p:cNvSpPr>
            <p:nvPr/>
          </p:nvSpPr>
          <p:spPr bwMode="auto">
            <a:xfrm>
              <a:off x="2736" y="2108"/>
              <a:ext cx="47" cy="47"/>
            </a:xfrm>
            <a:prstGeom prst="rect">
              <a:avLst/>
            </a:prstGeom>
            <a:solidFill>
              <a:srgbClr val="FFCCCC"/>
            </a:solidFill>
            <a:ln w="9360">
              <a:solidFill>
                <a:srgbClr val="000000"/>
              </a:solidFill>
              <a:miter lim="800000"/>
              <a:headEnd/>
              <a:tailEnd type="triangle" w="med" len="med"/>
            </a:ln>
          </p:spPr>
          <p:txBody>
            <a:bodyPr wrap="none" anchor="ctr"/>
            <a:lstStyle>
              <a:defPPr>
                <a:defRPr lang="en-GB"/>
              </a:defPPr>
              <a:lvl1pPr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1pPr>
              <a:lvl2pPr marL="4572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2pPr>
              <a:lvl3pPr marL="9144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3pPr>
              <a:lvl4pPr marL="13716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4pPr>
              <a:lvl5pPr marL="18288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5pPr>
              <a:lvl6pPr marL="2286000" algn="l" defTabSz="914400" rtl="0" eaLnBrk="1" latinLnBrk="0" hangingPunct="1">
                <a:defRPr sz="2400" kern="1200">
                  <a:solidFill>
                    <a:schemeClr val="bg1"/>
                  </a:solidFill>
                  <a:latin typeface="Times New Roman" pitchFamily="16" charset="0"/>
                  <a:ea typeface="Lucida Sans Unicode" charset="0"/>
                  <a:cs typeface="Lucida Sans Unicode" charset="0"/>
                </a:defRPr>
              </a:lvl6pPr>
              <a:lvl7pPr marL="2743200" algn="l" defTabSz="914400" rtl="0" eaLnBrk="1" latinLnBrk="0" hangingPunct="1">
                <a:defRPr sz="2400" kern="1200">
                  <a:solidFill>
                    <a:schemeClr val="bg1"/>
                  </a:solidFill>
                  <a:latin typeface="Times New Roman" pitchFamily="16" charset="0"/>
                  <a:ea typeface="Lucida Sans Unicode" charset="0"/>
                  <a:cs typeface="Lucida Sans Unicode" charset="0"/>
                </a:defRPr>
              </a:lvl7pPr>
              <a:lvl8pPr marL="3200400" algn="l" defTabSz="914400" rtl="0" eaLnBrk="1" latinLnBrk="0" hangingPunct="1">
                <a:defRPr sz="2400" kern="1200">
                  <a:solidFill>
                    <a:schemeClr val="bg1"/>
                  </a:solidFill>
                  <a:latin typeface="Times New Roman" pitchFamily="16" charset="0"/>
                  <a:ea typeface="Lucida Sans Unicode" charset="0"/>
                  <a:cs typeface="Lucida Sans Unicode" charset="0"/>
                </a:defRPr>
              </a:lvl8pPr>
              <a:lvl9pPr marL="3657600" algn="l" defTabSz="914400" rtl="0" eaLnBrk="1" latinLnBrk="0" hangingPunct="1">
                <a:defRPr sz="2400" kern="1200">
                  <a:solidFill>
                    <a:schemeClr val="bg1"/>
                  </a:solidFill>
                  <a:latin typeface="Times New Roman" pitchFamily="16" charset="0"/>
                  <a:ea typeface="Lucida Sans Unicode" charset="0"/>
                  <a:cs typeface="Lucida Sans Unicode" charset="0"/>
                </a:defRPr>
              </a:lvl9pPr>
            </a:lstStyle>
            <a:p>
              <a:endParaRPr lang="en-US"/>
            </a:p>
          </p:txBody>
        </p:sp>
        <p:sp>
          <p:nvSpPr>
            <p:cNvPr id="15" name="Rectangle 14">
              <a:extLst>
                <a:ext uri="{FF2B5EF4-FFF2-40B4-BE49-F238E27FC236}">
                  <a16:creationId xmlns:a16="http://schemas.microsoft.com/office/drawing/2014/main" id="{B72CCAD4-8A42-A379-9710-11FAF5EB9732}"/>
                </a:ext>
              </a:extLst>
            </p:cNvPr>
            <p:cNvSpPr>
              <a:spLocks/>
            </p:cNvSpPr>
            <p:nvPr/>
          </p:nvSpPr>
          <p:spPr bwMode="auto">
            <a:xfrm>
              <a:off x="2832" y="2108"/>
              <a:ext cx="47" cy="47"/>
            </a:xfrm>
            <a:prstGeom prst="rect">
              <a:avLst/>
            </a:prstGeom>
            <a:solidFill>
              <a:srgbClr val="FFCCCC"/>
            </a:solidFill>
            <a:ln w="9360">
              <a:solidFill>
                <a:srgbClr val="000000"/>
              </a:solidFill>
              <a:miter lim="800000"/>
              <a:headEnd/>
              <a:tailEnd type="triangle" w="med" len="med"/>
            </a:ln>
          </p:spPr>
          <p:txBody>
            <a:bodyPr wrap="none" anchor="ctr"/>
            <a:lstStyle>
              <a:defPPr>
                <a:defRPr lang="en-GB"/>
              </a:defPPr>
              <a:lvl1pPr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1pPr>
              <a:lvl2pPr marL="4572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2pPr>
              <a:lvl3pPr marL="9144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3pPr>
              <a:lvl4pPr marL="13716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4pPr>
              <a:lvl5pPr marL="18288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5pPr>
              <a:lvl6pPr marL="2286000" algn="l" defTabSz="914400" rtl="0" eaLnBrk="1" latinLnBrk="0" hangingPunct="1">
                <a:defRPr sz="2400" kern="1200">
                  <a:solidFill>
                    <a:schemeClr val="bg1"/>
                  </a:solidFill>
                  <a:latin typeface="Times New Roman" pitchFamily="16" charset="0"/>
                  <a:ea typeface="Lucida Sans Unicode" charset="0"/>
                  <a:cs typeface="Lucida Sans Unicode" charset="0"/>
                </a:defRPr>
              </a:lvl6pPr>
              <a:lvl7pPr marL="2743200" algn="l" defTabSz="914400" rtl="0" eaLnBrk="1" latinLnBrk="0" hangingPunct="1">
                <a:defRPr sz="2400" kern="1200">
                  <a:solidFill>
                    <a:schemeClr val="bg1"/>
                  </a:solidFill>
                  <a:latin typeface="Times New Roman" pitchFamily="16" charset="0"/>
                  <a:ea typeface="Lucida Sans Unicode" charset="0"/>
                  <a:cs typeface="Lucida Sans Unicode" charset="0"/>
                </a:defRPr>
              </a:lvl7pPr>
              <a:lvl8pPr marL="3200400" algn="l" defTabSz="914400" rtl="0" eaLnBrk="1" latinLnBrk="0" hangingPunct="1">
                <a:defRPr sz="2400" kern="1200">
                  <a:solidFill>
                    <a:schemeClr val="bg1"/>
                  </a:solidFill>
                  <a:latin typeface="Times New Roman" pitchFamily="16" charset="0"/>
                  <a:ea typeface="Lucida Sans Unicode" charset="0"/>
                  <a:cs typeface="Lucida Sans Unicode" charset="0"/>
                </a:defRPr>
              </a:lvl8pPr>
              <a:lvl9pPr marL="3657600" algn="l" defTabSz="914400" rtl="0" eaLnBrk="1" latinLnBrk="0" hangingPunct="1">
                <a:defRPr sz="2400" kern="1200">
                  <a:solidFill>
                    <a:schemeClr val="bg1"/>
                  </a:solidFill>
                  <a:latin typeface="Times New Roman" pitchFamily="16" charset="0"/>
                  <a:ea typeface="Lucida Sans Unicode" charset="0"/>
                  <a:cs typeface="Lucida Sans Unicode" charset="0"/>
                </a:defRPr>
              </a:lvl9pPr>
            </a:lstStyle>
            <a:p>
              <a:endParaRPr lang="en-US"/>
            </a:p>
          </p:txBody>
        </p:sp>
      </p:grpSp>
      <p:grpSp>
        <p:nvGrpSpPr>
          <p:cNvPr id="16" name="Group 15">
            <a:extLst>
              <a:ext uri="{FF2B5EF4-FFF2-40B4-BE49-F238E27FC236}">
                <a16:creationId xmlns:a16="http://schemas.microsoft.com/office/drawing/2014/main" id="{C2406FE1-EBB9-D2B5-01E3-2E7AB6FABA2C}"/>
              </a:ext>
            </a:extLst>
          </p:cNvPr>
          <p:cNvGrpSpPr>
            <a:grpSpLocks/>
          </p:cNvGrpSpPr>
          <p:nvPr/>
        </p:nvGrpSpPr>
        <p:grpSpPr bwMode="auto">
          <a:xfrm>
            <a:off x="6347298" y="4042053"/>
            <a:ext cx="438153" cy="419103"/>
            <a:chOff x="2956" y="2626"/>
            <a:chExt cx="276" cy="264"/>
          </a:xfrm>
        </p:grpSpPr>
        <p:sp>
          <p:nvSpPr>
            <p:cNvPr id="17" name="Rectangle 16">
              <a:extLst>
                <a:ext uri="{FF2B5EF4-FFF2-40B4-BE49-F238E27FC236}">
                  <a16:creationId xmlns:a16="http://schemas.microsoft.com/office/drawing/2014/main" id="{C5D2A7C1-1EDE-51C7-EDC5-ABF2997A6BD2}"/>
                </a:ext>
              </a:extLst>
            </p:cNvPr>
            <p:cNvSpPr>
              <a:spLocks/>
            </p:cNvSpPr>
            <p:nvPr/>
          </p:nvSpPr>
          <p:spPr bwMode="auto">
            <a:xfrm>
              <a:off x="2956" y="2626"/>
              <a:ext cx="276" cy="264"/>
            </a:xfrm>
            <a:prstGeom prst="rect">
              <a:avLst/>
            </a:prstGeom>
            <a:solidFill>
              <a:srgbClr val="FFCCCC"/>
            </a:solidFill>
            <a:ln w="9360">
              <a:solidFill>
                <a:srgbClr val="000000"/>
              </a:solidFill>
              <a:miter lim="800000"/>
              <a:headEnd/>
              <a:tailEnd type="triangle" w="med" len="med"/>
            </a:ln>
          </p:spPr>
          <p:txBody>
            <a:bodyPr wrap="none" anchor="ctr"/>
            <a:lstStyle>
              <a:defPPr>
                <a:defRPr lang="en-GB"/>
              </a:defPPr>
              <a:lvl1pPr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1pPr>
              <a:lvl2pPr marL="4572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2pPr>
              <a:lvl3pPr marL="9144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3pPr>
              <a:lvl4pPr marL="13716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4pPr>
              <a:lvl5pPr marL="18288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5pPr>
              <a:lvl6pPr marL="2286000" algn="l" defTabSz="914400" rtl="0" eaLnBrk="1" latinLnBrk="0" hangingPunct="1">
                <a:defRPr sz="2400" kern="1200">
                  <a:solidFill>
                    <a:schemeClr val="bg1"/>
                  </a:solidFill>
                  <a:latin typeface="Times New Roman" pitchFamily="16" charset="0"/>
                  <a:ea typeface="Lucida Sans Unicode" charset="0"/>
                  <a:cs typeface="Lucida Sans Unicode" charset="0"/>
                </a:defRPr>
              </a:lvl6pPr>
              <a:lvl7pPr marL="2743200" algn="l" defTabSz="914400" rtl="0" eaLnBrk="1" latinLnBrk="0" hangingPunct="1">
                <a:defRPr sz="2400" kern="1200">
                  <a:solidFill>
                    <a:schemeClr val="bg1"/>
                  </a:solidFill>
                  <a:latin typeface="Times New Roman" pitchFamily="16" charset="0"/>
                  <a:ea typeface="Lucida Sans Unicode" charset="0"/>
                  <a:cs typeface="Lucida Sans Unicode" charset="0"/>
                </a:defRPr>
              </a:lvl7pPr>
              <a:lvl8pPr marL="3200400" algn="l" defTabSz="914400" rtl="0" eaLnBrk="1" latinLnBrk="0" hangingPunct="1">
                <a:defRPr sz="2400" kern="1200">
                  <a:solidFill>
                    <a:schemeClr val="bg1"/>
                  </a:solidFill>
                  <a:latin typeface="Times New Roman" pitchFamily="16" charset="0"/>
                  <a:ea typeface="Lucida Sans Unicode" charset="0"/>
                  <a:cs typeface="Lucida Sans Unicode" charset="0"/>
                </a:defRPr>
              </a:lvl8pPr>
              <a:lvl9pPr marL="3657600" algn="l" defTabSz="914400" rtl="0" eaLnBrk="1" latinLnBrk="0" hangingPunct="1">
                <a:defRPr sz="2400" kern="1200">
                  <a:solidFill>
                    <a:schemeClr val="bg1"/>
                  </a:solidFill>
                  <a:latin typeface="Times New Roman" pitchFamily="16" charset="0"/>
                  <a:ea typeface="Lucida Sans Unicode" charset="0"/>
                  <a:cs typeface="Lucida Sans Unicode" charset="0"/>
                </a:defRPr>
              </a:lvl9pPr>
            </a:lstStyle>
            <a:p>
              <a:endParaRPr lang="en-US"/>
            </a:p>
          </p:txBody>
        </p:sp>
        <p:sp>
          <p:nvSpPr>
            <p:cNvPr id="19" name="Rectangle 18">
              <a:extLst>
                <a:ext uri="{FF2B5EF4-FFF2-40B4-BE49-F238E27FC236}">
                  <a16:creationId xmlns:a16="http://schemas.microsoft.com/office/drawing/2014/main" id="{60FC4FFF-3BE1-16C0-67EB-C6132C4D0D7A}"/>
                </a:ext>
              </a:extLst>
            </p:cNvPr>
            <p:cNvSpPr>
              <a:spLocks/>
            </p:cNvSpPr>
            <p:nvPr/>
          </p:nvSpPr>
          <p:spPr bwMode="auto">
            <a:xfrm>
              <a:off x="3026" y="2686"/>
              <a:ext cx="47" cy="47"/>
            </a:xfrm>
            <a:prstGeom prst="rect">
              <a:avLst/>
            </a:prstGeom>
            <a:solidFill>
              <a:srgbClr val="FFCCCC"/>
            </a:solidFill>
            <a:ln w="9360">
              <a:solidFill>
                <a:srgbClr val="000000"/>
              </a:solidFill>
              <a:miter lim="800000"/>
              <a:headEnd/>
              <a:tailEnd type="triangle" w="med" len="med"/>
            </a:ln>
          </p:spPr>
          <p:txBody>
            <a:bodyPr wrap="none" anchor="ctr"/>
            <a:lstStyle>
              <a:defPPr>
                <a:defRPr lang="en-GB"/>
              </a:defPPr>
              <a:lvl1pPr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1pPr>
              <a:lvl2pPr marL="4572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2pPr>
              <a:lvl3pPr marL="9144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3pPr>
              <a:lvl4pPr marL="13716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4pPr>
              <a:lvl5pPr marL="18288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5pPr>
              <a:lvl6pPr marL="2286000" algn="l" defTabSz="914400" rtl="0" eaLnBrk="1" latinLnBrk="0" hangingPunct="1">
                <a:defRPr sz="2400" kern="1200">
                  <a:solidFill>
                    <a:schemeClr val="bg1"/>
                  </a:solidFill>
                  <a:latin typeface="Times New Roman" pitchFamily="16" charset="0"/>
                  <a:ea typeface="Lucida Sans Unicode" charset="0"/>
                  <a:cs typeface="Lucida Sans Unicode" charset="0"/>
                </a:defRPr>
              </a:lvl6pPr>
              <a:lvl7pPr marL="2743200" algn="l" defTabSz="914400" rtl="0" eaLnBrk="1" latinLnBrk="0" hangingPunct="1">
                <a:defRPr sz="2400" kern="1200">
                  <a:solidFill>
                    <a:schemeClr val="bg1"/>
                  </a:solidFill>
                  <a:latin typeface="Times New Roman" pitchFamily="16" charset="0"/>
                  <a:ea typeface="Lucida Sans Unicode" charset="0"/>
                  <a:cs typeface="Lucida Sans Unicode" charset="0"/>
                </a:defRPr>
              </a:lvl7pPr>
              <a:lvl8pPr marL="3200400" algn="l" defTabSz="914400" rtl="0" eaLnBrk="1" latinLnBrk="0" hangingPunct="1">
                <a:defRPr sz="2400" kern="1200">
                  <a:solidFill>
                    <a:schemeClr val="bg1"/>
                  </a:solidFill>
                  <a:latin typeface="Times New Roman" pitchFamily="16" charset="0"/>
                  <a:ea typeface="Lucida Sans Unicode" charset="0"/>
                  <a:cs typeface="Lucida Sans Unicode" charset="0"/>
                </a:defRPr>
              </a:lvl8pPr>
              <a:lvl9pPr marL="3657600" algn="l" defTabSz="914400" rtl="0" eaLnBrk="1" latinLnBrk="0" hangingPunct="1">
                <a:defRPr sz="2400" kern="1200">
                  <a:solidFill>
                    <a:schemeClr val="bg1"/>
                  </a:solidFill>
                  <a:latin typeface="Times New Roman" pitchFamily="16" charset="0"/>
                  <a:ea typeface="Lucida Sans Unicode" charset="0"/>
                  <a:cs typeface="Lucida Sans Unicode" charset="0"/>
                </a:defRPr>
              </a:lvl9pPr>
            </a:lstStyle>
            <a:p>
              <a:endParaRPr lang="en-US"/>
            </a:p>
          </p:txBody>
        </p:sp>
        <p:sp>
          <p:nvSpPr>
            <p:cNvPr id="20" name="Rectangle 19">
              <a:extLst>
                <a:ext uri="{FF2B5EF4-FFF2-40B4-BE49-F238E27FC236}">
                  <a16:creationId xmlns:a16="http://schemas.microsoft.com/office/drawing/2014/main" id="{6C010EF0-AEC2-22C7-C922-31C38EA06E3D}"/>
                </a:ext>
              </a:extLst>
            </p:cNvPr>
            <p:cNvSpPr>
              <a:spLocks/>
            </p:cNvSpPr>
            <p:nvPr/>
          </p:nvSpPr>
          <p:spPr bwMode="auto">
            <a:xfrm>
              <a:off x="3122" y="2686"/>
              <a:ext cx="47" cy="47"/>
            </a:xfrm>
            <a:prstGeom prst="rect">
              <a:avLst/>
            </a:prstGeom>
            <a:solidFill>
              <a:srgbClr val="FFCCCC"/>
            </a:solidFill>
            <a:ln w="9360">
              <a:solidFill>
                <a:srgbClr val="000000"/>
              </a:solidFill>
              <a:miter lim="800000"/>
              <a:headEnd/>
              <a:tailEnd type="triangle" w="med" len="med"/>
            </a:ln>
          </p:spPr>
          <p:txBody>
            <a:bodyPr wrap="none" anchor="ctr"/>
            <a:lstStyle>
              <a:defPPr>
                <a:defRPr lang="en-GB"/>
              </a:defPPr>
              <a:lvl1pPr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1pPr>
              <a:lvl2pPr marL="4572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2pPr>
              <a:lvl3pPr marL="9144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3pPr>
              <a:lvl4pPr marL="13716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4pPr>
              <a:lvl5pPr marL="18288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5pPr>
              <a:lvl6pPr marL="2286000" algn="l" defTabSz="914400" rtl="0" eaLnBrk="1" latinLnBrk="0" hangingPunct="1">
                <a:defRPr sz="2400" kern="1200">
                  <a:solidFill>
                    <a:schemeClr val="bg1"/>
                  </a:solidFill>
                  <a:latin typeface="Times New Roman" pitchFamily="16" charset="0"/>
                  <a:ea typeface="Lucida Sans Unicode" charset="0"/>
                  <a:cs typeface="Lucida Sans Unicode" charset="0"/>
                </a:defRPr>
              </a:lvl6pPr>
              <a:lvl7pPr marL="2743200" algn="l" defTabSz="914400" rtl="0" eaLnBrk="1" latinLnBrk="0" hangingPunct="1">
                <a:defRPr sz="2400" kern="1200">
                  <a:solidFill>
                    <a:schemeClr val="bg1"/>
                  </a:solidFill>
                  <a:latin typeface="Times New Roman" pitchFamily="16" charset="0"/>
                  <a:ea typeface="Lucida Sans Unicode" charset="0"/>
                  <a:cs typeface="Lucida Sans Unicode" charset="0"/>
                </a:defRPr>
              </a:lvl7pPr>
              <a:lvl8pPr marL="3200400" algn="l" defTabSz="914400" rtl="0" eaLnBrk="1" latinLnBrk="0" hangingPunct="1">
                <a:defRPr sz="2400" kern="1200">
                  <a:solidFill>
                    <a:schemeClr val="bg1"/>
                  </a:solidFill>
                  <a:latin typeface="Times New Roman" pitchFamily="16" charset="0"/>
                  <a:ea typeface="Lucida Sans Unicode" charset="0"/>
                  <a:cs typeface="Lucida Sans Unicode" charset="0"/>
                </a:defRPr>
              </a:lvl8pPr>
              <a:lvl9pPr marL="3657600" algn="l" defTabSz="914400" rtl="0" eaLnBrk="1" latinLnBrk="0" hangingPunct="1">
                <a:defRPr sz="2400" kern="1200">
                  <a:solidFill>
                    <a:schemeClr val="bg1"/>
                  </a:solidFill>
                  <a:latin typeface="Times New Roman" pitchFamily="16" charset="0"/>
                  <a:ea typeface="Lucida Sans Unicode" charset="0"/>
                  <a:cs typeface="Lucida Sans Unicode" charset="0"/>
                </a:defRPr>
              </a:lvl9pPr>
            </a:lstStyle>
            <a:p>
              <a:endParaRPr lang="en-US"/>
            </a:p>
          </p:txBody>
        </p:sp>
        <p:sp>
          <p:nvSpPr>
            <p:cNvPr id="21" name="Rectangle 20">
              <a:extLst>
                <a:ext uri="{FF2B5EF4-FFF2-40B4-BE49-F238E27FC236}">
                  <a16:creationId xmlns:a16="http://schemas.microsoft.com/office/drawing/2014/main" id="{689BF10F-9EE3-F10D-1062-A771D1D0C350}"/>
                </a:ext>
              </a:extLst>
            </p:cNvPr>
            <p:cNvSpPr>
              <a:spLocks/>
            </p:cNvSpPr>
            <p:nvPr/>
          </p:nvSpPr>
          <p:spPr bwMode="auto">
            <a:xfrm>
              <a:off x="3026" y="2768"/>
              <a:ext cx="47" cy="47"/>
            </a:xfrm>
            <a:prstGeom prst="rect">
              <a:avLst/>
            </a:prstGeom>
            <a:solidFill>
              <a:srgbClr val="FFCCCC"/>
            </a:solidFill>
            <a:ln w="9360">
              <a:solidFill>
                <a:srgbClr val="000000"/>
              </a:solidFill>
              <a:miter lim="800000"/>
              <a:headEnd/>
              <a:tailEnd type="triangle" w="med" len="med"/>
            </a:ln>
          </p:spPr>
          <p:txBody>
            <a:bodyPr wrap="none" anchor="ctr"/>
            <a:lstStyle>
              <a:defPPr>
                <a:defRPr lang="en-GB"/>
              </a:defPPr>
              <a:lvl1pPr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1pPr>
              <a:lvl2pPr marL="4572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2pPr>
              <a:lvl3pPr marL="9144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3pPr>
              <a:lvl4pPr marL="13716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4pPr>
              <a:lvl5pPr marL="18288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5pPr>
              <a:lvl6pPr marL="2286000" algn="l" defTabSz="914400" rtl="0" eaLnBrk="1" latinLnBrk="0" hangingPunct="1">
                <a:defRPr sz="2400" kern="1200">
                  <a:solidFill>
                    <a:schemeClr val="bg1"/>
                  </a:solidFill>
                  <a:latin typeface="Times New Roman" pitchFamily="16" charset="0"/>
                  <a:ea typeface="Lucida Sans Unicode" charset="0"/>
                  <a:cs typeface="Lucida Sans Unicode" charset="0"/>
                </a:defRPr>
              </a:lvl6pPr>
              <a:lvl7pPr marL="2743200" algn="l" defTabSz="914400" rtl="0" eaLnBrk="1" latinLnBrk="0" hangingPunct="1">
                <a:defRPr sz="2400" kern="1200">
                  <a:solidFill>
                    <a:schemeClr val="bg1"/>
                  </a:solidFill>
                  <a:latin typeface="Times New Roman" pitchFamily="16" charset="0"/>
                  <a:ea typeface="Lucida Sans Unicode" charset="0"/>
                  <a:cs typeface="Lucida Sans Unicode" charset="0"/>
                </a:defRPr>
              </a:lvl7pPr>
              <a:lvl8pPr marL="3200400" algn="l" defTabSz="914400" rtl="0" eaLnBrk="1" latinLnBrk="0" hangingPunct="1">
                <a:defRPr sz="2400" kern="1200">
                  <a:solidFill>
                    <a:schemeClr val="bg1"/>
                  </a:solidFill>
                  <a:latin typeface="Times New Roman" pitchFamily="16" charset="0"/>
                  <a:ea typeface="Lucida Sans Unicode" charset="0"/>
                  <a:cs typeface="Lucida Sans Unicode" charset="0"/>
                </a:defRPr>
              </a:lvl8pPr>
              <a:lvl9pPr marL="3657600" algn="l" defTabSz="914400" rtl="0" eaLnBrk="1" latinLnBrk="0" hangingPunct="1">
                <a:defRPr sz="2400" kern="1200">
                  <a:solidFill>
                    <a:schemeClr val="bg1"/>
                  </a:solidFill>
                  <a:latin typeface="Times New Roman" pitchFamily="16" charset="0"/>
                  <a:ea typeface="Lucida Sans Unicode" charset="0"/>
                  <a:cs typeface="Lucida Sans Unicode" charset="0"/>
                </a:defRPr>
              </a:lvl9pPr>
            </a:lstStyle>
            <a:p>
              <a:endParaRPr lang="en-US"/>
            </a:p>
          </p:txBody>
        </p:sp>
        <p:sp>
          <p:nvSpPr>
            <p:cNvPr id="22" name="Rectangle 21">
              <a:extLst>
                <a:ext uri="{FF2B5EF4-FFF2-40B4-BE49-F238E27FC236}">
                  <a16:creationId xmlns:a16="http://schemas.microsoft.com/office/drawing/2014/main" id="{0952145B-6C56-E04D-2D5E-A1865A63300D}"/>
                </a:ext>
              </a:extLst>
            </p:cNvPr>
            <p:cNvSpPr>
              <a:spLocks/>
            </p:cNvSpPr>
            <p:nvPr/>
          </p:nvSpPr>
          <p:spPr bwMode="auto">
            <a:xfrm>
              <a:off x="3122" y="2768"/>
              <a:ext cx="47" cy="47"/>
            </a:xfrm>
            <a:prstGeom prst="rect">
              <a:avLst/>
            </a:prstGeom>
            <a:solidFill>
              <a:srgbClr val="FFCCCC"/>
            </a:solidFill>
            <a:ln w="9360">
              <a:solidFill>
                <a:srgbClr val="000000"/>
              </a:solidFill>
              <a:miter lim="800000"/>
              <a:headEnd/>
              <a:tailEnd type="triangle" w="med" len="med"/>
            </a:ln>
          </p:spPr>
          <p:txBody>
            <a:bodyPr wrap="none" anchor="ctr"/>
            <a:lstStyle>
              <a:defPPr>
                <a:defRPr lang="en-GB"/>
              </a:defPPr>
              <a:lvl1pPr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1pPr>
              <a:lvl2pPr marL="4572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2pPr>
              <a:lvl3pPr marL="9144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3pPr>
              <a:lvl4pPr marL="13716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4pPr>
              <a:lvl5pPr marL="18288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5pPr>
              <a:lvl6pPr marL="2286000" algn="l" defTabSz="914400" rtl="0" eaLnBrk="1" latinLnBrk="0" hangingPunct="1">
                <a:defRPr sz="2400" kern="1200">
                  <a:solidFill>
                    <a:schemeClr val="bg1"/>
                  </a:solidFill>
                  <a:latin typeface="Times New Roman" pitchFamily="16" charset="0"/>
                  <a:ea typeface="Lucida Sans Unicode" charset="0"/>
                  <a:cs typeface="Lucida Sans Unicode" charset="0"/>
                </a:defRPr>
              </a:lvl6pPr>
              <a:lvl7pPr marL="2743200" algn="l" defTabSz="914400" rtl="0" eaLnBrk="1" latinLnBrk="0" hangingPunct="1">
                <a:defRPr sz="2400" kern="1200">
                  <a:solidFill>
                    <a:schemeClr val="bg1"/>
                  </a:solidFill>
                  <a:latin typeface="Times New Roman" pitchFamily="16" charset="0"/>
                  <a:ea typeface="Lucida Sans Unicode" charset="0"/>
                  <a:cs typeface="Lucida Sans Unicode" charset="0"/>
                </a:defRPr>
              </a:lvl7pPr>
              <a:lvl8pPr marL="3200400" algn="l" defTabSz="914400" rtl="0" eaLnBrk="1" latinLnBrk="0" hangingPunct="1">
                <a:defRPr sz="2400" kern="1200">
                  <a:solidFill>
                    <a:schemeClr val="bg1"/>
                  </a:solidFill>
                  <a:latin typeface="Times New Roman" pitchFamily="16" charset="0"/>
                  <a:ea typeface="Lucida Sans Unicode" charset="0"/>
                  <a:cs typeface="Lucida Sans Unicode" charset="0"/>
                </a:defRPr>
              </a:lvl8pPr>
              <a:lvl9pPr marL="3657600" algn="l" defTabSz="914400" rtl="0" eaLnBrk="1" latinLnBrk="0" hangingPunct="1">
                <a:defRPr sz="2400" kern="1200">
                  <a:solidFill>
                    <a:schemeClr val="bg1"/>
                  </a:solidFill>
                  <a:latin typeface="Times New Roman" pitchFamily="16" charset="0"/>
                  <a:ea typeface="Lucida Sans Unicode" charset="0"/>
                  <a:cs typeface="Lucida Sans Unicode" charset="0"/>
                </a:defRPr>
              </a:lvl9pPr>
            </a:lstStyle>
            <a:p>
              <a:endParaRPr lang="en-US"/>
            </a:p>
          </p:txBody>
        </p:sp>
      </p:grpSp>
      <p:grpSp>
        <p:nvGrpSpPr>
          <p:cNvPr id="23" name="Group 22">
            <a:extLst>
              <a:ext uri="{FF2B5EF4-FFF2-40B4-BE49-F238E27FC236}">
                <a16:creationId xmlns:a16="http://schemas.microsoft.com/office/drawing/2014/main" id="{EFCC1AD6-DCE6-0E75-BAE1-805DE0474366}"/>
              </a:ext>
            </a:extLst>
          </p:cNvPr>
          <p:cNvGrpSpPr>
            <a:grpSpLocks/>
          </p:cNvGrpSpPr>
          <p:nvPr/>
        </p:nvGrpSpPr>
        <p:grpSpPr bwMode="auto">
          <a:xfrm>
            <a:off x="6543989" y="5259116"/>
            <a:ext cx="438147" cy="419103"/>
            <a:chOff x="2917" y="3544"/>
            <a:chExt cx="276" cy="264"/>
          </a:xfrm>
        </p:grpSpPr>
        <p:sp>
          <p:nvSpPr>
            <p:cNvPr id="24" name="Rectangle 23">
              <a:extLst>
                <a:ext uri="{FF2B5EF4-FFF2-40B4-BE49-F238E27FC236}">
                  <a16:creationId xmlns:a16="http://schemas.microsoft.com/office/drawing/2014/main" id="{7CD81F45-72DE-60D2-4767-7F3834F4818A}"/>
                </a:ext>
              </a:extLst>
            </p:cNvPr>
            <p:cNvSpPr>
              <a:spLocks/>
            </p:cNvSpPr>
            <p:nvPr/>
          </p:nvSpPr>
          <p:spPr bwMode="auto">
            <a:xfrm>
              <a:off x="2917" y="3544"/>
              <a:ext cx="276" cy="264"/>
            </a:xfrm>
            <a:prstGeom prst="rect">
              <a:avLst/>
            </a:prstGeom>
            <a:solidFill>
              <a:srgbClr val="FFCCCC"/>
            </a:solidFill>
            <a:ln w="9360">
              <a:solidFill>
                <a:srgbClr val="000000"/>
              </a:solidFill>
              <a:miter lim="800000"/>
              <a:headEnd/>
              <a:tailEnd type="triangle" w="med" len="med"/>
            </a:ln>
          </p:spPr>
          <p:txBody>
            <a:bodyPr wrap="none" anchor="ctr"/>
            <a:lstStyle>
              <a:defPPr>
                <a:defRPr lang="en-GB"/>
              </a:defPPr>
              <a:lvl1pPr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1pPr>
              <a:lvl2pPr marL="4572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2pPr>
              <a:lvl3pPr marL="9144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3pPr>
              <a:lvl4pPr marL="13716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4pPr>
              <a:lvl5pPr marL="18288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5pPr>
              <a:lvl6pPr marL="2286000" algn="l" defTabSz="914400" rtl="0" eaLnBrk="1" latinLnBrk="0" hangingPunct="1">
                <a:defRPr sz="2400" kern="1200">
                  <a:solidFill>
                    <a:schemeClr val="bg1"/>
                  </a:solidFill>
                  <a:latin typeface="Times New Roman" pitchFamily="16" charset="0"/>
                  <a:ea typeface="Lucida Sans Unicode" charset="0"/>
                  <a:cs typeface="Lucida Sans Unicode" charset="0"/>
                </a:defRPr>
              </a:lvl6pPr>
              <a:lvl7pPr marL="2743200" algn="l" defTabSz="914400" rtl="0" eaLnBrk="1" latinLnBrk="0" hangingPunct="1">
                <a:defRPr sz="2400" kern="1200">
                  <a:solidFill>
                    <a:schemeClr val="bg1"/>
                  </a:solidFill>
                  <a:latin typeface="Times New Roman" pitchFamily="16" charset="0"/>
                  <a:ea typeface="Lucida Sans Unicode" charset="0"/>
                  <a:cs typeface="Lucida Sans Unicode" charset="0"/>
                </a:defRPr>
              </a:lvl7pPr>
              <a:lvl8pPr marL="3200400" algn="l" defTabSz="914400" rtl="0" eaLnBrk="1" latinLnBrk="0" hangingPunct="1">
                <a:defRPr sz="2400" kern="1200">
                  <a:solidFill>
                    <a:schemeClr val="bg1"/>
                  </a:solidFill>
                  <a:latin typeface="Times New Roman" pitchFamily="16" charset="0"/>
                  <a:ea typeface="Lucida Sans Unicode" charset="0"/>
                  <a:cs typeface="Lucida Sans Unicode" charset="0"/>
                </a:defRPr>
              </a:lvl8pPr>
              <a:lvl9pPr marL="3657600" algn="l" defTabSz="914400" rtl="0" eaLnBrk="1" latinLnBrk="0" hangingPunct="1">
                <a:defRPr sz="2400" kern="1200">
                  <a:solidFill>
                    <a:schemeClr val="bg1"/>
                  </a:solidFill>
                  <a:latin typeface="Times New Roman" pitchFamily="16" charset="0"/>
                  <a:ea typeface="Lucida Sans Unicode" charset="0"/>
                  <a:cs typeface="Lucida Sans Unicode" charset="0"/>
                </a:defRPr>
              </a:lvl9pPr>
            </a:lstStyle>
            <a:p>
              <a:endParaRPr lang="en-US"/>
            </a:p>
          </p:txBody>
        </p:sp>
        <p:sp>
          <p:nvSpPr>
            <p:cNvPr id="25" name="Rectangle 24">
              <a:extLst>
                <a:ext uri="{FF2B5EF4-FFF2-40B4-BE49-F238E27FC236}">
                  <a16:creationId xmlns:a16="http://schemas.microsoft.com/office/drawing/2014/main" id="{015366A7-D677-2D6D-FF7D-A38683C87207}"/>
                </a:ext>
              </a:extLst>
            </p:cNvPr>
            <p:cNvSpPr>
              <a:spLocks/>
            </p:cNvSpPr>
            <p:nvPr/>
          </p:nvSpPr>
          <p:spPr bwMode="auto">
            <a:xfrm>
              <a:off x="2987" y="3604"/>
              <a:ext cx="47" cy="47"/>
            </a:xfrm>
            <a:prstGeom prst="rect">
              <a:avLst/>
            </a:prstGeom>
            <a:solidFill>
              <a:srgbClr val="FFCCCC"/>
            </a:solidFill>
            <a:ln w="9360">
              <a:solidFill>
                <a:srgbClr val="000000"/>
              </a:solidFill>
              <a:miter lim="800000"/>
              <a:headEnd/>
              <a:tailEnd type="triangle" w="med" len="med"/>
            </a:ln>
          </p:spPr>
          <p:txBody>
            <a:bodyPr wrap="none" anchor="ctr"/>
            <a:lstStyle>
              <a:defPPr>
                <a:defRPr lang="en-GB"/>
              </a:defPPr>
              <a:lvl1pPr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1pPr>
              <a:lvl2pPr marL="4572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2pPr>
              <a:lvl3pPr marL="9144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3pPr>
              <a:lvl4pPr marL="13716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4pPr>
              <a:lvl5pPr marL="18288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5pPr>
              <a:lvl6pPr marL="2286000" algn="l" defTabSz="914400" rtl="0" eaLnBrk="1" latinLnBrk="0" hangingPunct="1">
                <a:defRPr sz="2400" kern="1200">
                  <a:solidFill>
                    <a:schemeClr val="bg1"/>
                  </a:solidFill>
                  <a:latin typeface="Times New Roman" pitchFamily="16" charset="0"/>
                  <a:ea typeface="Lucida Sans Unicode" charset="0"/>
                  <a:cs typeface="Lucida Sans Unicode" charset="0"/>
                </a:defRPr>
              </a:lvl6pPr>
              <a:lvl7pPr marL="2743200" algn="l" defTabSz="914400" rtl="0" eaLnBrk="1" latinLnBrk="0" hangingPunct="1">
                <a:defRPr sz="2400" kern="1200">
                  <a:solidFill>
                    <a:schemeClr val="bg1"/>
                  </a:solidFill>
                  <a:latin typeface="Times New Roman" pitchFamily="16" charset="0"/>
                  <a:ea typeface="Lucida Sans Unicode" charset="0"/>
                  <a:cs typeface="Lucida Sans Unicode" charset="0"/>
                </a:defRPr>
              </a:lvl7pPr>
              <a:lvl8pPr marL="3200400" algn="l" defTabSz="914400" rtl="0" eaLnBrk="1" latinLnBrk="0" hangingPunct="1">
                <a:defRPr sz="2400" kern="1200">
                  <a:solidFill>
                    <a:schemeClr val="bg1"/>
                  </a:solidFill>
                  <a:latin typeface="Times New Roman" pitchFamily="16" charset="0"/>
                  <a:ea typeface="Lucida Sans Unicode" charset="0"/>
                  <a:cs typeface="Lucida Sans Unicode" charset="0"/>
                </a:defRPr>
              </a:lvl8pPr>
              <a:lvl9pPr marL="3657600" algn="l" defTabSz="914400" rtl="0" eaLnBrk="1" latinLnBrk="0" hangingPunct="1">
                <a:defRPr sz="2400" kern="1200">
                  <a:solidFill>
                    <a:schemeClr val="bg1"/>
                  </a:solidFill>
                  <a:latin typeface="Times New Roman" pitchFamily="16" charset="0"/>
                  <a:ea typeface="Lucida Sans Unicode" charset="0"/>
                  <a:cs typeface="Lucida Sans Unicode" charset="0"/>
                </a:defRPr>
              </a:lvl9pPr>
            </a:lstStyle>
            <a:p>
              <a:endParaRPr lang="en-US"/>
            </a:p>
          </p:txBody>
        </p:sp>
        <p:sp>
          <p:nvSpPr>
            <p:cNvPr id="26" name="Rectangle 25">
              <a:extLst>
                <a:ext uri="{FF2B5EF4-FFF2-40B4-BE49-F238E27FC236}">
                  <a16:creationId xmlns:a16="http://schemas.microsoft.com/office/drawing/2014/main" id="{FF823DF0-2F12-8955-A165-8391AFF83BB5}"/>
                </a:ext>
              </a:extLst>
            </p:cNvPr>
            <p:cNvSpPr>
              <a:spLocks/>
            </p:cNvSpPr>
            <p:nvPr/>
          </p:nvSpPr>
          <p:spPr bwMode="auto">
            <a:xfrm>
              <a:off x="3083" y="3604"/>
              <a:ext cx="47" cy="47"/>
            </a:xfrm>
            <a:prstGeom prst="rect">
              <a:avLst/>
            </a:prstGeom>
            <a:solidFill>
              <a:srgbClr val="FFCCCC"/>
            </a:solidFill>
            <a:ln w="9360">
              <a:solidFill>
                <a:srgbClr val="000000"/>
              </a:solidFill>
              <a:miter lim="800000"/>
              <a:headEnd/>
              <a:tailEnd type="triangle" w="med" len="med"/>
            </a:ln>
          </p:spPr>
          <p:txBody>
            <a:bodyPr wrap="none" anchor="ctr"/>
            <a:lstStyle>
              <a:defPPr>
                <a:defRPr lang="en-GB"/>
              </a:defPPr>
              <a:lvl1pPr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1pPr>
              <a:lvl2pPr marL="4572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2pPr>
              <a:lvl3pPr marL="9144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3pPr>
              <a:lvl4pPr marL="13716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4pPr>
              <a:lvl5pPr marL="18288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5pPr>
              <a:lvl6pPr marL="2286000" algn="l" defTabSz="914400" rtl="0" eaLnBrk="1" latinLnBrk="0" hangingPunct="1">
                <a:defRPr sz="2400" kern="1200">
                  <a:solidFill>
                    <a:schemeClr val="bg1"/>
                  </a:solidFill>
                  <a:latin typeface="Times New Roman" pitchFamily="16" charset="0"/>
                  <a:ea typeface="Lucida Sans Unicode" charset="0"/>
                  <a:cs typeface="Lucida Sans Unicode" charset="0"/>
                </a:defRPr>
              </a:lvl6pPr>
              <a:lvl7pPr marL="2743200" algn="l" defTabSz="914400" rtl="0" eaLnBrk="1" latinLnBrk="0" hangingPunct="1">
                <a:defRPr sz="2400" kern="1200">
                  <a:solidFill>
                    <a:schemeClr val="bg1"/>
                  </a:solidFill>
                  <a:latin typeface="Times New Roman" pitchFamily="16" charset="0"/>
                  <a:ea typeface="Lucida Sans Unicode" charset="0"/>
                  <a:cs typeface="Lucida Sans Unicode" charset="0"/>
                </a:defRPr>
              </a:lvl7pPr>
              <a:lvl8pPr marL="3200400" algn="l" defTabSz="914400" rtl="0" eaLnBrk="1" latinLnBrk="0" hangingPunct="1">
                <a:defRPr sz="2400" kern="1200">
                  <a:solidFill>
                    <a:schemeClr val="bg1"/>
                  </a:solidFill>
                  <a:latin typeface="Times New Roman" pitchFamily="16" charset="0"/>
                  <a:ea typeface="Lucida Sans Unicode" charset="0"/>
                  <a:cs typeface="Lucida Sans Unicode" charset="0"/>
                </a:defRPr>
              </a:lvl8pPr>
              <a:lvl9pPr marL="3657600" algn="l" defTabSz="914400" rtl="0" eaLnBrk="1" latinLnBrk="0" hangingPunct="1">
                <a:defRPr sz="2400" kern="1200">
                  <a:solidFill>
                    <a:schemeClr val="bg1"/>
                  </a:solidFill>
                  <a:latin typeface="Times New Roman" pitchFamily="16" charset="0"/>
                  <a:ea typeface="Lucida Sans Unicode" charset="0"/>
                  <a:cs typeface="Lucida Sans Unicode" charset="0"/>
                </a:defRPr>
              </a:lvl9pPr>
            </a:lstStyle>
            <a:p>
              <a:endParaRPr lang="en-US"/>
            </a:p>
          </p:txBody>
        </p:sp>
        <p:sp>
          <p:nvSpPr>
            <p:cNvPr id="27" name="Rectangle 26">
              <a:extLst>
                <a:ext uri="{FF2B5EF4-FFF2-40B4-BE49-F238E27FC236}">
                  <a16:creationId xmlns:a16="http://schemas.microsoft.com/office/drawing/2014/main" id="{176C616E-7FD4-2A80-6E52-C1CCA0C50E24}"/>
                </a:ext>
              </a:extLst>
            </p:cNvPr>
            <p:cNvSpPr>
              <a:spLocks/>
            </p:cNvSpPr>
            <p:nvPr/>
          </p:nvSpPr>
          <p:spPr bwMode="auto">
            <a:xfrm>
              <a:off x="2987" y="3686"/>
              <a:ext cx="47" cy="47"/>
            </a:xfrm>
            <a:prstGeom prst="rect">
              <a:avLst/>
            </a:prstGeom>
            <a:solidFill>
              <a:srgbClr val="FFCCCC"/>
            </a:solidFill>
            <a:ln w="9360">
              <a:solidFill>
                <a:srgbClr val="000000"/>
              </a:solidFill>
              <a:miter lim="800000"/>
              <a:headEnd/>
              <a:tailEnd type="triangle" w="med" len="med"/>
            </a:ln>
          </p:spPr>
          <p:txBody>
            <a:bodyPr wrap="none" anchor="ctr"/>
            <a:lstStyle>
              <a:defPPr>
                <a:defRPr lang="en-GB"/>
              </a:defPPr>
              <a:lvl1pPr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1pPr>
              <a:lvl2pPr marL="4572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2pPr>
              <a:lvl3pPr marL="9144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3pPr>
              <a:lvl4pPr marL="13716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4pPr>
              <a:lvl5pPr marL="18288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5pPr>
              <a:lvl6pPr marL="2286000" algn="l" defTabSz="914400" rtl="0" eaLnBrk="1" latinLnBrk="0" hangingPunct="1">
                <a:defRPr sz="2400" kern="1200">
                  <a:solidFill>
                    <a:schemeClr val="bg1"/>
                  </a:solidFill>
                  <a:latin typeface="Times New Roman" pitchFamily="16" charset="0"/>
                  <a:ea typeface="Lucida Sans Unicode" charset="0"/>
                  <a:cs typeface="Lucida Sans Unicode" charset="0"/>
                </a:defRPr>
              </a:lvl6pPr>
              <a:lvl7pPr marL="2743200" algn="l" defTabSz="914400" rtl="0" eaLnBrk="1" latinLnBrk="0" hangingPunct="1">
                <a:defRPr sz="2400" kern="1200">
                  <a:solidFill>
                    <a:schemeClr val="bg1"/>
                  </a:solidFill>
                  <a:latin typeface="Times New Roman" pitchFamily="16" charset="0"/>
                  <a:ea typeface="Lucida Sans Unicode" charset="0"/>
                  <a:cs typeface="Lucida Sans Unicode" charset="0"/>
                </a:defRPr>
              </a:lvl7pPr>
              <a:lvl8pPr marL="3200400" algn="l" defTabSz="914400" rtl="0" eaLnBrk="1" latinLnBrk="0" hangingPunct="1">
                <a:defRPr sz="2400" kern="1200">
                  <a:solidFill>
                    <a:schemeClr val="bg1"/>
                  </a:solidFill>
                  <a:latin typeface="Times New Roman" pitchFamily="16" charset="0"/>
                  <a:ea typeface="Lucida Sans Unicode" charset="0"/>
                  <a:cs typeface="Lucida Sans Unicode" charset="0"/>
                </a:defRPr>
              </a:lvl8pPr>
              <a:lvl9pPr marL="3657600" algn="l" defTabSz="914400" rtl="0" eaLnBrk="1" latinLnBrk="0" hangingPunct="1">
                <a:defRPr sz="2400" kern="1200">
                  <a:solidFill>
                    <a:schemeClr val="bg1"/>
                  </a:solidFill>
                  <a:latin typeface="Times New Roman" pitchFamily="16" charset="0"/>
                  <a:ea typeface="Lucida Sans Unicode" charset="0"/>
                  <a:cs typeface="Lucida Sans Unicode" charset="0"/>
                </a:defRPr>
              </a:lvl9pPr>
            </a:lstStyle>
            <a:p>
              <a:endParaRPr lang="en-US"/>
            </a:p>
          </p:txBody>
        </p:sp>
        <p:sp>
          <p:nvSpPr>
            <p:cNvPr id="28" name="Rectangle 27">
              <a:extLst>
                <a:ext uri="{FF2B5EF4-FFF2-40B4-BE49-F238E27FC236}">
                  <a16:creationId xmlns:a16="http://schemas.microsoft.com/office/drawing/2014/main" id="{BD5EC975-FE8C-4BEE-700F-E48D88C74B24}"/>
                </a:ext>
              </a:extLst>
            </p:cNvPr>
            <p:cNvSpPr>
              <a:spLocks/>
            </p:cNvSpPr>
            <p:nvPr/>
          </p:nvSpPr>
          <p:spPr bwMode="auto">
            <a:xfrm>
              <a:off x="3083" y="3686"/>
              <a:ext cx="47" cy="47"/>
            </a:xfrm>
            <a:prstGeom prst="rect">
              <a:avLst/>
            </a:prstGeom>
            <a:solidFill>
              <a:srgbClr val="FFCCCC"/>
            </a:solidFill>
            <a:ln w="9360">
              <a:solidFill>
                <a:srgbClr val="000000"/>
              </a:solidFill>
              <a:miter lim="800000"/>
              <a:headEnd/>
              <a:tailEnd type="triangle" w="med" len="med"/>
            </a:ln>
          </p:spPr>
          <p:txBody>
            <a:bodyPr wrap="none" anchor="ctr"/>
            <a:lstStyle>
              <a:defPPr>
                <a:defRPr lang="en-GB"/>
              </a:defPPr>
              <a:lvl1pPr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1pPr>
              <a:lvl2pPr marL="4572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2pPr>
              <a:lvl3pPr marL="9144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3pPr>
              <a:lvl4pPr marL="13716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4pPr>
              <a:lvl5pPr marL="18288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5pPr>
              <a:lvl6pPr marL="2286000" algn="l" defTabSz="914400" rtl="0" eaLnBrk="1" latinLnBrk="0" hangingPunct="1">
                <a:defRPr sz="2400" kern="1200">
                  <a:solidFill>
                    <a:schemeClr val="bg1"/>
                  </a:solidFill>
                  <a:latin typeface="Times New Roman" pitchFamily="16" charset="0"/>
                  <a:ea typeface="Lucida Sans Unicode" charset="0"/>
                  <a:cs typeface="Lucida Sans Unicode" charset="0"/>
                </a:defRPr>
              </a:lvl6pPr>
              <a:lvl7pPr marL="2743200" algn="l" defTabSz="914400" rtl="0" eaLnBrk="1" latinLnBrk="0" hangingPunct="1">
                <a:defRPr sz="2400" kern="1200">
                  <a:solidFill>
                    <a:schemeClr val="bg1"/>
                  </a:solidFill>
                  <a:latin typeface="Times New Roman" pitchFamily="16" charset="0"/>
                  <a:ea typeface="Lucida Sans Unicode" charset="0"/>
                  <a:cs typeface="Lucida Sans Unicode" charset="0"/>
                </a:defRPr>
              </a:lvl7pPr>
              <a:lvl8pPr marL="3200400" algn="l" defTabSz="914400" rtl="0" eaLnBrk="1" latinLnBrk="0" hangingPunct="1">
                <a:defRPr sz="2400" kern="1200">
                  <a:solidFill>
                    <a:schemeClr val="bg1"/>
                  </a:solidFill>
                  <a:latin typeface="Times New Roman" pitchFamily="16" charset="0"/>
                  <a:ea typeface="Lucida Sans Unicode" charset="0"/>
                  <a:cs typeface="Lucida Sans Unicode" charset="0"/>
                </a:defRPr>
              </a:lvl8pPr>
              <a:lvl9pPr marL="3657600" algn="l" defTabSz="914400" rtl="0" eaLnBrk="1" latinLnBrk="0" hangingPunct="1">
                <a:defRPr sz="2400" kern="1200">
                  <a:solidFill>
                    <a:schemeClr val="bg1"/>
                  </a:solidFill>
                  <a:latin typeface="Times New Roman" pitchFamily="16" charset="0"/>
                  <a:ea typeface="Lucida Sans Unicode" charset="0"/>
                  <a:cs typeface="Lucida Sans Unicode" charset="0"/>
                </a:defRPr>
              </a:lvl9pPr>
            </a:lstStyle>
            <a:p>
              <a:endParaRPr lang="en-US"/>
            </a:p>
          </p:txBody>
        </p:sp>
      </p:grpSp>
      <p:sp>
        <p:nvSpPr>
          <p:cNvPr id="29" name="Line 27">
            <a:extLst>
              <a:ext uri="{FF2B5EF4-FFF2-40B4-BE49-F238E27FC236}">
                <a16:creationId xmlns:a16="http://schemas.microsoft.com/office/drawing/2014/main" id="{D01CC1C7-DD98-0C79-6016-D428B0B43C21}"/>
              </a:ext>
            </a:extLst>
          </p:cNvPr>
          <p:cNvSpPr>
            <a:spLocks noChangeShapeType="1"/>
          </p:cNvSpPr>
          <p:nvPr/>
        </p:nvSpPr>
        <p:spPr bwMode="auto">
          <a:xfrm>
            <a:off x="5872961" y="4204256"/>
            <a:ext cx="457200" cy="1587"/>
          </a:xfrm>
          <a:prstGeom prst="line">
            <a:avLst/>
          </a:prstGeom>
          <a:noFill/>
          <a:ln w="9525">
            <a:solidFill>
              <a:srgbClr val="000000"/>
            </a:solidFill>
            <a:round/>
            <a:headEnd/>
            <a:tailEnd type="triangle" w="med" len="med"/>
          </a:ln>
        </p:spPr>
        <p:txBody>
          <a:bodyPr/>
          <a:lstStyle>
            <a:defPPr>
              <a:defRPr lang="en-GB"/>
            </a:defPPr>
            <a:lvl1pPr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1pPr>
            <a:lvl2pPr marL="4572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2pPr>
            <a:lvl3pPr marL="9144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3pPr>
            <a:lvl4pPr marL="13716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4pPr>
            <a:lvl5pPr marL="18288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5pPr>
            <a:lvl6pPr marL="2286000" algn="l" defTabSz="914400" rtl="0" eaLnBrk="1" latinLnBrk="0" hangingPunct="1">
              <a:defRPr sz="2400" kern="1200">
                <a:solidFill>
                  <a:schemeClr val="bg1"/>
                </a:solidFill>
                <a:latin typeface="Times New Roman" pitchFamily="16" charset="0"/>
                <a:ea typeface="Lucida Sans Unicode" charset="0"/>
                <a:cs typeface="Lucida Sans Unicode" charset="0"/>
              </a:defRPr>
            </a:lvl6pPr>
            <a:lvl7pPr marL="2743200" algn="l" defTabSz="914400" rtl="0" eaLnBrk="1" latinLnBrk="0" hangingPunct="1">
              <a:defRPr sz="2400" kern="1200">
                <a:solidFill>
                  <a:schemeClr val="bg1"/>
                </a:solidFill>
                <a:latin typeface="Times New Roman" pitchFamily="16" charset="0"/>
                <a:ea typeface="Lucida Sans Unicode" charset="0"/>
                <a:cs typeface="Lucida Sans Unicode" charset="0"/>
              </a:defRPr>
            </a:lvl7pPr>
            <a:lvl8pPr marL="3200400" algn="l" defTabSz="914400" rtl="0" eaLnBrk="1" latinLnBrk="0" hangingPunct="1">
              <a:defRPr sz="2400" kern="1200">
                <a:solidFill>
                  <a:schemeClr val="bg1"/>
                </a:solidFill>
                <a:latin typeface="Times New Roman" pitchFamily="16" charset="0"/>
                <a:ea typeface="Lucida Sans Unicode" charset="0"/>
                <a:cs typeface="Lucida Sans Unicode" charset="0"/>
              </a:defRPr>
            </a:lvl8pPr>
            <a:lvl9pPr marL="3657600" algn="l" defTabSz="914400" rtl="0" eaLnBrk="1" latinLnBrk="0" hangingPunct="1">
              <a:defRPr sz="2400" kern="1200">
                <a:solidFill>
                  <a:schemeClr val="bg1"/>
                </a:solidFill>
                <a:latin typeface="Times New Roman" pitchFamily="16" charset="0"/>
                <a:ea typeface="Lucida Sans Unicode" charset="0"/>
                <a:cs typeface="Lucida Sans Unicode" charset="0"/>
              </a:defRPr>
            </a:lvl9pPr>
          </a:lstStyle>
          <a:p>
            <a:endParaRPr lang="en-US"/>
          </a:p>
        </p:txBody>
      </p:sp>
      <p:sp>
        <p:nvSpPr>
          <p:cNvPr id="30" name="Line 28">
            <a:extLst>
              <a:ext uri="{FF2B5EF4-FFF2-40B4-BE49-F238E27FC236}">
                <a16:creationId xmlns:a16="http://schemas.microsoft.com/office/drawing/2014/main" id="{2FA2BC86-7F3D-2449-282D-065C85DC27E3}"/>
              </a:ext>
            </a:extLst>
          </p:cNvPr>
          <p:cNvSpPr>
            <a:spLocks noChangeShapeType="1"/>
          </p:cNvSpPr>
          <p:nvPr/>
        </p:nvSpPr>
        <p:spPr bwMode="auto">
          <a:xfrm flipH="1">
            <a:off x="5798788" y="5398148"/>
            <a:ext cx="856324" cy="213520"/>
          </a:xfrm>
          <a:prstGeom prst="line">
            <a:avLst/>
          </a:prstGeom>
          <a:noFill/>
          <a:ln w="9525">
            <a:solidFill>
              <a:srgbClr val="000000"/>
            </a:solidFill>
            <a:round/>
            <a:headEnd/>
            <a:tailEnd type="triangle" w="med" len="med"/>
          </a:ln>
        </p:spPr>
        <p:txBody>
          <a:bodyPr/>
          <a:lstStyle>
            <a:defPPr>
              <a:defRPr lang="en-GB"/>
            </a:defPPr>
            <a:lvl1pPr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1pPr>
            <a:lvl2pPr marL="4572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2pPr>
            <a:lvl3pPr marL="9144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3pPr>
            <a:lvl4pPr marL="13716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4pPr>
            <a:lvl5pPr marL="1828800" algn="l" defTabSz="457200" rtl="0" eaLnBrk="0" fontAlgn="base" hangingPunct="0">
              <a:lnSpc>
                <a:spcPct val="95000"/>
              </a:lnSpc>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Lucida Sans Unicode" charset="0"/>
                <a:cs typeface="Lucida Sans Unicode" charset="0"/>
              </a:defRPr>
            </a:lvl5pPr>
            <a:lvl6pPr marL="2286000" algn="l" defTabSz="914400" rtl="0" eaLnBrk="1" latinLnBrk="0" hangingPunct="1">
              <a:defRPr sz="2400" kern="1200">
                <a:solidFill>
                  <a:schemeClr val="bg1"/>
                </a:solidFill>
                <a:latin typeface="Times New Roman" pitchFamily="16" charset="0"/>
                <a:ea typeface="Lucida Sans Unicode" charset="0"/>
                <a:cs typeface="Lucida Sans Unicode" charset="0"/>
              </a:defRPr>
            </a:lvl6pPr>
            <a:lvl7pPr marL="2743200" algn="l" defTabSz="914400" rtl="0" eaLnBrk="1" latinLnBrk="0" hangingPunct="1">
              <a:defRPr sz="2400" kern="1200">
                <a:solidFill>
                  <a:schemeClr val="bg1"/>
                </a:solidFill>
                <a:latin typeface="Times New Roman" pitchFamily="16" charset="0"/>
                <a:ea typeface="Lucida Sans Unicode" charset="0"/>
                <a:cs typeface="Lucida Sans Unicode" charset="0"/>
              </a:defRPr>
            </a:lvl7pPr>
            <a:lvl8pPr marL="3200400" algn="l" defTabSz="914400" rtl="0" eaLnBrk="1" latinLnBrk="0" hangingPunct="1">
              <a:defRPr sz="2400" kern="1200">
                <a:solidFill>
                  <a:schemeClr val="bg1"/>
                </a:solidFill>
                <a:latin typeface="Times New Roman" pitchFamily="16" charset="0"/>
                <a:ea typeface="Lucida Sans Unicode" charset="0"/>
                <a:cs typeface="Lucida Sans Unicode" charset="0"/>
              </a:defRPr>
            </a:lvl8pPr>
            <a:lvl9pPr marL="3657600" algn="l" defTabSz="914400" rtl="0" eaLnBrk="1" latinLnBrk="0" hangingPunct="1">
              <a:defRPr sz="2400" kern="1200">
                <a:solidFill>
                  <a:schemeClr val="bg1"/>
                </a:solidFill>
                <a:latin typeface="Times New Roman" pitchFamily="16" charset="0"/>
                <a:ea typeface="Lucida Sans Unicode" charset="0"/>
                <a:cs typeface="Lucida Sans Unicode" charset="0"/>
              </a:defRPr>
            </a:lvl9pPr>
          </a:lstStyle>
          <a:p>
            <a:endParaRPr lang="en-US"/>
          </a:p>
        </p:txBody>
      </p:sp>
    </p:spTree>
    <p:extLst>
      <p:ext uri="{BB962C8B-B14F-4D97-AF65-F5344CB8AC3E}">
        <p14:creationId xmlns:p14="http://schemas.microsoft.com/office/powerpoint/2010/main" val="148098630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4771593"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Resource Allocation Graph</a:t>
            </a:r>
          </a:p>
        </p:txBody>
      </p:sp>
      <p:pic>
        <p:nvPicPr>
          <p:cNvPr id="2" name="Picture 1">
            <a:extLst>
              <a:ext uri="{FF2B5EF4-FFF2-40B4-BE49-F238E27FC236}">
                <a16:creationId xmlns:a16="http://schemas.microsoft.com/office/drawing/2014/main" id="{CEDC4F45-4D77-8D88-DE1E-DAD37A132C07}"/>
              </a:ext>
            </a:extLst>
          </p:cNvPr>
          <p:cNvPicPr/>
          <p:nvPr/>
        </p:nvPicPr>
        <p:blipFill>
          <a:blip r:embed="rId3"/>
          <a:srcRect l="25287" t="925" r="25287" b="1530"/>
          <a:stretch>
            <a:fillRect/>
          </a:stretch>
        </p:blipFill>
        <p:spPr bwMode="auto">
          <a:xfrm>
            <a:off x="612843" y="1789890"/>
            <a:ext cx="3657600" cy="3886200"/>
          </a:xfrm>
          <a:prstGeom prst="rect">
            <a:avLst/>
          </a:prstGeom>
          <a:noFill/>
          <a:ln w="38160">
            <a:solidFill>
              <a:srgbClr val="CC6600"/>
            </a:solidFill>
            <a:miter lim="800000"/>
            <a:headEnd/>
            <a:tailEnd type="triangle" w="med" len="med"/>
          </a:ln>
        </p:spPr>
      </p:pic>
      <p:pic>
        <p:nvPicPr>
          <p:cNvPr id="32" name="Picture 31">
            <a:extLst>
              <a:ext uri="{FF2B5EF4-FFF2-40B4-BE49-F238E27FC236}">
                <a16:creationId xmlns:a16="http://schemas.microsoft.com/office/drawing/2014/main" id="{8FA3E979-EBF1-1EFD-3FC5-890F151DCE74}"/>
              </a:ext>
            </a:extLst>
          </p:cNvPr>
          <p:cNvPicPr>
            <a:picLocks noChangeAspect="1"/>
          </p:cNvPicPr>
          <p:nvPr/>
        </p:nvPicPr>
        <p:blipFill>
          <a:blip r:embed="rId4"/>
          <a:stretch>
            <a:fillRect/>
          </a:stretch>
        </p:blipFill>
        <p:spPr>
          <a:xfrm>
            <a:off x="4581902" y="1482194"/>
            <a:ext cx="2818406" cy="894944"/>
          </a:xfrm>
          <a:prstGeom prst="rect">
            <a:avLst/>
          </a:prstGeom>
        </p:spPr>
      </p:pic>
      <p:pic>
        <p:nvPicPr>
          <p:cNvPr id="34" name="Picture 33">
            <a:extLst>
              <a:ext uri="{FF2B5EF4-FFF2-40B4-BE49-F238E27FC236}">
                <a16:creationId xmlns:a16="http://schemas.microsoft.com/office/drawing/2014/main" id="{AFE0605C-9FA3-5402-4802-4BF87E8EFFDB}"/>
              </a:ext>
            </a:extLst>
          </p:cNvPr>
          <p:cNvPicPr>
            <a:picLocks noChangeAspect="1"/>
          </p:cNvPicPr>
          <p:nvPr/>
        </p:nvPicPr>
        <p:blipFill>
          <a:blip r:embed="rId5"/>
          <a:stretch>
            <a:fillRect/>
          </a:stretch>
        </p:blipFill>
        <p:spPr>
          <a:xfrm>
            <a:off x="4581902" y="2377138"/>
            <a:ext cx="7449461" cy="894944"/>
          </a:xfrm>
          <a:prstGeom prst="rect">
            <a:avLst/>
          </a:prstGeom>
        </p:spPr>
      </p:pic>
      <p:pic>
        <p:nvPicPr>
          <p:cNvPr id="36" name="Picture 35">
            <a:extLst>
              <a:ext uri="{FF2B5EF4-FFF2-40B4-BE49-F238E27FC236}">
                <a16:creationId xmlns:a16="http://schemas.microsoft.com/office/drawing/2014/main" id="{218F83F6-45FE-EAF0-5246-E92ED1BF3A22}"/>
              </a:ext>
            </a:extLst>
          </p:cNvPr>
          <p:cNvPicPr>
            <a:picLocks noChangeAspect="1"/>
          </p:cNvPicPr>
          <p:nvPr/>
        </p:nvPicPr>
        <p:blipFill>
          <a:blip r:embed="rId6"/>
          <a:stretch>
            <a:fillRect/>
          </a:stretch>
        </p:blipFill>
        <p:spPr>
          <a:xfrm>
            <a:off x="4792201" y="3594506"/>
            <a:ext cx="5539098" cy="2435421"/>
          </a:xfrm>
          <a:prstGeom prst="rect">
            <a:avLst/>
          </a:prstGeom>
        </p:spPr>
      </p:pic>
    </p:spTree>
    <p:extLst>
      <p:ext uri="{BB962C8B-B14F-4D97-AF65-F5344CB8AC3E}">
        <p14:creationId xmlns:p14="http://schemas.microsoft.com/office/powerpoint/2010/main" val="365858366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4771593"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Resource Allocation Graph</a:t>
            </a:r>
          </a:p>
        </p:txBody>
      </p:sp>
      <p:pic>
        <p:nvPicPr>
          <p:cNvPr id="2" name="Picture 1">
            <a:extLst>
              <a:ext uri="{FF2B5EF4-FFF2-40B4-BE49-F238E27FC236}">
                <a16:creationId xmlns:a16="http://schemas.microsoft.com/office/drawing/2014/main" id="{CEDC4F45-4D77-8D88-DE1E-DAD37A132C07}"/>
              </a:ext>
            </a:extLst>
          </p:cNvPr>
          <p:cNvPicPr/>
          <p:nvPr/>
        </p:nvPicPr>
        <p:blipFill>
          <a:blip r:embed="rId3"/>
          <a:srcRect l="25287" t="925" r="25287" b="1530"/>
          <a:stretch>
            <a:fillRect/>
          </a:stretch>
        </p:blipFill>
        <p:spPr bwMode="auto">
          <a:xfrm>
            <a:off x="612843" y="1789890"/>
            <a:ext cx="3657600" cy="3886200"/>
          </a:xfrm>
          <a:prstGeom prst="rect">
            <a:avLst/>
          </a:prstGeom>
          <a:noFill/>
          <a:ln w="38160">
            <a:solidFill>
              <a:srgbClr val="CC6600"/>
            </a:solidFill>
            <a:miter lim="800000"/>
            <a:headEnd/>
            <a:tailEnd type="triangle" w="med" len="med"/>
          </a:ln>
        </p:spPr>
      </p:pic>
      <p:pic>
        <p:nvPicPr>
          <p:cNvPr id="5" name="Picture 4">
            <a:extLst>
              <a:ext uri="{FF2B5EF4-FFF2-40B4-BE49-F238E27FC236}">
                <a16:creationId xmlns:a16="http://schemas.microsoft.com/office/drawing/2014/main" id="{E5EE134C-A881-4CC9-B54C-3E95BAE68E93}"/>
              </a:ext>
            </a:extLst>
          </p:cNvPr>
          <p:cNvPicPr>
            <a:picLocks noChangeAspect="1"/>
          </p:cNvPicPr>
          <p:nvPr/>
        </p:nvPicPr>
        <p:blipFill>
          <a:blip r:embed="rId4"/>
          <a:stretch>
            <a:fillRect/>
          </a:stretch>
        </p:blipFill>
        <p:spPr>
          <a:xfrm>
            <a:off x="4744287" y="2472469"/>
            <a:ext cx="6952098" cy="1875795"/>
          </a:xfrm>
          <a:prstGeom prst="rect">
            <a:avLst/>
          </a:prstGeom>
        </p:spPr>
      </p:pic>
    </p:spTree>
    <p:extLst>
      <p:ext uri="{BB962C8B-B14F-4D97-AF65-F5344CB8AC3E}">
        <p14:creationId xmlns:p14="http://schemas.microsoft.com/office/powerpoint/2010/main" val="281572971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4771593"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Resource Allocation Graph</a:t>
            </a:r>
          </a:p>
        </p:txBody>
      </p:sp>
      <p:sp>
        <p:nvSpPr>
          <p:cNvPr id="6" name="TextBox 5">
            <a:extLst>
              <a:ext uri="{FF2B5EF4-FFF2-40B4-BE49-F238E27FC236}">
                <a16:creationId xmlns:a16="http://schemas.microsoft.com/office/drawing/2014/main" id="{F95316D3-2108-4675-2972-5B696A7C62B6}"/>
              </a:ext>
            </a:extLst>
          </p:cNvPr>
          <p:cNvSpPr txBox="1"/>
          <p:nvPr/>
        </p:nvSpPr>
        <p:spPr>
          <a:xfrm>
            <a:off x="749030" y="1678660"/>
            <a:ext cx="10797702" cy="1420325"/>
          </a:xfrm>
          <a:prstGeom prst="rect">
            <a:avLst/>
          </a:prstGeom>
          <a:noFill/>
        </p:spPr>
        <p:txBody>
          <a:bodyPr wrap="square">
            <a:spAutoFit/>
          </a:bodyPr>
          <a:lstStyle/>
          <a:p>
            <a:pPr marL="342900" indent="-342900" algn="l">
              <a:lnSpc>
                <a:spcPct val="150000"/>
              </a:lnSpc>
              <a:buFont typeface="Arial" panose="020B0604020202020204" pitchFamily="34" charset="0"/>
              <a:buChar char="•"/>
            </a:pPr>
            <a:r>
              <a:rPr lang="en-US" sz="2000" dirty="0">
                <a:latin typeface="Arial" pitchFamily="34" charset="0"/>
                <a:cs typeface="Arial" pitchFamily="34" charset="0"/>
              </a:rPr>
              <a:t> Defined a resource-allocation graph, it can be shown that, if the graph contains no cycles, </a:t>
            </a:r>
            <a:r>
              <a:rPr lang="en-US" sz="2000" dirty="0">
                <a:solidFill>
                  <a:srgbClr val="0070C0"/>
                </a:solidFill>
                <a:latin typeface="Arial" pitchFamily="34" charset="0"/>
                <a:cs typeface="Arial" pitchFamily="34" charset="0"/>
              </a:rPr>
              <a:t>no system process is deadlocked. </a:t>
            </a:r>
          </a:p>
          <a:p>
            <a:pPr marL="342900" indent="-342900" algn="l">
              <a:lnSpc>
                <a:spcPct val="150000"/>
              </a:lnSpc>
              <a:buFont typeface="Arial" panose="020B0604020202020204" pitchFamily="34" charset="0"/>
              <a:buChar char="•"/>
            </a:pPr>
            <a:r>
              <a:rPr lang="en-US" sz="2000" dirty="0">
                <a:latin typeface="Arial" pitchFamily="34" charset="0"/>
                <a:cs typeface="Arial" pitchFamily="34" charset="0"/>
              </a:rPr>
              <a:t>If the graph does contain a cycle, </a:t>
            </a:r>
            <a:r>
              <a:rPr lang="en-US" sz="2000" dirty="0">
                <a:solidFill>
                  <a:srgbClr val="FF0000"/>
                </a:solidFill>
                <a:latin typeface="Arial" pitchFamily="34" charset="0"/>
                <a:cs typeface="Arial" pitchFamily="34" charset="0"/>
              </a:rPr>
              <a:t>then a deadlock may exist.</a:t>
            </a:r>
            <a:endParaRPr lang="en-IN" sz="2000" dirty="0">
              <a:solidFill>
                <a:srgbClr val="FF0000"/>
              </a:solidFill>
              <a:latin typeface="Arial" pitchFamily="34" charset="0"/>
              <a:cs typeface="Arial" pitchFamily="34" charset="0"/>
            </a:endParaRPr>
          </a:p>
        </p:txBody>
      </p:sp>
    </p:spTree>
    <p:extLst>
      <p:ext uri="{BB962C8B-B14F-4D97-AF65-F5344CB8AC3E}">
        <p14:creationId xmlns:p14="http://schemas.microsoft.com/office/powerpoint/2010/main" val="73016129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4771593"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Resource Allocation Graph</a:t>
            </a:r>
          </a:p>
        </p:txBody>
      </p:sp>
      <p:sp>
        <p:nvSpPr>
          <p:cNvPr id="4" name="TextBox 3">
            <a:extLst>
              <a:ext uri="{FF2B5EF4-FFF2-40B4-BE49-F238E27FC236}">
                <a16:creationId xmlns:a16="http://schemas.microsoft.com/office/drawing/2014/main" id="{6F238F0D-239F-7204-29C8-DDF614E91DA2}"/>
              </a:ext>
            </a:extLst>
          </p:cNvPr>
          <p:cNvSpPr txBox="1"/>
          <p:nvPr/>
        </p:nvSpPr>
        <p:spPr>
          <a:xfrm>
            <a:off x="787940" y="1410035"/>
            <a:ext cx="10311319" cy="4190314"/>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000" dirty="0">
                <a:latin typeface="Arial" pitchFamily="34" charset="0"/>
                <a:cs typeface="Arial" pitchFamily="34" charset="0"/>
              </a:rPr>
              <a:t>If each resource type has exactly one instance, then a cycle implies that a deadlock has occurred. If the cycle involves only a set of resource types, each with only a single instance, then a deadlock has occurred. Each process involved in the cycle is deadlocked. In this case, a cycle in the graph is both a necessary and a sufficient condition for the existence of deadlock.</a:t>
            </a:r>
          </a:p>
          <a:p>
            <a:pPr marL="342900" indent="-342900" algn="just">
              <a:lnSpc>
                <a:spcPct val="150000"/>
              </a:lnSpc>
              <a:buFont typeface="Arial" panose="020B0604020202020204" pitchFamily="34" charset="0"/>
              <a:buChar char="•"/>
            </a:pPr>
            <a:endParaRPr lang="en-US" sz="2000" dirty="0">
              <a:latin typeface="Arial" pitchFamily="34" charset="0"/>
              <a:cs typeface="Arial" pitchFamily="34" charset="0"/>
            </a:endParaRPr>
          </a:p>
          <a:p>
            <a:pPr marL="342900" indent="-342900" algn="just">
              <a:lnSpc>
                <a:spcPct val="150000"/>
              </a:lnSpc>
              <a:buFont typeface="Arial" panose="020B0604020202020204" pitchFamily="34" charset="0"/>
              <a:buChar char="•"/>
            </a:pPr>
            <a:r>
              <a:rPr lang="en-US" sz="2000" dirty="0">
                <a:latin typeface="Arial" pitchFamily="34" charset="0"/>
                <a:cs typeface="Arial" pitchFamily="34" charset="0"/>
              </a:rPr>
              <a:t>If each resource type has several instances, then a cycle does not necessarily imply that a deadlock has occurred. In this case, a cycle in the graph is a necessary but not a sufficient condition for deadlock.</a:t>
            </a:r>
            <a:endParaRPr lang="en-IN" sz="2000" dirty="0">
              <a:latin typeface="Arial" pitchFamily="34" charset="0"/>
              <a:cs typeface="Arial" pitchFamily="34" charset="0"/>
            </a:endParaRPr>
          </a:p>
        </p:txBody>
      </p:sp>
    </p:spTree>
    <p:extLst>
      <p:ext uri="{BB962C8B-B14F-4D97-AF65-F5344CB8AC3E}">
        <p14:creationId xmlns:p14="http://schemas.microsoft.com/office/powerpoint/2010/main" val="106098700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4771593"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Resource Allocation Graph</a:t>
            </a:r>
          </a:p>
        </p:txBody>
      </p:sp>
      <p:pic>
        <p:nvPicPr>
          <p:cNvPr id="5" name="Picture 4">
            <a:extLst>
              <a:ext uri="{FF2B5EF4-FFF2-40B4-BE49-F238E27FC236}">
                <a16:creationId xmlns:a16="http://schemas.microsoft.com/office/drawing/2014/main" id="{DEBEC69E-5803-BA06-3118-CE2B5B2FF2FB}"/>
              </a:ext>
            </a:extLst>
          </p:cNvPr>
          <p:cNvPicPr>
            <a:picLocks noChangeAspect="1"/>
          </p:cNvPicPr>
          <p:nvPr/>
        </p:nvPicPr>
        <p:blipFill>
          <a:blip r:embed="rId3"/>
          <a:stretch>
            <a:fillRect/>
          </a:stretch>
        </p:blipFill>
        <p:spPr>
          <a:xfrm>
            <a:off x="763597" y="1719097"/>
            <a:ext cx="3662122" cy="3650571"/>
          </a:xfrm>
          <a:prstGeom prst="rect">
            <a:avLst/>
          </a:prstGeom>
        </p:spPr>
      </p:pic>
      <p:sp>
        <p:nvSpPr>
          <p:cNvPr id="7" name="TextBox 6">
            <a:extLst>
              <a:ext uri="{FF2B5EF4-FFF2-40B4-BE49-F238E27FC236}">
                <a16:creationId xmlns:a16="http://schemas.microsoft.com/office/drawing/2014/main" id="{EBF25E66-8846-953F-B138-98F67402EAF9}"/>
              </a:ext>
            </a:extLst>
          </p:cNvPr>
          <p:cNvSpPr txBox="1"/>
          <p:nvPr/>
        </p:nvSpPr>
        <p:spPr>
          <a:xfrm>
            <a:off x="5099726" y="1719097"/>
            <a:ext cx="6094378" cy="2343655"/>
          </a:xfrm>
          <a:prstGeom prst="rect">
            <a:avLst/>
          </a:prstGeom>
          <a:noFill/>
        </p:spPr>
        <p:txBody>
          <a:bodyPr wrap="square">
            <a:spAutoFit/>
          </a:bodyPr>
          <a:lstStyle/>
          <a:p>
            <a:pPr algn="just">
              <a:lnSpc>
                <a:spcPct val="150000"/>
              </a:lnSpc>
            </a:pPr>
            <a:r>
              <a:rPr lang="en-US" sz="2000" dirty="0">
                <a:latin typeface="Arial" pitchFamily="34" charset="0"/>
                <a:cs typeface="Arial" pitchFamily="34" charset="0"/>
              </a:rPr>
              <a:t>Suppose that process P3 requests an instance of resource type R2. </a:t>
            </a:r>
          </a:p>
          <a:p>
            <a:pPr algn="just">
              <a:lnSpc>
                <a:spcPct val="150000"/>
              </a:lnSpc>
            </a:pPr>
            <a:r>
              <a:rPr lang="en-US" sz="2000" dirty="0">
                <a:latin typeface="Arial" pitchFamily="34" charset="0"/>
                <a:cs typeface="Arial" pitchFamily="34" charset="0"/>
              </a:rPr>
              <a:t>Since no resource instance is currently available, we add a request edge P3→ R2 to the graph. </a:t>
            </a:r>
          </a:p>
          <a:p>
            <a:pPr algn="just">
              <a:lnSpc>
                <a:spcPct val="150000"/>
              </a:lnSpc>
            </a:pPr>
            <a:r>
              <a:rPr lang="en-US" sz="2000" dirty="0">
                <a:latin typeface="Arial" pitchFamily="34" charset="0"/>
                <a:cs typeface="Arial" pitchFamily="34" charset="0"/>
              </a:rPr>
              <a:t>At this point, two minimal cycles exist in the </a:t>
            </a:r>
            <a:r>
              <a:rPr lang="en-IN" sz="2000" dirty="0">
                <a:latin typeface="Arial" pitchFamily="34" charset="0"/>
                <a:cs typeface="Arial" pitchFamily="34" charset="0"/>
              </a:rPr>
              <a:t>system:</a:t>
            </a:r>
          </a:p>
        </p:txBody>
      </p:sp>
      <p:pic>
        <p:nvPicPr>
          <p:cNvPr id="9" name="Picture 8">
            <a:extLst>
              <a:ext uri="{FF2B5EF4-FFF2-40B4-BE49-F238E27FC236}">
                <a16:creationId xmlns:a16="http://schemas.microsoft.com/office/drawing/2014/main" id="{D618CCCD-C5D1-4EC3-E37D-2A053F082747}"/>
              </a:ext>
            </a:extLst>
          </p:cNvPr>
          <p:cNvPicPr>
            <a:picLocks noChangeAspect="1"/>
          </p:cNvPicPr>
          <p:nvPr/>
        </p:nvPicPr>
        <p:blipFill>
          <a:blip r:embed="rId4"/>
          <a:stretch>
            <a:fillRect/>
          </a:stretch>
        </p:blipFill>
        <p:spPr>
          <a:xfrm>
            <a:off x="5099726" y="4393474"/>
            <a:ext cx="5753618" cy="976193"/>
          </a:xfrm>
          <a:prstGeom prst="rect">
            <a:avLst/>
          </a:prstGeom>
          <a:ln>
            <a:solidFill>
              <a:srgbClr val="FF6600"/>
            </a:solidFill>
          </a:ln>
        </p:spPr>
      </p:pic>
    </p:spTree>
    <p:extLst>
      <p:ext uri="{BB962C8B-B14F-4D97-AF65-F5344CB8AC3E}">
        <p14:creationId xmlns:p14="http://schemas.microsoft.com/office/powerpoint/2010/main" val="206957881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4771593"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Resource Allocation Graph</a:t>
            </a:r>
          </a:p>
        </p:txBody>
      </p:sp>
      <p:pic>
        <p:nvPicPr>
          <p:cNvPr id="5" name="Picture 4">
            <a:extLst>
              <a:ext uri="{FF2B5EF4-FFF2-40B4-BE49-F238E27FC236}">
                <a16:creationId xmlns:a16="http://schemas.microsoft.com/office/drawing/2014/main" id="{DEBEC69E-5803-BA06-3118-CE2B5B2FF2FB}"/>
              </a:ext>
            </a:extLst>
          </p:cNvPr>
          <p:cNvPicPr>
            <a:picLocks noChangeAspect="1"/>
          </p:cNvPicPr>
          <p:nvPr/>
        </p:nvPicPr>
        <p:blipFill>
          <a:blip r:embed="rId3"/>
          <a:stretch>
            <a:fillRect/>
          </a:stretch>
        </p:blipFill>
        <p:spPr>
          <a:xfrm>
            <a:off x="763597" y="1719097"/>
            <a:ext cx="3662122" cy="3650571"/>
          </a:xfrm>
          <a:prstGeom prst="rect">
            <a:avLst/>
          </a:prstGeom>
        </p:spPr>
      </p:pic>
      <p:sp>
        <p:nvSpPr>
          <p:cNvPr id="4" name="TextBox 3">
            <a:extLst>
              <a:ext uri="{FF2B5EF4-FFF2-40B4-BE49-F238E27FC236}">
                <a16:creationId xmlns:a16="http://schemas.microsoft.com/office/drawing/2014/main" id="{93070BED-11F2-53B2-45F0-EA1F990EF501}"/>
              </a:ext>
            </a:extLst>
          </p:cNvPr>
          <p:cNvSpPr txBox="1"/>
          <p:nvPr/>
        </p:nvSpPr>
        <p:spPr>
          <a:xfrm>
            <a:off x="4516065" y="2043687"/>
            <a:ext cx="6859193" cy="2805320"/>
          </a:xfrm>
          <a:prstGeom prst="rect">
            <a:avLst/>
          </a:prstGeom>
          <a:noFill/>
        </p:spPr>
        <p:txBody>
          <a:bodyPr wrap="square">
            <a:spAutoFit/>
          </a:bodyPr>
          <a:lstStyle/>
          <a:p>
            <a:pPr algn="just">
              <a:lnSpc>
                <a:spcPct val="150000"/>
              </a:lnSpc>
            </a:pPr>
            <a:r>
              <a:rPr lang="en-US" sz="2000" dirty="0">
                <a:latin typeface="Arial" pitchFamily="34" charset="0"/>
                <a:cs typeface="Arial" pitchFamily="34" charset="0"/>
              </a:rPr>
              <a:t>Processes P1, P2, and P3 are deadlocked. Process P2 is waiting for the resource R3, which is held by process P3. Process P3 is waiting for either process P1 or process P2 to release resource R2. </a:t>
            </a:r>
          </a:p>
          <a:p>
            <a:pPr algn="just">
              <a:lnSpc>
                <a:spcPct val="150000"/>
              </a:lnSpc>
            </a:pPr>
            <a:r>
              <a:rPr lang="en-US" sz="2000" dirty="0">
                <a:latin typeface="Arial" pitchFamily="34" charset="0"/>
                <a:cs typeface="Arial" pitchFamily="34" charset="0"/>
              </a:rPr>
              <a:t>In addition, process P1 is waiting for process P2 to release resource R1.</a:t>
            </a:r>
            <a:endParaRPr lang="en-IN" sz="2000" dirty="0">
              <a:latin typeface="Arial" pitchFamily="34" charset="0"/>
              <a:cs typeface="Arial" pitchFamily="34" charset="0"/>
            </a:endParaRPr>
          </a:p>
        </p:txBody>
      </p:sp>
    </p:spTree>
    <p:extLst>
      <p:ext uri="{BB962C8B-B14F-4D97-AF65-F5344CB8AC3E}">
        <p14:creationId xmlns:p14="http://schemas.microsoft.com/office/powerpoint/2010/main" val="356100917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98335-6F39-88C7-D5CF-791CE5EE291F}"/>
            </a:ext>
          </a:extLst>
        </p:cNvPr>
        <p:cNvGrpSpPr/>
        <p:nvPr/>
      </p:nvGrpSpPr>
      <p:grpSpPr>
        <a:xfrm>
          <a:off x="0" y="0"/>
          <a:ext cx="0" cy="0"/>
          <a:chOff x="0" y="0"/>
          <a:chExt cx="0" cy="0"/>
        </a:xfrm>
      </p:grpSpPr>
      <p:sp>
        <p:nvSpPr>
          <p:cNvPr id="9" name="Text Placeholder 3">
            <a:extLst>
              <a:ext uri="{FF2B5EF4-FFF2-40B4-BE49-F238E27FC236}">
                <a16:creationId xmlns:a16="http://schemas.microsoft.com/office/drawing/2014/main" id="{887863A9-46E6-1AAC-795A-3963862AF469}"/>
              </a:ext>
            </a:extLst>
          </p:cNvPr>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5" name="Subtitle 4">
            <a:extLst>
              <a:ext uri="{FF2B5EF4-FFF2-40B4-BE49-F238E27FC236}">
                <a16:creationId xmlns:a16="http://schemas.microsoft.com/office/drawing/2014/main" id="{0ECCED30-4574-CA0F-18BE-FDA3DAACCDC4}"/>
              </a:ext>
            </a:extLst>
          </p:cNvPr>
          <p:cNvSpPr>
            <a:spLocks noGrp="1"/>
          </p:cNvSpPr>
          <p:nvPr>
            <p:ph type="subTitle" idx="1"/>
          </p:nvPr>
        </p:nvSpPr>
        <p:spPr>
          <a:xfrm>
            <a:off x="1047345" y="2601119"/>
            <a:ext cx="9144000" cy="1655762"/>
          </a:xfrm>
        </p:spPr>
        <p:txBody>
          <a:bodyPr>
            <a:normAutofit/>
          </a:bodyPr>
          <a:lstStyle/>
          <a:p>
            <a:r>
              <a:rPr lang="en-US" sz="4400" dirty="0">
                <a:solidFill>
                  <a:srgbClr val="0066CC"/>
                </a:solidFill>
              </a:rPr>
              <a:t>Lecture - 3</a:t>
            </a:r>
          </a:p>
        </p:txBody>
      </p:sp>
    </p:spTree>
    <p:extLst>
      <p:ext uri="{BB962C8B-B14F-4D97-AF65-F5344CB8AC3E}">
        <p14:creationId xmlns:p14="http://schemas.microsoft.com/office/powerpoint/2010/main" val="340643616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Recap</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latin typeface="+mj-lt"/>
                <a:ea typeface="+mj-ea"/>
                <a:cs typeface="+mj-cs"/>
              </a:rPr>
              <a:t>Deadlock Characterization</a:t>
            </a:r>
          </a:p>
          <a:p>
            <a:r>
              <a:rPr lang="en-US" sz="3000" dirty="0">
                <a:latin typeface="+mj-lt"/>
                <a:ea typeface="+mj-ea"/>
                <a:cs typeface="+mj-cs"/>
              </a:rPr>
              <a:t>Resource Allocation Graph</a:t>
            </a:r>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21141174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Agenda</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latin typeface="+mj-lt"/>
                <a:ea typeface="+mj-ea"/>
                <a:cs typeface="+mj-cs"/>
              </a:rPr>
              <a:t>Methods of Handling Deadlock</a:t>
            </a:r>
          </a:p>
          <a:p>
            <a:pPr lvl="1"/>
            <a:r>
              <a:rPr lang="en-US" sz="2600" dirty="0">
                <a:latin typeface="+mj-lt"/>
                <a:ea typeface="+mj-ea"/>
                <a:cs typeface="+mj-cs"/>
              </a:rPr>
              <a:t>Prevention</a:t>
            </a:r>
          </a:p>
          <a:p>
            <a:pPr lvl="1"/>
            <a:r>
              <a:rPr lang="en-US" sz="2600" dirty="0">
                <a:latin typeface="+mj-lt"/>
                <a:ea typeface="+mj-ea"/>
                <a:cs typeface="+mj-cs"/>
              </a:rPr>
              <a:t>Avoidance</a:t>
            </a:r>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331985414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5491440"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Methods of Handling Deadlock</a:t>
            </a:r>
          </a:p>
        </p:txBody>
      </p:sp>
      <p:sp>
        <p:nvSpPr>
          <p:cNvPr id="2" name="Rectangle 1">
            <a:extLst>
              <a:ext uri="{FF2B5EF4-FFF2-40B4-BE49-F238E27FC236}">
                <a16:creationId xmlns:a16="http://schemas.microsoft.com/office/drawing/2014/main" id="{D657B9C2-1630-A827-CE44-3120924ABC87}"/>
              </a:ext>
            </a:extLst>
          </p:cNvPr>
          <p:cNvSpPr/>
          <p:nvPr/>
        </p:nvSpPr>
        <p:spPr>
          <a:xfrm>
            <a:off x="934614" y="1723417"/>
            <a:ext cx="8303419" cy="2769989"/>
          </a:xfrm>
          <a:prstGeom prst="rect">
            <a:avLst/>
          </a:prstGeom>
        </p:spPr>
        <p:txBody>
          <a:bodyPr wrap="square">
            <a:spAutoFit/>
          </a:bodyPr>
          <a:lstStyle/>
          <a:p>
            <a:pPr>
              <a:lnSpc>
                <a:spcPct val="150000"/>
              </a:lnSpc>
            </a:pPr>
            <a:r>
              <a:rPr lang="en-US" sz="2000" dirty="0">
                <a:latin typeface="Arial" pitchFamily="34" charset="0"/>
                <a:cs typeface="Arial" pitchFamily="34" charset="0"/>
              </a:rPr>
              <a:t>The following are the methods using which we can handle deadlocks.: </a:t>
            </a:r>
          </a:p>
          <a:p>
            <a:pPr marL="457200" indent="-457200">
              <a:lnSpc>
                <a:spcPct val="150000"/>
              </a:lnSpc>
              <a:buFont typeface="+mj-lt"/>
              <a:buAutoNum type="arabicPeriod"/>
            </a:pPr>
            <a:r>
              <a:rPr lang="en-GB" sz="2400" dirty="0">
                <a:solidFill>
                  <a:srgbClr val="0070C0"/>
                </a:solidFill>
                <a:latin typeface="Arial" pitchFamily="34" charset="0"/>
                <a:cs typeface="Arial" pitchFamily="34" charset="0"/>
              </a:rPr>
              <a:t>Prevention </a:t>
            </a:r>
          </a:p>
          <a:p>
            <a:pPr marL="457200" lvl="0" indent="-457200">
              <a:lnSpc>
                <a:spcPct val="150000"/>
              </a:lnSpc>
              <a:buFont typeface="+mj-lt"/>
              <a:buAutoNum type="arabicPeriod"/>
            </a:pPr>
            <a:r>
              <a:rPr lang="en-GB" sz="2400" dirty="0">
                <a:solidFill>
                  <a:srgbClr val="0070C0"/>
                </a:solidFill>
                <a:latin typeface="Arial" pitchFamily="34" charset="0"/>
                <a:cs typeface="Arial" pitchFamily="34" charset="0"/>
              </a:rPr>
              <a:t>Avoidance</a:t>
            </a:r>
            <a:endParaRPr lang="en-IN" sz="2400" dirty="0">
              <a:solidFill>
                <a:srgbClr val="0070C0"/>
              </a:solidFill>
              <a:latin typeface="Arial" pitchFamily="34" charset="0"/>
              <a:cs typeface="Arial" pitchFamily="34" charset="0"/>
            </a:endParaRPr>
          </a:p>
          <a:p>
            <a:pPr marL="457200" lvl="0" indent="-457200">
              <a:lnSpc>
                <a:spcPct val="150000"/>
              </a:lnSpc>
              <a:buFont typeface="+mj-lt"/>
              <a:buAutoNum type="arabicPeriod"/>
            </a:pPr>
            <a:r>
              <a:rPr lang="en-GB" sz="2400" dirty="0">
                <a:solidFill>
                  <a:srgbClr val="0070C0"/>
                </a:solidFill>
                <a:latin typeface="Arial" pitchFamily="34" charset="0"/>
                <a:cs typeface="Arial" pitchFamily="34" charset="0"/>
              </a:rPr>
              <a:t>Detection </a:t>
            </a:r>
            <a:endParaRPr lang="en-IN" sz="2400" dirty="0">
              <a:solidFill>
                <a:srgbClr val="0070C0"/>
              </a:solidFill>
              <a:latin typeface="Arial" pitchFamily="34" charset="0"/>
              <a:cs typeface="Arial" pitchFamily="34" charset="0"/>
            </a:endParaRPr>
          </a:p>
          <a:p>
            <a:pPr marL="457200" lvl="0" indent="-457200">
              <a:lnSpc>
                <a:spcPct val="150000"/>
              </a:lnSpc>
              <a:buFont typeface="+mj-lt"/>
              <a:buAutoNum type="arabicPeriod"/>
            </a:pPr>
            <a:r>
              <a:rPr lang="en-GB" sz="2400" dirty="0">
                <a:solidFill>
                  <a:srgbClr val="0070C0"/>
                </a:solidFill>
                <a:latin typeface="Arial" pitchFamily="34" charset="0"/>
                <a:cs typeface="Arial" pitchFamily="34" charset="0"/>
              </a:rPr>
              <a:t>Do Nothing  </a:t>
            </a:r>
            <a:endParaRPr lang="en-IN" sz="2400" dirty="0">
              <a:solidFill>
                <a:srgbClr val="0070C0"/>
              </a:solidFill>
              <a:latin typeface="Arial" pitchFamily="34" charset="0"/>
              <a:cs typeface="Arial" pitchFamily="34" charset="0"/>
            </a:endParaRPr>
          </a:p>
        </p:txBody>
      </p:sp>
    </p:spTree>
    <p:extLst>
      <p:ext uri="{BB962C8B-B14F-4D97-AF65-F5344CB8AC3E}">
        <p14:creationId xmlns:p14="http://schemas.microsoft.com/office/powerpoint/2010/main" val="403747059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5491440"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Methods of Handling Deadlock</a:t>
            </a:r>
          </a:p>
        </p:txBody>
      </p:sp>
      <p:sp>
        <p:nvSpPr>
          <p:cNvPr id="4" name="Rectangle 3">
            <a:extLst>
              <a:ext uri="{FF2B5EF4-FFF2-40B4-BE49-F238E27FC236}">
                <a16:creationId xmlns:a16="http://schemas.microsoft.com/office/drawing/2014/main" id="{005ADCCE-08F3-0952-48C1-F04899750B05}"/>
              </a:ext>
            </a:extLst>
          </p:cNvPr>
          <p:cNvSpPr/>
          <p:nvPr/>
        </p:nvSpPr>
        <p:spPr>
          <a:xfrm>
            <a:off x="691423" y="1684507"/>
            <a:ext cx="10427292" cy="3231654"/>
          </a:xfrm>
          <a:prstGeom prst="rect">
            <a:avLst/>
          </a:prstGeom>
        </p:spPr>
        <p:txBody>
          <a:bodyPr wrap="square">
            <a:spAutoFit/>
          </a:bodyPr>
          <a:lstStyle/>
          <a:p>
            <a:pPr>
              <a:lnSpc>
                <a:spcPct val="150000"/>
              </a:lnSpc>
            </a:pPr>
            <a:r>
              <a:rPr lang="en-US" sz="2000" dirty="0">
                <a:latin typeface="Arial" pitchFamily="34" charset="0"/>
                <a:cs typeface="Arial" pitchFamily="34" charset="0"/>
              </a:rPr>
              <a:t>Deadlock prevention provides a set of methods for ensuring that at least one of the necessary conditions cannot hold.</a:t>
            </a:r>
            <a:endParaRPr lang="en-IN" sz="2000" dirty="0">
              <a:latin typeface="Arial" pitchFamily="34" charset="0"/>
              <a:cs typeface="Arial" pitchFamily="34" charset="0"/>
            </a:endParaRPr>
          </a:p>
          <a:p>
            <a:pPr marL="457200" lvl="0" indent="-457200">
              <a:lnSpc>
                <a:spcPct val="150000"/>
              </a:lnSpc>
              <a:buFont typeface="+mj-lt"/>
              <a:buAutoNum type="arabicPeriod"/>
            </a:pPr>
            <a:r>
              <a:rPr lang="en-US" sz="2400" dirty="0">
                <a:solidFill>
                  <a:srgbClr val="0070C0"/>
                </a:solidFill>
                <a:latin typeface="Arial" pitchFamily="34" charset="0"/>
                <a:cs typeface="Arial" pitchFamily="34" charset="0"/>
              </a:rPr>
              <a:t>Mutual Exclusion</a:t>
            </a:r>
            <a:endParaRPr lang="en-IN" sz="2400" dirty="0">
              <a:solidFill>
                <a:srgbClr val="0070C0"/>
              </a:solidFill>
              <a:latin typeface="Arial" pitchFamily="34" charset="0"/>
              <a:cs typeface="Arial" pitchFamily="34" charset="0"/>
            </a:endParaRPr>
          </a:p>
          <a:p>
            <a:pPr marL="457200" lvl="0" indent="-457200">
              <a:lnSpc>
                <a:spcPct val="150000"/>
              </a:lnSpc>
              <a:buFont typeface="+mj-lt"/>
              <a:buAutoNum type="arabicPeriod"/>
            </a:pPr>
            <a:r>
              <a:rPr lang="en-US" sz="2400" dirty="0">
                <a:solidFill>
                  <a:srgbClr val="0070C0"/>
                </a:solidFill>
                <a:latin typeface="Arial" pitchFamily="34" charset="0"/>
                <a:cs typeface="Arial" pitchFamily="34" charset="0"/>
              </a:rPr>
              <a:t>Hold &amp; Wait </a:t>
            </a:r>
            <a:endParaRPr lang="en-IN" sz="2400" dirty="0">
              <a:solidFill>
                <a:srgbClr val="0070C0"/>
              </a:solidFill>
              <a:latin typeface="Arial" pitchFamily="34" charset="0"/>
              <a:cs typeface="Arial" pitchFamily="34" charset="0"/>
            </a:endParaRPr>
          </a:p>
          <a:p>
            <a:pPr marL="457200" lvl="0" indent="-457200">
              <a:lnSpc>
                <a:spcPct val="150000"/>
              </a:lnSpc>
              <a:buFont typeface="+mj-lt"/>
              <a:buAutoNum type="arabicPeriod"/>
            </a:pPr>
            <a:r>
              <a:rPr lang="en-US" sz="2400" dirty="0">
                <a:solidFill>
                  <a:srgbClr val="0070C0"/>
                </a:solidFill>
                <a:latin typeface="Arial" pitchFamily="34" charset="0"/>
                <a:cs typeface="Arial" pitchFamily="34" charset="0"/>
              </a:rPr>
              <a:t>No Preemption </a:t>
            </a:r>
            <a:endParaRPr lang="en-IN" sz="2400" dirty="0">
              <a:solidFill>
                <a:srgbClr val="0070C0"/>
              </a:solidFill>
              <a:latin typeface="Arial" pitchFamily="34" charset="0"/>
              <a:cs typeface="Arial" pitchFamily="34" charset="0"/>
            </a:endParaRPr>
          </a:p>
          <a:p>
            <a:pPr marL="457200" lvl="0" indent="-457200">
              <a:lnSpc>
                <a:spcPct val="150000"/>
              </a:lnSpc>
              <a:buFont typeface="+mj-lt"/>
              <a:buAutoNum type="arabicPeriod"/>
            </a:pPr>
            <a:r>
              <a:rPr lang="en-US" sz="2400" dirty="0">
                <a:solidFill>
                  <a:srgbClr val="0070C0"/>
                </a:solidFill>
                <a:latin typeface="Arial" pitchFamily="34" charset="0"/>
                <a:cs typeface="Arial" pitchFamily="34" charset="0"/>
              </a:rPr>
              <a:t>Circular Wait </a:t>
            </a:r>
            <a:endParaRPr lang="en-IN" sz="2400" dirty="0">
              <a:solidFill>
                <a:srgbClr val="0070C0"/>
              </a:solidFill>
              <a:latin typeface="Arial" pitchFamily="34" charset="0"/>
              <a:cs typeface="Arial" pitchFamily="34" charset="0"/>
            </a:endParaRPr>
          </a:p>
        </p:txBody>
      </p:sp>
      <p:sp>
        <p:nvSpPr>
          <p:cNvPr id="6" name="TextBox 5">
            <a:extLst>
              <a:ext uri="{FF2B5EF4-FFF2-40B4-BE49-F238E27FC236}">
                <a16:creationId xmlns:a16="http://schemas.microsoft.com/office/drawing/2014/main" id="{ECA425F9-A626-DC45-3E3C-D60499E5E3D2}"/>
              </a:ext>
            </a:extLst>
          </p:cNvPr>
          <p:cNvSpPr txBox="1"/>
          <p:nvPr/>
        </p:nvSpPr>
        <p:spPr>
          <a:xfrm>
            <a:off x="691423" y="1214019"/>
            <a:ext cx="6094378" cy="369332"/>
          </a:xfrm>
          <a:prstGeom prst="rect">
            <a:avLst/>
          </a:prstGeom>
          <a:noFill/>
        </p:spPr>
        <p:txBody>
          <a:bodyPr wrap="square">
            <a:spAutoFit/>
          </a:bodyPr>
          <a:lstStyle/>
          <a:p>
            <a:r>
              <a:rPr lang="en-US" sz="1800" dirty="0">
                <a:highlight>
                  <a:srgbClr val="FFFF00"/>
                </a:highlight>
                <a:latin typeface="Arial" pitchFamily="34" charset="0"/>
                <a:cs typeface="Arial" pitchFamily="34" charset="0"/>
              </a:rPr>
              <a:t>Deadlock Prevention </a:t>
            </a:r>
            <a:endParaRPr lang="en-IN" dirty="0">
              <a:highlight>
                <a:srgbClr val="FFFF00"/>
              </a:highlight>
            </a:endParaRPr>
          </a:p>
        </p:txBody>
      </p:sp>
    </p:spTree>
    <p:extLst>
      <p:ext uri="{BB962C8B-B14F-4D97-AF65-F5344CB8AC3E}">
        <p14:creationId xmlns:p14="http://schemas.microsoft.com/office/powerpoint/2010/main" val="319877452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5491440"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Methods of Handling Deadlock</a:t>
            </a:r>
          </a:p>
        </p:txBody>
      </p:sp>
      <p:sp>
        <p:nvSpPr>
          <p:cNvPr id="5" name="TextBox 4">
            <a:extLst>
              <a:ext uri="{FF2B5EF4-FFF2-40B4-BE49-F238E27FC236}">
                <a16:creationId xmlns:a16="http://schemas.microsoft.com/office/drawing/2014/main" id="{B239140A-D756-C62F-C5E0-2F990A552420}"/>
              </a:ext>
            </a:extLst>
          </p:cNvPr>
          <p:cNvSpPr txBox="1"/>
          <p:nvPr/>
        </p:nvSpPr>
        <p:spPr>
          <a:xfrm>
            <a:off x="780469" y="1804640"/>
            <a:ext cx="6094378" cy="646331"/>
          </a:xfrm>
          <a:prstGeom prst="rect">
            <a:avLst/>
          </a:prstGeom>
          <a:noFill/>
        </p:spPr>
        <p:txBody>
          <a:bodyPr wrap="square">
            <a:spAutoFit/>
          </a:bodyPr>
          <a:lstStyle/>
          <a:p>
            <a:r>
              <a:rPr lang="en-IN" sz="1800" b="0" i="0" u="none" strike="noStrike" baseline="0" dirty="0">
                <a:solidFill>
                  <a:srgbClr val="231F20"/>
                </a:solidFill>
                <a:highlight>
                  <a:srgbClr val="99FFCC"/>
                </a:highlight>
                <a:latin typeface="HelveticaNeue-MediumExt"/>
              </a:rPr>
              <a:t>Mutual Exclusion</a:t>
            </a:r>
          </a:p>
          <a:p>
            <a:endParaRPr lang="en-IN" dirty="0">
              <a:highlight>
                <a:srgbClr val="99FFCC"/>
              </a:highlight>
            </a:endParaRPr>
          </a:p>
        </p:txBody>
      </p:sp>
      <p:sp>
        <p:nvSpPr>
          <p:cNvPr id="8" name="TextBox 7">
            <a:extLst>
              <a:ext uri="{FF2B5EF4-FFF2-40B4-BE49-F238E27FC236}">
                <a16:creationId xmlns:a16="http://schemas.microsoft.com/office/drawing/2014/main" id="{A77AB482-00BE-A6D4-FAA3-B185B385AF94}"/>
              </a:ext>
            </a:extLst>
          </p:cNvPr>
          <p:cNvSpPr txBox="1"/>
          <p:nvPr/>
        </p:nvSpPr>
        <p:spPr>
          <a:xfrm>
            <a:off x="780468" y="2345860"/>
            <a:ext cx="10594789" cy="400110"/>
          </a:xfrm>
          <a:prstGeom prst="rect">
            <a:avLst/>
          </a:prstGeom>
          <a:noFill/>
        </p:spPr>
        <p:txBody>
          <a:bodyPr wrap="square">
            <a:spAutoFit/>
          </a:bodyPr>
          <a:lstStyle/>
          <a:p>
            <a:pPr algn="just"/>
            <a:r>
              <a:rPr lang="en-US" altLang="en-US" sz="2000" dirty="0"/>
              <a:t>not required for sharable resources (e.g., read-only files); must hold for non-sharable resources</a:t>
            </a:r>
            <a:endParaRPr lang="en-IN" sz="2000" dirty="0"/>
          </a:p>
        </p:txBody>
      </p:sp>
      <p:sp>
        <p:nvSpPr>
          <p:cNvPr id="10" name="TextBox 9">
            <a:extLst>
              <a:ext uri="{FF2B5EF4-FFF2-40B4-BE49-F238E27FC236}">
                <a16:creationId xmlns:a16="http://schemas.microsoft.com/office/drawing/2014/main" id="{9784357E-5EF7-CEE5-0D2B-1FF6F4F053A7}"/>
              </a:ext>
            </a:extLst>
          </p:cNvPr>
          <p:cNvSpPr txBox="1"/>
          <p:nvPr/>
        </p:nvSpPr>
        <p:spPr>
          <a:xfrm>
            <a:off x="780468" y="2992191"/>
            <a:ext cx="9676765" cy="2445285"/>
          </a:xfrm>
          <a:prstGeom prst="rect">
            <a:avLst/>
          </a:prstGeom>
          <a:noFill/>
        </p:spPr>
        <p:txBody>
          <a:bodyPr wrap="square">
            <a:spAutoFit/>
          </a:bodyPr>
          <a:lstStyle/>
          <a:p>
            <a:r>
              <a:rPr lang="en-US" altLang="en-US" dirty="0">
                <a:solidFill>
                  <a:srgbClr val="231F20"/>
                </a:solidFill>
                <a:highlight>
                  <a:srgbClr val="99FFCC"/>
                </a:highlight>
                <a:latin typeface="HelveticaNeue-MediumExt"/>
              </a:rPr>
              <a:t>Hold and Wait </a:t>
            </a:r>
          </a:p>
          <a:p>
            <a:r>
              <a:rPr lang="en-US" altLang="en-US" dirty="0"/>
              <a:t>must guarantee that whenever a process requests a resource, it does not hold any other resources</a:t>
            </a:r>
          </a:p>
          <a:p>
            <a:pPr marL="800100" lvl="1" indent="-342900" algn="just">
              <a:lnSpc>
                <a:spcPct val="150000"/>
              </a:lnSpc>
              <a:buFont typeface="Arial" panose="020B0604020202020204" pitchFamily="34" charset="0"/>
              <a:buChar char="•"/>
            </a:pPr>
            <a:r>
              <a:rPr lang="en-US" altLang="en-US" sz="2000" dirty="0"/>
              <a:t>Require the process to request and be allocated all its resources before it begins execution, or allow the process to request resources only when the process has none allocated to it.</a:t>
            </a:r>
          </a:p>
          <a:p>
            <a:pPr marL="800100" lvl="1" indent="-342900" algn="just">
              <a:lnSpc>
                <a:spcPct val="150000"/>
              </a:lnSpc>
              <a:buFont typeface="Arial" panose="020B0604020202020204" pitchFamily="34" charset="0"/>
              <a:buChar char="•"/>
            </a:pPr>
            <a:r>
              <a:rPr lang="en-US" altLang="en-US" sz="2000" dirty="0"/>
              <a:t>Low resource utilization; starvation possible</a:t>
            </a:r>
            <a:endParaRPr lang="en-IN" sz="2000" dirty="0"/>
          </a:p>
        </p:txBody>
      </p:sp>
      <p:sp>
        <p:nvSpPr>
          <p:cNvPr id="11" name="TextBox 10">
            <a:extLst>
              <a:ext uri="{FF2B5EF4-FFF2-40B4-BE49-F238E27FC236}">
                <a16:creationId xmlns:a16="http://schemas.microsoft.com/office/drawing/2014/main" id="{D6E696FB-90F7-F19A-CACF-3AF77F44C247}"/>
              </a:ext>
            </a:extLst>
          </p:cNvPr>
          <p:cNvSpPr txBox="1"/>
          <p:nvPr/>
        </p:nvSpPr>
        <p:spPr>
          <a:xfrm>
            <a:off x="691423" y="1214019"/>
            <a:ext cx="6094378" cy="369332"/>
          </a:xfrm>
          <a:prstGeom prst="rect">
            <a:avLst/>
          </a:prstGeom>
          <a:noFill/>
        </p:spPr>
        <p:txBody>
          <a:bodyPr wrap="square">
            <a:spAutoFit/>
          </a:bodyPr>
          <a:lstStyle/>
          <a:p>
            <a:r>
              <a:rPr lang="en-US" sz="1800" dirty="0">
                <a:highlight>
                  <a:srgbClr val="FFFF00"/>
                </a:highlight>
                <a:latin typeface="Arial" pitchFamily="34" charset="0"/>
                <a:cs typeface="Arial" pitchFamily="34" charset="0"/>
              </a:rPr>
              <a:t>Deadlock Prevention </a:t>
            </a:r>
            <a:endParaRPr lang="en-IN" dirty="0">
              <a:highlight>
                <a:srgbClr val="FFFF00"/>
              </a:highlight>
            </a:endParaRPr>
          </a:p>
        </p:txBody>
      </p:sp>
    </p:spTree>
    <p:extLst>
      <p:ext uri="{BB962C8B-B14F-4D97-AF65-F5344CB8AC3E}">
        <p14:creationId xmlns:p14="http://schemas.microsoft.com/office/powerpoint/2010/main" val="175358236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5491440"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Methods of Handling Deadlock</a:t>
            </a:r>
          </a:p>
        </p:txBody>
      </p:sp>
      <p:sp>
        <p:nvSpPr>
          <p:cNvPr id="2" name="Rectangle 1027">
            <a:extLst>
              <a:ext uri="{FF2B5EF4-FFF2-40B4-BE49-F238E27FC236}">
                <a16:creationId xmlns:a16="http://schemas.microsoft.com/office/drawing/2014/main" id="{732EB95A-7238-5775-3AC9-B8CB8D250259}"/>
              </a:ext>
            </a:extLst>
          </p:cNvPr>
          <p:cNvSpPr txBox="1">
            <a:spLocks noChangeArrowheads="1"/>
          </p:cNvSpPr>
          <p:nvPr/>
        </p:nvSpPr>
        <p:spPr>
          <a:xfrm>
            <a:off x="827471" y="1670708"/>
            <a:ext cx="10537058" cy="4446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1800" dirty="0">
                <a:solidFill>
                  <a:srgbClr val="231F20"/>
                </a:solidFill>
                <a:highlight>
                  <a:srgbClr val="99FFCC"/>
                </a:highlight>
                <a:latin typeface="HelveticaNeue-MediumExt"/>
              </a:rPr>
              <a:t>No Preemption –</a:t>
            </a:r>
          </a:p>
          <a:p>
            <a:pPr lvl="1" algn="just">
              <a:lnSpc>
                <a:spcPct val="150000"/>
              </a:lnSpc>
            </a:pPr>
            <a:r>
              <a:rPr lang="en-US" altLang="en-US" sz="2000" dirty="0"/>
              <a:t>If a process that is holding some resources requests another resource that cannot be immediately allocated to it, then all resources currently being held are released</a:t>
            </a:r>
          </a:p>
          <a:p>
            <a:pPr lvl="1" algn="just">
              <a:lnSpc>
                <a:spcPct val="150000"/>
              </a:lnSpc>
            </a:pPr>
            <a:r>
              <a:rPr lang="en-US" altLang="en-US" sz="2000" dirty="0"/>
              <a:t>Preempted resources are added to the list of resources for which the process is waiting</a:t>
            </a:r>
          </a:p>
          <a:p>
            <a:pPr lvl="1" algn="just">
              <a:lnSpc>
                <a:spcPct val="150000"/>
              </a:lnSpc>
            </a:pPr>
            <a:r>
              <a:rPr lang="en-US" altLang="en-US" sz="2000" dirty="0"/>
              <a:t>Process will be restarted only when it can regain its old resources, as well as the new ones that it is requesting</a:t>
            </a:r>
          </a:p>
          <a:p>
            <a:r>
              <a:rPr lang="en-US" altLang="en-US" sz="1800" dirty="0">
                <a:solidFill>
                  <a:srgbClr val="231F20"/>
                </a:solidFill>
                <a:highlight>
                  <a:srgbClr val="99FFCC"/>
                </a:highlight>
                <a:latin typeface="HelveticaNeue-MediumExt"/>
              </a:rPr>
              <a:t>Circular Wait </a:t>
            </a:r>
          </a:p>
          <a:p>
            <a:pPr lvl="1" algn="just">
              <a:lnSpc>
                <a:spcPct val="150000"/>
              </a:lnSpc>
            </a:pPr>
            <a:r>
              <a:rPr lang="en-US" altLang="en-US" sz="2000" dirty="0"/>
              <a:t>impose a total ordering of all resource types, and require that each process requests resources in an increasing order of enumeration</a:t>
            </a:r>
          </a:p>
          <a:p>
            <a:pPr lvl="1"/>
            <a:endParaRPr lang="en-US" altLang="en-US" dirty="0"/>
          </a:p>
        </p:txBody>
      </p:sp>
      <p:sp>
        <p:nvSpPr>
          <p:cNvPr id="4" name="TextBox 3">
            <a:extLst>
              <a:ext uri="{FF2B5EF4-FFF2-40B4-BE49-F238E27FC236}">
                <a16:creationId xmlns:a16="http://schemas.microsoft.com/office/drawing/2014/main" id="{9D9856ED-4E87-4BA4-08D4-7E965BB98D44}"/>
              </a:ext>
            </a:extLst>
          </p:cNvPr>
          <p:cNvSpPr txBox="1"/>
          <p:nvPr/>
        </p:nvSpPr>
        <p:spPr>
          <a:xfrm>
            <a:off x="691423" y="1214019"/>
            <a:ext cx="6094378" cy="369332"/>
          </a:xfrm>
          <a:prstGeom prst="rect">
            <a:avLst/>
          </a:prstGeom>
          <a:noFill/>
        </p:spPr>
        <p:txBody>
          <a:bodyPr wrap="square">
            <a:spAutoFit/>
          </a:bodyPr>
          <a:lstStyle/>
          <a:p>
            <a:r>
              <a:rPr lang="en-US" sz="1800" dirty="0">
                <a:highlight>
                  <a:srgbClr val="FFFF00"/>
                </a:highlight>
                <a:latin typeface="Arial" pitchFamily="34" charset="0"/>
                <a:cs typeface="Arial" pitchFamily="34" charset="0"/>
              </a:rPr>
              <a:t>Deadlock Prevention </a:t>
            </a:r>
            <a:endParaRPr lang="en-IN" dirty="0">
              <a:highlight>
                <a:srgbClr val="FFFF00"/>
              </a:highlight>
            </a:endParaRPr>
          </a:p>
        </p:txBody>
      </p:sp>
    </p:spTree>
    <p:extLst>
      <p:ext uri="{BB962C8B-B14F-4D97-AF65-F5344CB8AC3E}">
        <p14:creationId xmlns:p14="http://schemas.microsoft.com/office/powerpoint/2010/main" val="271701544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5491440"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Methods of Handling Deadlock</a:t>
            </a:r>
          </a:p>
        </p:txBody>
      </p:sp>
      <p:sp>
        <p:nvSpPr>
          <p:cNvPr id="4" name="TextBox 3">
            <a:extLst>
              <a:ext uri="{FF2B5EF4-FFF2-40B4-BE49-F238E27FC236}">
                <a16:creationId xmlns:a16="http://schemas.microsoft.com/office/drawing/2014/main" id="{9005CDA4-8E87-EA64-8F45-40CF74BDFF05}"/>
              </a:ext>
            </a:extLst>
          </p:cNvPr>
          <p:cNvSpPr txBox="1"/>
          <p:nvPr/>
        </p:nvSpPr>
        <p:spPr>
          <a:xfrm>
            <a:off x="691423" y="1214019"/>
            <a:ext cx="2392245" cy="369332"/>
          </a:xfrm>
          <a:prstGeom prst="rect">
            <a:avLst/>
          </a:prstGeom>
          <a:noFill/>
        </p:spPr>
        <p:txBody>
          <a:bodyPr wrap="square">
            <a:spAutoFit/>
          </a:bodyPr>
          <a:lstStyle/>
          <a:p>
            <a:r>
              <a:rPr lang="en-US" sz="1800" dirty="0">
                <a:highlight>
                  <a:srgbClr val="FFFF00"/>
                </a:highlight>
                <a:latin typeface="Arial" pitchFamily="34" charset="0"/>
                <a:cs typeface="Arial" pitchFamily="34" charset="0"/>
              </a:rPr>
              <a:t>Deadlock Avoidance</a:t>
            </a:r>
            <a:endParaRPr lang="en-IN" dirty="0">
              <a:highlight>
                <a:srgbClr val="FFFF00"/>
              </a:highlight>
            </a:endParaRPr>
          </a:p>
        </p:txBody>
      </p:sp>
      <p:sp>
        <p:nvSpPr>
          <p:cNvPr id="6" name="TextBox 5">
            <a:extLst>
              <a:ext uri="{FF2B5EF4-FFF2-40B4-BE49-F238E27FC236}">
                <a16:creationId xmlns:a16="http://schemas.microsoft.com/office/drawing/2014/main" id="{8DE05E68-4216-7C77-AC98-73DE93B5DFF4}"/>
              </a:ext>
            </a:extLst>
          </p:cNvPr>
          <p:cNvSpPr txBox="1"/>
          <p:nvPr/>
        </p:nvSpPr>
        <p:spPr>
          <a:xfrm>
            <a:off x="615274" y="1836945"/>
            <a:ext cx="10759984" cy="3359061"/>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t>Deadlock-prevention algorithms, prevent deadlocks by limiting how requests can be made. </a:t>
            </a:r>
          </a:p>
          <a:p>
            <a:pPr marL="342900" indent="-342900" algn="just">
              <a:lnSpc>
                <a:spcPct val="150000"/>
              </a:lnSpc>
              <a:buFont typeface="Arial" panose="020B0604020202020204" pitchFamily="34" charset="0"/>
              <a:buChar char="•"/>
            </a:pPr>
            <a:r>
              <a:rPr lang="en-US" sz="2400" dirty="0"/>
              <a:t>The limits ensure that at least one of the necessary conditions for deadlock cannot occur. </a:t>
            </a:r>
          </a:p>
          <a:p>
            <a:pPr marL="342900" indent="-342900" algn="just">
              <a:lnSpc>
                <a:spcPct val="150000"/>
              </a:lnSpc>
              <a:buFont typeface="Arial" panose="020B0604020202020204" pitchFamily="34" charset="0"/>
              <a:buChar char="•"/>
            </a:pPr>
            <a:r>
              <a:rPr lang="en-US" sz="2400" dirty="0"/>
              <a:t>Possible side effects of preventing deadlocks by this method, however, are low device utilization and </a:t>
            </a:r>
            <a:r>
              <a:rPr lang="en-IN" sz="2400" dirty="0"/>
              <a:t>reduced system throughput.</a:t>
            </a:r>
            <a:endParaRPr lang="en-IN" sz="2000" dirty="0"/>
          </a:p>
        </p:txBody>
      </p:sp>
    </p:spTree>
    <p:extLst>
      <p:ext uri="{BB962C8B-B14F-4D97-AF65-F5344CB8AC3E}">
        <p14:creationId xmlns:p14="http://schemas.microsoft.com/office/powerpoint/2010/main" val="263360047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5491440"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Methods of Handling Deadlock</a:t>
            </a:r>
          </a:p>
        </p:txBody>
      </p:sp>
      <p:sp>
        <p:nvSpPr>
          <p:cNvPr id="4" name="TextBox 3">
            <a:extLst>
              <a:ext uri="{FF2B5EF4-FFF2-40B4-BE49-F238E27FC236}">
                <a16:creationId xmlns:a16="http://schemas.microsoft.com/office/drawing/2014/main" id="{9005CDA4-8E87-EA64-8F45-40CF74BDFF05}"/>
              </a:ext>
            </a:extLst>
          </p:cNvPr>
          <p:cNvSpPr txBox="1"/>
          <p:nvPr/>
        </p:nvSpPr>
        <p:spPr>
          <a:xfrm>
            <a:off x="691423" y="1214019"/>
            <a:ext cx="2392245" cy="369332"/>
          </a:xfrm>
          <a:prstGeom prst="rect">
            <a:avLst/>
          </a:prstGeom>
          <a:noFill/>
        </p:spPr>
        <p:txBody>
          <a:bodyPr wrap="square">
            <a:spAutoFit/>
          </a:bodyPr>
          <a:lstStyle/>
          <a:p>
            <a:r>
              <a:rPr lang="en-US" sz="1800" dirty="0">
                <a:highlight>
                  <a:srgbClr val="FFFF00"/>
                </a:highlight>
                <a:latin typeface="Arial" pitchFamily="34" charset="0"/>
                <a:cs typeface="Arial" pitchFamily="34" charset="0"/>
              </a:rPr>
              <a:t>Deadlock Avoidance</a:t>
            </a:r>
            <a:endParaRPr lang="en-IN" dirty="0">
              <a:highlight>
                <a:srgbClr val="FFFF00"/>
              </a:highlight>
            </a:endParaRPr>
          </a:p>
        </p:txBody>
      </p:sp>
      <p:sp>
        <p:nvSpPr>
          <p:cNvPr id="5" name="TextBox 4">
            <a:extLst>
              <a:ext uri="{FF2B5EF4-FFF2-40B4-BE49-F238E27FC236}">
                <a16:creationId xmlns:a16="http://schemas.microsoft.com/office/drawing/2014/main" id="{332D10A9-09F7-58CE-930A-87DCB5340DDA}"/>
              </a:ext>
            </a:extLst>
          </p:cNvPr>
          <p:cNvSpPr txBox="1"/>
          <p:nvPr/>
        </p:nvSpPr>
        <p:spPr>
          <a:xfrm>
            <a:off x="856034" y="1859340"/>
            <a:ext cx="10661515" cy="3359061"/>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t>An alternative method for avoiding deadlocks is to require additional information about how resources are to be requested. </a:t>
            </a:r>
          </a:p>
          <a:p>
            <a:pPr marL="342900" indent="-342900" algn="just">
              <a:lnSpc>
                <a:spcPct val="150000"/>
              </a:lnSpc>
              <a:buFont typeface="Arial" panose="020B0604020202020204" pitchFamily="34" charset="0"/>
              <a:buChar char="•"/>
            </a:pPr>
            <a:r>
              <a:rPr lang="en-US" sz="2400" dirty="0"/>
              <a:t>For example, in a system with one tape drive and one printer, the system might need to know that process P will request first the tape drive and then the printer before releasing both resources, whereas process Q will request first the printer and then the </a:t>
            </a:r>
            <a:r>
              <a:rPr lang="en-IN" sz="2400" dirty="0"/>
              <a:t>tape drive.</a:t>
            </a:r>
          </a:p>
        </p:txBody>
      </p:sp>
    </p:spTree>
    <p:extLst>
      <p:ext uri="{BB962C8B-B14F-4D97-AF65-F5344CB8AC3E}">
        <p14:creationId xmlns:p14="http://schemas.microsoft.com/office/powerpoint/2010/main" val="349193995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5491440"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Methods of Handling Deadlock</a:t>
            </a:r>
          </a:p>
        </p:txBody>
      </p:sp>
      <p:sp>
        <p:nvSpPr>
          <p:cNvPr id="4" name="TextBox 3">
            <a:extLst>
              <a:ext uri="{FF2B5EF4-FFF2-40B4-BE49-F238E27FC236}">
                <a16:creationId xmlns:a16="http://schemas.microsoft.com/office/drawing/2014/main" id="{9005CDA4-8E87-EA64-8F45-40CF74BDFF05}"/>
              </a:ext>
            </a:extLst>
          </p:cNvPr>
          <p:cNvSpPr txBox="1"/>
          <p:nvPr/>
        </p:nvSpPr>
        <p:spPr>
          <a:xfrm>
            <a:off x="691423" y="1214019"/>
            <a:ext cx="2392245" cy="369332"/>
          </a:xfrm>
          <a:prstGeom prst="rect">
            <a:avLst/>
          </a:prstGeom>
          <a:noFill/>
        </p:spPr>
        <p:txBody>
          <a:bodyPr wrap="square">
            <a:spAutoFit/>
          </a:bodyPr>
          <a:lstStyle/>
          <a:p>
            <a:r>
              <a:rPr lang="en-US" sz="1800" dirty="0">
                <a:highlight>
                  <a:srgbClr val="FFFF00"/>
                </a:highlight>
                <a:latin typeface="Arial" pitchFamily="34" charset="0"/>
                <a:cs typeface="Arial" pitchFamily="34" charset="0"/>
              </a:rPr>
              <a:t>Deadlock Avoidance</a:t>
            </a:r>
            <a:endParaRPr lang="en-IN" dirty="0">
              <a:highlight>
                <a:srgbClr val="FFFF00"/>
              </a:highlight>
            </a:endParaRPr>
          </a:p>
        </p:txBody>
      </p:sp>
      <p:sp>
        <p:nvSpPr>
          <p:cNvPr id="2" name="Rectangle 3">
            <a:extLst>
              <a:ext uri="{FF2B5EF4-FFF2-40B4-BE49-F238E27FC236}">
                <a16:creationId xmlns:a16="http://schemas.microsoft.com/office/drawing/2014/main" id="{FAFF871C-7B55-9D98-DDE0-6352CFA2A2DA}"/>
              </a:ext>
            </a:extLst>
          </p:cNvPr>
          <p:cNvSpPr txBox="1">
            <a:spLocks noChangeArrowheads="1"/>
          </p:cNvSpPr>
          <p:nvPr/>
        </p:nvSpPr>
        <p:spPr>
          <a:xfrm>
            <a:off x="1415104" y="2258582"/>
            <a:ext cx="10228905" cy="37830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US" altLang="en-US" sz="2400" dirty="0"/>
              <a:t>Simplest and most useful model requires that each process declare the maximum number of resources of each type that it may need</a:t>
            </a:r>
          </a:p>
          <a:p>
            <a:pPr algn="just">
              <a:lnSpc>
                <a:spcPct val="150000"/>
              </a:lnSpc>
            </a:pPr>
            <a:r>
              <a:rPr lang="en-US" altLang="en-US" sz="2400" dirty="0"/>
              <a:t>The deadlock-avoidance algorithm dynamically examines the resource-allocation state to ensure that there can never be a circular-wait condition</a:t>
            </a:r>
          </a:p>
          <a:p>
            <a:pPr algn="just">
              <a:lnSpc>
                <a:spcPct val="150000"/>
              </a:lnSpc>
            </a:pPr>
            <a:r>
              <a:rPr lang="en-US" altLang="en-US" sz="2400" dirty="0"/>
              <a:t>Resource-allocation state is defined by the number of available and allocated resources, and the maximum demands of the processes</a:t>
            </a:r>
          </a:p>
        </p:txBody>
      </p:sp>
      <p:sp>
        <p:nvSpPr>
          <p:cNvPr id="6" name="Text Box 4">
            <a:extLst>
              <a:ext uri="{FF2B5EF4-FFF2-40B4-BE49-F238E27FC236}">
                <a16:creationId xmlns:a16="http://schemas.microsoft.com/office/drawing/2014/main" id="{FE57371A-76CE-5C45-03AC-EF8E502EC061}"/>
              </a:ext>
            </a:extLst>
          </p:cNvPr>
          <p:cNvSpPr txBox="1">
            <a:spLocks noChangeArrowheads="1"/>
          </p:cNvSpPr>
          <p:nvPr/>
        </p:nvSpPr>
        <p:spPr bwMode="auto">
          <a:xfrm>
            <a:off x="1410063" y="1647739"/>
            <a:ext cx="100905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pPr>
            <a:r>
              <a:rPr lang="en-US" altLang="en-US" sz="2400" dirty="0">
                <a:latin typeface="+mn-lt"/>
                <a:ea typeface="+mn-ea"/>
              </a:rPr>
              <a:t>Requires that the system has some additional a priori information available</a:t>
            </a:r>
          </a:p>
        </p:txBody>
      </p:sp>
    </p:spTree>
    <p:extLst>
      <p:ext uri="{BB962C8B-B14F-4D97-AF65-F5344CB8AC3E}">
        <p14:creationId xmlns:p14="http://schemas.microsoft.com/office/powerpoint/2010/main" val="11661646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5491440"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Methods of Handling Deadlock</a:t>
            </a:r>
          </a:p>
        </p:txBody>
      </p:sp>
      <p:sp>
        <p:nvSpPr>
          <p:cNvPr id="4" name="TextBox 3">
            <a:extLst>
              <a:ext uri="{FF2B5EF4-FFF2-40B4-BE49-F238E27FC236}">
                <a16:creationId xmlns:a16="http://schemas.microsoft.com/office/drawing/2014/main" id="{9005CDA4-8E87-EA64-8F45-40CF74BDFF05}"/>
              </a:ext>
            </a:extLst>
          </p:cNvPr>
          <p:cNvSpPr txBox="1"/>
          <p:nvPr/>
        </p:nvSpPr>
        <p:spPr>
          <a:xfrm>
            <a:off x="691423" y="1214019"/>
            <a:ext cx="3763845" cy="369332"/>
          </a:xfrm>
          <a:prstGeom prst="rect">
            <a:avLst/>
          </a:prstGeom>
          <a:noFill/>
        </p:spPr>
        <p:txBody>
          <a:bodyPr wrap="square">
            <a:spAutoFit/>
          </a:bodyPr>
          <a:lstStyle/>
          <a:p>
            <a:r>
              <a:rPr lang="en-US" sz="1800" dirty="0">
                <a:highlight>
                  <a:srgbClr val="FFFF00"/>
                </a:highlight>
                <a:latin typeface="Arial" pitchFamily="34" charset="0"/>
                <a:cs typeface="Arial" pitchFamily="34" charset="0"/>
              </a:rPr>
              <a:t>Deadlock Avoidance – </a:t>
            </a:r>
            <a:r>
              <a:rPr lang="en-US" sz="1800" dirty="0">
                <a:highlight>
                  <a:srgbClr val="99FFCC"/>
                </a:highlight>
                <a:latin typeface="Arial" pitchFamily="34" charset="0"/>
                <a:cs typeface="Arial" pitchFamily="34" charset="0"/>
              </a:rPr>
              <a:t>Safe State</a:t>
            </a:r>
            <a:endParaRPr lang="en-IN" dirty="0">
              <a:highlight>
                <a:srgbClr val="99FFCC"/>
              </a:highlight>
            </a:endParaRPr>
          </a:p>
        </p:txBody>
      </p:sp>
      <p:sp>
        <p:nvSpPr>
          <p:cNvPr id="5" name="Rectangle 3">
            <a:extLst>
              <a:ext uri="{FF2B5EF4-FFF2-40B4-BE49-F238E27FC236}">
                <a16:creationId xmlns:a16="http://schemas.microsoft.com/office/drawing/2014/main" id="{A524D5CD-ED79-6437-4648-CB19DBA8CE5F}"/>
              </a:ext>
            </a:extLst>
          </p:cNvPr>
          <p:cNvSpPr txBox="1">
            <a:spLocks noChangeArrowheads="1"/>
          </p:cNvSpPr>
          <p:nvPr/>
        </p:nvSpPr>
        <p:spPr>
          <a:xfrm>
            <a:off x="1039519" y="1659311"/>
            <a:ext cx="10335739" cy="34963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US" altLang="en-US" sz="2400" dirty="0"/>
              <a:t>When a process requests an available resource, system must decide if immediate allocation leaves the system in a safe state</a:t>
            </a:r>
          </a:p>
          <a:p>
            <a:pPr algn="just">
              <a:lnSpc>
                <a:spcPct val="150000"/>
              </a:lnSpc>
            </a:pPr>
            <a:r>
              <a:rPr lang="en-US" altLang="en-US" sz="2400" dirty="0"/>
              <a:t>System is in </a:t>
            </a:r>
            <a:r>
              <a:rPr lang="en-US" altLang="en-US" sz="2400" b="1" dirty="0">
                <a:solidFill>
                  <a:srgbClr val="3366FF"/>
                </a:solidFill>
              </a:rPr>
              <a:t>safe state</a:t>
            </a:r>
            <a:r>
              <a:rPr lang="en-US" altLang="en-US" sz="2400" dirty="0">
                <a:solidFill>
                  <a:srgbClr val="3366FF"/>
                </a:solidFill>
              </a:rPr>
              <a:t> </a:t>
            </a:r>
            <a:r>
              <a:rPr lang="en-US" altLang="en-US" sz="2400" dirty="0"/>
              <a:t>if there exists a sequence &lt;</a:t>
            </a:r>
            <a:r>
              <a:rPr lang="en-US" altLang="en-US" sz="2400" i="1" dirty="0"/>
              <a:t>P</a:t>
            </a:r>
            <a:r>
              <a:rPr lang="en-US" altLang="en-US" sz="2400" i="1" baseline="-25000" dirty="0"/>
              <a:t>1</a:t>
            </a:r>
            <a:r>
              <a:rPr lang="en-US" altLang="en-US" sz="2400" i="1" dirty="0"/>
              <a:t>, P</a:t>
            </a:r>
            <a:r>
              <a:rPr lang="en-US" altLang="en-US" sz="2400" i="1" baseline="-25000" dirty="0"/>
              <a:t>2</a:t>
            </a:r>
            <a:r>
              <a:rPr lang="en-US" altLang="en-US" sz="2400" i="1" dirty="0"/>
              <a:t>, …, </a:t>
            </a:r>
            <a:r>
              <a:rPr lang="en-US" altLang="en-US" sz="2400" i="1" dirty="0" err="1"/>
              <a:t>P</a:t>
            </a:r>
            <a:r>
              <a:rPr lang="en-US" altLang="en-US" sz="2400" i="1" baseline="-25000" dirty="0" err="1"/>
              <a:t>n</a:t>
            </a:r>
            <a:r>
              <a:rPr lang="en-US" altLang="en-US" sz="2400" dirty="0"/>
              <a:t>&gt; of ALL the  processes  in the systems such that  for each P</a:t>
            </a:r>
            <a:r>
              <a:rPr lang="en-US" altLang="en-US" sz="2400" baseline="-25000" dirty="0"/>
              <a:t>i</a:t>
            </a:r>
            <a:r>
              <a:rPr lang="en-US" altLang="en-US" sz="2400" dirty="0"/>
              <a:t>, the resources that P</a:t>
            </a:r>
            <a:r>
              <a:rPr lang="en-US" altLang="en-US" sz="2400" baseline="-25000" dirty="0"/>
              <a:t>i </a:t>
            </a:r>
            <a:r>
              <a:rPr lang="en-US" altLang="en-US" sz="2400" dirty="0"/>
              <a:t>can still request can be satisfied by currently available resources + resources held by all the </a:t>
            </a:r>
            <a:r>
              <a:rPr lang="en-US" altLang="en-US" sz="2400" i="1" dirty="0" err="1"/>
              <a:t>P</a:t>
            </a:r>
            <a:r>
              <a:rPr lang="en-US" altLang="en-US" sz="2400" i="1" baseline="-25000" dirty="0" err="1"/>
              <a:t>j</a:t>
            </a:r>
            <a:r>
              <a:rPr lang="en-US" altLang="en-US" sz="2400" dirty="0"/>
              <a:t>, with</a:t>
            </a:r>
            <a:r>
              <a:rPr lang="en-US" altLang="en-US" sz="2400" i="1" dirty="0"/>
              <a:t> j </a:t>
            </a:r>
            <a:r>
              <a:rPr lang="en-US" altLang="en-US" sz="2400" dirty="0"/>
              <a:t>&lt; </a:t>
            </a:r>
            <a:r>
              <a:rPr lang="en-US" altLang="en-US" sz="2400" i="1" dirty="0"/>
              <a:t>I</a:t>
            </a:r>
            <a:endParaRPr lang="en-US" altLang="en-US" sz="2400" dirty="0"/>
          </a:p>
        </p:txBody>
      </p:sp>
    </p:spTree>
    <p:extLst>
      <p:ext uri="{BB962C8B-B14F-4D97-AF65-F5344CB8AC3E}">
        <p14:creationId xmlns:p14="http://schemas.microsoft.com/office/powerpoint/2010/main" val="99822514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5491440"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Methods of Handling Deadlock</a:t>
            </a:r>
          </a:p>
        </p:txBody>
      </p:sp>
      <p:sp>
        <p:nvSpPr>
          <p:cNvPr id="4" name="TextBox 3">
            <a:extLst>
              <a:ext uri="{FF2B5EF4-FFF2-40B4-BE49-F238E27FC236}">
                <a16:creationId xmlns:a16="http://schemas.microsoft.com/office/drawing/2014/main" id="{9005CDA4-8E87-EA64-8F45-40CF74BDFF05}"/>
              </a:ext>
            </a:extLst>
          </p:cNvPr>
          <p:cNvSpPr txBox="1"/>
          <p:nvPr/>
        </p:nvSpPr>
        <p:spPr>
          <a:xfrm>
            <a:off x="691423" y="1214019"/>
            <a:ext cx="3763845" cy="369332"/>
          </a:xfrm>
          <a:prstGeom prst="rect">
            <a:avLst/>
          </a:prstGeom>
          <a:noFill/>
        </p:spPr>
        <p:txBody>
          <a:bodyPr wrap="square">
            <a:spAutoFit/>
          </a:bodyPr>
          <a:lstStyle/>
          <a:p>
            <a:r>
              <a:rPr lang="en-US" sz="1800" dirty="0">
                <a:highlight>
                  <a:srgbClr val="FFFF00"/>
                </a:highlight>
                <a:latin typeface="Arial" pitchFamily="34" charset="0"/>
                <a:cs typeface="Arial" pitchFamily="34" charset="0"/>
              </a:rPr>
              <a:t>Deadlock Avoidance – </a:t>
            </a:r>
            <a:r>
              <a:rPr lang="en-US" sz="1800" dirty="0">
                <a:highlight>
                  <a:srgbClr val="99FFCC"/>
                </a:highlight>
                <a:latin typeface="Arial" pitchFamily="34" charset="0"/>
                <a:cs typeface="Arial" pitchFamily="34" charset="0"/>
              </a:rPr>
              <a:t>Safe State</a:t>
            </a:r>
            <a:endParaRPr lang="en-IN" dirty="0">
              <a:highlight>
                <a:srgbClr val="99FFCC"/>
              </a:highlight>
            </a:endParaRPr>
          </a:p>
        </p:txBody>
      </p:sp>
      <p:sp>
        <p:nvSpPr>
          <p:cNvPr id="5" name="Rectangle 3">
            <a:extLst>
              <a:ext uri="{FF2B5EF4-FFF2-40B4-BE49-F238E27FC236}">
                <a16:creationId xmlns:a16="http://schemas.microsoft.com/office/drawing/2014/main" id="{A524D5CD-ED79-6437-4648-CB19DBA8CE5F}"/>
              </a:ext>
            </a:extLst>
          </p:cNvPr>
          <p:cNvSpPr txBox="1">
            <a:spLocks noChangeArrowheads="1"/>
          </p:cNvSpPr>
          <p:nvPr/>
        </p:nvSpPr>
        <p:spPr>
          <a:xfrm>
            <a:off x="1039519" y="1659311"/>
            <a:ext cx="10335739" cy="49974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US" altLang="en-US" sz="2400" dirty="0"/>
              <a:t>That is:</a:t>
            </a:r>
          </a:p>
          <a:p>
            <a:pPr lvl="1" algn="just">
              <a:lnSpc>
                <a:spcPct val="150000"/>
              </a:lnSpc>
            </a:pPr>
            <a:r>
              <a:rPr lang="en-US" altLang="en-US" sz="2000" dirty="0"/>
              <a:t>If P</a:t>
            </a:r>
            <a:r>
              <a:rPr lang="en-US" altLang="en-US" sz="2000" baseline="-25000" dirty="0"/>
              <a:t>i</a:t>
            </a:r>
            <a:r>
              <a:rPr lang="en-US" altLang="en-US" sz="2000" dirty="0"/>
              <a:t> resource needs are not immediately available, then </a:t>
            </a:r>
            <a:r>
              <a:rPr lang="en-US" altLang="en-US" sz="2000" i="1" dirty="0"/>
              <a:t>P</a:t>
            </a:r>
            <a:r>
              <a:rPr lang="en-US" altLang="en-US" sz="2000" i="1" baseline="-25000" dirty="0"/>
              <a:t>i</a:t>
            </a:r>
            <a:r>
              <a:rPr lang="en-US" altLang="en-US" sz="2000" dirty="0"/>
              <a:t> can wait until all </a:t>
            </a:r>
            <a:r>
              <a:rPr lang="en-US" altLang="en-US" sz="2000" i="1" dirty="0" err="1"/>
              <a:t>P</a:t>
            </a:r>
            <a:r>
              <a:rPr lang="en-US" altLang="en-US" sz="2000" i="1" baseline="-25000" dirty="0" err="1"/>
              <a:t>j</a:t>
            </a:r>
            <a:r>
              <a:rPr lang="en-US" altLang="en-US" sz="2000" i="1" dirty="0"/>
              <a:t> </a:t>
            </a:r>
            <a:r>
              <a:rPr lang="en-US" altLang="en-US" sz="2000" dirty="0"/>
              <a:t>have finished</a:t>
            </a:r>
          </a:p>
          <a:p>
            <a:pPr lvl="1" algn="just">
              <a:lnSpc>
                <a:spcPct val="150000"/>
              </a:lnSpc>
            </a:pPr>
            <a:r>
              <a:rPr lang="en-US" altLang="en-US" sz="2000" dirty="0"/>
              <a:t>When </a:t>
            </a:r>
            <a:r>
              <a:rPr lang="en-US" altLang="en-US" sz="2000" i="1" dirty="0" err="1"/>
              <a:t>P</a:t>
            </a:r>
            <a:r>
              <a:rPr lang="en-US" altLang="en-US" sz="2000" i="1" baseline="-25000" dirty="0" err="1"/>
              <a:t>j</a:t>
            </a:r>
            <a:r>
              <a:rPr lang="en-US" altLang="en-US" sz="2000" dirty="0"/>
              <a:t> is finished, </a:t>
            </a:r>
            <a:r>
              <a:rPr lang="en-US" altLang="en-US" sz="2000" i="1" dirty="0"/>
              <a:t>P</a:t>
            </a:r>
            <a:r>
              <a:rPr lang="en-US" altLang="en-US" sz="2000" i="1" baseline="-25000" dirty="0"/>
              <a:t>i</a:t>
            </a:r>
            <a:r>
              <a:rPr lang="en-US" altLang="en-US" sz="2000" dirty="0"/>
              <a:t> can obtain needed resources, execute, return allocated resources, and terminate</a:t>
            </a:r>
          </a:p>
          <a:p>
            <a:pPr lvl="1" algn="just">
              <a:lnSpc>
                <a:spcPct val="150000"/>
              </a:lnSpc>
            </a:pPr>
            <a:r>
              <a:rPr lang="en-US" altLang="en-US" sz="2000" dirty="0"/>
              <a:t>When </a:t>
            </a:r>
            <a:r>
              <a:rPr lang="en-US" altLang="en-US" sz="2000" i="1" dirty="0"/>
              <a:t>P</a:t>
            </a:r>
            <a:r>
              <a:rPr lang="en-US" altLang="en-US" sz="2000" i="1" baseline="-25000" dirty="0"/>
              <a:t>i</a:t>
            </a:r>
            <a:r>
              <a:rPr lang="en-US" altLang="en-US" sz="2000" dirty="0"/>
              <a:t> terminates, </a:t>
            </a:r>
            <a:r>
              <a:rPr lang="en-US" altLang="en-US" sz="2000" i="1" dirty="0"/>
              <a:t>P</a:t>
            </a:r>
            <a:r>
              <a:rPr lang="en-US" altLang="en-US" sz="2000" i="1" baseline="-25000" dirty="0"/>
              <a:t>i </a:t>
            </a:r>
            <a:r>
              <a:rPr lang="en-US" altLang="en-US" sz="2000" baseline="-25000" dirty="0"/>
              <a:t>+1</a:t>
            </a:r>
            <a:r>
              <a:rPr lang="en-US" altLang="en-US" sz="2000" dirty="0"/>
              <a:t> can obtain its needed resources, and so on </a:t>
            </a:r>
            <a:endParaRPr lang="en-US" altLang="en-US" dirty="0"/>
          </a:p>
        </p:txBody>
      </p:sp>
    </p:spTree>
    <p:extLst>
      <p:ext uri="{BB962C8B-B14F-4D97-AF65-F5344CB8AC3E}">
        <p14:creationId xmlns:p14="http://schemas.microsoft.com/office/powerpoint/2010/main" val="374830776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5491440"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Methods of Handling Deadlock</a:t>
            </a:r>
          </a:p>
        </p:txBody>
      </p:sp>
      <p:sp>
        <p:nvSpPr>
          <p:cNvPr id="4" name="TextBox 3">
            <a:extLst>
              <a:ext uri="{FF2B5EF4-FFF2-40B4-BE49-F238E27FC236}">
                <a16:creationId xmlns:a16="http://schemas.microsoft.com/office/drawing/2014/main" id="{9005CDA4-8E87-EA64-8F45-40CF74BDFF05}"/>
              </a:ext>
            </a:extLst>
          </p:cNvPr>
          <p:cNvSpPr txBox="1"/>
          <p:nvPr/>
        </p:nvSpPr>
        <p:spPr>
          <a:xfrm>
            <a:off x="691423" y="1214019"/>
            <a:ext cx="3763845" cy="369332"/>
          </a:xfrm>
          <a:prstGeom prst="rect">
            <a:avLst/>
          </a:prstGeom>
          <a:noFill/>
        </p:spPr>
        <p:txBody>
          <a:bodyPr wrap="square">
            <a:spAutoFit/>
          </a:bodyPr>
          <a:lstStyle/>
          <a:p>
            <a:r>
              <a:rPr lang="en-US" sz="1800" dirty="0">
                <a:highlight>
                  <a:srgbClr val="FFFF00"/>
                </a:highlight>
                <a:latin typeface="Arial" pitchFamily="34" charset="0"/>
                <a:cs typeface="Arial" pitchFamily="34" charset="0"/>
              </a:rPr>
              <a:t>Deadlock Avoidance – </a:t>
            </a:r>
            <a:r>
              <a:rPr lang="en-US" sz="1800" dirty="0">
                <a:highlight>
                  <a:srgbClr val="99FFCC"/>
                </a:highlight>
                <a:latin typeface="Arial" pitchFamily="34" charset="0"/>
                <a:cs typeface="Arial" pitchFamily="34" charset="0"/>
              </a:rPr>
              <a:t>Safe State</a:t>
            </a:r>
            <a:endParaRPr lang="en-IN" dirty="0">
              <a:highlight>
                <a:srgbClr val="99FFCC"/>
              </a:highlight>
            </a:endParaRPr>
          </a:p>
        </p:txBody>
      </p:sp>
      <p:sp>
        <p:nvSpPr>
          <p:cNvPr id="2" name="Rectangle 3">
            <a:extLst>
              <a:ext uri="{FF2B5EF4-FFF2-40B4-BE49-F238E27FC236}">
                <a16:creationId xmlns:a16="http://schemas.microsoft.com/office/drawing/2014/main" id="{72F904A3-31F6-9B4C-4E28-E4159626B9D4}"/>
              </a:ext>
            </a:extLst>
          </p:cNvPr>
          <p:cNvSpPr txBox="1">
            <a:spLocks noChangeArrowheads="1"/>
          </p:cNvSpPr>
          <p:nvPr/>
        </p:nvSpPr>
        <p:spPr>
          <a:xfrm>
            <a:off x="691423" y="2184477"/>
            <a:ext cx="6652960" cy="227047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dirty="0"/>
              <a:t>If a system is in safe state </a:t>
            </a:r>
            <a:r>
              <a:rPr lang="en-US" altLang="en-US" sz="2400" dirty="0">
                <a:sym typeface="Symbol" panose="05050102010706020507" pitchFamily="18" charset="2"/>
              </a:rPr>
              <a:t> no deadlocks</a:t>
            </a:r>
            <a:br>
              <a:rPr lang="en-US" altLang="en-US" sz="2400" dirty="0">
                <a:sym typeface="Symbol" panose="05050102010706020507" pitchFamily="18" charset="2"/>
              </a:rPr>
            </a:br>
            <a:endParaRPr lang="en-US" altLang="en-US" sz="2400" dirty="0">
              <a:sym typeface="Symbol" panose="05050102010706020507" pitchFamily="18" charset="2"/>
            </a:endParaRPr>
          </a:p>
          <a:p>
            <a:r>
              <a:rPr lang="en-US" altLang="en-US" sz="2400" dirty="0">
                <a:sym typeface="Symbol" panose="05050102010706020507" pitchFamily="18" charset="2"/>
              </a:rPr>
              <a:t>If a system is in unsafe state  possibility of deadlock</a:t>
            </a:r>
            <a:br>
              <a:rPr lang="en-US" altLang="en-US" sz="2400" dirty="0">
                <a:sym typeface="Symbol" panose="05050102010706020507" pitchFamily="18" charset="2"/>
              </a:rPr>
            </a:br>
            <a:endParaRPr lang="en-US" altLang="en-US" sz="2400" dirty="0">
              <a:sym typeface="Symbol" panose="05050102010706020507" pitchFamily="18" charset="2"/>
            </a:endParaRPr>
          </a:p>
          <a:p>
            <a:r>
              <a:rPr lang="en-US" altLang="en-US" sz="2400" dirty="0">
                <a:sym typeface="Symbol" panose="05050102010706020507" pitchFamily="18" charset="2"/>
              </a:rPr>
              <a:t>Avoidance  ensure that a system will never enter an unsafe state.</a:t>
            </a:r>
          </a:p>
        </p:txBody>
      </p:sp>
      <p:pic>
        <p:nvPicPr>
          <p:cNvPr id="6" name="Picture 5">
            <a:extLst>
              <a:ext uri="{FF2B5EF4-FFF2-40B4-BE49-F238E27FC236}">
                <a16:creationId xmlns:a16="http://schemas.microsoft.com/office/drawing/2014/main" id="{DF32DA90-BAC9-0260-59C8-D81F0A4B725A}"/>
              </a:ext>
            </a:extLst>
          </p:cNvPr>
          <p:cNvPicPr/>
          <p:nvPr/>
        </p:nvPicPr>
        <p:blipFill>
          <a:blip r:embed="rId3"/>
          <a:srcRect l="13437" t="1569" r="13684" b="2194"/>
          <a:stretch>
            <a:fillRect/>
          </a:stretch>
        </p:blipFill>
        <p:spPr bwMode="auto">
          <a:xfrm>
            <a:off x="7386593" y="1943100"/>
            <a:ext cx="3865010" cy="2971800"/>
          </a:xfrm>
          <a:prstGeom prst="rect">
            <a:avLst/>
          </a:prstGeom>
          <a:noFill/>
          <a:ln w="38160">
            <a:solidFill>
              <a:srgbClr val="CC6600"/>
            </a:solidFill>
            <a:miter lim="800000"/>
            <a:headEnd/>
            <a:tailEnd type="triangle" w="med" len="med"/>
          </a:ln>
        </p:spPr>
      </p:pic>
    </p:spTree>
    <p:extLst>
      <p:ext uri="{BB962C8B-B14F-4D97-AF65-F5344CB8AC3E}">
        <p14:creationId xmlns:p14="http://schemas.microsoft.com/office/powerpoint/2010/main" val="66685722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5491440"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Methods of Handling Deadlock</a:t>
            </a:r>
          </a:p>
        </p:txBody>
      </p:sp>
      <p:sp>
        <p:nvSpPr>
          <p:cNvPr id="4" name="TextBox 3">
            <a:extLst>
              <a:ext uri="{FF2B5EF4-FFF2-40B4-BE49-F238E27FC236}">
                <a16:creationId xmlns:a16="http://schemas.microsoft.com/office/drawing/2014/main" id="{9005CDA4-8E87-EA64-8F45-40CF74BDFF05}"/>
              </a:ext>
            </a:extLst>
          </p:cNvPr>
          <p:cNvSpPr txBox="1"/>
          <p:nvPr/>
        </p:nvSpPr>
        <p:spPr>
          <a:xfrm>
            <a:off x="691423" y="1214019"/>
            <a:ext cx="5310543" cy="369332"/>
          </a:xfrm>
          <a:prstGeom prst="rect">
            <a:avLst/>
          </a:prstGeom>
          <a:noFill/>
        </p:spPr>
        <p:txBody>
          <a:bodyPr wrap="square">
            <a:spAutoFit/>
          </a:bodyPr>
          <a:lstStyle/>
          <a:p>
            <a:r>
              <a:rPr lang="en-US" sz="1800" dirty="0">
                <a:highlight>
                  <a:srgbClr val="FFFF00"/>
                </a:highlight>
                <a:latin typeface="Arial" pitchFamily="34" charset="0"/>
                <a:cs typeface="Arial" pitchFamily="34" charset="0"/>
              </a:rPr>
              <a:t>Deadlock Avoidance – </a:t>
            </a:r>
            <a:endParaRPr lang="en-IN" dirty="0">
              <a:highlight>
                <a:srgbClr val="99FFCC"/>
              </a:highlight>
            </a:endParaRPr>
          </a:p>
        </p:txBody>
      </p:sp>
      <p:sp>
        <p:nvSpPr>
          <p:cNvPr id="7" name="TextBox 6">
            <a:extLst>
              <a:ext uri="{FF2B5EF4-FFF2-40B4-BE49-F238E27FC236}">
                <a16:creationId xmlns:a16="http://schemas.microsoft.com/office/drawing/2014/main" id="{CD416649-8EB9-1670-5BD5-2D348A6D5A56}"/>
              </a:ext>
            </a:extLst>
          </p:cNvPr>
          <p:cNvSpPr txBox="1"/>
          <p:nvPr/>
        </p:nvSpPr>
        <p:spPr>
          <a:xfrm>
            <a:off x="691423" y="1597783"/>
            <a:ext cx="6094378" cy="369332"/>
          </a:xfrm>
          <a:prstGeom prst="rect">
            <a:avLst/>
          </a:prstGeom>
          <a:noFill/>
        </p:spPr>
        <p:txBody>
          <a:bodyPr wrap="square">
            <a:spAutoFit/>
          </a:bodyPr>
          <a:lstStyle/>
          <a:p>
            <a:r>
              <a:rPr lang="en-US" sz="1800" dirty="0">
                <a:highlight>
                  <a:srgbClr val="99FFCC"/>
                </a:highlight>
                <a:latin typeface="Arial" pitchFamily="34" charset="0"/>
                <a:cs typeface="Arial" pitchFamily="34" charset="0"/>
              </a:rPr>
              <a:t>Avoidance Algorithms</a:t>
            </a:r>
            <a:endParaRPr lang="en-IN" dirty="0"/>
          </a:p>
        </p:txBody>
      </p:sp>
      <p:sp>
        <p:nvSpPr>
          <p:cNvPr id="8" name="Rectangle 7">
            <a:extLst>
              <a:ext uri="{FF2B5EF4-FFF2-40B4-BE49-F238E27FC236}">
                <a16:creationId xmlns:a16="http://schemas.microsoft.com/office/drawing/2014/main" id="{1DDA11D4-1347-C0C9-2B27-50C2AB7852FA}"/>
              </a:ext>
            </a:extLst>
          </p:cNvPr>
          <p:cNvSpPr/>
          <p:nvPr/>
        </p:nvSpPr>
        <p:spPr>
          <a:xfrm>
            <a:off x="691423" y="2216831"/>
            <a:ext cx="10683835" cy="1604991"/>
          </a:xfrm>
          <a:prstGeom prst="rect">
            <a:avLst/>
          </a:prstGeom>
        </p:spPr>
        <p:txBody>
          <a:bodyPr wrap="square">
            <a:spAutoFit/>
          </a:bodyPr>
          <a:lstStyle/>
          <a:p>
            <a:pPr marL="457200" lvl="0" indent="-457200">
              <a:lnSpc>
                <a:spcPct val="150000"/>
              </a:lnSpc>
              <a:buFont typeface="+mj-lt"/>
              <a:buAutoNum type="arabicPeriod"/>
            </a:pPr>
            <a:r>
              <a:rPr lang="en-GB" sz="2400" dirty="0">
                <a:latin typeface="Arial" pitchFamily="34" charset="0"/>
                <a:cs typeface="Arial" pitchFamily="34" charset="0"/>
              </a:rPr>
              <a:t>For a </a:t>
            </a:r>
            <a:r>
              <a:rPr lang="en-GB" sz="2400" u="sng" dirty="0">
                <a:solidFill>
                  <a:srgbClr val="FFC000"/>
                </a:solidFill>
                <a:latin typeface="Arial" pitchFamily="34" charset="0"/>
                <a:cs typeface="Arial" pitchFamily="34" charset="0"/>
              </a:rPr>
              <a:t>single</a:t>
            </a:r>
            <a:r>
              <a:rPr lang="en-GB" sz="2400" dirty="0">
                <a:latin typeface="Arial" pitchFamily="34" charset="0"/>
                <a:cs typeface="Arial" pitchFamily="34" charset="0"/>
              </a:rPr>
              <a:t> instance of a resource type, use a resource-allocation graph</a:t>
            </a:r>
            <a:endParaRPr lang="en-IN" sz="2400" dirty="0">
              <a:latin typeface="Arial" pitchFamily="34" charset="0"/>
              <a:cs typeface="Arial" pitchFamily="34" charset="0"/>
            </a:endParaRPr>
          </a:p>
          <a:p>
            <a:pPr marL="457200" lvl="0" indent="-457200">
              <a:lnSpc>
                <a:spcPct val="150000"/>
              </a:lnSpc>
              <a:buFont typeface="+mj-lt"/>
              <a:buAutoNum type="arabicPeriod"/>
            </a:pPr>
            <a:r>
              <a:rPr lang="en-GB" sz="2400" dirty="0">
                <a:latin typeface="Arial" pitchFamily="34" charset="0"/>
                <a:cs typeface="Arial" pitchFamily="34" charset="0"/>
              </a:rPr>
              <a:t>For </a:t>
            </a:r>
            <a:r>
              <a:rPr lang="en-GB" sz="2400" u="sng" dirty="0">
                <a:solidFill>
                  <a:srgbClr val="FFC000"/>
                </a:solidFill>
                <a:latin typeface="Arial" pitchFamily="34" charset="0"/>
                <a:cs typeface="Arial" pitchFamily="34" charset="0"/>
              </a:rPr>
              <a:t>multiple</a:t>
            </a:r>
            <a:r>
              <a:rPr lang="en-GB" sz="2400" dirty="0">
                <a:solidFill>
                  <a:srgbClr val="FFC000"/>
                </a:solidFill>
                <a:latin typeface="Arial" pitchFamily="34" charset="0"/>
                <a:cs typeface="Arial" pitchFamily="34" charset="0"/>
              </a:rPr>
              <a:t> </a:t>
            </a:r>
            <a:r>
              <a:rPr lang="en-GB" sz="2400" dirty="0">
                <a:latin typeface="Arial" pitchFamily="34" charset="0"/>
                <a:cs typeface="Arial" pitchFamily="34" charset="0"/>
              </a:rPr>
              <a:t>instances of a resource type, use the banker’s algorithm</a:t>
            </a:r>
            <a:endParaRPr lang="en-IN" sz="2400" dirty="0">
              <a:latin typeface="Arial" pitchFamily="34" charset="0"/>
              <a:cs typeface="Arial" pitchFamily="34" charset="0"/>
            </a:endParaRPr>
          </a:p>
          <a:p>
            <a:pPr marL="457200" lvl="0" indent="-457200">
              <a:lnSpc>
                <a:spcPct val="150000"/>
              </a:lnSpc>
              <a:buFont typeface="+mj-lt"/>
              <a:buAutoNum type="arabicPeriod"/>
            </a:pPr>
            <a:endParaRPr lang="en-GB" sz="2000" dirty="0">
              <a:latin typeface="Arial" pitchFamily="34" charset="0"/>
              <a:cs typeface="Arial" pitchFamily="34" charset="0"/>
            </a:endParaRPr>
          </a:p>
        </p:txBody>
      </p:sp>
    </p:spTree>
    <p:extLst>
      <p:ext uri="{BB962C8B-B14F-4D97-AF65-F5344CB8AC3E}">
        <p14:creationId xmlns:p14="http://schemas.microsoft.com/office/powerpoint/2010/main" val="296701005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5491440"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Methods of Handling Deadlock</a:t>
            </a:r>
          </a:p>
        </p:txBody>
      </p:sp>
      <p:sp>
        <p:nvSpPr>
          <p:cNvPr id="4" name="TextBox 3">
            <a:extLst>
              <a:ext uri="{FF2B5EF4-FFF2-40B4-BE49-F238E27FC236}">
                <a16:creationId xmlns:a16="http://schemas.microsoft.com/office/drawing/2014/main" id="{9005CDA4-8E87-EA64-8F45-40CF74BDFF05}"/>
              </a:ext>
            </a:extLst>
          </p:cNvPr>
          <p:cNvSpPr txBox="1"/>
          <p:nvPr/>
        </p:nvSpPr>
        <p:spPr>
          <a:xfrm>
            <a:off x="691423" y="1214019"/>
            <a:ext cx="5310543" cy="369332"/>
          </a:xfrm>
          <a:prstGeom prst="rect">
            <a:avLst/>
          </a:prstGeom>
          <a:noFill/>
        </p:spPr>
        <p:txBody>
          <a:bodyPr wrap="square">
            <a:spAutoFit/>
          </a:bodyPr>
          <a:lstStyle/>
          <a:p>
            <a:r>
              <a:rPr lang="en-US" sz="1800" dirty="0">
                <a:highlight>
                  <a:srgbClr val="FFFF00"/>
                </a:highlight>
                <a:latin typeface="Arial" pitchFamily="34" charset="0"/>
                <a:cs typeface="Arial" pitchFamily="34" charset="0"/>
              </a:rPr>
              <a:t>Deadlock Avoidance – </a:t>
            </a:r>
            <a:endParaRPr lang="en-IN" dirty="0">
              <a:highlight>
                <a:srgbClr val="99FFCC"/>
              </a:highlight>
            </a:endParaRPr>
          </a:p>
        </p:txBody>
      </p:sp>
      <p:sp>
        <p:nvSpPr>
          <p:cNvPr id="7" name="TextBox 6">
            <a:extLst>
              <a:ext uri="{FF2B5EF4-FFF2-40B4-BE49-F238E27FC236}">
                <a16:creationId xmlns:a16="http://schemas.microsoft.com/office/drawing/2014/main" id="{CD416649-8EB9-1670-5BD5-2D348A6D5A56}"/>
              </a:ext>
            </a:extLst>
          </p:cNvPr>
          <p:cNvSpPr txBox="1"/>
          <p:nvPr/>
        </p:nvSpPr>
        <p:spPr>
          <a:xfrm>
            <a:off x="691423" y="1597783"/>
            <a:ext cx="6094378" cy="369332"/>
          </a:xfrm>
          <a:prstGeom prst="rect">
            <a:avLst/>
          </a:prstGeom>
          <a:noFill/>
        </p:spPr>
        <p:txBody>
          <a:bodyPr wrap="square">
            <a:spAutoFit/>
          </a:bodyPr>
          <a:lstStyle/>
          <a:p>
            <a:r>
              <a:rPr lang="en-US" dirty="0">
                <a:highlight>
                  <a:srgbClr val="99FFCC"/>
                </a:highlight>
                <a:latin typeface="Arial" pitchFamily="34" charset="0"/>
                <a:cs typeface="Arial" pitchFamily="34" charset="0"/>
              </a:rPr>
              <a:t>Resource Allocation Graph</a:t>
            </a:r>
            <a:r>
              <a:rPr lang="en-US" sz="1800" dirty="0">
                <a:highlight>
                  <a:srgbClr val="99FFCC"/>
                </a:highlight>
                <a:latin typeface="Arial" pitchFamily="34" charset="0"/>
                <a:cs typeface="Arial" pitchFamily="34" charset="0"/>
              </a:rPr>
              <a:t> Algorithm</a:t>
            </a:r>
            <a:endParaRPr lang="en-IN" dirty="0"/>
          </a:p>
        </p:txBody>
      </p:sp>
      <p:sp>
        <p:nvSpPr>
          <p:cNvPr id="5" name="TextBox 4">
            <a:extLst>
              <a:ext uri="{FF2B5EF4-FFF2-40B4-BE49-F238E27FC236}">
                <a16:creationId xmlns:a16="http://schemas.microsoft.com/office/drawing/2014/main" id="{9DB300E8-EEC1-2A40-3FB8-2CAEF6C56AFB}"/>
              </a:ext>
            </a:extLst>
          </p:cNvPr>
          <p:cNvSpPr txBox="1"/>
          <p:nvPr/>
        </p:nvSpPr>
        <p:spPr>
          <a:xfrm>
            <a:off x="780469" y="2181113"/>
            <a:ext cx="10493888" cy="3163174"/>
          </a:xfrm>
          <a:prstGeom prst="rect">
            <a:avLst/>
          </a:prstGeom>
          <a:noFill/>
        </p:spPr>
        <p:txBody>
          <a:bodyPr wrap="square">
            <a:spAutoFit/>
          </a:bodyPr>
          <a:lstStyle/>
          <a:p>
            <a:pPr algn="just">
              <a:lnSpc>
                <a:spcPct val="150000"/>
              </a:lnSpc>
            </a:pPr>
            <a:r>
              <a:rPr lang="en-US" sz="2400" dirty="0">
                <a:latin typeface="Arial" pitchFamily="34" charset="0"/>
                <a:cs typeface="Arial" pitchFamily="34" charset="0"/>
              </a:rPr>
              <a:t>If we have a resource-allocation system with only one instance of each resource type, we can use a variant of the resource-allocation graph </a:t>
            </a:r>
            <a:r>
              <a:rPr lang="en-IN" sz="2400" dirty="0">
                <a:latin typeface="Arial" pitchFamily="34" charset="0"/>
                <a:cs typeface="Arial" pitchFamily="34" charset="0"/>
              </a:rPr>
              <a:t>for deadlock avoidance.</a:t>
            </a:r>
          </a:p>
          <a:p>
            <a:pPr algn="l"/>
            <a:endParaRPr lang="en-US" sz="2400" dirty="0">
              <a:latin typeface="Arial" pitchFamily="34" charset="0"/>
              <a:cs typeface="Arial" pitchFamily="34" charset="0"/>
            </a:endParaRPr>
          </a:p>
          <a:p>
            <a:pPr algn="just">
              <a:lnSpc>
                <a:spcPct val="150000"/>
              </a:lnSpc>
            </a:pPr>
            <a:r>
              <a:rPr lang="en-US" sz="2400" dirty="0">
                <a:latin typeface="Arial" pitchFamily="34" charset="0"/>
                <a:cs typeface="Arial" pitchFamily="34" charset="0"/>
              </a:rPr>
              <a:t>In addition to the request and assignment edges already described, we introduce a new type of edge, called a claim edge.</a:t>
            </a:r>
            <a:endParaRPr lang="en-IN" sz="2400" dirty="0">
              <a:latin typeface="Arial" pitchFamily="34" charset="0"/>
              <a:cs typeface="Arial" pitchFamily="34" charset="0"/>
            </a:endParaRPr>
          </a:p>
        </p:txBody>
      </p:sp>
    </p:spTree>
    <p:extLst>
      <p:ext uri="{BB962C8B-B14F-4D97-AF65-F5344CB8AC3E}">
        <p14:creationId xmlns:p14="http://schemas.microsoft.com/office/powerpoint/2010/main" val="36046062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5491440"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Methods of Handling Deadlock</a:t>
            </a:r>
          </a:p>
        </p:txBody>
      </p:sp>
      <p:sp>
        <p:nvSpPr>
          <p:cNvPr id="4" name="TextBox 3">
            <a:extLst>
              <a:ext uri="{FF2B5EF4-FFF2-40B4-BE49-F238E27FC236}">
                <a16:creationId xmlns:a16="http://schemas.microsoft.com/office/drawing/2014/main" id="{9005CDA4-8E87-EA64-8F45-40CF74BDFF05}"/>
              </a:ext>
            </a:extLst>
          </p:cNvPr>
          <p:cNvSpPr txBox="1"/>
          <p:nvPr/>
        </p:nvSpPr>
        <p:spPr>
          <a:xfrm>
            <a:off x="691423" y="1214019"/>
            <a:ext cx="5310543" cy="369332"/>
          </a:xfrm>
          <a:prstGeom prst="rect">
            <a:avLst/>
          </a:prstGeom>
          <a:noFill/>
        </p:spPr>
        <p:txBody>
          <a:bodyPr wrap="square">
            <a:spAutoFit/>
          </a:bodyPr>
          <a:lstStyle/>
          <a:p>
            <a:r>
              <a:rPr lang="en-US" sz="1800" dirty="0">
                <a:highlight>
                  <a:srgbClr val="FFFF00"/>
                </a:highlight>
                <a:latin typeface="Arial" pitchFamily="34" charset="0"/>
                <a:cs typeface="Arial" pitchFamily="34" charset="0"/>
              </a:rPr>
              <a:t>Deadlock Avoidance – </a:t>
            </a:r>
            <a:endParaRPr lang="en-IN" dirty="0">
              <a:highlight>
                <a:srgbClr val="99FFCC"/>
              </a:highlight>
            </a:endParaRPr>
          </a:p>
        </p:txBody>
      </p:sp>
      <p:sp>
        <p:nvSpPr>
          <p:cNvPr id="7" name="TextBox 6">
            <a:extLst>
              <a:ext uri="{FF2B5EF4-FFF2-40B4-BE49-F238E27FC236}">
                <a16:creationId xmlns:a16="http://schemas.microsoft.com/office/drawing/2014/main" id="{CD416649-8EB9-1670-5BD5-2D348A6D5A56}"/>
              </a:ext>
            </a:extLst>
          </p:cNvPr>
          <p:cNvSpPr txBox="1"/>
          <p:nvPr/>
        </p:nvSpPr>
        <p:spPr>
          <a:xfrm>
            <a:off x="691423" y="1597783"/>
            <a:ext cx="6094378" cy="369332"/>
          </a:xfrm>
          <a:prstGeom prst="rect">
            <a:avLst/>
          </a:prstGeom>
          <a:noFill/>
        </p:spPr>
        <p:txBody>
          <a:bodyPr wrap="square">
            <a:spAutoFit/>
          </a:bodyPr>
          <a:lstStyle/>
          <a:p>
            <a:r>
              <a:rPr lang="en-US" dirty="0">
                <a:highlight>
                  <a:srgbClr val="99FFCC"/>
                </a:highlight>
                <a:latin typeface="Arial" pitchFamily="34" charset="0"/>
                <a:cs typeface="Arial" pitchFamily="34" charset="0"/>
              </a:rPr>
              <a:t>Resource Allocation Graph</a:t>
            </a:r>
            <a:r>
              <a:rPr lang="en-US" sz="1800" dirty="0">
                <a:highlight>
                  <a:srgbClr val="99FFCC"/>
                </a:highlight>
                <a:latin typeface="Arial" pitchFamily="34" charset="0"/>
                <a:cs typeface="Arial" pitchFamily="34" charset="0"/>
              </a:rPr>
              <a:t> Algorithm</a:t>
            </a:r>
            <a:endParaRPr lang="en-IN" dirty="0"/>
          </a:p>
        </p:txBody>
      </p:sp>
      <p:sp>
        <p:nvSpPr>
          <p:cNvPr id="2" name="Rectangle 3">
            <a:extLst>
              <a:ext uri="{FF2B5EF4-FFF2-40B4-BE49-F238E27FC236}">
                <a16:creationId xmlns:a16="http://schemas.microsoft.com/office/drawing/2014/main" id="{CE1993D9-C529-A16F-3E8F-D3E705CA8C1D}"/>
              </a:ext>
            </a:extLst>
          </p:cNvPr>
          <p:cNvSpPr txBox="1">
            <a:spLocks noChangeArrowheads="1"/>
          </p:cNvSpPr>
          <p:nvPr/>
        </p:nvSpPr>
        <p:spPr>
          <a:xfrm>
            <a:off x="845345" y="1903928"/>
            <a:ext cx="10765715" cy="44831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US" altLang="en-US" sz="2200" b="1" dirty="0">
                <a:solidFill>
                  <a:srgbClr val="3366FF"/>
                </a:solidFill>
              </a:rPr>
              <a:t>Claim edge</a:t>
            </a:r>
            <a:r>
              <a:rPr lang="en-US" altLang="en-US" sz="2200" dirty="0">
                <a:solidFill>
                  <a:srgbClr val="3366FF"/>
                </a:solidFill>
              </a:rPr>
              <a:t> </a:t>
            </a:r>
            <a:r>
              <a:rPr lang="en-US" altLang="en-US" sz="2200" i="1" dirty="0"/>
              <a:t>P</a:t>
            </a:r>
            <a:r>
              <a:rPr lang="en-US" altLang="en-US" sz="2200" i="1" baseline="-25000" dirty="0"/>
              <a:t>i</a:t>
            </a:r>
            <a:r>
              <a:rPr lang="en-US" altLang="en-US" sz="2200" dirty="0"/>
              <a:t> </a:t>
            </a:r>
            <a:r>
              <a:rPr lang="en-US" altLang="en-US" sz="2200" dirty="0">
                <a:sym typeface="Symbol" panose="05050102010706020507" pitchFamily="18" charset="2"/>
              </a:rPr>
              <a:t> </a:t>
            </a:r>
            <a:r>
              <a:rPr lang="en-US" altLang="en-US" sz="2200" i="1" dirty="0" err="1">
                <a:sym typeface="Symbol" panose="05050102010706020507" pitchFamily="18" charset="2"/>
              </a:rPr>
              <a:t>R</a:t>
            </a:r>
            <a:r>
              <a:rPr lang="en-US" altLang="en-US" sz="2200" i="1" baseline="-25000" dirty="0" err="1">
                <a:sym typeface="Symbol" panose="05050102010706020507" pitchFamily="18" charset="2"/>
              </a:rPr>
              <a:t>j</a:t>
            </a:r>
            <a:r>
              <a:rPr lang="en-US" altLang="en-US" sz="2200" dirty="0">
                <a:sym typeface="Symbol" panose="05050102010706020507" pitchFamily="18" charset="2"/>
              </a:rPr>
              <a:t> indicated that process </a:t>
            </a:r>
            <a:r>
              <a:rPr lang="en-US" altLang="en-US" sz="2200" i="1" dirty="0">
                <a:sym typeface="Symbol" panose="05050102010706020507" pitchFamily="18" charset="2"/>
              </a:rPr>
              <a:t>P</a:t>
            </a:r>
            <a:r>
              <a:rPr lang="en-US" altLang="en-US" sz="2200" i="1" baseline="-25000" dirty="0">
                <a:sym typeface="Symbol" panose="05050102010706020507" pitchFamily="18" charset="2"/>
              </a:rPr>
              <a:t>i</a:t>
            </a:r>
            <a:r>
              <a:rPr lang="en-US" altLang="en-US" sz="2200" dirty="0">
                <a:sym typeface="Symbol" panose="05050102010706020507" pitchFamily="18" charset="2"/>
              </a:rPr>
              <a:t> may request resource </a:t>
            </a:r>
            <a:r>
              <a:rPr lang="en-US" altLang="en-US" sz="2200" i="1" dirty="0" err="1">
                <a:sym typeface="Symbol" panose="05050102010706020507" pitchFamily="18" charset="2"/>
              </a:rPr>
              <a:t>R</a:t>
            </a:r>
            <a:r>
              <a:rPr lang="en-US" altLang="en-US" sz="2200" i="1" baseline="-25000" dirty="0" err="1">
                <a:sym typeface="Symbol" panose="05050102010706020507" pitchFamily="18" charset="2"/>
              </a:rPr>
              <a:t>j</a:t>
            </a:r>
            <a:r>
              <a:rPr lang="en-US" altLang="en-US" sz="2200" dirty="0">
                <a:sym typeface="Symbol" panose="05050102010706020507" pitchFamily="18" charset="2"/>
              </a:rPr>
              <a:t>; represented by a dashed line.</a:t>
            </a:r>
          </a:p>
          <a:p>
            <a:pPr algn="just">
              <a:lnSpc>
                <a:spcPct val="150000"/>
              </a:lnSpc>
            </a:pPr>
            <a:r>
              <a:rPr lang="en-US" altLang="en-US" sz="2200" dirty="0">
                <a:sym typeface="Symbol" panose="05050102010706020507" pitchFamily="18" charset="2"/>
              </a:rPr>
              <a:t>Claim edge converts to request edge when a process requests a resource</a:t>
            </a:r>
          </a:p>
          <a:p>
            <a:pPr algn="just">
              <a:lnSpc>
                <a:spcPct val="150000"/>
              </a:lnSpc>
            </a:pPr>
            <a:r>
              <a:rPr lang="en-US" altLang="en-US" sz="2200" dirty="0">
                <a:sym typeface="Symbol" panose="05050102010706020507" pitchFamily="18" charset="2"/>
              </a:rPr>
              <a:t>Request edge converted to an assignment edge when the  resource is allocated to the process</a:t>
            </a:r>
          </a:p>
          <a:p>
            <a:pPr algn="just">
              <a:lnSpc>
                <a:spcPct val="150000"/>
              </a:lnSpc>
            </a:pPr>
            <a:r>
              <a:rPr lang="en-US" altLang="en-US" sz="2200" dirty="0">
                <a:sym typeface="Symbol" panose="05050102010706020507" pitchFamily="18" charset="2"/>
              </a:rPr>
              <a:t>When a resource is released by a process, assignment edge reconverts to a claim edge</a:t>
            </a:r>
          </a:p>
          <a:p>
            <a:pPr algn="just">
              <a:lnSpc>
                <a:spcPct val="150000"/>
              </a:lnSpc>
            </a:pPr>
            <a:r>
              <a:rPr lang="en-US" altLang="en-US" sz="2200" dirty="0">
                <a:sym typeface="Symbol" panose="05050102010706020507" pitchFamily="18" charset="2"/>
              </a:rPr>
              <a:t>Resources must be claimed </a:t>
            </a:r>
            <a:r>
              <a:rPr lang="en-US" altLang="en-US" sz="2200" i="1" dirty="0">
                <a:sym typeface="Symbol" panose="05050102010706020507" pitchFamily="18" charset="2"/>
              </a:rPr>
              <a:t>a priori</a:t>
            </a:r>
            <a:r>
              <a:rPr lang="en-US" altLang="en-US" sz="2200" dirty="0">
                <a:sym typeface="Symbol" panose="05050102010706020507" pitchFamily="18" charset="2"/>
              </a:rPr>
              <a:t> in the system</a:t>
            </a:r>
            <a:endParaRPr lang="en-US" altLang="en-US" sz="2200" dirty="0"/>
          </a:p>
        </p:txBody>
      </p:sp>
    </p:spTree>
    <p:extLst>
      <p:ext uri="{BB962C8B-B14F-4D97-AF65-F5344CB8AC3E}">
        <p14:creationId xmlns:p14="http://schemas.microsoft.com/office/powerpoint/2010/main" val="246454451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5491440"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Methods of Handling Deadlock</a:t>
            </a:r>
          </a:p>
        </p:txBody>
      </p:sp>
      <p:sp>
        <p:nvSpPr>
          <p:cNvPr id="4" name="TextBox 3">
            <a:extLst>
              <a:ext uri="{FF2B5EF4-FFF2-40B4-BE49-F238E27FC236}">
                <a16:creationId xmlns:a16="http://schemas.microsoft.com/office/drawing/2014/main" id="{9005CDA4-8E87-EA64-8F45-40CF74BDFF05}"/>
              </a:ext>
            </a:extLst>
          </p:cNvPr>
          <p:cNvSpPr txBox="1"/>
          <p:nvPr/>
        </p:nvSpPr>
        <p:spPr>
          <a:xfrm>
            <a:off x="691423" y="1214019"/>
            <a:ext cx="5310543" cy="369332"/>
          </a:xfrm>
          <a:prstGeom prst="rect">
            <a:avLst/>
          </a:prstGeom>
          <a:noFill/>
        </p:spPr>
        <p:txBody>
          <a:bodyPr wrap="square">
            <a:spAutoFit/>
          </a:bodyPr>
          <a:lstStyle/>
          <a:p>
            <a:r>
              <a:rPr lang="en-US" sz="1800" dirty="0">
                <a:highlight>
                  <a:srgbClr val="FFFF00"/>
                </a:highlight>
                <a:latin typeface="Arial" pitchFamily="34" charset="0"/>
                <a:cs typeface="Arial" pitchFamily="34" charset="0"/>
              </a:rPr>
              <a:t>Deadlock Avoidance – </a:t>
            </a:r>
            <a:endParaRPr lang="en-IN" dirty="0">
              <a:highlight>
                <a:srgbClr val="99FFCC"/>
              </a:highlight>
            </a:endParaRPr>
          </a:p>
        </p:txBody>
      </p:sp>
      <p:sp>
        <p:nvSpPr>
          <p:cNvPr id="7" name="TextBox 6">
            <a:extLst>
              <a:ext uri="{FF2B5EF4-FFF2-40B4-BE49-F238E27FC236}">
                <a16:creationId xmlns:a16="http://schemas.microsoft.com/office/drawing/2014/main" id="{CD416649-8EB9-1670-5BD5-2D348A6D5A56}"/>
              </a:ext>
            </a:extLst>
          </p:cNvPr>
          <p:cNvSpPr txBox="1"/>
          <p:nvPr/>
        </p:nvSpPr>
        <p:spPr>
          <a:xfrm>
            <a:off x="691423" y="1597783"/>
            <a:ext cx="6094378" cy="369332"/>
          </a:xfrm>
          <a:prstGeom prst="rect">
            <a:avLst/>
          </a:prstGeom>
          <a:noFill/>
        </p:spPr>
        <p:txBody>
          <a:bodyPr wrap="square">
            <a:spAutoFit/>
          </a:bodyPr>
          <a:lstStyle/>
          <a:p>
            <a:r>
              <a:rPr lang="en-US" dirty="0">
                <a:highlight>
                  <a:srgbClr val="99FFCC"/>
                </a:highlight>
                <a:latin typeface="Arial" pitchFamily="34" charset="0"/>
                <a:cs typeface="Arial" pitchFamily="34" charset="0"/>
              </a:rPr>
              <a:t>Resource Allocation Graph</a:t>
            </a:r>
            <a:r>
              <a:rPr lang="en-US" sz="1800" dirty="0">
                <a:highlight>
                  <a:srgbClr val="99FFCC"/>
                </a:highlight>
                <a:latin typeface="Arial" pitchFamily="34" charset="0"/>
                <a:cs typeface="Arial" pitchFamily="34" charset="0"/>
              </a:rPr>
              <a:t> Algorithm</a:t>
            </a:r>
            <a:endParaRPr lang="en-IN" dirty="0"/>
          </a:p>
        </p:txBody>
      </p:sp>
      <p:pic>
        <p:nvPicPr>
          <p:cNvPr id="8" name="Picture 7">
            <a:extLst>
              <a:ext uri="{FF2B5EF4-FFF2-40B4-BE49-F238E27FC236}">
                <a16:creationId xmlns:a16="http://schemas.microsoft.com/office/drawing/2014/main" id="{B7CFBE99-0A23-EBBA-2156-1E05A546D82F}"/>
              </a:ext>
            </a:extLst>
          </p:cNvPr>
          <p:cNvPicPr>
            <a:picLocks noChangeAspect="1"/>
          </p:cNvPicPr>
          <p:nvPr/>
        </p:nvPicPr>
        <p:blipFill>
          <a:blip r:embed="rId3"/>
          <a:stretch>
            <a:fillRect/>
          </a:stretch>
        </p:blipFill>
        <p:spPr>
          <a:xfrm>
            <a:off x="807243" y="2040421"/>
            <a:ext cx="4565772" cy="3591954"/>
          </a:xfrm>
          <a:prstGeom prst="rect">
            <a:avLst/>
          </a:prstGeom>
        </p:spPr>
      </p:pic>
      <p:pic>
        <p:nvPicPr>
          <p:cNvPr id="9" name="Picture 4" descr="7">
            <a:extLst>
              <a:ext uri="{FF2B5EF4-FFF2-40B4-BE49-F238E27FC236}">
                <a16:creationId xmlns:a16="http://schemas.microsoft.com/office/drawing/2014/main" id="{F1E3E097-49E0-05C5-A548-E6C9DDACA0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0700" y="2105600"/>
            <a:ext cx="3360738" cy="340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425772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98335-6F39-88C7-D5CF-791CE5EE291F}"/>
            </a:ext>
          </a:extLst>
        </p:cNvPr>
        <p:cNvGrpSpPr/>
        <p:nvPr/>
      </p:nvGrpSpPr>
      <p:grpSpPr>
        <a:xfrm>
          <a:off x="0" y="0"/>
          <a:ext cx="0" cy="0"/>
          <a:chOff x="0" y="0"/>
          <a:chExt cx="0" cy="0"/>
        </a:xfrm>
      </p:grpSpPr>
      <p:sp>
        <p:nvSpPr>
          <p:cNvPr id="9" name="Text Placeholder 3">
            <a:extLst>
              <a:ext uri="{FF2B5EF4-FFF2-40B4-BE49-F238E27FC236}">
                <a16:creationId xmlns:a16="http://schemas.microsoft.com/office/drawing/2014/main" id="{887863A9-46E6-1AAC-795A-3963862AF469}"/>
              </a:ext>
            </a:extLst>
          </p:cNvPr>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5" name="Subtitle 4">
            <a:extLst>
              <a:ext uri="{FF2B5EF4-FFF2-40B4-BE49-F238E27FC236}">
                <a16:creationId xmlns:a16="http://schemas.microsoft.com/office/drawing/2014/main" id="{0ECCED30-4574-CA0F-18BE-FDA3DAACCDC4}"/>
              </a:ext>
            </a:extLst>
          </p:cNvPr>
          <p:cNvSpPr>
            <a:spLocks noGrp="1"/>
          </p:cNvSpPr>
          <p:nvPr>
            <p:ph type="subTitle" idx="1"/>
          </p:nvPr>
        </p:nvSpPr>
        <p:spPr>
          <a:xfrm>
            <a:off x="1047345" y="2601119"/>
            <a:ext cx="9144000" cy="1655762"/>
          </a:xfrm>
        </p:spPr>
        <p:txBody>
          <a:bodyPr>
            <a:normAutofit/>
          </a:bodyPr>
          <a:lstStyle/>
          <a:p>
            <a:r>
              <a:rPr lang="en-US" sz="4400" dirty="0">
                <a:solidFill>
                  <a:srgbClr val="0066CC"/>
                </a:solidFill>
              </a:rPr>
              <a:t>Lecture - 4</a:t>
            </a:r>
          </a:p>
        </p:txBody>
      </p:sp>
    </p:spTree>
    <p:extLst>
      <p:ext uri="{BB962C8B-B14F-4D97-AF65-F5344CB8AC3E}">
        <p14:creationId xmlns:p14="http://schemas.microsoft.com/office/powerpoint/2010/main" val="240184619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Recap</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latin typeface="+mj-lt"/>
                <a:ea typeface="+mj-ea"/>
                <a:cs typeface="+mj-cs"/>
              </a:rPr>
              <a:t>Methods of Handling Deadlock</a:t>
            </a:r>
          </a:p>
          <a:p>
            <a:pPr lvl="1"/>
            <a:r>
              <a:rPr lang="en-US" sz="2600" dirty="0">
                <a:latin typeface="+mj-lt"/>
                <a:ea typeface="+mj-ea"/>
                <a:cs typeface="+mj-cs"/>
              </a:rPr>
              <a:t>Prevention</a:t>
            </a:r>
          </a:p>
          <a:p>
            <a:pPr lvl="1"/>
            <a:r>
              <a:rPr lang="en-US" sz="2600" dirty="0">
                <a:latin typeface="+mj-lt"/>
                <a:ea typeface="+mj-ea"/>
                <a:cs typeface="+mj-cs"/>
              </a:rPr>
              <a:t>Avoidance</a:t>
            </a:r>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85266512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Agenda</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latin typeface="+mj-lt"/>
                <a:ea typeface="+mj-ea"/>
                <a:cs typeface="+mj-cs"/>
              </a:rPr>
              <a:t>Methods of Handling Deadlock</a:t>
            </a:r>
          </a:p>
          <a:p>
            <a:pPr lvl="1"/>
            <a:r>
              <a:rPr lang="en-US" sz="2600" dirty="0">
                <a:latin typeface="+mj-lt"/>
                <a:ea typeface="+mj-ea"/>
                <a:cs typeface="+mj-cs"/>
              </a:rPr>
              <a:t>Avoidance</a:t>
            </a:r>
          </a:p>
          <a:p>
            <a:pPr lvl="2"/>
            <a:r>
              <a:rPr lang="en-US" sz="2200" dirty="0">
                <a:latin typeface="+mj-lt"/>
                <a:ea typeface="+mj-ea"/>
                <a:cs typeface="+mj-cs"/>
              </a:rPr>
              <a:t>Bankers Algorithm</a:t>
            </a:r>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405648988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5491440"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Methods of Handling Deadlock</a:t>
            </a:r>
          </a:p>
        </p:txBody>
      </p:sp>
      <p:sp>
        <p:nvSpPr>
          <p:cNvPr id="4" name="TextBox 3">
            <a:extLst>
              <a:ext uri="{FF2B5EF4-FFF2-40B4-BE49-F238E27FC236}">
                <a16:creationId xmlns:a16="http://schemas.microsoft.com/office/drawing/2014/main" id="{9005CDA4-8E87-EA64-8F45-40CF74BDFF05}"/>
              </a:ext>
            </a:extLst>
          </p:cNvPr>
          <p:cNvSpPr txBox="1"/>
          <p:nvPr/>
        </p:nvSpPr>
        <p:spPr>
          <a:xfrm>
            <a:off x="691423" y="1214019"/>
            <a:ext cx="5310543" cy="369332"/>
          </a:xfrm>
          <a:prstGeom prst="rect">
            <a:avLst/>
          </a:prstGeom>
          <a:noFill/>
        </p:spPr>
        <p:txBody>
          <a:bodyPr wrap="square">
            <a:spAutoFit/>
          </a:bodyPr>
          <a:lstStyle/>
          <a:p>
            <a:r>
              <a:rPr lang="en-US" sz="1800" dirty="0">
                <a:highlight>
                  <a:srgbClr val="FFFF00"/>
                </a:highlight>
                <a:latin typeface="Arial" pitchFamily="34" charset="0"/>
                <a:cs typeface="Arial" pitchFamily="34" charset="0"/>
              </a:rPr>
              <a:t>Deadlock Avoidance – </a:t>
            </a:r>
            <a:endParaRPr lang="en-IN" dirty="0">
              <a:highlight>
                <a:srgbClr val="99FFCC"/>
              </a:highlight>
            </a:endParaRPr>
          </a:p>
        </p:txBody>
      </p:sp>
      <p:sp>
        <p:nvSpPr>
          <p:cNvPr id="7" name="TextBox 6">
            <a:extLst>
              <a:ext uri="{FF2B5EF4-FFF2-40B4-BE49-F238E27FC236}">
                <a16:creationId xmlns:a16="http://schemas.microsoft.com/office/drawing/2014/main" id="{CD416649-8EB9-1670-5BD5-2D348A6D5A56}"/>
              </a:ext>
            </a:extLst>
          </p:cNvPr>
          <p:cNvSpPr txBox="1"/>
          <p:nvPr/>
        </p:nvSpPr>
        <p:spPr>
          <a:xfrm>
            <a:off x="691423" y="1597783"/>
            <a:ext cx="6094378" cy="369332"/>
          </a:xfrm>
          <a:prstGeom prst="rect">
            <a:avLst/>
          </a:prstGeom>
          <a:noFill/>
        </p:spPr>
        <p:txBody>
          <a:bodyPr wrap="square">
            <a:spAutoFit/>
          </a:bodyPr>
          <a:lstStyle/>
          <a:p>
            <a:r>
              <a:rPr lang="en-US" dirty="0">
                <a:highlight>
                  <a:srgbClr val="99FFCC"/>
                </a:highlight>
                <a:latin typeface="Arial" pitchFamily="34" charset="0"/>
                <a:cs typeface="Arial" pitchFamily="34" charset="0"/>
              </a:rPr>
              <a:t>Banker’s </a:t>
            </a:r>
            <a:r>
              <a:rPr lang="en-US" sz="1800" dirty="0">
                <a:highlight>
                  <a:srgbClr val="99FFCC"/>
                </a:highlight>
                <a:latin typeface="Arial" pitchFamily="34" charset="0"/>
                <a:cs typeface="Arial" pitchFamily="34" charset="0"/>
              </a:rPr>
              <a:t>Algorithm</a:t>
            </a:r>
            <a:endParaRPr lang="en-IN" dirty="0"/>
          </a:p>
        </p:txBody>
      </p:sp>
      <p:sp>
        <p:nvSpPr>
          <p:cNvPr id="5" name="TextBox 4">
            <a:extLst>
              <a:ext uri="{FF2B5EF4-FFF2-40B4-BE49-F238E27FC236}">
                <a16:creationId xmlns:a16="http://schemas.microsoft.com/office/drawing/2014/main" id="{15D791AC-34AC-E328-3DFC-4805E1F8A63F}"/>
              </a:ext>
            </a:extLst>
          </p:cNvPr>
          <p:cNvSpPr txBox="1"/>
          <p:nvPr/>
        </p:nvSpPr>
        <p:spPr>
          <a:xfrm>
            <a:off x="691423" y="2257770"/>
            <a:ext cx="10787215" cy="1697068"/>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The name was chosen because the algorithm could be used in a banking system to ensure that the bank never allocated its available cash in such a way that it could no longer satisfy the needs of all its customers.</a:t>
            </a:r>
            <a:endParaRPr lang="en-IN" sz="2400" dirty="0"/>
          </a:p>
        </p:txBody>
      </p:sp>
    </p:spTree>
    <p:extLst>
      <p:ext uri="{BB962C8B-B14F-4D97-AF65-F5344CB8AC3E}">
        <p14:creationId xmlns:p14="http://schemas.microsoft.com/office/powerpoint/2010/main" val="152868462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5491440"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Methods of Handling Deadlock</a:t>
            </a:r>
          </a:p>
        </p:txBody>
      </p:sp>
      <p:sp>
        <p:nvSpPr>
          <p:cNvPr id="4" name="TextBox 3">
            <a:extLst>
              <a:ext uri="{FF2B5EF4-FFF2-40B4-BE49-F238E27FC236}">
                <a16:creationId xmlns:a16="http://schemas.microsoft.com/office/drawing/2014/main" id="{9005CDA4-8E87-EA64-8F45-40CF74BDFF05}"/>
              </a:ext>
            </a:extLst>
          </p:cNvPr>
          <p:cNvSpPr txBox="1"/>
          <p:nvPr/>
        </p:nvSpPr>
        <p:spPr>
          <a:xfrm>
            <a:off x="691423" y="1214019"/>
            <a:ext cx="5310543" cy="369332"/>
          </a:xfrm>
          <a:prstGeom prst="rect">
            <a:avLst/>
          </a:prstGeom>
          <a:noFill/>
        </p:spPr>
        <p:txBody>
          <a:bodyPr wrap="square">
            <a:spAutoFit/>
          </a:bodyPr>
          <a:lstStyle/>
          <a:p>
            <a:r>
              <a:rPr lang="en-US" sz="1800" dirty="0">
                <a:highlight>
                  <a:srgbClr val="FFFF00"/>
                </a:highlight>
                <a:latin typeface="Arial" pitchFamily="34" charset="0"/>
                <a:cs typeface="Arial" pitchFamily="34" charset="0"/>
              </a:rPr>
              <a:t>Deadlock Avoidance – </a:t>
            </a:r>
            <a:endParaRPr lang="en-IN" dirty="0">
              <a:highlight>
                <a:srgbClr val="99FFCC"/>
              </a:highlight>
            </a:endParaRPr>
          </a:p>
        </p:txBody>
      </p:sp>
      <p:sp>
        <p:nvSpPr>
          <p:cNvPr id="7" name="TextBox 6">
            <a:extLst>
              <a:ext uri="{FF2B5EF4-FFF2-40B4-BE49-F238E27FC236}">
                <a16:creationId xmlns:a16="http://schemas.microsoft.com/office/drawing/2014/main" id="{CD416649-8EB9-1670-5BD5-2D348A6D5A56}"/>
              </a:ext>
            </a:extLst>
          </p:cNvPr>
          <p:cNvSpPr txBox="1"/>
          <p:nvPr/>
        </p:nvSpPr>
        <p:spPr>
          <a:xfrm>
            <a:off x="691423" y="1597783"/>
            <a:ext cx="6094378" cy="369332"/>
          </a:xfrm>
          <a:prstGeom prst="rect">
            <a:avLst/>
          </a:prstGeom>
          <a:noFill/>
        </p:spPr>
        <p:txBody>
          <a:bodyPr wrap="square">
            <a:spAutoFit/>
          </a:bodyPr>
          <a:lstStyle/>
          <a:p>
            <a:r>
              <a:rPr lang="en-US" dirty="0">
                <a:highlight>
                  <a:srgbClr val="99FFCC"/>
                </a:highlight>
                <a:latin typeface="Arial" pitchFamily="34" charset="0"/>
                <a:cs typeface="Arial" pitchFamily="34" charset="0"/>
              </a:rPr>
              <a:t>Banker’s </a:t>
            </a:r>
            <a:r>
              <a:rPr lang="en-US" sz="1800" dirty="0">
                <a:highlight>
                  <a:srgbClr val="99FFCC"/>
                </a:highlight>
                <a:latin typeface="Arial" pitchFamily="34" charset="0"/>
                <a:cs typeface="Arial" pitchFamily="34" charset="0"/>
              </a:rPr>
              <a:t>Algorithm</a:t>
            </a:r>
            <a:endParaRPr lang="en-IN" dirty="0"/>
          </a:p>
        </p:txBody>
      </p:sp>
      <p:sp>
        <p:nvSpPr>
          <p:cNvPr id="6" name="TextBox 5">
            <a:extLst>
              <a:ext uri="{FF2B5EF4-FFF2-40B4-BE49-F238E27FC236}">
                <a16:creationId xmlns:a16="http://schemas.microsoft.com/office/drawing/2014/main" id="{DFE36099-52CD-66A4-9153-ACD8E19DC7B2}"/>
              </a:ext>
            </a:extLst>
          </p:cNvPr>
          <p:cNvSpPr txBox="1"/>
          <p:nvPr/>
        </p:nvSpPr>
        <p:spPr>
          <a:xfrm>
            <a:off x="807395" y="1981547"/>
            <a:ext cx="10914434" cy="391305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solidFill>
                  <a:srgbClr val="231F20"/>
                </a:solidFill>
              </a:rPr>
              <a:t>When a new process enters the system, it must declare the maximum number of instances of each resource type that it may need. </a:t>
            </a:r>
          </a:p>
          <a:p>
            <a:pPr marL="342900" indent="-342900" algn="just">
              <a:lnSpc>
                <a:spcPct val="150000"/>
              </a:lnSpc>
              <a:buFont typeface="Arial" panose="020B0604020202020204" pitchFamily="34" charset="0"/>
              <a:buChar char="•"/>
            </a:pPr>
            <a:r>
              <a:rPr lang="en-US" sz="2400" dirty="0">
                <a:solidFill>
                  <a:srgbClr val="231F20"/>
                </a:solidFill>
              </a:rPr>
              <a:t>This number may not exceed the total number of resources in the system. </a:t>
            </a:r>
          </a:p>
          <a:p>
            <a:pPr marL="342900" indent="-342900" algn="just">
              <a:lnSpc>
                <a:spcPct val="150000"/>
              </a:lnSpc>
              <a:buFont typeface="Arial" panose="020B0604020202020204" pitchFamily="34" charset="0"/>
              <a:buChar char="•"/>
            </a:pPr>
            <a:r>
              <a:rPr lang="en-US" sz="2400" dirty="0">
                <a:solidFill>
                  <a:srgbClr val="231F20"/>
                </a:solidFill>
              </a:rPr>
              <a:t>When a user requests a set of resources, the system must determine whether the allocation of these resources will leave the system in a safe state. </a:t>
            </a:r>
          </a:p>
          <a:p>
            <a:pPr marL="342900" indent="-342900" algn="just">
              <a:lnSpc>
                <a:spcPct val="150000"/>
              </a:lnSpc>
              <a:buFont typeface="Arial" panose="020B0604020202020204" pitchFamily="34" charset="0"/>
              <a:buChar char="•"/>
            </a:pPr>
            <a:r>
              <a:rPr lang="en-US" sz="2400" dirty="0">
                <a:solidFill>
                  <a:srgbClr val="231F20"/>
                </a:solidFill>
              </a:rPr>
              <a:t>If it will, the resources are allocated; otherwise, the process must wait until some other process releases </a:t>
            </a:r>
            <a:r>
              <a:rPr lang="en-IN" sz="2400" dirty="0">
                <a:solidFill>
                  <a:srgbClr val="231F20"/>
                </a:solidFill>
              </a:rPr>
              <a:t>enough resources.</a:t>
            </a:r>
          </a:p>
        </p:txBody>
      </p:sp>
    </p:spTree>
    <p:extLst>
      <p:ext uri="{BB962C8B-B14F-4D97-AF65-F5344CB8AC3E}">
        <p14:creationId xmlns:p14="http://schemas.microsoft.com/office/powerpoint/2010/main" val="297261314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5491440"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Methods of Handling Deadlock</a:t>
            </a:r>
          </a:p>
        </p:txBody>
      </p:sp>
      <p:sp>
        <p:nvSpPr>
          <p:cNvPr id="4" name="TextBox 3">
            <a:extLst>
              <a:ext uri="{FF2B5EF4-FFF2-40B4-BE49-F238E27FC236}">
                <a16:creationId xmlns:a16="http://schemas.microsoft.com/office/drawing/2014/main" id="{9005CDA4-8E87-EA64-8F45-40CF74BDFF05}"/>
              </a:ext>
            </a:extLst>
          </p:cNvPr>
          <p:cNvSpPr txBox="1"/>
          <p:nvPr/>
        </p:nvSpPr>
        <p:spPr>
          <a:xfrm>
            <a:off x="691423" y="1214019"/>
            <a:ext cx="5310543" cy="369332"/>
          </a:xfrm>
          <a:prstGeom prst="rect">
            <a:avLst/>
          </a:prstGeom>
          <a:noFill/>
        </p:spPr>
        <p:txBody>
          <a:bodyPr wrap="square">
            <a:spAutoFit/>
          </a:bodyPr>
          <a:lstStyle/>
          <a:p>
            <a:r>
              <a:rPr lang="en-US" sz="1800" dirty="0">
                <a:highlight>
                  <a:srgbClr val="FFFF00"/>
                </a:highlight>
                <a:latin typeface="Arial" pitchFamily="34" charset="0"/>
                <a:cs typeface="Arial" pitchFamily="34" charset="0"/>
              </a:rPr>
              <a:t>Deadlock Avoidance – </a:t>
            </a:r>
            <a:endParaRPr lang="en-IN" dirty="0">
              <a:highlight>
                <a:srgbClr val="99FFCC"/>
              </a:highlight>
            </a:endParaRPr>
          </a:p>
        </p:txBody>
      </p:sp>
      <p:sp>
        <p:nvSpPr>
          <p:cNvPr id="7" name="TextBox 6">
            <a:extLst>
              <a:ext uri="{FF2B5EF4-FFF2-40B4-BE49-F238E27FC236}">
                <a16:creationId xmlns:a16="http://schemas.microsoft.com/office/drawing/2014/main" id="{CD416649-8EB9-1670-5BD5-2D348A6D5A56}"/>
              </a:ext>
            </a:extLst>
          </p:cNvPr>
          <p:cNvSpPr txBox="1"/>
          <p:nvPr/>
        </p:nvSpPr>
        <p:spPr>
          <a:xfrm>
            <a:off x="3048811" y="1214019"/>
            <a:ext cx="6094378" cy="369332"/>
          </a:xfrm>
          <a:prstGeom prst="rect">
            <a:avLst/>
          </a:prstGeom>
          <a:noFill/>
        </p:spPr>
        <p:txBody>
          <a:bodyPr wrap="square">
            <a:spAutoFit/>
          </a:bodyPr>
          <a:lstStyle/>
          <a:p>
            <a:r>
              <a:rPr lang="en-US" dirty="0">
                <a:highlight>
                  <a:srgbClr val="99FFCC"/>
                </a:highlight>
                <a:latin typeface="Arial" pitchFamily="34" charset="0"/>
                <a:cs typeface="Arial" pitchFamily="34" charset="0"/>
              </a:rPr>
              <a:t>Data Structures for Banker’s </a:t>
            </a:r>
            <a:r>
              <a:rPr lang="en-US" sz="1800" dirty="0">
                <a:highlight>
                  <a:srgbClr val="99FFCC"/>
                </a:highlight>
                <a:latin typeface="Arial" pitchFamily="34" charset="0"/>
                <a:cs typeface="Arial" pitchFamily="34" charset="0"/>
              </a:rPr>
              <a:t>Algorithm</a:t>
            </a:r>
            <a:endParaRPr lang="en-IN" dirty="0"/>
          </a:p>
        </p:txBody>
      </p:sp>
      <p:sp>
        <p:nvSpPr>
          <p:cNvPr id="2" name="Rectangle 3">
            <a:extLst>
              <a:ext uri="{FF2B5EF4-FFF2-40B4-BE49-F238E27FC236}">
                <a16:creationId xmlns:a16="http://schemas.microsoft.com/office/drawing/2014/main" id="{88504D17-2083-6DDA-BFE2-8AEEC1B158BD}"/>
              </a:ext>
            </a:extLst>
          </p:cNvPr>
          <p:cNvSpPr txBox="1">
            <a:spLocks noChangeArrowheads="1"/>
          </p:cNvSpPr>
          <p:nvPr/>
        </p:nvSpPr>
        <p:spPr>
          <a:xfrm>
            <a:off x="844681" y="2458176"/>
            <a:ext cx="10183045" cy="34883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en-US" sz="2400" b="1" dirty="0"/>
              <a:t>Available</a:t>
            </a:r>
            <a:r>
              <a:rPr lang="en-US" altLang="en-US" sz="2400" i="1" dirty="0"/>
              <a:t>:</a:t>
            </a:r>
            <a:r>
              <a:rPr lang="en-US" altLang="en-US" sz="2400" dirty="0"/>
              <a:t>  Vector of length </a:t>
            </a:r>
            <a:r>
              <a:rPr lang="en-US" altLang="en-US" sz="2400" i="1" dirty="0"/>
              <a:t>m</a:t>
            </a:r>
            <a:r>
              <a:rPr lang="en-US" altLang="en-US" sz="2400" dirty="0"/>
              <a:t>. If available[</a:t>
            </a:r>
            <a:r>
              <a:rPr lang="en-US" altLang="en-US" sz="2400" i="1" dirty="0"/>
              <a:t>j</a:t>
            </a:r>
            <a:r>
              <a:rPr lang="en-US" altLang="en-US" sz="2400" dirty="0"/>
              <a:t>] = </a:t>
            </a:r>
            <a:r>
              <a:rPr lang="en-US" altLang="en-US" sz="2400" i="1" dirty="0"/>
              <a:t>k</a:t>
            </a:r>
            <a:r>
              <a:rPr lang="en-US" altLang="en-US" sz="2400" dirty="0"/>
              <a:t>, there are</a:t>
            </a:r>
            <a:r>
              <a:rPr lang="en-US" altLang="en-US" sz="2400" i="1" dirty="0"/>
              <a:t> k</a:t>
            </a:r>
            <a:r>
              <a:rPr lang="en-US" altLang="en-US" sz="2400" dirty="0"/>
              <a:t> instances of resource type </a:t>
            </a:r>
            <a:r>
              <a:rPr lang="en-US" altLang="en-US" sz="2400" i="1" dirty="0" err="1"/>
              <a:t>R</a:t>
            </a:r>
            <a:r>
              <a:rPr lang="en-US" altLang="en-US" sz="2400" i="1" baseline="-25000" dirty="0" err="1"/>
              <a:t>j</a:t>
            </a:r>
            <a:r>
              <a:rPr lang="en-US" altLang="en-US" sz="2400" baseline="-25000" dirty="0"/>
              <a:t>  </a:t>
            </a:r>
            <a:r>
              <a:rPr lang="en-US" altLang="en-US" sz="2400" dirty="0"/>
              <a:t>available</a:t>
            </a:r>
          </a:p>
          <a:p>
            <a:pPr algn="just"/>
            <a:r>
              <a:rPr lang="en-US" altLang="en-US" sz="2400" b="1" dirty="0">
                <a:solidFill>
                  <a:srgbClr val="000000"/>
                </a:solidFill>
              </a:rPr>
              <a:t>Max</a:t>
            </a:r>
            <a:r>
              <a:rPr lang="en-US" altLang="en-US" sz="2400" i="1" dirty="0"/>
              <a:t>: n x m</a:t>
            </a:r>
            <a:r>
              <a:rPr lang="en-US" altLang="en-US" sz="2400" dirty="0"/>
              <a:t> matrix.  If </a:t>
            </a:r>
            <a:r>
              <a:rPr lang="en-US" altLang="en-US" sz="2400" i="1" dirty="0"/>
              <a:t>Max</a:t>
            </a:r>
            <a:r>
              <a:rPr lang="en-US" altLang="en-US" sz="2400" dirty="0"/>
              <a:t>[</a:t>
            </a:r>
            <a:r>
              <a:rPr lang="en-US" altLang="en-US" sz="2400" i="1" dirty="0" err="1"/>
              <a:t>i,j</a:t>
            </a:r>
            <a:r>
              <a:rPr lang="en-US" altLang="en-US" sz="2400" dirty="0"/>
              <a:t>] = </a:t>
            </a:r>
            <a:r>
              <a:rPr lang="en-US" altLang="en-US" sz="2400" i="1" dirty="0"/>
              <a:t>k</a:t>
            </a:r>
            <a:r>
              <a:rPr lang="en-US" altLang="en-US" sz="2400" dirty="0"/>
              <a:t>, then process </a:t>
            </a:r>
            <a:r>
              <a:rPr lang="en-US" altLang="en-US" sz="2400" i="1" dirty="0"/>
              <a:t>P</a:t>
            </a:r>
            <a:r>
              <a:rPr lang="en-US" altLang="en-US" sz="2400" i="1" baseline="-25000" dirty="0"/>
              <a:t>i</a:t>
            </a:r>
            <a:r>
              <a:rPr lang="en-US" altLang="en-US" sz="2400" i="1" dirty="0"/>
              <a:t> </a:t>
            </a:r>
            <a:r>
              <a:rPr lang="en-US" altLang="en-US" sz="2400" dirty="0"/>
              <a:t>may request at most</a:t>
            </a:r>
            <a:r>
              <a:rPr lang="en-US" altLang="en-US" sz="2400" i="1" dirty="0"/>
              <a:t> k </a:t>
            </a:r>
            <a:r>
              <a:rPr lang="en-US" altLang="en-US" sz="2400" dirty="0"/>
              <a:t>instances of resource type </a:t>
            </a:r>
            <a:r>
              <a:rPr lang="en-US" altLang="en-US" sz="2400" i="1" dirty="0" err="1"/>
              <a:t>R</a:t>
            </a:r>
            <a:r>
              <a:rPr lang="en-US" altLang="en-US" sz="2400" i="1" baseline="-25000" dirty="0" err="1"/>
              <a:t>j</a:t>
            </a:r>
            <a:endParaRPr lang="en-US" altLang="en-US" sz="2400" i="1" baseline="-25000" dirty="0"/>
          </a:p>
          <a:p>
            <a:pPr algn="just"/>
            <a:r>
              <a:rPr lang="en-US" altLang="en-US" sz="2400" b="1" dirty="0">
                <a:solidFill>
                  <a:srgbClr val="000000"/>
                </a:solidFill>
              </a:rPr>
              <a:t>Allocation</a:t>
            </a:r>
            <a:r>
              <a:rPr lang="en-US" altLang="en-US" sz="2400" i="1" dirty="0"/>
              <a:t>:  n </a:t>
            </a:r>
            <a:r>
              <a:rPr lang="en-US" altLang="en-US" sz="2400" dirty="0"/>
              <a:t>x</a:t>
            </a:r>
            <a:r>
              <a:rPr lang="en-US" altLang="en-US" sz="2400" i="1" dirty="0"/>
              <a:t> m</a:t>
            </a:r>
            <a:r>
              <a:rPr lang="en-US" altLang="en-US" sz="2400" dirty="0"/>
              <a:t> matrix.  If Allocation[</a:t>
            </a:r>
            <a:r>
              <a:rPr lang="en-US" altLang="en-US" sz="2400" i="1" dirty="0" err="1"/>
              <a:t>i,j</a:t>
            </a:r>
            <a:r>
              <a:rPr lang="en-US" altLang="en-US" sz="2400" dirty="0"/>
              <a:t>] = </a:t>
            </a:r>
            <a:r>
              <a:rPr lang="en-US" altLang="en-US" sz="2400" i="1" dirty="0"/>
              <a:t>k</a:t>
            </a:r>
            <a:r>
              <a:rPr lang="en-US" altLang="en-US" sz="2400" dirty="0"/>
              <a:t> then</a:t>
            </a:r>
            <a:r>
              <a:rPr lang="en-US" altLang="en-US" sz="2400" i="1" dirty="0"/>
              <a:t> P</a:t>
            </a:r>
            <a:r>
              <a:rPr lang="en-US" altLang="en-US" sz="2400" i="1" baseline="-25000" dirty="0"/>
              <a:t>i</a:t>
            </a:r>
            <a:r>
              <a:rPr lang="en-US" altLang="en-US" sz="2400" dirty="0"/>
              <a:t> is currently allocated </a:t>
            </a:r>
            <a:r>
              <a:rPr lang="en-US" altLang="en-US" sz="2400" i="1" dirty="0"/>
              <a:t>k</a:t>
            </a:r>
            <a:r>
              <a:rPr lang="en-US" altLang="en-US" sz="2400" dirty="0"/>
              <a:t> instances of </a:t>
            </a:r>
            <a:r>
              <a:rPr lang="en-US" altLang="en-US" sz="2400" i="1" dirty="0" err="1"/>
              <a:t>R</a:t>
            </a:r>
            <a:r>
              <a:rPr lang="en-US" altLang="en-US" sz="2400" i="1" baseline="-25000" dirty="0" err="1"/>
              <a:t>j</a:t>
            </a:r>
            <a:endParaRPr lang="en-US" altLang="en-US" sz="2400" i="1" baseline="-25000" dirty="0"/>
          </a:p>
          <a:p>
            <a:pPr algn="just"/>
            <a:r>
              <a:rPr lang="en-US" altLang="en-US" sz="2400" b="1" dirty="0">
                <a:solidFill>
                  <a:srgbClr val="000000"/>
                </a:solidFill>
              </a:rPr>
              <a:t>Need</a:t>
            </a:r>
            <a:r>
              <a:rPr lang="en-US" altLang="en-US" sz="2400" i="1" dirty="0"/>
              <a:t>:  n </a:t>
            </a:r>
            <a:r>
              <a:rPr lang="en-US" altLang="en-US" sz="2400" dirty="0"/>
              <a:t>x</a:t>
            </a:r>
            <a:r>
              <a:rPr lang="en-US" altLang="en-US" sz="2400" i="1" dirty="0"/>
              <a:t> m</a:t>
            </a:r>
            <a:r>
              <a:rPr lang="en-US" altLang="en-US" sz="2400" dirty="0"/>
              <a:t> matrix. If </a:t>
            </a:r>
            <a:r>
              <a:rPr lang="en-US" altLang="en-US" sz="2400" i="1" dirty="0"/>
              <a:t>Need</a:t>
            </a:r>
            <a:r>
              <a:rPr lang="en-US" altLang="en-US" sz="2400" dirty="0"/>
              <a:t>[</a:t>
            </a:r>
            <a:r>
              <a:rPr lang="en-US" altLang="en-US" sz="2400" i="1" dirty="0" err="1"/>
              <a:t>i,j</a:t>
            </a:r>
            <a:r>
              <a:rPr lang="en-US" altLang="en-US" sz="2400" dirty="0"/>
              <a:t>] =</a:t>
            </a:r>
            <a:r>
              <a:rPr lang="en-US" altLang="en-US" sz="2400" i="1" dirty="0"/>
              <a:t> k</a:t>
            </a:r>
            <a:r>
              <a:rPr lang="en-US" altLang="en-US" sz="2400" dirty="0"/>
              <a:t>, then</a:t>
            </a:r>
            <a:r>
              <a:rPr lang="en-US" altLang="en-US" sz="2400" i="1" dirty="0"/>
              <a:t> P</a:t>
            </a:r>
            <a:r>
              <a:rPr lang="en-US" altLang="en-US" sz="2400" i="1" baseline="-25000" dirty="0"/>
              <a:t>i</a:t>
            </a:r>
            <a:r>
              <a:rPr lang="en-US" altLang="en-US" sz="2400" dirty="0"/>
              <a:t> may need </a:t>
            </a:r>
            <a:r>
              <a:rPr lang="en-US" altLang="en-US" sz="2400" i="1" dirty="0"/>
              <a:t>k</a:t>
            </a:r>
            <a:r>
              <a:rPr lang="en-US" altLang="en-US" sz="2400" dirty="0"/>
              <a:t> more instances of </a:t>
            </a:r>
            <a:r>
              <a:rPr lang="en-US" altLang="en-US" sz="2400" i="1" dirty="0" err="1"/>
              <a:t>R</a:t>
            </a:r>
            <a:r>
              <a:rPr lang="en-US" altLang="en-US" sz="2400" i="1" baseline="-25000" dirty="0" err="1"/>
              <a:t>j</a:t>
            </a:r>
            <a:r>
              <a:rPr lang="en-US" altLang="en-US" sz="2400" baseline="-25000" dirty="0"/>
              <a:t> </a:t>
            </a:r>
            <a:r>
              <a:rPr lang="en-US" altLang="en-US" sz="2400" dirty="0"/>
              <a:t>to complete its task</a:t>
            </a:r>
          </a:p>
          <a:p>
            <a:pPr lvl="2">
              <a:buFont typeface="Webdings" panose="05030102010509060703" pitchFamily="18" charset="2"/>
              <a:buNone/>
            </a:pPr>
            <a:r>
              <a:rPr lang="en-US" altLang="en-US" i="1" dirty="0"/>
              <a:t>Need</a:t>
            </a:r>
            <a:r>
              <a:rPr lang="en-US" altLang="en-US" dirty="0"/>
              <a:t> [</a:t>
            </a:r>
            <a:r>
              <a:rPr lang="en-US" altLang="en-US" i="1" dirty="0" err="1"/>
              <a:t>i,j</a:t>
            </a:r>
            <a:r>
              <a:rPr lang="en-US" altLang="en-US" i="1" dirty="0"/>
              <a:t>]</a:t>
            </a:r>
            <a:r>
              <a:rPr lang="en-US" altLang="en-US" dirty="0"/>
              <a:t> = </a:t>
            </a:r>
            <a:r>
              <a:rPr lang="en-US" altLang="en-US" i="1" dirty="0"/>
              <a:t>Max</a:t>
            </a:r>
            <a:r>
              <a:rPr lang="en-US" altLang="en-US" dirty="0"/>
              <a:t>[</a:t>
            </a:r>
            <a:r>
              <a:rPr lang="en-US" altLang="en-US" i="1" dirty="0" err="1"/>
              <a:t>i,j</a:t>
            </a:r>
            <a:r>
              <a:rPr lang="en-US" altLang="en-US" dirty="0"/>
              <a:t>] – </a:t>
            </a:r>
            <a:r>
              <a:rPr lang="en-US" altLang="en-US" i="1" dirty="0"/>
              <a:t>Allocation</a:t>
            </a:r>
            <a:r>
              <a:rPr lang="en-US" altLang="en-US" dirty="0"/>
              <a:t> [</a:t>
            </a:r>
            <a:r>
              <a:rPr lang="en-US" altLang="en-US" i="1" dirty="0" err="1"/>
              <a:t>i,j</a:t>
            </a:r>
            <a:r>
              <a:rPr lang="en-US" altLang="en-US" dirty="0"/>
              <a:t>]</a:t>
            </a:r>
          </a:p>
        </p:txBody>
      </p:sp>
      <p:sp>
        <p:nvSpPr>
          <p:cNvPr id="5" name="Text Box 4">
            <a:extLst>
              <a:ext uri="{FF2B5EF4-FFF2-40B4-BE49-F238E27FC236}">
                <a16:creationId xmlns:a16="http://schemas.microsoft.com/office/drawing/2014/main" id="{BCE25AB0-6287-6DD1-8FC3-052AA1E83AFD}"/>
              </a:ext>
            </a:extLst>
          </p:cNvPr>
          <p:cNvSpPr txBox="1">
            <a:spLocks noChangeArrowheads="1"/>
          </p:cNvSpPr>
          <p:nvPr/>
        </p:nvSpPr>
        <p:spPr bwMode="auto">
          <a:xfrm>
            <a:off x="951700" y="1837407"/>
            <a:ext cx="957991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pPr>
            <a:r>
              <a:rPr lang="en-US" altLang="en-US" dirty="0">
                <a:latin typeface="Helvetica" panose="020B0604020202020204" pitchFamily="34" charset="0"/>
              </a:rPr>
              <a:t>Let </a:t>
            </a:r>
            <a:r>
              <a:rPr lang="en-US" altLang="en-US" i="1" dirty="0">
                <a:latin typeface="Helvetica" panose="020B0604020202020204" pitchFamily="34" charset="0"/>
              </a:rPr>
              <a:t>n</a:t>
            </a:r>
            <a:r>
              <a:rPr lang="en-US" altLang="en-US" dirty="0">
                <a:latin typeface="Helvetica" panose="020B0604020202020204" pitchFamily="34" charset="0"/>
              </a:rPr>
              <a:t> = number of processes, and </a:t>
            </a:r>
            <a:r>
              <a:rPr lang="en-US" altLang="en-US" i="1" dirty="0">
                <a:latin typeface="Helvetica" panose="020B0604020202020204" pitchFamily="34" charset="0"/>
              </a:rPr>
              <a:t>m </a:t>
            </a:r>
            <a:r>
              <a:rPr lang="en-US" altLang="en-US" dirty="0">
                <a:latin typeface="Helvetica" panose="020B0604020202020204" pitchFamily="34" charset="0"/>
              </a:rPr>
              <a:t>= number of resources types. </a:t>
            </a:r>
          </a:p>
        </p:txBody>
      </p:sp>
    </p:spTree>
    <p:extLst>
      <p:ext uri="{BB962C8B-B14F-4D97-AF65-F5344CB8AC3E}">
        <p14:creationId xmlns:p14="http://schemas.microsoft.com/office/powerpoint/2010/main" val="260873854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5491440"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Methods of Handling Deadlock</a:t>
            </a:r>
          </a:p>
        </p:txBody>
      </p:sp>
      <p:sp>
        <p:nvSpPr>
          <p:cNvPr id="4" name="TextBox 3">
            <a:extLst>
              <a:ext uri="{FF2B5EF4-FFF2-40B4-BE49-F238E27FC236}">
                <a16:creationId xmlns:a16="http://schemas.microsoft.com/office/drawing/2014/main" id="{9005CDA4-8E87-EA64-8F45-40CF74BDFF05}"/>
              </a:ext>
            </a:extLst>
          </p:cNvPr>
          <p:cNvSpPr txBox="1"/>
          <p:nvPr/>
        </p:nvSpPr>
        <p:spPr>
          <a:xfrm>
            <a:off x="691423" y="1214019"/>
            <a:ext cx="5310543" cy="369332"/>
          </a:xfrm>
          <a:prstGeom prst="rect">
            <a:avLst/>
          </a:prstGeom>
          <a:noFill/>
        </p:spPr>
        <p:txBody>
          <a:bodyPr wrap="square">
            <a:spAutoFit/>
          </a:bodyPr>
          <a:lstStyle/>
          <a:p>
            <a:r>
              <a:rPr lang="en-US" sz="1800" dirty="0">
                <a:highlight>
                  <a:srgbClr val="FFFF00"/>
                </a:highlight>
                <a:latin typeface="Arial" pitchFamily="34" charset="0"/>
                <a:cs typeface="Arial" pitchFamily="34" charset="0"/>
              </a:rPr>
              <a:t>Deadlock Avoidance – </a:t>
            </a:r>
            <a:endParaRPr lang="en-IN" dirty="0">
              <a:highlight>
                <a:srgbClr val="99FFCC"/>
              </a:highlight>
            </a:endParaRPr>
          </a:p>
        </p:txBody>
      </p:sp>
      <p:sp>
        <p:nvSpPr>
          <p:cNvPr id="7" name="TextBox 6">
            <a:extLst>
              <a:ext uri="{FF2B5EF4-FFF2-40B4-BE49-F238E27FC236}">
                <a16:creationId xmlns:a16="http://schemas.microsoft.com/office/drawing/2014/main" id="{CD416649-8EB9-1670-5BD5-2D348A6D5A56}"/>
              </a:ext>
            </a:extLst>
          </p:cNvPr>
          <p:cNvSpPr txBox="1"/>
          <p:nvPr/>
        </p:nvSpPr>
        <p:spPr>
          <a:xfrm>
            <a:off x="3048811" y="1214019"/>
            <a:ext cx="6094378" cy="369332"/>
          </a:xfrm>
          <a:prstGeom prst="rect">
            <a:avLst/>
          </a:prstGeom>
          <a:noFill/>
        </p:spPr>
        <p:txBody>
          <a:bodyPr wrap="square">
            <a:spAutoFit/>
          </a:bodyPr>
          <a:lstStyle/>
          <a:p>
            <a:r>
              <a:rPr lang="en-US" dirty="0">
                <a:highlight>
                  <a:srgbClr val="99FFCC"/>
                </a:highlight>
                <a:latin typeface="Arial" pitchFamily="34" charset="0"/>
                <a:cs typeface="Arial" pitchFamily="34" charset="0"/>
              </a:rPr>
              <a:t>Banker’s </a:t>
            </a:r>
            <a:r>
              <a:rPr lang="en-US" sz="1800" dirty="0">
                <a:highlight>
                  <a:srgbClr val="99FFCC"/>
                </a:highlight>
                <a:latin typeface="Arial" pitchFamily="34" charset="0"/>
                <a:cs typeface="Arial" pitchFamily="34" charset="0"/>
              </a:rPr>
              <a:t>Algorithm – </a:t>
            </a:r>
            <a:r>
              <a:rPr lang="en-US" sz="1800" dirty="0">
                <a:highlight>
                  <a:srgbClr val="00FFFF"/>
                </a:highlight>
                <a:latin typeface="Arial" pitchFamily="34" charset="0"/>
                <a:cs typeface="Arial" pitchFamily="34" charset="0"/>
              </a:rPr>
              <a:t>Safety Algorithm.</a:t>
            </a:r>
            <a:endParaRPr lang="en-IN" dirty="0">
              <a:highlight>
                <a:srgbClr val="00FFFF"/>
              </a:highlight>
            </a:endParaRPr>
          </a:p>
        </p:txBody>
      </p:sp>
      <p:sp>
        <p:nvSpPr>
          <p:cNvPr id="6" name="Rectangle 3">
            <a:extLst>
              <a:ext uri="{FF2B5EF4-FFF2-40B4-BE49-F238E27FC236}">
                <a16:creationId xmlns:a16="http://schemas.microsoft.com/office/drawing/2014/main" id="{4A266A85-03B8-58EB-F7BF-0722C2883ED4}"/>
              </a:ext>
            </a:extLst>
          </p:cNvPr>
          <p:cNvSpPr txBox="1">
            <a:spLocks noChangeArrowheads="1"/>
          </p:cNvSpPr>
          <p:nvPr/>
        </p:nvSpPr>
        <p:spPr>
          <a:xfrm>
            <a:off x="1210732" y="1713286"/>
            <a:ext cx="9257354" cy="456105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onotype Sorts" pitchFamily="-84" charset="2"/>
              <a:buAutoNum type="arabicPeriod"/>
            </a:pPr>
            <a:r>
              <a:rPr lang="en-US" altLang="en-US" sz="2200" dirty="0"/>
              <a:t>Let </a:t>
            </a:r>
            <a:r>
              <a:rPr lang="en-US" altLang="en-US" sz="2200" b="1" i="1" dirty="0">
                <a:solidFill>
                  <a:srgbClr val="000000"/>
                </a:solidFill>
              </a:rPr>
              <a:t>Work</a:t>
            </a:r>
            <a:r>
              <a:rPr lang="en-US" altLang="en-US" sz="2200" i="1" dirty="0">
                <a:solidFill>
                  <a:srgbClr val="000000"/>
                </a:solidFill>
              </a:rPr>
              <a:t> </a:t>
            </a:r>
            <a:r>
              <a:rPr lang="en-US" altLang="en-US" sz="2200" dirty="0"/>
              <a:t>and </a:t>
            </a:r>
            <a:r>
              <a:rPr lang="en-US" altLang="en-US" sz="2200" b="1" i="1" dirty="0">
                <a:solidFill>
                  <a:srgbClr val="000000"/>
                </a:solidFill>
              </a:rPr>
              <a:t>Finish</a:t>
            </a:r>
            <a:r>
              <a:rPr lang="en-US" altLang="en-US" sz="2200" dirty="0">
                <a:solidFill>
                  <a:srgbClr val="000000"/>
                </a:solidFill>
              </a:rPr>
              <a:t> </a:t>
            </a:r>
            <a:r>
              <a:rPr lang="en-US" altLang="en-US" sz="2200" dirty="0"/>
              <a:t>be vectors of length</a:t>
            </a:r>
            <a:r>
              <a:rPr lang="en-US" altLang="en-US" sz="2200" i="1" dirty="0"/>
              <a:t> m</a:t>
            </a:r>
            <a:r>
              <a:rPr lang="en-US" altLang="en-US" sz="2200" dirty="0"/>
              <a:t> and</a:t>
            </a:r>
            <a:r>
              <a:rPr lang="en-US" altLang="en-US" sz="2200" i="1" dirty="0"/>
              <a:t> n</a:t>
            </a:r>
            <a:r>
              <a:rPr lang="en-US" altLang="en-US" sz="2200" dirty="0"/>
              <a:t>, respectively.    </a:t>
            </a:r>
          </a:p>
          <a:p>
            <a:pPr marL="0" indent="0">
              <a:buNone/>
            </a:pPr>
            <a:r>
              <a:rPr lang="en-US" altLang="en-US" sz="2200" dirty="0"/>
              <a:t>        Initialize:</a:t>
            </a:r>
          </a:p>
          <a:p>
            <a:pPr marL="1543050" lvl="3" indent="-342900">
              <a:buFontTx/>
              <a:buNone/>
            </a:pPr>
            <a:r>
              <a:rPr lang="en-US" altLang="en-US" sz="2200" b="1" i="1" dirty="0"/>
              <a:t>Work </a:t>
            </a:r>
            <a:r>
              <a:rPr lang="en-US" altLang="en-US" sz="2200" b="1" dirty="0"/>
              <a:t>= </a:t>
            </a:r>
            <a:r>
              <a:rPr lang="en-US" altLang="en-US" sz="2200" b="1" i="1" dirty="0"/>
              <a:t>Available</a:t>
            </a:r>
          </a:p>
          <a:p>
            <a:pPr marL="1543050" lvl="3" indent="-342900">
              <a:buFontTx/>
              <a:buNone/>
            </a:pPr>
            <a:r>
              <a:rPr lang="en-US" altLang="en-US" sz="2200" b="1" i="1" dirty="0"/>
              <a:t>Finish </a:t>
            </a:r>
            <a:r>
              <a:rPr lang="en-US" altLang="en-US" sz="2200" b="1" dirty="0"/>
              <a:t>[</a:t>
            </a:r>
            <a:r>
              <a:rPr lang="en-US" altLang="en-US" sz="2200" b="1" i="1" dirty="0" err="1"/>
              <a:t>i</a:t>
            </a:r>
            <a:r>
              <a:rPr lang="en-US" altLang="en-US" sz="2200" b="1" dirty="0"/>
              <a:t>] =</a:t>
            </a:r>
            <a:r>
              <a:rPr lang="en-US" altLang="en-US" sz="2200" b="1" i="1" dirty="0"/>
              <a:t> false </a:t>
            </a:r>
            <a:r>
              <a:rPr lang="en-US" altLang="en-US" sz="2200" b="1" dirty="0"/>
              <a:t>for</a:t>
            </a:r>
            <a:r>
              <a:rPr lang="en-US" altLang="en-US" sz="2200" b="1" i="1" dirty="0"/>
              <a:t> </a:t>
            </a:r>
            <a:r>
              <a:rPr lang="en-US" altLang="en-US" sz="2200" b="1" i="1" dirty="0" err="1"/>
              <a:t>i</a:t>
            </a:r>
            <a:r>
              <a:rPr lang="en-US" altLang="en-US" sz="2200" b="1" dirty="0"/>
              <a:t> = 0, 1, …, </a:t>
            </a:r>
            <a:r>
              <a:rPr lang="en-US" altLang="en-US" sz="2200" b="1" i="1" dirty="0"/>
              <a:t>n- </a:t>
            </a:r>
            <a:r>
              <a:rPr lang="en-US" altLang="en-US" sz="2200" b="1" dirty="0"/>
              <a:t>1</a:t>
            </a:r>
          </a:p>
          <a:p>
            <a:pPr>
              <a:buFont typeface="Monotype Sorts" pitchFamily="-84" charset="2"/>
              <a:buNone/>
            </a:pPr>
            <a:r>
              <a:rPr lang="en-US" altLang="en-US" sz="2200" dirty="0"/>
              <a:t>2.   Find an </a:t>
            </a:r>
            <a:r>
              <a:rPr lang="en-US" altLang="en-US" sz="2200" b="1" i="1" dirty="0" err="1"/>
              <a:t>i</a:t>
            </a:r>
            <a:r>
              <a:rPr lang="en-US" altLang="en-US" sz="2200" i="1" dirty="0"/>
              <a:t> </a:t>
            </a:r>
            <a:r>
              <a:rPr lang="en-US" altLang="en-US" sz="2200" dirty="0"/>
              <a:t>such that both: </a:t>
            </a:r>
          </a:p>
          <a:p>
            <a:pPr marL="800100" lvl="1" indent="-342900">
              <a:buFont typeface="Monotype Sorts" pitchFamily="-84" charset="2"/>
              <a:buNone/>
            </a:pPr>
            <a:r>
              <a:rPr lang="en-US" altLang="en-US" sz="2200" dirty="0"/>
              <a:t>(a) </a:t>
            </a:r>
            <a:r>
              <a:rPr lang="en-US" altLang="en-US" sz="2200" b="1" i="1" dirty="0"/>
              <a:t>Finish</a:t>
            </a:r>
            <a:r>
              <a:rPr lang="en-US" altLang="en-US" sz="2200" b="1" dirty="0"/>
              <a:t> [</a:t>
            </a:r>
            <a:r>
              <a:rPr lang="en-US" altLang="en-US" sz="2200" b="1" i="1" dirty="0" err="1"/>
              <a:t>i</a:t>
            </a:r>
            <a:r>
              <a:rPr lang="en-US" altLang="en-US" sz="2200" b="1" dirty="0"/>
              <a:t>] = </a:t>
            </a:r>
            <a:r>
              <a:rPr lang="en-US" altLang="en-US" sz="2200" b="1" i="1" dirty="0"/>
              <a:t>false</a:t>
            </a:r>
            <a:endParaRPr lang="en-US" altLang="en-US" sz="2200" b="1" dirty="0"/>
          </a:p>
          <a:p>
            <a:pPr marL="800100" lvl="1" indent="-342900">
              <a:buFont typeface="Monotype Sorts" pitchFamily="-84" charset="2"/>
              <a:buNone/>
            </a:pPr>
            <a:r>
              <a:rPr lang="en-US" altLang="en-US" sz="2200" dirty="0"/>
              <a:t>(b) </a:t>
            </a:r>
            <a:r>
              <a:rPr lang="en-US" altLang="en-US" sz="2200" b="1" i="1" dirty="0" err="1"/>
              <a:t>Need</a:t>
            </a:r>
            <a:r>
              <a:rPr lang="en-US" altLang="en-US" sz="2200" b="1" i="1" baseline="-25000" dirty="0" err="1"/>
              <a:t>i</a:t>
            </a:r>
            <a:r>
              <a:rPr lang="en-US" altLang="en-US" sz="2200" b="1" dirty="0"/>
              <a:t> </a:t>
            </a:r>
            <a:r>
              <a:rPr lang="en-US" altLang="en-US" sz="2200" b="1" dirty="0">
                <a:sym typeface="Symbol" panose="05050102010706020507" pitchFamily="18" charset="2"/>
              </a:rPr>
              <a:t> </a:t>
            </a:r>
            <a:r>
              <a:rPr lang="en-US" altLang="en-US" sz="2200" b="1" i="1" dirty="0">
                <a:sym typeface="Symbol" panose="05050102010706020507" pitchFamily="18" charset="2"/>
              </a:rPr>
              <a:t>Work</a:t>
            </a:r>
          </a:p>
          <a:p>
            <a:pPr marL="800100" lvl="1" indent="-342900">
              <a:buFont typeface="Monotype Sorts" pitchFamily="-84" charset="2"/>
              <a:buNone/>
            </a:pPr>
            <a:r>
              <a:rPr lang="en-US" altLang="en-US" sz="2200" dirty="0">
                <a:sym typeface="Symbol" panose="05050102010706020507" pitchFamily="18" charset="2"/>
              </a:rPr>
              <a:t>If no such</a:t>
            </a:r>
            <a:r>
              <a:rPr lang="en-US" altLang="en-US" sz="2200" b="1" dirty="0">
                <a:sym typeface="Symbol" panose="05050102010706020507" pitchFamily="18" charset="2"/>
              </a:rPr>
              <a:t> </a:t>
            </a:r>
            <a:r>
              <a:rPr lang="en-US" altLang="en-US" sz="2200" b="1" i="1" dirty="0" err="1">
                <a:sym typeface="Symbol" panose="05050102010706020507" pitchFamily="18" charset="2"/>
              </a:rPr>
              <a:t>i</a:t>
            </a:r>
            <a:r>
              <a:rPr lang="en-US" altLang="en-US" sz="2200" b="1" i="1" dirty="0">
                <a:sym typeface="Symbol" panose="05050102010706020507" pitchFamily="18" charset="2"/>
              </a:rPr>
              <a:t> </a:t>
            </a:r>
            <a:r>
              <a:rPr lang="en-US" altLang="en-US" sz="2200" dirty="0">
                <a:sym typeface="Symbol" panose="05050102010706020507" pitchFamily="18" charset="2"/>
              </a:rPr>
              <a:t>exists, go to step 4</a:t>
            </a:r>
          </a:p>
          <a:p>
            <a:pPr>
              <a:buFont typeface="Monotype Sorts" pitchFamily="-84" charset="2"/>
              <a:buNone/>
            </a:pPr>
            <a:r>
              <a:rPr lang="en-US" altLang="en-US" sz="2200" i="1" dirty="0"/>
              <a:t>3.  </a:t>
            </a:r>
            <a:r>
              <a:rPr lang="en-US" altLang="en-US" sz="2200" b="1" i="1" dirty="0"/>
              <a:t>Work</a:t>
            </a:r>
            <a:r>
              <a:rPr lang="en-US" altLang="en-US" sz="2200" b="1" dirty="0"/>
              <a:t> = </a:t>
            </a:r>
            <a:r>
              <a:rPr lang="en-US" altLang="en-US" sz="2200" b="1" i="1" dirty="0"/>
              <a:t>Work </a:t>
            </a:r>
            <a:r>
              <a:rPr lang="en-US" altLang="en-US" sz="2200" b="1" dirty="0"/>
              <a:t>+ </a:t>
            </a:r>
            <a:r>
              <a:rPr lang="en-US" altLang="en-US" sz="2200" b="1" i="1" dirty="0" err="1"/>
              <a:t>Allocation</a:t>
            </a:r>
            <a:r>
              <a:rPr lang="en-US" altLang="en-US" sz="2200" b="1" i="1" baseline="-25000" dirty="0" err="1"/>
              <a:t>i</a:t>
            </a:r>
            <a:br>
              <a:rPr lang="en-US" altLang="en-US" sz="2200" b="1" dirty="0"/>
            </a:br>
            <a:r>
              <a:rPr lang="en-US" altLang="en-US" sz="2200" b="1" i="1" dirty="0"/>
              <a:t>Finish</a:t>
            </a:r>
            <a:r>
              <a:rPr lang="en-US" altLang="en-US" sz="2200" b="1" dirty="0"/>
              <a:t>[</a:t>
            </a:r>
            <a:r>
              <a:rPr lang="en-US" altLang="en-US" sz="2200" b="1" i="1" dirty="0" err="1"/>
              <a:t>i</a:t>
            </a:r>
            <a:r>
              <a:rPr lang="en-US" altLang="en-US" sz="2200" b="1" dirty="0"/>
              <a:t>] =</a:t>
            </a:r>
            <a:r>
              <a:rPr lang="en-US" altLang="en-US" sz="2200" b="1" i="1" dirty="0"/>
              <a:t> true</a:t>
            </a:r>
            <a:br>
              <a:rPr lang="en-US" altLang="en-US" sz="2200" b="1" dirty="0"/>
            </a:br>
            <a:r>
              <a:rPr lang="en-US" altLang="en-US" sz="2200" dirty="0"/>
              <a:t>go to step 2</a:t>
            </a:r>
          </a:p>
          <a:p>
            <a:pPr>
              <a:buFont typeface="Monotype Sorts" pitchFamily="-84" charset="2"/>
              <a:buNone/>
            </a:pPr>
            <a:r>
              <a:rPr lang="en-US" altLang="en-US" sz="2200" dirty="0"/>
              <a:t>4.	If </a:t>
            </a:r>
            <a:r>
              <a:rPr lang="en-US" altLang="en-US" sz="2200" b="1" i="1" dirty="0"/>
              <a:t>Finish</a:t>
            </a:r>
            <a:r>
              <a:rPr lang="en-US" altLang="en-US" sz="2200" b="1" dirty="0"/>
              <a:t> [</a:t>
            </a:r>
            <a:r>
              <a:rPr lang="en-US" altLang="en-US" sz="2200" b="1" i="1" dirty="0" err="1"/>
              <a:t>i</a:t>
            </a:r>
            <a:r>
              <a:rPr lang="en-US" altLang="en-US" sz="2200" b="1" dirty="0"/>
              <a:t>] == </a:t>
            </a:r>
            <a:r>
              <a:rPr lang="en-US" altLang="en-US" sz="2200" b="1" i="1" dirty="0"/>
              <a:t>true</a:t>
            </a:r>
            <a:r>
              <a:rPr lang="en-US" altLang="en-US" sz="2200" b="1" dirty="0"/>
              <a:t> </a:t>
            </a:r>
            <a:r>
              <a:rPr lang="en-US" altLang="en-US" sz="2200" dirty="0"/>
              <a:t>for all </a:t>
            </a:r>
            <a:r>
              <a:rPr lang="en-US" altLang="en-US" sz="2200" b="1" i="1" dirty="0" err="1"/>
              <a:t>i</a:t>
            </a:r>
            <a:r>
              <a:rPr lang="en-US" altLang="en-US" sz="2200" dirty="0"/>
              <a:t>, then the system is in a safe state</a:t>
            </a:r>
          </a:p>
        </p:txBody>
      </p:sp>
    </p:spTree>
    <p:extLst>
      <p:ext uri="{BB962C8B-B14F-4D97-AF65-F5344CB8AC3E}">
        <p14:creationId xmlns:p14="http://schemas.microsoft.com/office/powerpoint/2010/main" val="56340660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5491440"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Methods of Handling Deadlock</a:t>
            </a:r>
          </a:p>
        </p:txBody>
      </p:sp>
      <p:sp>
        <p:nvSpPr>
          <p:cNvPr id="4" name="TextBox 3">
            <a:extLst>
              <a:ext uri="{FF2B5EF4-FFF2-40B4-BE49-F238E27FC236}">
                <a16:creationId xmlns:a16="http://schemas.microsoft.com/office/drawing/2014/main" id="{9005CDA4-8E87-EA64-8F45-40CF74BDFF05}"/>
              </a:ext>
            </a:extLst>
          </p:cNvPr>
          <p:cNvSpPr txBox="1"/>
          <p:nvPr/>
        </p:nvSpPr>
        <p:spPr>
          <a:xfrm>
            <a:off x="691423" y="1214019"/>
            <a:ext cx="5310543" cy="369332"/>
          </a:xfrm>
          <a:prstGeom prst="rect">
            <a:avLst/>
          </a:prstGeom>
          <a:noFill/>
        </p:spPr>
        <p:txBody>
          <a:bodyPr wrap="square">
            <a:spAutoFit/>
          </a:bodyPr>
          <a:lstStyle/>
          <a:p>
            <a:r>
              <a:rPr lang="en-US" sz="1800" dirty="0">
                <a:highlight>
                  <a:srgbClr val="FFFF00"/>
                </a:highlight>
                <a:latin typeface="Arial" pitchFamily="34" charset="0"/>
                <a:cs typeface="Arial" pitchFamily="34" charset="0"/>
              </a:rPr>
              <a:t>Deadlock Avoidance – </a:t>
            </a:r>
            <a:endParaRPr lang="en-IN" dirty="0">
              <a:highlight>
                <a:srgbClr val="99FFCC"/>
              </a:highlight>
            </a:endParaRPr>
          </a:p>
        </p:txBody>
      </p:sp>
      <p:pic>
        <p:nvPicPr>
          <p:cNvPr id="5" name="Picture 4">
            <a:extLst>
              <a:ext uri="{FF2B5EF4-FFF2-40B4-BE49-F238E27FC236}">
                <a16:creationId xmlns:a16="http://schemas.microsoft.com/office/drawing/2014/main" id="{AE361291-BFFE-9A65-1A88-4384AA719DFC}"/>
              </a:ext>
            </a:extLst>
          </p:cNvPr>
          <p:cNvPicPr>
            <a:picLocks noChangeAspect="1"/>
          </p:cNvPicPr>
          <p:nvPr/>
        </p:nvPicPr>
        <p:blipFill>
          <a:blip r:embed="rId3"/>
          <a:stretch>
            <a:fillRect/>
          </a:stretch>
        </p:blipFill>
        <p:spPr>
          <a:xfrm>
            <a:off x="2496407" y="1583351"/>
            <a:ext cx="8437482" cy="4841487"/>
          </a:xfrm>
          <a:prstGeom prst="rect">
            <a:avLst/>
          </a:prstGeom>
        </p:spPr>
      </p:pic>
      <p:sp>
        <p:nvSpPr>
          <p:cNvPr id="10" name="TextBox 9">
            <a:extLst>
              <a:ext uri="{FF2B5EF4-FFF2-40B4-BE49-F238E27FC236}">
                <a16:creationId xmlns:a16="http://schemas.microsoft.com/office/drawing/2014/main" id="{02AD9959-F6F6-55EA-47BC-4F2E1A0C1BB7}"/>
              </a:ext>
            </a:extLst>
          </p:cNvPr>
          <p:cNvSpPr txBox="1"/>
          <p:nvPr/>
        </p:nvSpPr>
        <p:spPr>
          <a:xfrm>
            <a:off x="3048811" y="1214019"/>
            <a:ext cx="6094378" cy="369332"/>
          </a:xfrm>
          <a:prstGeom prst="rect">
            <a:avLst/>
          </a:prstGeom>
          <a:noFill/>
        </p:spPr>
        <p:txBody>
          <a:bodyPr wrap="square">
            <a:spAutoFit/>
          </a:bodyPr>
          <a:lstStyle/>
          <a:p>
            <a:r>
              <a:rPr lang="en-IN" dirty="0">
                <a:highlight>
                  <a:srgbClr val="99FFCC"/>
                </a:highlight>
                <a:latin typeface="Arial" pitchFamily="34" charset="0"/>
                <a:cs typeface="Arial" pitchFamily="34" charset="0"/>
              </a:rPr>
              <a:t>Resource-Request Algorithm</a:t>
            </a:r>
            <a:endParaRPr lang="en-IN" dirty="0">
              <a:highlight>
                <a:srgbClr val="00FFFF"/>
              </a:highlight>
            </a:endParaRPr>
          </a:p>
        </p:txBody>
      </p:sp>
    </p:spTree>
    <p:extLst>
      <p:ext uri="{BB962C8B-B14F-4D97-AF65-F5344CB8AC3E}">
        <p14:creationId xmlns:p14="http://schemas.microsoft.com/office/powerpoint/2010/main" val="410829792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5491440"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Methods of Handling Deadlock</a:t>
            </a:r>
          </a:p>
        </p:txBody>
      </p:sp>
      <p:sp>
        <p:nvSpPr>
          <p:cNvPr id="4" name="TextBox 3">
            <a:extLst>
              <a:ext uri="{FF2B5EF4-FFF2-40B4-BE49-F238E27FC236}">
                <a16:creationId xmlns:a16="http://schemas.microsoft.com/office/drawing/2014/main" id="{9005CDA4-8E87-EA64-8F45-40CF74BDFF05}"/>
              </a:ext>
            </a:extLst>
          </p:cNvPr>
          <p:cNvSpPr txBox="1"/>
          <p:nvPr/>
        </p:nvSpPr>
        <p:spPr>
          <a:xfrm>
            <a:off x="691423" y="1214019"/>
            <a:ext cx="5310543" cy="369332"/>
          </a:xfrm>
          <a:prstGeom prst="rect">
            <a:avLst/>
          </a:prstGeom>
          <a:noFill/>
        </p:spPr>
        <p:txBody>
          <a:bodyPr wrap="square">
            <a:spAutoFit/>
          </a:bodyPr>
          <a:lstStyle/>
          <a:p>
            <a:r>
              <a:rPr lang="en-US" sz="1800" dirty="0">
                <a:highlight>
                  <a:srgbClr val="FFFF00"/>
                </a:highlight>
                <a:latin typeface="Arial" pitchFamily="34" charset="0"/>
                <a:cs typeface="Arial" pitchFamily="34" charset="0"/>
              </a:rPr>
              <a:t>Deadlock Avoidance – </a:t>
            </a:r>
            <a:endParaRPr lang="en-IN" dirty="0">
              <a:highlight>
                <a:srgbClr val="99FFCC"/>
              </a:highlight>
            </a:endParaRPr>
          </a:p>
        </p:txBody>
      </p:sp>
      <p:sp>
        <p:nvSpPr>
          <p:cNvPr id="2" name="TextBox 1">
            <a:extLst>
              <a:ext uri="{FF2B5EF4-FFF2-40B4-BE49-F238E27FC236}">
                <a16:creationId xmlns:a16="http://schemas.microsoft.com/office/drawing/2014/main" id="{B3F9AB68-4A54-25A4-C9F8-5257E28FECF3}"/>
              </a:ext>
            </a:extLst>
          </p:cNvPr>
          <p:cNvSpPr txBox="1"/>
          <p:nvPr/>
        </p:nvSpPr>
        <p:spPr>
          <a:xfrm>
            <a:off x="2954777" y="1214019"/>
            <a:ext cx="6094378" cy="369332"/>
          </a:xfrm>
          <a:prstGeom prst="rect">
            <a:avLst/>
          </a:prstGeom>
          <a:noFill/>
        </p:spPr>
        <p:txBody>
          <a:bodyPr wrap="square">
            <a:spAutoFit/>
          </a:bodyPr>
          <a:lstStyle/>
          <a:p>
            <a:r>
              <a:rPr lang="en-US" dirty="0">
                <a:highlight>
                  <a:srgbClr val="99FFCC"/>
                </a:highlight>
                <a:latin typeface="Arial" pitchFamily="34" charset="0"/>
                <a:cs typeface="Arial" pitchFamily="34" charset="0"/>
              </a:rPr>
              <a:t>Banker’s </a:t>
            </a:r>
            <a:r>
              <a:rPr lang="en-US" sz="1800" dirty="0">
                <a:highlight>
                  <a:srgbClr val="99FFCC"/>
                </a:highlight>
                <a:latin typeface="Arial" pitchFamily="34" charset="0"/>
                <a:cs typeface="Arial" pitchFamily="34" charset="0"/>
              </a:rPr>
              <a:t>Algorithm – </a:t>
            </a:r>
            <a:r>
              <a:rPr lang="en-US" sz="1800" dirty="0">
                <a:highlight>
                  <a:srgbClr val="00FFFF"/>
                </a:highlight>
                <a:latin typeface="Arial" pitchFamily="34" charset="0"/>
                <a:cs typeface="Arial" pitchFamily="34" charset="0"/>
              </a:rPr>
              <a:t>Example.</a:t>
            </a:r>
            <a:endParaRPr lang="en-IN" dirty="0">
              <a:highlight>
                <a:srgbClr val="00FFFF"/>
              </a:highlight>
            </a:endParaRPr>
          </a:p>
        </p:txBody>
      </p:sp>
      <p:sp>
        <p:nvSpPr>
          <p:cNvPr id="7" name="TextBox 6">
            <a:extLst>
              <a:ext uri="{FF2B5EF4-FFF2-40B4-BE49-F238E27FC236}">
                <a16:creationId xmlns:a16="http://schemas.microsoft.com/office/drawing/2014/main" id="{774FE997-E7DF-BF64-DC4C-4A3B532C4120}"/>
              </a:ext>
            </a:extLst>
          </p:cNvPr>
          <p:cNvSpPr txBox="1"/>
          <p:nvPr/>
        </p:nvSpPr>
        <p:spPr>
          <a:xfrm>
            <a:off x="3754134" y="6287429"/>
            <a:ext cx="6094378" cy="369332"/>
          </a:xfrm>
          <a:prstGeom prst="rect">
            <a:avLst/>
          </a:prstGeom>
          <a:noFill/>
        </p:spPr>
        <p:txBody>
          <a:bodyPr wrap="square">
            <a:spAutoFit/>
          </a:bodyPr>
          <a:lstStyle/>
          <a:p>
            <a:r>
              <a:rPr lang="en-IN" dirty="0"/>
              <a:t>https://www.youtube.com/watch?v=2V2FfP_olaA</a:t>
            </a:r>
          </a:p>
        </p:txBody>
      </p:sp>
      <p:sp>
        <p:nvSpPr>
          <p:cNvPr id="8" name="Rectangle 3">
            <a:extLst>
              <a:ext uri="{FF2B5EF4-FFF2-40B4-BE49-F238E27FC236}">
                <a16:creationId xmlns:a16="http://schemas.microsoft.com/office/drawing/2014/main" id="{54AF9C60-20EC-E983-2194-2A30C5D9D174}"/>
              </a:ext>
            </a:extLst>
          </p:cNvPr>
          <p:cNvSpPr txBox="1">
            <a:spLocks noChangeArrowheads="1"/>
          </p:cNvSpPr>
          <p:nvPr/>
        </p:nvSpPr>
        <p:spPr>
          <a:xfrm>
            <a:off x="901126" y="1580199"/>
            <a:ext cx="10003580" cy="45402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1371600" algn="l"/>
                <a:tab pos="2395538" algn="ctr"/>
                <a:tab pos="3594100" algn="ctr"/>
                <a:tab pos="4805363" algn="ctr"/>
              </a:tabLst>
            </a:pPr>
            <a:r>
              <a:rPr lang="en-US" altLang="en-US" sz="2200" dirty="0"/>
              <a:t>5 processes </a:t>
            </a:r>
            <a:r>
              <a:rPr lang="en-US" altLang="en-US" sz="2200" i="1" dirty="0"/>
              <a:t>P</a:t>
            </a:r>
            <a:r>
              <a:rPr lang="en-US" altLang="en-US" sz="2200" baseline="-25000" dirty="0"/>
              <a:t>0  </a:t>
            </a:r>
            <a:r>
              <a:rPr lang="en-US" altLang="en-US" sz="2200" dirty="0"/>
              <a:t>through </a:t>
            </a:r>
            <a:r>
              <a:rPr lang="en-US" altLang="en-US" sz="2200" i="1" dirty="0"/>
              <a:t>P</a:t>
            </a:r>
            <a:r>
              <a:rPr lang="en-US" altLang="en-US" sz="2200" baseline="-25000" dirty="0"/>
              <a:t>4</a:t>
            </a:r>
            <a:r>
              <a:rPr lang="en-US" altLang="en-US" sz="2200" dirty="0"/>
              <a:t>; </a:t>
            </a:r>
          </a:p>
          <a:p>
            <a:pPr>
              <a:buFont typeface="Monotype Sorts" pitchFamily="-84" charset="2"/>
              <a:buNone/>
              <a:tabLst>
                <a:tab pos="1371600" algn="l"/>
                <a:tab pos="2395538" algn="ctr"/>
                <a:tab pos="3594100" algn="ctr"/>
                <a:tab pos="4805363" algn="ctr"/>
              </a:tabLst>
            </a:pPr>
            <a:r>
              <a:rPr lang="en-US" altLang="en-US" sz="2200" dirty="0"/>
              <a:t>      3 resource types:</a:t>
            </a:r>
          </a:p>
          <a:p>
            <a:pPr>
              <a:buFont typeface="Monotype Sorts" pitchFamily="-84" charset="2"/>
              <a:buNone/>
              <a:tabLst>
                <a:tab pos="1371600" algn="l"/>
                <a:tab pos="2395538" algn="ctr"/>
                <a:tab pos="3594100" algn="ctr"/>
                <a:tab pos="4805363" algn="ctr"/>
              </a:tabLst>
            </a:pPr>
            <a:r>
              <a:rPr lang="en-US" altLang="en-US" sz="2200" dirty="0"/>
              <a:t>              </a:t>
            </a:r>
            <a:r>
              <a:rPr lang="en-US" altLang="en-US" sz="2200" i="1" dirty="0"/>
              <a:t>A</a:t>
            </a:r>
            <a:r>
              <a:rPr lang="en-US" altLang="en-US" sz="2200" dirty="0"/>
              <a:t> (10 instances),  </a:t>
            </a:r>
            <a:r>
              <a:rPr lang="en-US" altLang="en-US" sz="2200" i="1" dirty="0"/>
              <a:t>B</a:t>
            </a:r>
            <a:r>
              <a:rPr lang="en-US" altLang="en-US" sz="2200" dirty="0"/>
              <a:t> (5instances), and </a:t>
            </a:r>
            <a:r>
              <a:rPr lang="en-US" altLang="en-US" sz="2200" i="1" dirty="0"/>
              <a:t>C</a:t>
            </a:r>
            <a:r>
              <a:rPr lang="en-US" altLang="en-US" sz="2200" dirty="0"/>
              <a:t> (7 instances)</a:t>
            </a:r>
          </a:p>
          <a:p>
            <a:pPr>
              <a:tabLst>
                <a:tab pos="1371600" algn="l"/>
                <a:tab pos="2395538" algn="ctr"/>
                <a:tab pos="3594100" algn="ctr"/>
                <a:tab pos="4805363" algn="ctr"/>
              </a:tabLst>
            </a:pPr>
            <a:r>
              <a:rPr lang="en-US" altLang="en-US" sz="2200" dirty="0"/>
              <a:t>Snapshot at time </a:t>
            </a:r>
            <a:r>
              <a:rPr lang="en-US" altLang="en-US" sz="2200" i="1" dirty="0"/>
              <a:t>T</a:t>
            </a:r>
            <a:r>
              <a:rPr lang="en-US" altLang="en-US" sz="2200" baseline="-25000" dirty="0"/>
              <a:t>0</a:t>
            </a:r>
            <a:r>
              <a:rPr lang="en-US" altLang="en-US" sz="2200" dirty="0"/>
              <a:t>:</a:t>
            </a:r>
          </a:p>
          <a:p>
            <a:pPr>
              <a:buFont typeface="Monotype Sorts" pitchFamily="-84" charset="2"/>
              <a:buNone/>
              <a:tabLst>
                <a:tab pos="1371600" algn="l"/>
                <a:tab pos="2395538" algn="ctr"/>
                <a:tab pos="3594100" algn="ctr"/>
                <a:tab pos="4805363" algn="ctr"/>
              </a:tabLst>
            </a:pPr>
            <a:r>
              <a:rPr lang="en-US" altLang="en-US" sz="2200" dirty="0"/>
              <a:t>			</a:t>
            </a:r>
            <a:r>
              <a:rPr lang="en-US" altLang="en-US" sz="2200" i="1" u="sng" dirty="0"/>
              <a:t>Allocation</a:t>
            </a:r>
            <a:r>
              <a:rPr lang="en-US" altLang="en-US" sz="2200" i="1" dirty="0"/>
              <a:t>	  </a:t>
            </a:r>
            <a:r>
              <a:rPr lang="en-US" altLang="en-US" sz="2200" i="1" u="sng" dirty="0"/>
              <a:t>Max</a:t>
            </a:r>
            <a:r>
              <a:rPr lang="en-US" altLang="en-US" sz="2200" i="1" dirty="0"/>
              <a:t>	</a:t>
            </a:r>
            <a:r>
              <a:rPr lang="en-US" altLang="en-US" sz="2200" i="1" u="sng" dirty="0"/>
              <a:t>Available</a:t>
            </a:r>
            <a:endParaRPr lang="en-US" altLang="en-US" sz="2200" i="1" dirty="0"/>
          </a:p>
          <a:p>
            <a:pPr>
              <a:buFont typeface="Monotype Sorts" pitchFamily="-84" charset="2"/>
              <a:buNone/>
              <a:tabLst>
                <a:tab pos="1371600" algn="l"/>
                <a:tab pos="2395538" algn="ctr"/>
                <a:tab pos="3594100" algn="ctr"/>
                <a:tab pos="4805363" algn="ctr"/>
              </a:tabLst>
            </a:pPr>
            <a:r>
              <a:rPr lang="en-US" altLang="en-US" sz="2200" i="1" dirty="0"/>
              <a:t>			A B C	       A B C 	A B C</a:t>
            </a:r>
          </a:p>
          <a:p>
            <a:pPr>
              <a:buFont typeface="Monotype Sorts" pitchFamily="-84" charset="2"/>
              <a:buNone/>
              <a:tabLst>
                <a:tab pos="1371600" algn="l"/>
                <a:tab pos="2395538" algn="ctr"/>
                <a:tab pos="3594100" algn="ctr"/>
                <a:tab pos="4805363" algn="ctr"/>
              </a:tabLst>
            </a:pPr>
            <a:r>
              <a:rPr lang="en-US" altLang="en-US" sz="2200" dirty="0"/>
              <a:t>		</a:t>
            </a:r>
            <a:r>
              <a:rPr lang="en-US" altLang="en-US" sz="2200" i="1" dirty="0"/>
              <a:t>P</a:t>
            </a:r>
            <a:r>
              <a:rPr lang="en-US" altLang="en-US" sz="2200" baseline="-25000" dirty="0"/>
              <a:t>0	</a:t>
            </a:r>
            <a:r>
              <a:rPr lang="en-US" altLang="en-US" sz="2200" dirty="0"/>
              <a:t>0 1 0	         7 5 3 	3 3 2</a:t>
            </a:r>
          </a:p>
          <a:p>
            <a:pPr>
              <a:buFont typeface="Monotype Sorts" pitchFamily="-84" charset="2"/>
              <a:buNone/>
              <a:tabLst>
                <a:tab pos="1371600" algn="l"/>
                <a:tab pos="2395538" algn="ctr"/>
                <a:tab pos="3594100" algn="ctr"/>
                <a:tab pos="4805363" algn="ctr"/>
              </a:tabLst>
            </a:pPr>
            <a:r>
              <a:rPr lang="en-US" altLang="en-US" sz="2200" dirty="0"/>
              <a:t>		 </a:t>
            </a:r>
            <a:r>
              <a:rPr lang="en-US" altLang="en-US" sz="2200" i="1" dirty="0"/>
              <a:t>P</a:t>
            </a:r>
            <a:r>
              <a:rPr lang="en-US" altLang="en-US" sz="2200" baseline="-25000" dirty="0"/>
              <a:t>1	</a:t>
            </a:r>
            <a:r>
              <a:rPr lang="en-US" altLang="en-US" sz="2200" dirty="0"/>
              <a:t>2 0 0 	        3 2 2  </a:t>
            </a:r>
          </a:p>
          <a:p>
            <a:pPr>
              <a:buFont typeface="Monotype Sorts" pitchFamily="-84" charset="2"/>
              <a:buNone/>
              <a:tabLst>
                <a:tab pos="1371600" algn="l"/>
                <a:tab pos="2395538" algn="ctr"/>
                <a:tab pos="3594100" algn="ctr"/>
                <a:tab pos="4805363" algn="ctr"/>
              </a:tabLst>
            </a:pPr>
            <a:r>
              <a:rPr lang="en-US" altLang="en-US" sz="2200" dirty="0"/>
              <a:t>		 </a:t>
            </a:r>
            <a:r>
              <a:rPr lang="en-US" altLang="en-US" sz="2200" i="1" dirty="0"/>
              <a:t>P</a:t>
            </a:r>
            <a:r>
              <a:rPr lang="en-US" altLang="en-US" sz="2200" baseline="-25000" dirty="0"/>
              <a:t>2</a:t>
            </a:r>
            <a:r>
              <a:rPr lang="en-US" altLang="en-US" sz="2200" dirty="0"/>
              <a:t>	3 0 2 	        9 0 2</a:t>
            </a:r>
          </a:p>
          <a:p>
            <a:pPr>
              <a:buFont typeface="Monotype Sorts" pitchFamily="-84" charset="2"/>
              <a:buNone/>
              <a:tabLst>
                <a:tab pos="1371600" algn="l"/>
                <a:tab pos="2395538" algn="ctr"/>
                <a:tab pos="3594100" algn="ctr"/>
                <a:tab pos="4805363" algn="ctr"/>
              </a:tabLst>
            </a:pPr>
            <a:r>
              <a:rPr lang="en-US" altLang="en-US" sz="2200" dirty="0"/>
              <a:t>		 </a:t>
            </a:r>
            <a:r>
              <a:rPr lang="en-US" altLang="en-US" sz="2200" i="1" dirty="0"/>
              <a:t>P</a:t>
            </a:r>
            <a:r>
              <a:rPr lang="en-US" altLang="en-US" sz="2200" baseline="-25000" dirty="0"/>
              <a:t>3</a:t>
            </a:r>
            <a:r>
              <a:rPr lang="en-US" altLang="en-US" sz="2200" dirty="0"/>
              <a:t>	2 1 1 	        2 2 2</a:t>
            </a:r>
          </a:p>
          <a:p>
            <a:pPr>
              <a:buFont typeface="Monotype Sorts" pitchFamily="-84" charset="2"/>
              <a:buNone/>
              <a:tabLst>
                <a:tab pos="1371600" algn="l"/>
                <a:tab pos="2395538" algn="ctr"/>
                <a:tab pos="3594100" algn="ctr"/>
                <a:tab pos="4805363" algn="ctr"/>
              </a:tabLst>
            </a:pPr>
            <a:r>
              <a:rPr lang="en-US" altLang="en-US" sz="2200" dirty="0"/>
              <a:t>		 </a:t>
            </a:r>
            <a:r>
              <a:rPr lang="en-US" altLang="en-US" sz="2200" i="1" dirty="0"/>
              <a:t>P</a:t>
            </a:r>
            <a:r>
              <a:rPr lang="en-US" altLang="en-US" sz="2200" baseline="-25000" dirty="0"/>
              <a:t>4</a:t>
            </a:r>
            <a:r>
              <a:rPr lang="en-US" altLang="en-US" sz="2200" dirty="0"/>
              <a:t>	0 0 2	         4 3 3  	</a:t>
            </a:r>
            <a:r>
              <a:rPr lang="en-US" altLang="en-US" dirty="0"/>
              <a:t>	</a:t>
            </a:r>
          </a:p>
        </p:txBody>
      </p:sp>
    </p:spTree>
    <p:extLst>
      <p:ext uri="{BB962C8B-B14F-4D97-AF65-F5344CB8AC3E}">
        <p14:creationId xmlns:p14="http://schemas.microsoft.com/office/powerpoint/2010/main" val="97989443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3827658" y="339194"/>
            <a:ext cx="5491440" cy="1143000"/>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Methods of Handling Deadlock</a:t>
            </a:r>
          </a:p>
        </p:txBody>
      </p:sp>
      <p:sp>
        <p:nvSpPr>
          <p:cNvPr id="4" name="TextBox 3">
            <a:extLst>
              <a:ext uri="{FF2B5EF4-FFF2-40B4-BE49-F238E27FC236}">
                <a16:creationId xmlns:a16="http://schemas.microsoft.com/office/drawing/2014/main" id="{9005CDA4-8E87-EA64-8F45-40CF74BDFF05}"/>
              </a:ext>
            </a:extLst>
          </p:cNvPr>
          <p:cNvSpPr txBox="1"/>
          <p:nvPr/>
        </p:nvSpPr>
        <p:spPr>
          <a:xfrm>
            <a:off x="691423" y="1214019"/>
            <a:ext cx="5310543" cy="369332"/>
          </a:xfrm>
          <a:prstGeom prst="rect">
            <a:avLst/>
          </a:prstGeom>
          <a:noFill/>
        </p:spPr>
        <p:txBody>
          <a:bodyPr wrap="square">
            <a:spAutoFit/>
          </a:bodyPr>
          <a:lstStyle/>
          <a:p>
            <a:r>
              <a:rPr lang="en-US" sz="1800" dirty="0">
                <a:highlight>
                  <a:srgbClr val="FFFF00"/>
                </a:highlight>
                <a:latin typeface="Arial" pitchFamily="34" charset="0"/>
                <a:cs typeface="Arial" pitchFamily="34" charset="0"/>
              </a:rPr>
              <a:t>Deadlock Avoidance – </a:t>
            </a:r>
            <a:endParaRPr lang="en-IN" dirty="0">
              <a:highlight>
                <a:srgbClr val="99FFCC"/>
              </a:highlight>
            </a:endParaRPr>
          </a:p>
        </p:txBody>
      </p:sp>
      <p:sp>
        <p:nvSpPr>
          <p:cNvPr id="2" name="TextBox 1">
            <a:extLst>
              <a:ext uri="{FF2B5EF4-FFF2-40B4-BE49-F238E27FC236}">
                <a16:creationId xmlns:a16="http://schemas.microsoft.com/office/drawing/2014/main" id="{B3F9AB68-4A54-25A4-C9F8-5257E28FECF3}"/>
              </a:ext>
            </a:extLst>
          </p:cNvPr>
          <p:cNvSpPr txBox="1"/>
          <p:nvPr/>
        </p:nvSpPr>
        <p:spPr>
          <a:xfrm>
            <a:off x="2954777" y="1214019"/>
            <a:ext cx="6094378" cy="369332"/>
          </a:xfrm>
          <a:prstGeom prst="rect">
            <a:avLst/>
          </a:prstGeom>
          <a:noFill/>
        </p:spPr>
        <p:txBody>
          <a:bodyPr wrap="square">
            <a:spAutoFit/>
          </a:bodyPr>
          <a:lstStyle/>
          <a:p>
            <a:r>
              <a:rPr lang="en-US" dirty="0">
                <a:highlight>
                  <a:srgbClr val="99FFCC"/>
                </a:highlight>
                <a:latin typeface="Arial" pitchFamily="34" charset="0"/>
                <a:cs typeface="Arial" pitchFamily="34" charset="0"/>
              </a:rPr>
              <a:t>Banker’s </a:t>
            </a:r>
            <a:r>
              <a:rPr lang="en-US" sz="1800" dirty="0">
                <a:highlight>
                  <a:srgbClr val="99FFCC"/>
                </a:highlight>
                <a:latin typeface="Arial" pitchFamily="34" charset="0"/>
                <a:cs typeface="Arial" pitchFamily="34" charset="0"/>
              </a:rPr>
              <a:t>Algorithm – </a:t>
            </a:r>
            <a:r>
              <a:rPr lang="en-US" sz="1800" dirty="0">
                <a:highlight>
                  <a:srgbClr val="00FFFF"/>
                </a:highlight>
                <a:latin typeface="Arial" pitchFamily="34" charset="0"/>
                <a:cs typeface="Arial" pitchFamily="34" charset="0"/>
              </a:rPr>
              <a:t>Example.</a:t>
            </a:r>
            <a:endParaRPr lang="en-IN" dirty="0">
              <a:highlight>
                <a:srgbClr val="00FFFF"/>
              </a:highlight>
            </a:endParaRPr>
          </a:p>
        </p:txBody>
      </p:sp>
      <p:pic>
        <p:nvPicPr>
          <p:cNvPr id="6" name="Picture 5">
            <a:extLst>
              <a:ext uri="{FF2B5EF4-FFF2-40B4-BE49-F238E27FC236}">
                <a16:creationId xmlns:a16="http://schemas.microsoft.com/office/drawing/2014/main" id="{A84BF7CD-1ECB-2EDC-D255-D1DE07FAC3CC}"/>
              </a:ext>
            </a:extLst>
          </p:cNvPr>
          <p:cNvPicPr>
            <a:picLocks noChangeAspect="1"/>
          </p:cNvPicPr>
          <p:nvPr/>
        </p:nvPicPr>
        <p:blipFill>
          <a:blip r:embed="rId3"/>
          <a:stretch>
            <a:fillRect/>
          </a:stretch>
        </p:blipFill>
        <p:spPr>
          <a:xfrm>
            <a:off x="2550049" y="1804401"/>
            <a:ext cx="7012239" cy="4377337"/>
          </a:xfrm>
          <a:prstGeom prst="rect">
            <a:avLst/>
          </a:prstGeom>
        </p:spPr>
      </p:pic>
    </p:spTree>
    <p:extLst>
      <p:ext uri="{BB962C8B-B14F-4D97-AF65-F5344CB8AC3E}">
        <p14:creationId xmlns:p14="http://schemas.microsoft.com/office/powerpoint/2010/main" val="270159807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98335-6F39-88C7-D5CF-791CE5EE291F}"/>
            </a:ext>
          </a:extLst>
        </p:cNvPr>
        <p:cNvGrpSpPr/>
        <p:nvPr/>
      </p:nvGrpSpPr>
      <p:grpSpPr>
        <a:xfrm>
          <a:off x="0" y="0"/>
          <a:ext cx="0" cy="0"/>
          <a:chOff x="0" y="0"/>
          <a:chExt cx="0" cy="0"/>
        </a:xfrm>
      </p:grpSpPr>
      <p:sp>
        <p:nvSpPr>
          <p:cNvPr id="9" name="Text Placeholder 3">
            <a:extLst>
              <a:ext uri="{FF2B5EF4-FFF2-40B4-BE49-F238E27FC236}">
                <a16:creationId xmlns:a16="http://schemas.microsoft.com/office/drawing/2014/main" id="{887863A9-46E6-1AAC-795A-3963862AF469}"/>
              </a:ext>
            </a:extLst>
          </p:cNvPr>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5" name="Subtitle 4">
            <a:extLst>
              <a:ext uri="{FF2B5EF4-FFF2-40B4-BE49-F238E27FC236}">
                <a16:creationId xmlns:a16="http://schemas.microsoft.com/office/drawing/2014/main" id="{0ECCED30-4574-CA0F-18BE-FDA3DAACCDC4}"/>
              </a:ext>
            </a:extLst>
          </p:cNvPr>
          <p:cNvSpPr>
            <a:spLocks noGrp="1"/>
          </p:cNvSpPr>
          <p:nvPr>
            <p:ph type="subTitle" idx="1"/>
          </p:nvPr>
        </p:nvSpPr>
        <p:spPr>
          <a:xfrm>
            <a:off x="1047345" y="2601119"/>
            <a:ext cx="9144000" cy="1655762"/>
          </a:xfrm>
        </p:spPr>
        <p:txBody>
          <a:bodyPr>
            <a:normAutofit/>
          </a:bodyPr>
          <a:lstStyle/>
          <a:p>
            <a:r>
              <a:rPr lang="en-US" sz="4400" dirty="0">
                <a:solidFill>
                  <a:srgbClr val="0066CC"/>
                </a:solidFill>
              </a:rPr>
              <a:t>Lecture - 5</a:t>
            </a:r>
          </a:p>
        </p:txBody>
      </p:sp>
    </p:spTree>
    <p:extLst>
      <p:ext uri="{BB962C8B-B14F-4D97-AF65-F5344CB8AC3E}">
        <p14:creationId xmlns:p14="http://schemas.microsoft.com/office/powerpoint/2010/main" val="278354307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Recap</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latin typeface="+mj-lt"/>
                <a:ea typeface="+mj-ea"/>
                <a:cs typeface="+mj-cs"/>
              </a:rPr>
              <a:t>Methods of Handling Deadlock</a:t>
            </a:r>
          </a:p>
          <a:p>
            <a:pPr lvl="1"/>
            <a:r>
              <a:rPr lang="en-US" sz="2600" dirty="0">
                <a:latin typeface="+mj-lt"/>
                <a:ea typeface="+mj-ea"/>
                <a:cs typeface="+mj-cs"/>
              </a:rPr>
              <a:t>Avoidance</a:t>
            </a:r>
          </a:p>
          <a:p>
            <a:pPr lvl="2"/>
            <a:r>
              <a:rPr lang="en-US" sz="2200" dirty="0">
                <a:latin typeface="+mj-lt"/>
                <a:ea typeface="+mj-ea"/>
                <a:cs typeface="+mj-cs"/>
              </a:rPr>
              <a:t>Bankers Algorithm</a:t>
            </a:r>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330625322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Agenda</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latin typeface="+mj-lt"/>
                <a:ea typeface="+mj-ea"/>
                <a:cs typeface="+mj-cs"/>
              </a:rPr>
              <a:t>Deadlock Detection</a:t>
            </a:r>
          </a:p>
          <a:p>
            <a:r>
              <a:rPr lang="en-US" sz="3000" dirty="0">
                <a:latin typeface="+mj-lt"/>
                <a:ea typeface="+mj-ea"/>
                <a:cs typeface="+mj-cs"/>
              </a:rPr>
              <a:t>Recovery from Deadlock</a:t>
            </a:r>
            <a:endParaRPr lang="en-US" sz="2200" dirty="0">
              <a:latin typeface="+mj-lt"/>
              <a:ea typeface="+mj-ea"/>
              <a:cs typeface="+mj-cs"/>
            </a:endParaRPr>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233514552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518323" y="601840"/>
            <a:ext cx="3497270" cy="623844"/>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Deadlock Detection </a:t>
            </a:r>
          </a:p>
        </p:txBody>
      </p:sp>
      <p:sp>
        <p:nvSpPr>
          <p:cNvPr id="7" name="TextBox 6">
            <a:extLst>
              <a:ext uri="{FF2B5EF4-FFF2-40B4-BE49-F238E27FC236}">
                <a16:creationId xmlns:a16="http://schemas.microsoft.com/office/drawing/2014/main" id="{5B34F021-DA0F-61BD-F7F5-B07361773864}"/>
              </a:ext>
            </a:extLst>
          </p:cNvPr>
          <p:cNvSpPr txBox="1"/>
          <p:nvPr/>
        </p:nvSpPr>
        <p:spPr>
          <a:xfrm>
            <a:off x="894944" y="1472470"/>
            <a:ext cx="10262681" cy="3359061"/>
          </a:xfrm>
          <a:prstGeom prst="rect">
            <a:avLst/>
          </a:prstGeom>
          <a:noFill/>
        </p:spPr>
        <p:txBody>
          <a:bodyPr wrap="square">
            <a:spAutoFit/>
          </a:bodyPr>
          <a:lstStyle/>
          <a:p>
            <a:pPr algn="just">
              <a:lnSpc>
                <a:spcPct val="150000"/>
              </a:lnSpc>
            </a:pPr>
            <a:r>
              <a:rPr lang="en-US" sz="2400" b="0" i="0" u="none" strike="noStrike" baseline="0" dirty="0">
                <a:solidFill>
                  <a:srgbClr val="231F20"/>
                </a:solidFill>
              </a:rPr>
              <a:t>If a system does not employ either a deadlock-prevention or a deadlock avoidance algorithm, a deadlock situation may occur. In this environment, </a:t>
            </a:r>
            <a:r>
              <a:rPr lang="en-IN" sz="2400" b="0" i="0" u="none" strike="noStrike" baseline="0" dirty="0">
                <a:solidFill>
                  <a:srgbClr val="231F20"/>
                </a:solidFill>
              </a:rPr>
              <a:t>the system may provide:</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An algorithm that examines the state of the system to determine whether </a:t>
            </a:r>
            <a:r>
              <a:rPr lang="en-IN" sz="2400" b="0" i="0" u="none" strike="noStrike" baseline="0" dirty="0">
                <a:solidFill>
                  <a:srgbClr val="231F20"/>
                </a:solidFill>
              </a:rPr>
              <a:t>a deadlock has occurred.</a:t>
            </a:r>
            <a:endParaRPr lang="en-IN" sz="2400" dirty="0">
              <a:solidFill>
                <a:srgbClr val="231F20"/>
              </a:solidFill>
            </a:endParaRP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An algorithm to recover from the deadlock.</a:t>
            </a:r>
            <a:endParaRPr lang="en-IN" sz="2400" dirty="0"/>
          </a:p>
        </p:txBody>
      </p:sp>
    </p:spTree>
    <p:extLst>
      <p:ext uri="{BB962C8B-B14F-4D97-AF65-F5344CB8AC3E}">
        <p14:creationId xmlns:p14="http://schemas.microsoft.com/office/powerpoint/2010/main" val="115144523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518323" y="601840"/>
            <a:ext cx="3497270" cy="623844"/>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Deadlock Detection </a:t>
            </a:r>
          </a:p>
        </p:txBody>
      </p:sp>
      <p:sp>
        <p:nvSpPr>
          <p:cNvPr id="4" name="TextBox 3">
            <a:extLst>
              <a:ext uri="{FF2B5EF4-FFF2-40B4-BE49-F238E27FC236}">
                <a16:creationId xmlns:a16="http://schemas.microsoft.com/office/drawing/2014/main" id="{9EDDE4EB-11A1-C842-F199-D6E26B6F854E}"/>
              </a:ext>
            </a:extLst>
          </p:cNvPr>
          <p:cNvSpPr txBox="1"/>
          <p:nvPr/>
        </p:nvSpPr>
        <p:spPr>
          <a:xfrm>
            <a:off x="897376" y="1634645"/>
            <a:ext cx="8878922" cy="1697068"/>
          </a:xfrm>
          <a:prstGeom prst="rect">
            <a:avLst/>
          </a:prstGeom>
          <a:noFill/>
        </p:spPr>
        <p:txBody>
          <a:bodyPr wrap="square">
            <a:spAutoFit/>
          </a:bodyPr>
          <a:lstStyle/>
          <a:p>
            <a:pPr algn="just">
              <a:lnSpc>
                <a:spcPct val="150000"/>
              </a:lnSpc>
            </a:pPr>
            <a:r>
              <a:rPr lang="en-US" sz="2400" dirty="0">
                <a:solidFill>
                  <a:srgbClr val="231F20"/>
                </a:solidFill>
              </a:rPr>
              <a:t>Two Case:</a:t>
            </a:r>
          </a:p>
          <a:p>
            <a:pPr marL="342900" indent="-342900" algn="just">
              <a:lnSpc>
                <a:spcPct val="150000"/>
              </a:lnSpc>
              <a:buFont typeface="Arial" panose="020B0604020202020204" pitchFamily="34" charset="0"/>
              <a:buChar char="•"/>
            </a:pPr>
            <a:r>
              <a:rPr lang="en-US" sz="2400" dirty="0">
                <a:solidFill>
                  <a:srgbClr val="231F20"/>
                </a:solidFill>
              </a:rPr>
              <a:t>Systems with only a single instance of each resource type</a:t>
            </a:r>
          </a:p>
          <a:p>
            <a:pPr marL="342900" indent="-342900" algn="just">
              <a:lnSpc>
                <a:spcPct val="150000"/>
              </a:lnSpc>
              <a:buFont typeface="Arial" panose="020B0604020202020204" pitchFamily="34" charset="0"/>
              <a:buChar char="•"/>
            </a:pPr>
            <a:r>
              <a:rPr lang="en-US" sz="2400" dirty="0">
                <a:solidFill>
                  <a:srgbClr val="231F20"/>
                </a:solidFill>
              </a:rPr>
              <a:t>Systems with several instances of each resource type.</a:t>
            </a:r>
            <a:endParaRPr lang="en-IN" sz="2400" dirty="0">
              <a:solidFill>
                <a:srgbClr val="231F20"/>
              </a:solidFill>
            </a:endParaRPr>
          </a:p>
        </p:txBody>
      </p:sp>
    </p:spTree>
    <p:extLst>
      <p:ext uri="{BB962C8B-B14F-4D97-AF65-F5344CB8AC3E}">
        <p14:creationId xmlns:p14="http://schemas.microsoft.com/office/powerpoint/2010/main" val="208301186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518323" y="601840"/>
            <a:ext cx="3497270" cy="623844"/>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Deadlock Detection </a:t>
            </a:r>
          </a:p>
        </p:txBody>
      </p:sp>
      <p:sp>
        <p:nvSpPr>
          <p:cNvPr id="4" name="TextBox 3">
            <a:extLst>
              <a:ext uri="{FF2B5EF4-FFF2-40B4-BE49-F238E27FC236}">
                <a16:creationId xmlns:a16="http://schemas.microsoft.com/office/drawing/2014/main" id="{9EDDE4EB-11A1-C842-F199-D6E26B6F854E}"/>
              </a:ext>
            </a:extLst>
          </p:cNvPr>
          <p:cNvSpPr txBox="1"/>
          <p:nvPr/>
        </p:nvSpPr>
        <p:spPr>
          <a:xfrm>
            <a:off x="654184" y="1225684"/>
            <a:ext cx="8878922" cy="589072"/>
          </a:xfrm>
          <a:prstGeom prst="rect">
            <a:avLst/>
          </a:prstGeom>
          <a:noFill/>
        </p:spPr>
        <p:txBody>
          <a:bodyPr wrap="square">
            <a:spAutoFit/>
          </a:bodyPr>
          <a:lstStyle/>
          <a:p>
            <a:pPr algn="just">
              <a:lnSpc>
                <a:spcPct val="150000"/>
              </a:lnSpc>
            </a:pPr>
            <a:r>
              <a:rPr lang="en-US" sz="2400" dirty="0">
                <a:solidFill>
                  <a:srgbClr val="231F20"/>
                </a:solidFill>
                <a:highlight>
                  <a:srgbClr val="FFFF00"/>
                </a:highlight>
              </a:rPr>
              <a:t>Single Instance Of Each Resource Type</a:t>
            </a:r>
          </a:p>
        </p:txBody>
      </p:sp>
      <p:sp>
        <p:nvSpPr>
          <p:cNvPr id="5" name="TextBox 4">
            <a:extLst>
              <a:ext uri="{FF2B5EF4-FFF2-40B4-BE49-F238E27FC236}">
                <a16:creationId xmlns:a16="http://schemas.microsoft.com/office/drawing/2014/main" id="{B338557D-FD06-6013-EA14-09DF163C6A8D}"/>
              </a:ext>
            </a:extLst>
          </p:cNvPr>
          <p:cNvSpPr txBox="1"/>
          <p:nvPr/>
        </p:nvSpPr>
        <p:spPr>
          <a:xfrm>
            <a:off x="654184" y="2135860"/>
            <a:ext cx="10721074" cy="2805063"/>
          </a:xfrm>
          <a:prstGeom prst="rect">
            <a:avLst/>
          </a:prstGeom>
          <a:noFill/>
        </p:spPr>
        <p:txBody>
          <a:bodyPr wrap="square">
            <a:spAutoFit/>
          </a:bodyPr>
          <a:lstStyle/>
          <a:p>
            <a:pPr algn="just">
              <a:lnSpc>
                <a:spcPct val="150000"/>
              </a:lnSpc>
            </a:pPr>
            <a:r>
              <a:rPr lang="en-US" sz="2400" dirty="0">
                <a:solidFill>
                  <a:srgbClr val="231F20"/>
                </a:solidFill>
              </a:rPr>
              <a:t>If all resources have only a single instance, then we can define a deadlock detection</a:t>
            </a:r>
          </a:p>
          <a:p>
            <a:pPr algn="just">
              <a:lnSpc>
                <a:spcPct val="150000"/>
              </a:lnSpc>
            </a:pPr>
            <a:r>
              <a:rPr lang="en-US" sz="2400" dirty="0">
                <a:solidFill>
                  <a:srgbClr val="231F20"/>
                </a:solidFill>
              </a:rPr>
              <a:t>algorithm that uses a variant of the resource-allocation graph, called </a:t>
            </a:r>
            <a:r>
              <a:rPr lang="en-IN" sz="2400" dirty="0">
                <a:solidFill>
                  <a:srgbClr val="231F20"/>
                </a:solidFill>
              </a:rPr>
              <a:t>a wait-for graph.</a:t>
            </a:r>
          </a:p>
          <a:p>
            <a:pPr algn="just">
              <a:lnSpc>
                <a:spcPct val="150000"/>
              </a:lnSpc>
            </a:pPr>
            <a:r>
              <a:rPr lang="en-US" sz="2400" dirty="0">
                <a:solidFill>
                  <a:srgbClr val="231F20"/>
                </a:solidFill>
              </a:rPr>
              <a:t>We obtain this graph from the resource-allocation graph by removing the resource nodes and collapsing the appropriate edges.</a:t>
            </a:r>
            <a:endParaRPr lang="en-IN" sz="2400" dirty="0">
              <a:solidFill>
                <a:srgbClr val="231F20"/>
              </a:solidFill>
            </a:endParaRPr>
          </a:p>
        </p:txBody>
      </p:sp>
    </p:spTree>
    <p:extLst>
      <p:ext uri="{BB962C8B-B14F-4D97-AF65-F5344CB8AC3E}">
        <p14:creationId xmlns:p14="http://schemas.microsoft.com/office/powerpoint/2010/main" val="236740503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518323" y="601840"/>
            <a:ext cx="3497270" cy="623844"/>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Deadlock Detection </a:t>
            </a:r>
          </a:p>
        </p:txBody>
      </p:sp>
      <p:sp>
        <p:nvSpPr>
          <p:cNvPr id="4" name="TextBox 3">
            <a:extLst>
              <a:ext uri="{FF2B5EF4-FFF2-40B4-BE49-F238E27FC236}">
                <a16:creationId xmlns:a16="http://schemas.microsoft.com/office/drawing/2014/main" id="{9EDDE4EB-11A1-C842-F199-D6E26B6F854E}"/>
              </a:ext>
            </a:extLst>
          </p:cNvPr>
          <p:cNvSpPr txBox="1"/>
          <p:nvPr/>
        </p:nvSpPr>
        <p:spPr>
          <a:xfrm>
            <a:off x="654184" y="1225684"/>
            <a:ext cx="8878922" cy="589072"/>
          </a:xfrm>
          <a:prstGeom prst="rect">
            <a:avLst/>
          </a:prstGeom>
          <a:noFill/>
        </p:spPr>
        <p:txBody>
          <a:bodyPr wrap="square">
            <a:spAutoFit/>
          </a:bodyPr>
          <a:lstStyle/>
          <a:p>
            <a:pPr algn="just">
              <a:lnSpc>
                <a:spcPct val="150000"/>
              </a:lnSpc>
            </a:pPr>
            <a:r>
              <a:rPr lang="en-US" sz="2400" dirty="0">
                <a:solidFill>
                  <a:srgbClr val="231F20"/>
                </a:solidFill>
                <a:highlight>
                  <a:srgbClr val="FFFF00"/>
                </a:highlight>
              </a:rPr>
              <a:t>Single Instance Of Each Resource Type</a:t>
            </a:r>
          </a:p>
        </p:txBody>
      </p:sp>
      <p:sp>
        <p:nvSpPr>
          <p:cNvPr id="6" name="TextBox 5">
            <a:extLst>
              <a:ext uri="{FF2B5EF4-FFF2-40B4-BE49-F238E27FC236}">
                <a16:creationId xmlns:a16="http://schemas.microsoft.com/office/drawing/2014/main" id="{A2E5A24C-8D1A-61C6-B454-747BE67F67F8}"/>
              </a:ext>
            </a:extLst>
          </p:cNvPr>
          <p:cNvSpPr txBox="1"/>
          <p:nvPr/>
        </p:nvSpPr>
        <p:spPr>
          <a:xfrm>
            <a:off x="706944" y="1849528"/>
            <a:ext cx="10668313" cy="225106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solidFill>
                  <a:srgbClr val="231F20"/>
                </a:solidFill>
              </a:rPr>
              <a:t>Pi </a:t>
            </a:r>
            <a:r>
              <a:rPr lang="en-US" sz="2400" dirty="0">
                <a:solidFill>
                  <a:srgbClr val="231F20"/>
                </a:solidFill>
                <a:sym typeface="Wingdings" panose="05000000000000000000" pitchFamily="2" charset="2"/>
              </a:rPr>
              <a:t> </a:t>
            </a:r>
            <a:r>
              <a:rPr lang="en-US" sz="2400" dirty="0" err="1">
                <a:solidFill>
                  <a:srgbClr val="231F20"/>
                </a:solidFill>
              </a:rPr>
              <a:t>Pj</a:t>
            </a:r>
            <a:r>
              <a:rPr lang="en-US" sz="2400" dirty="0">
                <a:solidFill>
                  <a:srgbClr val="231F20"/>
                </a:solidFill>
              </a:rPr>
              <a:t> = implies that process Pi is waiting for process </a:t>
            </a:r>
            <a:r>
              <a:rPr lang="en-US" sz="2400" dirty="0" err="1">
                <a:solidFill>
                  <a:srgbClr val="231F20"/>
                </a:solidFill>
              </a:rPr>
              <a:t>Pj</a:t>
            </a:r>
            <a:r>
              <a:rPr lang="en-US" sz="2400" dirty="0">
                <a:solidFill>
                  <a:srgbClr val="231F20"/>
                </a:solidFill>
              </a:rPr>
              <a:t> to release a resource that Pi needs. </a:t>
            </a:r>
          </a:p>
          <a:p>
            <a:pPr marL="342900" indent="-342900" algn="just">
              <a:lnSpc>
                <a:spcPct val="150000"/>
              </a:lnSpc>
              <a:buFont typeface="Arial" panose="020B0604020202020204" pitchFamily="34" charset="0"/>
              <a:buChar char="•"/>
            </a:pPr>
            <a:r>
              <a:rPr lang="en-US" sz="2400" dirty="0">
                <a:solidFill>
                  <a:srgbClr val="231F20"/>
                </a:solidFill>
              </a:rPr>
              <a:t>An edge Pi → </a:t>
            </a:r>
            <a:r>
              <a:rPr lang="en-US" sz="2400" dirty="0" err="1">
                <a:solidFill>
                  <a:srgbClr val="231F20"/>
                </a:solidFill>
              </a:rPr>
              <a:t>Pj</a:t>
            </a:r>
            <a:r>
              <a:rPr lang="en-US" sz="2400" dirty="0">
                <a:solidFill>
                  <a:srgbClr val="231F20"/>
                </a:solidFill>
              </a:rPr>
              <a:t> exists in a wait-for graph if and only if the corresponding resource allocation graph contains two edges Pi → </a:t>
            </a:r>
            <a:r>
              <a:rPr lang="en-US" sz="2400" dirty="0" err="1">
                <a:solidFill>
                  <a:srgbClr val="231F20"/>
                </a:solidFill>
              </a:rPr>
              <a:t>Rq</a:t>
            </a:r>
            <a:r>
              <a:rPr lang="en-US" sz="2400" dirty="0">
                <a:solidFill>
                  <a:srgbClr val="231F20"/>
                </a:solidFill>
              </a:rPr>
              <a:t> and </a:t>
            </a:r>
            <a:r>
              <a:rPr lang="en-US" sz="2400" dirty="0" err="1">
                <a:solidFill>
                  <a:srgbClr val="231F20"/>
                </a:solidFill>
              </a:rPr>
              <a:t>Rq</a:t>
            </a:r>
            <a:r>
              <a:rPr lang="en-US" sz="2400" dirty="0">
                <a:solidFill>
                  <a:srgbClr val="231F20"/>
                </a:solidFill>
              </a:rPr>
              <a:t> → </a:t>
            </a:r>
            <a:r>
              <a:rPr lang="en-US" sz="2400" dirty="0" err="1">
                <a:solidFill>
                  <a:srgbClr val="231F20"/>
                </a:solidFill>
              </a:rPr>
              <a:t>Pj</a:t>
            </a:r>
            <a:r>
              <a:rPr lang="en-US" sz="2400" dirty="0">
                <a:solidFill>
                  <a:srgbClr val="231F20"/>
                </a:solidFill>
              </a:rPr>
              <a:t> for some resource </a:t>
            </a:r>
            <a:r>
              <a:rPr lang="en-IN" sz="2400" dirty="0" err="1">
                <a:solidFill>
                  <a:srgbClr val="231F20"/>
                </a:solidFill>
              </a:rPr>
              <a:t>Rq</a:t>
            </a:r>
            <a:r>
              <a:rPr lang="en-IN" sz="2400" dirty="0">
                <a:solidFill>
                  <a:srgbClr val="231F20"/>
                </a:solidFill>
              </a:rPr>
              <a:t> .</a:t>
            </a:r>
          </a:p>
        </p:txBody>
      </p:sp>
    </p:spTree>
    <p:extLst>
      <p:ext uri="{BB962C8B-B14F-4D97-AF65-F5344CB8AC3E}">
        <p14:creationId xmlns:p14="http://schemas.microsoft.com/office/powerpoint/2010/main" val="168561914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518323" y="601840"/>
            <a:ext cx="3497270" cy="623844"/>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Deadlock Detection </a:t>
            </a:r>
          </a:p>
        </p:txBody>
      </p:sp>
      <p:sp>
        <p:nvSpPr>
          <p:cNvPr id="4" name="TextBox 3">
            <a:extLst>
              <a:ext uri="{FF2B5EF4-FFF2-40B4-BE49-F238E27FC236}">
                <a16:creationId xmlns:a16="http://schemas.microsoft.com/office/drawing/2014/main" id="{9EDDE4EB-11A1-C842-F199-D6E26B6F854E}"/>
              </a:ext>
            </a:extLst>
          </p:cNvPr>
          <p:cNvSpPr txBox="1"/>
          <p:nvPr/>
        </p:nvSpPr>
        <p:spPr>
          <a:xfrm>
            <a:off x="654184" y="1225684"/>
            <a:ext cx="8878922" cy="589072"/>
          </a:xfrm>
          <a:prstGeom prst="rect">
            <a:avLst/>
          </a:prstGeom>
          <a:noFill/>
        </p:spPr>
        <p:txBody>
          <a:bodyPr wrap="square">
            <a:spAutoFit/>
          </a:bodyPr>
          <a:lstStyle/>
          <a:p>
            <a:pPr algn="just">
              <a:lnSpc>
                <a:spcPct val="150000"/>
              </a:lnSpc>
            </a:pPr>
            <a:r>
              <a:rPr lang="en-US" sz="2400" dirty="0">
                <a:solidFill>
                  <a:srgbClr val="231F20"/>
                </a:solidFill>
                <a:highlight>
                  <a:srgbClr val="FFFF00"/>
                </a:highlight>
              </a:rPr>
              <a:t>Single Instance Of Each Resource Type</a:t>
            </a:r>
          </a:p>
        </p:txBody>
      </p:sp>
      <p:pic>
        <p:nvPicPr>
          <p:cNvPr id="5" name="Picture 4">
            <a:extLst>
              <a:ext uri="{FF2B5EF4-FFF2-40B4-BE49-F238E27FC236}">
                <a16:creationId xmlns:a16="http://schemas.microsoft.com/office/drawing/2014/main" id="{57F2FE54-8E9D-CB22-F24D-FF857ABE8AA3}"/>
              </a:ext>
            </a:extLst>
          </p:cNvPr>
          <p:cNvPicPr>
            <a:picLocks noChangeAspect="1"/>
          </p:cNvPicPr>
          <p:nvPr/>
        </p:nvPicPr>
        <p:blipFill>
          <a:blip r:embed="rId3"/>
          <a:stretch>
            <a:fillRect/>
          </a:stretch>
        </p:blipFill>
        <p:spPr>
          <a:xfrm>
            <a:off x="2802943" y="2033348"/>
            <a:ext cx="6928029" cy="4353680"/>
          </a:xfrm>
          <a:prstGeom prst="rect">
            <a:avLst/>
          </a:prstGeom>
        </p:spPr>
      </p:pic>
      <p:sp>
        <p:nvSpPr>
          <p:cNvPr id="6" name="TextBox 5">
            <a:extLst>
              <a:ext uri="{FF2B5EF4-FFF2-40B4-BE49-F238E27FC236}">
                <a16:creationId xmlns:a16="http://schemas.microsoft.com/office/drawing/2014/main" id="{53FE0783-C10F-8837-EE23-FC2D857B7015}"/>
              </a:ext>
            </a:extLst>
          </p:cNvPr>
          <p:cNvSpPr txBox="1"/>
          <p:nvPr/>
        </p:nvSpPr>
        <p:spPr>
          <a:xfrm>
            <a:off x="5516682" y="1457402"/>
            <a:ext cx="6094378" cy="1295868"/>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1800" dirty="0">
                <a:solidFill>
                  <a:srgbClr val="231F20"/>
                </a:solidFill>
              </a:rPr>
              <a:t>An edge Pi → </a:t>
            </a:r>
            <a:r>
              <a:rPr lang="en-US" sz="1800" dirty="0" err="1">
                <a:solidFill>
                  <a:srgbClr val="231F20"/>
                </a:solidFill>
              </a:rPr>
              <a:t>Pj</a:t>
            </a:r>
            <a:r>
              <a:rPr lang="en-US" sz="1800" dirty="0">
                <a:solidFill>
                  <a:srgbClr val="231F20"/>
                </a:solidFill>
              </a:rPr>
              <a:t> exists in a wait-for graph if and only if the corresponding resource allocation graph contains two edges Pi → </a:t>
            </a:r>
            <a:r>
              <a:rPr lang="en-US" sz="1800" dirty="0" err="1">
                <a:solidFill>
                  <a:srgbClr val="231F20"/>
                </a:solidFill>
              </a:rPr>
              <a:t>Rq</a:t>
            </a:r>
            <a:r>
              <a:rPr lang="en-US" sz="1800" dirty="0">
                <a:solidFill>
                  <a:srgbClr val="231F20"/>
                </a:solidFill>
              </a:rPr>
              <a:t> and </a:t>
            </a:r>
            <a:r>
              <a:rPr lang="en-US" sz="1800" dirty="0" err="1">
                <a:solidFill>
                  <a:srgbClr val="231F20"/>
                </a:solidFill>
              </a:rPr>
              <a:t>Rq</a:t>
            </a:r>
            <a:r>
              <a:rPr lang="en-US" sz="1800" dirty="0">
                <a:solidFill>
                  <a:srgbClr val="231F20"/>
                </a:solidFill>
              </a:rPr>
              <a:t> → </a:t>
            </a:r>
            <a:r>
              <a:rPr lang="en-US" sz="1800" dirty="0" err="1">
                <a:solidFill>
                  <a:srgbClr val="231F20"/>
                </a:solidFill>
              </a:rPr>
              <a:t>Pj</a:t>
            </a:r>
            <a:r>
              <a:rPr lang="en-US" sz="1800" dirty="0">
                <a:solidFill>
                  <a:srgbClr val="231F20"/>
                </a:solidFill>
              </a:rPr>
              <a:t> for some resource </a:t>
            </a:r>
            <a:r>
              <a:rPr lang="en-IN" sz="1800" dirty="0" err="1">
                <a:solidFill>
                  <a:srgbClr val="231F20"/>
                </a:solidFill>
              </a:rPr>
              <a:t>Rq</a:t>
            </a:r>
            <a:r>
              <a:rPr lang="en-IN" sz="1800" dirty="0">
                <a:solidFill>
                  <a:srgbClr val="231F20"/>
                </a:solidFill>
              </a:rPr>
              <a:t> .</a:t>
            </a:r>
          </a:p>
        </p:txBody>
      </p:sp>
    </p:spTree>
    <p:extLst>
      <p:ext uri="{BB962C8B-B14F-4D97-AF65-F5344CB8AC3E}">
        <p14:creationId xmlns:p14="http://schemas.microsoft.com/office/powerpoint/2010/main" val="293963549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518323" y="601840"/>
            <a:ext cx="3497270" cy="623844"/>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Deadlock Detection </a:t>
            </a:r>
          </a:p>
        </p:txBody>
      </p:sp>
      <p:sp>
        <p:nvSpPr>
          <p:cNvPr id="4" name="TextBox 3">
            <a:extLst>
              <a:ext uri="{FF2B5EF4-FFF2-40B4-BE49-F238E27FC236}">
                <a16:creationId xmlns:a16="http://schemas.microsoft.com/office/drawing/2014/main" id="{9EDDE4EB-11A1-C842-F199-D6E26B6F854E}"/>
              </a:ext>
            </a:extLst>
          </p:cNvPr>
          <p:cNvSpPr txBox="1"/>
          <p:nvPr/>
        </p:nvSpPr>
        <p:spPr>
          <a:xfrm>
            <a:off x="654184" y="1225684"/>
            <a:ext cx="8878922" cy="589072"/>
          </a:xfrm>
          <a:prstGeom prst="rect">
            <a:avLst/>
          </a:prstGeom>
          <a:noFill/>
        </p:spPr>
        <p:txBody>
          <a:bodyPr wrap="square">
            <a:spAutoFit/>
          </a:bodyPr>
          <a:lstStyle/>
          <a:p>
            <a:pPr algn="just">
              <a:lnSpc>
                <a:spcPct val="150000"/>
              </a:lnSpc>
            </a:pPr>
            <a:r>
              <a:rPr lang="en-US" sz="2400" dirty="0">
                <a:solidFill>
                  <a:srgbClr val="231F20"/>
                </a:solidFill>
                <a:highlight>
                  <a:srgbClr val="FFFF00"/>
                </a:highlight>
              </a:rPr>
              <a:t>Single Instance Of Each Resource Type</a:t>
            </a:r>
          </a:p>
        </p:txBody>
      </p:sp>
      <p:sp>
        <p:nvSpPr>
          <p:cNvPr id="6" name="TextBox 5">
            <a:extLst>
              <a:ext uri="{FF2B5EF4-FFF2-40B4-BE49-F238E27FC236}">
                <a16:creationId xmlns:a16="http://schemas.microsoft.com/office/drawing/2014/main" id="{29DECA6B-947B-A200-6B48-FA23D05D2D8C}"/>
              </a:ext>
            </a:extLst>
          </p:cNvPr>
          <p:cNvSpPr txBox="1"/>
          <p:nvPr/>
        </p:nvSpPr>
        <p:spPr>
          <a:xfrm>
            <a:off x="835245" y="2146066"/>
            <a:ext cx="10775815" cy="2805063"/>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solidFill>
                  <a:srgbClr val="231F20"/>
                </a:solidFill>
              </a:rPr>
              <a:t>A</a:t>
            </a:r>
            <a:r>
              <a:rPr lang="en-US" sz="2400" b="0" i="0" u="none" strike="noStrike" baseline="0" dirty="0">
                <a:solidFill>
                  <a:srgbClr val="231F20"/>
                </a:solidFill>
              </a:rPr>
              <a:t> deadlock exists in the system if and only if the </a:t>
            </a:r>
            <a:r>
              <a:rPr lang="en-US" sz="2400" b="0" i="0" u="none" strike="noStrike" baseline="0" dirty="0">
                <a:solidFill>
                  <a:srgbClr val="0070C0"/>
                </a:solidFill>
              </a:rPr>
              <a:t>wait-for</a:t>
            </a:r>
            <a:r>
              <a:rPr lang="en-US" sz="2400" b="0" i="0" u="none" strike="noStrike" baseline="0" dirty="0">
                <a:solidFill>
                  <a:srgbClr val="231F20"/>
                </a:solidFill>
              </a:rPr>
              <a:t> graph contains a cycle.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To detect deadlocks, the system needs to </a:t>
            </a:r>
            <a:r>
              <a:rPr lang="en-US" sz="2400" b="1" i="1" u="none" strike="noStrike" baseline="0" dirty="0">
                <a:solidFill>
                  <a:srgbClr val="231F20"/>
                </a:solidFill>
              </a:rPr>
              <a:t>maintain </a:t>
            </a:r>
            <a:r>
              <a:rPr lang="en-US" sz="2400" b="0" i="0" u="none" strike="noStrike" baseline="0" dirty="0">
                <a:solidFill>
                  <a:srgbClr val="231F20"/>
                </a:solidFill>
              </a:rPr>
              <a:t>the </a:t>
            </a:r>
            <a:r>
              <a:rPr lang="en-US" sz="2400" dirty="0">
                <a:solidFill>
                  <a:srgbClr val="0070C0"/>
                </a:solidFill>
              </a:rPr>
              <a:t>wait-for  </a:t>
            </a:r>
            <a:r>
              <a:rPr lang="en-US" sz="2400" b="0" i="0" u="none" strike="noStrike" baseline="0" dirty="0">
                <a:solidFill>
                  <a:srgbClr val="231F20"/>
                </a:solidFill>
              </a:rPr>
              <a:t>graph and  periodically </a:t>
            </a:r>
            <a:r>
              <a:rPr lang="en-US" sz="2400" b="1" i="1" u="none" strike="noStrike" baseline="0" dirty="0">
                <a:solidFill>
                  <a:srgbClr val="231F20"/>
                </a:solidFill>
              </a:rPr>
              <a:t>invoke an algorithm </a:t>
            </a:r>
            <a:r>
              <a:rPr lang="en-US" sz="2400" b="0" i="0" u="none" strike="noStrike" baseline="0" dirty="0">
                <a:solidFill>
                  <a:srgbClr val="231F20"/>
                </a:solidFill>
              </a:rPr>
              <a:t>that searches for a cycle in the graph.</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An algorithm to detect a cycle in a graph requires an order of </a:t>
            </a:r>
            <a:r>
              <a:rPr lang="en-US" sz="2400" b="0" i="1" u="none" strike="noStrike" baseline="0" dirty="0">
                <a:solidFill>
                  <a:srgbClr val="231F20"/>
                </a:solidFill>
              </a:rPr>
              <a:t>n</a:t>
            </a:r>
            <a:r>
              <a:rPr lang="en-US" sz="2400" b="0" i="0" u="none" strike="noStrike" baseline="0" dirty="0">
                <a:solidFill>
                  <a:srgbClr val="231F20"/>
                </a:solidFill>
              </a:rPr>
              <a:t>2 operations, where </a:t>
            </a:r>
            <a:r>
              <a:rPr lang="en-US" sz="2400" b="0" i="1" u="none" strike="noStrike" baseline="0" dirty="0">
                <a:solidFill>
                  <a:srgbClr val="231F20"/>
                </a:solidFill>
              </a:rPr>
              <a:t>n </a:t>
            </a:r>
            <a:r>
              <a:rPr lang="en-US" sz="2400" b="0" i="0" u="none" strike="noStrike" baseline="0" dirty="0">
                <a:solidFill>
                  <a:srgbClr val="231F20"/>
                </a:solidFill>
              </a:rPr>
              <a:t>is the number of vertices in the graph.</a:t>
            </a:r>
            <a:endParaRPr lang="en-IN" sz="2400" dirty="0"/>
          </a:p>
        </p:txBody>
      </p:sp>
    </p:spTree>
    <p:extLst>
      <p:ext uri="{BB962C8B-B14F-4D97-AF65-F5344CB8AC3E}">
        <p14:creationId xmlns:p14="http://schemas.microsoft.com/office/powerpoint/2010/main" val="80212964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518323" y="601840"/>
            <a:ext cx="3497270" cy="623844"/>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Deadlock Detection </a:t>
            </a:r>
          </a:p>
        </p:txBody>
      </p:sp>
      <p:sp>
        <p:nvSpPr>
          <p:cNvPr id="4" name="TextBox 3">
            <a:extLst>
              <a:ext uri="{FF2B5EF4-FFF2-40B4-BE49-F238E27FC236}">
                <a16:creationId xmlns:a16="http://schemas.microsoft.com/office/drawing/2014/main" id="{9EDDE4EB-11A1-C842-F199-D6E26B6F854E}"/>
              </a:ext>
            </a:extLst>
          </p:cNvPr>
          <p:cNvSpPr txBox="1"/>
          <p:nvPr/>
        </p:nvSpPr>
        <p:spPr>
          <a:xfrm>
            <a:off x="654184" y="1225684"/>
            <a:ext cx="8878922" cy="589072"/>
          </a:xfrm>
          <a:prstGeom prst="rect">
            <a:avLst/>
          </a:prstGeom>
          <a:noFill/>
        </p:spPr>
        <p:txBody>
          <a:bodyPr wrap="square">
            <a:spAutoFit/>
          </a:bodyPr>
          <a:lstStyle/>
          <a:p>
            <a:pPr algn="just">
              <a:lnSpc>
                <a:spcPct val="150000"/>
              </a:lnSpc>
            </a:pPr>
            <a:r>
              <a:rPr lang="en-US" sz="2400" dirty="0">
                <a:solidFill>
                  <a:srgbClr val="231F20"/>
                </a:solidFill>
                <a:highlight>
                  <a:srgbClr val="FFFF00"/>
                </a:highlight>
              </a:rPr>
              <a:t>Several Instances Of A Resource Type</a:t>
            </a:r>
          </a:p>
        </p:txBody>
      </p:sp>
      <p:sp>
        <p:nvSpPr>
          <p:cNvPr id="5" name="TextBox 4">
            <a:extLst>
              <a:ext uri="{FF2B5EF4-FFF2-40B4-BE49-F238E27FC236}">
                <a16:creationId xmlns:a16="http://schemas.microsoft.com/office/drawing/2014/main" id="{78A84DBC-A471-C3F8-FFFA-452AE8EDE2AC}"/>
              </a:ext>
            </a:extLst>
          </p:cNvPr>
          <p:cNvSpPr txBox="1"/>
          <p:nvPr/>
        </p:nvSpPr>
        <p:spPr>
          <a:xfrm>
            <a:off x="654184" y="2101574"/>
            <a:ext cx="10454803" cy="1143070"/>
          </a:xfrm>
          <a:prstGeom prst="rect">
            <a:avLst/>
          </a:prstGeom>
          <a:noFill/>
        </p:spPr>
        <p:txBody>
          <a:bodyPr wrap="square">
            <a:spAutoFit/>
          </a:bodyPr>
          <a:lstStyle/>
          <a:p>
            <a:pPr algn="just">
              <a:lnSpc>
                <a:spcPct val="150000"/>
              </a:lnSpc>
            </a:pPr>
            <a:r>
              <a:rPr lang="en-US" sz="2400" dirty="0">
                <a:solidFill>
                  <a:srgbClr val="231F20"/>
                </a:solidFill>
              </a:rPr>
              <a:t>The wait-for-graph scheme does not apply to a resource-allocation system with multiple instances of each resource type.</a:t>
            </a:r>
            <a:endParaRPr lang="en-IN" sz="2400" dirty="0">
              <a:solidFill>
                <a:srgbClr val="231F20"/>
              </a:solidFill>
            </a:endParaRPr>
          </a:p>
        </p:txBody>
      </p:sp>
    </p:spTree>
    <p:extLst>
      <p:ext uri="{BB962C8B-B14F-4D97-AF65-F5344CB8AC3E}">
        <p14:creationId xmlns:p14="http://schemas.microsoft.com/office/powerpoint/2010/main" val="269489144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518323" y="601840"/>
            <a:ext cx="3497270" cy="623844"/>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Deadlock Detection </a:t>
            </a:r>
          </a:p>
        </p:txBody>
      </p:sp>
      <p:sp>
        <p:nvSpPr>
          <p:cNvPr id="4" name="TextBox 3">
            <a:extLst>
              <a:ext uri="{FF2B5EF4-FFF2-40B4-BE49-F238E27FC236}">
                <a16:creationId xmlns:a16="http://schemas.microsoft.com/office/drawing/2014/main" id="{9EDDE4EB-11A1-C842-F199-D6E26B6F854E}"/>
              </a:ext>
            </a:extLst>
          </p:cNvPr>
          <p:cNvSpPr txBox="1"/>
          <p:nvPr/>
        </p:nvSpPr>
        <p:spPr>
          <a:xfrm>
            <a:off x="654184" y="1225684"/>
            <a:ext cx="8878922" cy="589072"/>
          </a:xfrm>
          <a:prstGeom prst="rect">
            <a:avLst/>
          </a:prstGeom>
          <a:noFill/>
        </p:spPr>
        <p:txBody>
          <a:bodyPr wrap="square">
            <a:spAutoFit/>
          </a:bodyPr>
          <a:lstStyle/>
          <a:p>
            <a:pPr algn="just">
              <a:lnSpc>
                <a:spcPct val="150000"/>
              </a:lnSpc>
            </a:pPr>
            <a:r>
              <a:rPr lang="en-US" sz="2400" dirty="0">
                <a:solidFill>
                  <a:srgbClr val="231F20"/>
                </a:solidFill>
                <a:highlight>
                  <a:srgbClr val="FFFF00"/>
                </a:highlight>
              </a:rPr>
              <a:t>Several Instances Of A Resource Type</a:t>
            </a:r>
          </a:p>
        </p:txBody>
      </p:sp>
      <p:sp>
        <p:nvSpPr>
          <p:cNvPr id="2" name="TextBox 1">
            <a:extLst>
              <a:ext uri="{FF2B5EF4-FFF2-40B4-BE49-F238E27FC236}">
                <a16:creationId xmlns:a16="http://schemas.microsoft.com/office/drawing/2014/main" id="{CB44EA8B-ED01-14CC-2421-FB470D0233F9}"/>
              </a:ext>
            </a:extLst>
          </p:cNvPr>
          <p:cNvSpPr txBox="1"/>
          <p:nvPr/>
        </p:nvSpPr>
        <p:spPr>
          <a:xfrm>
            <a:off x="654184" y="2069268"/>
            <a:ext cx="3592202" cy="369332"/>
          </a:xfrm>
          <a:prstGeom prst="rect">
            <a:avLst/>
          </a:prstGeom>
          <a:noFill/>
        </p:spPr>
        <p:txBody>
          <a:bodyPr wrap="none" rtlCol="0">
            <a:spAutoFit/>
          </a:bodyPr>
          <a:lstStyle/>
          <a:p>
            <a:r>
              <a:rPr lang="en-IN" dirty="0">
                <a:highlight>
                  <a:srgbClr val="00FFFF"/>
                </a:highlight>
              </a:rPr>
              <a:t>Detection Algorithm Data Structures</a:t>
            </a:r>
          </a:p>
        </p:txBody>
      </p:sp>
      <p:pic>
        <p:nvPicPr>
          <p:cNvPr id="7" name="Picture 6">
            <a:extLst>
              <a:ext uri="{FF2B5EF4-FFF2-40B4-BE49-F238E27FC236}">
                <a16:creationId xmlns:a16="http://schemas.microsoft.com/office/drawing/2014/main" id="{CFCDDD1D-FCEB-677F-8328-9A61FEAD0F7C}"/>
              </a:ext>
            </a:extLst>
          </p:cNvPr>
          <p:cNvPicPr>
            <a:picLocks noChangeAspect="1"/>
          </p:cNvPicPr>
          <p:nvPr/>
        </p:nvPicPr>
        <p:blipFill>
          <a:blip r:embed="rId3"/>
          <a:stretch>
            <a:fillRect/>
          </a:stretch>
        </p:blipFill>
        <p:spPr>
          <a:xfrm>
            <a:off x="896485" y="2785348"/>
            <a:ext cx="10056860" cy="3123930"/>
          </a:xfrm>
          <a:prstGeom prst="rect">
            <a:avLst/>
          </a:prstGeom>
        </p:spPr>
      </p:pic>
    </p:spTree>
    <p:extLst>
      <p:ext uri="{BB962C8B-B14F-4D97-AF65-F5344CB8AC3E}">
        <p14:creationId xmlns:p14="http://schemas.microsoft.com/office/powerpoint/2010/main" val="242617600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518323" y="601840"/>
            <a:ext cx="3497270" cy="623844"/>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Deadlock Detection </a:t>
            </a:r>
          </a:p>
        </p:txBody>
      </p:sp>
      <p:sp>
        <p:nvSpPr>
          <p:cNvPr id="4" name="TextBox 3">
            <a:extLst>
              <a:ext uri="{FF2B5EF4-FFF2-40B4-BE49-F238E27FC236}">
                <a16:creationId xmlns:a16="http://schemas.microsoft.com/office/drawing/2014/main" id="{9EDDE4EB-11A1-C842-F199-D6E26B6F854E}"/>
              </a:ext>
            </a:extLst>
          </p:cNvPr>
          <p:cNvSpPr txBox="1"/>
          <p:nvPr/>
        </p:nvSpPr>
        <p:spPr>
          <a:xfrm>
            <a:off x="654184" y="1225684"/>
            <a:ext cx="8878922" cy="589072"/>
          </a:xfrm>
          <a:prstGeom prst="rect">
            <a:avLst/>
          </a:prstGeom>
          <a:noFill/>
        </p:spPr>
        <p:txBody>
          <a:bodyPr wrap="square">
            <a:spAutoFit/>
          </a:bodyPr>
          <a:lstStyle/>
          <a:p>
            <a:pPr algn="just">
              <a:lnSpc>
                <a:spcPct val="150000"/>
              </a:lnSpc>
            </a:pPr>
            <a:r>
              <a:rPr lang="en-US" sz="2400" dirty="0">
                <a:solidFill>
                  <a:srgbClr val="231F20"/>
                </a:solidFill>
                <a:highlight>
                  <a:srgbClr val="FFFF00"/>
                </a:highlight>
              </a:rPr>
              <a:t>Several Instances Of A Resource Type</a:t>
            </a:r>
          </a:p>
        </p:txBody>
      </p:sp>
      <p:sp>
        <p:nvSpPr>
          <p:cNvPr id="2" name="TextBox 1">
            <a:extLst>
              <a:ext uri="{FF2B5EF4-FFF2-40B4-BE49-F238E27FC236}">
                <a16:creationId xmlns:a16="http://schemas.microsoft.com/office/drawing/2014/main" id="{CB44EA8B-ED01-14CC-2421-FB470D0233F9}"/>
              </a:ext>
            </a:extLst>
          </p:cNvPr>
          <p:cNvSpPr txBox="1"/>
          <p:nvPr/>
        </p:nvSpPr>
        <p:spPr>
          <a:xfrm>
            <a:off x="654184" y="1952464"/>
            <a:ext cx="2086918" cy="369332"/>
          </a:xfrm>
          <a:prstGeom prst="rect">
            <a:avLst/>
          </a:prstGeom>
          <a:noFill/>
        </p:spPr>
        <p:txBody>
          <a:bodyPr wrap="none" rtlCol="0">
            <a:spAutoFit/>
          </a:bodyPr>
          <a:lstStyle/>
          <a:p>
            <a:r>
              <a:rPr lang="en-IN" dirty="0">
                <a:highlight>
                  <a:srgbClr val="00FFFF"/>
                </a:highlight>
              </a:rPr>
              <a:t>Detection Algorithm</a:t>
            </a:r>
          </a:p>
        </p:txBody>
      </p:sp>
      <p:sp>
        <p:nvSpPr>
          <p:cNvPr id="6" name="TextBox 5">
            <a:extLst>
              <a:ext uri="{FF2B5EF4-FFF2-40B4-BE49-F238E27FC236}">
                <a16:creationId xmlns:a16="http://schemas.microsoft.com/office/drawing/2014/main" id="{002F3421-E001-0563-5F68-7678C319D224}"/>
              </a:ext>
            </a:extLst>
          </p:cNvPr>
          <p:cNvSpPr txBox="1"/>
          <p:nvPr/>
        </p:nvSpPr>
        <p:spPr>
          <a:xfrm>
            <a:off x="807396" y="2828836"/>
            <a:ext cx="10671242" cy="1143070"/>
          </a:xfrm>
          <a:prstGeom prst="rect">
            <a:avLst/>
          </a:prstGeom>
          <a:noFill/>
        </p:spPr>
        <p:txBody>
          <a:bodyPr wrap="square">
            <a:spAutoFit/>
          </a:bodyPr>
          <a:lstStyle/>
          <a:p>
            <a:pPr algn="just">
              <a:lnSpc>
                <a:spcPct val="150000"/>
              </a:lnSpc>
            </a:pPr>
            <a:r>
              <a:rPr lang="en-IN" sz="2400" b="0" i="0" u="none" strike="noStrike" baseline="0" dirty="0">
                <a:solidFill>
                  <a:srgbClr val="231F20"/>
                </a:solidFill>
              </a:rPr>
              <a:t>The detection algorithm </a:t>
            </a:r>
            <a:r>
              <a:rPr lang="en-US" sz="2400" b="0" i="0" u="none" strike="noStrike" baseline="0" dirty="0">
                <a:solidFill>
                  <a:srgbClr val="231F20"/>
                </a:solidFill>
              </a:rPr>
              <a:t>described here simply investigates every possible allocation sequence for the processes that remain to be completed.</a:t>
            </a:r>
            <a:endParaRPr lang="en-IN" sz="2400" dirty="0"/>
          </a:p>
        </p:txBody>
      </p:sp>
    </p:spTree>
    <p:extLst>
      <p:ext uri="{BB962C8B-B14F-4D97-AF65-F5344CB8AC3E}">
        <p14:creationId xmlns:p14="http://schemas.microsoft.com/office/powerpoint/2010/main" val="127514201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518323" y="601840"/>
            <a:ext cx="3497270" cy="623844"/>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Deadlock Detection </a:t>
            </a:r>
          </a:p>
        </p:txBody>
      </p:sp>
      <p:sp>
        <p:nvSpPr>
          <p:cNvPr id="4" name="TextBox 3">
            <a:extLst>
              <a:ext uri="{FF2B5EF4-FFF2-40B4-BE49-F238E27FC236}">
                <a16:creationId xmlns:a16="http://schemas.microsoft.com/office/drawing/2014/main" id="{9EDDE4EB-11A1-C842-F199-D6E26B6F854E}"/>
              </a:ext>
            </a:extLst>
          </p:cNvPr>
          <p:cNvSpPr txBox="1"/>
          <p:nvPr/>
        </p:nvSpPr>
        <p:spPr>
          <a:xfrm>
            <a:off x="654184" y="1225684"/>
            <a:ext cx="8878922" cy="589072"/>
          </a:xfrm>
          <a:prstGeom prst="rect">
            <a:avLst/>
          </a:prstGeom>
          <a:noFill/>
        </p:spPr>
        <p:txBody>
          <a:bodyPr wrap="square">
            <a:spAutoFit/>
          </a:bodyPr>
          <a:lstStyle/>
          <a:p>
            <a:pPr algn="just">
              <a:lnSpc>
                <a:spcPct val="150000"/>
              </a:lnSpc>
            </a:pPr>
            <a:r>
              <a:rPr lang="en-US" sz="2400" dirty="0">
                <a:solidFill>
                  <a:srgbClr val="231F20"/>
                </a:solidFill>
                <a:highlight>
                  <a:srgbClr val="FFFF00"/>
                </a:highlight>
              </a:rPr>
              <a:t>Several Instances Of A Resource Type</a:t>
            </a:r>
          </a:p>
        </p:txBody>
      </p:sp>
      <p:sp>
        <p:nvSpPr>
          <p:cNvPr id="2" name="TextBox 1">
            <a:extLst>
              <a:ext uri="{FF2B5EF4-FFF2-40B4-BE49-F238E27FC236}">
                <a16:creationId xmlns:a16="http://schemas.microsoft.com/office/drawing/2014/main" id="{CB44EA8B-ED01-14CC-2421-FB470D0233F9}"/>
              </a:ext>
            </a:extLst>
          </p:cNvPr>
          <p:cNvSpPr txBox="1"/>
          <p:nvPr/>
        </p:nvSpPr>
        <p:spPr>
          <a:xfrm>
            <a:off x="654184" y="1952464"/>
            <a:ext cx="2086918" cy="369332"/>
          </a:xfrm>
          <a:prstGeom prst="rect">
            <a:avLst/>
          </a:prstGeom>
          <a:noFill/>
        </p:spPr>
        <p:txBody>
          <a:bodyPr wrap="none" rtlCol="0">
            <a:spAutoFit/>
          </a:bodyPr>
          <a:lstStyle/>
          <a:p>
            <a:r>
              <a:rPr lang="en-IN" dirty="0">
                <a:highlight>
                  <a:srgbClr val="00FFFF"/>
                </a:highlight>
              </a:rPr>
              <a:t>Detection Algorithm</a:t>
            </a:r>
          </a:p>
        </p:txBody>
      </p:sp>
      <p:pic>
        <p:nvPicPr>
          <p:cNvPr id="7" name="Picture 6">
            <a:extLst>
              <a:ext uri="{FF2B5EF4-FFF2-40B4-BE49-F238E27FC236}">
                <a16:creationId xmlns:a16="http://schemas.microsoft.com/office/drawing/2014/main" id="{F01B1B2E-1705-615C-DB1E-70A96C243AAC}"/>
              </a:ext>
            </a:extLst>
          </p:cNvPr>
          <p:cNvPicPr>
            <a:picLocks noChangeAspect="1"/>
          </p:cNvPicPr>
          <p:nvPr/>
        </p:nvPicPr>
        <p:blipFill>
          <a:blip r:embed="rId3"/>
          <a:stretch>
            <a:fillRect/>
          </a:stretch>
        </p:blipFill>
        <p:spPr>
          <a:xfrm>
            <a:off x="2741102" y="1835660"/>
            <a:ext cx="8558360" cy="4420500"/>
          </a:xfrm>
          <a:prstGeom prst="rect">
            <a:avLst/>
          </a:prstGeom>
        </p:spPr>
      </p:pic>
    </p:spTree>
    <p:extLst>
      <p:ext uri="{BB962C8B-B14F-4D97-AF65-F5344CB8AC3E}">
        <p14:creationId xmlns:p14="http://schemas.microsoft.com/office/powerpoint/2010/main" val="323670952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518323" y="601840"/>
            <a:ext cx="3497270" cy="623844"/>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Deadlock Detection </a:t>
            </a:r>
          </a:p>
        </p:txBody>
      </p:sp>
      <p:sp>
        <p:nvSpPr>
          <p:cNvPr id="4" name="TextBox 3">
            <a:extLst>
              <a:ext uri="{FF2B5EF4-FFF2-40B4-BE49-F238E27FC236}">
                <a16:creationId xmlns:a16="http://schemas.microsoft.com/office/drawing/2014/main" id="{9EDDE4EB-11A1-C842-F199-D6E26B6F854E}"/>
              </a:ext>
            </a:extLst>
          </p:cNvPr>
          <p:cNvSpPr txBox="1"/>
          <p:nvPr/>
        </p:nvSpPr>
        <p:spPr>
          <a:xfrm>
            <a:off x="654184" y="1225684"/>
            <a:ext cx="8878922" cy="589072"/>
          </a:xfrm>
          <a:prstGeom prst="rect">
            <a:avLst/>
          </a:prstGeom>
          <a:noFill/>
        </p:spPr>
        <p:txBody>
          <a:bodyPr wrap="square">
            <a:spAutoFit/>
          </a:bodyPr>
          <a:lstStyle/>
          <a:p>
            <a:pPr algn="just">
              <a:lnSpc>
                <a:spcPct val="150000"/>
              </a:lnSpc>
            </a:pPr>
            <a:r>
              <a:rPr lang="en-US" sz="2400" dirty="0">
                <a:solidFill>
                  <a:srgbClr val="231F20"/>
                </a:solidFill>
                <a:highlight>
                  <a:srgbClr val="FFFF00"/>
                </a:highlight>
              </a:rPr>
              <a:t>Several Instances Of A Resource Type</a:t>
            </a:r>
          </a:p>
        </p:txBody>
      </p:sp>
      <p:sp>
        <p:nvSpPr>
          <p:cNvPr id="2" name="TextBox 1">
            <a:extLst>
              <a:ext uri="{FF2B5EF4-FFF2-40B4-BE49-F238E27FC236}">
                <a16:creationId xmlns:a16="http://schemas.microsoft.com/office/drawing/2014/main" id="{CB44EA8B-ED01-14CC-2421-FB470D0233F9}"/>
              </a:ext>
            </a:extLst>
          </p:cNvPr>
          <p:cNvSpPr txBox="1"/>
          <p:nvPr/>
        </p:nvSpPr>
        <p:spPr>
          <a:xfrm>
            <a:off x="654184" y="1952464"/>
            <a:ext cx="2086918" cy="369332"/>
          </a:xfrm>
          <a:prstGeom prst="rect">
            <a:avLst/>
          </a:prstGeom>
          <a:noFill/>
        </p:spPr>
        <p:txBody>
          <a:bodyPr wrap="none" rtlCol="0">
            <a:spAutoFit/>
          </a:bodyPr>
          <a:lstStyle/>
          <a:p>
            <a:r>
              <a:rPr lang="en-IN" dirty="0">
                <a:highlight>
                  <a:srgbClr val="00FFFF"/>
                </a:highlight>
              </a:rPr>
              <a:t>Detection Algorithm</a:t>
            </a:r>
          </a:p>
        </p:txBody>
      </p:sp>
      <p:pic>
        <p:nvPicPr>
          <p:cNvPr id="6" name="Picture 5">
            <a:extLst>
              <a:ext uri="{FF2B5EF4-FFF2-40B4-BE49-F238E27FC236}">
                <a16:creationId xmlns:a16="http://schemas.microsoft.com/office/drawing/2014/main" id="{FFC1C563-EEBD-EA7D-FE5B-0A76FFCD66E9}"/>
              </a:ext>
            </a:extLst>
          </p:cNvPr>
          <p:cNvPicPr>
            <a:picLocks noChangeAspect="1"/>
          </p:cNvPicPr>
          <p:nvPr/>
        </p:nvPicPr>
        <p:blipFill>
          <a:blip r:embed="rId3"/>
          <a:stretch>
            <a:fillRect/>
          </a:stretch>
        </p:blipFill>
        <p:spPr>
          <a:xfrm>
            <a:off x="3407112" y="2041346"/>
            <a:ext cx="6775940" cy="2775308"/>
          </a:xfrm>
          <a:prstGeom prst="rect">
            <a:avLst/>
          </a:prstGeom>
          <a:ln>
            <a:solidFill>
              <a:schemeClr val="accent2">
                <a:lumMod val="75000"/>
              </a:schemeClr>
            </a:solidFill>
          </a:ln>
        </p:spPr>
      </p:pic>
      <p:pic>
        <p:nvPicPr>
          <p:cNvPr id="9" name="Picture 8">
            <a:extLst>
              <a:ext uri="{FF2B5EF4-FFF2-40B4-BE49-F238E27FC236}">
                <a16:creationId xmlns:a16="http://schemas.microsoft.com/office/drawing/2014/main" id="{2AFAC457-715D-8D28-599E-470ACD52EFFF}"/>
              </a:ext>
            </a:extLst>
          </p:cNvPr>
          <p:cNvPicPr>
            <a:picLocks noChangeAspect="1"/>
          </p:cNvPicPr>
          <p:nvPr/>
        </p:nvPicPr>
        <p:blipFill>
          <a:blip r:embed="rId4"/>
          <a:stretch>
            <a:fillRect/>
          </a:stretch>
        </p:blipFill>
        <p:spPr>
          <a:xfrm>
            <a:off x="1531697" y="5133776"/>
            <a:ext cx="9406469" cy="983519"/>
          </a:xfrm>
          <a:prstGeom prst="rect">
            <a:avLst/>
          </a:prstGeom>
        </p:spPr>
      </p:pic>
    </p:spTree>
    <p:extLst>
      <p:ext uri="{BB962C8B-B14F-4D97-AF65-F5344CB8AC3E}">
        <p14:creationId xmlns:p14="http://schemas.microsoft.com/office/powerpoint/2010/main" val="384787615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518323" y="601840"/>
            <a:ext cx="3497270" cy="623844"/>
          </a:xfrm>
        </p:spPr>
        <p:txBody>
          <a:bodyPr>
            <a:normAutofit/>
          </a:bodyPr>
          <a:lstStyle/>
          <a:p>
            <a:pPr>
              <a:lnSpc>
                <a:spcPct val="100000"/>
              </a:lnSpc>
            </a:pPr>
            <a:r>
              <a:rPr lang="en-US" altLang="zh-TW" sz="2800" dirty="0">
                <a:solidFill>
                  <a:srgbClr val="FF6600"/>
                </a:solidFill>
                <a:latin typeface="Aharoni" pitchFamily="2" charset="-79"/>
                <a:cs typeface="Aharoni" pitchFamily="2" charset="-79"/>
              </a:rPr>
              <a:t>Deadlock Detection </a:t>
            </a:r>
          </a:p>
        </p:txBody>
      </p:sp>
      <p:sp>
        <p:nvSpPr>
          <p:cNvPr id="4" name="TextBox 3">
            <a:extLst>
              <a:ext uri="{FF2B5EF4-FFF2-40B4-BE49-F238E27FC236}">
                <a16:creationId xmlns:a16="http://schemas.microsoft.com/office/drawing/2014/main" id="{9EDDE4EB-11A1-C842-F199-D6E26B6F854E}"/>
              </a:ext>
            </a:extLst>
          </p:cNvPr>
          <p:cNvSpPr txBox="1"/>
          <p:nvPr/>
        </p:nvSpPr>
        <p:spPr>
          <a:xfrm>
            <a:off x="654184" y="1225684"/>
            <a:ext cx="8878922" cy="589072"/>
          </a:xfrm>
          <a:prstGeom prst="rect">
            <a:avLst/>
          </a:prstGeom>
          <a:noFill/>
        </p:spPr>
        <p:txBody>
          <a:bodyPr wrap="square">
            <a:spAutoFit/>
          </a:bodyPr>
          <a:lstStyle/>
          <a:p>
            <a:pPr algn="just">
              <a:lnSpc>
                <a:spcPct val="150000"/>
              </a:lnSpc>
            </a:pPr>
            <a:r>
              <a:rPr lang="en-US" sz="2400" dirty="0">
                <a:solidFill>
                  <a:srgbClr val="231F20"/>
                </a:solidFill>
                <a:highlight>
                  <a:srgbClr val="FFFF00"/>
                </a:highlight>
              </a:rPr>
              <a:t>Several Instances Of A Resource Type</a:t>
            </a:r>
          </a:p>
        </p:txBody>
      </p:sp>
      <p:sp>
        <p:nvSpPr>
          <p:cNvPr id="2" name="TextBox 1">
            <a:extLst>
              <a:ext uri="{FF2B5EF4-FFF2-40B4-BE49-F238E27FC236}">
                <a16:creationId xmlns:a16="http://schemas.microsoft.com/office/drawing/2014/main" id="{CB44EA8B-ED01-14CC-2421-FB470D0233F9}"/>
              </a:ext>
            </a:extLst>
          </p:cNvPr>
          <p:cNvSpPr txBox="1"/>
          <p:nvPr/>
        </p:nvSpPr>
        <p:spPr>
          <a:xfrm>
            <a:off x="654184" y="1952464"/>
            <a:ext cx="2086918" cy="369332"/>
          </a:xfrm>
          <a:prstGeom prst="rect">
            <a:avLst/>
          </a:prstGeom>
          <a:noFill/>
        </p:spPr>
        <p:txBody>
          <a:bodyPr wrap="none" rtlCol="0">
            <a:spAutoFit/>
          </a:bodyPr>
          <a:lstStyle/>
          <a:p>
            <a:r>
              <a:rPr lang="en-IN" dirty="0">
                <a:highlight>
                  <a:srgbClr val="00FFFF"/>
                </a:highlight>
              </a:rPr>
              <a:t>Detection Algorithm</a:t>
            </a:r>
          </a:p>
        </p:txBody>
      </p:sp>
      <p:pic>
        <p:nvPicPr>
          <p:cNvPr id="7" name="Picture 6">
            <a:extLst>
              <a:ext uri="{FF2B5EF4-FFF2-40B4-BE49-F238E27FC236}">
                <a16:creationId xmlns:a16="http://schemas.microsoft.com/office/drawing/2014/main" id="{941D27F7-F29E-B34F-5ACB-8AF73C67DED7}"/>
              </a:ext>
            </a:extLst>
          </p:cNvPr>
          <p:cNvPicPr>
            <a:picLocks noChangeAspect="1"/>
          </p:cNvPicPr>
          <p:nvPr/>
        </p:nvPicPr>
        <p:blipFill>
          <a:blip r:embed="rId3"/>
          <a:stretch>
            <a:fillRect/>
          </a:stretch>
        </p:blipFill>
        <p:spPr>
          <a:xfrm>
            <a:off x="2845247" y="2026529"/>
            <a:ext cx="8097836" cy="4090767"/>
          </a:xfrm>
          <a:prstGeom prst="rect">
            <a:avLst/>
          </a:prstGeom>
        </p:spPr>
      </p:pic>
    </p:spTree>
    <p:extLst>
      <p:ext uri="{BB962C8B-B14F-4D97-AF65-F5344CB8AC3E}">
        <p14:creationId xmlns:p14="http://schemas.microsoft.com/office/powerpoint/2010/main" val="168678540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98335-6F39-88C7-D5CF-791CE5EE291F}"/>
            </a:ext>
          </a:extLst>
        </p:cNvPr>
        <p:cNvGrpSpPr/>
        <p:nvPr/>
      </p:nvGrpSpPr>
      <p:grpSpPr>
        <a:xfrm>
          <a:off x="0" y="0"/>
          <a:ext cx="0" cy="0"/>
          <a:chOff x="0" y="0"/>
          <a:chExt cx="0" cy="0"/>
        </a:xfrm>
      </p:grpSpPr>
      <p:sp>
        <p:nvSpPr>
          <p:cNvPr id="9" name="Text Placeholder 3">
            <a:extLst>
              <a:ext uri="{FF2B5EF4-FFF2-40B4-BE49-F238E27FC236}">
                <a16:creationId xmlns:a16="http://schemas.microsoft.com/office/drawing/2014/main" id="{887863A9-46E6-1AAC-795A-3963862AF469}"/>
              </a:ext>
            </a:extLst>
          </p:cNvPr>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5" name="Subtitle 4">
            <a:extLst>
              <a:ext uri="{FF2B5EF4-FFF2-40B4-BE49-F238E27FC236}">
                <a16:creationId xmlns:a16="http://schemas.microsoft.com/office/drawing/2014/main" id="{0ECCED30-4574-CA0F-18BE-FDA3DAACCDC4}"/>
              </a:ext>
            </a:extLst>
          </p:cNvPr>
          <p:cNvSpPr>
            <a:spLocks noGrp="1"/>
          </p:cNvSpPr>
          <p:nvPr>
            <p:ph type="subTitle" idx="1"/>
          </p:nvPr>
        </p:nvSpPr>
        <p:spPr>
          <a:xfrm>
            <a:off x="1047345" y="2601119"/>
            <a:ext cx="9144000" cy="1655762"/>
          </a:xfrm>
        </p:spPr>
        <p:txBody>
          <a:bodyPr>
            <a:normAutofit/>
          </a:bodyPr>
          <a:lstStyle/>
          <a:p>
            <a:r>
              <a:rPr lang="en-US" sz="4400" dirty="0">
                <a:solidFill>
                  <a:srgbClr val="0066CC"/>
                </a:solidFill>
              </a:rPr>
              <a:t>Lecture - 6</a:t>
            </a:r>
          </a:p>
        </p:txBody>
      </p:sp>
    </p:spTree>
    <p:extLst>
      <p:ext uri="{BB962C8B-B14F-4D97-AF65-F5344CB8AC3E}">
        <p14:creationId xmlns:p14="http://schemas.microsoft.com/office/powerpoint/2010/main" val="382399710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Recap</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latin typeface="+mj-lt"/>
                <a:ea typeface="+mj-ea"/>
                <a:cs typeface="+mj-cs"/>
              </a:rPr>
              <a:t>Deadlock Detection</a:t>
            </a:r>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182036721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Agenda</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latin typeface="+mj-lt"/>
                <a:ea typeface="+mj-ea"/>
                <a:cs typeface="+mj-cs"/>
              </a:rPr>
              <a:t>Recovery from Deadlock</a:t>
            </a:r>
            <a:endParaRPr lang="en-US" sz="2200" dirty="0">
              <a:latin typeface="+mj-lt"/>
              <a:ea typeface="+mj-ea"/>
              <a:cs typeface="+mj-cs"/>
            </a:endParaRPr>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247611539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518323" y="601840"/>
            <a:ext cx="4032290" cy="623844"/>
          </a:xfrm>
        </p:spPr>
        <p:txBody>
          <a:bodyPr>
            <a:normAutofit fontScale="90000"/>
          </a:bodyPr>
          <a:lstStyle/>
          <a:p>
            <a:pPr>
              <a:lnSpc>
                <a:spcPct val="100000"/>
              </a:lnSpc>
            </a:pPr>
            <a:r>
              <a:rPr lang="en-US" altLang="zh-TW" sz="2800" dirty="0">
                <a:solidFill>
                  <a:srgbClr val="FF6600"/>
                </a:solidFill>
                <a:latin typeface="Aharoni" pitchFamily="2" charset="-79"/>
                <a:cs typeface="Aharoni" pitchFamily="2" charset="-79"/>
              </a:rPr>
              <a:t>Recovery from Deadlock</a:t>
            </a:r>
          </a:p>
        </p:txBody>
      </p:sp>
      <p:sp>
        <p:nvSpPr>
          <p:cNvPr id="6" name="TextBox 5">
            <a:extLst>
              <a:ext uri="{FF2B5EF4-FFF2-40B4-BE49-F238E27FC236}">
                <a16:creationId xmlns:a16="http://schemas.microsoft.com/office/drawing/2014/main" id="{7726F764-29ED-648E-A258-96B0E314038F}"/>
              </a:ext>
            </a:extLst>
          </p:cNvPr>
          <p:cNvSpPr txBox="1"/>
          <p:nvPr/>
        </p:nvSpPr>
        <p:spPr>
          <a:xfrm>
            <a:off x="933855" y="1582341"/>
            <a:ext cx="10535056" cy="2805063"/>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When a detection algorithm determines that a deadlock exists, several alternatives are available. </a:t>
            </a:r>
          </a:p>
          <a:p>
            <a:pPr marL="914400" lvl="1" indent="-457200" algn="just">
              <a:lnSpc>
                <a:spcPct val="150000"/>
              </a:lnSpc>
              <a:buFont typeface="+mj-lt"/>
              <a:buAutoNum type="arabicPeriod"/>
            </a:pPr>
            <a:r>
              <a:rPr lang="en-US" sz="2400" dirty="0">
                <a:solidFill>
                  <a:srgbClr val="231F20"/>
                </a:solidFill>
              </a:rPr>
              <a:t>I</a:t>
            </a:r>
            <a:r>
              <a:rPr lang="en-US" sz="2400" b="0" i="0" u="none" strike="noStrike" baseline="0" dirty="0">
                <a:solidFill>
                  <a:srgbClr val="231F20"/>
                </a:solidFill>
              </a:rPr>
              <a:t>nform the operator that a deadlock has occurred and to let the operator deal with the deadlock manually.</a:t>
            </a:r>
          </a:p>
          <a:p>
            <a:pPr marL="914400" lvl="1" indent="-457200" algn="just">
              <a:lnSpc>
                <a:spcPct val="150000"/>
              </a:lnSpc>
              <a:buFont typeface="+mj-lt"/>
              <a:buAutoNum type="arabicPeriod"/>
            </a:pPr>
            <a:r>
              <a:rPr lang="en-US" sz="2400" b="0" i="0" u="none" strike="noStrike" baseline="0" dirty="0">
                <a:solidFill>
                  <a:srgbClr val="231F20"/>
                </a:solidFill>
              </a:rPr>
              <a:t>Let the system </a:t>
            </a:r>
            <a:r>
              <a:rPr lang="en-US" sz="2400" b="1" i="0" u="none" strike="noStrike" baseline="0" dirty="0">
                <a:solidFill>
                  <a:srgbClr val="00AEF0"/>
                </a:solidFill>
              </a:rPr>
              <a:t>recover </a:t>
            </a:r>
            <a:r>
              <a:rPr lang="en-US" sz="2400" b="0" i="0" u="none" strike="noStrike" baseline="0" dirty="0">
                <a:solidFill>
                  <a:srgbClr val="231F20"/>
                </a:solidFill>
              </a:rPr>
              <a:t>from the deadlock automatically. </a:t>
            </a:r>
            <a:endParaRPr lang="en-IN" sz="2400" dirty="0"/>
          </a:p>
        </p:txBody>
      </p:sp>
    </p:spTree>
    <p:extLst>
      <p:ext uri="{BB962C8B-B14F-4D97-AF65-F5344CB8AC3E}">
        <p14:creationId xmlns:p14="http://schemas.microsoft.com/office/powerpoint/2010/main" val="165127575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518323" y="601840"/>
            <a:ext cx="4032290" cy="623844"/>
          </a:xfrm>
        </p:spPr>
        <p:txBody>
          <a:bodyPr>
            <a:normAutofit fontScale="90000"/>
          </a:bodyPr>
          <a:lstStyle/>
          <a:p>
            <a:pPr>
              <a:lnSpc>
                <a:spcPct val="100000"/>
              </a:lnSpc>
            </a:pPr>
            <a:r>
              <a:rPr lang="en-US" altLang="zh-TW" sz="2800" dirty="0">
                <a:solidFill>
                  <a:srgbClr val="FF6600"/>
                </a:solidFill>
                <a:latin typeface="Aharoni" pitchFamily="2" charset="-79"/>
                <a:cs typeface="Aharoni" pitchFamily="2" charset="-79"/>
              </a:rPr>
              <a:t>Recovery from Deadlock</a:t>
            </a:r>
          </a:p>
        </p:txBody>
      </p:sp>
      <p:sp>
        <p:nvSpPr>
          <p:cNvPr id="6" name="TextBox 5">
            <a:extLst>
              <a:ext uri="{FF2B5EF4-FFF2-40B4-BE49-F238E27FC236}">
                <a16:creationId xmlns:a16="http://schemas.microsoft.com/office/drawing/2014/main" id="{7726F764-29ED-648E-A258-96B0E314038F}"/>
              </a:ext>
            </a:extLst>
          </p:cNvPr>
          <p:cNvSpPr txBox="1"/>
          <p:nvPr/>
        </p:nvSpPr>
        <p:spPr>
          <a:xfrm>
            <a:off x="933855" y="1582341"/>
            <a:ext cx="10535056" cy="1697068"/>
          </a:xfrm>
          <a:prstGeom prst="rect">
            <a:avLst/>
          </a:prstGeom>
          <a:noFill/>
        </p:spPr>
        <p:txBody>
          <a:bodyPr wrap="square">
            <a:spAutoFit/>
          </a:bodyPr>
          <a:lstStyle/>
          <a:p>
            <a:pPr algn="just">
              <a:lnSpc>
                <a:spcPct val="150000"/>
              </a:lnSpc>
            </a:pPr>
            <a:r>
              <a:rPr lang="en-US" sz="2400" b="0" i="0" u="none" strike="noStrike" baseline="0" dirty="0">
                <a:solidFill>
                  <a:srgbClr val="231F20"/>
                </a:solidFill>
              </a:rPr>
              <a:t>There are two options for breaking a deadlock. </a:t>
            </a:r>
          </a:p>
          <a:p>
            <a:pPr marL="914400" lvl="1" indent="-457200" algn="just">
              <a:lnSpc>
                <a:spcPct val="150000"/>
              </a:lnSpc>
              <a:buFont typeface="+mj-lt"/>
              <a:buAutoNum type="arabicPeriod"/>
            </a:pPr>
            <a:r>
              <a:rPr lang="en-US" sz="2400" b="0" i="0" u="none" strike="noStrike" baseline="0" dirty="0">
                <a:solidFill>
                  <a:srgbClr val="231F20"/>
                </a:solidFill>
              </a:rPr>
              <a:t>Simply abort one or more processes to break the circular wait. </a:t>
            </a:r>
          </a:p>
          <a:p>
            <a:pPr marL="914400" lvl="1" indent="-457200" algn="just">
              <a:lnSpc>
                <a:spcPct val="150000"/>
              </a:lnSpc>
              <a:buFont typeface="+mj-lt"/>
              <a:buAutoNum type="arabicPeriod"/>
            </a:pPr>
            <a:r>
              <a:rPr lang="en-US" sz="2400" b="0" i="0" u="none" strike="noStrike" baseline="0" dirty="0">
                <a:solidFill>
                  <a:srgbClr val="231F20"/>
                </a:solidFill>
              </a:rPr>
              <a:t>To preempt some resources from one or more of the deadlocked processes.</a:t>
            </a:r>
            <a:endParaRPr lang="en-IN" sz="2400" dirty="0"/>
          </a:p>
        </p:txBody>
      </p:sp>
    </p:spTree>
    <p:extLst>
      <p:ext uri="{BB962C8B-B14F-4D97-AF65-F5344CB8AC3E}">
        <p14:creationId xmlns:p14="http://schemas.microsoft.com/office/powerpoint/2010/main" val="58115469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518323" y="601840"/>
            <a:ext cx="4032290" cy="623844"/>
          </a:xfrm>
        </p:spPr>
        <p:txBody>
          <a:bodyPr>
            <a:normAutofit fontScale="90000"/>
          </a:bodyPr>
          <a:lstStyle/>
          <a:p>
            <a:pPr>
              <a:lnSpc>
                <a:spcPct val="100000"/>
              </a:lnSpc>
            </a:pPr>
            <a:r>
              <a:rPr lang="en-US" altLang="zh-TW" sz="2800" dirty="0">
                <a:solidFill>
                  <a:srgbClr val="FF6600"/>
                </a:solidFill>
                <a:latin typeface="Aharoni" pitchFamily="2" charset="-79"/>
                <a:cs typeface="Aharoni" pitchFamily="2" charset="-79"/>
              </a:rPr>
              <a:t>Recovery from Deadlock</a:t>
            </a:r>
          </a:p>
        </p:txBody>
      </p:sp>
      <p:sp>
        <p:nvSpPr>
          <p:cNvPr id="4" name="TextBox 3">
            <a:extLst>
              <a:ext uri="{FF2B5EF4-FFF2-40B4-BE49-F238E27FC236}">
                <a16:creationId xmlns:a16="http://schemas.microsoft.com/office/drawing/2014/main" id="{508096FE-102E-A2BB-766F-EFB7D9A279AA}"/>
              </a:ext>
            </a:extLst>
          </p:cNvPr>
          <p:cNvSpPr txBox="1"/>
          <p:nvPr/>
        </p:nvSpPr>
        <p:spPr>
          <a:xfrm>
            <a:off x="673640" y="1512811"/>
            <a:ext cx="6094378" cy="369332"/>
          </a:xfrm>
          <a:prstGeom prst="rect">
            <a:avLst/>
          </a:prstGeom>
          <a:noFill/>
        </p:spPr>
        <p:txBody>
          <a:bodyPr wrap="square">
            <a:spAutoFit/>
          </a:bodyPr>
          <a:lstStyle/>
          <a:p>
            <a:r>
              <a:rPr lang="en-IN" sz="1800" b="0" i="0" u="none" strike="noStrike" baseline="0" dirty="0">
                <a:solidFill>
                  <a:srgbClr val="231F20"/>
                </a:solidFill>
                <a:highlight>
                  <a:srgbClr val="FFFF00"/>
                </a:highlight>
                <a:latin typeface="HelveticaNeue-MediumExt"/>
              </a:rPr>
              <a:t>Process Termination</a:t>
            </a:r>
            <a:endParaRPr lang="en-IN" dirty="0">
              <a:highlight>
                <a:srgbClr val="FFFF00"/>
              </a:highlight>
            </a:endParaRPr>
          </a:p>
        </p:txBody>
      </p:sp>
      <p:sp>
        <p:nvSpPr>
          <p:cNvPr id="7" name="TextBox 6">
            <a:extLst>
              <a:ext uri="{FF2B5EF4-FFF2-40B4-BE49-F238E27FC236}">
                <a16:creationId xmlns:a16="http://schemas.microsoft.com/office/drawing/2014/main" id="{7A2BEC51-D77D-7E8D-9B32-99FB0FEA0EA7}"/>
              </a:ext>
            </a:extLst>
          </p:cNvPr>
          <p:cNvSpPr txBox="1"/>
          <p:nvPr/>
        </p:nvSpPr>
        <p:spPr>
          <a:xfrm>
            <a:off x="766340" y="2169270"/>
            <a:ext cx="10844720" cy="3359061"/>
          </a:xfrm>
          <a:prstGeom prst="rect">
            <a:avLst/>
          </a:prstGeom>
          <a:noFill/>
        </p:spPr>
        <p:txBody>
          <a:bodyPr wrap="square">
            <a:spAutoFit/>
          </a:bodyPr>
          <a:lstStyle/>
          <a:p>
            <a:pPr algn="just">
              <a:lnSpc>
                <a:spcPct val="150000"/>
              </a:lnSpc>
            </a:pPr>
            <a:r>
              <a:rPr lang="en-US" sz="2400" b="0" i="0" u="none" strike="noStrike" baseline="0" dirty="0">
                <a:solidFill>
                  <a:srgbClr val="231F20"/>
                </a:solidFill>
              </a:rPr>
              <a:t>To eliminate deadlocks by aborting a process, we use one of two methods. In both methods, the system reclaims all resources allocated to the terminated </a:t>
            </a:r>
            <a:r>
              <a:rPr lang="en-IN" sz="2400" b="0" i="0" u="none" strike="noStrike" baseline="0" dirty="0">
                <a:solidFill>
                  <a:srgbClr val="231F20"/>
                </a:solidFill>
              </a:rPr>
              <a:t>processes.</a:t>
            </a:r>
          </a:p>
          <a:p>
            <a:pPr marL="457200" indent="-457200" algn="just">
              <a:lnSpc>
                <a:spcPct val="150000"/>
              </a:lnSpc>
              <a:buFont typeface="+mj-lt"/>
              <a:buAutoNum type="arabicPeriod"/>
            </a:pPr>
            <a:r>
              <a:rPr lang="en-US" sz="2400" b="1" i="0" u="none" strike="noStrike" baseline="0" dirty="0">
                <a:solidFill>
                  <a:srgbClr val="231F20"/>
                </a:solidFill>
              </a:rPr>
              <a:t>Abort all deadlocked processes</a:t>
            </a:r>
            <a:r>
              <a:rPr lang="en-US" sz="2400" b="0" i="0" u="none" strike="noStrike" baseline="0" dirty="0">
                <a:solidFill>
                  <a:srgbClr val="231F20"/>
                </a:solidFill>
              </a:rPr>
              <a:t>. This method clearly will break the deadlock cycle but at great expense. The deadlocked processes may have been computed for a long time, and the results of these partial computations must be discarded and probably will have to be recomputed later. </a:t>
            </a:r>
          </a:p>
        </p:txBody>
      </p:sp>
    </p:spTree>
    <p:extLst>
      <p:ext uri="{BB962C8B-B14F-4D97-AF65-F5344CB8AC3E}">
        <p14:creationId xmlns:p14="http://schemas.microsoft.com/office/powerpoint/2010/main" val="413743378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518323" y="601840"/>
            <a:ext cx="4032290" cy="623844"/>
          </a:xfrm>
        </p:spPr>
        <p:txBody>
          <a:bodyPr>
            <a:normAutofit fontScale="90000"/>
          </a:bodyPr>
          <a:lstStyle/>
          <a:p>
            <a:pPr>
              <a:lnSpc>
                <a:spcPct val="100000"/>
              </a:lnSpc>
            </a:pPr>
            <a:r>
              <a:rPr lang="en-US" altLang="zh-TW" sz="2800" dirty="0">
                <a:solidFill>
                  <a:srgbClr val="FF6600"/>
                </a:solidFill>
                <a:latin typeface="Aharoni" pitchFamily="2" charset="-79"/>
                <a:cs typeface="Aharoni" pitchFamily="2" charset="-79"/>
              </a:rPr>
              <a:t>Recovery from Deadlock</a:t>
            </a:r>
          </a:p>
        </p:txBody>
      </p:sp>
      <p:sp>
        <p:nvSpPr>
          <p:cNvPr id="4" name="TextBox 3">
            <a:extLst>
              <a:ext uri="{FF2B5EF4-FFF2-40B4-BE49-F238E27FC236}">
                <a16:creationId xmlns:a16="http://schemas.microsoft.com/office/drawing/2014/main" id="{508096FE-102E-A2BB-766F-EFB7D9A279AA}"/>
              </a:ext>
            </a:extLst>
          </p:cNvPr>
          <p:cNvSpPr txBox="1"/>
          <p:nvPr/>
        </p:nvSpPr>
        <p:spPr>
          <a:xfrm>
            <a:off x="673640" y="1512811"/>
            <a:ext cx="6094378" cy="369332"/>
          </a:xfrm>
          <a:prstGeom prst="rect">
            <a:avLst/>
          </a:prstGeom>
          <a:noFill/>
        </p:spPr>
        <p:txBody>
          <a:bodyPr wrap="square">
            <a:spAutoFit/>
          </a:bodyPr>
          <a:lstStyle/>
          <a:p>
            <a:r>
              <a:rPr lang="en-IN" sz="1800" b="0" i="0" u="none" strike="noStrike" baseline="0" dirty="0">
                <a:solidFill>
                  <a:srgbClr val="231F20"/>
                </a:solidFill>
                <a:highlight>
                  <a:srgbClr val="FFFF00"/>
                </a:highlight>
                <a:latin typeface="HelveticaNeue-MediumExt"/>
              </a:rPr>
              <a:t>Process Termination</a:t>
            </a:r>
            <a:endParaRPr lang="en-IN" dirty="0">
              <a:highlight>
                <a:srgbClr val="FFFF00"/>
              </a:highlight>
            </a:endParaRPr>
          </a:p>
        </p:txBody>
      </p:sp>
      <p:sp>
        <p:nvSpPr>
          <p:cNvPr id="7" name="TextBox 6">
            <a:extLst>
              <a:ext uri="{FF2B5EF4-FFF2-40B4-BE49-F238E27FC236}">
                <a16:creationId xmlns:a16="http://schemas.microsoft.com/office/drawing/2014/main" id="{7A2BEC51-D77D-7E8D-9B32-99FB0FEA0EA7}"/>
              </a:ext>
            </a:extLst>
          </p:cNvPr>
          <p:cNvSpPr txBox="1"/>
          <p:nvPr/>
        </p:nvSpPr>
        <p:spPr>
          <a:xfrm>
            <a:off x="766340" y="2169270"/>
            <a:ext cx="10844720" cy="2251065"/>
          </a:xfrm>
          <a:prstGeom prst="rect">
            <a:avLst/>
          </a:prstGeom>
          <a:noFill/>
        </p:spPr>
        <p:txBody>
          <a:bodyPr wrap="square">
            <a:spAutoFit/>
          </a:bodyPr>
          <a:lstStyle/>
          <a:p>
            <a:pPr marL="360363" indent="-360363" algn="just">
              <a:lnSpc>
                <a:spcPct val="150000"/>
              </a:lnSpc>
            </a:pPr>
            <a:r>
              <a:rPr lang="en-US" sz="2400" b="1" i="0" u="none" strike="noStrike" baseline="0" dirty="0">
                <a:solidFill>
                  <a:srgbClr val="231F20"/>
                </a:solidFill>
              </a:rPr>
              <a:t>2. Abort one process at a time until the deadlock cycle is eliminated</a:t>
            </a:r>
            <a:r>
              <a:rPr lang="en-US" sz="2400" b="0" i="0" u="none" strike="noStrike" baseline="0" dirty="0">
                <a:solidFill>
                  <a:srgbClr val="231F20"/>
                </a:solidFill>
              </a:rPr>
              <a:t>. This method incurs considerable overhead, since after each process is aborted, a deadlock-detection algorithm must be invoked to determine whether any </a:t>
            </a:r>
            <a:r>
              <a:rPr lang="en-IN" sz="2400" b="0" i="0" u="none" strike="noStrike" baseline="0" dirty="0">
                <a:solidFill>
                  <a:srgbClr val="231F20"/>
                </a:solidFill>
              </a:rPr>
              <a:t>processes are still deadlocked.</a:t>
            </a:r>
            <a:endParaRPr lang="en-IN" sz="2400" dirty="0"/>
          </a:p>
        </p:txBody>
      </p:sp>
    </p:spTree>
    <p:extLst>
      <p:ext uri="{BB962C8B-B14F-4D97-AF65-F5344CB8AC3E}">
        <p14:creationId xmlns:p14="http://schemas.microsoft.com/office/powerpoint/2010/main" val="402406174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518323" y="601840"/>
            <a:ext cx="4032290" cy="623844"/>
          </a:xfrm>
        </p:spPr>
        <p:txBody>
          <a:bodyPr>
            <a:normAutofit fontScale="90000"/>
          </a:bodyPr>
          <a:lstStyle/>
          <a:p>
            <a:pPr>
              <a:lnSpc>
                <a:spcPct val="100000"/>
              </a:lnSpc>
            </a:pPr>
            <a:r>
              <a:rPr lang="en-US" altLang="zh-TW" sz="2800" dirty="0">
                <a:solidFill>
                  <a:srgbClr val="FF6600"/>
                </a:solidFill>
                <a:latin typeface="Aharoni" pitchFamily="2" charset="-79"/>
                <a:cs typeface="Aharoni" pitchFamily="2" charset="-79"/>
              </a:rPr>
              <a:t>Recovery from Deadlock</a:t>
            </a:r>
          </a:p>
        </p:txBody>
      </p:sp>
      <p:sp>
        <p:nvSpPr>
          <p:cNvPr id="4" name="TextBox 3">
            <a:extLst>
              <a:ext uri="{FF2B5EF4-FFF2-40B4-BE49-F238E27FC236}">
                <a16:creationId xmlns:a16="http://schemas.microsoft.com/office/drawing/2014/main" id="{508096FE-102E-A2BB-766F-EFB7D9A279AA}"/>
              </a:ext>
            </a:extLst>
          </p:cNvPr>
          <p:cNvSpPr txBox="1"/>
          <p:nvPr/>
        </p:nvSpPr>
        <p:spPr>
          <a:xfrm>
            <a:off x="673640" y="1512811"/>
            <a:ext cx="6094378" cy="369332"/>
          </a:xfrm>
          <a:prstGeom prst="rect">
            <a:avLst/>
          </a:prstGeom>
          <a:noFill/>
        </p:spPr>
        <p:txBody>
          <a:bodyPr wrap="square">
            <a:spAutoFit/>
          </a:bodyPr>
          <a:lstStyle/>
          <a:p>
            <a:r>
              <a:rPr lang="en-IN" dirty="0">
                <a:solidFill>
                  <a:srgbClr val="231F20"/>
                </a:solidFill>
                <a:highlight>
                  <a:srgbClr val="FFFF00"/>
                </a:highlight>
                <a:latin typeface="HelveticaNeue-MediumExt"/>
              </a:rPr>
              <a:t>Resource </a:t>
            </a:r>
            <a:r>
              <a:rPr lang="en-IN" dirty="0" err="1">
                <a:solidFill>
                  <a:srgbClr val="231F20"/>
                </a:solidFill>
                <a:highlight>
                  <a:srgbClr val="FFFF00"/>
                </a:highlight>
                <a:latin typeface="HelveticaNeue-MediumExt"/>
              </a:rPr>
              <a:t>Preemption</a:t>
            </a:r>
            <a:endParaRPr lang="en-IN" dirty="0">
              <a:highlight>
                <a:srgbClr val="FFFF00"/>
              </a:highlight>
            </a:endParaRPr>
          </a:p>
        </p:txBody>
      </p:sp>
      <p:sp>
        <p:nvSpPr>
          <p:cNvPr id="5" name="TextBox 4">
            <a:extLst>
              <a:ext uri="{FF2B5EF4-FFF2-40B4-BE49-F238E27FC236}">
                <a16:creationId xmlns:a16="http://schemas.microsoft.com/office/drawing/2014/main" id="{0678B873-188D-ED01-6873-221277B40AA7}"/>
              </a:ext>
            </a:extLst>
          </p:cNvPr>
          <p:cNvSpPr txBox="1"/>
          <p:nvPr/>
        </p:nvSpPr>
        <p:spPr>
          <a:xfrm>
            <a:off x="877920" y="2026468"/>
            <a:ext cx="10581262" cy="2805063"/>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To eliminate deadlocks using resource preemption, we successively preempt some resources from processes and give these resources to other processes until the deadlock cycle is broken.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If preemption is required to deal with deadlocks, then three issues need to </a:t>
            </a:r>
            <a:r>
              <a:rPr lang="en-IN" sz="2400" b="0" i="0" u="none" strike="noStrike" baseline="0" dirty="0">
                <a:solidFill>
                  <a:srgbClr val="231F20"/>
                </a:solidFill>
              </a:rPr>
              <a:t>be addressed:</a:t>
            </a:r>
            <a:endParaRPr lang="en-IN" sz="2400" dirty="0"/>
          </a:p>
        </p:txBody>
      </p:sp>
    </p:spTree>
    <p:extLst>
      <p:ext uri="{BB962C8B-B14F-4D97-AF65-F5344CB8AC3E}">
        <p14:creationId xmlns:p14="http://schemas.microsoft.com/office/powerpoint/2010/main" val="307201106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518323" y="601840"/>
            <a:ext cx="4032290" cy="623844"/>
          </a:xfrm>
        </p:spPr>
        <p:txBody>
          <a:bodyPr>
            <a:normAutofit fontScale="90000"/>
          </a:bodyPr>
          <a:lstStyle/>
          <a:p>
            <a:pPr>
              <a:lnSpc>
                <a:spcPct val="100000"/>
              </a:lnSpc>
            </a:pPr>
            <a:r>
              <a:rPr lang="en-US" altLang="zh-TW" sz="2800" dirty="0">
                <a:solidFill>
                  <a:srgbClr val="FF6600"/>
                </a:solidFill>
                <a:latin typeface="Aharoni" pitchFamily="2" charset="-79"/>
                <a:cs typeface="Aharoni" pitchFamily="2" charset="-79"/>
              </a:rPr>
              <a:t>Recovery from Deadlock</a:t>
            </a:r>
          </a:p>
        </p:txBody>
      </p:sp>
      <p:sp>
        <p:nvSpPr>
          <p:cNvPr id="4" name="TextBox 3">
            <a:extLst>
              <a:ext uri="{FF2B5EF4-FFF2-40B4-BE49-F238E27FC236}">
                <a16:creationId xmlns:a16="http://schemas.microsoft.com/office/drawing/2014/main" id="{508096FE-102E-A2BB-766F-EFB7D9A279AA}"/>
              </a:ext>
            </a:extLst>
          </p:cNvPr>
          <p:cNvSpPr txBox="1"/>
          <p:nvPr/>
        </p:nvSpPr>
        <p:spPr>
          <a:xfrm>
            <a:off x="673640" y="1512811"/>
            <a:ext cx="6094378" cy="369332"/>
          </a:xfrm>
          <a:prstGeom prst="rect">
            <a:avLst/>
          </a:prstGeom>
          <a:noFill/>
        </p:spPr>
        <p:txBody>
          <a:bodyPr wrap="square">
            <a:spAutoFit/>
          </a:bodyPr>
          <a:lstStyle/>
          <a:p>
            <a:r>
              <a:rPr lang="en-IN" dirty="0">
                <a:solidFill>
                  <a:srgbClr val="231F20"/>
                </a:solidFill>
                <a:highlight>
                  <a:srgbClr val="FFFF00"/>
                </a:highlight>
                <a:latin typeface="HelveticaNeue-MediumExt"/>
              </a:rPr>
              <a:t>Resource </a:t>
            </a:r>
            <a:r>
              <a:rPr lang="en-IN" dirty="0" err="1">
                <a:solidFill>
                  <a:srgbClr val="231F20"/>
                </a:solidFill>
                <a:highlight>
                  <a:srgbClr val="FFFF00"/>
                </a:highlight>
                <a:latin typeface="HelveticaNeue-MediumExt"/>
              </a:rPr>
              <a:t>Preemption</a:t>
            </a:r>
            <a:endParaRPr lang="en-IN" dirty="0">
              <a:highlight>
                <a:srgbClr val="FFFF00"/>
              </a:highlight>
            </a:endParaRPr>
          </a:p>
        </p:txBody>
      </p:sp>
      <p:sp>
        <p:nvSpPr>
          <p:cNvPr id="6" name="TextBox 5">
            <a:extLst>
              <a:ext uri="{FF2B5EF4-FFF2-40B4-BE49-F238E27FC236}">
                <a16:creationId xmlns:a16="http://schemas.microsoft.com/office/drawing/2014/main" id="{35BABFB8-BDE5-6792-51C3-451FC45A571F}"/>
              </a:ext>
            </a:extLst>
          </p:cNvPr>
          <p:cNvSpPr txBox="1"/>
          <p:nvPr/>
        </p:nvSpPr>
        <p:spPr>
          <a:xfrm>
            <a:off x="780644" y="2291982"/>
            <a:ext cx="10594613" cy="3359061"/>
          </a:xfrm>
          <a:prstGeom prst="rect">
            <a:avLst/>
          </a:prstGeom>
          <a:noFill/>
        </p:spPr>
        <p:txBody>
          <a:bodyPr wrap="square">
            <a:spAutoFit/>
          </a:bodyPr>
          <a:lstStyle/>
          <a:p>
            <a:pPr marL="457200" indent="-457200" algn="just">
              <a:lnSpc>
                <a:spcPct val="150000"/>
              </a:lnSpc>
              <a:buAutoNum type="arabicPeriod"/>
            </a:pPr>
            <a:r>
              <a:rPr lang="en-US" sz="2400" b="1" i="0" u="none" strike="noStrike" baseline="0" dirty="0">
                <a:solidFill>
                  <a:srgbClr val="231F20"/>
                </a:solidFill>
              </a:rPr>
              <a:t>Selecting a victim</a:t>
            </a:r>
            <a:r>
              <a:rPr lang="en-US" sz="2400" b="0" i="0" u="none" strike="noStrike" baseline="0" dirty="0">
                <a:solidFill>
                  <a:srgbClr val="231F20"/>
                </a:solidFill>
              </a:rPr>
              <a:t>. Which resources and which processes are to be preempted? As in process termination, we must determine the order of preemption to minimize cost. </a:t>
            </a:r>
          </a:p>
          <a:p>
            <a:pPr marL="447675" algn="just">
              <a:lnSpc>
                <a:spcPct val="150000"/>
              </a:lnSpc>
            </a:pPr>
            <a:r>
              <a:rPr lang="en-US" sz="2400" b="0" i="0" u="none" strike="noStrike" baseline="0" dirty="0">
                <a:solidFill>
                  <a:srgbClr val="231F20"/>
                </a:solidFill>
              </a:rPr>
              <a:t>Cost factors may include such parameters as the number of resources a deadlocked process is holding and the amount of time the process has thus far consumed.</a:t>
            </a:r>
            <a:endParaRPr lang="en-IN" sz="2400" dirty="0"/>
          </a:p>
        </p:txBody>
      </p:sp>
    </p:spTree>
    <p:extLst>
      <p:ext uri="{BB962C8B-B14F-4D97-AF65-F5344CB8AC3E}">
        <p14:creationId xmlns:p14="http://schemas.microsoft.com/office/powerpoint/2010/main" val="196862073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518323" y="601840"/>
            <a:ext cx="4032290" cy="623844"/>
          </a:xfrm>
        </p:spPr>
        <p:txBody>
          <a:bodyPr>
            <a:normAutofit fontScale="90000"/>
          </a:bodyPr>
          <a:lstStyle/>
          <a:p>
            <a:pPr>
              <a:lnSpc>
                <a:spcPct val="100000"/>
              </a:lnSpc>
            </a:pPr>
            <a:r>
              <a:rPr lang="en-US" altLang="zh-TW" sz="2800" dirty="0">
                <a:solidFill>
                  <a:srgbClr val="FF6600"/>
                </a:solidFill>
                <a:latin typeface="Aharoni" pitchFamily="2" charset="-79"/>
                <a:cs typeface="Aharoni" pitchFamily="2" charset="-79"/>
              </a:rPr>
              <a:t>Recovery from Deadlock</a:t>
            </a:r>
          </a:p>
        </p:txBody>
      </p:sp>
      <p:sp>
        <p:nvSpPr>
          <p:cNvPr id="4" name="TextBox 3">
            <a:extLst>
              <a:ext uri="{FF2B5EF4-FFF2-40B4-BE49-F238E27FC236}">
                <a16:creationId xmlns:a16="http://schemas.microsoft.com/office/drawing/2014/main" id="{508096FE-102E-A2BB-766F-EFB7D9A279AA}"/>
              </a:ext>
            </a:extLst>
          </p:cNvPr>
          <p:cNvSpPr txBox="1"/>
          <p:nvPr/>
        </p:nvSpPr>
        <p:spPr>
          <a:xfrm>
            <a:off x="673640" y="1512811"/>
            <a:ext cx="6094378" cy="369332"/>
          </a:xfrm>
          <a:prstGeom prst="rect">
            <a:avLst/>
          </a:prstGeom>
          <a:noFill/>
        </p:spPr>
        <p:txBody>
          <a:bodyPr wrap="square">
            <a:spAutoFit/>
          </a:bodyPr>
          <a:lstStyle/>
          <a:p>
            <a:r>
              <a:rPr lang="en-IN" dirty="0">
                <a:solidFill>
                  <a:srgbClr val="231F20"/>
                </a:solidFill>
                <a:highlight>
                  <a:srgbClr val="FFFF00"/>
                </a:highlight>
                <a:latin typeface="HelveticaNeue-MediumExt"/>
              </a:rPr>
              <a:t>Resource </a:t>
            </a:r>
            <a:r>
              <a:rPr lang="en-IN" dirty="0" err="1">
                <a:solidFill>
                  <a:srgbClr val="231F20"/>
                </a:solidFill>
                <a:highlight>
                  <a:srgbClr val="FFFF00"/>
                </a:highlight>
                <a:latin typeface="HelveticaNeue-MediumExt"/>
              </a:rPr>
              <a:t>Preemption</a:t>
            </a:r>
            <a:endParaRPr lang="en-IN" dirty="0">
              <a:highlight>
                <a:srgbClr val="FFFF00"/>
              </a:highlight>
            </a:endParaRPr>
          </a:p>
        </p:txBody>
      </p:sp>
      <p:sp>
        <p:nvSpPr>
          <p:cNvPr id="5" name="TextBox 4">
            <a:extLst>
              <a:ext uri="{FF2B5EF4-FFF2-40B4-BE49-F238E27FC236}">
                <a16:creationId xmlns:a16="http://schemas.microsoft.com/office/drawing/2014/main" id="{4A397754-599F-71E4-2C9A-D247F4FA1DFB}"/>
              </a:ext>
            </a:extLst>
          </p:cNvPr>
          <p:cNvSpPr txBox="1"/>
          <p:nvPr/>
        </p:nvSpPr>
        <p:spPr>
          <a:xfrm>
            <a:off x="846306" y="2390535"/>
            <a:ext cx="10528952" cy="3359061"/>
          </a:xfrm>
          <a:prstGeom prst="rect">
            <a:avLst/>
          </a:prstGeom>
          <a:noFill/>
        </p:spPr>
        <p:txBody>
          <a:bodyPr wrap="square">
            <a:spAutoFit/>
          </a:bodyPr>
          <a:lstStyle/>
          <a:p>
            <a:pPr marL="360363" indent="-360363" algn="just">
              <a:lnSpc>
                <a:spcPct val="150000"/>
              </a:lnSpc>
            </a:pPr>
            <a:r>
              <a:rPr lang="en-US" sz="2400" b="1" i="0" u="none" strike="noStrike" baseline="0" dirty="0">
                <a:solidFill>
                  <a:srgbClr val="231F20"/>
                </a:solidFill>
              </a:rPr>
              <a:t>2. Rollback</a:t>
            </a:r>
            <a:r>
              <a:rPr lang="en-US" sz="2400" b="0" i="0" u="none" strike="noStrike" baseline="0" dirty="0">
                <a:solidFill>
                  <a:srgbClr val="231F20"/>
                </a:solidFill>
              </a:rPr>
              <a:t>. If we preempt a resource from a process, what should be done with that process? It cannot continue with its normal execution; it is missing some needed resources. We must roll back the process to some safe state and restart it from that state.</a:t>
            </a:r>
          </a:p>
          <a:p>
            <a:pPr marL="360363" algn="just">
              <a:lnSpc>
                <a:spcPct val="150000"/>
              </a:lnSpc>
            </a:pPr>
            <a:r>
              <a:rPr lang="en-US" sz="2400" b="0" i="0" u="none" strike="noStrike" baseline="0" dirty="0">
                <a:solidFill>
                  <a:srgbClr val="231F20"/>
                </a:solidFill>
              </a:rPr>
              <a:t>Since, in general, it is difficult to determine what a safe state is, the simplest solution is a total rollback: abort the process and then restart it. </a:t>
            </a:r>
            <a:endParaRPr lang="en-IN" sz="2400" dirty="0"/>
          </a:p>
        </p:txBody>
      </p:sp>
    </p:spTree>
    <p:extLst>
      <p:ext uri="{BB962C8B-B14F-4D97-AF65-F5344CB8AC3E}">
        <p14:creationId xmlns:p14="http://schemas.microsoft.com/office/powerpoint/2010/main" val="165954155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518323" y="601840"/>
            <a:ext cx="4032290" cy="623844"/>
          </a:xfrm>
        </p:spPr>
        <p:txBody>
          <a:bodyPr>
            <a:normAutofit fontScale="90000"/>
          </a:bodyPr>
          <a:lstStyle/>
          <a:p>
            <a:pPr>
              <a:lnSpc>
                <a:spcPct val="100000"/>
              </a:lnSpc>
            </a:pPr>
            <a:r>
              <a:rPr lang="en-US" altLang="zh-TW" sz="2800" dirty="0">
                <a:solidFill>
                  <a:srgbClr val="FF6600"/>
                </a:solidFill>
                <a:latin typeface="Aharoni" pitchFamily="2" charset="-79"/>
                <a:cs typeface="Aharoni" pitchFamily="2" charset="-79"/>
              </a:rPr>
              <a:t>Recovery from Deadlock</a:t>
            </a:r>
          </a:p>
        </p:txBody>
      </p:sp>
      <p:sp>
        <p:nvSpPr>
          <p:cNvPr id="4" name="TextBox 3">
            <a:extLst>
              <a:ext uri="{FF2B5EF4-FFF2-40B4-BE49-F238E27FC236}">
                <a16:creationId xmlns:a16="http://schemas.microsoft.com/office/drawing/2014/main" id="{508096FE-102E-A2BB-766F-EFB7D9A279AA}"/>
              </a:ext>
            </a:extLst>
          </p:cNvPr>
          <p:cNvSpPr txBox="1"/>
          <p:nvPr/>
        </p:nvSpPr>
        <p:spPr>
          <a:xfrm>
            <a:off x="673640" y="1225684"/>
            <a:ext cx="6094378" cy="369332"/>
          </a:xfrm>
          <a:prstGeom prst="rect">
            <a:avLst/>
          </a:prstGeom>
          <a:noFill/>
        </p:spPr>
        <p:txBody>
          <a:bodyPr wrap="square">
            <a:spAutoFit/>
          </a:bodyPr>
          <a:lstStyle/>
          <a:p>
            <a:r>
              <a:rPr lang="en-IN" dirty="0">
                <a:solidFill>
                  <a:srgbClr val="231F20"/>
                </a:solidFill>
                <a:highlight>
                  <a:srgbClr val="FFFF00"/>
                </a:highlight>
                <a:latin typeface="HelveticaNeue-MediumExt"/>
              </a:rPr>
              <a:t>Resource </a:t>
            </a:r>
            <a:r>
              <a:rPr lang="en-IN" dirty="0" err="1">
                <a:solidFill>
                  <a:srgbClr val="231F20"/>
                </a:solidFill>
                <a:highlight>
                  <a:srgbClr val="FFFF00"/>
                </a:highlight>
                <a:latin typeface="HelveticaNeue-MediumExt"/>
              </a:rPr>
              <a:t>Preemption</a:t>
            </a:r>
            <a:endParaRPr lang="en-IN" dirty="0">
              <a:highlight>
                <a:srgbClr val="FFFF00"/>
              </a:highlight>
            </a:endParaRPr>
          </a:p>
        </p:txBody>
      </p:sp>
      <p:sp>
        <p:nvSpPr>
          <p:cNvPr id="6" name="TextBox 5">
            <a:extLst>
              <a:ext uri="{FF2B5EF4-FFF2-40B4-BE49-F238E27FC236}">
                <a16:creationId xmlns:a16="http://schemas.microsoft.com/office/drawing/2014/main" id="{FA34BD54-26FB-9D7C-749F-5B249B3B19EB}"/>
              </a:ext>
            </a:extLst>
          </p:cNvPr>
          <p:cNvSpPr txBox="1"/>
          <p:nvPr/>
        </p:nvSpPr>
        <p:spPr>
          <a:xfrm>
            <a:off x="749029" y="1650239"/>
            <a:ext cx="10953346" cy="4467057"/>
          </a:xfrm>
          <a:prstGeom prst="rect">
            <a:avLst/>
          </a:prstGeom>
          <a:noFill/>
        </p:spPr>
        <p:txBody>
          <a:bodyPr wrap="square">
            <a:spAutoFit/>
          </a:bodyPr>
          <a:lstStyle/>
          <a:p>
            <a:pPr marL="360363" indent="-360363" algn="just">
              <a:lnSpc>
                <a:spcPct val="150000"/>
              </a:lnSpc>
            </a:pPr>
            <a:r>
              <a:rPr lang="en-US" sz="2400" b="1" i="0" u="none" strike="noStrike" baseline="0" dirty="0">
                <a:solidFill>
                  <a:srgbClr val="231F20"/>
                </a:solidFill>
              </a:rPr>
              <a:t>3. Starvation</a:t>
            </a:r>
            <a:r>
              <a:rPr lang="en-US" sz="2400" b="0" i="0" u="none" strike="noStrike" baseline="0" dirty="0">
                <a:solidFill>
                  <a:srgbClr val="231F20"/>
                </a:solidFill>
              </a:rPr>
              <a:t>. How do we ensure that starvation will not occur? That is, how can we guarantee that resources will not always be preempted from </a:t>
            </a:r>
            <a:r>
              <a:rPr lang="en-IN" sz="2400" b="0" i="0" u="none" strike="noStrike" baseline="0" dirty="0">
                <a:solidFill>
                  <a:srgbClr val="231F20"/>
                </a:solidFill>
              </a:rPr>
              <a:t>the same process?</a:t>
            </a:r>
          </a:p>
          <a:p>
            <a:pPr marL="360363" algn="just">
              <a:lnSpc>
                <a:spcPct val="150000"/>
              </a:lnSpc>
            </a:pPr>
            <a:r>
              <a:rPr lang="en-US" sz="2400" b="0" i="0" u="none" strike="noStrike" baseline="0" dirty="0">
                <a:solidFill>
                  <a:srgbClr val="231F20"/>
                </a:solidFill>
              </a:rPr>
              <a:t>In a system where victim selection is based primarily on cost factors, The same process may be always picked as a victim. As a result, this process never completes its designated task, a starvation situation any practical system must address. We must ensure that a process can be picked as a victim only a (small) finite number of times. The most common solution is to include the number of rollbacks </a:t>
            </a:r>
            <a:r>
              <a:rPr lang="en-IN" sz="2400" b="0" i="0" u="none" strike="noStrike" baseline="0" dirty="0">
                <a:solidFill>
                  <a:srgbClr val="231F20"/>
                </a:solidFill>
              </a:rPr>
              <a:t>in the cost factor.</a:t>
            </a:r>
            <a:endParaRPr lang="en-IN" sz="2400" dirty="0"/>
          </a:p>
        </p:txBody>
      </p:sp>
    </p:spTree>
    <p:extLst>
      <p:ext uri="{BB962C8B-B14F-4D97-AF65-F5344CB8AC3E}">
        <p14:creationId xmlns:p14="http://schemas.microsoft.com/office/powerpoint/2010/main" val="345901980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98335-6F39-88C7-D5CF-791CE5EE291F}"/>
            </a:ext>
          </a:extLst>
        </p:cNvPr>
        <p:cNvGrpSpPr/>
        <p:nvPr/>
      </p:nvGrpSpPr>
      <p:grpSpPr>
        <a:xfrm>
          <a:off x="0" y="0"/>
          <a:ext cx="0" cy="0"/>
          <a:chOff x="0" y="0"/>
          <a:chExt cx="0" cy="0"/>
        </a:xfrm>
      </p:grpSpPr>
      <p:sp>
        <p:nvSpPr>
          <p:cNvPr id="9" name="Text Placeholder 3">
            <a:extLst>
              <a:ext uri="{FF2B5EF4-FFF2-40B4-BE49-F238E27FC236}">
                <a16:creationId xmlns:a16="http://schemas.microsoft.com/office/drawing/2014/main" id="{887863A9-46E6-1AAC-795A-3963862AF469}"/>
              </a:ext>
            </a:extLst>
          </p:cNvPr>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5" name="Subtitle 4">
            <a:extLst>
              <a:ext uri="{FF2B5EF4-FFF2-40B4-BE49-F238E27FC236}">
                <a16:creationId xmlns:a16="http://schemas.microsoft.com/office/drawing/2014/main" id="{0ECCED30-4574-CA0F-18BE-FDA3DAACCDC4}"/>
              </a:ext>
            </a:extLst>
          </p:cNvPr>
          <p:cNvSpPr>
            <a:spLocks noGrp="1"/>
          </p:cNvSpPr>
          <p:nvPr>
            <p:ph type="subTitle" idx="1"/>
          </p:nvPr>
        </p:nvSpPr>
        <p:spPr>
          <a:xfrm>
            <a:off x="1047345" y="2601119"/>
            <a:ext cx="9144000" cy="1655762"/>
          </a:xfrm>
        </p:spPr>
        <p:txBody>
          <a:bodyPr>
            <a:normAutofit/>
          </a:bodyPr>
          <a:lstStyle/>
          <a:p>
            <a:r>
              <a:rPr lang="en-US" sz="4400" dirty="0">
                <a:solidFill>
                  <a:srgbClr val="0066CC"/>
                </a:solidFill>
              </a:rPr>
              <a:t>Lecture - 7</a:t>
            </a:r>
          </a:p>
        </p:txBody>
      </p:sp>
    </p:spTree>
    <p:extLst>
      <p:ext uri="{BB962C8B-B14F-4D97-AF65-F5344CB8AC3E}">
        <p14:creationId xmlns:p14="http://schemas.microsoft.com/office/powerpoint/2010/main" val="53187178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Recap</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latin typeface="+mj-lt"/>
                <a:ea typeface="+mj-ea"/>
                <a:cs typeface="+mj-cs"/>
              </a:rPr>
              <a:t>Recovery from Deadlock</a:t>
            </a:r>
            <a:endParaRPr lang="en-US" sz="2200" dirty="0">
              <a:latin typeface="+mj-lt"/>
              <a:ea typeface="+mj-ea"/>
              <a:cs typeface="+mj-cs"/>
            </a:endParaRPr>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76042038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Agenda</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Memory Management: </a:t>
            </a:r>
          </a:p>
          <a:p>
            <a:pPr lvl="1"/>
            <a:r>
              <a:rPr lang="en-IN" dirty="0"/>
              <a:t>Logical and Physical address space</a:t>
            </a:r>
            <a:endParaRPr lang="en-US" sz="1800" dirty="0">
              <a:latin typeface="+mj-lt"/>
              <a:ea typeface="+mj-ea"/>
              <a:cs typeface="+mj-cs"/>
            </a:endParaRPr>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210900000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5" name="TextBox 4">
            <a:extLst>
              <a:ext uri="{FF2B5EF4-FFF2-40B4-BE49-F238E27FC236}">
                <a16:creationId xmlns:a16="http://schemas.microsoft.com/office/drawing/2014/main" id="{BC91E3F8-4E04-6822-60DD-36D98F0B8EDE}"/>
              </a:ext>
            </a:extLst>
          </p:cNvPr>
          <p:cNvSpPr txBox="1"/>
          <p:nvPr/>
        </p:nvSpPr>
        <p:spPr>
          <a:xfrm>
            <a:off x="829282" y="1357168"/>
            <a:ext cx="6094378" cy="369332"/>
          </a:xfrm>
          <a:prstGeom prst="rect">
            <a:avLst/>
          </a:prstGeom>
          <a:noFill/>
        </p:spPr>
        <p:txBody>
          <a:bodyPr wrap="square">
            <a:spAutoFit/>
          </a:bodyPr>
          <a:lstStyle/>
          <a:p>
            <a:r>
              <a:rPr lang="en-IN" sz="1800" b="0" i="0" u="none" strike="noStrike" baseline="0" dirty="0">
                <a:highlight>
                  <a:srgbClr val="FFFF00"/>
                </a:highlight>
                <a:latin typeface="HelveticaNeue-MediumExt"/>
              </a:rPr>
              <a:t>Introduction</a:t>
            </a:r>
            <a:endParaRPr lang="en-IN" dirty="0">
              <a:highlight>
                <a:srgbClr val="FFFF00"/>
              </a:highlight>
            </a:endParaRPr>
          </a:p>
        </p:txBody>
      </p:sp>
      <p:sp>
        <p:nvSpPr>
          <p:cNvPr id="8" name="TextBox 7">
            <a:extLst>
              <a:ext uri="{FF2B5EF4-FFF2-40B4-BE49-F238E27FC236}">
                <a16:creationId xmlns:a16="http://schemas.microsoft.com/office/drawing/2014/main" id="{50BAFDEF-6E8F-A4C4-1D85-4D7E1650E163}"/>
              </a:ext>
            </a:extLst>
          </p:cNvPr>
          <p:cNvSpPr txBox="1"/>
          <p:nvPr/>
        </p:nvSpPr>
        <p:spPr>
          <a:xfrm>
            <a:off x="994651" y="2043687"/>
            <a:ext cx="10133791" cy="2805063"/>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Memory consists of a large array of bytes, each with its address.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The CPU fetches instructions from memory according to the value of the program counter.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These instructions may cause additional loading from and storing to specific memory addresses.</a:t>
            </a:r>
            <a:endParaRPr lang="en-IN" sz="2400" dirty="0"/>
          </a:p>
        </p:txBody>
      </p:sp>
    </p:spTree>
    <p:extLst>
      <p:ext uri="{BB962C8B-B14F-4D97-AF65-F5344CB8AC3E}">
        <p14:creationId xmlns:p14="http://schemas.microsoft.com/office/powerpoint/2010/main" val="240290954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5" name="TextBox 4">
            <a:extLst>
              <a:ext uri="{FF2B5EF4-FFF2-40B4-BE49-F238E27FC236}">
                <a16:creationId xmlns:a16="http://schemas.microsoft.com/office/drawing/2014/main" id="{BC91E3F8-4E04-6822-60DD-36D98F0B8EDE}"/>
              </a:ext>
            </a:extLst>
          </p:cNvPr>
          <p:cNvSpPr txBox="1"/>
          <p:nvPr/>
        </p:nvSpPr>
        <p:spPr>
          <a:xfrm>
            <a:off x="829282" y="1357168"/>
            <a:ext cx="6094378" cy="369332"/>
          </a:xfrm>
          <a:prstGeom prst="rect">
            <a:avLst/>
          </a:prstGeom>
          <a:noFill/>
        </p:spPr>
        <p:txBody>
          <a:bodyPr wrap="square">
            <a:spAutoFit/>
          </a:bodyPr>
          <a:lstStyle/>
          <a:p>
            <a:r>
              <a:rPr lang="en-IN" sz="1800" b="0" i="0" u="none" strike="noStrike" baseline="0" dirty="0">
                <a:highlight>
                  <a:srgbClr val="FFFF00"/>
                </a:highlight>
                <a:latin typeface="HelveticaNeue-MediumExt"/>
              </a:rPr>
              <a:t>Introduction</a:t>
            </a:r>
            <a:endParaRPr lang="en-IN" dirty="0">
              <a:highlight>
                <a:srgbClr val="FFFF00"/>
              </a:highlight>
            </a:endParaRPr>
          </a:p>
        </p:txBody>
      </p:sp>
      <p:sp>
        <p:nvSpPr>
          <p:cNvPr id="8" name="TextBox 7">
            <a:extLst>
              <a:ext uri="{FF2B5EF4-FFF2-40B4-BE49-F238E27FC236}">
                <a16:creationId xmlns:a16="http://schemas.microsoft.com/office/drawing/2014/main" id="{50BAFDEF-6E8F-A4C4-1D85-4D7E1650E163}"/>
              </a:ext>
            </a:extLst>
          </p:cNvPr>
          <p:cNvSpPr txBox="1"/>
          <p:nvPr/>
        </p:nvSpPr>
        <p:spPr>
          <a:xfrm>
            <a:off x="994651" y="2043687"/>
            <a:ext cx="10133791" cy="3359061"/>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solidFill>
                  <a:srgbClr val="231F20"/>
                </a:solidFill>
              </a:rPr>
              <a:t>A typical instruction-execution cycle, for example, first fetches an instruction from memory. </a:t>
            </a:r>
          </a:p>
          <a:p>
            <a:pPr marL="342900" indent="-342900" algn="just">
              <a:lnSpc>
                <a:spcPct val="150000"/>
              </a:lnSpc>
              <a:buFont typeface="Arial" panose="020B0604020202020204" pitchFamily="34" charset="0"/>
              <a:buChar char="•"/>
            </a:pPr>
            <a:r>
              <a:rPr lang="en-US" sz="2400" dirty="0">
                <a:solidFill>
                  <a:srgbClr val="231F20"/>
                </a:solidFill>
              </a:rPr>
              <a:t>The instruction is then decoded and may cause operands to be fetched from memory. </a:t>
            </a:r>
          </a:p>
          <a:p>
            <a:pPr marL="342900" indent="-342900" algn="just">
              <a:lnSpc>
                <a:spcPct val="150000"/>
              </a:lnSpc>
              <a:buFont typeface="Arial" panose="020B0604020202020204" pitchFamily="34" charset="0"/>
              <a:buChar char="•"/>
            </a:pPr>
            <a:r>
              <a:rPr lang="en-US" sz="2400" dirty="0">
                <a:solidFill>
                  <a:srgbClr val="231F20"/>
                </a:solidFill>
              </a:rPr>
              <a:t>After the instruction has been executed on the operands, results may be stored back in memory.</a:t>
            </a:r>
            <a:endParaRPr lang="en-IN" sz="2400" dirty="0">
              <a:solidFill>
                <a:srgbClr val="231F20"/>
              </a:solidFill>
            </a:endParaRPr>
          </a:p>
        </p:txBody>
      </p:sp>
    </p:spTree>
    <p:extLst>
      <p:ext uri="{BB962C8B-B14F-4D97-AF65-F5344CB8AC3E}">
        <p14:creationId xmlns:p14="http://schemas.microsoft.com/office/powerpoint/2010/main" val="70380276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5" name="TextBox 4">
            <a:extLst>
              <a:ext uri="{FF2B5EF4-FFF2-40B4-BE49-F238E27FC236}">
                <a16:creationId xmlns:a16="http://schemas.microsoft.com/office/drawing/2014/main" id="{BC91E3F8-4E04-6822-60DD-36D98F0B8EDE}"/>
              </a:ext>
            </a:extLst>
          </p:cNvPr>
          <p:cNvSpPr txBox="1"/>
          <p:nvPr/>
        </p:nvSpPr>
        <p:spPr>
          <a:xfrm>
            <a:off x="829282" y="1357168"/>
            <a:ext cx="6094378" cy="369332"/>
          </a:xfrm>
          <a:prstGeom prst="rect">
            <a:avLst/>
          </a:prstGeom>
          <a:noFill/>
        </p:spPr>
        <p:txBody>
          <a:bodyPr wrap="square">
            <a:spAutoFit/>
          </a:bodyPr>
          <a:lstStyle/>
          <a:p>
            <a:r>
              <a:rPr lang="en-IN" sz="1800" b="0" i="0" u="none" strike="noStrike" baseline="0" dirty="0">
                <a:highlight>
                  <a:srgbClr val="FFFF00"/>
                </a:highlight>
                <a:latin typeface="HelveticaNeue-MediumExt"/>
              </a:rPr>
              <a:t>Introduction</a:t>
            </a:r>
            <a:endParaRPr lang="en-IN" dirty="0">
              <a:highlight>
                <a:srgbClr val="FFFF00"/>
              </a:highlight>
            </a:endParaRPr>
          </a:p>
        </p:txBody>
      </p:sp>
      <p:pic>
        <p:nvPicPr>
          <p:cNvPr id="2" name="Picture 3">
            <a:extLst>
              <a:ext uri="{FF2B5EF4-FFF2-40B4-BE49-F238E27FC236}">
                <a16:creationId xmlns:a16="http://schemas.microsoft.com/office/drawing/2014/main" id="{303B2FD3-4F51-CA0E-2F83-D30AE4839C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8794" y="1767031"/>
            <a:ext cx="8791708" cy="4199451"/>
          </a:xfrm>
          <a:prstGeom prst="rect">
            <a:avLst/>
          </a:prstGeom>
          <a:noFill/>
          <a:ln>
            <a:solidFill>
              <a:srgbClr val="ED682F"/>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329302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5" name="TextBox 4">
            <a:extLst>
              <a:ext uri="{FF2B5EF4-FFF2-40B4-BE49-F238E27FC236}">
                <a16:creationId xmlns:a16="http://schemas.microsoft.com/office/drawing/2014/main" id="{BC91E3F8-4E04-6822-60DD-36D98F0B8EDE}"/>
              </a:ext>
            </a:extLst>
          </p:cNvPr>
          <p:cNvSpPr txBox="1"/>
          <p:nvPr/>
        </p:nvSpPr>
        <p:spPr>
          <a:xfrm>
            <a:off x="829282" y="1357168"/>
            <a:ext cx="6094378" cy="369332"/>
          </a:xfrm>
          <a:prstGeom prst="rect">
            <a:avLst/>
          </a:prstGeom>
          <a:noFill/>
        </p:spPr>
        <p:txBody>
          <a:bodyPr wrap="square">
            <a:spAutoFit/>
          </a:bodyPr>
          <a:lstStyle/>
          <a:p>
            <a:r>
              <a:rPr lang="en-IN" sz="1800" b="0" i="0" u="none" strike="noStrike" baseline="0" dirty="0">
                <a:highlight>
                  <a:srgbClr val="FFFF00"/>
                </a:highlight>
                <a:latin typeface="HelveticaNeue-MediumExt"/>
              </a:rPr>
              <a:t>Introduction</a:t>
            </a:r>
            <a:endParaRPr lang="en-IN" dirty="0">
              <a:highlight>
                <a:srgbClr val="FFFF00"/>
              </a:highlight>
            </a:endParaRPr>
          </a:p>
        </p:txBody>
      </p:sp>
      <p:pic>
        <p:nvPicPr>
          <p:cNvPr id="4" name="Picture 3" descr="Image result">
            <a:extLst>
              <a:ext uri="{FF2B5EF4-FFF2-40B4-BE49-F238E27FC236}">
                <a16:creationId xmlns:a16="http://schemas.microsoft.com/office/drawing/2014/main" id="{25FE54F5-67F4-58F2-1FF0-2FBA74F1B4F2}"/>
              </a:ext>
            </a:extLst>
          </p:cNvPr>
          <p:cNvPicPr/>
          <p:nvPr/>
        </p:nvPicPr>
        <p:blipFill>
          <a:blip r:embed="rId3" cstate="print"/>
          <a:srcRect l="47529" t="30199" r="-820" b="11392"/>
          <a:stretch>
            <a:fillRect/>
          </a:stretch>
        </p:blipFill>
        <p:spPr bwMode="auto">
          <a:xfrm>
            <a:off x="4057818" y="1865743"/>
            <a:ext cx="4820292" cy="4419600"/>
          </a:xfrm>
          <a:prstGeom prst="rect">
            <a:avLst/>
          </a:prstGeom>
          <a:noFill/>
          <a:ln w="9525">
            <a:noFill/>
            <a:miter lim="800000"/>
            <a:headEnd/>
            <a:tailEnd/>
          </a:ln>
        </p:spPr>
      </p:pic>
    </p:spTree>
    <p:extLst>
      <p:ext uri="{BB962C8B-B14F-4D97-AF65-F5344CB8AC3E}">
        <p14:creationId xmlns:p14="http://schemas.microsoft.com/office/powerpoint/2010/main" val="387643886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5" name="TextBox 4">
            <a:extLst>
              <a:ext uri="{FF2B5EF4-FFF2-40B4-BE49-F238E27FC236}">
                <a16:creationId xmlns:a16="http://schemas.microsoft.com/office/drawing/2014/main" id="{BC91E3F8-4E04-6822-60DD-36D98F0B8EDE}"/>
              </a:ext>
            </a:extLst>
          </p:cNvPr>
          <p:cNvSpPr txBox="1"/>
          <p:nvPr/>
        </p:nvSpPr>
        <p:spPr>
          <a:xfrm>
            <a:off x="829282" y="1357168"/>
            <a:ext cx="6094378" cy="369332"/>
          </a:xfrm>
          <a:prstGeom prst="rect">
            <a:avLst/>
          </a:prstGeom>
          <a:noFill/>
        </p:spPr>
        <p:txBody>
          <a:bodyPr wrap="square">
            <a:spAutoFit/>
          </a:bodyPr>
          <a:lstStyle/>
          <a:p>
            <a:r>
              <a:rPr lang="en-IN" sz="1800" b="0" i="0" u="none" strike="noStrike" baseline="0" dirty="0">
                <a:highlight>
                  <a:srgbClr val="FFFF00"/>
                </a:highlight>
                <a:latin typeface="HelveticaNeue-MediumExt"/>
              </a:rPr>
              <a:t>Introduction</a:t>
            </a:r>
            <a:endParaRPr lang="en-IN" dirty="0">
              <a:highlight>
                <a:srgbClr val="FFFF00"/>
              </a:highlight>
            </a:endParaRPr>
          </a:p>
        </p:txBody>
      </p:sp>
      <p:sp>
        <p:nvSpPr>
          <p:cNvPr id="4" name="Rectangle 1027">
            <a:extLst>
              <a:ext uri="{FF2B5EF4-FFF2-40B4-BE49-F238E27FC236}">
                <a16:creationId xmlns:a16="http://schemas.microsoft.com/office/drawing/2014/main" id="{04AF1A87-6FEF-7D79-3733-FCCA0A66E061}"/>
              </a:ext>
            </a:extLst>
          </p:cNvPr>
          <p:cNvSpPr txBox="1">
            <a:spLocks noChangeArrowheads="1"/>
          </p:cNvSpPr>
          <p:nvPr/>
        </p:nvSpPr>
        <p:spPr>
          <a:xfrm>
            <a:off x="863600" y="1763331"/>
            <a:ext cx="10983262" cy="373750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pPr>
            <a:r>
              <a:rPr lang="en-US" altLang="en-US" sz="2400" dirty="0">
                <a:solidFill>
                  <a:srgbClr val="231F20"/>
                </a:solidFill>
              </a:rPr>
              <a:t>Program must be brought (from disk)  into memory and placed within a process for it to be run.</a:t>
            </a:r>
          </a:p>
          <a:p>
            <a:pPr marL="342900" indent="-342900" algn="just">
              <a:lnSpc>
                <a:spcPct val="100000"/>
              </a:lnSpc>
            </a:pPr>
            <a:r>
              <a:rPr lang="en-US" altLang="en-US" sz="2400" dirty="0">
                <a:solidFill>
                  <a:srgbClr val="231F20"/>
                </a:solidFill>
              </a:rPr>
              <a:t>Main memory and registers are the only storage CPU can access directly. </a:t>
            </a:r>
          </a:p>
          <a:p>
            <a:pPr marL="342900" indent="-342900" algn="just">
              <a:lnSpc>
                <a:spcPct val="100000"/>
              </a:lnSpc>
            </a:pPr>
            <a:r>
              <a:rPr lang="en-US" altLang="en-US" sz="2400" dirty="0">
                <a:solidFill>
                  <a:srgbClr val="231F20"/>
                </a:solidFill>
              </a:rPr>
              <a:t>Memory unit only sees a stream of addresses + read requests, or address + data and write requests</a:t>
            </a:r>
          </a:p>
          <a:p>
            <a:pPr marL="342900" indent="-342900" algn="just">
              <a:lnSpc>
                <a:spcPct val="100000"/>
              </a:lnSpc>
            </a:pPr>
            <a:r>
              <a:rPr lang="en-US" altLang="en-US" sz="2400" dirty="0">
                <a:solidFill>
                  <a:srgbClr val="231F20"/>
                </a:solidFill>
              </a:rPr>
              <a:t>Register access in one CPU clock (or less)</a:t>
            </a:r>
          </a:p>
          <a:p>
            <a:pPr marL="342900" indent="-342900" algn="just">
              <a:lnSpc>
                <a:spcPct val="100000"/>
              </a:lnSpc>
            </a:pPr>
            <a:r>
              <a:rPr lang="en-US" altLang="en-US" sz="2400" dirty="0"/>
              <a:t>Main memory can take many cycles, causing a </a:t>
            </a:r>
            <a:r>
              <a:rPr lang="en-US" altLang="en-US" sz="2400" b="1" dirty="0">
                <a:solidFill>
                  <a:srgbClr val="3366FF"/>
                </a:solidFill>
              </a:rPr>
              <a:t>stall</a:t>
            </a:r>
            <a:endParaRPr lang="en-US" altLang="en-US" sz="1000" dirty="0"/>
          </a:p>
          <a:p>
            <a:pPr marL="342900" indent="-342900" algn="just">
              <a:lnSpc>
                <a:spcPct val="100000"/>
              </a:lnSpc>
            </a:pPr>
            <a:r>
              <a:rPr lang="en-US" altLang="en-US" sz="2400" dirty="0">
                <a:solidFill>
                  <a:srgbClr val="231F20"/>
                </a:solidFill>
              </a:rPr>
              <a:t>Cache sits between main memory and CPU registers.</a:t>
            </a:r>
          </a:p>
          <a:p>
            <a:pPr algn="just">
              <a:lnSpc>
                <a:spcPct val="100000"/>
              </a:lnSpc>
            </a:pPr>
            <a:r>
              <a:rPr lang="en-US" altLang="en-US" sz="2400" dirty="0">
                <a:solidFill>
                  <a:srgbClr val="231F20"/>
                </a:solidFill>
              </a:rPr>
              <a:t>Protection of memory required to ensure correct operation.</a:t>
            </a:r>
            <a:endParaRPr lang="en-US" altLang="en-US" b="1" dirty="0"/>
          </a:p>
        </p:txBody>
      </p:sp>
    </p:spTree>
    <p:extLst>
      <p:ext uri="{BB962C8B-B14F-4D97-AF65-F5344CB8AC3E}">
        <p14:creationId xmlns:p14="http://schemas.microsoft.com/office/powerpoint/2010/main" val="105843304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5" name="TextBox 4">
            <a:extLst>
              <a:ext uri="{FF2B5EF4-FFF2-40B4-BE49-F238E27FC236}">
                <a16:creationId xmlns:a16="http://schemas.microsoft.com/office/drawing/2014/main" id="{BC91E3F8-4E04-6822-60DD-36D98F0B8EDE}"/>
              </a:ext>
            </a:extLst>
          </p:cNvPr>
          <p:cNvSpPr txBox="1"/>
          <p:nvPr/>
        </p:nvSpPr>
        <p:spPr>
          <a:xfrm>
            <a:off x="829282" y="1357168"/>
            <a:ext cx="6094378" cy="369332"/>
          </a:xfrm>
          <a:prstGeom prst="rect">
            <a:avLst/>
          </a:prstGeom>
          <a:noFill/>
        </p:spPr>
        <p:txBody>
          <a:bodyPr wrap="square">
            <a:spAutoFit/>
          </a:bodyPr>
          <a:lstStyle/>
          <a:p>
            <a:r>
              <a:rPr lang="en-IN" sz="1800" b="0" i="0" u="none" strike="noStrike" baseline="0" dirty="0">
                <a:highlight>
                  <a:srgbClr val="FFFF00"/>
                </a:highlight>
                <a:latin typeface="HelveticaNeue-MediumExt"/>
              </a:rPr>
              <a:t>Basic Hardware</a:t>
            </a:r>
            <a:endParaRPr lang="en-IN" dirty="0">
              <a:highlight>
                <a:srgbClr val="FFFF00"/>
              </a:highlight>
            </a:endParaRPr>
          </a:p>
        </p:txBody>
      </p:sp>
      <p:sp>
        <p:nvSpPr>
          <p:cNvPr id="2" name="Rectangle 1">
            <a:extLst>
              <a:ext uri="{FF2B5EF4-FFF2-40B4-BE49-F238E27FC236}">
                <a16:creationId xmlns:a16="http://schemas.microsoft.com/office/drawing/2014/main" id="{5A1627FF-E713-D6E4-23F3-99A1E4824728}"/>
              </a:ext>
            </a:extLst>
          </p:cNvPr>
          <p:cNvSpPr/>
          <p:nvPr/>
        </p:nvSpPr>
        <p:spPr>
          <a:xfrm>
            <a:off x="838200" y="2057400"/>
            <a:ext cx="9550940" cy="2241960"/>
          </a:xfrm>
          <a:prstGeom prst="rect">
            <a:avLst/>
          </a:prstGeom>
        </p:spPr>
        <p:txBody>
          <a:bodyPr wrap="square">
            <a:spAutoFit/>
          </a:bodyPr>
          <a:lstStyle/>
          <a:p>
            <a:pPr algn="just">
              <a:lnSpc>
                <a:spcPct val="150000"/>
              </a:lnSpc>
            </a:pPr>
            <a:r>
              <a:rPr lang="en-IN" sz="2400" dirty="0">
                <a:cs typeface="Times New Roman" pitchFamily="18" charset="0"/>
              </a:rPr>
              <a:t>The basic hardware can be studied for 3 parameters:</a:t>
            </a:r>
          </a:p>
          <a:p>
            <a:pPr marL="457200" lvl="0" indent="-457200" algn="just">
              <a:lnSpc>
                <a:spcPct val="150000"/>
              </a:lnSpc>
              <a:buFont typeface="+mj-lt"/>
              <a:buAutoNum type="arabicPeriod"/>
            </a:pPr>
            <a:r>
              <a:rPr lang="en-IN" sz="2400" dirty="0">
                <a:solidFill>
                  <a:srgbClr val="FF6600"/>
                </a:solidFill>
                <a:cs typeface="Times New Roman" pitchFamily="18" charset="0"/>
              </a:rPr>
              <a:t>Speed</a:t>
            </a:r>
          </a:p>
          <a:p>
            <a:pPr marL="457200" lvl="0" indent="-457200" algn="just">
              <a:lnSpc>
                <a:spcPct val="150000"/>
              </a:lnSpc>
              <a:buFont typeface="+mj-lt"/>
              <a:buAutoNum type="arabicPeriod"/>
            </a:pPr>
            <a:r>
              <a:rPr lang="en-IN" sz="2400" dirty="0">
                <a:solidFill>
                  <a:srgbClr val="FF6600"/>
                </a:solidFill>
                <a:cs typeface="Times New Roman" pitchFamily="18" charset="0"/>
              </a:rPr>
              <a:t>Access</a:t>
            </a:r>
          </a:p>
          <a:p>
            <a:pPr marL="457200" lvl="0" indent="-457200" algn="just">
              <a:lnSpc>
                <a:spcPct val="150000"/>
              </a:lnSpc>
              <a:buFont typeface="+mj-lt"/>
              <a:buAutoNum type="arabicPeriod"/>
            </a:pPr>
            <a:r>
              <a:rPr lang="en-IN" sz="2400" dirty="0">
                <a:solidFill>
                  <a:srgbClr val="FF6600"/>
                </a:solidFill>
                <a:cs typeface="Times New Roman" pitchFamily="18" charset="0"/>
              </a:rPr>
              <a:t>Protection</a:t>
            </a:r>
          </a:p>
        </p:txBody>
      </p:sp>
    </p:spTree>
    <p:extLst>
      <p:ext uri="{BB962C8B-B14F-4D97-AF65-F5344CB8AC3E}">
        <p14:creationId xmlns:p14="http://schemas.microsoft.com/office/powerpoint/2010/main" val="381869834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5" name="TextBox 4">
            <a:extLst>
              <a:ext uri="{FF2B5EF4-FFF2-40B4-BE49-F238E27FC236}">
                <a16:creationId xmlns:a16="http://schemas.microsoft.com/office/drawing/2014/main" id="{BC91E3F8-4E04-6822-60DD-36D98F0B8EDE}"/>
              </a:ext>
            </a:extLst>
          </p:cNvPr>
          <p:cNvSpPr txBox="1"/>
          <p:nvPr/>
        </p:nvSpPr>
        <p:spPr>
          <a:xfrm>
            <a:off x="829282" y="1357168"/>
            <a:ext cx="6094378" cy="369332"/>
          </a:xfrm>
          <a:prstGeom prst="rect">
            <a:avLst/>
          </a:prstGeom>
          <a:noFill/>
        </p:spPr>
        <p:txBody>
          <a:bodyPr wrap="square">
            <a:spAutoFit/>
          </a:bodyPr>
          <a:lstStyle/>
          <a:p>
            <a:r>
              <a:rPr lang="en-IN" sz="1800" b="0" i="0" u="none" strike="noStrike" baseline="0" dirty="0">
                <a:highlight>
                  <a:srgbClr val="FFFF00"/>
                </a:highlight>
                <a:latin typeface="HelveticaNeue-MediumExt"/>
              </a:rPr>
              <a:t>Basic Hardware</a:t>
            </a:r>
            <a:endParaRPr lang="en-IN" dirty="0">
              <a:highlight>
                <a:srgbClr val="FFFF00"/>
              </a:highlight>
            </a:endParaRPr>
          </a:p>
        </p:txBody>
      </p:sp>
      <p:sp>
        <p:nvSpPr>
          <p:cNvPr id="4" name="Rectangle 3">
            <a:extLst>
              <a:ext uri="{FF2B5EF4-FFF2-40B4-BE49-F238E27FC236}">
                <a16:creationId xmlns:a16="http://schemas.microsoft.com/office/drawing/2014/main" id="{8A4088D7-F60E-7C11-798A-434843B97B84}"/>
              </a:ext>
            </a:extLst>
          </p:cNvPr>
          <p:cNvSpPr/>
          <p:nvPr/>
        </p:nvSpPr>
        <p:spPr>
          <a:xfrm>
            <a:off x="2714803" y="1199574"/>
            <a:ext cx="5450547" cy="589072"/>
          </a:xfrm>
          <a:prstGeom prst="rect">
            <a:avLst/>
          </a:prstGeom>
        </p:spPr>
        <p:txBody>
          <a:bodyPr wrap="square">
            <a:spAutoFit/>
          </a:bodyPr>
          <a:lstStyle/>
          <a:p>
            <a:pPr marL="457200" indent="-457200" algn="just">
              <a:lnSpc>
                <a:spcPct val="150000"/>
              </a:lnSpc>
              <a:buFont typeface="+mj-lt"/>
              <a:buAutoNum type="arabicPeriod"/>
            </a:pPr>
            <a:r>
              <a:rPr lang="en-IN" sz="2400" dirty="0">
                <a:solidFill>
                  <a:srgbClr val="FF6600"/>
                </a:solidFill>
                <a:cs typeface="Times New Roman" pitchFamily="18" charset="0"/>
              </a:rPr>
              <a:t>Speed</a:t>
            </a:r>
          </a:p>
        </p:txBody>
      </p:sp>
      <p:sp>
        <p:nvSpPr>
          <p:cNvPr id="6" name="Rectangle 5">
            <a:extLst>
              <a:ext uri="{FF2B5EF4-FFF2-40B4-BE49-F238E27FC236}">
                <a16:creationId xmlns:a16="http://schemas.microsoft.com/office/drawing/2014/main" id="{04BB84D2-128C-4864-0BBD-2E8BD24AED6E}"/>
              </a:ext>
            </a:extLst>
          </p:cNvPr>
          <p:cNvSpPr/>
          <p:nvPr/>
        </p:nvSpPr>
        <p:spPr>
          <a:xfrm>
            <a:off x="796857" y="2037179"/>
            <a:ext cx="10598285" cy="3594702"/>
          </a:xfrm>
          <a:prstGeom prst="rect">
            <a:avLst/>
          </a:prstGeom>
        </p:spPr>
        <p:txBody>
          <a:bodyPr wrap="square">
            <a:spAutoFit/>
          </a:bodyPr>
          <a:lstStyle/>
          <a:p>
            <a:pPr marL="342900" lvl="0" indent="-342900">
              <a:lnSpc>
                <a:spcPct val="150000"/>
              </a:lnSpc>
              <a:buFont typeface="Wingdings" pitchFamily="2" charset="2"/>
              <a:buChar char="§"/>
            </a:pPr>
            <a:r>
              <a:rPr lang="en-IN" sz="2200" dirty="0">
                <a:cs typeface="Times New Roman" pitchFamily="18" charset="0"/>
              </a:rPr>
              <a:t>Some registers are built into the CPU &amp; they are generally accessible within one cycle of the CPU clock.</a:t>
            </a:r>
          </a:p>
          <a:p>
            <a:pPr marL="342900" lvl="0" indent="-342900">
              <a:lnSpc>
                <a:spcPct val="150000"/>
              </a:lnSpc>
              <a:buFont typeface="Wingdings" pitchFamily="2" charset="2"/>
              <a:buChar char="§"/>
            </a:pPr>
            <a:r>
              <a:rPr lang="en-IN" sz="2200" dirty="0">
                <a:cs typeface="Times New Roman" pitchFamily="18" charset="0"/>
              </a:rPr>
              <a:t>But completing memory access may take many cycles of the CPU clock. </a:t>
            </a:r>
          </a:p>
          <a:p>
            <a:pPr marL="342900" lvl="0" indent="-342900">
              <a:lnSpc>
                <a:spcPct val="150000"/>
              </a:lnSpc>
              <a:buFont typeface="Wingdings" pitchFamily="2" charset="2"/>
              <a:buChar char="§"/>
            </a:pPr>
            <a:r>
              <a:rPr lang="en-IN" sz="2200" dirty="0">
                <a:cs typeface="Times New Roman" pitchFamily="18" charset="0"/>
              </a:rPr>
              <a:t>In such cases the processor needs to </a:t>
            </a:r>
            <a:r>
              <a:rPr lang="en-IN" sz="2200" b="1" dirty="0">
                <a:solidFill>
                  <a:srgbClr val="FF6600"/>
                </a:solidFill>
                <a:cs typeface="Times New Roman" pitchFamily="18" charset="0"/>
              </a:rPr>
              <a:t>stall</a:t>
            </a:r>
            <a:r>
              <a:rPr lang="en-IN" sz="2200" b="1" dirty="0">
                <a:cs typeface="Times New Roman" pitchFamily="18" charset="0"/>
              </a:rPr>
              <a:t> </a:t>
            </a:r>
            <a:r>
              <a:rPr lang="en-IN" sz="2200" dirty="0">
                <a:cs typeface="Times New Roman" pitchFamily="18" charset="0"/>
              </a:rPr>
              <a:t>since it does not have the data required to complete the instruction that it is executing. </a:t>
            </a:r>
          </a:p>
          <a:p>
            <a:pPr marL="342900" lvl="0" indent="-342900">
              <a:lnSpc>
                <a:spcPct val="150000"/>
              </a:lnSpc>
              <a:buFont typeface="Wingdings" pitchFamily="2" charset="2"/>
              <a:buChar char="§"/>
            </a:pPr>
            <a:r>
              <a:rPr lang="en-IN" sz="2200" dirty="0">
                <a:cs typeface="Times New Roman" pitchFamily="18" charset="0"/>
              </a:rPr>
              <a:t>The remedy is to add fast memory between the CPU and main memory.</a:t>
            </a:r>
          </a:p>
          <a:p>
            <a:pPr marL="342900" lvl="0" indent="-342900">
              <a:lnSpc>
                <a:spcPct val="150000"/>
              </a:lnSpc>
              <a:buFont typeface="Wingdings" pitchFamily="2" charset="2"/>
              <a:buChar char="§"/>
            </a:pPr>
            <a:r>
              <a:rPr lang="en-IN" sz="2200" dirty="0">
                <a:cs typeface="Times New Roman" pitchFamily="18" charset="0"/>
              </a:rPr>
              <a:t>This memory buffer is called </a:t>
            </a:r>
            <a:r>
              <a:rPr lang="en-IN" sz="2200" dirty="0">
                <a:solidFill>
                  <a:srgbClr val="FF6600"/>
                </a:solidFill>
                <a:cs typeface="Times New Roman" pitchFamily="18" charset="0"/>
              </a:rPr>
              <a:t>Cache. </a:t>
            </a:r>
          </a:p>
        </p:txBody>
      </p:sp>
    </p:spTree>
    <p:extLst>
      <p:ext uri="{BB962C8B-B14F-4D97-AF65-F5344CB8AC3E}">
        <p14:creationId xmlns:p14="http://schemas.microsoft.com/office/powerpoint/2010/main" val="262832969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5" name="TextBox 4">
            <a:extLst>
              <a:ext uri="{FF2B5EF4-FFF2-40B4-BE49-F238E27FC236}">
                <a16:creationId xmlns:a16="http://schemas.microsoft.com/office/drawing/2014/main" id="{BC91E3F8-4E04-6822-60DD-36D98F0B8EDE}"/>
              </a:ext>
            </a:extLst>
          </p:cNvPr>
          <p:cNvSpPr txBox="1"/>
          <p:nvPr/>
        </p:nvSpPr>
        <p:spPr>
          <a:xfrm>
            <a:off x="829282" y="1357168"/>
            <a:ext cx="6094378" cy="369332"/>
          </a:xfrm>
          <a:prstGeom prst="rect">
            <a:avLst/>
          </a:prstGeom>
          <a:noFill/>
        </p:spPr>
        <p:txBody>
          <a:bodyPr wrap="square">
            <a:spAutoFit/>
          </a:bodyPr>
          <a:lstStyle/>
          <a:p>
            <a:r>
              <a:rPr lang="en-IN" sz="1800" b="0" i="0" u="none" strike="noStrike" baseline="0" dirty="0">
                <a:highlight>
                  <a:srgbClr val="FFFF00"/>
                </a:highlight>
                <a:latin typeface="HelveticaNeue-MediumExt"/>
              </a:rPr>
              <a:t>Basic Hardware</a:t>
            </a:r>
            <a:endParaRPr lang="en-IN" dirty="0">
              <a:highlight>
                <a:srgbClr val="FFFF00"/>
              </a:highlight>
            </a:endParaRPr>
          </a:p>
        </p:txBody>
      </p:sp>
      <p:sp>
        <p:nvSpPr>
          <p:cNvPr id="4" name="Rectangle 3">
            <a:extLst>
              <a:ext uri="{FF2B5EF4-FFF2-40B4-BE49-F238E27FC236}">
                <a16:creationId xmlns:a16="http://schemas.microsoft.com/office/drawing/2014/main" id="{8A4088D7-F60E-7C11-798A-434843B97B84}"/>
              </a:ext>
            </a:extLst>
          </p:cNvPr>
          <p:cNvSpPr/>
          <p:nvPr/>
        </p:nvSpPr>
        <p:spPr>
          <a:xfrm>
            <a:off x="2679344" y="1182458"/>
            <a:ext cx="5450547" cy="589072"/>
          </a:xfrm>
          <a:prstGeom prst="rect">
            <a:avLst/>
          </a:prstGeom>
        </p:spPr>
        <p:txBody>
          <a:bodyPr wrap="square">
            <a:spAutoFit/>
          </a:bodyPr>
          <a:lstStyle/>
          <a:p>
            <a:pPr algn="just">
              <a:lnSpc>
                <a:spcPct val="150000"/>
              </a:lnSpc>
            </a:pPr>
            <a:r>
              <a:rPr lang="en-IN" sz="2400" dirty="0">
                <a:solidFill>
                  <a:srgbClr val="FF6600"/>
                </a:solidFill>
                <a:cs typeface="Times New Roman" pitchFamily="18" charset="0"/>
              </a:rPr>
              <a:t>2. Access</a:t>
            </a:r>
          </a:p>
        </p:txBody>
      </p:sp>
      <p:sp>
        <p:nvSpPr>
          <p:cNvPr id="8" name="TextBox 7">
            <a:extLst>
              <a:ext uri="{FF2B5EF4-FFF2-40B4-BE49-F238E27FC236}">
                <a16:creationId xmlns:a16="http://schemas.microsoft.com/office/drawing/2014/main" id="{BD54AFAB-0FE1-790A-CDB0-9B33DBCE3547}"/>
              </a:ext>
            </a:extLst>
          </p:cNvPr>
          <p:cNvSpPr txBox="1"/>
          <p:nvPr/>
        </p:nvSpPr>
        <p:spPr>
          <a:xfrm>
            <a:off x="829282" y="1946240"/>
            <a:ext cx="10688267" cy="3594702"/>
          </a:xfrm>
          <a:prstGeom prst="rect">
            <a:avLst/>
          </a:prstGeom>
          <a:noFill/>
        </p:spPr>
        <p:txBody>
          <a:bodyPr wrap="square">
            <a:spAutoFit/>
          </a:bodyPr>
          <a:lstStyle/>
          <a:p>
            <a:pPr marL="342900" indent="-342900" algn="just">
              <a:lnSpc>
                <a:spcPct val="150000"/>
              </a:lnSpc>
              <a:buFont typeface="Wingdings" pitchFamily="2" charset="2"/>
              <a:buChar char="§"/>
            </a:pPr>
            <a:r>
              <a:rPr lang="en-US" sz="2200" dirty="0">
                <a:cs typeface="Times New Roman" pitchFamily="18" charset="0"/>
              </a:rPr>
              <a:t>With the relative speed of accessing physical memory, we also must ensure correct operation. </a:t>
            </a:r>
          </a:p>
          <a:p>
            <a:pPr marL="342900" indent="-342900" algn="just">
              <a:lnSpc>
                <a:spcPct val="150000"/>
              </a:lnSpc>
              <a:buFont typeface="Wingdings" pitchFamily="2" charset="2"/>
              <a:buChar char="§"/>
            </a:pPr>
            <a:r>
              <a:rPr lang="en-US" sz="2200" dirty="0">
                <a:cs typeface="Times New Roman" pitchFamily="18" charset="0"/>
              </a:rPr>
              <a:t>For proper system operation we must protect the operating system from access by user processes.</a:t>
            </a:r>
          </a:p>
          <a:p>
            <a:pPr marL="342900" indent="-342900" algn="just">
              <a:lnSpc>
                <a:spcPct val="150000"/>
              </a:lnSpc>
              <a:buFont typeface="Wingdings" pitchFamily="2" charset="2"/>
              <a:buChar char="§"/>
            </a:pPr>
            <a:r>
              <a:rPr lang="en-US" sz="2200" dirty="0">
                <a:cs typeface="Times New Roman" pitchFamily="18" charset="0"/>
              </a:rPr>
              <a:t>On multiuser systems, we must additionally protect user processes from one another. </a:t>
            </a:r>
          </a:p>
          <a:p>
            <a:pPr marL="342900" indent="-342900" algn="just">
              <a:lnSpc>
                <a:spcPct val="150000"/>
              </a:lnSpc>
              <a:buFont typeface="Wingdings" pitchFamily="2" charset="2"/>
              <a:buChar char="§"/>
            </a:pPr>
            <a:r>
              <a:rPr lang="en-US" sz="2200" dirty="0">
                <a:cs typeface="Times New Roman" pitchFamily="18" charset="0"/>
              </a:rPr>
              <a:t>This protection must be provided by the hardware because the operating system doesn’t usually intervene between the CPU and its memory </a:t>
            </a:r>
            <a:r>
              <a:rPr lang="en-IN" sz="2200" dirty="0">
                <a:cs typeface="Times New Roman" pitchFamily="18" charset="0"/>
              </a:rPr>
              <a:t>accesses</a:t>
            </a:r>
          </a:p>
        </p:txBody>
      </p:sp>
    </p:spTree>
    <p:extLst>
      <p:ext uri="{BB962C8B-B14F-4D97-AF65-F5344CB8AC3E}">
        <p14:creationId xmlns:p14="http://schemas.microsoft.com/office/powerpoint/2010/main" val="394567332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5" name="TextBox 4">
            <a:extLst>
              <a:ext uri="{FF2B5EF4-FFF2-40B4-BE49-F238E27FC236}">
                <a16:creationId xmlns:a16="http://schemas.microsoft.com/office/drawing/2014/main" id="{BC91E3F8-4E04-6822-60DD-36D98F0B8EDE}"/>
              </a:ext>
            </a:extLst>
          </p:cNvPr>
          <p:cNvSpPr txBox="1"/>
          <p:nvPr/>
        </p:nvSpPr>
        <p:spPr>
          <a:xfrm>
            <a:off x="829282" y="1357168"/>
            <a:ext cx="6094378" cy="369332"/>
          </a:xfrm>
          <a:prstGeom prst="rect">
            <a:avLst/>
          </a:prstGeom>
          <a:noFill/>
        </p:spPr>
        <p:txBody>
          <a:bodyPr wrap="square">
            <a:spAutoFit/>
          </a:bodyPr>
          <a:lstStyle/>
          <a:p>
            <a:r>
              <a:rPr lang="en-IN" sz="1800" b="0" i="0" u="none" strike="noStrike" baseline="0" dirty="0">
                <a:highlight>
                  <a:srgbClr val="FFFF00"/>
                </a:highlight>
                <a:latin typeface="HelveticaNeue-MediumExt"/>
              </a:rPr>
              <a:t>Basic Hardware</a:t>
            </a:r>
            <a:endParaRPr lang="en-IN" dirty="0">
              <a:highlight>
                <a:srgbClr val="FFFF00"/>
              </a:highlight>
            </a:endParaRPr>
          </a:p>
        </p:txBody>
      </p:sp>
      <p:sp>
        <p:nvSpPr>
          <p:cNvPr id="4" name="Rectangle 3">
            <a:extLst>
              <a:ext uri="{FF2B5EF4-FFF2-40B4-BE49-F238E27FC236}">
                <a16:creationId xmlns:a16="http://schemas.microsoft.com/office/drawing/2014/main" id="{8A4088D7-F60E-7C11-798A-434843B97B84}"/>
              </a:ext>
            </a:extLst>
          </p:cNvPr>
          <p:cNvSpPr/>
          <p:nvPr/>
        </p:nvSpPr>
        <p:spPr>
          <a:xfrm>
            <a:off x="2679344" y="1182458"/>
            <a:ext cx="5450547" cy="589072"/>
          </a:xfrm>
          <a:prstGeom prst="rect">
            <a:avLst/>
          </a:prstGeom>
        </p:spPr>
        <p:txBody>
          <a:bodyPr wrap="square">
            <a:spAutoFit/>
          </a:bodyPr>
          <a:lstStyle/>
          <a:p>
            <a:pPr algn="just">
              <a:lnSpc>
                <a:spcPct val="150000"/>
              </a:lnSpc>
            </a:pPr>
            <a:r>
              <a:rPr lang="en-IN" sz="2400" dirty="0">
                <a:solidFill>
                  <a:srgbClr val="FF6600"/>
                </a:solidFill>
                <a:cs typeface="Times New Roman" pitchFamily="18" charset="0"/>
              </a:rPr>
              <a:t>2. Access</a:t>
            </a:r>
          </a:p>
        </p:txBody>
      </p:sp>
      <p:sp>
        <p:nvSpPr>
          <p:cNvPr id="6" name="TextBox 5">
            <a:extLst>
              <a:ext uri="{FF2B5EF4-FFF2-40B4-BE49-F238E27FC236}">
                <a16:creationId xmlns:a16="http://schemas.microsoft.com/office/drawing/2014/main" id="{582DD5A9-F86B-4F00-F55C-BA91B0081A11}"/>
              </a:ext>
            </a:extLst>
          </p:cNvPr>
          <p:cNvSpPr txBox="1"/>
          <p:nvPr/>
        </p:nvSpPr>
        <p:spPr>
          <a:xfrm>
            <a:off x="955742" y="1906130"/>
            <a:ext cx="10503441" cy="3594702"/>
          </a:xfrm>
          <a:prstGeom prst="rect">
            <a:avLst/>
          </a:prstGeom>
          <a:noFill/>
        </p:spPr>
        <p:txBody>
          <a:bodyPr wrap="square">
            <a:spAutoFit/>
          </a:bodyPr>
          <a:lstStyle/>
          <a:p>
            <a:pPr marL="342900" indent="-342900" algn="just">
              <a:lnSpc>
                <a:spcPct val="150000"/>
              </a:lnSpc>
              <a:buFont typeface="Wingdings" pitchFamily="2" charset="2"/>
              <a:buChar char="§"/>
            </a:pPr>
            <a:r>
              <a:rPr lang="en-US" sz="2200" dirty="0">
                <a:cs typeface="Times New Roman" pitchFamily="18" charset="0"/>
              </a:rPr>
              <a:t>Make sure that each process has a separate memory space.</a:t>
            </a:r>
          </a:p>
          <a:p>
            <a:pPr marL="342900" indent="-342900" algn="just">
              <a:lnSpc>
                <a:spcPct val="150000"/>
              </a:lnSpc>
              <a:buFont typeface="Wingdings" pitchFamily="2" charset="2"/>
              <a:buChar char="§"/>
            </a:pPr>
            <a:r>
              <a:rPr lang="en-US" sz="2200" dirty="0">
                <a:cs typeface="Times New Roman" pitchFamily="18" charset="0"/>
              </a:rPr>
              <a:t>Separate per-process memory space protects the processes from each other and is fundamental to having multiple processes loaded in memory for concurrent execution. </a:t>
            </a:r>
          </a:p>
          <a:p>
            <a:pPr marL="342900" indent="-342900" algn="just">
              <a:lnSpc>
                <a:spcPct val="150000"/>
              </a:lnSpc>
              <a:buFont typeface="Wingdings" pitchFamily="2" charset="2"/>
              <a:buChar char="§"/>
            </a:pPr>
            <a:r>
              <a:rPr lang="en-US" sz="2200" dirty="0">
                <a:cs typeface="Times New Roman" pitchFamily="18" charset="0"/>
              </a:rPr>
              <a:t>For separate memory spaces, we need the ability to determine the range of legal addresses that the process may access and to ensure that the process can access only these legal addresses. </a:t>
            </a:r>
          </a:p>
          <a:p>
            <a:pPr marL="342900" indent="-342900" algn="just">
              <a:lnSpc>
                <a:spcPct val="150000"/>
              </a:lnSpc>
              <a:buFont typeface="Wingdings" pitchFamily="2" charset="2"/>
              <a:buChar char="§"/>
            </a:pPr>
            <a:r>
              <a:rPr lang="en-US" sz="2200" dirty="0">
                <a:cs typeface="Times New Roman" pitchFamily="18" charset="0"/>
              </a:rPr>
              <a:t>This protection is provided using two registers, usually a </a:t>
            </a:r>
            <a:r>
              <a:rPr lang="en-US" sz="2200" dirty="0">
                <a:solidFill>
                  <a:srgbClr val="0000FF"/>
                </a:solidFill>
                <a:cs typeface="Times New Roman" pitchFamily="18" charset="0"/>
              </a:rPr>
              <a:t>base</a:t>
            </a:r>
            <a:r>
              <a:rPr lang="en-US" sz="2200" dirty="0">
                <a:cs typeface="Times New Roman" pitchFamily="18" charset="0"/>
              </a:rPr>
              <a:t> and a </a:t>
            </a:r>
            <a:r>
              <a:rPr lang="en-US" sz="2200" dirty="0">
                <a:solidFill>
                  <a:srgbClr val="0000FF"/>
                </a:solidFill>
                <a:cs typeface="Times New Roman" pitchFamily="18" charset="0"/>
              </a:rPr>
              <a:t>limit register.</a:t>
            </a:r>
            <a:endParaRPr lang="en-IN" sz="2200" dirty="0">
              <a:cs typeface="Times New Roman" pitchFamily="18" charset="0"/>
            </a:endParaRPr>
          </a:p>
        </p:txBody>
      </p:sp>
    </p:spTree>
    <p:extLst>
      <p:ext uri="{BB962C8B-B14F-4D97-AF65-F5344CB8AC3E}">
        <p14:creationId xmlns:p14="http://schemas.microsoft.com/office/powerpoint/2010/main" val="26104394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5" name="TextBox 4">
            <a:extLst>
              <a:ext uri="{FF2B5EF4-FFF2-40B4-BE49-F238E27FC236}">
                <a16:creationId xmlns:a16="http://schemas.microsoft.com/office/drawing/2014/main" id="{BC91E3F8-4E04-6822-60DD-36D98F0B8EDE}"/>
              </a:ext>
            </a:extLst>
          </p:cNvPr>
          <p:cNvSpPr txBox="1"/>
          <p:nvPr/>
        </p:nvSpPr>
        <p:spPr>
          <a:xfrm>
            <a:off x="829282" y="1357168"/>
            <a:ext cx="6094378" cy="369332"/>
          </a:xfrm>
          <a:prstGeom prst="rect">
            <a:avLst/>
          </a:prstGeom>
          <a:noFill/>
        </p:spPr>
        <p:txBody>
          <a:bodyPr wrap="square">
            <a:spAutoFit/>
          </a:bodyPr>
          <a:lstStyle/>
          <a:p>
            <a:r>
              <a:rPr lang="en-IN" sz="1800" b="0" i="0" u="none" strike="noStrike" baseline="0" dirty="0">
                <a:highlight>
                  <a:srgbClr val="FFFF00"/>
                </a:highlight>
                <a:latin typeface="HelveticaNeue-MediumExt"/>
              </a:rPr>
              <a:t>Basic Hardware</a:t>
            </a:r>
            <a:endParaRPr lang="en-IN" dirty="0">
              <a:highlight>
                <a:srgbClr val="FFFF00"/>
              </a:highlight>
            </a:endParaRPr>
          </a:p>
        </p:txBody>
      </p:sp>
      <p:sp>
        <p:nvSpPr>
          <p:cNvPr id="4" name="Rectangle 3">
            <a:extLst>
              <a:ext uri="{FF2B5EF4-FFF2-40B4-BE49-F238E27FC236}">
                <a16:creationId xmlns:a16="http://schemas.microsoft.com/office/drawing/2014/main" id="{8A4088D7-F60E-7C11-798A-434843B97B84}"/>
              </a:ext>
            </a:extLst>
          </p:cNvPr>
          <p:cNvSpPr/>
          <p:nvPr/>
        </p:nvSpPr>
        <p:spPr>
          <a:xfrm>
            <a:off x="2780261" y="1196501"/>
            <a:ext cx="5450547" cy="589072"/>
          </a:xfrm>
          <a:prstGeom prst="rect">
            <a:avLst/>
          </a:prstGeom>
        </p:spPr>
        <p:txBody>
          <a:bodyPr wrap="square">
            <a:spAutoFit/>
          </a:bodyPr>
          <a:lstStyle/>
          <a:p>
            <a:pPr algn="just">
              <a:lnSpc>
                <a:spcPct val="150000"/>
              </a:lnSpc>
            </a:pPr>
            <a:r>
              <a:rPr lang="en-IN" sz="2400" dirty="0">
                <a:solidFill>
                  <a:srgbClr val="FF6600"/>
                </a:solidFill>
                <a:cs typeface="Times New Roman" pitchFamily="18" charset="0"/>
              </a:rPr>
              <a:t>2. Access</a:t>
            </a:r>
          </a:p>
        </p:txBody>
      </p:sp>
      <p:pic>
        <p:nvPicPr>
          <p:cNvPr id="2" name="Picture 2">
            <a:extLst>
              <a:ext uri="{FF2B5EF4-FFF2-40B4-BE49-F238E27FC236}">
                <a16:creationId xmlns:a16="http://schemas.microsoft.com/office/drawing/2014/main" id="{FE1FD12C-2768-3D11-FCFA-48C1178E3A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9733" y="1541834"/>
            <a:ext cx="6105525" cy="440185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a:extLst>
              <a:ext uri="{FF2B5EF4-FFF2-40B4-BE49-F238E27FC236}">
                <a16:creationId xmlns:a16="http://schemas.microsoft.com/office/drawing/2014/main" id="{B317D138-2100-A0C0-DF91-4F9B00556355}"/>
              </a:ext>
            </a:extLst>
          </p:cNvPr>
          <p:cNvSpPr txBox="1"/>
          <p:nvPr/>
        </p:nvSpPr>
        <p:spPr>
          <a:xfrm>
            <a:off x="580940" y="2536903"/>
            <a:ext cx="4602203" cy="1938992"/>
          </a:xfrm>
          <a:prstGeom prst="rect">
            <a:avLst/>
          </a:prstGeom>
          <a:noFill/>
        </p:spPr>
        <p:txBody>
          <a:bodyPr wrap="square">
            <a:spAutoFit/>
          </a:bodyPr>
          <a:lstStyle/>
          <a:p>
            <a:pPr marL="342900" indent="-342900" algn="just">
              <a:buFont typeface="Arial" panose="020B0604020202020204" pitchFamily="34" charset="0"/>
              <a:buChar char="•"/>
            </a:pPr>
            <a:r>
              <a:rPr lang="en-US" sz="2400" b="0" i="0" u="none" strike="noStrike" baseline="0" dirty="0">
                <a:solidFill>
                  <a:srgbClr val="231F20"/>
                </a:solidFill>
              </a:rPr>
              <a:t>The </a:t>
            </a:r>
            <a:r>
              <a:rPr lang="en-US" sz="2400" b="1" i="0" u="none" strike="noStrike" baseline="0" dirty="0">
                <a:solidFill>
                  <a:srgbClr val="0000FF"/>
                </a:solidFill>
              </a:rPr>
              <a:t>base register </a:t>
            </a:r>
            <a:r>
              <a:rPr lang="en-US" sz="2400" b="0" i="0" u="none" strike="noStrike" baseline="0" dirty="0">
                <a:solidFill>
                  <a:srgbClr val="231F20"/>
                </a:solidFill>
              </a:rPr>
              <a:t>holds the smallest legal physical memory address; </a:t>
            </a:r>
          </a:p>
          <a:p>
            <a:pPr marL="342900" indent="-342900" algn="just">
              <a:buFont typeface="Arial" panose="020B0604020202020204" pitchFamily="34" charset="0"/>
              <a:buChar char="•"/>
            </a:pPr>
            <a:r>
              <a:rPr lang="en-US" sz="2400" b="0" i="0" u="none" strike="noStrike" baseline="0" dirty="0">
                <a:solidFill>
                  <a:srgbClr val="231F20"/>
                </a:solidFill>
              </a:rPr>
              <a:t>the </a:t>
            </a:r>
            <a:r>
              <a:rPr lang="en-US" sz="2400" b="1" i="0" u="none" strike="noStrike" baseline="0" dirty="0">
                <a:solidFill>
                  <a:srgbClr val="0000FF"/>
                </a:solidFill>
              </a:rPr>
              <a:t>limit register</a:t>
            </a:r>
            <a:r>
              <a:rPr lang="en-US" sz="2400" b="1" i="0" u="none" strike="noStrike" baseline="0" dirty="0">
                <a:solidFill>
                  <a:srgbClr val="00AEF0"/>
                </a:solidFill>
              </a:rPr>
              <a:t> </a:t>
            </a:r>
            <a:r>
              <a:rPr lang="en-US" sz="2400" b="0" i="0" u="none" strike="noStrike" baseline="0" dirty="0">
                <a:solidFill>
                  <a:srgbClr val="231F20"/>
                </a:solidFill>
              </a:rPr>
              <a:t>specifies the size of the range</a:t>
            </a:r>
            <a:endParaRPr lang="en-IN" sz="2400" dirty="0"/>
          </a:p>
        </p:txBody>
      </p:sp>
    </p:spTree>
    <p:extLst>
      <p:ext uri="{BB962C8B-B14F-4D97-AF65-F5344CB8AC3E}">
        <p14:creationId xmlns:p14="http://schemas.microsoft.com/office/powerpoint/2010/main" val="101160468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5" name="TextBox 4">
            <a:extLst>
              <a:ext uri="{FF2B5EF4-FFF2-40B4-BE49-F238E27FC236}">
                <a16:creationId xmlns:a16="http://schemas.microsoft.com/office/drawing/2014/main" id="{BC91E3F8-4E04-6822-60DD-36D98F0B8EDE}"/>
              </a:ext>
            </a:extLst>
          </p:cNvPr>
          <p:cNvSpPr txBox="1"/>
          <p:nvPr/>
        </p:nvSpPr>
        <p:spPr>
          <a:xfrm>
            <a:off x="829282" y="1357168"/>
            <a:ext cx="6094378" cy="369332"/>
          </a:xfrm>
          <a:prstGeom prst="rect">
            <a:avLst/>
          </a:prstGeom>
          <a:noFill/>
        </p:spPr>
        <p:txBody>
          <a:bodyPr wrap="square">
            <a:spAutoFit/>
          </a:bodyPr>
          <a:lstStyle/>
          <a:p>
            <a:r>
              <a:rPr lang="en-IN" sz="1800" b="0" i="0" u="none" strike="noStrike" baseline="0" dirty="0">
                <a:highlight>
                  <a:srgbClr val="FFFF00"/>
                </a:highlight>
                <a:latin typeface="HelveticaNeue-MediumExt"/>
              </a:rPr>
              <a:t>Basic Hardware</a:t>
            </a:r>
            <a:endParaRPr lang="en-IN" dirty="0">
              <a:highlight>
                <a:srgbClr val="FFFF00"/>
              </a:highlight>
            </a:endParaRPr>
          </a:p>
        </p:txBody>
      </p:sp>
      <p:sp>
        <p:nvSpPr>
          <p:cNvPr id="4" name="Rectangle 3">
            <a:extLst>
              <a:ext uri="{FF2B5EF4-FFF2-40B4-BE49-F238E27FC236}">
                <a16:creationId xmlns:a16="http://schemas.microsoft.com/office/drawing/2014/main" id="{8A4088D7-F60E-7C11-798A-434843B97B84}"/>
              </a:ext>
            </a:extLst>
          </p:cNvPr>
          <p:cNvSpPr/>
          <p:nvPr/>
        </p:nvSpPr>
        <p:spPr>
          <a:xfrm>
            <a:off x="2780261" y="1196501"/>
            <a:ext cx="5450547" cy="589072"/>
          </a:xfrm>
          <a:prstGeom prst="rect">
            <a:avLst/>
          </a:prstGeom>
        </p:spPr>
        <p:txBody>
          <a:bodyPr wrap="square">
            <a:spAutoFit/>
          </a:bodyPr>
          <a:lstStyle/>
          <a:p>
            <a:pPr algn="just">
              <a:lnSpc>
                <a:spcPct val="150000"/>
              </a:lnSpc>
            </a:pPr>
            <a:r>
              <a:rPr lang="en-IN" sz="2400" dirty="0">
                <a:solidFill>
                  <a:srgbClr val="FF6600"/>
                </a:solidFill>
                <a:cs typeface="Times New Roman" pitchFamily="18" charset="0"/>
              </a:rPr>
              <a:t>3. Protection</a:t>
            </a:r>
          </a:p>
        </p:txBody>
      </p:sp>
      <p:sp>
        <p:nvSpPr>
          <p:cNvPr id="8" name="TextBox 7">
            <a:extLst>
              <a:ext uri="{FF2B5EF4-FFF2-40B4-BE49-F238E27FC236}">
                <a16:creationId xmlns:a16="http://schemas.microsoft.com/office/drawing/2014/main" id="{B5E378CE-CF68-02A6-8E69-87BB0A6FDE58}"/>
              </a:ext>
            </a:extLst>
          </p:cNvPr>
          <p:cNvSpPr txBox="1"/>
          <p:nvPr/>
        </p:nvSpPr>
        <p:spPr>
          <a:xfrm>
            <a:off x="646528" y="2155793"/>
            <a:ext cx="10443004" cy="2123658"/>
          </a:xfrm>
          <a:prstGeom prst="rect">
            <a:avLst/>
          </a:prstGeom>
          <a:noFill/>
        </p:spPr>
        <p:txBody>
          <a:bodyPr wrap="square">
            <a:spAutoFit/>
          </a:bodyPr>
          <a:lstStyle/>
          <a:p>
            <a:pPr marL="342900" indent="-342900" algn="just">
              <a:buFont typeface="Arial" panose="020B0604020202020204" pitchFamily="34" charset="0"/>
              <a:buChar char="•"/>
            </a:pPr>
            <a:r>
              <a:rPr lang="en-US" sz="2200" b="0" i="0" u="none" strike="noStrike" baseline="0" dirty="0">
                <a:solidFill>
                  <a:srgbClr val="231F20"/>
                </a:solidFill>
              </a:rPr>
              <a:t>Protection of memory space is accomplished by having the CPU hardware compare every address generated in user mode with the registers. </a:t>
            </a:r>
          </a:p>
          <a:p>
            <a:pPr algn="just"/>
            <a:endParaRPr lang="en-US" sz="2200" b="0" i="0" u="none" strike="noStrike" baseline="0" dirty="0">
              <a:solidFill>
                <a:srgbClr val="231F20"/>
              </a:solidFill>
            </a:endParaRPr>
          </a:p>
          <a:p>
            <a:pPr marL="342900" indent="-342900" algn="just">
              <a:buFont typeface="Arial" panose="020B0604020202020204" pitchFamily="34" charset="0"/>
              <a:buChar char="•"/>
            </a:pPr>
            <a:r>
              <a:rPr lang="en-US" sz="2200" b="0" i="0" u="none" strike="noStrike" baseline="0" dirty="0">
                <a:solidFill>
                  <a:srgbClr val="231F20"/>
                </a:solidFill>
              </a:rPr>
              <a:t>Any attempt by a program executing in user mode to access operating-system memory or other users’ memory results in a trap to the operating system, which treats the attempt as a fatal error</a:t>
            </a:r>
            <a:endParaRPr lang="en-IN" sz="2200" dirty="0"/>
          </a:p>
        </p:txBody>
      </p:sp>
    </p:spTree>
    <p:extLst>
      <p:ext uri="{BB962C8B-B14F-4D97-AF65-F5344CB8AC3E}">
        <p14:creationId xmlns:p14="http://schemas.microsoft.com/office/powerpoint/2010/main" val="148153679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5" name="TextBox 4">
            <a:extLst>
              <a:ext uri="{FF2B5EF4-FFF2-40B4-BE49-F238E27FC236}">
                <a16:creationId xmlns:a16="http://schemas.microsoft.com/office/drawing/2014/main" id="{BC91E3F8-4E04-6822-60DD-36D98F0B8EDE}"/>
              </a:ext>
            </a:extLst>
          </p:cNvPr>
          <p:cNvSpPr txBox="1"/>
          <p:nvPr/>
        </p:nvSpPr>
        <p:spPr>
          <a:xfrm>
            <a:off x="829282" y="1357168"/>
            <a:ext cx="6094378" cy="369332"/>
          </a:xfrm>
          <a:prstGeom prst="rect">
            <a:avLst/>
          </a:prstGeom>
          <a:noFill/>
        </p:spPr>
        <p:txBody>
          <a:bodyPr wrap="square">
            <a:spAutoFit/>
          </a:bodyPr>
          <a:lstStyle/>
          <a:p>
            <a:r>
              <a:rPr lang="en-IN" sz="1800" b="0" i="0" u="none" strike="noStrike" baseline="0" dirty="0">
                <a:highlight>
                  <a:srgbClr val="FFFF00"/>
                </a:highlight>
                <a:latin typeface="HelveticaNeue-MediumExt"/>
              </a:rPr>
              <a:t>Basic Hardware</a:t>
            </a:r>
            <a:endParaRPr lang="en-IN" dirty="0">
              <a:highlight>
                <a:srgbClr val="FFFF00"/>
              </a:highlight>
            </a:endParaRPr>
          </a:p>
        </p:txBody>
      </p:sp>
      <p:sp>
        <p:nvSpPr>
          <p:cNvPr id="4" name="Rectangle 3">
            <a:extLst>
              <a:ext uri="{FF2B5EF4-FFF2-40B4-BE49-F238E27FC236}">
                <a16:creationId xmlns:a16="http://schemas.microsoft.com/office/drawing/2014/main" id="{8A4088D7-F60E-7C11-798A-434843B97B84}"/>
              </a:ext>
            </a:extLst>
          </p:cNvPr>
          <p:cNvSpPr/>
          <p:nvPr/>
        </p:nvSpPr>
        <p:spPr>
          <a:xfrm>
            <a:off x="2780261" y="1196501"/>
            <a:ext cx="5450547" cy="589072"/>
          </a:xfrm>
          <a:prstGeom prst="rect">
            <a:avLst/>
          </a:prstGeom>
        </p:spPr>
        <p:txBody>
          <a:bodyPr wrap="square">
            <a:spAutoFit/>
          </a:bodyPr>
          <a:lstStyle/>
          <a:p>
            <a:pPr algn="just">
              <a:lnSpc>
                <a:spcPct val="150000"/>
              </a:lnSpc>
            </a:pPr>
            <a:r>
              <a:rPr lang="en-IN" sz="2400" dirty="0">
                <a:solidFill>
                  <a:srgbClr val="FF6600"/>
                </a:solidFill>
                <a:cs typeface="Times New Roman" pitchFamily="18" charset="0"/>
              </a:rPr>
              <a:t>3. Protection</a:t>
            </a:r>
          </a:p>
        </p:txBody>
      </p:sp>
      <p:pic>
        <p:nvPicPr>
          <p:cNvPr id="2" name="Picture 2">
            <a:extLst>
              <a:ext uri="{FF2B5EF4-FFF2-40B4-BE49-F238E27FC236}">
                <a16:creationId xmlns:a16="http://schemas.microsoft.com/office/drawing/2014/main" id="{851AA068-9D5E-1298-2C4C-717B8DEF8F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5850" y="2004592"/>
            <a:ext cx="7924800" cy="4200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350116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6" name="TextBox 5">
            <a:extLst>
              <a:ext uri="{FF2B5EF4-FFF2-40B4-BE49-F238E27FC236}">
                <a16:creationId xmlns:a16="http://schemas.microsoft.com/office/drawing/2014/main" id="{C09DC910-0479-BB03-D911-0AEC62C5DB56}"/>
              </a:ext>
            </a:extLst>
          </p:cNvPr>
          <p:cNvSpPr txBox="1"/>
          <p:nvPr/>
        </p:nvSpPr>
        <p:spPr>
          <a:xfrm>
            <a:off x="829282" y="1357168"/>
            <a:ext cx="6094378" cy="369332"/>
          </a:xfrm>
          <a:prstGeom prst="rect">
            <a:avLst/>
          </a:prstGeom>
          <a:noFill/>
        </p:spPr>
        <p:txBody>
          <a:bodyPr wrap="square">
            <a:spAutoFit/>
          </a:bodyPr>
          <a:lstStyle/>
          <a:p>
            <a:r>
              <a:rPr lang="en-IN" sz="1800" b="0" i="0" u="none" strike="noStrike" baseline="0" dirty="0">
                <a:highlight>
                  <a:srgbClr val="FFFF00"/>
                </a:highlight>
                <a:latin typeface="HelveticaNeue-MediumExt"/>
              </a:rPr>
              <a:t>Address Binding</a:t>
            </a:r>
            <a:endParaRPr lang="en-IN" dirty="0">
              <a:highlight>
                <a:srgbClr val="FFFF00"/>
              </a:highlight>
            </a:endParaRPr>
          </a:p>
        </p:txBody>
      </p:sp>
      <p:sp>
        <p:nvSpPr>
          <p:cNvPr id="8" name="TextBox 7">
            <a:extLst>
              <a:ext uri="{FF2B5EF4-FFF2-40B4-BE49-F238E27FC236}">
                <a16:creationId xmlns:a16="http://schemas.microsoft.com/office/drawing/2014/main" id="{79707A21-1001-996A-35E9-BC349C676470}"/>
              </a:ext>
            </a:extLst>
          </p:cNvPr>
          <p:cNvSpPr txBox="1"/>
          <p:nvPr/>
        </p:nvSpPr>
        <p:spPr>
          <a:xfrm>
            <a:off x="829281" y="1887167"/>
            <a:ext cx="9589041" cy="671851"/>
          </a:xfrm>
          <a:prstGeom prst="rect">
            <a:avLst/>
          </a:prstGeom>
          <a:noFill/>
          <a:ln>
            <a:solidFill>
              <a:schemeClr val="accent1"/>
            </a:solidFill>
          </a:ln>
        </p:spPr>
        <p:txBody>
          <a:bodyPr wrap="square">
            <a:spAutoFit/>
          </a:bodyPr>
          <a:lstStyle/>
          <a:p>
            <a:pPr algn="just">
              <a:lnSpc>
                <a:spcPct val="150000"/>
              </a:lnSpc>
            </a:pPr>
            <a:r>
              <a:rPr lang="en-IN" sz="2800" dirty="0">
                <a:solidFill>
                  <a:srgbClr val="7030A0"/>
                </a:solidFill>
                <a:cs typeface="Times New Roman" pitchFamily="18" charset="0"/>
              </a:rPr>
              <a:t>Address Binding is a mapping from one address space to another.</a:t>
            </a:r>
          </a:p>
        </p:txBody>
      </p:sp>
      <p:sp>
        <p:nvSpPr>
          <p:cNvPr id="10" name="TextBox 9">
            <a:extLst>
              <a:ext uri="{FF2B5EF4-FFF2-40B4-BE49-F238E27FC236}">
                <a16:creationId xmlns:a16="http://schemas.microsoft.com/office/drawing/2014/main" id="{480DB29E-1447-FB0D-5500-273F87D1B6A9}"/>
              </a:ext>
            </a:extLst>
          </p:cNvPr>
          <p:cNvSpPr txBox="1"/>
          <p:nvPr/>
        </p:nvSpPr>
        <p:spPr>
          <a:xfrm>
            <a:off x="897375" y="3043974"/>
            <a:ext cx="10318616" cy="1143070"/>
          </a:xfrm>
          <a:prstGeom prst="rect">
            <a:avLst/>
          </a:prstGeom>
          <a:noFill/>
        </p:spPr>
        <p:txBody>
          <a:bodyPr wrap="square">
            <a:spAutoFit/>
          </a:bodyPr>
          <a:lstStyle/>
          <a:p>
            <a:pPr algn="just">
              <a:lnSpc>
                <a:spcPct val="150000"/>
              </a:lnSpc>
            </a:pPr>
            <a:r>
              <a:rPr lang="en-US" sz="2400" b="0" i="0" u="none" strike="noStrike" baseline="0" dirty="0">
                <a:solidFill>
                  <a:srgbClr val="231F20"/>
                </a:solidFill>
              </a:rPr>
              <a:t>The processes on the disk that are waiting to be brought into memory for execution form the </a:t>
            </a:r>
            <a:r>
              <a:rPr lang="en-US" sz="2400" b="1" i="0" u="none" strike="noStrike" baseline="0" dirty="0">
                <a:solidFill>
                  <a:srgbClr val="00AEF0"/>
                </a:solidFill>
              </a:rPr>
              <a:t>input queue</a:t>
            </a:r>
            <a:r>
              <a:rPr lang="en-US" sz="2400" b="0" i="0" u="none" strike="noStrike" baseline="0" dirty="0">
                <a:solidFill>
                  <a:srgbClr val="231F20"/>
                </a:solidFill>
              </a:rPr>
              <a:t>.</a:t>
            </a:r>
            <a:endParaRPr lang="en-IN" dirty="0"/>
          </a:p>
        </p:txBody>
      </p:sp>
    </p:spTree>
    <p:extLst>
      <p:ext uri="{BB962C8B-B14F-4D97-AF65-F5344CB8AC3E}">
        <p14:creationId xmlns:p14="http://schemas.microsoft.com/office/powerpoint/2010/main" val="99028755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6" name="TextBox 5">
            <a:extLst>
              <a:ext uri="{FF2B5EF4-FFF2-40B4-BE49-F238E27FC236}">
                <a16:creationId xmlns:a16="http://schemas.microsoft.com/office/drawing/2014/main" id="{C09DC910-0479-BB03-D911-0AEC62C5DB56}"/>
              </a:ext>
            </a:extLst>
          </p:cNvPr>
          <p:cNvSpPr txBox="1"/>
          <p:nvPr/>
        </p:nvSpPr>
        <p:spPr>
          <a:xfrm>
            <a:off x="829282" y="1357168"/>
            <a:ext cx="6094378" cy="369332"/>
          </a:xfrm>
          <a:prstGeom prst="rect">
            <a:avLst/>
          </a:prstGeom>
          <a:noFill/>
        </p:spPr>
        <p:txBody>
          <a:bodyPr wrap="square">
            <a:spAutoFit/>
          </a:bodyPr>
          <a:lstStyle/>
          <a:p>
            <a:r>
              <a:rPr lang="en-IN" sz="1800" b="0" i="0" u="none" strike="noStrike" baseline="0" dirty="0">
                <a:highlight>
                  <a:srgbClr val="FFFF00"/>
                </a:highlight>
                <a:latin typeface="HelveticaNeue-MediumExt"/>
              </a:rPr>
              <a:t>Address Binding</a:t>
            </a:r>
            <a:endParaRPr lang="en-IN" dirty="0">
              <a:highlight>
                <a:srgbClr val="FFFF00"/>
              </a:highlight>
            </a:endParaRPr>
          </a:p>
        </p:txBody>
      </p:sp>
      <p:sp>
        <p:nvSpPr>
          <p:cNvPr id="4" name="TextBox 3">
            <a:extLst>
              <a:ext uri="{FF2B5EF4-FFF2-40B4-BE49-F238E27FC236}">
                <a16:creationId xmlns:a16="http://schemas.microsoft.com/office/drawing/2014/main" id="{4BEC8138-6EE6-9386-72FE-E3139422602D}"/>
              </a:ext>
            </a:extLst>
          </p:cNvPr>
          <p:cNvSpPr txBox="1"/>
          <p:nvPr/>
        </p:nvSpPr>
        <p:spPr>
          <a:xfrm>
            <a:off x="829282" y="1951672"/>
            <a:ext cx="10474258" cy="1697068"/>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solidFill>
                  <a:srgbClr val="231F20"/>
                </a:solidFill>
              </a:rPr>
              <a:t>Most systems allow a user process to reside in any part of the physical memory.</a:t>
            </a:r>
          </a:p>
          <a:p>
            <a:pPr marL="342900" indent="-342900" algn="just">
              <a:lnSpc>
                <a:spcPct val="150000"/>
              </a:lnSpc>
              <a:buFont typeface="Arial" panose="020B0604020202020204" pitchFamily="34" charset="0"/>
              <a:buChar char="•"/>
            </a:pPr>
            <a:r>
              <a:rPr lang="en-US" sz="2400" dirty="0">
                <a:solidFill>
                  <a:srgbClr val="231F20"/>
                </a:solidFill>
              </a:rPr>
              <a:t>Thus, although the address space of the computer may start at 00000, the first address of the user process need not be 00000.</a:t>
            </a:r>
            <a:endParaRPr lang="en-IN" sz="2400" dirty="0">
              <a:solidFill>
                <a:srgbClr val="231F20"/>
              </a:solidFill>
            </a:endParaRPr>
          </a:p>
        </p:txBody>
      </p:sp>
    </p:spTree>
    <p:extLst>
      <p:ext uri="{BB962C8B-B14F-4D97-AF65-F5344CB8AC3E}">
        <p14:creationId xmlns:p14="http://schemas.microsoft.com/office/powerpoint/2010/main" val="338823833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6" name="TextBox 5">
            <a:extLst>
              <a:ext uri="{FF2B5EF4-FFF2-40B4-BE49-F238E27FC236}">
                <a16:creationId xmlns:a16="http://schemas.microsoft.com/office/drawing/2014/main" id="{C09DC910-0479-BB03-D911-0AEC62C5DB56}"/>
              </a:ext>
            </a:extLst>
          </p:cNvPr>
          <p:cNvSpPr txBox="1"/>
          <p:nvPr/>
        </p:nvSpPr>
        <p:spPr>
          <a:xfrm>
            <a:off x="904426" y="1196501"/>
            <a:ext cx="6094378" cy="369332"/>
          </a:xfrm>
          <a:prstGeom prst="rect">
            <a:avLst/>
          </a:prstGeom>
          <a:noFill/>
        </p:spPr>
        <p:txBody>
          <a:bodyPr wrap="square">
            <a:spAutoFit/>
          </a:bodyPr>
          <a:lstStyle/>
          <a:p>
            <a:r>
              <a:rPr lang="en-IN" sz="1800" b="0" i="0" u="none" strike="noStrike" baseline="0" dirty="0">
                <a:highlight>
                  <a:srgbClr val="FFFF00"/>
                </a:highlight>
                <a:latin typeface="HelveticaNeue-MediumExt"/>
              </a:rPr>
              <a:t>Address Binding</a:t>
            </a:r>
            <a:endParaRPr lang="en-IN" dirty="0">
              <a:highlight>
                <a:srgbClr val="FFFF00"/>
              </a:highlight>
            </a:endParaRPr>
          </a:p>
        </p:txBody>
      </p:sp>
      <p:sp>
        <p:nvSpPr>
          <p:cNvPr id="5" name="TextBox 4">
            <a:extLst>
              <a:ext uri="{FF2B5EF4-FFF2-40B4-BE49-F238E27FC236}">
                <a16:creationId xmlns:a16="http://schemas.microsoft.com/office/drawing/2014/main" id="{26200279-AFDA-270D-802E-A22595331177}"/>
              </a:ext>
            </a:extLst>
          </p:cNvPr>
          <p:cNvSpPr txBox="1"/>
          <p:nvPr/>
        </p:nvSpPr>
        <p:spPr>
          <a:xfrm>
            <a:off x="904426" y="1619618"/>
            <a:ext cx="10525328" cy="461036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200" b="0" i="0" u="none" strike="noStrike" baseline="0" dirty="0">
                <a:solidFill>
                  <a:srgbClr val="231F20"/>
                </a:solidFill>
              </a:rPr>
              <a:t>In most cases, a user program goes through several steps—some of which may be optional—before being executed.</a:t>
            </a:r>
            <a:r>
              <a:rPr lang="en-US" sz="2200" b="0" i="0" u="none" strike="noStrike" dirty="0">
                <a:solidFill>
                  <a:srgbClr val="231F20"/>
                </a:solidFill>
              </a:rPr>
              <a:t> </a:t>
            </a:r>
          </a:p>
          <a:p>
            <a:pPr marL="342900" indent="-342900" algn="just">
              <a:lnSpc>
                <a:spcPct val="150000"/>
              </a:lnSpc>
              <a:buFont typeface="Arial" panose="020B0604020202020204" pitchFamily="34" charset="0"/>
              <a:buChar char="•"/>
            </a:pPr>
            <a:r>
              <a:rPr lang="en-US" sz="2200" b="0" i="0" u="none" strike="noStrike" baseline="0" dirty="0">
                <a:solidFill>
                  <a:srgbClr val="231F20"/>
                </a:solidFill>
              </a:rPr>
              <a:t>Addresses may be represented in different ways during these steps. Addresses in the source program are generally symbolic (such as the variable count). </a:t>
            </a:r>
          </a:p>
          <a:p>
            <a:pPr marL="342900" indent="-342900" algn="just">
              <a:lnSpc>
                <a:spcPct val="150000"/>
              </a:lnSpc>
              <a:buFont typeface="Arial" panose="020B0604020202020204" pitchFamily="34" charset="0"/>
              <a:buChar char="•"/>
            </a:pPr>
            <a:r>
              <a:rPr lang="en-US" sz="2200" b="0" i="0" u="none" strike="noStrike" baseline="0" dirty="0">
                <a:solidFill>
                  <a:srgbClr val="231F20"/>
                </a:solidFill>
              </a:rPr>
              <a:t>A compiler typically </a:t>
            </a:r>
            <a:r>
              <a:rPr lang="en-US" sz="2200" b="1" i="0" u="none" strike="noStrike" baseline="0" dirty="0">
                <a:solidFill>
                  <a:srgbClr val="00AEF0"/>
                </a:solidFill>
              </a:rPr>
              <a:t>binds </a:t>
            </a:r>
            <a:r>
              <a:rPr lang="en-US" sz="2200" b="0" i="0" u="none" strike="noStrike" baseline="0" dirty="0">
                <a:solidFill>
                  <a:srgbClr val="231F20"/>
                </a:solidFill>
              </a:rPr>
              <a:t>these symbolic addresses to relocatable addresses (such as “14 bytes from the beginning of this module”). </a:t>
            </a:r>
          </a:p>
          <a:p>
            <a:pPr marL="342900" indent="-342900" algn="just">
              <a:lnSpc>
                <a:spcPct val="150000"/>
              </a:lnSpc>
              <a:buFont typeface="Arial" panose="020B0604020202020204" pitchFamily="34" charset="0"/>
              <a:buChar char="•"/>
            </a:pPr>
            <a:r>
              <a:rPr lang="en-US" sz="2200" b="0" i="0" u="none" strike="noStrike" baseline="0" dirty="0">
                <a:solidFill>
                  <a:srgbClr val="231F20"/>
                </a:solidFill>
              </a:rPr>
              <a:t>The linkage editor or loader in turn binds the relocatable addresses to absolute addresses (such as 74014).</a:t>
            </a:r>
          </a:p>
          <a:p>
            <a:pPr marL="342900" indent="-342900" algn="just">
              <a:lnSpc>
                <a:spcPct val="150000"/>
              </a:lnSpc>
              <a:buFont typeface="Arial" panose="020B0604020202020204" pitchFamily="34" charset="0"/>
              <a:buChar char="•"/>
            </a:pPr>
            <a:r>
              <a:rPr lang="en-US" sz="2200" b="0" i="0" u="none" strike="noStrike" baseline="0" dirty="0">
                <a:solidFill>
                  <a:srgbClr val="231F20"/>
                </a:solidFill>
              </a:rPr>
              <a:t>Each binding is a mapping from one address space to another.</a:t>
            </a:r>
            <a:endParaRPr lang="en-IN" sz="2200" dirty="0"/>
          </a:p>
        </p:txBody>
      </p:sp>
    </p:spTree>
    <p:extLst>
      <p:ext uri="{BB962C8B-B14F-4D97-AF65-F5344CB8AC3E}">
        <p14:creationId xmlns:p14="http://schemas.microsoft.com/office/powerpoint/2010/main" val="188014427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6" name="TextBox 5">
            <a:extLst>
              <a:ext uri="{FF2B5EF4-FFF2-40B4-BE49-F238E27FC236}">
                <a16:creationId xmlns:a16="http://schemas.microsoft.com/office/drawing/2014/main" id="{C09DC910-0479-BB03-D911-0AEC62C5DB56}"/>
              </a:ext>
            </a:extLst>
          </p:cNvPr>
          <p:cNvSpPr txBox="1"/>
          <p:nvPr/>
        </p:nvSpPr>
        <p:spPr>
          <a:xfrm>
            <a:off x="829282" y="1357168"/>
            <a:ext cx="6094378" cy="369332"/>
          </a:xfrm>
          <a:prstGeom prst="rect">
            <a:avLst/>
          </a:prstGeom>
          <a:noFill/>
        </p:spPr>
        <p:txBody>
          <a:bodyPr wrap="square">
            <a:spAutoFit/>
          </a:bodyPr>
          <a:lstStyle/>
          <a:p>
            <a:r>
              <a:rPr lang="en-IN" sz="1800" b="0" i="0" u="none" strike="noStrike" baseline="0" dirty="0">
                <a:highlight>
                  <a:srgbClr val="FFFF00"/>
                </a:highlight>
                <a:latin typeface="HelveticaNeue-MediumExt"/>
              </a:rPr>
              <a:t>Address Binding</a:t>
            </a:r>
            <a:endParaRPr lang="en-IN" dirty="0">
              <a:highlight>
                <a:srgbClr val="FFFF00"/>
              </a:highlight>
            </a:endParaRPr>
          </a:p>
        </p:txBody>
      </p:sp>
      <p:pic>
        <p:nvPicPr>
          <p:cNvPr id="5" name="Picture 4">
            <a:extLst>
              <a:ext uri="{FF2B5EF4-FFF2-40B4-BE49-F238E27FC236}">
                <a16:creationId xmlns:a16="http://schemas.microsoft.com/office/drawing/2014/main" id="{67DB942A-171D-1597-F423-E2528FEFCF0A}"/>
              </a:ext>
            </a:extLst>
          </p:cNvPr>
          <p:cNvPicPr>
            <a:picLocks noChangeAspect="1"/>
          </p:cNvPicPr>
          <p:nvPr/>
        </p:nvPicPr>
        <p:blipFill>
          <a:blip r:embed="rId3"/>
          <a:stretch>
            <a:fillRect/>
          </a:stretch>
        </p:blipFill>
        <p:spPr>
          <a:xfrm>
            <a:off x="7042826" y="1357168"/>
            <a:ext cx="3556219" cy="5246995"/>
          </a:xfrm>
          <a:prstGeom prst="rect">
            <a:avLst/>
          </a:prstGeom>
        </p:spPr>
      </p:pic>
      <p:sp>
        <p:nvSpPr>
          <p:cNvPr id="8" name="TextBox 7">
            <a:extLst>
              <a:ext uri="{FF2B5EF4-FFF2-40B4-BE49-F238E27FC236}">
                <a16:creationId xmlns:a16="http://schemas.microsoft.com/office/drawing/2014/main" id="{3F3A1934-9D95-CF4F-9EB4-7F14409AE37D}"/>
              </a:ext>
            </a:extLst>
          </p:cNvPr>
          <p:cNvSpPr txBox="1"/>
          <p:nvPr/>
        </p:nvSpPr>
        <p:spPr>
          <a:xfrm>
            <a:off x="829282" y="1977422"/>
            <a:ext cx="6094378" cy="1296317"/>
          </a:xfrm>
          <a:prstGeom prst="rect">
            <a:avLst/>
          </a:prstGeom>
          <a:noFill/>
        </p:spPr>
        <p:txBody>
          <a:bodyPr wrap="square">
            <a:spAutoFit/>
          </a:bodyPr>
          <a:lstStyle/>
          <a:p>
            <a:pPr algn="just">
              <a:lnSpc>
                <a:spcPct val="150000"/>
              </a:lnSpc>
            </a:pPr>
            <a:r>
              <a:rPr lang="en-US" sz="1800" b="1" i="0" u="none" strike="noStrike" baseline="0" dirty="0">
                <a:solidFill>
                  <a:srgbClr val="231F20"/>
                </a:solidFill>
                <a:latin typeface="Palatino-Bold"/>
              </a:rPr>
              <a:t>Compile time</a:t>
            </a:r>
            <a:r>
              <a:rPr lang="en-US" sz="1800" b="0" i="0" u="none" strike="noStrike" baseline="0" dirty="0">
                <a:solidFill>
                  <a:srgbClr val="231F20"/>
                </a:solidFill>
                <a:latin typeface="Palatino-Roman"/>
              </a:rPr>
              <a:t>. If you know at compile time where the process will reside in memory, then </a:t>
            </a:r>
            <a:r>
              <a:rPr lang="en-US" sz="1800" b="1" i="0" u="none" strike="noStrike" baseline="0" dirty="0">
                <a:solidFill>
                  <a:srgbClr val="00AEF0"/>
                </a:solidFill>
                <a:latin typeface="Palatino-Bold"/>
              </a:rPr>
              <a:t>absolute code </a:t>
            </a:r>
            <a:r>
              <a:rPr lang="en-US" sz="1800" b="0" i="0" u="none" strike="noStrike" baseline="0" dirty="0">
                <a:solidFill>
                  <a:srgbClr val="231F20"/>
                </a:solidFill>
                <a:latin typeface="Palatino-Roman"/>
              </a:rPr>
              <a:t>can be generated.</a:t>
            </a:r>
            <a:endParaRPr lang="en-IN" dirty="0"/>
          </a:p>
        </p:txBody>
      </p:sp>
      <p:sp>
        <p:nvSpPr>
          <p:cNvPr id="10" name="TextBox 9">
            <a:extLst>
              <a:ext uri="{FF2B5EF4-FFF2-40B4-BE49-F238E27FC236}">
                <a16:creationId xmlns:a16="http://schemas.microsoft.com/office/drawing/2014/main" id="{00BC853E-F391-D119-BCB7-DE3447787F9F}"/>
              </a:ext>
            </a:extLst>
          </p:cNvPr>
          <p:cNvSpPr txBox="1"/>
          <p:nvPr/>
        </p:nvSpPr>
        <p:spPr>
          <a:xfrm>
            <a:off x="829282" y="3467919"/>
            <a:ext cx="6094378" cy="1296317"/>
          </a:xfrm>
          <a:prstGeom prst="rect">
            <a:avLst/>
          </a:prstGeom>
          <a:noFill/>
        </p:spPr>
        <p:txBody>
          <a:bodyPr wrap="square">
            <a:spAutoFit/>
          </a:bodyPr>
          <a:lstStyle/>
          <a:p>
            <a:pPr algn="just">
              <a:lnSpc>
                <a:spcPct val="150000"/>
              </a:lnSpc>
            </a:pPr>
            <a:r>
              <a:rPr lang="en-US" sz="1800" b="1" i="0" u="none" strike="noStrike" baseline="0" dirty="0">
                <a:solidFill>
                  <a:srgbClr val="231F20"/>
                </a:solidFill>
                <a:latin typeface="Palatino-Bold"/>
              </a:rPr>
              <a:t>Load time</a:t>
            </a:r>
            <a:r>
              <a:rPr lang="en-US" sz="1800" b="0" i="0" u="none" strike="noStrike" baseline="0" dirty="0">
                <a:solidFill>
                  <a:srgbClr val="231F20"/>
                </a:solidFill>
                <a:latin typeface="Palatino-Roman"/>
              </a:rPr>
              <a:t>. If it is not known at compile time where the process will reside in memory, then the compiler must generate </a:t>
            </a:r>
            <a:r>
              <a:rPr lang="en-US" sz="1800" b="1" i="0" u="none" strike="noStrike" baseline="0" dirty="0">
                <a:solidFill>
                  <a:srgbClr val="00AEF0"/>
                </a:solidFill>
                <a:latin typeface="Palatino-Bold"/>
              </a:rPr>
              <a:t>relocatable code</a:t>
            </a:r>
            <a:r>
              <a:rPr lang="en-US" sz="1800" b="0" i="0" u="none" strike="noStrike" baseline="0" dirty="0">
                <a:solidFill>
                  <a:srgbClr val="231F20"/>
                </a:solidFill>
                <a:latin typeface="Palatino-Roman"/>
              </a:rPr>
              <a:t>.</a:t>
            </a:r>
            <a:endParaRPr lang="en-IN" dirty="0"/>
          </a:p>
        </p:txBody>
      </p:sp>
      <p:sp>
        <p:nvSpPr>
          <p:cNvPr id="12" name="TextBox 11">
            <a:extLst>
              <a:ext uri="{FF2B5EF4-FFF2-40B4-BE49-F238E27FC236}">
                <a16:creationId xmlns:a16="http://schemas.microsoft.com/office/drawing/2014/main" id="{B83DCA8F-293F-FAD1-BDF7-1FF46309013D}"/>
              </a:ext>
            </a:extLst>
          </p:cNvPr>
          <p:cNvSpPr txBox="1"/>
          <p:nvPr/>
        </p:nvSpPr>
        <p:spPr>
          <a:xfrm>
            <a:off x="829282" y="4848633"/>
            <a:ext cx="6094378" cy="1296317"/>
          </a:xfrm>
          <a:prstGeom prst="rect">
            <a:avLst/>
          </a:prstGeom>
          <a:noFill/>
        </p:spPr>
        <p:txBody>
          <a:bodyPr wrap="square">
            <a:spAutoFit/>
          </a:bodyPr>
          <a:lstStyle/>
          <a:p>
            <a:pPr algn="just">
              <a:lnSpc>
                <a:spcPct val="150000"/>
              </a:lnSpc>
            </a:pPr>
            <a:r>
              <a:rPr lang="en-US" sz="1800" b="1" i="0" u="none" strike="noStrike" baseline="0" dirty="0">
                <a:solidFill>
                  <a:srgbClr val="231F20"/>
                </a:solidFill>
                <a:latin typeface="Palatino-Bold"/>
              </a:rPr>
              <a:t>Execution time</a:t>
            </a:r>
            <a:r>
              <a:rPr lang="en-US" sz="1800" b="0" i="0" u="none" strike="noStrike" baseline="0" dirty="0">
                <a:solidFill>
                  <a:srgbClr val="231F20"/>
                </a:solidFill>
                <a:latin typeface="Palatino-Roman"/>
              </a:rPr>
              <a:t>. If the process can be moved during its execution from one memory segment to another, then binding must be delayed until run </a:t>
            </a:r>
            <a:r>
              <a:rPr lang="en-IN" sz="1800" b="0" i="0" u="none" strike="noStrike" baseline="0" dirty="0">
                <a:solidFill>
                  <a:srgbClr val="231F20"/>
                </a:solidFill>
                <a:latin typeface="Palatino-Roman"/>
              </a:rPr>
              <a:t>time.</a:t>
            </a:r>
            <a:endParaRPr lang="en-IN" dirty="0"/>
          </a:p>
        </p:txBody>
      </p:sp>
    </p:spTree>
    <p:extLst>
      <p:ext uri="{BB962C8B-B14F-4D97-AF65-F5344CB8AC3E}">
        <p14:creationId xmlns:p14="http://schemas.microsoft.com/office/powerpoint/2010/main" val="10313661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6" name="TextBox 5">
            <a:extLst>
              <a:ext uri="{FF2B5EF4-FFF2-40B4-BE49-F238E27FC236}">
                <a16:creationId xmlns:a16="http://schemas.microsoft.com/office/drawing/2014/main" id="{C09DC910-0479-BB03-D911-0AEC62C5DB56}"/>
              </a:ext>
            </a:extLst>
          </p:cNvPr>
          <p:cNvSpPr txBox="1"/>
          <p:nvPr/>
        </p:nvSpPr>
        <p:spPr>
          <a:xfrm>
            <a:off x="829282" y="1357168"/>
            <a:ext cx="6094378" cy="369332"/>
          </a:xfrm>
          <a:prstGeom prst="rect">
            <a:avLst/>
          </a:prstGeom>
          <a:noFill/>
        </p:spPr>
        <p:txBody>
          <a:bodyPr wrap="square">
            <a:spAutoFit/>
          </a:bodyPr>
          <a:lstStyle/>
          <a:p>
            <a:r>
              <a:rPr lang="en-US" dirty="0">
                <a:highlight>
                  <a:srgbClr val="FFFF00"/>
                </a:highlight>
              </a:rPr>
              <a:t>Logical Versus Physical Address Space</a:t>
            </a:r>
            <a:endParaRPr lang="en-IN" dirty="0">
              <a:highlight>
                <a:srgbClr val="FFFF00"/>
              </a:highlight>
            </a:endParaRPr>
          </a:p>
        </p:txBody>
      </p:sp>
      <p:sp>
        <p:nvSpPr>
          <p:cNvPr id="9" name="TextBox 8">
            <a:extLst>
              <a:ext uri="{FF2B5EF4-FFF2-40B4-BE49-F238E27FC236}">
                <a16:creationId xmlns:a16="http://schemas.microsoft.com/office/drawing/2014/main" id="{6BE443FA-7442-75F6-4C7A-933C4918FF85}"/>
              </a:ext>
            </a:extLst>
          </p:cNvPr>
          <p:cNvSpPr txBox="1"/>
          <p:nvPr/>
        </p:nvSpPr>
        <p:spPr>
          <a:xfrm>
            <a:off x="916831" y="2328021"/>
            <a:ext cx="10127841" cy="2071208"/>
          </a:xfrm>
          <a:prstGeom prst="rect">
            <a:avLst/>
          </a:prstGeom>
          <a:noFill/>
        </p:spPr>
        <p:txBody>
          <a:bodyPr wrap="square">
            <a:spAutoFit/>
          </a:bodyPr>
          <a:lstStyle/>
          <a:p>
            <a:pPr>
              <a:lnSpc>
                <a:spcPct val="150000"/>
              </a:lnSpc>
            </a:pPr>
            <a:r>
              <a:rPr lang="en-US" sz="2200" b="1" i="0" u="none" strike="noStrike" baseline="0" dirty="0">
                <a:solidFill>
                  <a:srgbClr val="00AEF0"/>
                </a:solidFill>
              </a:rPr>
              <a:t>Logical address - </a:t>
            </a:r>
            <a:r>
              <a:rPr lang="en-US" sz="2200" b="0" i="0" u="none" strike="noStrike" baseline="0" dirty="0">
                <a:solidFill>
                  <a:srgbClr val="231F20"/>
                </a:solidFill>
              </a:rPr>
              <a:t>An address generated by the CPU</a:t>
            </a:r>
          </a:p>
          <a:p>
            <a:pPr>
              <a:lnSpc>
                <a:spcPct val="150000"/>
              </a:lnSpc>
            </a:pPr>
            <a:endParaRPr lang="en-US" sz="2200" dirty="0">
              <a:solidFill>
                <a:srgbClr val="231F20"/>
              </a:solidFill>
            </a:endParaRPr>
          </a:p>
          <a:p>
            <a:pPr algn="l">
              <a:lnSpc>
                <a:spcPct val="150000"/>
              </a:lnSpc>
            </a:pPr>
            <a:r>
              <a:rPr lang="en-IN" sz="2200" b="1" i="0" u="none" strike="noStrike" baseline="0" dirty="0">
                <a:solidFill>
                  <a:srgbClr val="00AEF0"/>
                </a:solidFill>
              </a:rPr>
              <a:t>Physical address - </a:t>
            </a:r>
            <a:r>
              <a:rPr lang="en-US" sz="2200" b="0" i="0" u="none" strike="noStrike" baseline="0" dirty="0">
                <a:solidFill>
                  <a:srgbClr val="231F20"/>
                </a:solidFill>
              </a:rPr>
              <a:t>an address seen by the memory unit—that is, the one loaded into the </a:t>
            </a:r>
            <a:r>
              <a:rPr lang="en-US" sz="2200" b="1" i="0" u="none" strike="noStrike" baseline="0" dirty="0">
                <a:solidFill>
                  <a:srgbClr val="00AEF0"/>
                </a:solidFill>
              </a:rPr>
              <a:t>memory address register </a:t>
            </a:r>
            <a:r>
              <a:rPr lang="en-US" sz="2200" b="0" i="0" u="none" strike="noStrike" baseline="0" dirty="0">
                <a:solidFill>
                  <a:srgbClr val="231F20"/>
                </a:solidFill>
              </a:rPr>
              <a:t>of the memory</a:t>
            </a:r>
            <a:r>
              <a:rPr lang="en-IN" sz="2200" b="1" i="0" u="none" strike="noStrike" baseline="0" dirty="0">
                <a:solidFill>
                  <a:srgbClr val="00AEF0"/>
                </a:solidFill>
              </a:rPr>
              <a:t> </a:t>
            </a:r>
            <a:endParaRPr lang="en-IN" sz="2200" dirty="0"/>
          </a:p>
        </p:txBody>
      </p:sp>
    </p:spTree>
    <p:extLst>
      <p:ext uri="{BB962C8B-B14F-4D97-AF65-F5344CB8AC3E}">
        <p14:creationId xmlns:p14="http://schemas.microsoft.com/office/powerpoint/2010/main" val="258079186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6" name="TextBox 5">
            <a:extLst>
              <a:ext uri="{FF2B5EF4-FFF2-40B4-BE49-F238E27FC236}">
                <a16:creationId xmlns:a16="http://schemas.microsoft.com/office/drawing/2014/main" id="{C09DC910-0479-BB03-D911-0AEC62C5DB56}"/>
              </a:ext>
            </a:extLst>
          </p:cNvPr>
          <p:cNvSpPr txBox="1"/>
          <p:nvPr/>
        </p:nvSpPr>
        <p:spPr>
          <a:xfrm>
            <a:off x="829282" y="1357168"/>
            <a:ext cx="6094378" cy="369332"/>
          </a:xfrm>
          <a:prstGeom prst="rect">
            <a:avLst/>
          </a:prstGeom>
          <a:noFill/>
        </p:spPr>
        <p:txBody>
          <a:bodyPr wrap="square">
            <a:spAutoFit/>
          </a:bodyPr>
          <a:lstStyle/>
          <a:p>
            <a:r>
              <a:rPr lang="en-US" dirty="0">
                <a:highlight>
                  <a:srgbClr val="FFFF00"/>
                </a:highlight>
              </a:rPr>
              <a:t>Logical Versus Physical Address Space</a:t>
            </a:r>
            <a:endParaRPr lang="en-IN" dirty="0">
              <a:highlight>
                <a:srgbClr val="FFFF00"/>
              </a:highlight>
            </a:endParaRPr>
          </a:p>
        </p:txBody>
      </p:sp>
      <p:sp>
        <p:nvSpPr>
          <p:cNvPr id="4" name="TextBox 3">
            <a:extLst>
              <a:ext uri="{FF2B5EF4-FFF2-40B4-BE49-F238E27FC236}">
                <a16:creationId xmlns:a16="http://schemas.microsoft.com/office/drawing/2014/main" id="{8C791259-8187-5C83-8027-5161FDCD1E0B}"/>
              </a:ext>
            </a:extLst>
          </p:cNvPr>
          <p:cNvSpPr txBox="1"/>
          <p:nvPr/>
        </p:nvSpPr>
        <p:spPr>
          <a:xfrm>
            <a:off x="897376" y="2121404"/>
            <a:ext cx="10299160" cy="3359061"/>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The compile-time and load-time address-binding methods generate identical logical and physical addresses.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However, the execution-time address binding scheme results in differing logical and physical addresses.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In this case, we usually refer to the logical address as a </a:t>
            </a:r>
            <a:r>
              <a:rPr lang="en-US" sz="2400" b="1" i="0" u="none" strike="noStrike" baseline="0" dirty="0">
                <a:solidFill>
                  <a:srgbClr val="00AEF0"/>
                </a:solidFill>
              </a:rPr>
              <a:t>virtual address</a:t>
            </a:r>
            <a:r>
              <a:rPr lang="en-US" sz="2400" b="0" i="0" u="none" strike="noStrike" baseline="0" dirty="0">
                <a:solidFill>
                  <a:srgbClr val="231F20"/>
                </a:solidFill>
              </a:rPr>
              <a:t>. </a:t>
            </a:r>
          </a:p>
          <a:p>
            <a:pPr algn="just">
              <a:lnSpc>
                <a:spcPct val="150000"/>
              </a:lnSpc>
            </a:pPr>
            <a:r>
              <a:rPr lang="en-US" sz="2400" b="0" i="0" u="none" strike="noStrike" baseline="0" dirty="0">
                <a:solidFill>
                  <a:srgbClr val="231F20"/>
                </a:solidFill>
              </a:rPr>
              <a:t>We use </a:t>
            </a:r>
            <a:r>
              <a:rPr lang="en-US" sz="2400" b="1" i="1" u="none" strike="noStrike" baseline="0" dirty="0">
                <a:solidFill>
                  <a:srgbClr val="231F20"/>
                </a:solidFill>
              </a:rPr>
              <a:t>logical address </a:t>
            </a:r>
            <a:r>
              <a:rPr lang="en-US" sz="2400" b="0" i="0" u="none" strike="noStrike" baseline="0" dirty="0">
                <a:solidFill>
                  <a:srgbClr val="231F20"/>
                </a:solidFill>
              </a:rPr>
              <a:t>and </a:t>
            </a:r>
            <a:r>
              <a:rPr lang="en-US" sz="2400" b="1" i="1" u="none" strike="noStrike" baseline="0" dirty="0">
                <a:solidFill>
                  <a:srgbClr val="231F20"/>
                </a:solidFill>
              </a:rPr>
              <a:t>virtual address </a:t>
            </a:r>
            <a:r>
              <a:rPr lang="en-US" sz="2400" b="0" i="0" u="none" strike="noStrike" baseline="0" dirty="0">
                <a:solidFill>
                  <a:srgbClr val="231F20"/>
                </a:solidFill>
              </a:rPr>
              <a:t>interchangeably</a:t>
            </a:r>
            <a:endParaRPr lang="en-IN" sz="2400" dirty="0"/>
          </a:p>
        </p:txBody>
      </p:sp>
    </p:spTree>
    <p:extLst>
      <p:ext uri="{BB962C8B-B14F-4D97-AF65-F5344CB8AC3E}">
        <p14:creationId xmlns:p14="http://schemas.microsoft.com/office/powerpoint/2010/main" val="331771623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6" name="TextBox 5">
            <a:extLst>
              <a:ext uri="{FF2B5EF4-FFF2-40B4-BE49-F238E27FC236}">
                <a16:creationId xmlns:a16="http://schemas.microsoft.com/office/drawing/2014/main" id="{C09DC910-0479-BB03-D911-0AEC62C5DB56}"/>
              </a:ext>
            </a:extLst>
          </p:cNvPr>
          <p:cNvSpPr txBox="1"/>
          <p:nvPr/>
        </p:nvSpPr>
        <p:spPr>
          <a:xfrm>
            <a:off x="829282" y="1357168"/>
            <a:ext cx="6094378" cy="369332"/>
          </a:xfrm>
          <a:prstGeom prst="rect">
            <a:avLst/>
          </a:prstGeom>
          <a:noFill/>
        </p:spPr>
        <p:txBody>
          <a:bodyPr wrap="square">
            <a:spAutoFit/>
          </a:bodyPr>
          <a:lstStyle/>
          <a:p>
            <a:r>
              <a:rPr lang="en-US" dirty="0">
                <a:highlight>
                  <a:srgbClr val="FFFF00"/>
                </a:highlight>
              </a:rPr>
              <a:t>Logical Versus Physical Address Space</a:t>
            </a:r>
            <a:endParaRPr lang="en-IN" dirty="0">
              <a:highlight>
                <a:srgbClr val="FFFF00"/>
              </a:highlight>
            </a:endParaRPr>
          </a:p>
        </p:txBody>
      </p:sp>
      <p:pic>
        <p:nvPicPr>
          <p:cNvPr id="5" name="Picture 4">
            <a:extLst>
              <a:ext uri="{FF2B5EF4-FFF2-40B4-BE49-F238E27FC236}">
                <a16:creationId xmlns:a16="http://schemas.microsoft.com/office/drawing/2014/main" id="{1AEC40C0-A5A3-0B43-BA57-F77985BB86CF}"/>
              </a:ext>
            </a:extLst>
          </p:cNvPr>
          <p:cNvPicPr>
            <a:picLocks noChangeAspect="1"/>
          </p:cNvPicPr>
          <p:nvPr/>
        </p:nvPicPr>
        <p:blipFill rotWithShape="1">
          <a:blip r:embed="rId3"/>
          <a:srcRect l="14263" r="6568"/>
          <a:stretch/>
        </p:blipFill>
        <p:spPr>
          <a:xfrm>
            <a:off x="5817141" y="1700057"/>
            <a:ext cx="5437761" cy="4443682"/>
          </a:xfrm>
          <a:prstGeom prst="rect">
            <a:avLst/>
          </a:prstGeom>
        </p:spPr>
      </p:pic>
      <p:sp>
        <p:nvSpPr>
          <p:cNvPr id="8" name="TextBox 7">
            <a:extLst>
              <a:ext uri="{FF2B5EF4-FFF2-40B4-BE49-F238E27FC236}">
                <a16:creationId xmlns:a16="http://schemas.microsoft.com/office/drawing/2014/main" id="{C99A272A-AA14-B023-5B1E-45ABE2486666}"/>
              </a:ext>
            </a:extLst>
          </p:cNvPr>
          <p:cNvSpPr txBox="1"/>
          <p:nvPr/>
        </p:nvSpPr>
        <p:spPr>
          <a:xfrm>
            <a:off x="829282" y="2228671"/>
            <a:ext cx="4867503" cy="1711815"/>
          </a:xfrm>
          <a:prstGeom prst="rect">
            <a:avLst/>
          </a:prstGeom>
          <a:noFill/>
        </p:spPr>
        <p:txBody>
          <a:bodyPr wrap="square">
            <a:spAutoFit/>
          </a:bodyPr>
          <a:lstStyle/>
          <a:p>
            <a:pPr algn="just">
              <a:lnSpc>
                <a:spcPct val="150000"/>
              </a:lnSpc>
            </a:pPr>
            <a:r>
              <a:rPr lang="en-US" sz="1800" b="0" i="0" u="none" strike="noStrike" baseline="0" dirty="0">
                <a:solidFill>
                  <a:srgbClr val="231F20"/>
                </a:solidFill>
                <a:latin typeface="Palatino-Roman"/>
              </a:rPr>
              <a:t>The run-time mapping from virtual to physical addresses is done by a hardware device called the </a:t>
            </a:r>
            <a:r>
              <a:rPr lang="en-US" sz="1800" b="1" i="0" u="none" strike="noStrike" baseline="0" dirty="0">
                <a:solidFill>
                  <a:srgbClr val="00AEF0"/>
                </a:solidFill>
                <a:latin typeface="Palatino-Bold"/>
              </a:rPr>
              <a:t>memory-management unit </a:t>
            </a:r>
            <a:r>
              <a:rPr lang="en-US" sz="1800" b="1" i="0" u="none" strike="noStrike" baseline="0" dirty="0">
                <a:solidFill>
                  <a:srgbClr val="231F20"/>
                </a:solidFill>
                <a:latin typeface="Palatino-Bold"/>
              </a:rPr>
              <a:t>(</a:t>
            </a:r>
            <a:r>
              <a:rPr lang="en-US" sz="1600" b="1" i="0" u="none" strike="noStrike" baseline="0" dirty="0">
                <a:solidFill>
                  <a:srgbClr val="00AEF0"/>
                </a:solidFill>
                <a:latin typeface="Palatino-Bold"/>
              </a:rPr>
              <a:t>MMU</a:t>
            </a:r>
            <a:r>
              <a:rPr lang="en-US" sz="1800" b="1" i="0" u="none" strike="noStrike" baseline="0" dirty="0">
                <a:solidFill>
                  <a:srgbClr val="231F20"/>
                </a:solidFill>
                <a:latin typeface="Palatino-Bold"/>
              </a:rPr>
              <a:t>)</a:t>
            </a:r>
            <a:r>
              <a:rPr lang="en-US" sz="1800" b="0" i="0" u="none" strike="noStrike" baseline="0" dirty="0">
                <a:solidFill>
                  <a:srgbClr val="231F20"/>
                </a:solidFill>
                <a:latin typeface="Palatino-Roman"/>
              </a:rPr>
              <a:t>.</a:t>
            </a:r>
            <a:endParaRPr lang="en-IN" dirty="0"/>
          </a:p>
        </p:txBody>
      </p:sp>
    </p:spTree>
    <p:extLst>
      <p:ext uri="{BB962C8B-B14F-4D97-AF65-F5344CB8AC3E}">
        <p14:creationId xmlns:p14="http://schemas.microsoft.com/office/powerpoint/2010/main" val="291750003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6" name="TextBox 5">
            <a:extLst>
              <a:ext uri="{FF2B5EF4-FFF2-40B4-BE49-F238E27FC236}">
                <a16:creationId xmlns:a16="http://schemas.microsoft.com/office/drawing/2014/main" id="{C09DC910-0479-BB03-D911-0AEC62C5DB56}"/>
              </a:ext>
            </a:extLst>
          </p:cNvPr>
          <p:cNvSpPr txBox="1"/>
          <p:nvPr/>
        </p:nvSpPr>
        <p:spPr>
          <a:xfrm>
            <a:off x="829282" y="1357168"/>
            <a:ext cx="6094378" cy="369332"/>
          </a:xfrm>
          <a:prstGeom prst="rect">
            <a:avLst/>
          </a:prstGeom>
          <a:noFill/>
        </p:spPr>
        <p:txBody>
          <a:bodyPr wrap="square">
            <a:spAutoFit/>
          </a:bodyPr>
          <a:lstStyle/>
          <a:p>
            <a:r>
              <a:rPr lang="en-US" dirty="0">
                <a:highlight>
                  <a:srgbClr val="00FFFF"/>
                </a:highlight>
              </a:rPr>
              <a:t>Swapping</a:t>
            </a:r>
            <a:endParaRPr lang="en-IN" dirty="0">
              <a:highlight>
                <a:srgbClr val="00FFFF"/>
              </a:highlight>
            </a:endParaRPr>
          </a:p>
        </p:txBody>
      </p:sp>
      <p:sp>
        <p:nvSpPr>
          <p:cNvPr id="4" name="TextBox 3">
            <a:extLst>
              <a:ext uri="{FF2B5EF4-FFF2-40B4-BE49-F238E27FC236}">
                <a16:creationId xmlns:a16="http://schemas.microsoft.com/office/drawing/2014/main" id="{A1DF597D-CD1D-646A-8E51-D9E4A84F01DD}"/>
              </a:ext>
            </a:extLst>
          </p:cNvPr>
          <p:cNvSpPr txBox="1"/>
          <p:nvPr/>
        </p:nvSpPr>
        <p:spPr>
          <a:xfrm>
            <a:off x="901000" y="1887167"/>
            <a:ext cx="10474258" cy="3359061"/>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A process must be in memory to be executed.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A process, however, can be </a:t>
            </a:r>
            <a:r>
              <a:rPr lang="en-US" sz="2400" b="1" i="0" u="none" strike="noStrike" baseline="0" dirty="0">
                <a:solidFill>
                  <a:srgbClr val="00AEF0"/>
                </a:solidFill>
              </a:rPr>
              <a:t>swapped </a:t>
            </a:r>
            <a:r>
              <a:rPr lang="en-US" sz="2400" b="0" i="0" u="none" strike="noStrike" baseline="0" dirty="0">
                <a:solidFill>
                  <a:srgbClr val="231F20"/>
                </a:solidFill>
              </a:rPr>
              <a:t>temporarily out of memory to a </a:t>
            </a:r>
            <a:r>
              <a:rPr lang="en-US" sz="2400" b="1" i="0" u="none" strike="noStrike" baseline="0" dirty="0">
                <a:solidFill>
                  <a:srgbClr val="00AEF0"/>
                </a:solidFill>
              </a:rPr>
              <a:t>backing store </a:t>
            </a:r>
            <a:r>
              <a:rPr lang="en-US" sz="2400" b="0" i="0" u="none" strike="noStrike" baseline="0" dirty="0">
                <a:solidFill>
                  <a:srgbClr val="231F20"/>
                </a:solidFill>
              </a:rPr>
              <a:t>and then brought back into memory for continued execution.</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Swapping makes it possible for the total physical address space of all processes to exceed the real physical memory of the system, thus increasing the degree of multiprogramming in a </a:t>
            </a:r>
            <a:r>
              <a:rPr lang="en-IN" sz="2400" b="0" i="0" u="none" strike="noStrike" baseline="0" dirty="0">
                <a:solidFill>
                  <a:srgbClr val="231F20"/>
                </a:solidFill>
              </a:rPr>
              <a:t>system.</a:t>
            </a:r>
            <a:endParaRPr lang="en-IN" sz="2400" dirty="0"/>
          </a:p>
        </p:txBody>
      </p:sp>
    </p:spTree>
    <p:extLst>
      <p:ext uri="{BB962C8B-B14F-4D97-AF65-F5344CB8AC3E}">
        <p14:creationId xmlns:p14="http://schemas.microsoft.com/office/powerpoint/2010/main" val="126410697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6" name="TextBox 5">
            <a:extLst>
              <a:ext uri="{FF2B5EF4-FFF2-40B4-BE49-F238E27FC236}">
                <a16:creationId xmlns:a16="http://schemas.microsoft.com/office/drawing/2014/main" id="{C09DC910-0479-BB03-D911-0AEC62C5DB56}"/>
              </a:ext>
            </a:extLst>
          </p:cNvPr>
          <p:cNvSpPr txBox="1"/>
          <p:nvPr/>
        </p:nvSpPr>
        <p:spPr>
          <a:xfrm>
            <a:off x="829282" y="1357168"/>
            <a:ext cx="6094378" cy="369332"/>
          </a:xfrm>
          <a:prstGeom prst="rect">
            <a:avLst/>
          </a:prstGeom>
          <a:noFill/>
        </p:spPr>
        <p:txBody>
          <a:bodyPr wrap="square">
            <a:spAutoFit/>
          </a:bodyPr>
          <a:lstStyle/>
          <a:p>
            <a:r>
              <a:rPr lang="en-US" dirty="0">
                <a:highlight>
                  <a:srgbClr val="00FFFF"/>
                </a:highlight>
              </a:rPr>
              <a:t>Swapping</a:t>
            </a:r>
            <a:endParaRPr lang="en-IN" dirty="0">
              <a:highlight>
                <a:srgbClr val="00FFFF"/>
              </a:highlight>
            </a:endParaRPr>
          </a:p>
        </p:txBody>
      </p:sp>
      <p:sp>
        <p:nvSpPr>
          <p:cNvPr id="5" name="TextBox 4">
            <a:extLst>
              <a:ext uri="{FF2B5EF4-FFF2-40B4-BE49-F238E27FC236}">
                <a16:creationId xmlns:a16="http://schemas.microsoft.com/office/drawing/2014/main" id="{6F1DF213-CB67-45ED-DF2A-9DD1997D66CA}"/>
              </a:ext>
            </a:extLst>
          </p:cNvPr>
          <p:cNvSpPr txBox="1"/>
          <p:nvPr/>
        </p:nvSpPr>
        <p:spPr>
          <a:xfrm>
            <a:off x="829282" y="2067287"/>
            <a:ext cx="6094378" cy="2031325"/>
          </a:xfrm>
          <a:prstGeom prst="rect">
            <a:avLst/>
          </a:prstGeom>
          <a:noFill/>
        </p:spPr>
        <p:txBody>
          <a:bodyPr wrap="square">
            <a:spAutoFit/>
          </a:bodyPr>
          <a:lstStyle/>
          <a:p>
            <a:pPr>
              <a:lnSpc>
                <a:spcPct val="150000"/>
              </a:lnSpc>
            </a:pPr>
            <a:r>
              <a:rPr lang="en-IN" sz="2400" b="0" i="0" u="none" strike="noStrike" baseline="0" dirty="0">
                <a:solidFill>
                  <a:srgbClr val="231F20"/>
                </a:solidFill>
              </a:rPr>
              <a:t>Swapping can be of 2 types:</a:t>
            </a:r>
          </a:p>
          <a:p>
            <a:pPr marL="342900" indent="-342900">
              <a:lnSpc>
                <a:spcPct val="150000"/>
              </a:lnSpc>
              <a:buAutoNum type="arabicPeriod"/>
            </a:pPr>
            <a:r>
              <a:rPr lang="en-IN" sz="2400" dirty="0">
                <a:solidFill>
                  <a:srgbClr val="231F20"/>
                </a:solidFill>
              </a:rPr>
              <a:t>Standard Swapping</a:t>
            </a:r>
          </a:p>
          <a:p>
            <a:pPr marL="342900" indent="-342900">
              <a:lnSpc>
                <a:spcPct val="150000"/>
              </a:lnSpc>
              <a:buAutoNum type="arabicPeriod"/>
            </a:pPr>
            <a:r>
              <a:rPr lang="en-IN" sz="2400" b="0" i="0" u="none" strike="noStrike" baseline="0" dirty="0">
                <a:solidFill>
                  <a:srgbClr val="231F20"/>
                </a:solidFill>
              </a:rPr>
              <a:t>Mobile Swapping</a:t>
            </a:r>
          </a:p>
          <a:p>
            <a:endParaRPr lang="en-IN" dirty="0"/>
          </a:p>
        </p:txBody>
      </p:sp>
    </p:spTree>
    <p:extLst>
      <p:ext uri="{BB962C8B-B14F-4D97-AF65-F5344CB8AC3E}">
        <p14:creationId xmlns:p14="http://schemas.microsoft.com/office/powerpoint/2010/main" val="195249712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6" name="TextBox 5">
            <a:extLst>
              <a:ext uri="{FF2B5EF4-FFF2-40B4-BE49-F238E27FC236}">
                <a16:creationId xmlns:a16="http://schemas.microsoft.com/office/drawing/2014/main" id="{C09DC910-0479-BB03-D911-0AEC62C5DB56}"/>
              </a:ext>
            </a:extLst>
          </p:cNvPr>
          <p:cNvSpPr txBox="1"/>
          <p:nvPr/>
        </p:nvSpPr>
        <p:spPr>
          <a:xfrm>
            <a:off x="829282" y="1357168"/>
            <a:ext cx="6094378" cy="646331"/>
          </a:xfrm>
          <a:prstGeom prst="rect">
            <a:avLst/>
          </a:prstGeom>
          <a:noFill/>
        </p:spPr>
        <p:txBody>
          <a:bodyPr wrap="square">
            <a:spAutoFit/>
          </a:bodyPr>
          <a:lstStyle/>
          <a:p>
            <a:r>
              <a:rPr lang="en-US" dirty="0">
                <a:highlight>
                  <a:srgbClr val="00FFFF"/>
                </a:highlight>
              </a:rPr>
              <a:t>Swapping - </a:t>
            </a:r>
            <a:r>
              <a:rPr lang="en-IN" sz="1800" dirty="0">
                <a:solidFill>
                  <a:srgbClr val="231F20"/>
                </a:solidFill>
                <a:highlight>
                  <a:srgbClr val="FFFF00"/>
                </a:highlight>
              </a:rPr>
              <a:t>Standard Swapping</a:t>
            </a:r>
          </a:p>
          <a:p>
            <a:endParaRPr lang="en-IN" dirty="0">
              <a:highlight>
                <a:srgbClr val="00FFFF"/>
              </a:highlight>
            </a:endParaRPr>
          </a:p>
        </p:txBody>
      </p:sp>
      <p:pic>
        <p:nvPicPr>
          <p:cNvPr id="2" name="Picture 2">
            <a:extLst>
              <a:ext uri="{FF2B5EF4-FFF2-40B4-BE49-F238E27FC236}">
                <a16:creationId xmlns:a16="http://schemas.microsoft.com/office/drawing/2014/main" id="{EC4A8EEF-6824-17ED-4106-56BEE9A234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1152" y="1298884"/>
            <a:ext cx="6495710" cy="4562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a:extLst>
              <a:ext uri="{FF2B5EF4-FFF2-40B4-BE49-F238E27FC236}">
                <a16:creationId xmlns:a16="http://schemas.microsoft.com/office/drawing/2014/main" id="{AD16CDC4-3034-9F7C-FD95-1119DB047004}"/>
              </a:ext>
            </a:extLst>
          </p:cNvPr>
          <p:cNvSpPr txBox="1"/>
          <p:nvPr/>
        </p:nvSpPr>
        <p:spPr>
          <a:xfrm>
            <a:off x="605546" y="2235459"/>
            <a:ext cx="5490454" cy="1697068"/>
          </a:xfrm>
          <a:prstGeom prst="rect">
            <a:avLst/>
          </a:prstGeom>
          <a:noFill/>
        </p:spPr>
        <p:txBody>
          <a:bodyPr wrap="square">
            <a:spAutoFit/>
          </a:bodyPr>
          <a:lstStyle/>
          <a:p>
            <a:pPr algn="just">
              <a:lnSpc>
                <a:spcPct val="150000"/>
              </a:lnSpc>
            </a:pPr>
            <a:r>
              <a:rPr lang="en-US" sz="2400" b="0" i="0" u="none" strike="noStrike" baseline="0" dirty="0">
                <a:solidFill>
                  <a:srgbClr val="231F20"/>
                </a:solidFill>
              </a:rPr>
              <a:t>Standard swapping involves moving processes between main memory and </a:t>
            </a:r>
            <a:r>
              <a:rPr lang="en-IN" sz="2400" b="0" i="0" u="none" strike="noStrike" baseline="0" dirty="0">
                <a:solidFill>
                  <a:srgbClr val="231F20"/>
                </a:solidFill>
              </a:rPr>
              <a:t>a backing store.</a:t>
            </a:r>
            <a:endParaRPr lang="en-IN" sz="2400" dirty="0"/>
          </a:p>
        </p:txBody>
      </p:sp>
    </p:spTree>
    <p:extLst>
      <p:ext uri="{BB962C8B-B14F-4D97-AF65-F5344CB8AC3E}">
        <p14:creationId xmlns:p14="http://schemas.microsoft.com/office/powerpoint/2010/main" val="92681343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6" name="TextBox 5">
            <a:extLst>
              <a:ext uri="{FF2B5EF4-FFF2-40B4-BE49-F238E27FC236}">
                <a16:creationId xmlns:a16="http://schemas.microsoft.com/office/drawing/2014/main" id="{C09DC910-0479-BB03-D911-0AEC62C5DB56}"/>
              </a:ext>
            </a:extLst>
          </p:cNvPr>
          <p:cNvSpPr txBox="1"/>
          <p:nvPr/>
        </p:nvSpPr>
        <p:spPr>
          <a:xfrm>
            <a:off x="829282" y="1357168"/>
            <a:ext cx="6094378" cy="646331"/>
          </a:xfrm>
          <a:prstGeom prst="rect">
            <a:avLst/>
          </a:prstGeom>
          <a:noFill/>
        </p:spPr>
        <p:txBody>
          <a:bodyPr wrap="square">
            <a:spAutoFit/>
          </a:bodyPr>
          <a:lstStyle/>
          <a:p>
            <a:r>
              <a:rPr lang="en-US" dirty="0">
                <a:highlight>
                  <a:srgbClr val="00FFFF"/>
                </a:highlight>
              </a:rPr>
              <a:t>Swapping - </a:t>
            </a:r>
            <a:r>
              <a:rPr lang="en-IN" sz="1800" dirty="0">
                <a:solidFill>
                  <a:srgbClr val="231F20"/>
                </a:solidFill>
                <a:highlight>
                  <a:srgbClr val="FFFF00"/>
                </a:highlight>
              </a:rPr>
              <a:t>Standard Swapping</a:t>
            </a:r>
          </a:p>
          <a:p>
            <a:endParaRPr lang="en-IN" dirty="0">
              <a:highlight>
                <a:srgbClr val="00FFFF"/>
              </a:highlight>
            </a:endParaRPr>
          </a:p>
        </p:txBody>
      </p:sp>
      <p:sp>
        <p:nvSpPr>
          <p:cNvPr id="5" name="TextBox 4">
            <a:extLst>
              <a:ext uri="{FF2B5EF4-FFF2-40B4-BE49-F238E27FC236}">
                <a16:creationId xmlns:a16="http://schemas.microsoft.com/office/drawing/2014/main" id="{6870094C-8AB5-5535-C061-B92FFF561AEC}"/>
              </a:ext>
            </a:extLst>
          </p:cNvPr>
          <p:cNvSpPr txBox="1"/>
          <p:nvPr/>
        </p:nvSpPr>
        <p:spPr>
          <a:xfrm>
            <a:off x="829281" y="1871858"/>
            <a:ext cx="10668813" cy="3913059"/>
          </a:xfrm>
          <a:prstGeom prst="rect">
            <a:avLst/>
          </a:prstGeom>
          <a:noFill/>
        </p:spPr>
        <p:txBody>
          <a:bodyPr wrap="square">
            <a:spAutoFit/>
          </a:bodyPr>
          <a:lstStyle/>
          <a:p>
            <a:pPr marL="342900" indent="-342900" algn="l">
              <a:lnSpc>
                <a:spcPct val="150000"/>
              </a:lnSpc>
              <a:buFont typeface="Arial" panose="020B0604020202020204" pitchFamily="34" charset="0"/>
              <a:buChar char="•"/>
            </a:pPr>
            <a:r>
              <a:rPr lang="en-US" sz="2400" b="0" i="0" u="none" strike="noStrike" baseline="0" dirty="0">
                <a:solidFill>
                  <a:srgbClr val="231F20"/>
                </a:solidFill>
              </a:rPr>
              <a:t>The system maintains a </a:t>
            </a:r>
            <a:r>
              <a:rPr lang="en-US" sz="2400" b="1" i="0" u="none" strike="noStrike" baseline="0" dirty="0">
                <a:solidFill>
                  <a:srgbClr val="00AEF0"/>
                </a:solidFill>
              </a:rPr>
              <a:t>ready queue </a:t>
            </a:r>
            <a:r>
              <a:rPr lang="en-US" sz="2400" b="0" i="0" u="none" strike="noStrike" baseline="0" dirty="0">
                <a:solidFill>
                  <a:srgbClr val="231F20"/>
                </a:solidFill>
              </a:rPr>
              <a:t>consisting of all processes whose memory images are on the backing store or in memory and are ready to run. </a:t>
            </a:r>
          </a:p>
          <a:p>
            <a:pPr marL="342900" indent="-342900" algn="l">
              <a:lnSpc>
                <a:spcPct val="150000"/>
              </a:lnSpc>
              <a:buFont typeface="Arial" panose="020B0604020202020204" pitchFamily="34" charset="0"/>
              <a:buChar char="•"/>
            </a:pPr>
            <a:r>
              <a:rPr lang="en-US" sz="2400" b="0" i="0" u="none" strike="noStrike" baseline="0" dirty="0">
                <a:solidFill>
                  <a:srgbClr val="231F20"/>
                </a:solidFill>
              </a:rPr>
              <a:t>Whenever the CPU scheduler decides to execute a process, it calls the dispatcher.</a:t>
            </a:r>
          </a:p>
          <a:p>
            <a:pPr marL="342900" indent="-342900" algn="l">
              <a:lnSpc>
                <a:spcPct val="150000"/>
              </a:lnSpc>
              <a:buFont typeface="Arial" panose="020B0604020202020204" pitchFamily="34" charset="0"/>
              <a:buChar char="•"/>
            </a:pPr>
            <a:r>
              <a:rPr lang="en-US" sz="2400" b="0" i="0" u="none" strike="noStrike" baseline="0" dirty="0">
                <a:solidFill>
                  <a:srgbClr val="231F20"/>
                </a:solidFill>
              </a:rPr>
              <a:t>The dispatcher checks to see whether the next process in the queue is in memory.</a:t>
            </a:r>
          </a:p>
          <a:p>
            <a:pPr marL="342900" indent="-342900" algn="l">
              <a:lnSpc>
                <a:spcPct val="150000"/>
              </a:lnSpc>
              <a:buFont typeface="Arial" panose="020B0604020202020204" pitchFamily="34" charset="0"/>
              <a:buChar char="•"/>
            </a:pPr>
            <a:r>
              <a:rPr lang="en-US" sz="2400" b="0" i="0" u="none" strike="noStrike" baseline="0" dirty="0">
                <a:solidFill>
                  <a:srgbClr val="231F20"/>
                </a:solidFill>
              </a:rPr>
              <a:t> If it is not, and if there is no free memory region, the dispatcher swaps out a  process currently in memory and swaps in the desired process. </a:t>
            </a:r>
          </a:p>
          <a:p>
            <a:pPr marL="342900" indent="-342900" algn="l">
              <a:lnSpc>
                <a:spcPct val="150000"/>
              </a:lnSpc>
              <a:buFont typeface="Arial" panose="020B0604020202020204" pitchFamily="34" charset="0"/>
              <a:buChar char="•"/>
            </a:pPr>
            <a:r>
              <a:rPr lang="en-US" sz="2400" b="0" i="0" u="none" strike="noStrike" baseline="0" dirty="0">
                <a:solidFill>
                  <a:srgbClr val="231F20"/>
                </a:solidFill>
              </a:rPr>
              <a:t>It then reloads registers and transfers control to </a:t>
            </a:r>
            <a:r>
              <a:rPr lang="en-IN" sz="2400" b="0" i="0" u="none" strike="noStrike" baseline="0" dirty="0">
                <a:solidFill>
                  <a:srgbClr val="231F20"/>
                </a:solidFill>
              </a:rPr>
              <a:t>the selected process.</a:t>
            </a:r>
            <a:endParaRPr lang="en-IN" sz="2400" dirty="0"/>
          </a:p>
        </p:txBody>
      </p:sp>
    </p:spTree>
    <p:extLst>
      <p:ext uri="{BB962C8B-B14F-4D97-AF65-F5344CB8AC3E}">
        <p14:creationId xmlns:p14="http://schemas.microsoft.com/office/powerpoint/2010/main" val="210534159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6" name="TextBox 5">
            <a:extLst>
              <a:ext uri="{FF2B5EF4-FFF2-40B4-BE49-F238E27FC236}">
                <a16:creationId xmlns:a16="http://schemas.microsoft.com/office/drawing/2014/main" id="{C09DC910-0479-BB03-D911-0AEC62C5DB56}"/>
              </a:ext>
            </a:extLst>
          </p:cNvPr>
          <p:cNvSpPr txBox="1"/>
          <p:nvPr/>
        </p:nvSpPr>
        <p:spPr>
          <a:xfrm>
            <a:off x="829282" y="1357168"/>
            <a:ext cx="6094378" cy="646331"/>
          </a:xfrm>
          <a:prstGeom prst="rect">
            <a:avLst/>
          </a:prstGeom>
          <a:noFill/>
        </p:spPr>
        <p:txBody>
          <a:bodyPr wrap="square">
            <a:spAutoFit/>
          </a:bodyPr>
          <a:lstStyle/>
          <a:p>
            <a:r>
              <a:rPr lang="en-US" dirty="0">
                <a:highlight>
                  <a:srgbClr val="00FFFF"/>
                </a:highlight>
              </a:rPr>
              <a:t>Swapping - </a:t>
            </a:r>
            <a:r>
              <a:rPr lang="en-IN" sz="1800" dirty="0">
                <a:solidFill>
                  <a:srgbClr val="231F20"/>
                </a:solidFill>
                <a:highlight>
                  <a:srgbClr val="FFFF00"/>
                </a:highlight>
              </a:rPr>
              <a:t>Standard Swapping</a:t>
            </a:r>
          </a:p>
          <a:p>
            <a:endParaRPr lang="en-IN" dirty="0">
              <a:highlight>
                <a:srgbClr val="00FFFF"/>
              </a:highlight>
            </a:endParaRPr>
          </a:p>
        </p:txBody>
      </p:sp>
      <p:sp>
        <p:nvSpPr>
          <p:cNvPr id="2" name="TextBox 1">
            <a:extLst>
              <a:ext uri="{FF2B5EF4-FFF2-40B4-BE49-F238E27FC236}">
                <a16:creationId xmlns:a16="http://schemas.microsoft.com/office/drawing/2014/main" id="{76C3F91A-A9F3-B390-6508-12DBC6249F44}"/>
              </a:ext>
            </a:extLst>
          </p:cNvPr>
          <p:cNvSpPr txBox="1"/>
          <p:nvPr/>
        </p:nvSpPr>
        <p:spPr>
          <a:xfrm>
            <a:off x="2613888" y="2772383"/>
            <a:ext cx="7145739" cy="523220"/>
          </a:xfrm>
          <a:prstGeom prst="rect">
            <a:avLst/>
          </a:prstGeom>
          <a:noFill/>
        </p:spPr>
        <p:txBody>
          <a:bodyPr wrap="none" rtlCol="0">
            <a:spAutoFit/>
          </a:bodyPr>
          <a:lstStyle/>
          <a:p>
            <a:r>
              <a:rPr lang="en-IN" sz="2800" dirty="0"/>
              <a:t>Context Switch time for Swapping – </a:t>
            </a:r>
            <a:r>
              <a:rPr lang="en-IN" sz="2800" dirty="0">
                <a:highlight>
                  <a:srgbClr val="C0C0C0"/>
                </a:highlight>
              </a:rPr>
              <a:t>Go Through</a:t>
            </a:r>
          </a:p>
        </p:txBody>
      </p:sp>
    </p:spTree>
    <p:extLst>
      <p:ext uri="{BB962C8B-B14F-4D97-AF65-F5344CB8AC3E}">
        <p14:creationId xmlns:p14="http://schemas.microsoft.com/office/powerpoint/2010/main" val="1277003061"/>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6" name="TextBox 5">
            <a:extLst>
              <a:ext uri="{FF2B5EF4-FFF2-40B4-BE49-F238E27FC236}">
                <a16:creationId xmlns:a16="http://schemas.microsoft.com/office/drawing/2014/main" id="{C09DC910-0479-BB03-D911-0AEC62C5DB56}"/>
              </a:ext>
            </a:extLst>
          </p:cNvPr>
          <p:cNvSpPr txBox="1"/>
          <p:nvPr/>
        </p:nvSpPr>
        <p:spPr>
          <a:xfrm>
            <a:off x="829282" y="1357168"/>
            <a:ext cx="6094378" cy="646331"/>
          </a:xfrm>
          <a:prstGeom prst="rect">
            <a:avLst/>
          </a:prstGeom>
          <a:noFill/>
        </p:spPr>
        <p:txBody>
          <a:bodyPr wrap="square">
            <a:spAutoFit/>
          </a:bodyPr>
          <a:lstStyle/>
          <a:p>
            <a:r>
              <a:rPr lang="en-US" dirty="0">
                <a:highlight>
                  <a:srgbClr val="00FFFF"/>
                </a:highlight>
              </a:rPr>
              <a:t>Swapping – </a:t>
            </a:r>
            <a:r>
              <a:rPr lang="en-IN" sz="1800" dirty="0">
                <a:solidFill>
                  <a:srgbClr val="231F20"/>
                </a:solidFill>
                <a:highlight>
                  <a:srgbClr val="FFFF00"/>
                </a:highlight>
              </a:rPr>
              <a:t>Mobile Systems</a:t>
            </a:r>
          </a:p>
          <a:p>
            <a:endParaRPr lang="en-IN" dirty="0">
              <a:highlight>
                <a:srgbClr val="00FFFF"/>
              </a:highlight>
            </a:endParaRPr>
          </a:p>
        </p:txBody>
      </p:sp>
      <p:sp>
        <p:nvSpPr>
          <p:cNvPr id="5" name="TextBox 4">
            <a:extLst>
              <a:ext uri="{FF2B5EF4-FFF2-40B4-BE49-F238E27FC236}">
                <a16:creationId xmlns:a16="http://schemas.microsoft.com/office/drawing/2014/main" id="{630008A3-098C-AD55-ED7E-422DB8983917}"/>
              </a:ext>
            </a:extLst>
          </p:cNvPr>
          <p:cNvSpPr txBox="1"/>
          <p:nvPr/>
        </p:nvSpPr>
        <p:spPr>
          <a:xfrm>
            <a:off x="829282" y="2252050"/>
            <a:ext cx="10756361" cy="391305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solidFill>
                  <a:srgbClr val="231F20"/>
                </a:solidFill>
              </a:rPr>
              <a:t>M</a:t>
            </a:r>
            <a:r>
              <a:rPr lang="en-US" sz="2400" b="0" i="0" u="none" strike="noStrike" baseline="0" dirty="0">
                <a:solidFill>
                  <a:srgbClr val="231F20"/>
                </a:solidFill>
              </a:rPr>
              <a:t>obile systems typically do not support swapping in any form.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Mobile devices generally use flash memory rather than more spacious hard disks as their persistent storage.</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Instead of using swapping, when free memory falls below a certain threshold, Apple’s iOS </a:t>
            </a:r>
            <a:r>
              <a:rPr lang="en-US" sz="2400" b="1" i="1" u="none" strike="noStrike" baseline="0" dirty="0">
                <a:solidFill>
                  <a:srgbClr val="231F20"/>
                </a:solidFill>
              </a:rPr>
              <a:t>asks </a:t>
            </a:r>
            <a:r>
              <a:rPr lang="en-US" sz="2400" b="0" i="0" u="none" strike="noStrike" baseline="0" dirty="0">
                <a:solidFill>
                  <a:srgbClr val="231F20"/>
                </a:solidFill>
              </a:rPr>
              <a:t>applications to voluntarily relinquish allocated memory.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Read-only data (such as code) are removed from the system and later reloaded from flash memory if necessary</a:t>
            </a:r>
            <a:endParaRPr lang="en-IN" dirty="0"/>
          </a:p>
        </p:txBody>
      </p:sp>
      <p:sp>
        <p:nvSpPr>
          <p:cNvPr id="8" name="TextBox 7">
            <a:extLst>
              <a:ext uri="{FF2B5EF4-FFF2-40B4-BE49-F238E27FC236}">
                <a16:creationId xmlns:a16="http://schemas.microsoft.com/office/drawing/2014/main" id="{903DCC85-09FF-B53D-62E9-CBF64047A36C}"/>
              </a:ext>
            </a:extLst>
          </p:cNvPr>
          <p:cNvSpPr txBox="1"/>
          <p:nvPr/>
        </p:nvSpPr>
        <p:spPr>
          <a:xfrm>
            <a:off x="5932252" y="1221789"/>
            <a:ext cx="6094378" cy="1077218"/>
          </a:xfrm>
          <a:prstGeom prst="rect">
            <a:avLst/>
          </a:prstGeom>
          <a:solidFill>
            <a:schemeClr val="bg2"/>
          </a:solidFill>
          <a:ln>
            <a:solidFill>
              <a:schemeClr val="accent1"/>
            </a:solidFill>
          </a:ln>
        </p:spPr>
        <p:txBody>
          <a:bodyPr wrap="square">
            <a:spAutoFit/>
          </a:bodyPr>
          <a:lstStyle/>
          <a:p>
            <a:pPr algn="just"/>
            <a:r>
              <a:rPr lang="en-US" sz="1600" b="0" i="0" dirty="0">
                <a:solidFill>
                  <a:srgbClr val="C00000"/>
                </a:solidFill>
                <a:effectLst/>
                <a:latin typeface="Google Sans"/>
              </a:rPr>
              <a:t>Flash memory is </a:t>
            </a:r>
            <a:r>
              <a:rPr lang="en-US" sz="1600" dirty="0">
                <a:solidFill>
                  <a:srgbClr val="C00000"/>
                </a:solidFill>
              </a:rPr>
              <a:t>a type of non-volatile computer memory that can store data even when there is no power</a:t>
            </a:r>
            <a:r>
              <a:rPr lang="en-US" sz="1600" b="0" i="0" dirty="0">
                <a:solidFill>
                  <a:srgbClr val="C00000"/>
                </a:solidFill>
                <a:effectLst/>
                <a:latin typeface="Google Sans"/>
              </a:rPr>
              <a:t>. </a:t>
            </a:r>
          </a:p>
          <a:p>
            <a:pPr algn="just"/>
            <a:r>
              <a:rPr lang="en-US" sz="1600" b="0" i="0" dirty="0">
                <a:solidFill>
                  <a:srgbClr val="C00000"/>
                </a:solidFill>
                <a:effectLst/>
                <a:latin typeface="Google Sans"/>
              </a:rPr>
              <a:t>Memory cards: SD cards, microSD cards, memory sticks, and CompactFlash cards</a:t>
            </a:r>
            <a:endParaRPr lang="en-IN" dirty="0"/>
          </a:p>
        </p:txBody>
      </p:sp>
      <p:cxnSp>
        <p:nvCxnSpPr>
          <p:cNvPr id="10" name="Straight Arrow Connector 9">
            <a:extLst>
              <a:ext uri="{FF2B5EF4-FFF2-40B4-BE49-F238E27FC236}">
                <a16:creationId xmlns:a16="http://schemas.microsoft.com/office/drawing/2014/main" id="{CE16810D-CE24-0782-A222-0855F6455FDB}"/>
              </a:ext>
            </a:extLst>
          </p:cNvPr>
          <p:cNvCxnSpPr/>
          <p:nvPr/>
        </p:nvCxnSpPr>
        <p:spPr>
          <a:xfrm flipV="1">
            <a:off x="6011694" y="2373549"/>
            <a:ext cx="2937753" cy="65175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57947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98335-6F39-88C7-D5CF-791CE5EE291F}"/>
            </a:ext>
          </a:extLst>
        </p:cNvPr>
        <p:cNvGrpSpPr/>
        <p:nvPr/>
      </p:nvGrpSpPr>
      <p:grpSpPr>
        <a:xfrm>
          <a:off x="0" y="0"/>
          <a:ext cx="0" cy="0"/>
          <a:chOff x="0" y="0"/>
          <a:chExt cx="0" cy="0"/>
        </a:xfrm>
      </p:grpSpPr>
      <p:sp>
        <p:nvSpPr>
          <p:cNvPr id="9" name="Text Placeholder 3">
            <a:extLst>
              <a:ext uri="{FF2B5EF4-FFF2-40B4-BE49-F238E27FC236}">
                <a16:creationId xmlns:a16="http://schemas.microsoft.com/office/drawing/2014/main" id="{887863A9-46E6-1AAC-795A-3963862AF469}"/>
              </a:ext>
            </a:extLst>
          </p:cNvPr>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5" name="Subtitle 4">
            <a:extLst>
              <a:ext uri="{FF2B5EF4-FFF2-40B4-BE49-F238E27FC236}">
                <a16:creationId xmlns:a16="http://schemas.microsoft.com/office/drawing/2014/main" id="{0ECCED30-4574-CA0F-18BE-FDA3DAACCDC4}"/>
              </a:ext>
            </a:extLst>
          </p:cNvPr>
          <p:cNvSpPr>
            <a:spLocks noGrp="1"/>
          </p:cNvSpPr>
          <p:nvPr>
            <p:ph type="subTitle" idx="1"/>
          </p:nvPr>
        </p:nvSpPr>
        <p:spPr>
          <a:xfrm>
            <a:off x="1047345" y="2601119"/>
            <a:ext cx="9144000" cy="1655762"/>
          </a:xfrm>
        </p:spPr>
        <p:txBody>
          <a:bodyPr>
            <a:normAutofit/>
          </a:bodyPr>
          <a:lstStyle/>
          <a:p>
            <a:r>
              <a:rPr lang="en-US" sz="4400" dirty="0">
                <a:solidFill>
                  <a:srgbClr val="0066CC"/>
                </a:solidFill>
              </a:rPr>
              <a:t>Lecture - 9</a:t>
            </a:r>
          </a:p>
        </p:txBody>
      </p:sp>
    </p:spTree>
    <p:extLst>
      <p:ext uri="{BB962C8B-B14F-4D97-AF65-F5344CB8AC3E}">
        <p14:creationId xmlns:p14="http://schemas.microsoft.com/office/powerpoint/2010/main" val="345634565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Recap</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Memory Management: </a:t>
            </a:r>
          </a:p>
          <a:p>
            <a:pPr lvl="1"/>
            <a:r>
              <a:rPr lang="en-IN" dirty="0"/>
              <a:t>Address Binding</a:t>
            </a:r>
          </a:p>
          <a:p>
            <a:pPr lvl="1"/>
            <a:r>
              <a:rPr lang="en-IN" dirty="0"/>
              <a:t>Logical and Physical address space</a:t>
            </a:r>
          </a:p>
          <a:p>
            <a:pPr lvl="1"/>
            <a:r>
              <a:rPr lang="en-IN" dirty="0"/>
              <a:t>Swapping</a:t>
            </a:r>
            <a:endParaRPr lang="en-US" dirty="0"/>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151750101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Agenda</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Memory Management: </a:t>
            </a:r>
          </a:p>
          <a:p>
            <a:pPr lvl="1"/>
            <a:r>
              <a:rPr lang="en-IN" dirty="0"/>
              <a:t>Contiguous Memory Allocation</a:t>
            </a:r>
          </a:p>
          <a:p>
            <a:pPr lvl="1"/>
            <a:r>
              <a:rPr lang="en-IN" dirty="0"/>
              <a:t>Fragmentation</a:t>
            </a:r>
          </a:p>
          <a:p>
            <a:pPr lvl="1"/>
            <a:endParaRPr lang="en-US" dirty="0"/>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387957903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6" name="TextBox 5">
            <a:extLst>
              <a:ext uri="{FF2B5EF4-FFF2-40B4-BE49-F238E27FC236}">
                <a16:creationId xmlns:a16="http://schemas.microsoft.com/office/drawing/2014/main" id="{C09DC910-0479-BB03-D911-0AEC62C5DB56}"/>
              </a:ext>
            </a:extLst>
          </p:cNvPr>
          <p:cNvSpPr txBox="1"/>
          <p:nvPr/>
        </p:nvSpPr>
        <p:spPr>
          <a:xfrm>
            <a:off x="829282" y="1357168"/>
            <a:ext cx="6094378" cy="369332"/>
          </a:xfrm>
          <a:prstGeom prst="rect">
            <a:avLst/>
          </a:prstGeom>
          <a:noFill/>
        </p:spPr>
        <p:txBody>
          <a:bodyPr wrap="square">
            <a:spAutoFit/>
          </a:bodyPr>
          <a:lstStyle/>
          <a:p>
            <a:r>
              <a:rPr lang="en-IN" dirty="0">
                <a:highlight>
                  <a:srgbClr val="00FFFF"/>
                </a:highlight>
              </a:rPr>
              <a:t>Contiguous Memory Allocation</a:t>
            </a:r>
          </a:p>
        </p:txBody>
      </p:sp>
      <p:sp>
        <p:nvSpPr>
          <p:cNvPr id="4" name="TextBox 3">
            <a:extLst>
              <a:ext uri="{FF2B5EF4-FFF2-40B4-BE49-F238E27FC236}">
                <a16:creationId xmlns:a16="http://schemas.microsoft.com/office/drawing/2014/main" id="{D51BF552-F616-532E-7DB8-7B7608D09102}"/>
              </a:ext>
            </a:extLst>
          </p:cNvPr>
          <p:cNvSpPr txBox="1"/>
          <p:nvPr/>
        </p:nvSpPr>
        <p:spPr>
          <a:xfrm>
            <a:off x="946014" y="2242864"/>
            <a:ext cx="10318616" cy="1143070"/>
          </a:xfrm>
          <a:prstGeom prst="rect">
            <a:avLst/>
          </a:prstGeom>
          <a:noFill/>
        </p:spPr>
        <p:txBody>
          <a:bodyPr wrap="square">
            <a:spAutoFit/>
          </a:bodyPr>
          <a:lstStyle/>
          <a:p>
            <a:pPr algn="just">
              <a:lnSpc>
                <a:spcPct val="150000"/>
              </a:lnSpc>
            </a:pPr>
            <a:r>
              <a:rPr lang="en-IN" sz="2400" b="0" i="0" u="none" strike="noStrike" baseline="0" dirty="0">
                <a:solidFill>
                  <a:srgbClr val="231F20"/>
                </a:solidFill>
              </a:rPr>
              <a:t>In </a:t>
            </a:r>
            <a:r>
              <a:rPr lang="en-US" sz="2400" b="1" i="0" u="none" strike="noStrike" baseline="0" dirty="0">
                <a:solidFill>
                  <a:srgbClr val="00AEF0"/>
                </a:solidFill>
              </a:rPr>
              <a:t>contiguous memory allocation</a:t>
            </a:r>
            <a:r>
              <a:rPr lang="en-US" sz="2400" b="0" i="0" u="none" strike="noStrike" baseline="0" dirty="0">
                <a:solidFill>
                  <a:srgbClr val="231F20"/>
                </a:solidFill>
              </a:rPr>
              <a:t>, each process is contained in a single section of</a:t>
            </a:r>
          </a:p>
          <a:p>
            <a:pPr algn="just">
              <a:lnSpc>
                <a:spcPct val="150000"/>
              </a:lnSpc>
            </a:pPr>
            <a:r>
              <a:rPr lang="en-US" sz="2400" b="0" i="0" u="none" strike="noStrike" baseline="0" dirty="0">
                <a:solidFill>
                  <a:srgbClr val="231F20"/>
                </a:solidFill>
              </a:rPr>
              <a:t>memory that is contiguous to the section containing the next process.</a:t>
            </a:r>
            <a:endParaRPr lang="en-IN" sz="2400" dirty="0"/>
          </a:p>
        </p:txBody>
      </p:sp>
    </p:spTree>
    <p:extLst>
      <p:ext uri="{BB962C8B-B14F-4D97-AF65-F5344CB8AC3E}">
        <p14:creationId xmlns:p14="http://schemas.microsoft.com/office/powerpoint/2010/main" val="181602507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6" name="TextBox 5">
            <a:extLst>
              <a:ext uri="{FF2B5EF4-FFF2-40B4-BE49-F238E27FC236}">
                <a16:creationId xmlns:a16="http://schemas.microsoft.com/office/drawing/2014/main" id="{C09DC910-0479-BB03-D911-0AEC62C5DB56}"/>
              </a:ext>
            </a:extLst>
          </p:cNvPr>
          <p:cNvSpPr txBox="1"/>
          <p:nvPr/>
        </p:nvSpPr>
        <p:spPr>
          <a:xfrm>
            <a:off x="829282" y="1357168"/>
            <a:ext cx="6094378" cy="369332"/>
          </a:xfrm>
          <a:prstGeom prst="rect">
            <a:avLst/>
          </a:prstGeom>
          <a:noFill/>
        </p:spPr>
        <p:txBody>
          <a:bodyPr wrap="square">
            <a:spAutoFit/>
          </a:bodyPr>
          <a:lstStyle/>
          <a:p>
            <a:r>
              <a:rPr lang="en-IN" dirty="0">
                <a:highlight>
                  <a:srgbClr val="00FFFF"/>
                </a:highlight>
              </a:rPr>
              <a:t>Contiguous Memory Allocation</a:t>
            </a:r>
          </a:p>
        </p:txBody>
      </p:sp>
      <p:sp>
        <p:nvSpPr>
          <p:cNvPr id="2" name="Rectangle 3">
            <a:extLst>
              <a:ext uri="{FF2B5EF4-FFF2-40B4-BE49-F238E27FC236}">
                <a16:creationId xmlns:a16="http://schemas.microsoft.com/office/drawing/2014/main" id="{8E1B76E4-C4D4-577F-11EB-40C028597031}"/>
              </a:ext>
            </a:extLst>
          </p:cNvPr>
          <p:cNvSpPr txBox="1">
            <a:spLocks noChangeArrowheads="1"/>
          </p:cNvSpPr>
          <p:nvPr/>
        </p:nvSpPr>
        <p:spPr>
          <a:xfrm>
            <a:off x="829282" y="1887167"/>
            <a:ext cx="10545976" cy="3262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Multiple-partition allocation</a:t>
            </a:r>
          </a:p>
          <a:p>
            <a:pPr lvl="1">
              <a:lnSpc>
                <a:spcPct val="150000"/>
              </a:lnSpc>
            </a:pPr>
            <a:r>
              <a:rPr lang="en-US" altLang="en-US" sz="2000" dirty="0"/>
              <a:t>Degree of multiprogramming limited by number of partitions</a:t>
            </a:r>
          </a:p>
          <a:p>
            <a:pPr lvl="1">
              <a:lnSpc>
                <a:spcPct val="150000"/>
              </a:lnSpc>
            </a:pPr>
            <a:r>
              <a:rPr lang="en-US" altLang="en-US" sz="2000" b="1" dirty="0">
                <a:solidFill>
                  <a:srgbClr val="0000FF"/>
                </a:solidFill>
              </a:rPr>
              <a:t>Variable-partition </a:t>
            </a:r>
            <a:r>
              <a:rPr lang="en-US" altLang="en-US" sz="2000" dirty="0"/>
              <a:t>sizes for efficiency (sized to a given process’ needs)</a:t>
            </a:r>
          </a:p>
          <a:p>
            <a:pPr lvl="1">
              <a:lnSpc>
                <a:spcPct val="150000"/>
              </a:lnSpc>
            </a:pPr>
            <a:r>
              <a:rPr lang="en-US" altLang="en-US" sz="2000" b="1" dirty="0">
                <a:solidFill>
                  <a:srgbClr val="0000FF"/>
                </a:solidFill>
              </a:rPr>
              <a:t>Hole</a:t>
            </a:r>
            <a:r>
              <a:rPr lang="en-US" altLang="en-US" sz="2000" dirty="0"/>
              <a:t> – block of available memory; holes of various size are scattered throughout memory</a:t>
            </a:r>
          </a:p>
          <a:p>
            <a:pPr lvl="1">
              <a:lnSpc>
                <a:spcPct val="150000"/>
              </a:lnSpc>
            </a:pPr>
            <a:r>
              <a:rPr lang="en-US" altLang="en-US" sz="2000" dirty="0"/>
              <a:t>When a process arrives, it is allocated memory from a hole large enough to accommodate it</a:t>
            </a:r>
          </a:p>
          <a:p>
            <a:pPr lvl="1">
              <a:lnSpc>
                <a:spcPct val="150000"/>
              </a:lnSpc>
            </a:pPr>
            <a:r>
              <a:rPr lang="en-US" altLang="en-US" sz="2000" dirty="0"/>
              <a:t>Process exiting frees its partition, adjacent free partitions combined</a:t>
            </a:r>
          </a:p>
          <a:p>
            <a:pPr lvl="1">
              <a:lnSpc>
                <a:spcPct val="150000"/>
              </a:lnSpc>
            </a:pPr>
            <a:r>
              <a:rPr lang="en-US" altLang="en-US" sz="2000" dirty="0"/>
              <a:t>Operating system maintains information about:</a:t>
            </a:r>
            <a:br>
              <a:rPr lang="en-US" altLang="en-US" sz="2000" dirty="0"/>
            </a:br>
            <a:r>
              <a:rPr lang="en-US" altLang="en-US" sz="2000" dirty="0"/>
              <a:t>a) allocated partitions    b) free partitions (hole)</a:t>
            </a:r>
          </a:p>
        </p:txBody>
      </p:sp>
    </p:spTree>
    <p:extLst>
      <p:ext uri="{BB962C8B-B14F-4D97-AF65-F5344CB8AC3E}">
        <p14:creationId xmlns:p14="http://schemas.microsoft.com/office/powerpoint/2010/main" val="11579847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6" name="TextBox 5">
            <a:extLst>
              <a:ext uri="{FF2B5EF4-FFF2-40B4-BE49-F238E27FC236}">
                <a16:creationId xmlns:a16="http://schemas.microsoft.com/office/drawing/2014/main" id="{C09DC910-0479-BB03-D911-0AEC62C5DB56}"/>
              </a:ext>
            </a:extLst>
          </p:cNvPr>
          <p:cNvSpPr txBox="1"/>
          <p:nvPr/>
        </p:nvSpPr>
        <p:spPr>
          <a:xfrm>
            <a:off x="829282" y="1357168"/>
            <a:ext cx="6094378" cy="369332"/>
          </a:xfrm>
          <a:prstGeom prst="rect">
            <a:avLst/>
          </a:prstGeom>
          <a:noFill/>
        </p:spPr>
        <p:txBody>
          <a:bodyPr wrap="square">
            <a:spAutoFit/>
          </a:bodyPr>
          <a:lstStyle/>
          <a:p>
            <a:r>
              <a:rPr lang="en-IN" dirty="0">
                <a:highlight>
                  <a:srgbClr val="00FFFF"/>
                </a:highlight>
              </a:rPr>
              <a:t>Contiguous Memory Allocation</a:t>
            </a:r>
          </a:p>
        </p:txBody>
      </p:sp>
      <p:pic>
        <p:nvPicPr>
          <p:cNvPr id="4" name="Picture 3">
            <a:extLst>
              <a:ext uri="{FF2B5EF4-FFF2-40B4-BE49-F238E27FC236}">
                <a16:creationId xmlns:a16="http://schemas.microsoft.com/office/drawing/2014/main" id="{85433701-DAFE-329E-31CD-0116B8E1DF3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29282" y="1854642"/>
            <a:ext cx="6675437" cy="217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a:extLst>
              <a:ext uri="{FF2B5EF4-FFF2-40B4-BE49-F238E27FC236}">
                <a16:creationId xmlns:a16="http://schemas.microsoft.com/office/drawing/2014/main" id="{EB99947B-8A06-A772-79BD-75990B12F4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2358" y="4295941"/>
            <a:ext cx="3803498" cy="2409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4730102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6" name="TextBox 5">
            <a:extLst>
              <a:ext uri="{FF2B5EF4-FFF2-40B4-BE49-F238E27FC236}">
                <a16:creationId xmlns:a16="http://schemas.microsoft.com/office/drawing/2014/main" id="{C09DC910-0479-BB03-D911-0AEC62C5DB56}"/>
              </a:ext>
            </a:extLst>
          </p:cNvPr>
          <p:cNvSpPr txBox="1"/>
          <p:nvPr/>
        </p:nvSpPr>
        <p:spPr>
          <a:xfrm>
            <a:off x="829282" y="1357168"/>
            <a:ext cx="6094378" cy="369332"/>
          </a:xfrm>
          <a:prstGeom prst="rect">
            <a:avLst/>
          </a:prstGeom>
          <a:noFill/>
        </p:spPr>
        <p:txBody>
          <a:bodyPr wrap="square">
            <a:spAutoFit/>
          </a:bodyPr>
          <a:lstStyle/>
          <a:p>
            <a:r>
              <a:rPr lang="en-IN" dirty="0">
                <a:highlight>
                  <a:srgbClr val="00FFFF"/>
                </a:highlight>
              </a:rPr>
              <a:t>Contiguous Memory Allocation</a:t>
            </a:r>
          </a:p>
        </p:txBody>
      </p:sp>
      <p:sp>
        <p:nvSpPr>
          <p:cNvPr id="2" name="Rectangle 3">
            <a:extLst>
              <a:ext uri="{FF2B5EF4-FFF2-40B4-BE49-F238E27FC236}">
                <a16:creationId xmlns:a16="http://schemas.microsoft.com/office/drawing/2014/main" id="{E14B9705-95A6-5231-87B8-A6D2A870EC3C}"/>
              </a:ext>
            </a:extLst>
          </p:cNvPr>
          <p:cNvSpPr txBox="1">
            <a:spLocks noChangeArrowheads="1"/>
          </p:cNvSpPr>
          <p:nvPr/>
        </p:nvSpPr>
        <p:spPr>
          <a:xfrm>
            <a:off x="1403250" y="2379642"/>
            <a:ext cx="9890564" cy="36242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b="1" dirty="0">
                <a:solidFill>
                  <a:srgbClr val="3366FF"/>
                </a:solidFill>
              </a:rPr>
              <a:t>First-fit</a:t>
            </a:r>
            <a:r>
              <a:rPr lang="en-US" altLang="en-US" dirty="0"/>
              <a:t>:  Allocate the </a:t>
            </a:r>
            <a:r>
              <a:rPr lang="en-US" altLang="en-US" b="1" i="1" dirty="0"/>
              <a:t>first</a:t>
            </a:r>
            <a:r>
              <a:rPr lang="en-US" altLang="en-US" dirty="0"/>
              <a:t> hole that is big enough</a:t>
            </a:r>
          </a:p>
          <a:p>
            <a:pPr>
              <a:buFont typeface="Monotype Sorts" pitchFamily="-84" charset="2"/>
              <a:buNone/>
            </a:pPr>
            <a:endParaRPr lang="en-US" altLang="en-US" dirty="0"/>
          </a:p>
          <a:p>
            <a:r>
              <a:rPr lang="en-US" altLang="en-US" b="1" dirty="0">
                <a:solidFill>
                  <a:srgbClr val="3366FF"/>
                </a:solidFill>
              </a:rPr>
              <a:t>Best-fit</a:t>
            </a:r>
            <a:r>
              <a:rPr lang="en-US" altLang="en-US" dirty="0"/>
              <a:t>:  Allocate the </a:t>
            </a:r>
            <a:r>
              <a:rPr lang="en-US" altLang="en-US" b="1" i="1" dirty="0"/>
              <a:t>smallest</a:t>
            </a:r>
            <a:r>
              <a:rPr lang="en-US" altLang="en-US" dirty="0"/>
              <a:t> hole that is big enough; must search entire list, unless ordered by size  </a:t>
            </a:r>
          </a:p>
          <a:p>
            <a:pPr lvl="1"/>
            <a:r>
              <a:rPr lang="en-US" altLang="en-US" dirty="0"/>
              <a:t>Produces the smallest leftover hole</a:t>
            </a:r>
          </a:p>
          <a:p>
            <a:pPr lvl="1">
              <a:buFont typeface="Monotype Sorts" pitchFamily="-84" charset="2"/>
              <a:buNone/>
            </a:pPr>
            <a:endParaRPr lang="en-US" altLang="en-US" dirty="0"/>
          </a:p>
          <a:p>
            <a:r>
              <a:rPr lang="en-US" altLang="en-US" b="1" dirty="0">
                <a:solidFill>
                  <a:srgbClr val="3366FF"/>
                </a:solidFill>
              </a:rPr>
              <a:t>Worst-fit</a:t>
            </a:r>
            <a:r>
              <a:rPr lang="en-US" altLang="en-US" dirty="0"/>
              <a:t>:  Allocate the </a:t>
            </a:r>
            <a:r>
              <a:rPr lang="en-US" altLang="en-US" b="1" i="1" dirty="0"/>
              <a:t>largest</a:t>
            </a:r>
            <a:r>
              <a:rPr lang="en-US" altLang="en-US" dirty="0"/>
              <a:t> hole; must also search entire list  </a:t>
            </a:r>
          </a:p>
          <a:p>
            <a:pPr lvl="1"/>
            <a:r>
              <a:rPr lang="en-US" altLang="en-US" dirty="0"/>
              <a:t>Produces the largest leftover hole</a:t>
            </a:r>
          </a:p>
        </p:txBody>
      </p:sp>
      <p:sp>
        <p:nvSpPr>
          <p:cNvPr id="5" name="Text Box 4">
            <a:extLst>
              <a:ext uri="{FF2B5EF4-FFF2-40B4-BE49-F238E27FC236}">
                <a16:creationId xmlns:a16="http://schemas.microsoft.com/office/drawing/2014/main" id="{902B754F-EC92-1480-AFF8-6A764B9B010A}"/>
              </a:ext>
            </a:extLst>
          </p:cNvPr>
          <p:cNvSpPr txBox="1">
            <a:spLocks noChangeArrowheads="1"/>
          </p:cNvSpPr>
          <p:nvPr/>
        </p:nvSpPr>
        <p:spPr bwMode="auto">
          <a:xfrm>
            <a:off x="1142899" y="1839892"/>
            <a:ext cx="855448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5" tIns="45718" rIns="91435" bIns="45718"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pPr>
            <a:r>
              <a:rPr lang="en-US" altLang="en-US" dirty="0">
                <a:latin typeface="Helvetica" panose="020B0604020202020204" pitchFamily="34" charset="0"/>
              </a:rPr>
              <a:t>How to satisfy a request of size </a:t>
            </a:r>
            <a:r>
              <a:rPr lang="en-US" altLang="en-US" b="1" i="1" dirty="0">
                <a:latin typeface="Helvetica" panose="020B0604020202020204" pitchFamily="34" charset="0"/>
              </a:rPr>
              <a:t>n</a:t>
            </a:r>
            <a:r>
              <a:rPr lang="en-US" altLang="en-US" dirty="0">
                <a:latin typeface="Helvetica" panose="020B0604020202020204" pitchFamily="34" charset="0"/>
              </a:rPr>
              <a:t> from a list of free holes?</a:t>
            </a:r>
          </a:p>
        </p:txBody>
      </p:sp>
    </p:spTree>
    <p:extLst>
      <p:ext uri="{BB962C8B-B14F-4D97-AF65-F5344CB8AC3E}">
        <p14:creationId xmlns:p14="http://schemas.microsoft.com/office/powerpoint/2010/main" val="230010915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6" name="TextBox 5">
            <a:extLst>
              <a:ext uri="{FF2B5EF4-FFF2-40B4-BE49-F238E27FC236}">
                <a16:creationId xmlns:a16="http://schemas.microsoft.com/office/drawing/2014/main" id="{C09DC910-0479-BB03-D911-0AEC62C5DB56}"/>
              </a:ext>
            </a:extLst>
          </p:cNvPr>
          <p:cNvSpPr txBox="1"/>
          <p:nvPr/>
        </p:nvSpPr>
        <p:spPr>
          <a:xfrm>
            <a:off x="829282" y="1357168"/>
            <a:ext cx="6094378" cy="369332"/>
          </a:xfrm>
          <a:prstGeom prst="rect">
            <a:avLst/>
          </a:prstGeom>
          <a:noFill/>
        </p:spPr>
        <p:txBody>
          <a:bodyPr wrap="square">
            <a:spAutoFit/>
          </a:bodyPr>
          <a:lstStyle/>
          <a:p>
            <a:r>
              <a:rPr lang="en-IN" dirty="0">
                <a:highlight>
                  <a:srgbClr val="00FFFF"/>
                </a:highlight>
              </a:rPr>
              <a:t>Contiguous Memory Allocation</a:t>
            </a:r>
          </a:p>
        </p:txBody>
      </p:sp>
      <p:pic>
        <p:nvPicPr>
          <p:cNvPr id="9" name="Picture 8">
            <a:extLst>
              <a:ext uri="{FF2B5EF4-FFF2-40B4-BE49-F238E27FC236}">
                <a16:creationId xmlns:a16="http://schemas.microsoft.com/office/drawing/2014/main" id="{A2AACF0C-43C9-D571-ABA7-2F425AE5E62A}"/>
              </a:ext>
            </a:extLst>
          </p:cNvPr>
          <p:cNvPicPr>
            <a:picLocks noChangeAspect="1"/>
          </p:cNvPicPr>
          <p:nvPr/>
        </p:nvPicPr>
        <p:blipFill>
          <a:blip r:embed="rId3"/>
          <a:stretch>
            <a:fillRect/>
          </a:stretch>
        </p:blipFill>
        <p:spPr>
          <a:xfrm>
            <a:off x="148679" y="1872408"/>
            <a:ext cx="3892466" cy="3892466"/>
          </a:xfrm>
          <a:prstGeom prst="rect">
            <a:avLst/>
          </a:prstGeom>
        </p:spPr>
      </p:pic>
      <p:pic>
        <p:nvPicPr>
          <p:cNvPr id="10" name="Picture 9">
            <a:extLst>
              <a:ext uri="{FF2B5EF4-FFF2-40B4-BE49-F238E27FC236}">
                <a16:creationId xmlns:a16="http://schemas.microsoft.com/office/drawing/2014/main" id="{72A53D8C-8AC6-73EA-65DF-D3A8CE4404C7}"/>
              </a:ext>
            </a:extLst>
          </p:cNvPr>
          <p:cNvPicPr>
            <a:picLocks noChangeAspect="1"/>
          </p:cNvPicPr>
          <p:nvPr/>
        </p:nvPicPr>
        <p:blipFill>
          <a:blip r:embed="rId4"/>
          <a:stretch>
            <a:fillRect/>
          </a:stretch>
        </p:blipFill>
        <p:spPr>
          <a:xfrm>
            <a:off x="4164526" y="1872408"/>
            <a:ext cx="3862948" cy="3862948"/>
          </a:xfrm>
          <a:prstGeom prst="rect">
            <a:avLst/>
          </a:prstGeom>
        </p:spPr>
      </p:pic>
      <p:pic>
        <p:nvPicPr>
          <p:cNvPr id="11" name="Picture 10">
            <a:extLst>
              <a:ext uri="{FF2B5EF4-FFF2-40B4-BE49-F238E27FC236}">
                <a16:creationId xmlns:a16="http://schemas.microsoft.com/office/drawing/2014/main" id="{A14BB48B-3876-3B34-8004-49E300DF0075}"/>
              </a:ext>
            </a:extLst>
          </p:cNvPr>
          <p:cNvPicPr>
            <a:picLocks noChangeAspect="1"/>
          </p:cNvPicPr>
          <p:nvPr/>
        </p:nvPicPr>
        <p:blipFill>
          <a:blip r:embed="rId5"/>
          <a:stretch>
            <a:fillRect/>
          </a:stretch>
        </p:blipFill>
        <p:spPr>
          <a:xfrm>
            <a:off x="8150855" y="1872408"/>
            <a:ext cx="3862948" cy="3862948"/>
          </a:xfrm>
          <a:prstGeom prst="rect">
            <a:avLst/>
          </a:prstGeom>
        </p:spPr>
      </p:pic>
    </p:spTree>
    <p:extLst>
      <p:ext uri="{BB962C8B-B14F-4D97-AF65-F5344CB8AC3E}">
        <p14:creationId xmlns:p14="http://schemas.microsoft.com/office/powerpoint/2010/main" val="394123369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98335-6F39-88C7-D5CF-791CE5EE291F}"/>
            </a:ext>
          </a:extLst>
        </p:cNvPr>
        <p:cNvGrpSpPr/>
        <p:nvPr/>
      </p:nvGrpSpPr>
      <p:grpSpPr>
        <a:xfrm>
          <a:off x="0" y="0"/>
          <a:ext cx="0" cy="0"/>
          <a:chOff x="0" y="0"/>
          <a:chExt cx="0" cy="0"/>
        </a:xfrm>
      </p:grpSpPr>
      <p:sp>
        <p:nvSpPr>
          <p:cNvPr id="9" name="Text Placeholder 3">
            <a:extLst>
              <a:ext uri="{FF2B5EF4-FFF2-40B4-BE49-F238E27FC236}">
                <a16:creationId xmlns:a16="http://schemas.microsoft.com/office/drawing/2014/main" id="{887863A9-46E6-1AAC-795A-3963862AF469}"/>
              </a:ext>
            </a:extLst>
          </p:cNvPr>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5" name="Subtitle 4">
            <a:extLst>
              <a:ext uri="{FF2B5EF4-FFF2-40B4-BE49-F238E27FC236}">
                <a16:creationId xmlns:a16="http://schemas.microsoft.com/office/drawing/2014/main" id="{0ECCED30-4574-CA0F-18BE-FDA3DAACCDC4}"/>
              </a:ext>
            </a:extLst>
          </p:cNvPr>
          <p:cNvSpPr>
            <a:spLocks noGrp="1"/>
          </p:cNvSpPr>
          <p:nvPr>
            <p:ph type="subTitle" idx="1"/>
          </p:nvPr>
        </p:nvSpPr>
        <p:spPr>
          <a:xfrm>
            <a:off x="1047345" y="2601119"/>
            <a:ext cx="9144000" cy="1655762"/>
          </a:xfrm>
        </p:spPr>
        <p:txBody>
          <a:bodyPr>
            <a:normAutofit/>
          </a:bodyPr>
          <a:lstStyle/>
          <a:p>
            <a:r>
              <a:rPr lang="en-US" sz="4400" dirty="0">
                <a:solidFill>
                  <a:srgbClr val="0066CC"/>
                </a:solidFill>
              </a:rPr>
              <a:t>Lecture - 10</a:t>
            </a:r>
          </a:p>
        </p:txBody>
      </p:sp>
    </p:spTree>
    <p:extLst>
      <p:ext uri="{BB962C8B-B14F-4D97-AF65-F5344CB8AC3E}">
        <p14:creationId xmlns:p14="http://schemas.microsoft.com/office/powerpoint/2010/main" val="281851956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Recap</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Memory Management: </a:t>
            </a:r>
          </a:p>
          <a:p>
            <a:pPr lvl="1"/>
            <a:r>
              <a:rPr lang="en-IN" dirty="0"/>
              <a:t>Contiguous Memory Allocation</a:t>
            </a:r>
          </a:p>
          <a:p>
            <a:pPr lvl="1"/>
            <a:endParaRPr lang="en-US" dirty="0"/>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293954232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Agenda</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Memory Management: </a:t>
            </a:r>
          </a:p>
          <a:p>
            <a:pPr lvl="1"/>
            <a:r>
              <a:rPr lang="en-IN" dirty="0"/>
              <a:t>Fragmentation</a:t>
            </a:r>
          </a:p>
          <a:p>
            <a:pPr lvl="1"/>
            <a:r>
              <a:rPr lang="en-IN" dirty="0"/>
              <a:t>Compaction</a:t>
            </a:r>
          </a:p>
          <a:p>
            <a:pPr lvl="1"/>
            <a:r>
              <a:rPr lang="en-IN" dirty="0"/>
              <a:t>Segmentation</a:t>
            </a:r>
          </a:p>
          <a:p>
            <a:pPr lvl="1"/>
            <a:endParaRPr lang="en-US" dirty="0"/>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399971509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6" name="TextBox 5">
            <a:extLst>
              <a:ext uri="{FF2B5EF4-FFF2-40B4-BE49-F238E27FC236}">
                <a16:creationId xmlns:a16="http://schemas.microsoft.com/office/drawing/2014/main" id="{C09DC910-0479-BB03-D911-0AEC62C5DB56}"/>
              </a:ext>
            </a:extLst>
          </p:cNvPr>
          <p:cNvSpPr txBox="1"/>
          <p:nvPr/>
        </p:nvSpPr>
        <p:spPr>
          <a:xfrm>
            <a:off x="595818" y="1196501"/>
            <a:ext cx="6094378" cy="369332"/>
          </a:xfrm>
          <a:prstGeom prst="rect">
            <a:avLst/>
          </a:prstGeom>
          <a:noFill/>
        </p:spPr>
        <p:txBody>
          <a:bodyPr wrap="square">
            <a:spAutoFit/>
          </a:bodyPr>
          <a:lstStyle/>
          <a:p>
            <a:r>
              <a:rPr lang="en-IN" dirty="0">
                <a:highlight>
                  <a:srgbClr val="00FFFF"/>
                </a:highlight>
              </a:rPr>
              <a:t>Fragmentation</a:t>
            </a:r>
          </a:p>
        </p:txBody>
      </p:sp>
      <p:sp>
        <p:nvSpPr>
          <p:cNvPr id="5" name="TextBox 4">
            <a:extLst>
              <a:ext uri="{FF2B5EF4-FFF2-40B4-BE49-F238E27FC236}">
                <a16:creationId xmlns:a16="http://schemas.microsoft.com/office/drawing/2014/main" id="{8F3FA484-C1BD-48D7-BF53-9B35744B2465}"/>
              </a:ext>
            </a:extLst>
          </p:cNvPr>
          <p:cNvSpPr txBox="1"/>
          <p:nvPr/>
        </p:nvSpPr>
        <p:spPr>
          <a:xfrm>
            <a:off x="7268994" y="6387028"/>
            <a:ext cx="6094378" cy="461665"/>
          </a:xfrm>
          <a:prstGeom prst="rect">
            <a:avLst/>
          </a:prstGeom>
          <a:noFill/>
        </p:spPr>
        <p:txBody>
          <a:bodyPr wrap="square">
            <a:spAutoFit/>
          </a:bodyPr>
          <a:lstStyle/>
          <a:p>
            <a:r>
              <a:rPr lang="en-IN" sz="1200" dirty="0">
                <a:hlinkClick r:id="rId3"/>
              </a:rPr>
              <a:t>https://prepinsta.com/operating-systems/fragmentation/</a:t>
            </a:r>
            <a:endParaRPr lang="en-IN" sz="1200" dirty="0"/>
          </a:p>
          <a:p>
            <a:endParaRPr lang="en-IN" sz="1200" dirty="0"/>
          </a:p>
        </p:txBody>
      </p:sp>
      <p:sp>
        <p:nvSpPr>
          <p:cNvPr id="8" name="TextBox 7">
            <a:extLst>
              <a:ext uri="{FF2B5EF4-FFF2-40B4-BE49-F238E27FC236}">
                <a16:creationId xmlns:a16="http://schemas.microsoft.com/office/drawing/2014/main" id="{2338C755-7B23-1A34-B245-C3FC1ABC73F5}"/>
              </a:ext>
            </a:extLst>
          </p:cNvPr>
          <p:cNvSpPr txBox="1"/>
          <p:nvPr/>
        </p:nvSpPr>
        <p:spPr>
          <a:xfrm>
            <a:off x="595818" y="1755134"/>
            <a:ext cx="10976237" cy="3359061"/>
          </a:xfrm>
          <a:prstGeom prst="rect">
            <a:avLst/>
          </a:prstGeom>
          <a:noFill/>
        </p:spPr>
        <p:txBody>
          <a:bodyPr wrap="square">
            <a:spAutoFit/>
          </a:bodyPr>
          <a:lstStyle/>
          <a:p>
            <a:pPr algn="just">
              <a:lnSpc>
                <a:spcPct val="150000"/>
              </a:lnSpc>
            </a:pPr>
            <a:r>
              <a:rPr lang="en-US" sz="2400" b="0" i="0" dirty="0">
                <a:solidFill>
                  <a:srgbClr val="343434"/>
                </a:solidFill>
                <a:effectLst/>
                <a:highlight>
                  <a:srgbClr val="FFFFFF"/>
                </a:highlight>
                <a:ea typeface="roboto" panose="02000000000000000000" pitchFamily="2" charset="0"/>
                <a:cs typeface="roboto" panose="02000000000000000000" pitchFamily="2" charset="0"/>
              </a:rPr>
              <a:t>Memory space in the system constantly goes through loading and releasing processes and their resources because of which the total memory spaces get broken into a lot of small pieces, this causes the creation of small non-utilized fragmented memory spaces, which are so small that normal processes can not fit into those small fragments, causing those memory spaces not getting utilized at all, this is called memory </a:t>
            </a:r>
            <a:r>
              <a:rPr lang="en-US" sz="2400" b="0" i="0" dirty="0">
                <a:solidFill>
                  <a:srgbClr val="ED682F"/>
                </a:solidFill>
                <a:effectLst/>
                <a:highlight>
                  <a:srgbClr val="FFFFFF"/>
                </a:highlight>
                <a:ea typeface="roboto" panose="02000000000000000000" pitchFamily="2" charset="0"/>
                <a:cs typeface="roboto" panose="02000000000000000000" pitchFamily="2" charset="0"/>
              </a:rPr>
              <a:t>Fragmentation </a:t>
            </a:r>
            <a:r>
              <a:rPr lang="en-US" sz="2400" b="0" i="0" dirty="0">
                <a:solidFill>
                  <a:srgbClr val="343434"/>
                </a:solidFill>
                <a:effectLst/>
                <a:highlight>
                  <a:srgbClr val="FFFFFF"/>
                </a:highlight>
                <a:ea typeface="roboto" panose="02000000000000000000" pitchFamily="2" charset="0"/>
                <a:cs typeface="roboto" panose="02000000000000000000" pitchFamily="2" charset="0"/>
              </a:rPr>
              <a:t>in the operating system.</a:t>
            </a:r>
            <a:endParaRPr lang="en-IN" sz="2400" dirty="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12917643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6" name="TextBox 5">
            <a:extLst>
              <a:ext uri="{FF2B5EF4-FFF2-40B4-BE49-F238E27FC236}">
                <a16:creationId xmlns:a16="http://schemas.microsoft.com/office/drawing/2014/main" id="{C09DC910-0479-BB03-D911-0AEC62C5DB56}"/>
              </a:ext>
            </a:extLst>
          </p:cNvPr>
          <p:cNvSpPr txBox="1"/>
          <p:nvPr/>
        </p:nvSpPr>
        <p:spPr>
          <a:xfrm>
            <a:off x="595818" y="1196501"/>
            <a:ext cx="6094378" cy="369332"/>
          </a:xfrm>
          <a:prstGeom prst="rect">
            <a:avLst/>
          </a:prstGeom>
          <a:noFill/>
        </p:spPr>
        <p:txBody>
          <a:bodyPr wrap="square">
            <a:spAutoFit/>
          </a:bodyPr>
          <a:lstStyle/>
          <a:p>
            <a:r>
              <a:rPr lang="en-IN" dirty="0">
                <a:highlight>
                  <a:srgbClr val="00FFFF"/>
                </a:highlight>
              </a:rPr>
              <a:t>Fragmentation</a:t>
            </a:r>
          </a:p>
        </p:txBody>
      </p:sp>
      <p:sp>
        <p:nvSpPr>
          <p:cNvPr id="5" name="TextBox 4">
            <a:extLst>
              <a:ext uri="{FF2B5EF4-FFF2-40B4-BE49-F238E27FC236}">
                <a16:creationId xmlns:a16="http://schemas.microsoft.com/office/drawing/2014/main" id="{8F3FA484-C1BD-48D7-BF53-9B35744B2465}"/>
              </a:ext>
            </a:extLst>
          </p:cNvPr>
          <p:cNvSpPr txBox="1"/>
          <p:nvPr/>
        </p:nvSpPr>
        <p:spPr>
          <a:xfrm>
            <a:off x="7268994" y="6387028"/>
            <a:ext cx="6094378" cy="461665"/>
          </a:xfrm>
          <a:prstGeom prst="rect">
            <a:avLst/>
          </a:prstGeom>
          <a:noFill/>
        </p:spPr>
        <p:txBody>
          <a:bodyPr wrap="square">
            <a:spAutoFit/>
          </a:bodyPr>
          <a:lstStyle/>
          <a:p>
            <a:r>
              <a:rPr lang="en-IN" sz="1200" dirty="0">
                <a:hlinkClick r:id="rId3"/>
              </a:rPr>
              <a:t>https://prepinsta.com/operating-systems/fragmentation/</a:t>
            </a:r>
            <a:endParaRPr lang="en-IN" sz="1200" dirty="0"/>
          </a:p>
          <a:p>
            <a:endParaRPr lang="en-IN" sz="1200" dirty="0"/>
          </a:p>
        </p:txBody>
      </p:sp>
      <p:pic>
        <p:nvPicPr>
          <p:cNvPr id="4" name="Picture 3">
            <a:extLst>
              <a:ext uri="{FF2B5EF4-FFF2-40B4-BE49-F238E27FC236}">
                <a16:creationId xmlns:a16="http://schemas.microsoft.com/office/drawing/2014/main" id="{3E97A631-A937-B8F6-CD10-C217699A4FB8}"/>
              </a:ext>
            </a:extLst>
          </p:cNvPr>
          <p:cNvPicPr>
            <a:picLocks noChangeAspect="1"/>
          </p:cNvPicPr>
          <p:nvPr/>
        </p:nvPicPr>
        <p:blipFill>
          <a:blip r:embed="rId4"/>
          <a:stretch>
            <a:fillRect/>
          </a:stretch>
        </p:blipFill>
        <p:spPr>
          <a:xfrm>
            <a:off x="2887302" y="1276310"/>
            <a:ext cx="7605788" cy="4753618"/>
          </a:xfrm>
          <a:prstGeom prst="rect">
            <a:avLst/>
          </a:prstGeom>
        </p:spPr>
      </p:pic>
    </p:spTree>
    <p:extLst>
      <p:ext uri="{BB962C8B-B14F-4D97-AF65-F5344CB8AC3E}">
        <p14:creationId xmlns:p14="http://schemas.microsoft.com/office/powerpoint/2010/main" val="159166760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6" name="TextBox 5">
            <a:extLst>
              <a:ext uri="{FF2B5EF4-FFF2-40B4-BE49-F238E27FC236}">
                <a16:creationId xmlns:a16="http://schemas.microsoft.com/office/drawing/2014/main" id="{C09DC910-0479-BB03-D911-0AEC62C5DB56}"/>
              </a:ext>
            </a:extLst>
          </p:cNvPr>
          <p:cNvSpPr txBox="1"/>
          <p:nvPr/>
        </p:nvSpPr>
        <p:spPr>
          <a:xfrm>
            <a:off x="595818" y="1196501"/>
            <a:ext cx="6094378" cy="369332"/>
          </a:xfrm>
          <a:prstGeom prst="rect">
            <a:avLst/>
          </a:prstGeom>
          <a:noFill/>
        </p:spPr>
        <p:txBody>
          <a:bodyPr wrap="square">
            <a:spAutoFit/>
          </a:bodyPr>
          <a:lstStyle/>
          <a:p>
            <a:r>
              <a:rPr lang="en-IN" dirty="0">
                <a:highlight>
                  <a:srgbClr val="00FFFF"/>
                </a:highlight>
              </a:rPr>
              <a:t>Fragmentation</a:t>
            </a:r>
          </a:p>
        </p:txBody>
      </p:sp>
      <p:sp>
        <p:nvSpPr>
          <p:cNvPr id="5" name="TextBox 4">
            <a:extLst>
              <a:ext uri="{FF2B5EF4-FFF2-40B4-BE49-F238E27FC236}">
                <a16:creationId xmlns:a16="http://schemas.microsoft.com/office/drawing/2014/main" id="{8F3FA484-C1BD-48D7-BF53-9B35744B2465}"/>
              </a:ext>
            </a:extLst>
          </p:cNvPr>
          <p:cNvSpPr txBox="1"/>
          <p:nvPr/>
        </p:nvSpPr>
        <p:spPr>
          <a:xfrm>
            <a:off x="7268994" y="6387028"/>
            <a:ext cx="6094378" cy="461665"/>
          </a:xfrm>
          <a:prstGeom prst="rect">
            <a:avLst/>
          </a:prstGeom>
          <a:noFill/>
        </p:spPr>
        <p:txBody>
          <a:bodyPr wrap="square">
            <a:spAutoFit/>
          </a:bodyPr>
          <a:lstStyle/>
          <a:p>
            <a:r>
              <a:rPr lang="en-IN" sz="1200" dirty="0">
                <a:hlinkClick r:id="rId3"/>
              </a:rPr>
              <a:t>https://prepinsta.com/operating-systems/fragmentation/</a:t>
            </a:r>
            <a:endParaRPr lang="en-IN" sz="1200" dirty="0"/>
          </a:p>
          <a:p>
            <a:endParaRPr lang="en-IN" sz="1200" dirty="0"/>
          </a:p>
        </p:txBody>
      </p:sp>
      <p:sp>
        <p:nvSpPr>
          <p:cNvPr id="4" name="TextBox 3">
            <a:extLst>
              <a:ext uri="{FF2B5EF4-FFF2-40B4-BE49-F238E27FC236}">
                <a16:creationId xmlns:a16="http://schemas.microsoft.com/office/drawing/2014/main" id="{3D4BE67C-C744-438A-9CC2-6EA74269253E}"/>
              </a:ext>
            </a:extLst>
          </p:cNvPr>
          <p:cNvSpPr txBox="1"/>
          <p:nvPr/>
        </p:nvSpPr>
        <p:spPr>
          <a:xfrm>
            <a:off x="783077" y="2189677"/>
            <a:ext cx="6682902" cy="1697068"/>
          </a:xfrm>
          <a:prstGeom prst="rect">
            <a:avLst/>
          </a:prstGeom>
          <a:noFill/>
        </p:spPr>
        <p:txBody>
          <a:bodyPr wrap="square">
            <a:spAutoFit/>
          </a:bodyPr>
          <a:lstStyle/>
          <a:p>
            <a:pPr algn="l">
              <a:lnSpc>
                <a:spcPct val="150000"/>
              </a:lnSpc>
            </a:pPr>
            <a:r>
              <a:rPr lang="en-US" sz="2400" dirty="0">
                <a:solidFill>
                  <a:srgbClr val="343434"/>
                </a:solidFill>
                <a:highlight>
                  <a:srgbClr val="FFFFFF"/>
                </a:highlight>
                <a:ea typeface="roboto" panose="02000000000000000000" pitchFamily="2" charset="0"/>
                <a:cs typeface="roboto" panose="02000000000000000000" pitchFamily="2" charset="0"/>
              </a:rPr>
              <a:t>Fragmentation is of the following two types –</a:t>
            </a:r>
          </a:p>
          <a:p>
            <a:pPr algn="l">
              <a:lnSpc>
                <a:spcPct val="150000"/>
              </a:lnSpc>
              <a:buFont typeface="+mj-lt"/>
              <a:buAutoNum type="arabicPeriod"/>
            </a:pPr>
            <a:r>
              <a:rPr lang="en-US" sz="2400" dirty="0">
                <a:solidFill>
                  <a:srgbClr val="343434"/>
                </a:solidFill>
                <a:highlight>
                  <a:srgbClr val="FFFFFF"/>
                </a:highlight>
                <a:ea typeface="roboto" panose="02000000000000000000" pitchFamily="2" charset="0"/>
                <a:cs typeface="roboto" panose="02000000000000000000" pitchFamily="2" charset="0"/>
              </a:rPr>
              <a:t>Internal Fragmentation</a:t>
            </a:r>
          </a:p>
          <a:p>
            <a:pPr algn="l">
              <a:lnSpc>
                <a:spcPct val="150000"/>
              </a:lnSpc>
              <a:buFont typeface="+mj-lt"/>
              <a:buAutoNum type="arabicPeriod"/>
            </a:pPr>
            <a:r>
              <a:rPr lang="en-US" sz="2400" dirty="0">
                <a:solidFill>
                  <a:srgbClr val="343434"/>
                </a:solidFill>
                <a:highlight>
                  <a:srgbClr val="FFFFFF"/>
                </a:highlight>
                <a:ea typeface="roboto" panose="02000000000000000000" pitchFamily="2" charset="0"/>
                <a:cs typeface="roboto" panose="02000000000000000000" pitchFamily="2" charset="0"/>
              </a:rPr>
              <a:t>External Fragmentation</a:t>
            </a:r>
          </a:p>
        </p:txBody>
      </p:sp>
    </p:spTree>
    <p:extLst>
      <p:ext uri="{BB962C8B-B14F-4D97-AF65-F5344CB8AC3E}">
        <p14:creationId xmlns:p14="http://schemas.microsoft.com/office/powerpoint/2010/main" val="359669935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6" name="TextBox 5">
            <a:extLst>
              <a:ext uri="{FF2B5EF4-FFF2-40B4-BE49-F238E27FC236}">
                <a16:creationId xmlns:a16="http://schemas.microsoft.com/office/drawing/2014/main" id="{C09DC910-0479-BB03-D911-0AEC62C5DB56}"/>
              </a:ext>
            </a:extLst>
          </p:cNvPr>
          <p:cNvSpPr txBox="1"/>
          <p:nvPr/>
        </p:nvSpPr>
        <p:spPr>
          <a:xfrm>
            <a:off x="595818" y="1196501"/>
            <a:ext cx="6094378" cy="369332"/>
          </a:xfrm>
          <a:prstGeom prst="rect">
            <a:avLst/>
          </a:prstGeom>
          <a:noFill/>
        </p:spPr>
        <p:txBody>
          <a:bodyPr wrap="square">
            <a:spAutoFit/>
          </a:bodyPr>
          <a:lstStyle/>
          <a:p>
            <a:r>
              <a:rPr lang="en-IN" dirty="0">
                <a:highlight>
                  <a:srgbClr val="00FFFF"/>
                </a:highlight>
              </a:rPr>
              <a:t>Fragmentation – </a:t>
            </a:r>
            <a:r>
              <a:rPr lang="en-IN" dirty="0">
                <a:highlight>
                  <a:srgbClr val="FFFF00"/>
                </a:highlight>
              </a:rPr>
              <a:t>Internal Fragmentation</a:t>
            </a:r>
          </a:p>
        </p:txBody>
      </p:sp>
      <p:sp>
        <p:nvSpPr>
          <p:cNvPr id="5" name="TextBox 4">
            <a:extLst>
              <a:ext uri="{FF2B5EF4-FFF2-40B4-BE49-F238E27FC236}">
                <a16:creationId xmlns:a16="http://schemas.microsoft.com/office/drawing/2014/main" id="{8F3FA484-C1BD-48D7-BF53-9B35744B2465}"/>
              </a:ext>
            </a:extLst>
          </p:cNvPr>
          <p:cNvSpPr txBox="1"/>
          <p:nvPr/>
        </p:nvSpPr>
        <p:spPr>
          <a:xfrm>
            <a:off x="7268994" y="6387028"/>
            <a:ext cx="6094378" cy="461665"/>
          </a:xfrm>
          <a:prstGeom prst="rect">
            <a:avLst/>
          </a:prstGeom>
          <a:noFill/>
        </p:spPr>
        <p:txBody>
          <a:bodyPr wrap="square">
            <a:spAutoFit/>
          </a:bodyPr>
          <a:lstStyle/>
          <a:p>
            <a:r>
              <a:rPr lang="en-IN" sz="1200" dirty="0">
                <a:hlinkClick r:id="rId3"/>
              </a:rPr>
              <a:t>https://prepinsta.com/operating-systems/fragmentation/</a:t>
            </a:r>
            <a:endParaRPr lang="en-IN" sz="1200" dirty="0"/>
          </a:p>
          <a:p>
            <a:endParaRPr lang="en-IN" sz="1200" dirty="0"/>
          </a:p>
        </p:txBody>
      </p:sp>
      <p:sp>
        <p:nvSpPr>
          <p:cNvPr id="2" name="TextBox 1">
            <a:extLst>
              <a:ext uri="{FF2B5EF4-FFF2-40B4-BE49-F238E27FC236}">
                <a16:creationId xmlns:a16="http://schemas.microsoft.com/office/drawing/2014/main" id="{2187672D-2BC3-B610-6ACD-6A01304E0580}"/>
              </a:ext>
            </a:extLst>
          </p:cNvPr>
          <p:cNvSpPr txBox="1"/>
          <p:nvPr/>
        </p:nvSpPr>
        <p:spPr>
          <a:xfrm>
            <a:off x="567828" y="1526155"/>
            <a:ext cx="10807430" cy="1143070"/>
          </a:xfrm>
          <a:prstGeom prst="rect">
            <a:avLst/>
          </a:prstGeom>
          <a:noFill/>
        </p:spPr>
        <p:txBody>
          <a:bodyPr wrap="square" rtlCol="0">
            <a:spAutoFit/>
          </a:bodyPr>
          <a:lstStyle/>
          <a:p>
            <a:pPr algn="just">
              <a:lnSpc>
                <a:spcPct val="150000"/>
              </a:lnSpc>
            </a:pPr>
            <a:r>
              <a:rPr lang="en-IN" sz="2400" dirty="0"/>
              <a:t>The memory block assigned can comfortably fill in the process space but the assigned size is way bigger than the required size, so waste of memory occurs</a:t>
            </a:r>
          </a:p>
        </p:txBody>
      </p:sp>
      <p:pic>
        <p:nvPicPr>
          <p:cNvPr id="7" name="Picture 6">
            <a:extLst>
              <a:ext uri="{FF2B5EF4-FFF2-40B4-BE49-F238E27FC236}">
                <a16:creationId xmlns:a16="http://schemas.microsoft.com/office/drawing/2014/main" id="{11796ECB-E21A-FA41-788E-E78D20E6B053}"/>
              </a:ext>
            </a:extLst>
          </p:cNvPr>
          <p:cNvPicPr>
            <a:picLocks noChangeAspect="1"/>
          </p:cNvPicPr>
          <p:nvPr/>
        </p:nvPicPr>
        <p:blipFill rotWithShape="1">
          <a:blip r:embed="rId4"/>
          <a:srcRect l="10149" t="23559" r="8766" b="14163"/>
          <a:stretch/>
        </p:blipFill>
        <p:spPr>
          <a:xfrm>
            <a:off x="2743200" y="2669225"/>
            <a:ext cx="6927976" cy="3325645"/>
          </a:xfrm>
          <a:prstGeom prst="rect">
            <a:avLst/>
          </a:prstGeom>
        </p:spPr>
      </p:pic>
    </p:spTree>
    <p:extLst>
      <p:ext uri="{BB962C8B-B14F-4D97-AF65-F5344CB8AC3E}">
        <p14:creationId xmlns:p14="http://schemas.microsoft.com/office/powerpoint/2010/main" val="382772858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6" name="TextBox 5">
            <a:extLst>
              <a:ext uri="{FF2B5EF4-FFF2-40B4-BE49-F238E27FC236}">
                <a16:creationId xmlns:a16="http://schemas.microsoft.com/office/drawing/2014/main" id="{C09DC910-0479-BB03-D911-0AEC62C5DB56}"/>
              </a:ext>
            </a:extLst>
          </p:cNvPr>
          <p:cNvSpPr txBox="1"/>
          <p:nvPr/>
        </p:nvSpPr>
        <p:spPr>
          <a:xfrm>
            <a:off x="595818" y="1196501"/>
            <a:ext cx="6094378" cy="369332"/>
          </a:xfrm>
          <a:prstGeom prst="rect">
            <a:avLst/>
          </a:prstGeom>
          <a:noFill/>
        </p:spPr>
        <p:txBody>
          <a:bodyPr wrap="square">
            <a:spAutoFit/>
          </a:bodyPr>
          <a:lstStyle/>
          <a:p>
            <a:r>
              <a:rPr lang="en-IN" dirty="0">
                <a:highlight>
                  <a:srgbClr val="00FFFF"/>
                </a:highlight>
              </a:rPr>
              <a:t>Fragmentation – </a:t>
            </a:r>
            <a:r>
              <a:rPr lang="en-IN" dirty="0">
                <a:highlight>
                  <a:srgbClr val="FFFF00"/>
                </a:highlight>
              </a:rPr>
              <a:t>External Fragmentation</a:t>
            </a:r>
          </a:p>
        </p:txBody>
      </p:sp>
      <p:sp>
        <p:nvSpPr>
          <p:cNvPr id="5" name="TextBox 4">
            <a:extLst>
              <a:ext uri="{FF2B5EF4-FFF2-40B4-BE49-F238E27FC236}">
                <a16:creationId xmlns:a16="http://schemas.microsoft.com/office/drawing/2014/main" id="{8F3FA484-C1BD-48D7-BF53-9B35744B2465}"/>
              </a:ext>
            </a:extLst>
          </p:cNvPr>
          <p:cNvSpPr txBox="1"/>
          <p:nvPr/>
        </p:nvSpPr>
        <p:spPr>
          <a:xfrm>
            <a:off x="7268994" y="6387028"/>
            <a:ext cx="6094378" cy="461665"/>
          </a:xfrm>
          <a:prstGeom prst="rect">
            <a:avLst/>
          </a:prstGeom>
          <a:noFill/>
        </p:spPr>
        <p:txBody>
          <a:bodyPr wrap="square">
            <a:spAutoFit/>
          </a:bodyPr>
          <a:lstStyle/>
          <a:p>
            <a:r>
              <a:rPr lang="en-IN" sz="1200" dirty="0">
                <a:hlinkClick r:id="rId3"/>
              </a:rPr>
              <a:t>https://prepinsta.com/operating-systems/fragmentation/</a:t>
            </a:r>
            <a:endParaRPr lang="en-IN" sz="1200" dirty="0"/>
          </a:p>
          <a:p>
            <a:endParaRPr lang="en-IN" sz="1200" dirty="0"/>
          </a:p>
        </p:txBody>
      </p:sp>
      <p:sp>
        <p:nvSpPr>
          <p:cNvPr id="8" name="TextBox 7">
            <a:extLst>
              <a:ext uri="{FF2B5EF4-FFF2-40B4-BE49-F238E27FC236}">
                <a16:creationId xmlns:a16="http://schemas.microsoft.com/office/drawing/2014/main" id="{6B406B58-889E-7F12-9605-3DAB3F9F7540}"/>
              </a:ext>
            </a:extLst>
          </p:cNvPr>
          <p:cNvSpPr txBox="1"/>
          <p:nvPr/>
        </p:nvSpPr>
        <p:spPr>
          <a:xfrm>
            <a:off x="595817" y="1634645"/>
            <a:ext cx="10989825" cy="1143070"/>
          </a:xfrm>
          <a:prstGeom prst="rect">
            <a:avLst/>
          </a:prstGeom>
          <a:noFill/>
        </p:spPr>
        <p:txBody>
          <a:bodyPr wrap="square">
            <a:spAutoFit/>
          </a:bodyPr>
          <a:lstStyle/>
          <a:p>
            <a:pPr algn="just">
              <a:lnSpc>
                <a:spcPct val="150000"/>
              </a:lnSpc>
            </a:pPr>
            <a:r>
              <a:rPr lang="en-US" sz="2400" dirty="0"/>
              <a:t>The memory space in the system can comfortably satisfy the processes, but the available memory space is non-contiguous, thus it further can’t be utilized.</a:t>
            </a:r>
            <a:endParaRPr lang="en-IN" sz="2400" dirty="0"/>
          </a:p>
        </p:txBody>
      </p:sp>
      <p:pic>
        <p:nvPicPr>
          <p:cNvPr id="10244" name="Picture 4" descr="External fragmentation">
            <a:extLst>
              <a:ext uri="{FF2B5EF4-FFF2-40B4-BE49-F238E27FC236}">
                <a16:creationId xmlns:a16="http://schemas.microsoft.com/office/drawing/2014/main" id="{535B38B3-C5D1-5D5B-752E-657037216C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4244" y="3054942"/>
            <a:ext cx="5838825" cy="2809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610529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5" name="TextBox 4">
            <a:extLst>
              <a:ext uri="{FF2B5EF4-FFF2-40B4-BE49-F238E27FC236}">
                <a16:creationId xmlns:a16="http://schemas.microsoft.com/office/drawing/2014/main" id="{8F3FA484-C1BD-48D7-BF53-9B35744B2465}"/>
              </a:ext>
            </a:extLst>
          </p:cNvPr>
          <p:cNvSpPr txBox="1"/>
          <p:nvPr/>
        </p:nvSpPr>
        <p:spPr>
          <a:xfrm>
            <a:off x="7268994" y="6387028"/>
            <a:ext cx="6094378" cy="461665"/>
          </a:xfrm>
          <a:prstGeom prst="rect">
            <a:avLst/>
          </a:prstGeom>
          <a:noFill/>
        </p:spPr>
        <p:txBody>
          <a:bodyPr wrap="square">
            <a:spAutoFit/>
          </a:bodyPr>
          <a:lstStyle/>
          <a:p>
            <a:r>
              <a:rPr lang="en-IN" sz="1200" dirty="0">
                <a:hlinkClick r:id="rId3"/>
              </a:rPr>
              <a:t>https://prepinsta.com/operating-systems/fragmentation/</a:t>
            </a:r>
            <a:endParaRPr lang="en-IN" sz="1200" dirty="0"/>
          </a:p>
          <a:p>
            <a:endParaRPr lang="en-IN" sz="1200" dirty="0"/>
          </a:p>
        </p:txBody>
      </p:sp>
      <p:pic>
        <p:nvPicPr>
          <p:cNvPr id="4" name="Picture 3">
            <a:extLst>
              <a:ext uri="{FF2B5EF4-FFF2-40B4-BE49-F238E27FC236}">
                <a16:creationId xmlns:a16="http://schemas.microsoft.com/office/drawing/2014/main" id="{ED14F78A-0B47-1E2B-F7FE-C5FA4FC1F6EF}"/>
              </a:ext>
            </a:extLst>
          </p:cNvPr>
          <p:cNvPicPr>
            <a:picLocks noChangeAspect="1"/>
          </p:cNvPicPr>
          <p:nvPr/>
        </p:nvPicPr>
        <p:blipFill rotWithShape="1">
          <a:blip r:embed="rId4"/>
          <a:srcRect l="2562" t="33687" r="1857" b="17475"/>
          <a:stretch/>
        </p:blipFill>
        <p:spPr>
          <a:xfrm>
            <a:off x="769802" y="2574585"/>
            <a:ext cx="10264465" cy="3277910"/>
          </a:xfrm>
          <a:prstGeom prst="rect">
            <a:avLst/>
          </a:prstGeom>
        </p:spPr>
      </p:pic>
      <p:sp>
        <p:nvSpPr>
          <p:cNvPr id="7" name="TextBox 6">
            <a:extLst>
              <a:ext uri="{FF2B5EF4-FFF2-40B4-BE49-F238E27FC236}">
                <a16:creationId xmlns:a16="http://schemas.microsoft.com/office/drawing/2014/main" id="{A0DE9BFA-6008-E94C-64A0-F1ECB13B6F43}"/>
              </a:ext>
            </a:extLst>
          </p:cNvPr>
          <p:cNvSpPr txBox="1"/>
          <p:nvPr/>
        </p:nvSpPr>
        <p:spPr>
          <a:xfrm>
            <a:off x="418290" y="1196501"/>
            <a:ext cx="5483745" cy="369332"/>
          </a:xfrm>
          <a:prstGeom prst="rect">
            <a:avLst/>
          </a:prstGeom>
          <a:noFill/>
        </p:spPr>
        <p:txBody>
          <a:bodyPr wrap="none" rtlCol="0">
            <a:spAutoFit/>
          </a:bodyPr>
          <a:lstStyle/>
          <a:p>
            <a:r>
              <a:rPr lang="en-IN" dirty="0">
                <a:highlight>
                  <a:srgbClr val="00FFFF"/>
                </a:highlight>
              </a:rPr>
              <a:t>Difference Between Internal and External Fragmentation</a:t>
            </a:r>
          </a:p>
        </p:txBody>
      </p:sp>
      <p:sp>
        <p:nvSpPr>
          <p:cNvPr id="9" name="TextBox 8">
            <a:extLst>
              <a:ext uri="{FF2B5EF4-FFF2-40B4-BE49-F238E27FC236}">
                <a16:creationId xmlns:a16="http://schemas.microsoft.com/office/drawing/2014/main" id="{56D1AEAA-1840-3CA4-9521-927E63208209}"/>
              </a:ext>
            </a:extLst>
          </p:cNvPr>
          <p:cNvSpPr txBox="1"/>
          <p:nvPr/>
        </p:nvSpPr>
        <p:spPr>
          <a:xfrm>
            <a:off x="1692368" y="2205253"/>
            <a:ext cx="2346733" cy="369332"/>
          </a:xfrm>
          <a:prstGeom prst="rect">
            <a:avLst/>
          </a:prstGeom>
          <a:noFill/>
          <a:ln>
            <a:solidFill>
              <a:schemeClr val="accent1"/>
            </a:solidFill>
          </a:ln>
        </p:spPr>
        <p:txBody>
          <a:bodyPr wrap="none" rtlCol="0">
            <a:spAutoFit/>
          </a:bodyPr>
          <a:lstStyle/>
          <a:p>
            <a:r>
              <a:rPr lang="en-IN" dirty="0"/>
              <a:t>Internal Fragmentation</a:t>
            </a:r>
          </a:p>
        </p:txBody>
      </p:sp>
      <p:sp>
        <p:nvSpPr>
          <p:cNvPr id="10" name="TextBox 9">
            <a:extLst>
              <a:ext uri="{FF2B5EF4-FFF2-40B4-BE49-F238E27FC236}">
                <a16:creationId xmlns:a16="http://schemas.microsoft.com/office/drawing/2014/main" id="{535796F9-92F2-E55C-53BF-B97E0F8FA731}"/>
              </a:ext>
            </a:extLst>
          </p:cNvPr>
          <p:cNvSpPr txBox="1"/>
          <p:nvPr/>
        </p:nvSpPr>
        <p:spPr>
          <a:xfrm>
            <a:off x="7126342" y="2205253"/>
            <a:ext cx="2381614" cy="369332"/>
          </a:xfrm>
          <a:prstGeom prst="rect">
            <a:avLst/>
          </a:prstGeom>
          <a:noFill/>
          <a:ln>
            <a:solidFill>
              <a:schemeClr val="accent1"/>
            </a:solidFill>
          </a:ln>
        </p:spPr>
        <p:txBody>
          <a:bodyPr wrap="none" rtlCol="0">
            <a:spAutoFit/>
          </a:bodyPr>
          <a:lstStyle/>
          <a:p>
            <a:r>
              <a:rPr lang="en-IN" dirty="0"/>
              <a:t>External Fragmentation</a:t>
            </a:r>
          </a:p>
        </p:txBody>
      </p:sp>
    </p:spTree>
    <p:extLst>
      <p:ext uri="{BB962C8B-B14F-4D97-AF65-F5344CB8AC3E}">
        <p14:creationId xmlns:p14="http://schemas.microsoft.com/office/powerpoint/2010/main" val="407462418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7" name="TextBox 6">
            <a:extLst>
              <a:ext uri="{FF2B5EF4-FFF2-40B4-BE49-F238E27FC236}">
                <a16:creationId xmlns:a16="http://schemas.microsoft.com/office/drawing/2014/main" id="{A0DE9BFA-6008-E94C-64A0-F1ECB13B6F43}"/>
              </a:ext>
            </a:extLst>
          </p:cNvPr>
          <p:cNvSpPr txBox="1"/>
          <p:nvPr/>
        </p:nvSpPr>
        <p:spPr>
          <a:xfrm>
            <a:off x="418290" y="1196501"/>
            <a:ext cx="1317990" cy="369332"/>
          </a:xfrm>
          <a:prstGeom prst="rect">
            <a:avLst/>
          </a:prstGeom>
          <a:noFill/>
        </p:spPr>
        <p:txBody>
          <a:bodyPr wrap="none" rtlCol="0">
            <a:spAutoFit/>
          </a:bodyPr>
          <a:lstStyle/>
          <a:p>
            <a:r>
              <a:rPr lang="en-IN" dirty="0">
                <a:highlight>
                  <a:srgbClr val="00FFFF"/>
                </a:highlight>
              </a:rPr>
              <a:t>Compaction</a:t>
            </a:r>
          </a:p>
        </p:txBody>
      </p:sp>
      <p:sp>
        <p:nvSpPr>
          <p:cNvPr id="6" name="TextBox 5">
            <a:extLst>
              <a:ext uri="{FF2B5EF4-FFF2-40B4-BE49-F238E27FC236}">
                <a16:creationId xmlns:a16="http://schemas.microsoft.com/office/drawing/2014/main" id="{51E8B05B-B2C3-2C01-ED40-B55619407AB0}"/>
              </a:ext>
            </a:extLst>
          </p:cNvPr>
          <p:cNvSpPr txBox="1"/>
          <p:nvPr/>
        </p:nvSpPr>
        <p:spPr>
          <a:xfrm>
            <a:off x="656616" y="1922933"/>
            <a:ext cx="10209180" cy="203132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One solution to the problem of external fragmentation is </a:t>
            </a:r>
            <a:r>
              <a:rPr lang="en-US" sz="2400" b="1" i="0" u="none" strike="noStrike" baseline="0" dirty="0">
                <a:solidFill>
                  <a:srgbClr val="00AEF0"/>
                </a:solidFill>
              </a:rPr>
              <a:t>compaction. </a:t>
            </a:r>
          </a:p>
          <a:p>
            <a:pPr marL="342900" indent="-342900" algn="just">
              <a:lnSpc>
                <a:spcPct val="150000"/>
              </a:lnSpc>
              <a:buFont typeface="Arial" panose="020B0604020202020204" pitchFamily="34" charset="0"/>
              <a:buChar char="•"/>
            </a:pPr>
            <a:r>
              <a:rPr lang="en-IN" sz="2400" b="0" i="0" u="none" strike="noStrike" baseline="0" dirty="0">
                <a:solidFill>
                  <a:srgbClr val="231F20"/>
                </a:solidFill>
              </a:rPr>
              <a:t>The </a:t>
            </a:r>
            <a:r>
              <a:rPr lang="en-US" sz="2400" b="0" i="0" u="none" strike="noStrike" baseline="0" dirty="0">
                <a:solidFill>
                  <a:srgbClr val="231F20"/>
                </a:solidFill>
              </a:rPr>
              <a:t>goal is to shuffle the memory contents to place all free memory together </a:t>
            </a:r>
            <a:r>
              <a:rPr lang="en-IN" sz="2400" b="0" i="0" u="none" strike="noStrike" baseline="0" dirty="0">
                <a:solidFill>
                  <a:srgbClr val="231F20"/>
                </a:solidFill>
              </a:rPr>
              <a:t>in one large block.</a:t>
            </a:r>
            <a:endParaRPr lang="en-US" sz="2400" b="1" dirty="0">
              <a:solidFill>
                <a:srgbClr val="00AEF0"/>
              </a:solidFill>
            </a:endParaRPr>
          </a:p>
          <a:p>
            <a:pPr algn="l"/>
            <a:endParaRPr lang="en-IN" dirty="0"/>
          </a:p>
        </p:txBody>
      </p:sp>
    </p:spTree>
    <p:extLst>
      <p:ext uri="{BB962C8B-B14F-4D97-AF65-F5344CB8AC3E}">
        <p14:creationId xmlns:p14="http://schemas.microsoft.com/office/powerpoint/2010/main" val="69025296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7" name="TextBox 6">
            <a:extLst>
              <a:ext uri="{FF2B5EF4-FFF2-40B4-BE49-F238E27FC236}">
                <a16:creationId xmlns:a16="http://schemas.microsoft.com/office/drawing/2014/main" id="{A0DE9BFA-6008-E94C-64A0-F1ECB13B6F43}"/>
              </a:ext>
            </a:extLst>
          </p:cNvPr>
          <p:cNvSpPr txBox="1"/>
          <p:nvPr/>
        </p:nvSpPr>
        <p:spPr>
          <a:xfrm>
            <a:off x="418290" y="1196501"/>
            <a:ext cx="1317990" cy="369332"/>
          </a:xfrm>
          <a:prstGeom prst="rect">
            <a:avLst/>
          </a:prstGeom>
          <a:noFill/>
        </p:spPr>
        <p:txBody>
          <a:bodyPr wrap="none" rtlCol="0">
            <a:spAutoFit/>
          </a:bodyPr>
          <a:lstStyle/>
          <a:p>
            <a:r>
              <a:rPr lang="en-IN" dirty="0">
                <a:highlight>
                  <a:srgbClr val="00FFFF"/>
                </a:highlight>
              </a:rPr>
              <a:t>Compaction</a:t>
            </a:r>
          </a:p>
        </p:txBody>
      </p:sp>
      <p:pic>
        <p:nvPicPr>
          <p:cNvPr id="1026" name="Picture 2" descr="Compaction in OS » CS Taleem">
            <a:extLst>
              <a:ext uri="{FF2B5EF4-FFF2-40B4-BE49-F238E27FC236}">
                <a16:creationId xmlns:a16="http://schemas.microsoft.com/office/drawing/2014/main" id="{7B0E3A61-26F4-1494-4C55-3A504C70A4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1377" y="1450225"/>
            <a:ext cx="8882772" cy="5206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652522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1922386" cy="461665"/>
          </a:xfrm>
          <a:prstGeom prst="rect">
            <a:avLst/>
          </a:prstGeom>
          <a:noFill/>
        </p:spPr>
        <p:txBody>
          <a:bodyPr wrap="none" rtlCol="0">
            <a:spAutoFit/>
          </a:bodyPr>
          <a:lstStyle/>
          <a:p>
            <a:r>
              <a:rPr lang="en-IN" sz="2400" dirty="0">
                <a:highlight>
                  <a:srgbClr val="00FFFF"/>
                </a:highlight>
              </a:rPr>
              <a:t>Segmentation</a:t>
            </a:r>
          </a:p>
        </p:txBody>
      </p:sp>
      <p:sp>
        <p:nvSpPr>
          <p:cNvPr id="5" name="TextBox 4">
            <a:extLst>
              <a:ext uri="{FF2B5EF4-FFF2-40B4-BE49-F238E27FC236}">
                <a16:creationId xmlns:a16="http://schemas.microsoft.com/office/drawing/2014/main" id="{C74BF2F3-6360-BB6F-2CCE-74250ACCAD05}"/>
              </a:ext>
            </a:extLst>
          </p:cNvPr>
          <p:cNvSpPr txBox="1"/>
          <p:nvPr/>
        </p:nvSpPr>
        <p:spPr>
          <a:xfrm>
            <a:off x="739302" y="2228671"/>
            <a:ext cx="5583677" cy="2805063"/>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1" i="0" u="none" strike="noStrike" baseline="0" dirty="0">
                <a:solidFill>
                  <a:srgbClr val="00AEF0"/>
                </a:solidFill>
              </a:rPr>
              <a:t>Segmentation </a:t>
            </a:r>
            <a:r>
              <a:rPr lang="en-US" sz="2400" b="0" i="0" u="none" strike="noStrike" baseline="0" dirty="0">
                <a:solidFill>
                  <a:srgbClr val="231F20"/>
                </a:solidFill>
              </a:rPr>
              <a:t>is a memory-management scheme that supports this programmer view of memory.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A logical address space is a collection of segments.</a:t>
            </a:r>
            <a:endParaRPr lang="en-IN" sz="2400" dirty="0"/>
          </a:p>
        </p:txBody>
      </p:sp>
      <p:pic>
        <p:nvPicPr>
          <p:cNvPr id="8" name="Picture 7">
            <a:extLst>
              <a:ext uri="{FF2B5EF4-FFF2-40B4-BE49-F238E27FC236}">
                <a16:creationId xmlns:a16="http://schemas.microsoft.com/office/drawing/2014/main" id="{218310E2-A0CB-0B1C-5BA2-30E30E4674F0}"/>
              </a:ext>
            </a:extLst>
          </p:cNvPr>
          <p:cNvPicPr>
            <a:picLocks noChangeAspect="1"/>
          </p:cNvPicPr>
          <p:nvPr/>
        </p:nvPicPr>
        <p:blipFill>
          <a:blip r:embed="rId3"/>
          <a:stretch>
            <a:fillRect/>
          </a:stretch>
        </p:blipFill>
        <p:spPr>
          <a:xfrm>
            <a:off x="6989751" y="1804081"/>
            <a:ext cx="4029637" cy="4143953"/>
          </a:xfrm>
          <a:prstGeom prst="rect">
            <a:avLst/>
          </a:prstGeom>
        </p:spPr>
      </p:pic>
    </p:spTree>
    <p:extLst>
      <p:ext uri="{BB962C8B-B14F-4D97-AF65-F5344CB8AC3E}">
        <p14:creationId xmlns:p14="http://schemas.microsoft.com/office/powerpoint/2010/main" val="313548764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1922386" cy="461665"/>
          </a:xfrm>
          <a:prstGeom prst="rect">
            <a:avLst/>
          </a:prstGeom>
          <a:noFill/>
        </p:spPr>
        <p:txBody>
          <a:bodyPr wrap="none" rtlCol="0">
            <a:spAutoFit/>
          </a:bodyPr>
          <a:lstStyle/>
          <a:p>
            <a:r>
              <a:rPr lang="en-IN" sz="2400" dirty="0">
                <a:highlight>
                  <a:srgbClr val="00FFFF"/>
                </a:highlight>
              </a:rPr>
              <a:t>Segmentation</a:t>
            </a:r>
          </a:p>
        </p:txBody>
      </p:sp>
      <p:sp>
        <p:nvSpPr>
          <p:cNvPr id="6" name="TextBox 5">
            <a:extLst>
              <a:ext uri="{FF2B5EF4-FFF2-40B4-BE49-F238E27FC236}">
                <a16:creationId xmlns:a16="http://schemas.microsoft.com/office/drawing/2014/main" id="{6707604A-991B-11E4-078D-7BFFC1447457}"/>
              </a:ext>
            </a:extLst>
          </p:cNvPr>
          <p:cNvSpPr txBox="1"/>
          <p:nvPr/>
        </p:nvSpPr>
        <p:spPr>
          <a:xfrm>
            <a:off x="852269" y="2176253"/>
            <a:ext cx="10758791" cy="3359061"/>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solidFill>
                  <a:srgbClr val="231F20"/>
                </a:solidFill>
              </a:rPr>
              <a:t>Each segment has a name and a length. </a:t>
            </a:r>
          </a:p>
          <a:p>
            <a:pPr marL="342900" indent="-342900" algn="just">
              <a:lnSpc>
                <a:spcPct val="150000"/>
              </a:lnSpc>
              <a:buFont typeface="Arial" panose="020B0604020202020204" pitchFamily="34" charset="0"/>
              <a:buChar char="•"/>
            </a:pPr>
            <a:r>
              <a:rPr lang="en-US" sz="2400" dirty="0">
                <a:solidFill>
                  <a:srgbClr val="231F20"/>
                </a:solidFill>
              </a:rPr>
              <a:t>The addresses specify both the segment name and the offset within the segment.</a:t>
            </a:r>
          </a:p>
          <a:p>
            <a:pPr marL="342900" indent="-342900" algn="just">
              <a:lnSpc>
                <a:spcPct val="150000"/>
              </a:lnSpc>
              <a:buFont typeface="Arial" panose="020B0604020202020204" pitchFamily="34" charset="0"/>
              <a:buChar char="•"/>
            </a:pPr>
            <a:r>
              <a:rPr lang="en-US" sz="2400" dirty="0">
                <a:solidFill>
                  <a:srgbClr val="231F20"/>
                </a:solidFill>
              </a:rPr>
              <a:t>For simplicity of implementation, segments are numbered and are referred to by a segment number, rather than by a segment name. </a:t>
            </a:r>
          </a:p>
          <a:p>
            <a:pPr marL="342900" indent="-342900" algn="just">
              <a:lnSpc>
                <a:spcPct val="150000"/>
              </a:lnSpc>
              <a:buFont typeface="Arial" panose="020B0604020202020204" pitchFamily="34" charset="0"/>
              <a:buChar char="•"/>
            </a:pPr>
            <a:r>
              <a:rPr lang="en-US" sz="2400" dirty="0">
                <a:solidFill>
                  <a:srgbClr val="231F20"/>
                </a:solidFill>
              </a:rPr>
              <a:t>Thus, a logical address consists of a two tuple:</a:t>
            </a:r>
          </a:p>
          <a:p>
            <a:pPr algn="ctr">
              <a:lnSpc>
                <a:spcPct val="150000"/>
              </a:lnSpc>
            </a:pPr>
            <a:r>
              <a:rPr lang="en-IN" sz="2400" i="1" dirty="0">
                <a:solidFill>
                  <a:srgbClr val="FF0000"/>
                </a:solidFill>
              </a:rPr>
              <a:t>&lt;segment-number, offset&gt;</a:t>
            </a:r>
          </a:p>
        </p:txBody>
      </p:sp>
    </p:spTree>
    <p:extLst>
      <p:ext uri="{BB962C8B-B14F-4D97-AF65-F5344CB8AC3E}">
        <p14:creationId xmlns:p14="http://schemas.microsoft.com/office/powerpoint/2010/main" val="227571442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1922386" cy="461665"/>
          </a:xfrm>
          <a:prstGeom prst="rect">
            <a:avLst/>
          </a:prstGeom>
          <a:noFill/>
        </p:spPr>
        <p:txBody>
          <a:bodyPr wrap="none" rtlCol="0">
            <a:spAutoFit/>
          </a:bodyPr>
          <a:lstStyle/>
          <a:p>
            <a:r>
              <a:rPr lang="en-IN" sz="2400" dirty="0">
                <a:highlight>
                  <a:srgbClr val="00FFFF"/>
                </a:highlight>
              </a:rPr>
              <a:t>Segmentation</a:t>
            </a:r>
          </a:p>
        </p:txBody>
      </p:sp>
      <p:sp>
        <p:nvSpPr>
          <p:cNvPr id="5" name="TextBox 4">
            <a:extLst>
              <a:ext uri="{FF2B5EF4-FFF2-40B4-BE49-F238E27FC236}">
                <a16:creationId xmlns:a16="http://schemas.microsoft.com/office/drawing/2014/main" id="{C16C4864-D758-841E-2062-5553FE704888}"/>
              </a:ext>
            </a:extLst>
          </p:cNvPr>
          <p:cNvSpPr txBox="1"/>
          <p:nvPr/>
        </p:nvSpPr>
        <p:spPr>
          <a:xfrm>
            <a:off x="858464" y="2074799"/>
            <a:ext cx="10338071" cy="3359061"/>
          </a:xfrm>
          <a:prstGeom prst="rect">
            <a:avLst/>
          </a:prstGeom>
          <a:noFill/>
        </p:spPr>
        <p:txBody>
          <a:bodyPr wrap="square">
            <a:spAutoFit/>
          </a:bodyPr>
          <a:lstStyle/>
          <a:p>
            <a:pPr algn="just">
              <a:lnSpc>
                <a:spcPct val="150000"/>
              </a:lnSpc>
            </a:pPr>
            <a:r>
              <a:rPr lang="en-US" sz="2400" b="0" i="0" u="none" strike="noStrike" baseline="0" dirty="0">
                <a:solidFill>
                  <a:srgbClr val="231F20"/>
                </a:solidFill>
              </a:rPr>
              <a:t>A C compiler might create separate segments for the following:</a:t>
            </a:r>
          </a:p>
          <a:p>
            <a:pPr algn="just">
              <a:lnSpc>
                <a:spcPct val="150000"/>
              </a:lnSpc>
            </a:pPr>
            <a:r>
              <a:rPr lang="en-IN" sz="2400" b="1" i="0" u="none" strike="noStrike" baseline="0" dirty="0">
                <a:solidFill>
                  <a:srgbClr val="00AEF0"/>
                </a:solidFill>
              </a:rPr>
              <a:t>1. </a:t>
            </a:r>
            <a:r>
              <a:rPr lang="en-IN" sz="2400" b="0" i="0" u="none" strike="noStrike" baseline="0" dirty="0">
                <a:solidFill>
                  <a:srgbClr val="231F20"/>
                </a:solidFill>
              </a:rPr>
              <a:t>The code</a:t>
            </a:r>
          </a:p>
          <a:p>
            <a:pPr algn="just">
              <a:lnSpc>
                <a:spcPct val="150000"/>
              </a:lnSpc>
            </a:pPr>
            <a:r>
              <a:rPr lang="en-IN" sz="2400" b="1" i="0" u="none" strike="noStrike" baseline="0" dirty="0">
                <a:solidFill>
                  <a:srgbClr val="00AEF0"/>
                </a:solidFill>
              </a:rPr>
              <a:t>2. </a:t>
            </a:r>
            <a:r>
              <a:rPr lang="en-IN" sz="2400" b="0" i="0" u="none" strike="noStrike" baseline="0" dirty="0">
                <a:solidFill>
                  <a:srgbClr val="231F20"/>
                </a:solidFill>
              </a:rPr>
              <a:t>Global variables</a:t>
            </a:r>
          </a:p>
          <a:p>
            <a:pPr algn="just">
              <a:lnSpc>
                <a:spcPct val="150000"/>
              </a:lnSpc>
            </a:pPr>
            <a:r>
              <a:rPr lang="en-US" sz="2400" b="1" i="0" u="none" strike="noStrike" baseline="0" dirty="0">
                <a:solidFill>
                  <a:srgbClr val="00AEF0"/>
                </a:solidFill>
              </a:rPr>
              <a:t>3. </a:t>
            </a:r>
            <a:r>
              <a:rPr lang="en-US" sz="2400" b="0" i="0" u="none" strike="noStrike" baseline="0" dirty="0">
                <a:solidFill>
                  <a:srgbClr val="231F20"/>
                </a:solidFill>
              </a:rPr>
              <a:t>The heap, from which memory is allocated</a:t>
            </a:r>
          </a:p>
          <a:p>
            <a:pPr algn="just">
              <a:lnSpc>
                <a:spcPct val="150000"/>
              </a:lnSpc>
            </a:pPr>
            <a:r>
              <a:rPr lang="en-US" sz="2400" b="1" i="0" u="none" strike="noStrike" baseline="0" dirty="0">
                <a:solidFill>
                  <a:srgbClr val="00AEF0"/>
                </a:solidFill>
              </a:rPr>
              <a:t>4. </a:t>
            </a:r>
            <a:r>
              <a:rPr lang="en-US" sz="2400" b="0" i="0" u="none" strike="noStrike" baseline="0" dirty="0">
                <a:solidFill>
                  <a:srgbClr val="231F20"/>
                </a:solidFill>
              </a:rPr>
              <a:t>The stacks used by each thread</a:t>
            </a:r>
          </a:p>
          <a:p>
            <a:pPr algn="just">
              <a:lnSpc>
                <a:spcPct val="150000"/>
              </a:lnSpc>
            </a:pPr>
            <a:r>
              <a:rPr lang="en-US" sz="2400" b="1" i="0" u="none" strike="noStrike" baseline="0" dirty="0">
                <a:solidFill>
                  <a:srgbClr val="00AEF0"/>
                </a:solidFill>
              </a:rPr>
              <a:t>5. </a:t>
            </a:r>
            <a:r>
              <a:rPr lang="en-US" sz="2400" b="0" i="0" u="none" strike="noStrike" baseline="0" dirty="0">
                <a:solidFill>
                  <a:srgbClr val="231F20"/>
                </a:solidFill>
              </a:rPr>
              <a:t>The standard C library</a:t>
            </a:r>
            <a:endParaRPr lang="en-IN" sz="2400" dirty="0"/>
          </a:p>
        </p:txBody>
      </p:sp>
    </p:spTree>
    <p:extLst>
      <p:ext uri="{BB962C8B-B14F-4D97-AF65-F5344CB8AC3E}">
        <p14:creationId xmlns:p14="http://schemas.microsoft.com/office/powerpoint/2010/main" val="344311975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3316485" cy="461665"/>
          </a:xfrm>
          <a:prstGeom prst="rect">
            <a:avLst/>
          </a:prstGeom>
          <a:noFill/>
        </p:spPr>
        <p:txBody>
          <a:bodyPr wrap="none" rtlCol="0">
            <a:spAutoFit/>
          </a:bodyPr>
          <a:lstStyle/>
          <a:p>
            <a:r>
              <a:rPr lang="en-IN" sz="2400" dirty="0">
                <a:highlight>
                  <a:srgbClr val="00FFFF"/>
                </a:highlight>
              </a:rPr>
              <a:t>Segmentation Hardware </a:t>
            </a:r>
          </a:p>
        </p:txBody>
      </p:sp>
      <p:sp>
        <p:nvSpPr>
          <p:cNvPr id="8" name="TextBox 7">
            <a:extLst>
              <a:ext uri="{FF2B5EF4-FFF2-40B4-BE49-F238E27FC236}">
                <a16:creationId xmlns:a16="http://schemas.microsoft.com/office/drawing/2014/main" id="{95E71422-3CD4-6155-027F-9482DB8B191A}"/>
              </a:ext>
            </a:extLst>
          </p:cNvPr>
          <p:cNvSpPr txBox="1"/>
          <p:nvPr/>
        </p:nvSpPr>
        <p:spPr>
          <a:xfrm>
            <a:off x="605546" y="2198946"/>
            <a:ext cx="10769711" cy="2805063"/>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The programmer refer to objects in the program by a two-dimensional address, the actual physical memory is still, a one dimensional sequence of bytes.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Thus, we must define an implementation to map two-dimensional user-defined addresses into one-dimensional physical </a:t>
            </a:r>
            <a:r>
              <a:rPr lang="en-IN" sz="2400" dirty="0">
                <a:solidFill>
                  <a:srgbClr val="231F20"/>
                </a:solidFill>
              </a:rPr>
              <a:t>addresses.</a:t>
            </a:r>
          </a:p>
          <a:p>
            <a:pPr marL="342900" indent="-342900" algn="just">
              <a:lnSpc>
                <a:spcPct val="150000"/>
              </a:lnSpc>
              <a:buFont typeface="Arial" panose="020B0604020202020204" pitchFamily="34" charset="0"/>
              <a:buChar char="•"/>
            </a:pPr>
            <a:r>
              <a:rPr lang="en-US" sz="2400" dirty="0">
                <a:solidFill>
                  <a:srgbClr val="231F20"/>
                </a:solidFill>
              </a:rPr>
              <a:t>This mapping is effected by a </a:t>
            </a:r>
            <a:r>
              <a:rPr lang="en-US" sz="2400" dirty="0">
                <a:solidFill>
                  <a:srgbClr val="0070C0"/>
                </a:solidFill>
              </a:rPr>
              <a:t>segment table.</a:t>
            </a:r>
            <a:endParaRPr lang="en-IN" sz="2400" dirty="0">
              <a:solidFill>
                <a:srgbClr val="0070C0"/>
              </a:solidFill>
            </a:endParaRPr>
          </a:p>
        </p:txBody>
      </p:sp>
    </p:spTree>
    <p:extLst>
      <p:ext uri="{BB962C8B-B14F-4D97-AF65-F5344CB8AC3E}">
        <p14:creationId xmlns:p14="http://schemas.microsoft.com/office/powerpoint/2010/main" val="343330022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3316485" cy="461665"/>
          </a:xfrm>
          <a:prstGeom prst="rect">
            <a:avLst/>
          </a:prstGeom>
          <a:noFill/>
        </p:spPr>
        <p:txBody>
          <a:bodyPr wrap="none" rtlCol="0">
            <a:spAutoFit/>
          </a:bodyPr>
          <a:lstStyle/>
          <a:p>
            <a:r>
              <a:rPr lang="en-IN" sz="2400" dirty="0">
                <a:highlight>
                  <a:srgbClr val="00FFFF"/>
                </a:highlight>
              </a:rPr>
              <a:t>Segmentation Hardware </a:t>
            </a:r>
          </a:p>
        </p:txBody>
      </p:sp>
      <p:pic>
        <p:nvPicPr>
          <p:cNvPr id="6" name="Picture 5">
            <a:extLst>
              <a:ext uri="{FF2B5EF4-FFF2-40B4-BE49-F238E27FC236}">
                <a16:creationId xmlns:a16="http://schemas.microsoft.com/office/drawing/2014/main" id="{931E918E-9781-3692-B80B-E5500532826B}"/>
              </a:ext>
            </a:extLst>
          </p:cNvPr>
          <p:cNvPicPr>
            <a:picLocks noChangeAspect="1"/>
          </p:cNvPicPr>
          <p:nvPr/>
        </p:nvPicPr>
        <p:blipFill>
          <a:blip r:embed="rId3"/>
          <a:stretch>
            <a:fillRect/>
          </a:stretch>
        </p:blipFill>
        <p:spPr>
          <a:xfrm>
            <a:off x="3411322" y="1764870"/>
            <a:ext cx="6144482" cy="4391638"/>
          </a:xfrm>
          <a:prstGeom prst="rect">
            <a:avLst/>
          </a:prstGeom>
        </p:spPr>
      </p:pic>
    </p:spTree>
    <p:extLst>
      <p:ext uri="{BB962C8B-B14F-4D97-AF65-F5344CB8AC3E}">
        <p14:creationId xmlns:p14="http://schemas.microsoft.com/office/powerpoint/2010/main" val="200567795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3316485" cy="461665"/>
          </a:xfrm>
          <a:prstGeom prst="rect">
            <a:avLst/>
          </a:prstGeom>
          <a:noFill/>
        </p:spPr>
        <p:txBody>
          <a:bodyPr wrap="none" rtlCol="0">
            <a:spAutoFit/>
          </a:bodyPr>
          <a:lstStyle/>
          <a:p>
            <a:r>
              <a:rPr lang="en-IN" sz="2400" dirty="0">
                <a:highlight>
                  <a:srgbClr val="00FFFF"/>
                </a:highlight>
              </a:rPr>
              <a:t>Segmentation Hardware </a:t>
            </a:r>
          </a:p>
        </p:txBody>
      </p:sp>
      <p:sp>
        <p:nvSpPr>
          <p:cNvPr id="5" name="TextBox 4">
            <a:extLst>
              <a:ext uri="{FF2B5EF4-FFF2-40B4-BE49-F238E27FC236}">
                <a16:creationId xmlns:a16="http://schemas.microsoft.com/office/drawing/2014/main" id="{20B0B7CF-80DD-5759-CE3B-9351DC57E14C}"/>
              </a:ext>
            </a:extLst>
          </p:cNvPr>
          <p:cNvSpPr txBox="1"/>
          <p:nvPr/>
        </p:nvSpPr>
        <p:spPr>
          <a:xfrm>
            <a:off x="739302" y="1929267"/>
            <a:ext cx="10758791" cy="1697068"/>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b="0" i="0" u="none" strike="noStrike" baseline="0" dirty="0">
                <a:solidFill>
                  <a:srgbClr val="231F20"/>
                </a:solidFill>
              </a:rPr>
              <a:t>Each entry in the </a:t>
            </a:r>
            <a:r>
              <a:rPr lang="en-US" sz="2400" b="0" i="0" u="none" strike="noStrike" baseline="0" dirty="0">
                <a:solidFill>
                  <a:srgbClr val="231F20"/>
                </a:solidFill>
              </a:rPr>
              <a:t>segment table has a </a:t>
            </a:r>
            <a:r>
              <a:rPr lang="en-US" sz="2400" b="1" i="0" u="none" strike="noStrike" baseline="0" dirty="0">
                <a:solidFill>
                  <a:srgbClr val="00AEF0"/>
                </a:solidFill>
              </a:rPr>
              <a:t>segment base </a:t>
            </a:r>
            <a:r>
              <a:rPr lang="en-US" sz="2400" b="0" i="0" u="none" strike="noStrike" baseline="0" dirty="0">
                <a:solidFill>
                  <a:srgbClr val="231F20"/>
                </a:solidFill>
              </a:rPr>
              <a:t>and a </a:t>
            </a:r>
            <a:r>
              <a:rPr lang="en-US" sz="2400" b="1" i="0" u="none" strike="noStrike" baseline="0" dirty="0">
                <a:solidFill>
                  <a:srgbClr val="00AEF0"/>
                </a:solidFill>
              </a:rPr>
              <a:t>segment limit</a:t>
            </a:r>
            <a:r>
              <a:rPr lang="en-US" sz="2400" b="0" i="0" u="none" strike="noStrike" baseline="0" dirty="0">
                <a:solidFill>
                  <a:srgbClr val="231F20"/>
                </a:solidFill>
              </a:rPr>
              <a:t>.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The segment base contains the starting physical address where the segment resides in memory, and the segment limit specifies the length of the segment.</a:t>
            </a:r>
            <a:endParaRPr lang="en-IN" sz="2400" dirty="0"/>
          </a:p>
        </p:txBody>
      </p:sp>
    </p:spTree>
    <p:extLst>
      <p:ext uri="{BB962C8B-B14F-4D97-AF65-F5344CB8AC3E}">
        <p14:creationId xmlns:p14="http://schemas.microsoft.com/office/powerpoint/2010/main" val="354756351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3316485" cy="461665"/>
          </a:xfrm>
          <a:prstGeom prst="rect">
            <a:avLst/>
          </a:prstGeom>
          <a:noFill/>
        </p:spPr>
        <p:txBody>
          <a:bodyPr wrap="none" rtlCol="0">
            <a:spAutoFit/>
          </a:bodyPr>
          <a:lstStyle/>
          <a:p>
            <a:r>
              <a:rPr lang="en-IN" sz="2400" dirty="0">
                <a:highlight>
                  <a:srgbClr val="00FFFF"/>
                </a:highlight>
              </a:rPr>
              <a:t>Segmentation Hardware </a:t>
            </a:r>
          </a:p>
        </p:txBody>
      </p:sp>
      <p:sp>
        <p:nvSpPr>
          <p:cNvPr id="6" name="TextBox 5">
            <a:extLst>
              <a:ext uri="{FF2B5EF4-FFF2-40B4-BE49-F238E27FC236}">
                <a16:creationId xmlns:a16="http://schemas.microsoft.com/office/drawing/2014/main" id="{17D316FE-A0EE-D06B-BA18-AA6534018BFE}"/>
              </a:ext>
            </a:extLst>
          </p:cNvPr>
          <p:cNvSpPr txBox="1"/>
          <p:nvPr/>
        </p:nvSpPr>
        <p:spPr>
          <a:xfrm>
            <a:off x="778022" y="1804081"/>
            <a:ext cx="10635955" cy="391305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The use of a segment table is illustrated in Figure 8.8.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A logical address consists of two parts: a segment number, </a:t>
            </a:r>
            <a:r>
              <a:rPr lang="en-US" sz="2400" b="0" i="1" u="none" strike="noStrike" baseline="0" dirty="0">
                <a:solidFill>
                  <a:srgbClr val="231F20"/>
                </a:solidFill>
              </a:rPr>
              <a:t>s, </a:t>
            </a:r>
            <a:r>
              <a:rPr lang="en-US" sz="2400" b="0" i="0" u="none" strike="noStrike" baseline="0" dirty="0">
                <a:solidFill>
                  <a:srgbClr val="231F20"/>
                </a:solidFill>
              </a:rPr>
              <a:t>and an offset into that segment, </a:t>
            </a:r>
            <a:r>
              <a:rPr lang="en-US" sz="2400" b="0" i="1" u="none" strike="noStrike" baseline="0" dirty="0">
                <a:solidFill>
                  <a:srgbClr val="231F20"/>
                </a:solidFill>
              </a:rPr>
              <a:t>d.</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The segment number is used as an index to the segment table.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The offset </a:t>
            </a:r>
            <a:r>
              <a:rPr lang="en-US" sz="2400" b="0" i="1" u="none" strike="noStrike" baseline="0" dirty="0">
                <a:solidFill>
                  <a:srgbClr val="231F20"/>
                </a:solidFill>
              </a:rPr>
              <a:t>d </a:t>
            </a:r>
            <a:r>
              <a:rPr lang="en-US" sz="2400" b="0" i="0" u="none" strike="noStrike" baseline="0" dirty="0">
                <a:solidFill>
                  <a:srgbClr val="231F20"/>
                </a:solidFill>
              </a:rPr>
              <a:t>of the logical address must be between 0 and the segment limit.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If it is not, we trap to the operating system (logical addressing attempt beyond end of segment).</a:t>
            </a:r>
          </a:p>
        </p:txBody>
      </p:sp>
    </p:spTree>
    <p:extLst>
      <p:ext uri="{BB962C8B-B14F-4D97-AF65-F5344CB8AC3E}">
        <p14:creationId xmlns:p14="http://schemas.microsoft.com/office/powerpoint/2010/main" val="101561398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3316485" cy="461665"/>
          </a:xfrm>
          <a:prstGeom prst="rect">
            <a:avLst/>
          </a:prstGeom>
          <a:noFill/>
        </p:spPr>
        <p:txBody>
          <a:bodyPr wrap="none" rtlCol="0">
            <a:spAutoFit/>
          </a:bodyPr>
          <a:lstStyle/>
          <a:p>
            <a:r>
              <a:rPr lang="en-IN" sz="2400" dirty="0">
                <a:highlight>
                  <a:srgbClr val="00FFFF"/>
                </a:highlight>
              </a:rPr>
              <a:t>Segmentation Hardware </a:t>
            </a:r>
          </a:p>
        </p:txBody>
      </p:sp>
      <p:sp>
        <p:nvSpPr>
          <p:cNvPr id="6" name="TextBox 5">
            <a:extLst>
              <a:ext uri="{FF2B5EF4-FFF2-40B4-BE49-F238E27FC236}">
                <a16:creationId xmlns:a16="http://schemas.microsoft.com/office/drawing/2014/main" id="{17D316FE-A0EE-D06B-BA18-AA6534018BFE}"/>
              </a:ext>
            </a:extLst>
          </p:cNvPr>
          <p:cNvSpPr txBox="1"/>
          <p:nvPr/>
        </p:nvSpPr>
        <p:spPr>
          <a:xfrm>
            <a:off x="778022" y="1804081"/>
            <a:ext cx="10635955" cy="1697068"/>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When an offset is legal, it is added to the segment base to produce the address in physical memory of the desired byte.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The segment table is thus essentially an array of base–limit register pairs.</a:t>
            </a:r>
            <a:endParaRPr lang="en-IN" dirty="0"/>
          </a:p>
        </p:txBody>
      </p:sp>
    </p:spTree>
    <p:extLst>
      <p:ext uri="{BB962C8B-B14F-4D97-AF65-F5344CB8AC3E}">
        <p14:creationId xmlns:p14="http://schemas.microsoft.com/office/powerpoint/2010/main" val="158277377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3316485" cy="461665"/>
          </a:xfrm>
          <a:prstGeom prst="rect">
            <a:avLst/>
          </a:prstGeom>
          <a:noFill/>
        </p:spPr>
        <p:txBody>
          <a:bodyPr wrap="none" rtlCol="0">
            <a:spAutoFit/>
          </a:bodyPr>
          <a:lstStyle/>
          <a:p>
            <a:r>
              <a:rPr lang="en-IN" sz="2400" dirty="0">
                <a:highlight>
                  <a:srgbClr val="00FFFF"/>
                </a:highlight>
              </a:rPr>
              <a:t>Segmentation Hardware </a:t>
            </a:r>
          </a:p>
        </p:txBody>
      </p:sp>
      <p:sp>
        <p:nvSpPr>
          <p:cNvPr id="5" name="TextBox 4">
            <a:extLst>
              <a:ext uri="{FF2B5EF4-FFF2-40B4-BE49-F238E27FC236}">
                <a16:creationId xmlns:a16="http://schemas.microsoft.com/office/drawing/2014/main" id="{AD6C2609-7A29-4E8A-513B-2EAD8BD1F571}"/>
              </a:ext>
            </a:extLst>
          </p:cNvPr>
          <p:cNvSpPr txBox="1"/>
          <p:nvPr/>
        </p:nvSpPr>
        <p:spPr>
          <a:xfrm>
            <a:off x="1007788" y="2136338"/>
            <a:ext cx="10367470" cy="3359061"/>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Consider the situation shown in Figure 8.9.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We have five segments numbered from 0 through 4.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The segments are stored in physical memory as shown.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The segment table has a separate entry for each segment, giving the beginning address of the segment in physical memory (or base) and the length of that segment (or limit).</a:t>
            </a:r>
            <a:endParaRPr lang="en-IN" dirty="0"/>
          </a:p>
        </p:txBody>
      </p:sp>
    </p:spTree>
    <p:extLst>
      <p:ext uri="{BB962C8B-B14F-4D97-AF65-F5344CB8AC3E}">
        <p14:creationId xmlns:p14="http://schemas.microsoft.com/office/powerpoint/2010/main" val="60988825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3316485" cy="461665"/>
          </a:xfrm>
          <a:prstGeom prst="rect">
            <a:avLst/>
          </a:prstGeom>
          <a:noFill/>
        </p:spPr>
        <p:txBody>
          <a:bodyPr wrap="none" rtlCol="0">
            <a:spAutoFit/>
          </a:bodyPr>
          <a:lstStyle/>
          <a:p>
            <a:r>
              <a:rPr lang="en-IN" sz="2400" dirty="0">
                <a:highlight>
                  <a:srgbClr val="00FFFF"/>
                </a:highlight>
              </a:rPr>
              <a:t>Segmentation Hardware </a:t>
            </a:r>
          </a:p>
        </p:txBody>
      </p:sp>
      <p:pic>
        <p:nvPicPr>
          <p:cNvPr id="5" name="Picture 4">
            <a:extLst>
              <a:ext uri="{FF2B5EF4-FFF2-40B4-BE49-F238E27FC236}">
                <a16:creationId xmlns:a16="http://schemas.microsoft.com/office/drawing/2014/main" id="{A5E899EA-D68E-491D-6F01-AE191291F64B}"/>
              </a:ext>
            </a:extLst>
          </p:cNvPr>
          <p:cNvPicPr>
            <a:picLocks noChangeAspect="1"/>
          </p:cNvPicPr>
          <p:nvPr/>
        </p:nvPicPr>
        <p:blipFill>
          <a:blip r:embed="rId3"/>
          <a:stretch>
            <a:fillRect/>
          </a:stretch>
        </p:blipFill>
        <p:spPr>
          <a:xfrm>
            <a:off x="6835303" y="993573"/>
            <a:ext cx="5258534" cy="4887007"/>
          </a:xfrm>
          <a:prstGeom prst="rect">
            <a:avLst/>
          </a:prstGeom>
        </p:spPr>
      </p:pic>
      <p:sp>
        <p:nvSpPr>
          <p:cNvPr id="8" name="TextBox 7">
            <a:extLst>
              <a:ext uri="{FF2B5EF4-FFF2-40B4-BE49-F238E27FC236}">
                <a16:creationId xmlns:a16="http://schemas.microsoft.com/office/drawing/2014/main" id="{E7474865-97E3-4DB3-35C3-45C0D7CAED91}"/>
              </a:ext>
            </a:extLst>
          </p:cNvPr>
          <p:cNvSpPr txBox="1"/>
          <p:nvPr/>
        </p:nvSpPr>
        <p:spPr>
          <a:xfrm>
            <a:off x="487054" y="2016427"/>
            <a:ext cx="6096000" cy="3737946"/>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000" b="0" i="0" u="none" strike="noStrike" baseline="0" dirty="0">
                <a:solidFill>
                  <a:srgbClr val="231F20"/>
                </a:solidFill>
              </a:rPr>
              <a:t>For example, segment 2 is 400 bytes long and begins at location 4300. Thus, a reference to byte 53 of segment 2 is mapped onto location 4300 + 53 = 4353.</a:t>
            </a:r>
          </a:p>
          <a:p>
            <a:pPr marL="342900" indent="-342900" algn="just">
              <a:lnSpc>
                <a:spcPct val="150000"/>
              </a:lnSpc>
              <a:buFont typeface="Arial" panose="020B0604020202020204" pitchFamily="34" charset="0"/>
              <a:buChar char="•"/>
            </a:pPr>
            <a:r>
              <a:rPr lang="en-US" sz="2000" b="0" i="0" u="none" strike="noStrike" baseline="0" dirty="0">
                <a:solidFill>
                  <a:srgbClr val="231F20"/>
                </a:solidFill>
              </a:rPr>
              <a:t>A reference to segment 3, byte 852, is mapped to 3200 (the base of segment 3) + 852 = 4052. </a:t>
            </a:r>
          </a:p>
          <a:p>
            <a:pPr marL="342900" indent="-342900" algn="just">
              <a:lnSpc>
                <a:spcPct val="150000"/>
              </a:lnSpc>
              <a:buFont typeface="Arial" panose="020B0604020202020204" pitchFamily="34" charset="0"/>
              <a:buChar char="•"/>
            </a:pPr>
            <a:r>
              <a:rPr lang="en-US" sz="2000" b="0" i="0" u="none" strike="noStrike" baseline="0" dirty="0">
                <a:solidFill>
                  <a:srgbClr val="231F20"/>
                </a:solidFill>
              </a:rPr>
              <a:t>A reference to byte 1222 of segment 0 would result in a trap to the operating system, as this segment is only 1,000 </a:t>
            </a:r>
            <a:r>
              <a:rPr lang="en-IN" sz="2000" b="0" i="0" u="none" strike="noStrike" baseline="0" dirty="0">
                <a:solidFill>
                  <a:srgbClr val="231F20"/>
                </a:solidFill>
              </a:rPr>
              <a:t>bytes long.</a:t>
            </a:r>
            <a:endParaRPr lang="en-IN" sz="2000" dirty="0"/>
          </a:p>
        </p:txBody>
      </p:sp>
    </p:spTree>
    <p:extLst>
      <p:ext uri="{BB962C8B-B14F-4D97-AF65-F5344CB8AC3E}">
        <p14:creationId xmlns:p14="http://schemas.microsoft.com/office/powerpoint/2010/main" val="326220192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98335-6F39-88C7-D5CF-791CE5EE291F}"/>
            </a:ext>
          </a:extLst>
        </p:cNvPr>
        <p:cNvGrpSpPr/>
        <p:nvPr/>
      </p:nvGrpSpPr>
      <p:grpSpPr>
        <a:xfrm>
          <a:off x="0" y="0"/>
          <a:ext cx="0" cy="0"/>
          <a:chOff x="0" y="0"/>
          <a:chExt cx="0" cy="0"/>
        </a:xfrm>
      </p:grpSpPr>
      <p:sp>
        <p:nvSpPr>
          <p:cNvPr id="9" name="Text Placeholder 3">
            <a:extLst>
              <a:ext uri="{FF2B5EF4-FFF2-40B4-BE49-F238E27FC236}">
                <a16:creationId xmlns:a16="http://schemas.microsoft.com/office/drawing/2014/main" id="{887863A9-46E6-1AAC-795A-3963862AF469}"/>
              </a:ext>
            </a:extLst>
          </p:cNvPr>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5" name="Subtitle 4">
            <a:extLst>
              <a:ext uri="{FF2B5EF4-FFF2-40B4-BE49-F238E27FC236}">
                <a16:creationId xmlns:a16="http://schemas.microsoft.com/office/drawing/2014/main" id="{0ECCED30-4574-CA0F-18BE-FDA3DAACCDC4}"/>
              </a:ext>
            </a:extLst>
          </p:cNvPr>
          <p:cNvSpPr>
            <a:spLocks noGrp="1"/>
          </p:cNvSpPr>
          <p:nvPr>
            <p:ph type="subTitle" idx="1"/>
          </p:nvPr>
        </p:nvSpPr>
        <p:spPr>
          <a:xfrm>
            <a:off x="1047345" y="2601119"/>
            <a:ext cx="9144000" cy="1655762"/>
          </a:xfrm>
        </p:spPr>
        <p:txBody>
          <a:bodyPr>
            <a:normAutofit/>
          </a:bodyPr>
          <a:lstStyle/>
          <a:p>
            <a:r>
              <a:rPr lang="en-US" sz="4400" dirty="0">
                <a:solidFill>
                  <a:srgbClr val="0066CC"/>
                </a:solidFill>
              </a:rPr>
              <a:t>Lecture - 11</a:t>
            </a:r>
          </a:p>
        </p:txBody>
      </p:sp>
    </p:spTree>
    <p:extLst>
      <p:ext uri="{BB962C8B-B14F-4D97-AF65-F5344CB8AC3E}">
        <p14:creationId xmlns:p14="http://schemas.microsoft.com/office/powerpoint/2010/main" val="143379195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Recap</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Memory Management: </a:t>
            </a:r>
          </a:p>
          <a:p>
            <a:pPr lvl="1"/>
            <a:r>
              <a:rPr lang="en-IN" dirty="0"/>
              <a:t>Fragmentation</a:t>
            </a:r>
          </a:p>
          <a:p>
            <a:pPr lvl="1"/>
            <a:r>
              <a:rPr lang="en-IN" dirty="0"/>
              <a:t>Compaction</a:t>
            </a:r>
          </a:p>
          <a:p>
            <a:pPr lvl="1"/>
            <a:r>
              <a:rPr lang="en-IN" dirty="0"/>
              <a:t>Segmentation</a:t>
            </a:r>
          </a:p>
          <a:p>
            <a:pPr lvl="1"/>
            <a:endParaRPr lang="en-US" dirty="0"/>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245096518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Agenda</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Memory Management: </a:t>
            </a:r>
          </a:p>
          <a:p>
            <a:pPr lvl="1"/>
            <a:r>
              <a:rPr lang="en-IN" dirty="0"/>
              <a:t>Paging </a:t>
            </a:r>
          </a:p>
          <a:p>
            <a:pPr lvl="1"/>
            <a:endParaRPr lang="en-US" dirty="0"/>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136589468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1088503" cy="461665"/>
          </a:xfrm>
          <a:prstGeom prst="rect">
            <a:avLst/>
          </a:prstGeom>
          <a:noFill/>
        </p:spPr>
        <p:txBody>
          <a:bodyPr wrap="none" rtlCol="0">
            <a:spAutoFit/>
          </a:bodyPr>
          <a:lstStyle/>
          <a:p>
            <a:r>
              <a:rPr lang="en-IN" sz="2400" dirty="0">
                <a:highlight>
                  <a:srgbClr val="00FFFF"/>
                </a:highlight>
              </a:rPr>
              <a:t>Paging </a:t>
            </a:r>
          </a:p>
        </p:txBody>
      </p:sp>
      <p:sp>
        <p:nvSpPr>
          <p:cNvPr id="6" name="TextBox 5">
            <a:extLst>
              <a:ext uri="{FF2B5EF4-FFF2-40B4-BE49-F238E27FC236}">
                <a16:creationId xmlns:a16="http://schemas.microsoft.com/office/drawing/2014/main" id="{769EB0F9-BE0A-0DE1-BD1A-B14E2EC06EAE}"/>
              </a:ext>
            </a:extLst>
          </p:cNvPr>
          <p:cNvSpPr txBox="1"/>
          <p:nvPr/>
        </p:nvSpPr>
        <p:spPr>
          <a:xfrm>
            <a:off x="739303" y="1818286"/>
            <a:ext cx="10635955" cy="4467057"/>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1" i="0" u="none" strike="noStrike" baseline="0" dirty="0">
                <a:solidFill>
                  <a:srgbClr val="00AEF0"/>
                </a:solidFill>
              </a:rPr>
              <a:t>Paging</a:t>
            </a:r>
            <a:r>
              <a:rPr lang="en-US" sz="2400" b="0" i="0" u="none" strike="noStrike" baseline="0" dirty="0">
                <a:solidFill>
                  <a:srgbClr val="231F20"/>
                </a:solidFill>
              </a:rPr>
              <a:t> permits the physical address space of a process to be noncontiguous.</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Paging avoids external fragmentation and the need for </a:t>
            </a:r>
            <a:r>
              <a:rPr lang="en-US" sz="2400" dirty="0">
                <a:solidFill>
                  <a:srgbClr val="231F20"/>
                </a:solidFill>
              </a:rPr>
              <a:t>compaction, whereas segmentation does not.</a:t>
            </a:r>
          </a:p>
          <a:p>
            <a:pPr marL="342900" indent="-342900" algn="just">
              <a:lnSpc>
                <a:spcPct val="150000"/>
              </a:lnSpc>
              <a:buFont typeface="Arial" panose="020B0604020202020204" pitchFamily="34" charset="0"/>
              <a:buChar char="•"/>
            </a:pPr>
            <a:r>
              <a:rPr lang="en-US" sz="2400" dirty="0">
                <a:solidFill>
                  <a:srgbClr val="231F20"/>
                </a:solidFill>
              </a:rPr>
              <a:t>Most memory-management schemes (Swapping, Segmentation ) suffered from this problem. </a:t>
            </a:r>
          </a:p>
          <a:p>
            <a:pPr marL="342900" indent="-342900" algn="just">
              <a:lnSpc>
                <a:spcPct val="150000"/>
              </a:lnSpc>
              <a:buFont typeface="Arial" panose="020B0604020202020204" pitchFamily="34" charset="0"/>
              <a:buChar char="•"/>
            </a:pPr>
            <a:r>
              <a:rPr lang="en-US" sz="2400" dirty="0">
                <a:solidFill>
                  <a:srgbClr val="231F20"/>
                </a:solidFill>
              </a:rPr>
              <a:t>The problem arises because space must be found on the backing store when code fragments or data residing in the main memory need to be swapped out. The backing store has the same fragmentation problems.</a:t>
            </a:r>
            <a:endParaRPr lang="en-IN" sz="2400" dirty="0">
              <a:solidFill>
                <a:srgbClr val="231F20"/>
              </a:solidFill>
            </a:endParaRPr>
          </a:p>
        </p:txBody>
      </p:sp>
    </p:spTree>
    <p:extLst>
      <p:ext uri="{BB962C8B-B14F-4D97-AF65-F5344CB8AC3E}">
        <p14:creationId xmlns:p14="http://schemas.microsoft.com/office/powerpoint/2010/main" val="248356500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3073021" cy="461665"/>
          </a:xfrm>
          <a:prstGeom prst="rect">
            <a:avLst/>
          </a:prstGeom>
          <a:noFill/>
        </p:spPr>
        <p:txBody>
          <a:bodyPr wrap="none" rtlCol="0">
            <a:spAutoFit/>
          </a:bodyPr>
          <a:lstStyle/>
          <a:p>
            <a:r>
              <a:rPr lang="en-IN" sz="2400" dirty="0">
                <a:highlight>
                  <a:srgbClr val="00FFFF"/>
                </a:highlight>
              </a:rPr>
              <a:t>Paging – </a:t>
            </a:r>
            <a:r>
              <a:rPr lang="en-IN" sz="2400" dirty="0">
                <a:highlight>
                  <a:srgbClr val="FFFF00"/>
                </a:highlight>
              </a:rPr>
              <a:t>Basic Method </a:t>
            </a:r>
          </a:p>
        </p:txBody>
      </p:sp>
      <p:sp>
        <p:nvSpPr>
          <p:cNvPr id="7" name="Rectangle 1027">
            <a:extLst>
              <a:ext uri="{FF2B5EF4-FFF2-40B4-BE49-F238E27FC236}">
                <a16:creationId xmlns:a16="http://schemas.microsoft.com/office/drawing/2014/main" id="{1745A473-704F-B7FC-1CFA-91CAE038591C}"/>
              </a:ext>
            </a:extLst>
          </p:cNvPr>
          <p:cNvSpPr txBox="1">
            <a:spLocks noChangeArrowheads="1"/>
          </p:cNvSpPr>
          <p:nvPr/>
        </p:nvSpPr>
        <p:spPr>
          <a:xfrm>
            <a:off x="911290" y="1889499"/>
            <a:ext cx="10779428" cy="47672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en-US" sz="2400" dirty="0">
                <a:solidFill>
                  <a:srgbClr val="231F20"/>
                </a:solidFill>
              </a:rPr>
              <a:t>Physical  address space of a process can be noncontiguous; process is allocated physical memory whenever the latter is available</a:t>
            </a:r>
          </a:p>
          <a:p>
            <a:pPr lvl="1">
              <a:lnSpc>
                <a:spcPct val="150000"/>
              </a:lnSpc>
            </a:pPr>
            <a:r>
              <a:rPr lang="en-US" altLang="en-US" dirty="0">
                <a:solidFill>
                  <a:srgbClr val="231F20"/>
                </a:solidFill>
              </a:rPr>
              <a:t>Avoids </a:t>
            </a:r>
            <a:r>
              <a:rPr lang="en-US" altLang="en-US" dirty="0">
                <a:solidFill>
                  <a:srgbClr val="ED682F"/>
                </a:solidFill>
              </a:rPr>
              <a:t>external fragmentation</a:t>
            </a:r>
          </a:p>
          <a:p>
            <a:pPr lvl="1">
              <a:lnSpc>
                <a:spcPct val="150000"/>
              </a:lnSpc>
            </a:pPr>
            <a:r>
              <a:rPr lang="en-US" altLang="en-US" dirty="0">
                <a:solidFill>
                  <a:srgbClr val="231F20"/>
                </a:solidFill>
              </a:rPr>
              <a:t>Avoids the problem of </a:t>
            </a:r>
            <a:r>
              <a:rPr lang="en-US" altLang="en-US" dirty="0">
                <a:solidFill>
                  <a:srgbClr val="ED682F"/>
                </a:solidFill>
              </a:rPr>
              <a:t>varying sized memory chunks</a:t>
            </a:r>
          </a:p>
          <a:p>
            <a:pPr>
              <a:lnSpc>
                <a:spcPct val="150000"/>
              </a:lnSpc>
            </a:pPr>
            <a:r>
              <a:rPr lang="en-US" altLang="en-US" sz="2400" dirty="0">
                <a:solidFill>
                  <a:srgbClr val="231F20"/>
                </a:solidFill>
              </a:rPr>
              <a:t>Divide physical memory into fixed-sized blocks called </a:t>
            </a:r>
            <a:r>
              <a:rPr lang="en-US" altLang="en-US" sz="2400" dirty="0">
                <a:solidFill>
                  <a:srgbClr val="0000FF"/>
                </a:solidFill>
              </a:rPr>
              <a:t>frames</a:t>
            </a:r>
          </a:p>
          <a:p>
            <a:pPr lvl="1">
              <a:lnSpc>
                <a:spcPct val="150000"/>
              </a:lnSpc>
            </a:pPr>
            <a:r>
              <a:rPr lang="en-US" altLang="en-US" dirty="0">
                <a:solidFill>
                  <a:srgbClr val="231F20"/>
                </a:solidFill>
              </a:rPr>
              <a:t>Size is power of 2, between 512 bytes and 16 Mbytes</a:t>
            </a:r>
          </a:p>
          <a:p>
            <a:pPr>
              <a:lnSpc>
                <a:spcPct val="150000"/>
              </a:lnSpc>
            </a:pPr>
            <a:r>
              <a:rPr lang="en-US" altLang="en-US" sz="2400" dirty="0">
                <a:solidFill>
                  <a:srgbClr val="231F20"/>
                </a:solidFill>
              </a:rPr>
              <a:t>Divide logical memory into blocks of the same size called </a:t>
            </a:r>
            <a:r>
              <a:rPr lang="en-US" altLang="en-US" sz="2400" dirty="0">
                <a:solidFill>
                  <a:srgbClr val="0000FF"/>
                </a:solidFill>
              </a:rPr>
              <a:t>pages</a:t>
            </a:r>
          </a:p>
        </p:txBody>
      </p:sp>
    </p:spTree>
    <p:extLst>
      <p:ext uri="{BB962C8B-B14F-4D97-AF65-F5344CB8AC3E}">
        <p14:creationId xmlns:p14="http://schemas.microsoft.com/office/powerpoint/2010/main" val="153794321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3073021" cy="461665"/>
          </a:xfrm>
          <a:prstGeom prst="rect">
            <a:avLst/>
          </a:prstGeom>
          <a:noFill/>
        </p:spPr>
        <p:txBody>
          <a:bodyPr wrap="none" rtlCol="0">
            <a:spAutoFit/>
          </a:bodyPr>
          <a:lstStyle/>
          <a:p>
            <a:r>
              <a:rPr lang="en-IN" sz="2400" dirty="0">
                <a:highlight>
                  <a:srgbClr val="00FFFF"/>
                </a:highlight>
              </a:rPr>
              <a:t>Paging – </a:t>
            </a:r>
            <a:r>
              <a:rPr lang="en-IN" sz="2400" dirty="0">
                <a:highlight>
                  <a:srgbClr val="FFFF00"/>
                </a:highlight>
              </a:rPr>
              <a:t>Basic Method </a:t>
            </a:r>
          </a:p>
        </p:txBody>
      </p:sp>
      <p:sp>
        <p:nvSpPr>
          <p:cNvPr id="7" name="Rectangle 1027">
            <a:extLst>
              <a:ext uri="{FF2B5EF4-FFF2-40B4-BE49-F238E27FC236}">
                <a16:creationId xmlns:a16="http://schemas.microsoft.com/office/drawing/2014/main" id="{1745A473-704F-B7FC-1CFA-91CAE038591C}"/>
              </a:ext>
            </a:extLst>
          </p:cNvPr>
          <p:cNvSpPr txBox="1">
            <a:spLocks noChangeArrowheads="1"/>
          </p:cNvSpPr>
          <p:nvPr/>
        </p:nvSpPr>
        <p:spPr>
          <a:xfrm>
            <a:off x="911290" y="1889499"/>
            <a:ext cx="10779428" cy="47672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en-US" sz="2400" dirty="0">
                <a:solidFill>
                  <a:srgbClr val="231F20"/>
                </a:solidFill>
              </a:rPr>
              <a:t>Keep track of all free frames</a:t>
            </a:r>
          </a:p>
          <a:p>
            <a:pPr>
              <a:lnSpc>
                <a:spcPct val="150000"/>
              </a:lnSpc>
            </a:pPr>
            <a:r>
              <a:rPr lang="en-US" altLang="en-US" sz="2400" dirty="0">
                <a:solidFill>
                  <a:srgbClr val="231F20"/>
                </a:solidFill>
              </a:rPr>
              <a:t>To run a program of size N pages, need to find N free frames and load the program</a:t>
            </a:r>
          </a:p>
          <a:p>
            <a:pPr>
              <a:lnSpc>
                <a:spcPct val="150000"/>
              </a:lnSpc>
            </a:pPr>
            <a:r>
              <a:rPr lang="en-US" altLang="en-US" sz="2400" dirty="0">
                <a:solidFill>
                  <a:srgbClr val="231F20"/>
                </a:solidFill>
              </a:rPr>
              <a:t>Set up a page table to translate logical to physical addresses</a:t>
            </a:r>
          </a:p>
          <a:p>
            <a:pPr>
              <a:lnSpc>
                <a:spcPct val="150000"/>
              </a:lnSpc>
            </a:pPr>
            <a:r>
              <a:rPr lang="en-US" altLang="en-US" sz="2400" dirty="0">
                <a:solidFill>
                  <a:srgbClr val="231F20"/>
                </a:solidFill>
              </a:rPr>
              <a:t>Backing store likewise split into pages</a:t>
            </a:r>
          </a:p>
          <a:p>
            <a:pPr>
              <a:lnSpc>
                <a:spcPct val="150000"/>
              </a:lnSpc>
            </a:pPr>
            <a:r>
              <a:rPr lang="en-US" altLang="en-US" sz="2400" dirty="0">
                <a:solidFill>
                  <a:srgbClr val="231F20"/>
                </a:solidFill>
              </a:rPr>
              <a:t>Still have Internal fragmentation</a:t>
            </a:r>
          </a:p>
        </p:txBody>
      </p:sp>
    </p:spTree>
    <p:extLst>
      <p:ext uri="{BB962C8B-B14F-4D97-AF65-F5344CB8AC3E}">
        <p14:creationId xmlns:p14="http://schemas.microsoft.com/office/powerpoint/2010/main" val="27513508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3073021" cy="461665"/>
          </a:xfrm>
          <a:prstGeom prst="rect">
            <a:avLst/>
          </a:prstGeom>
          <a:noFill/>
        </p:spPr>
        <p:txBody>
          <a:bodyPr wrap="none" rtlCol="0">
            <a:spAutoFit/>
          </a:bodyPr>
          <a:lstStyle/>
          <a:p>
            <a:r>
              <a:rPr lang="en-IN" sz="2400" dirty="0">
                <a:highlight>
                  <a:srgbClr val="00FFFF"/>
                </a:highlight>
              </a:rPr>
              <a:t>Paging – </a:t>
            </a:r>
            <a:r>
              <a:rPr lang="en-IN" sz="2400" dirty="0">
                <a:highlight>
                  <a:srgbClr val="FFFF00"/>
                </a:highlight>
              </a:rPr>
              <a:t>Basic Method </a:t>
            </a:r>
          </a:p>
        </p:txBody>
      </p:sp>
      <p:sp>
        <p:nvSpPr>
          <p:cNvPr id="4" name="Rectangle 1027">
            <a:extLst>
              <a:ext uri="{FF2B5EF4-FFF2-40B4-BE49-F238E27FC236}">
                <a16:creationId xmlns:a16="http://schemas.microsoft.com/office/drawing/2014/main" id="{20847A64-74B2-4E9D-6444-CCC0BAB2A7A4}"/>
              </a:ext>
            </a:extLst>
          </p:cNvPr>
          <p:cNvSpPr txBox="1">
            <a:spLocks noChangeArrowheads="1"/>
          </p:cNvSpPr>
          <p:nvPr/>
        </p:nvSpPr>
        <p:spPr>
          <a:xfrm>
            <a:off x="1425034" y="1903928"/>
            <a:ext cx="10238430" cy="44831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defRPr/>
            </a:pPr>
            <a:r>
              <a:rPr lang="en-US" altLang="en-US" sz="2200" dirty="0"/>
              <a:t>Address generated by CPU is divided into:</a:t>
            </a:r>
          </a:p>
          <a:p>
            <a:pPr lvl="1">
              <a:lnSpc>
                <a:spcPct val="150000"/>
              </a:lnSpc>
              <a:defRPr/>
            </a:pPr>
            <a:r>
              <a:rPr lang="en-US" altLang="en-US" sz="2200" b="1" dirty="0">
                <a:solidFill>
                  <a:srgbClr val="3366FF"/>
                </a:solidFill>
              </a:rPr>
              <a:t>Page number </a:t>
            </a:r>
            <a:r>
              <a:rPr lang="en-US" altLang="en-US" sz="2200" dirty="0"/>
              <a:t>(</a:t>
            </a:r>
            <a:r>
              <a:rPr lang="en-US" altLang="en-US" sz="2200" b="1" i="1" dirty="0">
                <a:solidFill>
                  <a:srgbClr val="3366FF"/>
                </a:solidFill>
              </a:rPr>
              <a:t>p</a:t>
            </a:r>
            <a:r>
              <a:rPr lang="en-US" altLang="en-US" sz="2200" dirty="0"/>
              <a:t>)</a:t>
            </a:r>
            <a:r>
              <a:rPr lang="en-US" altLang="en-US" sz="2200" dirty="0">
                <a:solidFill>
                  <a:srgbClr val="3366FF"/>
                </a:solidFill>
              </a:rPr>
              <a:t> </a:t>
            </a:r>
            <a:r>
              <a:rPr lang="en-US" altLang="en-US" sz="2200" dirty="0"/>
              <a:t>– used as an index into a </a:t>
            </a:r>
            <a:r>
              <a:rPr lang="en-US" altLang="en-US" sz="2200" b="1" dirty="0">
                <a:solidFill>
                  <a:srgbClr val="3366FF"/>
                </a:solidFill>
              </a:rPr>
              <a:t>page table </a:t>
            </a:r>
            <a:r>
              <a:rPr lang="en-US" altLang="en-US" sz="2200" dirty="0"/>
              <a:t>which contains the base address of each page in physical memory</a:t>
            </a:r>
          </a:p>
          <a:p>
            <a:pPr lvl="1">
              <a:lnSpc>
                <a:spcPct val="150000"/>
              </a:lnSpc>
              <a:defRPr/>
            </a:pPr>
            <a:r>
              <a:rPr lang="en-US" altLang="en-US" sz="2200" b="1" dirty="0">
                <a:solidFill>
                  <a:srgbClr val="3366FF"/>
                </a:solidFill>
              </a:rPr>
              <a:t>Page offset </a:t>
            </a:r>
            <a:r>
              <a:rPr lang="en-US" altLang="en-US" sz="2200" dirty="0"/>
              <a:t>(</a:t>
            </a:r>
            <a:r>
              <a:rPr lang="en-US" altLang="en-US" sz="2200" b="1" i="1" dirty="0">
                <a:solidFill>
                  <a:srgbClr val="3366FF"/>
                </a:solidFill>
              </a:rPr>
              <a:t>d</a:t>
            </a:r>
            <a:r>
              <a:rPr lang="en-US" altLang="en-US" sz="2200" dirty="0"/>
              <a:t>)</a:t>
            </a:r>
            <a:r>
              <a:rPr lang="en-US" altLang="en-US" sz="2200" dirty="0">
                <a:solidFill>
                  <a:srgbClr val="3366FF"/>
                </a:solidFill>
              </a:rPr>
              <a:t> </a:t>
            </a:r>
            <a:r>
              <a:rPr lang="en-US" altLang="en-US" sz="2200" dirty="0"/>
              <a:t>– combined with base address to define the physical memory address that is sent to the memory unit</a:t>
            </a:r>
          </a:p>
          <a:p>
            <a:pPr lvl="1">
              <a:lnSpc>
                <a:spcPct val="150000"/>
              </a:lnSpc>
              <a:defRPr/>
            </a:pPr>
            <a:endParaRPr lang="en-US" altLang="en-US" sz="2200" dirty="0"/>
          </a:p>
          <a:p>
            <a:pPr lvl="1">
              <a:lnSpc>
                <a:spcPct val="150000"/>
              </a:lnSpc>
              <a:defRPr/>
            </a:pPr>
            <a:endParaRPr lang="en-US" altLang="en-US" sz="2200" dirty="0"/>
          </a:p>
          <a:p>
            <a:pPr lvl="1">
              <a:lnSpc>
                <a:spcPct val="150000"/>
              </a:lnSpc>
              <a:defRPr/>
            </a:pPr>
            <a:r>
              <a:rPr lang="en-US" altLang="en-US" sz="2200" dirty="0"/>
              <a:t>For given logical address space 2</a:t>
            </a:r>
            <a:r>
              <a:rPr lang="en-US" altLang="en-US" sz="2200" i="1" baseline="30000" dirty="0"/>
              <a:t>m </a:t>
            </a:r>
            <a:r>
              <a:rPr lang="en-US" altLang="en-US" sz="2200" dirty="0"/>
              <a:t>and page size</a:t>
            </a:r>
            <a:r>
              <a:rPr lang="en-US" altLang="en-US" sz="2200" baseline="30000" dirty="0"/>
              <a:t> </a:t>
            </a:r>
            <a:r>
              <a:rPr lang="en-US" altLang="en-US" sz="2200" i="1" dirty="0"/>
              <a:t>2</a:t>
            </a:r>
            <a:r>
              <a:rPr lang="en-US" altLang="en-US" sz="2200" baseline="30000" dirty="0"/>
              <a:t>n</a:t>
            </a:r>
          </a:p>
        </p:txBody>
      </p:sp>
      <p:pic>
        <p:nvPicPr>
          <p:cNvPr id="5" name="Picture 3">
            <a:extLst>
              <a:ext uri="{FF2B5EF4-FFF2-40B4-BE49-F238E27FC236}">
                <a16:creationId xmlns:a16="http://schemas.microsoft.com/office/drawing/2014/main" id="{F6FE2B35-2288-EB76-CD20-F9A33E22AC7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87137" y="4565446"/>
            <a:ext cx="3343275"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3315876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2522742" cy="461665"/>
          </a:xfrm>
          <a:prstGeom prst="rect">
            <a:avLst/>
          </a:prstGeom>
          <a:noFill/>
        </p:spPr>
        <p:txBody>
          <a:bodyPr wrap="none" rtlCol="0">
            <a:spAutoFit/>
          </a:bodyPr>
          <a:lstStyle/>
          <a:p>
            <a:r>
              <a:rPr lang="en-IN" sz="2400" dirty="0">
                <a:highlight>
                  <a:srgbClr val="00FFFF"/>
                </a:highlight>
              </a:rPr>
              <a:t>Paging – </a:t>
            </a:r>
            <a:r>
              <a:rPr lang="en-IN" sz="2400" dirty="0">
                <a:highlight>
                  <a:srgbClr val="FFFF00"/>
                </a:highlight>
              </a:rPr>
              <a:t>Hardware</a:t>
            </a:r>
          </a:p>
        </p:txBody>
      </p:sp>
      <p:pic>
        <p:nvPicPr>
          <p:cNvPr id="5" name="Picture 4">
            <a:extLst>
              <a:ext uri="{FF2B5EF4-FFF2-40B4-BE49-F238E27FC236}">
                <a16:creationId xmlns:a16="http://schemas.microsoft.com/office/drawing/2014/main" id="{F412A62A-1E04-FDB2-6CC1-713FEE0C84AC}"/>
              </a:ext>
            </a:extLst>
          </p:cNvPr>
          <p:cNvPicPr>
            <a:picLocks noChangeAspect="1"/>
          </p:cNvPicPr>
          <p:nvPr/>
        </p:nvPicPr>
        <p:blipFill>
          <a:blip r:embed="rId3"/>
          <a:stretch>
            <a:fillRect/>
          </a:stretch>
        </p:blipFill>
        <p:spPr>
          <a:xfrm>
            <a:off x="3216770" y="2047922"/>
            <a:ext cx="6458851" cy="3982006"/>
          </a:xfrm>
          <a:prstGeom prst="rect">
            <a:avLst/>
          </a:prstGeom>
        </p:spPr>
      </p:pic>
    </p:spTree>
    <p:extLst>
      <p:ext uri="{BB962C8B-B14F-4D97-AF65-F5344CB8AC3E}">
        <p14:creationId xmlns:p14="http://schemas.microsoft.com/office/powerpoint/2010/main" val="123899930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1296958" cy="461665"/>
          </a:xfrm>
          <a:prstGeom prst="rect">
            <a:avLst/>
          </a:prstGeom>
          <a:noFill/>
        </p:spPr>
        <p:txBody>
          <a:bodyPr wrap="none" rtlCol="0">
            <a:spAutoFit/>
          </a:bodyPr>
          <a:lstStyle/>
          <a:p>
            <a:r>
              <a:rPr lang="en-IN" sz="2400" dirty="0">
                <a:highlight>
                  <a:srgbClr val="00FFFF"/>
                </a:highlight>
              </a:rPr>
              <a:t>Paging – </a:t>
            </a:r>
            <a:endParaRPr lang="en-IN" sz="2400" dirty="0">
              <a:highlight>
                <a:srgbClr val="FFFF00"/>
              </a:highlight>
            </a:endParaRPr>
          </a:p>
        </p:txBody>
      </p:sp>
      <p:pic>
        <p:nvPicPr>
          <p:cNvPr id="6" name="Picture 5">
            <a:extLst>
              <a:ext uri="{FF2B5EF4-FFF2-40B4-BE49-F238E27FC236}">
                <a16:creationId xmlns:a16="http://schemas.microsoft.com/office/drawing/2014/main" id="{67BE2581-0037-899B-D75F-01C2D8AFEACD}"/>
              </a:ext>
            </a:extLst>
          </p:cNvPr>
          <p:cNvPicPr>
            <a:picLocks noChangeAspect="1"/>
          </p:cNvPicPr>
          <p:nvPr/>
        </p:nvPicPr>
        <p:blipFill>
          <a:blip r:embed="rId3"/>
          <a:stretch>
            <a:fillRect/>
          </a:stretch>
        </p:blipFill>
        <p:spPr>
          <a:xfrm>
            <a:off x="4627879" y="1719127"/>
            <a:ext cx="5134692" cy="4667901"/>
          </a:xfrm>
          <a:prstGeom prst="rect">
            <a:avLst/>
          </a:prstGeom>
        </p:spPr>
      </p:pic>
    </p:spTree>
    <p:extLst>
      <p:ext uri="{BB962C8B-B14F-4D97-AF65-F5344CB8AC3E}">
        <p14:creationId xmlns:p14="http://schemas.microsoft.com/office/powerpoint/2010/main" val="382440754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1296958" cy="461665"/>
          </a:xfrm>
          <a:prstGeom prst="rect">
            <a:avLst/>
          </a:prstGeom>
          <a:noFill/>
        </p:spPr>
        <p:txBody>
          <a:bodyPr wrap="none" rtlCol="0">
            <a:spAutoFit/>
          </a:bodyPr>
          <a:lstStyle/>
          <a:p>
            <a:r>
              <a:rPr lang="en-IN" sz="2400" dirty="0">
                <a:highlight>
                  <a:srgbClr val="00FFFF"/>
                </a:highlight>
              </a:rPr>
              <a:t>Paging – </a:t>
            </a:r>
            <a:endParaRPr lang="en-IN" sz="2400" dirty="0">
              <a:highlight>
                <a:srgbClr val="FFFF00"/>
              </a:highlight>
            </a:endParaRPr>
          </a:p>
        </p:txBody>
      </p:sp>
      <p:pic>
        <p:nvPicPr>
          <p:cNvPr id="4" name="Picture 2">
            <a:extLst>
              <a:ext uri="{FF2B5EF4-FFF2-40B4-BE49-F238E27FC236}">
                <a16:creationId xmlns:a16="http://schemas.microsoft.com/office/drawing/2014/main" id="{D75A0271-A1D8-7393-39DD-2366461479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4290" y="1573248"/>
            <a:ext cx="4890682" cy="500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0023402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98335-6F39-88C7-D5CF-791CE5EE291F}"/>
            </a:ext>
          </a:extLst>
        </p:cNvPr>
        <p:cNvGrpSpPr/>
        <p:nvPr/>
      </p:nvGrpSpPr>
      <p:grpSpPr>
        <a:xfrm>
          <a:off x="0" y="0"/>
          <a:ext cx="0" cy="0"/>
          <a:chOff x="0" y="0"/>
          <a:chExt cx="0" cy="0"/>
        </a:xfrm>
      </p:grpSpPr>
      <p:sp>
        <p:nvSpPr>
          <p:cNvPr id="9" name="Text Placeholder 3">
            <a:extLst>
              <a:ext uri="{FF2B5EF4-FFF2-40B4-BE49-F238E27FC236}">
                <a16:creationId xmlns:a16="http://schemas.microsoft.com/office/drawing/2014/main" id="{887863A9-46E6-1AAC-795A-3963862AF469}"/>
              </a:ext>
            </a:extLst>
          </p:cNvPr>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5" name="Subtitle 4">
            <a:extLst>
              <a:ext uri="{FF2B5EF4-FFF2-40B4-BE49-F238E27FC236}">
                <a16:creationId xmlns:a16="http://schemas.microsoft.com/office/drawing/2014/main" id="{0ECCED30-4574-CA0F-18BE-FDA3DAACCDC4}"/>
              </a:ext>
            </a:extLst>
          </p:cNvPr>
          <p:cNvSpPr>
            <a:spLocks noGrp="1"/>
          </p:cNvSpPr>
          <p:nvPr>
            <p:ph type="subTitle" idx="1"/>
          </p:nvPr>
        </p:nvSpPr>
        <p:spPr>
          <a:xfrm>
            <a:off x="1047345" y="2601119"/>
            <a:ext cx="9144000" cy="1655762"/>
          </a:xfrm>
        </p:spPr>
        <p:txBody>
          <a:bodyPr>
            <a:normAutofit/>
          </a:bodyPr>
          <a:lstStyle/>
          <a:p>
            <a:r>
              <a:rPr lang="en-US" sz="4400" dirty="0">
                <a:solidFill>
                  <a:srgbClr val="0066CC"/>
                </a:solidFill>
              </a:rPr>
              <a:t>Lecture - 12</a:t>
            </a:r>
          </a:p>
        </p:txBody>
      </p:sp>
    </p:spTree>
    <p:extLst>
      <p:ext uri="{BB962C8B-B14F-4D97-AF65-F5344CB8AC3E}">
        <p14:creationId xmlns:p14="http://schemas.microsoft.com/office/powerpoint/2010/main" val="201242728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Recap</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Memory Management: </a:t>
            </a:r>
          </a:p>
          <a:p>
            <a:pPr lvl="1"/>
            <a:r>
              <a:rPr lang="en-IN" dirty="0"/>
              <a:t>Paging </a:t>
            </a:r>
          </a:p>
          <a:p>
            <a:pPr lvl="1"/>
            <a:endParaRPr lang="en-US" dirty="0"/>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44162536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Agenda</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Memory Management: </a:t>
            </a:r>
          </a:p>
          <a:p>
            <a:pPr lvl="1"/>
            <a:r>
              <a:rPr lang="en-IN" dirty="0"/>
              <a:t>Paging </a:t>
            </a:r>
          </a:p>
          <a:p>
            <a:pPr lvl="2"/>
            <a:r>
              <a:rPr lang="en-IN" dirty="0"/>
              <a:t>Free Frames</a:t>
            </a:r>
          </a:p>
          <a:p>
            <a:pPr lvl="2"/>
            <a:r>
              <a:rPr lang="en-IN" dirty="0"/>
              <a:t>Hardware Support</a:t>
            </a:r>
          </a:p>
          <a:p>
            <a:pPr lvl="2"/>
            <a:r>
              <a:rPr lang="en-IN" dirty="0"/>
              <a:t>Protection</a:t>
            </a:r>
          </a:p>
          <a:p>
            <a:pPr lvl="2"/>
            <a:r>
              <a:rPr lang="en-IN" dirty="0"/>
              <a:t>Shared Pages</a:t>
            </a:r>
          </a:p>
          <a:p>
            <a:pPr lvl="1"/>
            <a:endParaRPr lang="en-US" dirty="0"/>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118768448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2896049" cy="461665"/>
          </a:xfrm>
          <a:prstGeom prst="rect">
            <a:avLst/>
          </a:prstGeom>
          <a:noFill/>
        </p:spPr>
        <p:txBody>
          <a:bodyPr wrap="none" rtlCol="0">
            <a:spAutoFit/>
          </a:bodyPr>
          <a:lstStyle/>
          <a:p>
            <a:r>
              <a:rPr lang="en-IN" sz="2400" dirty="0">
                <a:highlight>
                  <a:srgbClr val="00FFFF"/>
                </a:highlight>
              </a:rPr>
              <a:t>Paging – </a:t>
            </a:r>
            <a:r>
              <a:rPr lang="en-IN" sz="2400" dirty="0">
                <a:highlight>
                  <a:srgbClr val="FFFF00"/>
                </a:highlight>
              </a:rPr>
              <a:t>Free Frames </a:t>
            </a:r>
          </a:p>
        </p:txBody>
      </p:sp>
      <p:pic>
        <p:nvPicPr>
          <p:cNvPr id="6" name="Picture 5">
            <a:extLst>
              <a:ext uri="{FF2B5EF4-FFF2-40B4-BE49-F238E27FC236}">
                <a16:creationId xmlns:a16="http://schemas.microsoft.com/office/drawing/2014/main" id="{B04017AE-A6B0-BCD5-9F14-4E62B4353BE6}"/>
              </a:ext>
            </a:extLst>
          </p:cNvPr>
          <p:cNvPicPr>
            <a:picLocks noChangeAspect="1"/>
          </p:cNvPicPr>
          <p:nvPr/>
        </p:nvPicPr>
        <p:blipFill>
          <a:blip r:embed="rId3"/>
          <a:stretch>
            <a:fillRect/>
          </a:stretch>
        </p:blipFill>
        <p:spPr>
          <a:xfrm>
            <a:off x="4040734" y="1573248"/>
            <a:ext cx="5725324" cy="4105848"/>
          </a:xfrm>
          <a:prstGeom prst="rect">
            <a:avLst/>
          </a:prstGeom>
        </p:spPr>
      </p:pic>
    </p:spTree>
    <p:extLst>
      <p:ext uri="{BB962C8B-B14F-4D97-AF65-F5344CB8AC3E}">
        <p14:creationId xmlns:p14="http://schemas.microsoft.com/office/powerpoint/2010/main" val="310944969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3659271" cy="461665"/>
          </a:xfrm>
          <a:prstGeom prst="rect">
            <a:avLst/>
          </a:prstGeom>
          <a:noFill/>
        </p:spPr>
        <p:txBody>
          <a:bodyPr wrap="none" rtlCol="0">
            <a:spAutoFit/>
          </a:bodyPr>
          <a:lstStyle/>
          <a:p>
            <a:r>
              <a:rPr lang="en-IN" sz="2400" dirty="0">
                <a:highlight>
                  <a:srgbClr val="00FFFF"/>
                </a:highlight>
              </a:rPr>
              <a:t>Paging – </a:t>
            </a:r>
            <a:r>
              <a:rPr lang="en-IN" sz="2400" dirty="0">
                <a:highlight>
                  <a:srgbClr val="FFFF00"/>
                </a:highlight>
              </a:rPr>
              <a:t>Hardware Support </a:t>
            </a:r>
          </a:p>
        </p:txBody>
      </p:sp>
      <p:sp>
        <p:nvSpPr>
          <p:cNvPr id="7" name="TextBox 6">
            <a:extLst>
              <a:ext uri="{FF2B5EF4-FFF2-40B4-BE49-F238E27FC236}">
                <a16:creationId xmlns:a16="http://schemas.microsoft.com/office/drawing/2014/main" id="{9A16B4EB-9373-037D-F905-02BFD325BCC7}"/>
              </a:ext>
            </a:extLst>
          </p:cNvPr>
          <p:cNvSpPr txBox="1"/>
          <p:nvPr/>
        </p:nvSpPr>
        <p:spPr>
          <a:xfrm>
            <a:off x="531981" y="1966818"/>
            <a:ext cx="4148059" cy="400110"/>
          </a:xfrm>
          <a:prstGeom prst="rect">
            <a:avLst/>
          </a:prstGeom>
          <a:noFill/>
        </p:spPr>
        <p:txBody>
          <a:bodyPr wrap="none" rtlCol="0">
            <a:spAutoFit/>
          </a:bodyPr>
          <a:lstStyle/>
          <a:p>
            <a:r>
              <a:rPr lang="en-IN" sz="2000" dirty="0">
                <a:solidFill>
                  <a:srgbClr val="C00000"/>
                </a:solidFill>
                <a:latin typeface="Times New Roman" pitchFamily="18" charset="0"/>
                <a:cs typeface="Times New Roman" pitchFamily="18" charset="0"/>
              </a:rPr>
              <a:t>Translation Look-Aside Buffer (TLB):</a:t>
            </a:r>
          </a:p>
        </p:txBody>
      </p:sp>
      <p:sp>
        <p:nvSpPr>
          <p:cNvPr id="6" name="TextBox 5">
            <a:extLst>
              <a:ext uri="{FF2B5EF4-FFF2-40B4-BE49-F238E27FC236}">
                <a16:creationId xmlns:a16="http://schemas.microsoft.com/office/drawing/2014/main" id="{5EEB014A-5D3C-A0BB-2E38-C3E7F186103C}"/>
              </a:ext>
            </a:extLst>
          </p:cNvPr>
          <p:cNvSpPr txBox="1"/>
          <p:nvPr/>
        </p:nvSpPr>
        <p:spPr>
          <a:xfrm>
            <a:off x="635135" y="2439806"/>
            <a:ext cx="10921730" cy="3086871"/>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IN" sz="2200" dirty="0">
                <a:solidFill>
                  <a:srgbClr val="231F20"/>
                </a:solidFill>
              </a:rPr>
              <a:t>S</a:t>
            </a:r>
            <a:r>
              <a:rPr lang="en-IN" sz="2200" b="0" i="0" u="none" strike="noStrike" baseline="0" dirty="0">
                <a:solidFill>
                  <a:srgbClr val="231F20"/>
                </a:solidFill>
              </a:rPr>
              <a:t>pecial, small, fast lookup </a:t>
            </a:r>
            <a:r>
              <a:rPr lang="en-US" sz="2200" b="0" i="0" u="none" strike="noStrike" baseline="0" dirty="0">
                <a:solidFill>
                  <a:srgbClr val="231F20"/>
                </a:solidFill>
              </a:rPr>
              <a:t>hardware cache called a </a:t>
            </a:r>
            <a:r>
              <a:rPr lang="en-US" sz="2200" b="1" i="0" u="none" strike="noStrike" baseline="0" dirty="0">
                <a:solidFill>
                  <a:srgbClr val="00AEF0"/>
                </a:solidFill>
              </a:rPr>
              <a:t>Translation Look-aside Buffer </a:t>
            </a:r>
            <a:r>
              <a:rPr lang="en-US" sz="2200" b="1" i="0" u="none" strike="noStrike" baseline="0" dirty="0">
                <a:solidFill>
                  <a:srgbClr val="231F20"/>
                </a:solidFill>
              </a:rPr>
              <a:t>(</a:t>
            </a:r>
            <a:r>
              <a:rPr lang="en-US" sz="2200" b="1" i="0" u="none" strike="noStrike" baseline="0" dirty="0">
                <a:solidFill>
                  <a:srgbClr val="00AEF0"/>
                </a:solidFill>
              </a:rPr>
              <a:t>TLB</a:t>
            </a:r>
            <a:r>
              <a:rPr lang="en-US" sz="2200" b="1" i="0" u="none" strike="noStrike" baseline="0" dirty="0">
                <a:solidFill>
                  <a:srgbClr val="231F20"/>
                </a:solidFill>
              </a:rPr>
              <a:t>)</a:t>
            </a:r>
            <a:r>
              <a:rPr lang="en-US" sz="2200" b="0" i="0" u="none" strike="noStrike" baseline="0" dirty="0">
                <a:solidFill>
                  <a:srgbClr val="231F20"/>
                </a:solidFill>
              </a:rPr>
              <a:t>.</a:t>
            </a:r>
          </a:p>
          <a:p>
            <a:pPr marL="285750" indent="-285750" algn="l">
              <a:lnSpc>
                <a:spcPct val="150000"/>
              </a:lnSpc>
              <a:buFont typeface="Arial" panose="020B0604020202020204" pitchFamily="34" charset="0"/>
              <a:buChar char="•"/>
            </a:pPr>
            <a:r>
              <a:rPr lang="en-IN" sz="2200" dirty="0">
                <a:solidFill>
                  <a:srgbClr val="231F20"/>
                </a:solidFill>
              </a:rPr>
              <a:t>The TLB is associative, high-speed memory.</a:t>
            </a:r>
          </a:p>
          <a:p>
            <a:pPr marL="285750" indent="-285750" algn="l">
              <a:lnSpc>
                <a:spcPct val="150000"/>
              </a:lnSpc>
              <a:buFont typeface="Arial" panose="020B0604020202020204" pitchFamily="34" charset="0"/>
              <a:buChar char="•"/>
            </a:pPr>
            <a:r>
              <a:rPr lang="en-US" sz="2200" dirty="0">
                <a:solidFill>
                  <a:srgbClr val="231F20"/>
                </a:solidFill>
              </a:rPr>
              <a:t>Each entry in the TLB consists of two parts: a key (or tag) and a value.</a:t>
            </a:r>
          </a:p>
          <a:p>
            <a:pPr marL="285750" indent="-285750" algn="l">
              <a:lnSpc>
                <a:spcPct val="150000"/>
              </a:lnSpc>
              <a:buFont typeface="Arial" panose="020B0604020202020204" pitchFamily="34" charset="0"/>
              <a:buChar char="•"/>
            </a:pPr>
            <a:r>
              <a:rPr lang="en-US" sz="2200" dirty="0">
                <a:solidFill>
                  <a:srgbClr val="231F20"/>
                </a:solidFill>
              </a:rPr>
              <a:t>When the associative memory is presented with an item, the item is compared with all keys simultaneously.</a:t>
            </a:r>
          </a:p>
          <a:p>
            <a:pPr marL="285750" indent="-285750" algn="l">
              <a:lnSpc>
                <a:spcPct val="150000"/>
              </a:lnSpc>
              <a:buFont typeface="Arial" panose="020B0604020202020204" pitchFamily="34" charset="0"/>
              <a:buChar char="•"/>
            </a:pPr>
            <a:r>
              <a:rPr lang="en-US" sz="2200" dirty="0">
                <a:solidFill>
                  <a:srgbClr val="231F20"/>
                </a:solidFill>
              </a:rPr>
              <a:t>If the item is found, the corresponding value field is returned.</a:t>
            </a:r>
            <a:endParaRPr lang="en-IN" sz="2200" dirty="0"/>
          </a:p>
        </p:txBody>
      </p:sp>
    </p:spTree>
    <p:extLst>
      <p:ext uri="{BB962C8B-B14F-4D97-AF65-F5344CB8AC3E}">
        <p14:creationId xmlns:p14="http://schemas.microsoft.com/office/powerpoint/2010/main" val="76367975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3659271" cy="461665"/>
          </a:xfrm>
          <a:prstGeom prst="rect">
            <a:avLst/>
          </a:prstGeom>
          <a:noFill/>
        </p:spPr>
        <p:txBody>
          <a:bodyPr wrap="none" rtlCol="0">
            <a:spAutoFit/>
          </a:bodyPr>
          <a:lstStyle/>
          <a:p>
            <a:r>
              <a:rPr lang="en-IN" sz="2400" dirty="0">
                <a:highlight>
                  <a:srgbClr val="00FFFF"/>
                </a:highlight>
              </a:rPr>
              <a:t>Paging – </a:t>
            </a:r>
            <a:r>
              <a:rPr lang="en-IN" sz="2400" dirty="0">
                <a:highlight>
                  <a:srgbClr val="FFFF00"/>
                </a:highlight>
              </a:rPr>
              <a:t>Hardware Support </a:t>
            </a:r>
          </a:p>
        </p:txBody>
      </p:sp>
      <p:pic>
        <p:nvPicPr>
          <p:cNvPr id="5" name="Picture 4">
            <a:extLst>
              <a:ext uri="{FF2B5EF4-FFF2-40B4-BE49-F238E27FC236}">
                <a16:creationId xmlns:a16="http://schemas.microsoft.com/office/drawing/2014/main" id="{A8A4F1C6-1445-AC68-48A1-83CBD517F17D}"/>
              </a:ext>
            </a:extLst>
          </p:cNvPr>
          <p:cNvPicPr>
            <a:picLocks noChangeAspect="1"/>
          </p:cNvPicPr>
          <p:nvPr/>
        </p:nvPicPr>
        <p:blipFill>
          <a:blip r:embed="rId3"/>
          <a:stretch>
            <a:fillRect/>
          </a:stretch>
        </p:blipFill>
        <p:spPr>
          <a:xfrm>
            <a:off x="4961506" y="1704977"/>
            <a:ext cx="5868219" cy="4525006"/>
          </a:xfrm>
          <a:prstGeom prst="rect">
            <a:avLst/>
          </a:prstGeom>
        </p:spPr>
      </p:pic>
      <p:sp>
        <p:nvSpPr>
          <p:cNvPr id="7" name="TextBox 6">
            <a:extLst>
              <a:ext uri="{FF2B5EF4-FFF2-40B4-BE49-F238E27FC236}">
                <a16:creationId xmlns:a16="http://schemas.microsoft.com/office/drawing/2014/main" id="{9A16B4EB-9373-037D-F905-02BFD325BCC7}"/>
              </a:ext>
            </a:extLst>
          </p:cNvPr>
          <p:cNvSpPr txBox="1"/>
          <p:nvPr/>
        </p:nvSpPr>
        <p:spPr>
          <a:xfrm>
            <a:off x="531981" y="1966818"/>
            <a:ext cx="4148059" cy="400110"/>
          </a:xfrm>
          <a:prstGeom prst="rect">
            <a:avLst/>
          </a:prstGeom>
          <a:noFill/>
        </p:spPr>
        <p:txBody>
          <a:bodyPr wrap="none" rtlCol="0">
            <a:spAutoFit/>
          </a:bodyPr>
          <a:lstStyle/>
          <a:p>
            <a:r>
              <a:rPr lang="en-IN" sz="2000" dirty="0">
                <a:solidFill>
                  <a:srgbClr val="C00000"/>
                </a:solidFill>
                <a:latin typeface="Times New Roman" pitchFamily="18" charset="0"/>
                <a:cs typeface="Times New Roman" pitchFamily="18" charset="0"/>
              </a:rPr>
              <a:t>Translation Look-Aside Buffer (TLB):</a:t>
            </a:r>
          </a:p>
        </p:txBody>
      </p:sp>
    </p:spTree>
    <p:extLst>
      <p:ext uri="{BB962C8B-B14F-4D97-AF65-F5344CB8AC3E}">
        <p14:creationId xmlns:p14="http://schemas.microsoft.com/office/powerpoint/2010/main" val="366310153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3659271" cy="461665"/>
          </a:xfrm>
          <a:prstGeom prst="rect">
            <a:avLst/>
          </a:prstGeom>
          <a:noFill/>
        </p:spPr>
        <p:txBody>
          <a:bodyPr wrap="none" rtlCol="0">
            <a:spAutoFit/>
          </a:bodyPr>
          <a:lstStyle/>
          <a:p>
            <a:r>
              <a:rPr lang="en-IN" sz="2400" dirty="0">
                <a:highlight>
                  <a:srgbClr val="00FFFF"/>
                </a:highlight>
              </a:rPr>
              <a:t>Paging – </a:t>
            </a:r>
            <a:r>
              <a:rPr lang="en-IN" sz="2400" dirty="0">
                <a:highlight>
                  <a:srgbClr val="FFFF00"/>
                </a:highlight>
              </a:rPr>
              <a:t>Hardware Support </a:t>
            </a:r>
          </a:p>
        </p:txBody>
      </p:sp>
      <p:sp>
        <p:nvSpPr>
          <p:cNvPr id="7" name="TextBox 6">
            <a:extLst>
              <a:ext uri="{FF2B5EF4-FFF2-40B4-BE49-F238E27FC236}">
                <a16:creationId xmlns:a16="http://schemas.microsoft.com/office/drawing/2014/main" id="{9A16B4EB-9373-037D-F905-02BFD325BCC7}"/>
              </a:ext>
            </a:extLst>
          </p:cNvPr>
          <p:cNvSpPr txBox="1"/>
          <p:nvPr/>
        </p:nvSpPr>
        <p:spPr>
          <a:xfrm>
            <a:off x="531981" y="1966818"/>
            <a:ext cx="4148059" cy="400110"/>
          </a:xfrm>
          <a:prstGeom prst="rect">
            <a:avLst/>
          </a:prstGeom>
          <a:noFill/>
        </p:spPr>
        <p:txBody>
          <a:bodyPr wrap="none" rtlCol="0">
            <a:spAutoFit/>
          </a:bodyPr>
          <a:lstStyle/>
          <a:p>
            <a:r>
              <a:rPr lang="en-IN" sz="2000" dirty="0">
                <a:solidFill>
                  <a:srgbClr val="C00000"/>
                </a:solidFill>
                <a:latin typeface="Times New Roman" pitchFamily="18" charset="0"/>
                <a:cs typeface="Times New Roman" pitchFamily="18" charset="0"/>
              </a:rPr>
              <a:t>Translation Look-Aside Buffer (TLB):</a:t>
            </a:r>
          </a:p>
        </p:txBody>
      </p:sp>
      <p:sp>
        <p:nvSpPr>
          <p:cNvPr id="6" name="TextBox 5">
            <a:extLst>
              <a:ext uri="{FF2B5EF4-FFF2-40B4-BE49-F238E27FC236}">
                <a16:creationId xmlns:a16="http://schemas.microsoft.com/office/drawing/2014/main" id="{5EEB014A-5D3C-A0BB-2E38-C3E7F186103C}"/>
              </a:ext>
            </a:extLst>
          </p:cNvPr>
          <p:cNvSpPr txBox="1"/>
          <p:nvPr/>
        </p:nvSpPr>
        <p:spPr>
          <a:xfrm>
            <a:off x="635135" y="2439806"/>
            <a:ext cx="10921730" cy="2579039"/>
          </a:xfrm>
          <a:prstGeom prst="rect">
            <a:avLst/>
          </a:prstGeom>
          <a:noFill/>
        </p:spPr>
        <p:txBody>
          <a:bodyPr wrap="square">
            <a:spAutoFit/>
          </a:bodyPr>
          <a:lstStyle/>
          <a:p>
            <a:pPr algn="just">
              <a:lnSpc>
                <a:spcPct val="150000"/>
              </a:lnSpc>
            </a:pPr>
            <a:r>
              <a:rPr lang="en-US" sz="2200" dirty="0">
                <a:solidFill>
                  <a:srgbClr val="231F20"/>
                </a:solidFill>
              </a:rPr>
              <a:t>The TLB is used with page tables in the following way:</a:t>
            </a:r>
          </a:p>
          <a:p>
            <a:pPr marL="285750" indent="-285750" algn="just">
              <a:lnSpc>
                <a:spcPct val="150000"/>
              </a:lnSpc>
              <a:buFont typeface="Arial" panose="020B0604020202020204" pitchFamily="34" charset="0"/>
              <a:buChar char="•"/>
            </a:pPr>
            <a:r>
              <a:rPr lang="en-US" sz="2200" dirty="0">
                <a:solidFill>
                  <a:srgbClr val="231F20"/>
                </a:solidFill>
              </a:rPr>
              <a:t> The TLB contains only a few of the page-table entries. When a logical address is generated by the CPU, its page number is presented to the TLB. </a:t>
            </a:r>
          </a:p>
          <a:p>
            <a:pPr marL="285750" indent="-285750" algn="just">
              <a:lnSpc>
                <a:spcPct val="150000"/>
              </a:lnSpc>
              <a:buFont typeface="Arial" panose="020B0604020202020204" pitchFamily="34" charset="0"/>
              <a:buChar char="•"/>
            </a:pPr>
            <a:r>
              <a:rPr lang="en-US" sz="2200" dirty="0">
                <a:solidFill>
                  <a:srgbClr val="231F20"/>
                </a:solidFill>
              </a:rPr>
              <a:t>If the page number is found, its frame number is immediately available and is used to access memory. </a:t>
            </a:r>
            <a:endParaRPr lang="en-IN" sz="2200" dirty="0">
              <a:solidFill>
                <a:srgbClr val="231F20"/>
              </a:solidFill>
            </a:endParaRPr>
          </a:p>
        </p:txBody>
      </p:sp>
    </p:spTree>
    <p:extLst>
      <p:ext uri="{BB962C8B-B14F-4D97-AF65-F5344CB8AC3E}">
        <p14:creationId xmlns:p14="http://schemas.microsoft.com/office/powerpoint/2010/main" val="217206570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3659271" cy="461665"/>
          </a:xfrm>
          <a:prstGeom prst="rect">
            <a:avLst/>
          </a:prstGeom>
          <a:noFill/>
        </p:spPr>
        <p:txBody>
          <a:bodyPr wrap="none" rtlCol="0">
            <a:spAutoFit/>
          </a:bodyPr>
          <a:lstStyle/>
          <a:p>
            <a:r>
              <a:rPr lang="en-IN" sz="2400" dirty="0">
                <a:highlight>
                  <a:srgbClr val="00FFFF"/>
                </a:highlight>
              </a:rPr>
              <a:t>Paging – </a:t>
            </a:r>
            <a:r>
              <a:rPr lang="en-IN" sz="2400" dirty="0">
                <a:highlight>
                  <a:srgbClr val="FFFF00"/>
                </a:highlight>
              </a:rPr>
              <a:t>Hardware Support </a:t>
            </a:r>
          </a:p>
        </p:txBody>
      </p:sp>
      <p:sp>
        <p:nvSpPr>
          <p:cNvPr id="7" name="TextBox 6">
            <a:extLst>
              <a:ext uri="{FF2B5EF4-FFF2-40B4-BE49-F238E27FC236}">
                <a16:creationId xmlns:a16="http://schemas.microsoft.com/office/drawing/2014/main" id="{9A16B4EB-9373-037D-F905-02BFD325BCC7}"/>
              </a:ext>
            </a:extLst>
          </p:cNvPr>
          <p:cNvSpPr txBox="1"/>
          <p:nvPr/>
        </p:nvSpPr>
        <p:spPr>
          <a:xfrm>
            <a:off x="531981" y="1966818"/>
            <a:ext cx="4148059" cy="400110"/>
          </a:xfrm>
          <a:prstGeom prst="rect">
            <a:avLst/>
          </a:prstGeom>
          <a:noFill/>
        </p:spPr>
        <p:txBody>
          <a:bodyPr wrap="none" rtlCol="0">
            <a:spAutoFit/>
          </a:bodyPr>
          <a:lstStyle/>
          <a:p>
            <a:r>
              <a:rPr lang="en-IN" sz="2000" dirty="0">
                <a:solidFill>
                  <a:srgbClr val="C00000"/>
                </a:solidFill>
                <a:latin typeface="Times New Roman" pitchFamily="18" charset="0"/>
                <a:cs typeface="Times New Roman" pitchFamily="18" charset="0"/>
              </a:rPr>
              <a:t>Translation Look-Aside Buffer (TLB):</a:t>
            </a:r>
          </a:p>
        </p:txBody>
      </p:sp>
      <p:sp>
        <p:nvSpPr>
          <p:cNvPr id="5" name="TextBox 4">
            <a:extLst>
              <a:ext uri="{FF2B5EF4-FFF2-40B4-BE49-F238E27FC236}">
                <a16:creationId xmlns:a16="http://schemas.microsoft.com/office/drawing/2014/main" id="{7D94F4B3-A32A-F8AD-31CF-980321DAD1E3}"/>
              </a:ext>
            </a:extLst>
          </p:cNvPr>
          <p:cNvSpPr txBox="1"/>
          <p:nvPr/>
        </p:nvSpPr>
        <p:spPr>
          <a:xfrm>
            <a:off x="951914" y="2712582"/>
            <a:ext cx="10423343" cy="257903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200" dirty="0">
                <a:solidFill>
                  <a:srgbClr val="231F20"/>
                </a:solidFill>
              </a:rPr>
              <a:t>If the page number is not in the TLB (known as a TLB miss), a memory reference to the page table must be made. </a:t>
            </a:r>
          </a:p>
          <a:p>
            <a:pPr marL="285750" indent="-285750" algn="just">
              <a:lnSpc>
                <a:spcPct val="150000"/>
              </a:lnSpc>
              <a:buFont typeface="Arial" panose="020B0604020202020204" pitchFamily="34" charset="0"/>
              <a:buChar char="•"/>
            </a:pPr>
            <a:r>
              <a:rPr lang="en-US" sz="2200" dirty="0">
                <a:solidFill>
                  <a:srgbClr val="231F20"/>
                </a:solidFill>
              </a:rPr>
              <a:t>Depending on the CPU, this may be done automatically in hardware or via an interrupt to the operating system.</a:t>
            </a:r>
          </a:p>
          <a:p>
            <a:pPr marL="285750" indent="-285750" algn="just">
              <a:lnSpc>
                <a:spcPct val="150000"/>
              </a:lnSpc>
              <a:buFont typeface="Arial" panose="020B0604020202020204" pitchFamily="34" charset="0"/>
              <a:buChar char="•"/>
            </a:pPr>
            <a:r>
              <a:rPr lang="en-US" sz="2200" dirty="0">
                <a:solidFill>
                  <a:srgbClr val="231F20"/>
                </a:solidFill>
              </a:rPr>
              <a:t>When the frame number is obtained, we can use it to access memory.</a:t>
            </a:r>
            <a:endParaRPr lang="en-IN" sz="2200" dirty="0">
              <a:solidFill>
                <a:srgbClr val="231F20"/>
              </a:solidFill>
            </a:endParaRPr>
          </a:p>
        </p:txBody>
      </p:sp>
    </p:spTree>
    <p:extLst>
      <p:ext uri="{BB962C8B-B14F-4D97-AF65-F5344CB8AC3E}">
        <p14:creationId xmlns:p14="http://schemas.microsoft.com/office/powerpoint/2010/main" val="352836297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2599943" cy="461665"/>
          </a:xfrm>
          <a:prstGeom prst="rect">
            <a:avLst/>
          </a:prstGeom>
          <a:noFill/>
        </p:spPr>
        <p:txBody>
          <a:bodyPr wrap="none" rtlCol="0">
            <a:spAutoFit/>
          </a:bodyPr>
          <a:lstStyle/>
          <a:p>
            <a:r>
              <a:rPr lang="en-IN" sz="2400" dirty="0">
                <a:highlight>
                  <a:srgbClr val="00FFFF"/>
                </a:highlight>
              </a:rPr>
              <a:t>Paging – </a:t>
            </a:r>
            <a:r>
              <a:rPr lang="en-IN" sz="2400" dirty="0">
                <a:highlight>
                  <a:srgbClr val="FFFF00"/>
                </a:highlight>
              </a:rPr>
              <a:t>Protection</a:t>
            </a:r>
          </a:p>
        </p:txBody>
      </p:sp>
      <p:sp>
        <p:nvSpPr>
          <p:cNvPr id="6" name="TextBox 5">
            <a:extLst>
              <a:ext uri="{FF2B5EF4-FFF2-40B4-BE49-F238E27FC236}">
                <a16:creationId xmlns:a16="http://schemas.microsoft.com/office/drawing/2014/main" id="{04D5B9BA-62D9-D633-3744-56BDB920BC98}"/>
              </a:ext>
            </a:extLst>
          </p:cNvPr>
          <p:cNvSpPr txBox="1"/>
          <p:nvPr/>
        </p:nvSpPr>
        <p:spPr>
          <a:xfrm>
            <a:off x="739303" y="1853360"/>
            <a:ext cx="10892548" cy="4102533"/>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200" dirty="0">
                <a:solidFill>
                  <a:srgbClr val="231F20"/>
                </a:solidFill>
              </a:rPr>
              <a:t>Memory protection in a paged environment is accomplished by protection bits associated with each frame. </a:t>
            </a:r>
          </a:p>
          <a:p>
            <a:pPr marL="285750" indent="-285750" algn="just">
              <a:lnSpc>
                <a:spcPct val="150000"/>
              </a:lnSpc>
              <a:buFont typeface="Arial" panose="020B0604020202020204" pitchFamily="34" charset="0"/>
              <a:buChar char="•"/>
            </a:pPr>
            <a:r>
              <a:rPr lang="en-US" sz="2200" dirty="0">
                <a:solidFill>
                  <a:srgbClr val="231F20"/>
                </a:solidFill>
              </a:rPr>
              <a:t>Normally, these bits are kept in the page table. </a:t>
            </a:r>
          </a:p>
          <a:p>
            <a:pPr marL="285750" indent="-285750" algn="just">
              <a:lnSpc>
                <a:spcPct val="150000"/>
              </a:lnSpc>
              <a:buFont typeface="Arial" panose="020B0604020202020204" pitchFamily="34" charset="0"/>
              <a:buChar char="•"/>
            </a:pPr>
            <a:r>
              <a:rPr lang="en-US" sz="2200" dirty="0">
                <a:solidFill>
                  <a:srgbClr val="231F20"/>
                </a:solidFill>
              </a:rPr>
              <a:t>One bit can define a page to be read-write or read-only. </a:t>
            </a:r>
          </a:p>
          <a:p>
            <a:pPr marL="285750" indent="-285750" algn="just">
              <a:lnSpc>
                <a:spcPct val="150000"/>
              </a:lnSpc>
              <a:buFont typeface="Arial" panose="020B0604020202020204" pitchFamily="34" charset="0"/>
              <a:buChar char="•"/>
            </a:pPr>
            <a:r>
              <a:rPr lang="en-US" sz="2200" dirty="0">
                <a:solidFill>
                  <a:srgbClr val="231F20"/>
                </a:solidFill>
              </a:rPr>
              <a:t>Every reference to memory goes through the page table to find the correct frame number.</a:t>
            </a:r>
          </a:p>
          <a:p>
            <a:pPr marL="285750" indent="-285750" algn="just">
              <a:lnSpc>
                <a:spcPct val="150000"/>
              </a:lnSpc>
              <a:buFont typeface="Arial" panose="020B0604020202020204" pitchFamily="34" charset="0"/>
              <a:buChar char="•"/>
            </a:pPr>
            <a:r>
              <a:rPr lang="en-US" sz="2200" dirty="0">
                <a:solidFill>
                  <a:srgbClr val="231F20"/>
                </a:solidFill>
              </a:rPr>
              <a:t>At the same time that the physical address is being computed, the protection bits can be checked to verify that no writes are being made to a read-only page. </a:t>
            </a:r>
          </a:p>
          <a:p>
            <a:pPr marL="285750" indent="-285750" algn="just">
              <a:lnSpc>
                <a:spcPct val="150000"/>
              </a:lnSpc>
              <a:buFont typeface="Arial" panose="020B0604020202020204" pitchFamily="34" charset="0"/>
              <a:buChar char="•"/>
            </a:pPr>
            <a:r>
              <a:rPr lang="en-US" sz="2200" dirty="0">
                <a:solidFill>
                  <a:srgbClr val="231F20"/>
                </a:solidFill>
              </a:rPr>
              <a:t>An attempt to write to a read-only page causes a hardware trap to the operating </a:t>
            </a:r>
            <a:r>
              <a:rPr lang="en-IN" sz="2200" dirty="0">
                <a:solidFill>
                  <a:srgbClr val="231F20"/>
                </a:solidFill>
              </a:rPr>
              <a:t>system.</a:t>
            </a:r>
            <a:endParaRPr lang="en-IN" dirty="0"/>
          </a:p>
        </p:txBody>
      </p:sp>
    </p:spTree>
    <p:extLst>
      <p:ext uri="{BB962C8B-B14F-4D97-AF65-F5344CB8AC3E}">
        <p14:creationId xmlns:p14="http://schemas.microsoft.com/office/powerpoint/2010/main" val="149692479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2599943" cy="461665"/>
          </a:xfrm>
          <a:prstGeom prst="rect">
            <a:avLst/>
          </a:prstGeom>
          <a:noFill/>
        </p:spPr>
        <p:txBody>
          <a:bodyPr wrap="none" rtlCol="0">
            <a:spAutoFit/>
          </a:bodyPr>
          <a:lstStyle/>
          <a:p>
            <a:r>
              <a:rPr lang="en-IN" sz="2400" dirty="0">
                <a:highlight>
                  <a:srgbClr val="00FFFF"/>
                </a:highlight>
              </a:rPr>
              <a:t>Paging – </a:t>
            </a:r>
            <a:r>
              <a:rPr lang="en-IN" sz="2400" dirty="0">
                <a:highlight>
                  <a:srgbClr val="FFFF00"/>
                </a:highlight>
              </a:rPr>
              <a:t>Protection</a:t>
            </a:r>
          </a:p>
        </p:txBody>
      </p:sp>
      <p:pic>
        <p:nvPicPr>
          <p:cNvPr id="4" name="Picture 2">
            <a:extLst>
              <a:ext uri="{FF2B5EF4-FFF2-40B4-BE49-F238E27FC236}">
                <a16:creationId xmlns:a16="http://schemas.microsoft.com/office/drawing/2014/main" id="{D8E517B5-814E-770C-B6B4-6BC7579E74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8132" y="1573248"/>
            <a:ext cx="5429250" cy="4510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688369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2599943" cy="461665"/>
          </a:xfrm>
          <a:prstGeom prst="rect">
            <a:avLst/>
          </a:prstGeom>
          <a:noFill/>
        </p:spPr>
        <p:txBody>
          <a:bodyPr wrap="none" rtlCol="0">
            <a:spAutoFit/>
          </a:bodyPr>
          <a:lstStyle/>
          <a:p>
            <a:r>
              <a:rPr lang="en-IN" sz="2400" dirty="0">
                <a:highlight>
                  <a:srgbClr val="00FFFF"/>
                </a:highlight>
              </a:rPr>
              <a:t>Paging – </a:t>
            </a:r>
            <a:r>
              <a:rPr lang="en-IN" sz="2400" dirty="0">
                <a:highlight>
                  <a:srgbClr val="FFFF00"/>
                </a:highlight>
              </a:rPr>
              <a:t>Protection</a:t>
            </a:r>
          </a:p>
        </p:txBody>
      </p:sp>
      <p:sp>
        <p:nvSpPr>
          <p:cNvPr id="6" name="TextBox 5">
            <a:extLst>
              <a:ext uri="{FF2B5EF4-FFF2-40B4-BE49-F238E27FC236}">
                <a16:creationId xmlns:a16="http://schemas.microsoft.com/office/drawing/2014/main" id="{E9D9BC55-6CBC-81C4-2713-07EC03A150D4}"/>
              </a:ext>
            </a:extLst>
          </p:cNvPr>
          <p:cNvSpPr txBox="1"/>
          <p:nvPr/>
        </p:nvSpPr>
        <p:spPr>
          <a:xfrm>
            <a:off x="911880" y="1818286"/>
            <a:ext cx="11086045" cy="4467057"/>
          </a:xfrm>
          <a:prstGeom prst="rect">
            <a:avLst/>
          </a:prstGeom>
          <a:noFill/>
        </p:spPr>
        <p:txBody>
          <a:bodyPr wrap="square">
            <a:spAutoFit/>
          </a:bodyPr>
          <a:lstStyle/>
          <a:p>
            <a:pPr marL="342900" indent="-342900" algn="l">
              <a:lnSpc>
                <a:spcPct val="150000"/>
              </a:lnSpc>
              <a:buFont typeface="Arial" panose="020B0604020202020204" pitchFamily="34" charset="0"/>
              <a:buChar char="•"/>
            </a:pPr>
            <a:r>
              <a:rPr lang="en-US" sz="2400" b="0" i="0" u="none" strike="noStrike" baseline="0" dirty="0">
                <a:solidFill>
                  <a:srgbClr val="231F20"/>
                </a:solidFill>
              </a:rPr>
              <a:t>One additional bit is generally attached to each entry in the page table: a </a:t>
            </a:r>
            <a:r>
              <a:rPr lang="en-US" sz="2400" b="1" i="0" u="none" strike="noStrike" baseline="0" dirty="0">
                <a:solidFill>
                  <a:srgbClr val="00AEF0"/>
                </a:solidFill>
              </a:rPr>
              <a:t>valid–invalid </a:t>
            </a:r>
            <a:r>
              <a:rPr lang="en-US" sz="2400" b="0" i="0" u="none" strike="noStrike" baseline="0" dirty="0">
                <a:solidFill>
                  <a:srgbClr val="231F20"/>
                </a:solidFill>
              </a:rPr>
              <a:t>bit. </a:t>
            </a:r>
          </a:p>
          <a:p>
            <a:pPr marL="342900" indent="-342900" algn="l">
              <a:lnSpc>
                <a:spcPct val="150000"/>
              </a:lnSpc>
              <a:buFont typeface="Arial" panose="020B0604020202020204" pitchFamily="34" charset="0"/>
              <a:buChar char="•"/>
            </a:pPr>
            <a:r>
              <a:rPr lang="en-US" sz="2400" b="0" i="0" u="none" strike="noStrike" baseline="0" dirty="0">
                <a:solidFill>
                  <a:srgbClr val="231F20"/>
                </a:solidFill>
              </a:rPr>
              <a:t>When this bit is set to </a:t>
            </a:r>
            <a:r>
              <a:rPr lang="en-US" sz="2400" b="0" i="1" u="none" strike="noStrike" baseline="0" dirty="0">
                <a:solidFill>
                  <a:srgbClr val="231F20"/>
                </a:solidFill>
              </a:rPr>
              <a:t>valid, </a:t>
            </a:r>
            <a:r>
              <a:rPr lang="en-US" sz="2400" b="0" i="0" u="none" strike="noStrike" baseline="0" dirty="0">
                <a:solidFill>
                  <a:srgbClr val="231F20"/>
                </a:solidFill>
              </a:rPr>
              <a:t>the associated page is in the process’s logical address space and is thus a legal (or valid) page. </a:t>
            </a:r>
          </a:p>
          <a:p>
            <a:pPr marL="342900" indent="-342900" algn="l">
              <a:lnSpc>
                <a:spcPct val="150000"/>
              </a:lnSpc>
              <a:buFont typeface="Arial" panose="020B0604020202020204" pitchFamily="34" charset="0"/>
              <a:buChar char="•"/>
            </a:pPr>
            <a:r>
              <a:rPr lang="en-US" sz="2400" b="0" i="0" u="none" strike="noStrike" baseline="0" dirty="0">
                <a:solidFill>
                  <a:srgbClr val="231F20"/>
                </a:solidFill>
              </a:rPr>
              <a:t>When the bit is set to </a:t>
            </a:r>
            <a:r>
              <a:rPr lang="en-US" sz="2400" b="0" i="1" u="none" strike="noStrike" baseline="0" dirty="0">
                <a:solidFill>
                  <a:srgbClr val="231F20"/>
                </a:solidFill>
              </a:rPr>
              <a:t>invalid, </a:t>
            </a:r>
            <a:r>
              <a:rPr lang="en-US" sz="2400" b="0" i="0" u="none" strike="noStrike" baseline="0" dirty="0">
                <a:solidFill>
                  <a:srgbClr val="231F20"/>
                </a:solidFill>
              </a:rPr>
              <a:t>the page is not in the process’s logical address space.</a:t>
            </a:r>
          </a:p>
          <a:p>
            <a:pPr marL="342900" indent="-342900" algn="l">
              <a:lnSpc>
                <a:spcPct val="150000"/>
              </a:lnSpc>
              <a:buFont typeface="Arial" panose="020B0604020202020204" pitchFamily="34" charset="0"/>
              <a:buChar char="•"/>
            </a:pPr>
            <a:r>
              <a:rPr lang="en-US" sz="2400" b="0" i="0" u="none" strike="noStrike" baseline="0" dirty="0">
                <a:solidFill>
                  <a:srgbClr val="231F20"/>
                </a:solidFill>
              </a:rPr>
              <a:t>Illegal addresses are trapped by the use of the valid–invalid bit. </a:t>
            </a:r>
          </a:p>
          <a:p>
            <a:pPr marL="342900" indent="-342900" algn="l">
              <a:lnSpc>
                <a:spcPct val="150000"/>
              </a:lnSpc>
              <a:buFont typeface="Arial" panose="020B0604020202020204" pitchFamily="34" charset="0"/>
              <a:buChar char="•"/>
            </a:pPr>
            <a:r>
              <a:rPr lang="en-US" sz="2400" b="0" i="0" u="none" strike="noStrike" baseline="0" dirty="0">
                <a:solidFill>
                  <a:srgbClr val="231F20"/>
                </a:solidFill>
              </a:rPr>
              <a:t>The operating system sets this bit for each page to allow or disallow access to the page.</a:t>
            </a:r>
            <a:endParaRPr lang="en-IN" sz="2400" dirty="0"/>
          </a:p>
        </p:txBody>
      </p:sp>
    </p:spTree>
    <p:extLst>
      <p:ext uri="{BB962C8B-B14F-4D97-AF65-F5344CB8AC3E}">
        <p14:creationId xmlns:p14="http://schemas.microsoft.com/office/powerpoint/2010/main" val="396494455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3034164" cy="461665"/>
          </a:xfrm>
          <a:prstGeom prst="rect">
            <a:avLst/>
          </a:prstGeom>
          <a:noFill/>
        </p:spPr>
        <p:txBody>
          <a:bodyPr wrap="none" rtlCol="0">
            <a:spAutoFit/>
          </a:bodyPr>
          <a:lstStyle/>
          <a:p>
            <a:r>
              <a:rPr lang="en-IN" sz="2400" dirty="0">
                <a:highlight>
                  <a:srgbClr val="00FFFF"/>
                </a:highlight>
              </a:rPr>
              <a:t>Paging – </a:t>
            </a:r>
            <a:r>
              <a:rPr lang="en-IN" sz="2400" dirty="0">
                <a:highlight>
                  <a:srgbClr val="FFFF00"/>
                </a:highlight>
              </a:rPr>
              <a:t>Shared Pages </a:t>
            </a:r>
          </a:p>
        </p:txBody>
      </p:sp>
      <p:sp>
        <p:nvSpPr>
          <p:cNvPr id="6" name="TextBox 5">
            <a:extLst>
              <a:ext uri="{FF2B5EF4-FFF2-40B4-BE49-F238E27FC236}">
                <a16:creationId xmlns:a16="http://schemas.microsoft.com/office/drawing/2014/main" id="{E9D9BC55-6CBC-81C4-2713-07EC03A150D4}"/>
              </a:ext>
            </a:extLst>
          </p:cNvPr>
          <p:cNvSpPr txBox="1"/>
          <p:nvPr/>
        </p:nvSpPr>
        <p:spPr>
          <a:xfrm>
            <a:off x="911880" y="1818286"/>
            <a:ext cx="10934982" cy="1143070"/>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dirty="0"/>
              <a:t>An advantage of paging is the possibility of </a:t>
            </a:r>
            <a:r>
              <a:rPr lang="en-US" sz="2400" b="1" i="1" dirty="0"/>
              <a:t>sharing </a:t>
            </a:r>
            <a:r>
              <a:rPr lang="en-US" sz="2400" dirty="0"/>
              <a:t>common code.</a:t>
            </a:r>
          </a:p>
          <a:p>
            <a:pPr marL="342900" indent="-342900">
              <a:lnSpc>
                <a:spcPct val="150000"/>
              </a:lnSpc>
              <a:buFont typeface="Arial" panose="020B0604020202020204" pitchFamily="34" charset="0"/>
              <a:buChar char="•"/>
            </a:pPr>
            <a:r>
              <a:rPr lang="en-IN" sz="2400" dirty="0"/>
              <a:t>This consideration </a:t>
            </a:r>
            <a:r>
              <a:rPr lang="en-US" sz="2400" dirty="0"/>
              <a:t>is particularly important in a time-sharing environment.</a:t>
            </a:r>
            <a:endParaRPr lang="en-IN" sz="2400" dirty="0"/>
          </a:p>
        </p:txBody>
      </p:sp>
    </p:spTree>
    <p:extLst>
      <p:ext uri="{BB962C8B-B14F-4D97-AF65-F5344CB8AC3E}">
        <p14:creationId xmlns:p14="http://schemas.microsoft.com/office/powerpoint/2010/main" val="182207955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3034164" cy="461665"/>
          </a:xfrm>
          <a:prstGeom prst="rect">
            <a:avLst/>
          </a:prstGeom>
          <a:noFill/>
        </p:spPr>
        <p:txBody>
          <a:bodyPr wrap="none" rtlCol="0">
            <a:spAutoFit/>
          </a:bodyPr>
          <a:lstStyle/>
          <a:p>
            <a:r>
              <a:rPr lang="en-IN" sz="2400" dirty="0">
                <a:highlight>
                  <a:srgbClr val="00FFFF"/>
                </a:highlight>
              </a:rPr>
              <a:t>Paging – </a:t>
            </a:r>
            <a:r>
              <a:rPr lang="en-IN" sz="2400" dirty="0">
                <a:highlight>
                  <a:srgbClr val="FFFF00"/>
                </a:highlight>
              </a:rPr>
              <a:t>Shared Pages </a:t>
            </a:r>
          </a:p>
        </p:txBody>
      </p:sp>
      <p:sp>
        <p:nvSpPr>
          <p:cNvPr id="6" name="TextBox 5">
            <a:extLst>
              <a:ext uri="{FF2B5EF4-FFF2-40B4-BE49-F238E27FC236}">
                <a16:creationId xmlns:a16="http://schemas.microsoft.com/office/drawing/2014/main" id="{7FD50793-56DB-A111-4B25-59A4FF9428DF}"/>
              </a:ext>
            </a:extLst>
          </p:cNvPr>
          <p:cNvSpPr txBox="1"/>
          <p:nvPr/>
        </p:nvSpPr>
        <p:spPr>
          <a:xfrm>
            <a:off x="739303" y="1720840"/>
            <a:ext cx="10713394" cy="391305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b="0" i="0" u="none" strike="noStrike" baseline="0" dirty="0">
                <a:solidFill>
                  <a:srgbClr val="231F20"/>
                </a:solidFill>
              </a:rPr>
              <a:t>Consider a </a:t>
            </a:r>
            <a:r>
              <a:rPr lang="en-US" sz="2400" b="0" i="0" u="none" strike="noStrike" baseline="0" dirty="0">
                <a:solidFill>
                  <a:srgbClr val="231F20"/>
                </a:solidFill>
              </a:rPr>
              <a:t>system that supports 40 users, each of whom executes a text editor.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If the text editor consists of 150 KB of code and 50 KB of data space, we need 8,000 KB to support the 40 users.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If the code is </a:t>
            </a:r>
            <a:r>
              <a:rPr lang="en-US" sz="2400" b="1" i="0" u="none" strike="noStrike" baseline="0" dirty="0">
                <a:solidFill>
                  <a:srgbClr val="00AEF0"/>
                </a:solidFill>
              </a:rPr>
              <a:t>reentrant code </a:t>
            </a:r>
            <a:r>
              <a:rPr lang="en-US" sz="2400" b="0" i="0" u="none" strike="noStrike" baseline="0" dirty="0">
                <a:solidFill>
                  <a:srgbClr val="231F20"/>
                </a:solidFill>
              </a:rPr>
              <a:t>(or </a:t>
            </a:r>
            <a:r>
              <a:rPr lang="en-US" sz="2400" b="1" i="0" u="none" strike="noStrike" baseline="0" dirty="0">
                <a:solidFill>
                  <a:srgbClr val="00AEF0"/>
                </a:solidFill>
              </a:rPr>
              <a:t>pure code</a:t>
            </a:r>
            <a:r>
              <a:rPr lang="en-US" sz="2400" b="0" i="0" u="none" strike="noStrike" baseline="0" dirty="0">
                <a:solidFill>
                  <a:srgbClr val="231F20"/>
                </a:solidFill>
              </a:rPr>
              <a:t>), however, it can be shared, as shown in Figure.  </a:t>
            </a:r>
          </a:p>
          <a:p>
            <a:pPr marL="342900" indent="-342900" algn="just">
              <a:lnSpc>
                <a:spcPct val="150000"/>
              </a:lnSpc>
              <a:buFont typeface="Arial" panose="020B0604020202020204" pitchFamily="34" charset="0"/>
              <a:buChar char="•"/>
            </a:pPr>
            <a:r>
              <a:rPr lang="en-US" sz="2400" dirty="0">
                <a:solidFill>
                  <a:srgbClr val="231F20"/>
                </a:solidFill>
              </a:rPr>
              <a:t>Reentrant code is non-self-modifying code: it never changes during execution. Thus, two or more processes can execute the same code at the same time.</a:t>
            </a:r>
            <a:endParaRPr lang="en-IN" sz="2400" dirty="0">
              <a:solidFill>
                <a:srgbClr val="231F20"/>
              </a:solidFill>
            </a:endParaRPr>
          </a:p>
        </p:txBody>
      </p:sp>
    </p:spTree>
    <p:extLst>
      <p:ext uri="{BB962C8B-B14F-4D97-AF65-F5344CB8AC3E}">
        <p14:creationId xmlns:p14="http://schemas.microsoft.com/office/powerpoint/2010/main" val="297783616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3034164" cy="461665"/>
          </a:xfrm>
          <a:prstGeom prst="rect">
            <a:avLst/>
          </a:prstGeom>
          <a:noFill/>
        </p:spPr>
        <p:txBody>
          <a:bodyPr wrap="none" rtlCol="0">
            <a:spAutoFit/>
          </a:bodyPr>
          <a:lstStyle/>
          <a:p>
            <a:r>
              <a:rPr lang="en-IN" sz="2400" dirty="0">
                <a:highlight>
                  <a:srgbClr val="00FFFF"/>
                </a:highlight>
              </a:rPr>
              <a:t>Paging – </a:t>
            </a:r>
            <a:r>
              <a:rPr lang="en-IN" sz="2400" dirty="0">
                <a:highlight>
                  <a:srgbClr val="FFFF00"/>
                </a:highlight>
              </a:rPr>
              <a:t>Shared Pages </a:t>
            </a:r>
          </a:p>
        </p:txBody>
      </p:sp>
      <p:pic>
        <p:nvPicPr>
          <p:cNvPr id="5" name="Picture 4">
            <a:extLst>
              <a:ext uri="{FF2B5EF4-FFF2-40B4-BE49-F238E27FC236}">
                <a16:creationId xmlns:a16="http://schemas.microsoft.com/office/drawing/2014/main" id="{8612FB01-5C04-2F1A-7248-DFB333543925}"/>
              </a:ext>
            </a:extLst>
          </p:cNvPr>
          <p:cNvPicPr>
            <a:picLocks noChangeAspect="1"/>
          </p:cNvPicPr>
          <p:nvPr/>
        </p:nvPicPr>
        <p:blipFill>
          <a:blip r:embed="rId3"/>
          <a:stretch>
            <a:fillRect/>
          </a:stretch>
        </p:blipFill>
        <p:spPr>
          <a:xfrm>
            <a:off x="4402400" y="1410964"/>
            <a:ext cx="5430008" cy="5106113"/>
          </a:xfrm>
          <a:prstGeom prst="rect">
            <a:avLst/>
          </a:prstGeom>
        </p:spPr>
      </p:pic>
    </p:spTree>
    <p:extLst>
      <p:ext uri="{BB962C8B-B14F-4D97-AF65-F5344CB8AC3E}">
        <p14:creationId xmlns:p14="http://schemas.microsoft.com/office/powerpoint/2010/main" val="165807288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3034164" cy="461665"/>
          </a:xfrm>
          <a:prstGeom prst="rect">
            <a:avLst/>
          </a:prstGeom>
          <a:noFill/>
        </p:spPr>
        <p:txBody>
          <a:bodyPr wrap="none" rtlCol="0">
            <a:spAutoFit/>
          </a:bodyPr>
          <a:lstStyle/>
          <a:p>
            <a:r>
              <a:rPr lang="en-IN" sz="2400" dirty="0">
                <a:highlight>
                  <a:srgbClr val="00FFFF"/>
                </a:highlight>
              </a:rPr>
              <a:t>Paging – </a:t>
            </a:r>
            <a:r>
              <a:rPr lang="en-IN" sz="2400" dirty="0">
                <a:highlight>
                  <a:srgbClr val="FFFF00"/>
                </a:highlight>
              </a:rPr>
              <a:t>Shared Pages </a:t>
            </a:r>
          </a:p>
        </p:txBody>
      </p:sp>
      <p:sp>
        <p:nvSpPr>
          <p:cNvPr id="6" name="TextBox 5">
            <a:extLst>
              <a:ext uri="{FF2B5EF4-FFF2-40B4-BE49-F238E27FC236}">
                <a16:creationId xmlns:a16="http://schemas.microsoft.com/office/drawing/2014/main" id="{7FD50793-56DB-A111-4B25-59A4FF9428DF}"/>
              </a:ext>
            </a:extLst>
          </p:cNvPr>
          <p:cNvSpPr txBox="1"/>
          <p:nvPr/>
        </p:nvSpPr>
        <p:spPr>
          <a:xfrm>
            <a:off x="739303" y="1720840"/>
            <a:ext cx="10713394" cy="1697068"/>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Here, we see three processes sharing a three-page editor—each page 50 KB in size (the large page size is used to simplify the figure).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Each process has its own data page.</a:t>
            </a:r>
            <a:endParaRPr lang="en-IN" sz="2400" dirty="0"/>
          </a:p>
        </p:txBody>
      </p:sp>
    </p:spTree>
    <p:extLst>
      <p:ext uri="{BB962C8B-B14F-4D97-AF65-F5344CB8AC3E}">
        <p14:creationId xmlns:p14="http://schemas.microsoft.com/office/powerpoint/2010/main" val="152628043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Memory Management</a:t>
            </a:r>
          </a:p>
        </p:txBody>
      </p:sp>
      <p:sp>
        <p:nvSpPr>
          <p:cNvPr id="2" name="TextBox 1">
            <a:extLst>
              <a:ext uri="{FF2B5EF4-FFF2-40B4-BE49-F238E27FC236}">
                <a16:creationId xmlns:a16="http://schemas.microsoft.com/office/drawing/2014/main" id="{E46A1E35-5CF7-5EF3-A006-A4AFD05E14F2}"/>
              </a:ext>
            </a:extLst>
          </p:cNvPr>
          <p:cNvSpPr txBox="1"/>
          <p:nvPr/>
        </p:nvSpPr>
        <p:spPr>
          <a:xfrm>
            <a:off x="739303" y="1342416"/>
            <a:ext cx="3034164" cy="461665"/>
          </a:xfrm>
          <a:prstGeom prst="rect">
            <a:avLst/>
          </a:prstGeom>
          <a:noFill/>
        </p:spPr>
        <p:txBody>
          <a:bodyPr wrap="none" rtlCol="0">
            <a:spAutoFit/>
          </a:bodyPr>
          <a:lstStyle/>
          <a:p>
            <a:r>
              <a:rPr lang="en-IN" sz="2400" dirty="0">
                <a:highlight>
                  <a:srgbClr val="00FFFF"/>
                </a:highlight>
              </a:rPr>
              <a:t>Paging – </a:t>
            </a:r>
            <a:r>
              <a:rPr lang="en-IN" sz="2400" dirty="0">
                <a:highlight>
                  <a:srgbClr val="FFFF00"/>
                </a:highlight>
              </a:rPr>
              <a:t>Shared Pages </a:t>
            </a:r>
          </a:p>
        </p:txBody>
      </p:sp>
      <p:sp>
        <p:nvSpPr>
          <p:cNvPr id="5" name="TextBox 4">
            <a:extLst>
              <a:ext uri="{FF2B5EF4-FFF2-40B4-BE49-F238E27FC236}">
                <a16:creationId xmlns:a16="http://schemas.microsoft.com/office/drawing/2014/main" id="{699B9CEA-7B6B-C63E-EDAF-BDB44F909DB3}"/>
              </a:ext>
            </a:extLst>
          </p:cNvPr>
          <p:cNvSpPr txBox="1"/>
          <p:nvPr/>
        </p:nvSpPr>
        <p:spPr>
          <a:xfrm>
            <a:off x="1097921" y="1916791"/>
            <a:ext cx="10406165" cy="391305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solidFill>
                  <a:srgbClr val="231F20"/>
                </a:solidFill>
              </a:rPr>
              <a:t>Only one copy of the editor needs to be kept in physical memory. </a:t>
            </a:r>
          </a:p>
          <a:p>
            <a:pPr marL="342900" indent="-342900" algn="just">
              <a:lnSpc>
                <a:spcPct val="150000"/>
              </a:lnSpc>
              <a:buFont typeface="Arial" panose="020B0604020202020204" pitchFamily="34" charset="0"/>
              <a:buChar char="•"/>
            </a:pPr>
            <a:r>
              <a:rPr lang="en-US" sz="2400" dirty="0">
                <a:solidFill>
                  <a:srgbClr val="231F20"/>
                </a:solidFill>
              </a:rPr>
              <a:t>Each user’s page table maps onto the same physical copy of the editor, but data pages are mapped onto different frames. </a:t>
            </a:r>
          </a:p>
          <a:p>
            <a:pPr marL="342900" indent="-342900" algn="just">
              <a:lnSpc>
                <a:spcPct val="150000"/>
              </a:lnSpc>
              <a:buFont typeface="Arial" panose="020B0604020202020204" pitchFamily="34" charset="0"/>
              <a:buChar char="•"/>
            </a:pPr>
            <a:r>
              <a:rPr lang="en-US" sz="2400" dirty="0">
                <a:solidFill>
                  <a:srgbClr val="231F20"/>
                </a:solidFill>
              </a:rPr>
              <a:t>Thus, to support 40 users, we need only one copy of the editor (150 KB), plus 40 copies of the 50 KB of data space per user.</a:t>
            </a:r>
          </a:p>
          <a:p>
            <a:pPr marL="342900" indent="-342900" algn="just">
              <a:lnSpc>
                <a:spcPct val="150000"/>
              </a:lnSpc>
              <a:buFont typeface="Arial" panose="020B0604020202020204" pitchFamily="34" charset="0"/>
              <a:buChar char="•"/>
            </a:pPr>
            <a:r>
              <a:rPr lang="en-US" sz="2400" dirty="0">
                <a:solidFill>
                  <a:srgbClr val="231F20"/>
                </a:solidFill>
              </a:rPr>
              <a:t>The total space required is now 2,150 KB instead of 8,000 KB—a significant</a:t>
            </a:r>
          </a:p>
          <a:p>
            <a:pPr marL="342900" indent="-342900" algn="just">
              <a:lnSpc>
                <a:spcPct val="150000"/>
              </a:lnSpc>
              <a:buFont typeface="Arial" panose="020B0604020202020204" pitchFamily="34" charset="0"/>
              <a:buChar char="•"/>
            </a:pPr>
            <a:r>
              <a:rPr lang="en-IN" sz="2400" dirty="0">
                <a:solidFill>
                  <a:srgbClr val="231F20"/>
                </a:solidFill>
              </a:rPr>
              <a:t>savings.</a:t>
            </a:r>
          </a:p>
        </p:txBody>
      </p:sp>
    </p:spTree>
    <p:extLst>
      <p:ext uri="{BB962C8B-B14F-4D97-AF65-F5344CB8AC3E}">
        <p14:creationId xmlns:p14="http://schemas.microsoft.com/office/powerpoint/2010/main" val="109311145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98335-6F39-88C7-D5CF-791CE5EE291F}"/>
            </a:ext>
          </a:extLst>
        </p:cNvPr>
        <p:cNvGrpSpPr/>
        <p:nvPr/>
      </p:nvGrpSpPr>
      <p:grpSpPr>
        <a:xfrm>
          <a:off x="0" y="0"/>
          <a:ext cx="0" cy="0"/>
          <a:chOff x="0" y="0"/>
          <a:chExt cx="0" cy="0"/>
        </a:xfrm>
      </p:grpSpPr>
      <p:sp>
        <p:nvSpPr>
          <p:cNvPr id="9" name="Text Placeholder 3">
            <a:extLst>
              <a:ext uri="{FF2B5EF4-FFF2-40B4-BE49-F238E27FC236}">
                <a16:creationId xmlns:a16="http://schemas.microsoft.com/office/drawing/2014/main" id="{887863A9-46E6-1AAC-795A-3963862AF469}"/>
              </a:ext>
            </a:extLst>
          </p:cNvPr>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5" name="Subtitle 4">
            <a:extLst>
              <a:ext uri="{FF2B5EF4-FFF2-40B4-BE49-F238E27FC236}">
                <a16:creationId xmlns:a16="http://schemas.microsoft.com/office/drawing/2014/main" id="{0ECCED30-4574-CA0F-18BE-FDA3DAACCDC4}"/>
              </a:ext>
            </a:extLst>
          </p:cNvPr>
          <p:cNvSpPr>
            <a:spLocks noGrp="1"/>
          </p:cNvSpPr>
          <p:nvPr>
            <p:ph type="subTitle" idx="1"/>
          </p:nvPr>
        </p:nvSpPr>
        <p:spPr>
          <a:xfrm>
            <a:off x="1047345" y="2601119"/>
            <a:ext cx="9144000" cy="1655762"/>
          </a:xfrm>
        </p:spPr>
        <p:txBody>
          <a:bodyPr>
            <a:normAutofit/>
          </a:bodyPr>
          <a:lstStyle/>
          <a:p>
            <a:r>
              <a:rPr lang="en-US" sz="4400" dirty="0">
                <a:solidFill>
                  <a:srgbClr val="0066CC"/>
                </a:solidFill>
              </a:rPr>
              <a:t>Lecture - 13</a:t>
            </a:r>
          </a:p>
        </p:txBody>
      </p:sp>
    </p:spTree>
    <p:extLst>
      <p:ext uri="{BB962C8B-B14F-4D97-AF65-F5344CB8AC3E}">
        <p14:creationId xmlns:p14="http://schemas.microsoft.com/office/powerpoint/2010/main" val="377269638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Recap</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Memory Management: </a:t>
            </a:r>
          </a:p>
          <a:p>
            <a:pPr lvl="1"/>
            <a:r>
              <a:rPr lang="en-IN" dirty="0"/>
              <a:t>Paging </a:t>
            </a:r>
          </a:p>
          <a:p>
            <a:pPr lvl="2"/>
            <a:r>
              <a:rPr lang="en-IN" dirty="0"/>
              <a:t>Free Frames</a:t>
            </a:r>
          </a:p>
          <a:p>
            <a:pPr lvl="2"/>
            <a:r>
              <a:rPr lang="en-IN" dirty="0"/>
              <a:t>Hardware Support</a:t>
            </a:r>
          </a:p>
          <a:p>
            <a:pPr lvl="2"/>
            <a:r>
              <a:rPr lang="en-IN" dirty="0"/>
              <a:t>Protection</a:t>
            </a:r>
          </a:p>
          <a:p>
            <a:pPr lvl="2"/>
            <a:r>
              <a:rPr lang="en-IN" dirty="0"/>
              <a:t>Shared Pages</a:t>
            </a:r>
          </a:p>
          <a:p>
            <a:pPr lvl="1"/>
            <a:endParaRPr lang="en-US" dirty="0"/>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205697096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Agenda</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Virtual Memory</a:t>
            </a:r>
          </a:p>
          <a:p>
            <a:pPr lvl="1"/>
            <a:endParaRPr lang="en-US" dirty="0"/>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168894120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Virtual Memory</a:t>
            </a:r>
          </a:p>
        </p:txBody>
      </p:sp>
      <p:sp>
        <p:nvSpPr>
          <p:cNvPr id="4" name="Rectangle 3">
            <a:extLst>
              <a:ext uri="{FF2B5EF4-FFF2-40B4-BE49-F238E27FC236}">
                <a16:creationId xmlns:a16="http://schemas.microsoft.com/office/drawing/2014/main" id="{1D141134-3CEF-04E1-3909-40BF285BCA46}"/>
              </a:ext>
            </a:extLst>
          </p:cNvPr>
          <p:cNvSpPr txBox="1">
            <a:spLocks noChangeArrowheads="1"/>
          </p:cNvSpPr>
          <p:nvPr/>
        </p:nvSpPr>
        <p:spPr>
          <a:xfrm>
            <a:off x="862013" y="1111250"/>
            <a:ext cx="10869544" cy="45307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US" altLang="en-US" sz="2400" dirty="0"/>
              <a:t>Code needs to be in memory to execute, but entire program rarely used</a:t>
            </a:r>
          </a:p>
          <a:p>
            <a:pPr lvl="1" algn="just">
              <a:lnSpc>
                <a:spcPct val="150000"/>
              </a:lnSpc>
            </a:pPr>
            <a:r>
              <a:rPr lang="en-US" altLang="en-US" dirty="0"/>
              <a:t>Error code, unusual routines, large data structures</a:t>
            </a:r>
          </a:p>
          <a:p>
            <a:pPr algn="just">
              <a:lnSpc>
                <a:spcPct val="150000"/>
              </a:lnSpc>
            </a:pPr>
            <a:r>
              <a:rPr lang="en-US" altLang="en-US" sz="2400" dirty="0"/>
              <a:t>Entire program code not needed at same time</a:t>
            </a:r>
          </a:p>
          <a:p>
            <a:pPr algn="just">
              <a:lnSpc>
                <a:spcPct val="150000"/>
              </a:lnSpc>
            </a:pPr>
            <a:r>
              <a:rPr lang="en-US" altLang="en-US" sz="2400" dirty="0"/>
              <a:t>Consider ability to execute partially-loaded program</a:t>
            </a:r>
          </a:p>
          <a:p>
            <a:pPr lvl="1" algn="just">
              <a:lnSpc>
                <a:spcPct val="150000"/>
              </a:lnSpc>
            </a:pPr>
            <a:r>
              <a:rPr lang="en-US" altLang="en-US" dirty="0"/>
              <a:t>Program no longer constrained by limits of physical memory</a:t>
            </a:r>
          </a:p>
          <a:p>
            <a:pPr lvl="1" algn="just">
              <a:lnSpc>
                <a:spcPct val="150000"/>
              </a:lnSpc>
            </a:pPr>
            <a:r>
              <a:rPr lang="en-US" altLang="en-US" dirty="0"/>
              <a:t>Each program takes less memory while running -&gt; more programs run at the same time</a:t>
            </a:r>
          </a:p>
          <a:p>
            <a:pPr lvl="1"/>
            <a:endParaRPr lang="en-US" altLang="en-US" dirty="0"/>
          </a:p>
        </p:txBody>
      </p:sp>
    </p:spTree>
    <p:extLst>
      <p:ext uri="{BB962C8B-B14F-4D97-AF65-F5344CB8AC3E}">
        <p14:creationId xmlns:p14="http://schemas.microsoft.com/office/powerpoint/2010/main" val="427179845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Virtual Memory</a:t>
            </a:r>
          </a:p>
        </p:txBody>
      </p:sp>
      <p:sp>
        <p:nvSpPr>
          <p:cNvPr id="4" name="Rectangle 3">
            <a:extLst>
              <a:ext uri="{FF2B5EF4-FFF2-40B4-BE49-F238E27FC236}">
                <a16:creationId xmlns:a16="http://schemas.microsoft.com/office/drawing/2014/main" id="{1D141134-3CEF-04E1-3909-40BF285BCA46}"/>
              </a:ext>
            </a:extLst>
          </p:cNvPr>
          <p:cNvSpPr txBox="1">
            <a:spLocks noChangeArrowheads="1"/>
          </p:cNvSpPr>
          <p:nvPr/>
        </p:nvSpPr>
        <p:spPr>
          <a:xfrm>
            <a:off x="862013" y="1111250"/>
            <a:ext cx="10869544" cy="45307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0575" lvl="2" indent="-342900" algn="just">
              <a:lnSpc>
                <a:spcPct val="150000"/>
              </a:lnSpc>
            </a:pPr>
            <a:r>
              <a:rPr lang="en-US" altLang="en-US" sz="2400" dirty="0"/>
              <a:t>Increased CPU utilization and throughput with no increase in response time or turnaround time</a:t>
            </a:r>
          </a:p>
          <a:p>
            <a:pPr lvl="1" algn="just">
              <a:lnSpc>
                <a:spcPct val="150000"/>
              </a:lnSpc>
            </a:pPr>
            <a:r>
              <a:rPr lang="en-US" altLang="en-US" dirty="0"/>
              <a:t>Less I/O needed to load or swap programs into memory -&gt; each user program runs faster</a:t>
            </a:r>
          </a:p>
          <a:p>
            <a:pPr lvl="1"/>
            <a:endParaRPr lang="en-US" altLang="en-US" dirty="0"/>
          </a:p>
        </p:txBody>
      </p:sp>
    </p:spTree>
    <p:extLst>
      <p:ext uri="{BB962C8B-B14F-4D97-AF65-F5344CB8AC3E}">
        <p14:creationId xmlns:p14="http://schemas.microsoft.com/office/powerpoint/2010/main" val="94459334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Virtual Memory</a:t>
            </a:r>
          </a:p>
        </p:txBody>
      </p:sp>
      <p:sp>
        <p:nvSpPr>
          <p:cNvPr id="5" name="TextBox 4">
            <a:extLst>
              <a:ext uri="{FF2B5EF4-FFF2-40B4-BE49-F238E27FC236}">
                <a16:creationId xmlns:a16="http://schemas.microsoft.com/office/drawing/2014/main" id="{3CF575A1-FC34-5886-6F37-7E3C2216FDF5}"/>
              </a:ext>
            </a:extLst>
          </p:cNvPr>
          <p:cNvSpPr txBox="1"/>
          <p:nvPr/>
        </p:nvSpPr>
        <p:spPr>
          <a:xfrm>
            <a:off x="466928" y="1582341"/>
            <a:ext cx="10908330" cy="391305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1" i="0" u="none" strike="noStrike" baseline="0" dirty="0">
                <a:solidFill>
                  <a:srgbClr val="00AEF0"/>
                </a:solidFill>
              </a:rPr>
              <a:t>Virtual memory </a:t>
            </a:r>
            <a:r>
              <a:rPr lang="en-US" sz="2400" b="0" i="0" u="none" strike="noStrike" baseline="0" dirty="0">
                <a:solidFill>
                  <a:srgbClr val="231F20"/>
                </a:solidFill>
              </a:rPr>
              <a:t>involves the separation of logical memory as perceived by users from physical memory.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This separation allows an extremely large virtual memory to be provided for programmers when only a smaller physical memory is available.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Virtual memory makes the task of programming much easier, because the programmer no longer needs to worry about the amount of physical memory available; she can concentrate instead on the </a:t>
            </a:r>
            <a:r>
              <a:rPr lang="en-IN" sz="2400" b="0" i="0" u="none" strike="noStrike" baseline="0" dirty="0">
                <a:solidFill>
                  <a:srgbClr val="231F20"/>
                </a:solidFill>
              </a:rPr>
              <a:t>problem to be programmed.</a:t>
            </a:r>
            <a:endParaRPr lang="en-IN" sz="2400" dirty="0"/>
          </a:p>
        </p:txBody>
      </p:sp>
    </p:spTree>
    <p:extLst>
      <p:ext uri="{BB962C8B-B14F-4D97-AF65-F5344CB8AC3E}">
        <p14:creationId xmlns:p14="http://schemas.microsoft.com/office/powerpoint/2010/main" val="258466938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Virtual Memory</a:t>
            </a:r>
          </a:p>
        </p:txBody>
      </p:sp>
      <p:pic>
        <p:nvPicPr>
          <p:cNvPr id="7" name="Picture 6">
            <a:extLst>
              <a:ext uri="{FF2B5EF4-FFF2-40B4-BE49-F238E27FC236}">
                <a16:creationId xmlns:a16="http://schemas.microsoft.com/office/drawing/2014/main" id="{E4FAB84A-DB6B-251D-77AF-693560B6078E}"/>
              </a:ext>
            </a:extLst>
          </p:cNvPr>
          <p:cNvPicPr>
            <a:picLocks noChangeAspect="1"/>
          </p:cNvPicPr>
          <p:nvPr/>
        </p:nvPicPr>
        <p:blipFill>
          <a:blip r:embed="rId3"/>
          <a:stretch>
            <a:fillRect/>
          </a:stretch>
        </p:blipFill>
        <p:spPr>
          <a:xfrm>
            <a:off x="3368183" y="1447764"/>
            <a:ext cx="6716341" cy="5079496"/>
          </a:xfrm>
          <a:prstGeom prst="rect">
            <a:avLst/>
          </a:prstGeom>
        </p:spPr>
      </p:pic>
    </p:spTree>
    <p:extLst>
      <p:ext uri="{BB962C8B-B14F-4D97-AF65-F5344CB8AC3E}">
        <p14:creationId xmlns:p14="http://schemas.microsoft.com/office/powerpoint/2010/main" val="90731753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Virtual Memory</a:t>
            </a:r>
          </a:p>
        </p:txBody>
      </p:sp>
      <p:sp>
        <p:nvSpPr>
          <p:cNvPr id="2" name="Rectangle 3">
            <a:extLst>
              <a:ext uri="{FF2B5EF4-FFF2-40B4-BE49-F238E27FC236}">
                <a16:creationId xmlns:a16="http://schemas.microsoft.com/office/drawing/2014/main" id="{9961464B-3DF3-85B2-A89E-5AB2BDF81FB2}"/>
              </a:ext>
            </a:extLst>
          </p:cNvPr>
          <p:cNvSpPr txBox="1">
            <a:spLocks noChangeArrowheads="1"/>
          </p:cNvSpPr>
          <p:nvPr/>
        </p:nvSpPr>
        <p:spPr>
          <a:xfrm>
            <a:off x="1140062" y="1588158"/>
            <a:ext cx="10706800" cy="45291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US" altLang="en-US" sz="2400" b="1" dirty="0">
                <a:solidFill>
                  <a:srgbClr val="3366FF"/>
                </a:solidFill>
              </a:rPr>
              <a:t>Virtual memory</a:t>
            </a:r>
            <a:r>
              <a:rPr lang="en-US" altLang="en-US" sz="2400" dirty="0">
                <a:solidFill>
                  <a:srgbClr val="3366FF"/>
                </a:solidFill>
              </a:rPr>
              <a:t> </a:t>
            </a:r>
            <a:r>
              <a:rPr lang="en-US" altLang="en-US" sz="2400" dirty="0"/>
              <a:t>– separation of user logical memory from physical memory</a:t>
            </a:r>
          </a:p>
          <a:p>
            <a:pPr lvl="1" algn="just">
              <a:lnSpc>
                <a:spcPct val="150000"/>
              </a:lnSpc>
            </a:pPr>
            <a:r>
              <a:rPr lang="en-US" altLang="en-US" dirty="0">
                <a:solidFill>
                  <a:srgbClr val="FF6600"/>
                </a:solidFill>
              </a:rPr>
              <a:t>Only part of the program needs to be in memory for execution</a:t>
            </a:r>
          </a:p>
          <a:p>
            <a:pPr lvl="1" algn="just">
              <a:lnSpc>
                <a:spcPct val="150000"/>
              </a:lnSpc>
            </a:pPr>
            <a:r>
              <a:rPr lang="en-US" altLang="en-US" dirty="0">
                <a:solidFill>
                  <a:srgbClr val="FF6600"/>
                </a:solidFill>
              </a:rPr>
              <a:t>Logical address space can therefore be much larger than physical address space</a:t>
            </a:r>
          </a:p>
          <a:p>
            <a:pPr lvl="1" algn="just">
              <a:lnSpc>
                <a:spcPct val="150000"/>
              </a:lnSpc>
            </a:pPr>
            <a:r>
              <a:rPr lang="en-US" altLang="en-US" dirty="0">
                <a:solidFill>
                  <a:srgbClr val="FF6600"/>
                </a:solidFill>
              </a:rPr>
              <a:t>Allows address spaces to be shared by several processes</a:t>
            </a:r>
          </a:p>
          <a:p>
            <a:pPr lvl="1" algn="just">
              <a:lnSpc>
                <a:spcPct val="150000"/>
              </a:lnSpc>
            </a:pPr>
            <a:r>
              <a:rPr lang="en-US" altLang="en-US" dirty="0">
                <a:solidFill>
                  <a:srgbClr val="FF6600"/>
                </a:solidFill>
              </a:rPr>
              <a:t>Allows for more efficient process creation</a:t>
            </a:r>
          </a:p>
          <a:p>
            <a:pPr lvl="1" algn="just">
              <a:lnSpc>
                <a:spcPct val="150000"/>
              </a:lnSpc>
            </a:pPr>
            <a:r>
              <a:rPr lang="en-US" altLang="en-US" dirty="0">
                <a:solidFill>
                  <a:srgbClr val="FF6600"/>
                </a:solidFill>
              </a:rPr>
              <a:t>More programs running concurrently</a:t>
            </a:r>
          </a:p>
          <a:p>
            <a:pPr lvl="1" algn="just">
              <a:lnSpc>
                <a:spcPct val="150000"/>
              </a:lnSpc>
            </a:pPr>
            <a:r>
              <a:rPr lang="en-US" altLang="en-US" dirty="0">
                <a:solidFill>
                  <a:srgbClr val="FF6600"/>
                </a:solidFill>
              </a:rPr>
              <a:t>Less I/O needed to load or swap processes</a:t>
            </a:r>
          </a:p>
          <a:p>
            <a:endParaRPr lang="en-US" altLang="en-US" sz="1600" dirty="0"/>
          </a:p>
        </p:txBody>
      </p:sp>
    </p:spTree>
    <p:extLst>
      <p:ext uri="{BB962C8B-B14F-4D97-AF65-F5344CB8AC3E}">
        <p14:creationId xmlns:p14="http://schemas.microsoft.com/office/powerpoint/2010/main" val="259731856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Virtual Memory</a:t>
            </a:r>
          </a:p>
        </p:txBody>
      </p:sp>
      <p:sp>
        <p:nvSpPr>
          <p:cNvPr id="4" name="Rectangle 3">
            <a:extLst>
              <a:ext uri="{FF2B5EF4-FFF2-40B4-BE49-F238E27FC236}">
                <a16:creationId xmlns:a16="http://schemas.microsoft.com/office/drawing/2014/main" id="{C0869583-24E1-237E-73C0-7331B6991019}"/>
              </a:ext>
            </a:extLst>
          </p:cNvPr>
          <p:cNvSpPr txBox="1">
            <a:spLocks noChangeArrowheads="1"/>
          </p:cNvSpPr>
          <p:nvPr/>
        </p:nvSpPr>
        <p:spPr>
          <a:xfrm>
            <a:off x="1020628" y="1588158"/>
            <a:ext cx="10594198" cy="444177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en-US" sz="2400" b="1" dirty="0">
                <a:solidFill>
                  <a:srgbClr val="3366FF"/>
                </a:solidFill>
              </a:rPr>
              <a:t>Virtual address space</a:t>
            </a:r>
            <a:r>
              <a:rPr lang="en-US" altLang="en-US" sz="2400" dirty="0"/>
              <a:t> – logical view of how process is stored in memory</a:t>
            </a:r>
          </a:p>
          <a:p>
            <a:pPr lvl="1">
              <a:lnSpc>
                <a:spcPct val="150000"/>
              </a:lnSpc>
            </a:pPr>
            <a:r>
              <a:rPr lang="en-US" altLang="en-US" dirty="0">
                <a:solidFill>
                  <a:srgbClr val="FF6600"/>
                </a:solidFill>
              </a:rPr>
              <a:t>Usually start at address 0, contiguous addresses until end of space</a:t>
            </a:r>
          </a:p>
          <a:p>
            <a:pPr lvl="1">
              <a:lnSpc>
                <a:spcPct val="150000"/>
              </a:lnSpc>
            </a:pPr>
            <a:r>
              <a:rPr lang="en-US" altLang="en-US" dirty="0">
                <a:solidFill>
                  <a:srgbClr val="FF6600"/>
                </a:solidFill>
              </a:rPr>
              <a:t>Meanwhile, physical memory is organized in page frames</a:t>
            </a:r>
          </a:p>
          <a:p>
            <a:pPr lvl="1">
              <a:lnSpc>
                <a:spcPct val="150000"/>
              </a:lnSpc>
            </a:pPr>
            <a:r>
              <a:rPr lang="en-US" altLang="en-US" dirty="0">
                <a:solidFill>
                  <a:srgbClr val="FF6600"/>
                </a:solidFill>
              </a:rPr>
              <a:t>MMU must map logical to physical</a:t>
            </a:r>
          </a:p>
          <a:p>
            <a:pPr>
              <a:lnSpc>
                <a:spcPct val="150000"/>
              </a:lnSpc>
            </a:pPr>
            <a:r>
              <a:rPr lang="en-US" altLang="en-US" sz="2400" dirty="0"/>
              <a:t>Virtual memory can be implemented via:</a:t>
            </a:r>
          </a:p>
          <a:p>
            <a:pPr lvl="1">
              <a:lnSpc>
                <a:spcPct val="150000"/>
              </a:lnSpc>
            </a:pPr>
            <a:r>
              <a:rPr lang="en-US" altLang="en-US" dirty="0">
                <a:solidFill>
                  <a:srgbClr val="FF6600"/>
                </a:solidFill>
              </a:rPr>
              <a:t>Demand paging </a:t>
            </a:r>
          </a:p>
          <a:p>
            <a:pPr lvl="1">
              <a:lnSpc>
                <a:spcPct val="150000"/>
              </a:lnSpc>
            </a:pPr>
            <a:r>
              <a:rPr lang="en-US" altLang="en-US" dirty="0">
                <a:solidFill>
                  <a:srgbClr val="FF6600"/>
                </a:solidFill>
              </a:rPr>
              <a:t>Demand segmentation</a:t>
            </a:r>
          </a:p>
        </p:txBody>
      </p:sp>
    </p:spTree>
    <p:extLst>
      <p:ext uri="{BB962C8B-B14F-4D97-AF65-F5344CB8AC3E}">
        <p14:creationId xmlns:p14="http://schemas.microsoft.com/office/powerpoint/2010/main" val="241288533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Virtual Memory</a:t>
            </a:r>
          </a:p>
        </p:txBody>
      </p:sp>
      <p:pic>
        <p:nvPicPr>
          <p:cNvPr id="5" name="Picture 4">
            <a:extLst>
              <a:ext uri="{FF2B5EF4-FFF2-40B4-BE49-F238E27FC236}">
                <a16:creationId xmlns:a16="http://schemas.microsoft.com/office/drawing/2014/main" id="{79B505E6-D953-163C-DCEA-9B676838941B}"/>
              </a:ext>
            </a:extLst>
          </p:cNvPr>
          <p:cNvPicPr>
            <a:picLocks noChangeAspect="1"/>
          </p:cNvPicPr>
          <p:nvPr/>
        </p:nvPicPr>
        <p:blipFill>
          <a:blip r:embed="rId3"/>
          <a:stretch>
            <a:fillRect/>
          </a:stretch>
        </p:blipFill>
        <p:spPr>
          <a:xfrm>
            <a:off x="7475532" y="1501245"/>
            <a:ext cx="3701550" cy="4616051"/>
          </a:xfrm>
          <a:prstGeom prst="rect">
            <a:avLst/>
          </a:prstGeom>
        </p:spPr>
      </p:pic>
      <p:sp>
        <p:nvSpPr>
          <p:cNvPr id="7" name="TextBox 6">
            <a:extLst>
              <a:ext uri="{FF2B5EF4-FFF2-40B4-BE49-F238E27FC236}">
                <a16:creationId xmlns:a16="http://schemas.microsoft.com/office/drawing/2014/main" id="{9438085F-76BB-ACE6-ECFA-50B7593C3FEE}"/>
              </a:ext>
            </a:extLst>
          </p:cNvPr>
          <p:cNvSpPr txBox="1"/>
          <p:nvPr/>
        </p:nvSpPr>
        <p:spPr>
          <a:xfrm>
            <a:off x="868192" y="1501245"/>
            <a:ext cx="7069577" cy="4102533"/>
          </a:xfrm>
          <a:prstGeom prst="rect">
            <a:avLst/>
          </a:prstGeom>
          <a:noFill/>
          <a:ln>
            <a:solidFill>
              <a:schemeClr val="accent1"/>
            </a:solidFill>
          </a:ln>
        </p:spPr>
        <p:txBody>
          <a:bodyPr wrap="square">
            <a:spAutoFit/>
          </a:bodyPr>
          <a:lstStyle/>
          <a:p>
            <a:pPr marL="342900" indent="-342900" algn="just">
              <a:lnSpc>
                <a:spcPct val="150000"/>
              </a:lnSpc>
              <a:buFont typeface="Arial" panose="020B0604020202020204" pitchFamily="34" charset="0"/>
              <a:buChar char="•"/>
            </a:pPr>
            <a:r>
              <a:rPr lang="en-IN" sz="2200" b="0" i="0" u="none" strike="noStrike" baseline="0" dirty="0">
                <a:solidFill>
                  <a:srgbClr val="231F20"/>
                </a:solidFill>
              </a:rPr>
              <a:t>The large blank </a:t>
            </a:r>
            <a:r>
              <a:rPr lang="en-US" sz="2200" b="0" i="0" u="none" strike="noStrike" baseline="0" dirty="0">
                <a:solidFill>
                  <a:srgbClr val="231F20"/>
                </a:solidFill>
              </a:rPr>
              <a:t>space (or hole) between the heap and the stack is part of the virtual address space but will require actual physical pages only if the heap or stack grows.</a:t>
            </a:r>
            <a:endParaRPr lang="en-US" sz="2200" dirty="0">
              <a:solidFill>
                <a:srgbClr val="231F20"/>
              </a:solidFill>
            </a:endParaRPr>
          </a:p>
          <a:p>
            <a:pPr marL="342900" indent="-342900" algn="just">
              <a:lnSpc>
                <a:spcPct val="150000"/>
              </a:lnSpc>
              <a:buFont typeface="Arial" panose="020B0604020202020204" pitchFamily="34" charset="0"/>
              <a:buChar char="•"/>
            </a:pPr>
            <a:r>
              <a:rPr lang="en-US" sz="2200" b="0" i="0" u="none" strike="noStrike" baseline="0" dirty="0">
                <a:solidFill>
                  <a:srgbClr val="231F20"/>
                </a:solidFill>
              </a:rPr>
              <a:t>Virtual address spaces that include holes are known as </a:t>
            </a:r>
            <a:r>
              <a:rPr lang="en-US" sz="2200" b="1" i="0" u="none" strike="noStrike" baseline="0" dirty="0">
                <a:solidFill>
                  <a:srgbClr val="00AEF0"/>
                </a:solidFill>
              </a:rPr>
              <a:t>sparse </a:t>
            </a:r>
            <a:r>
              <a:rPr lang="en-US" sz="2200" b="0" i="0" u="none" strike="noStrike" baseline="0" dirty="0">
                <a:solidFill>
                  <a:srgbClr val="231F20"/>
                </a:solidFill>
              </a:rPr>
              <a:t>address spaces.</a:t>
            </a:r>
          </a:p>
          <a:p>
            <a:pPr marL="342900" indent="-342900" algn="just">
              <a:lnSpc>
                <a:spcPct val="150000"/>
              </a:lnSpc>
              <a:buFont typeface="Arial" panose="020B0604020202020204" pitchFamily="34" charset="0"/>
              <a:buChar char="•"/>
            </a:pPr>
            <a:r>
              <a:rPr lang="en-US" sz="2200" b="0" i="0" u="none" strike="noStrike" baseline="0" dirty="0">
                <a:solidFill>
                  <a:srgbClr val="231F20"/>
                </a:solidFill>
              </a:rPr>
              <a:t>Using a sparse address space is beneficial because the holes can be filled as the stack or heap segments grow or if we wish to dynamically link libraries</a:t>
            </a:r>
            <a:endParaRPr lang="en-IN" sz="2200" dirty="0"/>
          </a:p>
        </p:txBody>
      </p:sp>
    </p:spTree>
    <p:extLst>
      <p:ext uri="{BB962C8B-B14F-4D97-AF65-F5344CB8AC3E}">
        <p14:creationId xmlns:p14="http://schemas.microsoft.com/office/powerpoint/2010/main" val="428219468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Virtual Memory</a:t>
            </a:r>
          </a:p>
        </p:txBody>
      </p:sp>
      <p:sp>
        <p:nvSpPr>
          <p:cNvPr id="4" name="TextBox 3">
            <a:extLst>
              <a:ext uri="{FF2B5EF4-FFF2-40B4-BE49-F238E27FC236}">
                <a16:creationId xmlns:a16="http://schemas.microsoft.com/office/drawing/2014/main" id="{8A924889-D920-5BD3-6BC0-53AFEEAAFEF4}"/>
              </a:ext>
            </a:extLst>
          </p:cNvPr>
          <p:cNvSpPr txBox="1"/>
          <p:nvPr/>
        </p:nvSpPr>
        <p:spPr>
          <a:xfrm>
            <a:off x="381810" y="1561928"/>
            <a:ext cx="6233000" cy="4250523"/>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200" dirty="0">
                <a:solidFill>
                  <a:srgbClr val="231F20"/>
                </a:solidFill>
              </a:rPr>
              <a:t>In addition to separating logical memory from physical memory, virtual memory allows files and memory to be shared by two or more processes </a:t>
            </a:r>
            <a:r>
              <a:rPr lang="en-IN" sz="2200" dirty="0">
                <a:solidFill>
                  <a:srgbClr val="231F20"/>
                </a:solidFill>
              </a:rPr>
              <a:t>through page sharing.</a:t>
            </a:r>
          </a:p>
          <a:p>
            <a:pPr algn="just">
              <a:lnSpc>
                <a:spcPct val="150000"/>
              </a:lnSpc>
            </a:pPr>
            <a:r>
              <a:rPr lang="en-IN" sz="2200" dirty="0">
                <a:solidFill>
                  <a:srgbClr val="FF6600"/>
                </a:solidFill>
              </a:rPr>
              <a:t>Benefits:</a:t>
            </a:r>
          </a:p>
          <a:p>
            <a:pPr marL="285750" indent="-285750" algn="just">
              <a:lnSpc>
                <a:spcPct val="150000"/>
              </a:lnSpc>
              <a:buFont typeface="Arial" panose="020B0604020202020204" pitchFamily="34" charset="0"/>
              <a:buChar char="•"/>
            </a:pPr>
            <a:r>
              <a:rPr lang="en-US" dirty="0"/>
              <a:t>System libraries can be shared by several processes. </a:t>
            </a:r>
          </a:p>
          <a:p>
            <a:pPr marL="285750" indent="-285750" algn="just">
              <a:lnSpc>
                <a:spcPct val="150000"/>
              </a:lnSpc>
              <a:buFont typeface="Arial" panose="020B0604020202020204" pitchFamily="34" charset="0"/>
              <a:buChar char="•"/>
            </a:pPr>
            <a:r>
              <a:rPr lang="en-IN" dirty="0"/>
              <a:t>Processes can share memory</a:t>
            </a:r>
          </a:p>
          <a:p>
            <a:pPr marL="285750" indent="-285750" algn="just">
              <a:lnSpc>
                <a:spcPct val="150000"/>
              </a:lnSpc>
              <a:buFont typeface="Arial" panose="020B0604020202020204" pitchFamily="34" charset="0"/>
              <a:buChar char="•"/>
            </a:pPr>
            <a:r>
              <a:rPr lang="en-US" dirty="0"/>
              <a:t>Pages can be shared during process creation with the fork() system call, thus speeding up process creation.</a:t>
            </a:r>
            <a:endParaRPr lang="en-IN" sz="2200" dirty="0">
              <a:solidFill>
                <a:srgbClr val="231F20"/>
              </a:solidFill>
            </a:endParaRPr>
          </a:p>
        </p:txBody>
      </p:sp>
      <p:pic>
        <p:nvPicPr>
          <p:cNvPr id="8" name="Picture 7">
            <a:extLst>
              <a:ext uri="{FF2B5EF4-FFF2-40B4-BE49-F238E27FC236}">
                <a16:creationId xmlns:a16="http://schemas.microsoft.com/office/drawing/2014/main" id="{F766D91C-854F-A882-F17F-6BFFA41119A3}"/>
              </a:ext>
            </a:extLst>
          </p:cNvPr>
          <p:cNvPicPr>
            <a:picLocks noChangeAspect="1"/>
          </p:cNvPicPr>
          <p:nvPr/>
        </p:nvPicPr>
        <p:blipFill>
          <a:blip r:embed="rId3"/>
          <a:stretch>
            <a:fillRect/>
          </a:stretch>
        </p:blipFill>
        <p:spPr>
          <a:xfrm>
            <a:off x="6537922" y="1476102"/>
            <a:ext cx="5458587" cy="3905795"/>
          </a:xfrm>
          <a:prstGeom prst="rect">
            <a:avLst/>
          </a:prstGeom>
        </p:spPr>
      </p:pic>
    </p:spTree>
    <p:extLst>
      <p:ext uri="{BB962C8B-B14F-4D97-AF65-F5344CB8AC3E}">
        <p14:creationId xmlns:p14="http://schemas.microsoft.com/office/powerpoint/2010/main" val="259294896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Demand Paging</a:t>
            </a:r>
          </a:p>
        </p:txBody>
      </p:sp>
      <p:sp>
        <p:nvSpPr>
          <p:cNvPr id="5" name="TextBox 4">
            <a:extLst>
              <a:ext uri="{FF2B5EF4-FFF2-40B4-BE49-F238E27FC236}">
                <a16:creationId xmlns:a16="http://schemas.microsoft.com/office/drawing/2014/main" id="{4666DA50-D739-EAEA-4656-E6FDE3135DA0}"/>
              </a:ext>
            </a:extLst>
          </p:cNvPr>
          <p:cNvSpPr txBox="1"/>
          <p:nvPr/>
        </p:nvSpPr>
        <p:spPr>
          <a:xfrm>
            <a:off x="492345" y="1655060"/>
            <a:ext cx="11118715" cy="391305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Suppose a program starts with a list of available options from which the user is to select.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Loading the entire program into memory results in loading the executable code for </a:t>
            </a:r>
            <a:r>
              <a:rPr lang="en-US" sz="2400" b="1" i="1" u="none" strike="noStrike" baseline="0" dirty="0">
                <a:solidFill>
                  <a:srgbClr val="231F20"/>
                </a:solidFill>
              </a:rPr>
              <a:t>all </a:t>
            </a:r>
            <a:r>
              <a:rPr lang="en-US" sz="2400" b="0" i="0" u="none" strike="noStrike" baseline="0" dirty="0">
                <a:solidFill>
                  <a:srgbClr val="231F20"/>
                </a:solidFill>
              </a:rPr>
              <a:t>options, regardless of whether or not an option is ultimately selected by the user.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An alternative strategy is to load pages only as they are needed.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This technique is known as </a:t>
            </a:r>
            <a:r>
              <a:rPr lang="en-US" sz="2400" b="1" i="0" u="none" strike="noStrike" baseline="0" dirty="0">
                <a:solidFill>
                  <a:srgbClr val="00AEF0"/>
                </a:solidFill>
              </a:rPr>
              <a:t>demand paging </a:t>
            </a:r>
            <a:r>
              <a:rPr lang="en-US" sz="2400" b="0" i="0" u="none" strike="noStrike" baseline="0" dirty="0">
                <a:solidFill>
                  <a:srgbClr val="231F20"/>
                </a:solidFill>
              </a:rPr>
              <a:t>and is commonly used in virtual memory systems.</a:t>
            </a:r>
            <a:endParaRPr lang="en-IN" sz="2400" dirty="0"/>
          </a:p>
        </p:txBody>
      </p:sp>
    </p:spTree>
    <p:extLst>
      <p:ext uri="{BB962C8B-B14F-4D97-AF65-F5344CB8AC3E}">
        <p14:creationId xmlns:p14="http://schemas.microsoft.com/office/powerpoint/2010/main" val="50532205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Demand Paging</a:t>
            </a:r>
          </a:p>
        </p:txBody>
      </p:sp>
      <p:sp>
        <p:nvSpPr>
          <p:cNvPr id="4" name="TextBox 3">
            <a:extLst>
              <a:ext uri="{FF2B5EF4-FFF2-40B4-BE49-F238E27FC236}">
                <a16:creationId xmlns:a16="http://schemas.microsoft.com/office/drawing/2014/main" id="{62F3FA0A-70D0-C948-3D0F-8C3CD3CEFEE6}"/>
              </a:ext>
            </a:extLst>
          </p:cNvPr>
          <p:cNvSpPr txBox="1"/>
          <p:nvPr/>
        </p:nvSpPr>
        <p:spPr>
          <a:xfrm>
            <a:off x="612841" y="1941306"/>
            <a:ext cx="10544783" cy="1697068"/>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solidFill>
                  <a:srgbClr val="231F20"/>
                </a:solidFill>
              </a:rPr>
              <a:t>With demand-paged virtual memory, pages are loaded only when they are demanded during program execution. </a:t>
            </a:r>
          </a:p>
          <a:p>
            <a:pPr marL="342900" indent="-342900" algn="just">
              <a:lnSpc>
                <a:spcPct val="150000"/>
              </a:lnSpc>
              <a:buFont typeface="Arial" panose="020B0604020202020204" pitchFamily="34" charset="0"/>
              <a:buChar char="•"/>
            </a:pPr>
            <a:r>
              <a:rPr lang="en-US" sz="2400" dirty="0">
                <a:solidFill>
                  <a:srgbClr val="231F20"/>
                </a:solidFill>
              </a:rPr>
              <a:t>Pages that are never accessed are thus never loaded into physical memory.</a:t>
            </a:r>
            <a:endParaRPr lang="en-IN" sz="2400" dirty="0">
              <a:solidFill>
                <a:srgbClr val="231F20"/>
              </a:solidFill>
            </a:endParaRPr>
          </a:p>
        </p:txBody>
      </p:sp>
    </p:spTree>
    <p:extLst>
      <p:ext uri="{BB962C8B-B14F-4D97-AF65-F5344CB8AC3E}">
        <p14:creationId xmlns:p14="http://schemas.microsoft.com/office/powerpoint/2010/main" val="257850182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Demand Paging</a:t>
            </a:r>
          </a:p>
        </p:txBody>
      </p:sp>
      <p:pic>
        <p:nvPicPr>
          <p:cNvPr id="5" name="Picture 4">
            <a:extLst>
              <a:ext uri="{FF2B5EF4-FFF2-40B4-BE49-F238E27FC236}">
                <a16:creationId xmlns:a16="http://schemas.microsoft.com/office/drawing/2014/main" id="{E8B63C18-7E62-6A7F-B890-E43B9490911A}"/>
              </a:ext>
            </a:extLst>
          </p:cNvPr>
          <p:cNvPicPr>
            <a:picLocks noChangeAspect="1"/>
          </p:cNvPicPr>
          <p:nvPr/>
        </p:nvPicPr>
        <p:blipFill>
          <a:blip r:embed="rId3"/>
          <a:stretch>
            <a:fillRect/>
          </a:stretch>
        </p:blipFill>
        <p:spPr>
          <a:xfrm>
            <a:off x="2938022" y="1314396"/>
            <a:ext cx="6653450" cy="5178251"/>
          </a:xfrm>
          <a:prstGeom prst="rect">
            <a:avLst/>
          </a:prstGeom>
        </p:spPr>
      </p:pic>
    </p:spTree>
    <p:extLst>
      <p:ext uri="{BB962C8B-B14F-4D97-AF65-F5344CB8AC3E}">
        <p14:creationId xmlns:p14="http://schemas.microsoft.com/office/powerpoint/2010/main" val="123643059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Demand Paging</a:t>
            </a:r>
          </a:p>
        </p:txBody>
      </p:sp>
      <p:sp>
        <p:nvSpPr>
          <p:cNvPr id="7" name="TextBox 6">
            <a:extLst>
              <a:ext uri="{FF2B5EF4-FFF2-40B4-BE49-F238E27FC236}">
                <a16:creationId xmlns:a16="http://schemas.microsoft.com/office/drawing/2014/main" id="{F4DCF5AD-2AE5-9D14-36E6-A3CAEB4ABD38}"/>
              </a:ext>
            </a:extLst>
          </p:cNvPr>
          <p:cNvSpPr txBox="1"/>
          <p:nvPr/>
        </p:nvSpPr>
        <p:spPr>
          <a:xfrm>
            <a:off x="658961" y="1541071"/>
            <a:ext cx="11284085" cy="391305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A demand-paging system is similar to a paging system with swapping where processes reside in secondary memory (usually a disk).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When we want to execute a process, we swap it into memory.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Rather than swapping the entire process into memory, though, we use a </a:t>
            </a:r>
            <a:r>
              <a:rPr lang="en-US" sz="2400" b="1" i="0" u="none" strike="noStrike" baseline="0" dirty="0">
                <a:solidFill>
                  <a:srgbClr val="00AEF0"/>
                </a:solidFill>
              </a:rPr>
              <a:t>lazy swapper</a:t>
            </a:r>
            <a:r>
              <a:rPr lang="en-US" sz="2400" b="0" i="0" u="none" strike="noStrike" baseline="0" dirty="0">
                <a:solidFill>
                  <a:srgbClr val="231F20"/>
                </a:solidFill>
              </a:rPr>
              <a:t>.</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A lazy swapper never swaps a page into memory unless that page will be needed. In the context of a demand-paging system, use of the term “swapper” is technically incorrect. </a:t>
            </a:r>
          </a:p>
        </p:txBody>
      </p:sp>
    </p:spTree>
    <p:extLst>
      <p:ext uri="{BB962C8B-B14F-4D97-AF65-F5344CB8AC3E}">
        <p14:creationId xmlns:p14="http://schemas.microsoft.com/office/powerpoint/2010/main" val="186080341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Demand Paging</a:t>
            </a:r>
          </a:p>
        </p:txBody>
      </p:sp>
      <p:sp>
        <p:nvSpPr>
          <p:cNvPr id="7" name="TextBox 6">
            <a:extLst>
              <a:ext uri="{FF2B5EF4-FFF2-40B4-BE49-F238E27FC236}">
                <a16:creationId xmlns:a16="http://schemas.microsoft.com/office/drawing/2014/main" id="{F4DCF5AD-2AE5-9D14-36E6-A3CAEB4ABD38}"/>
              </a:ext>
            </a:extLst>
          </p:cNvPr>
          <p:cNvSpPr txBox="1"/>
          <p:nvPr/>
        </p:nvSpPr>
        <p:spPr>
          <a:xfrm>
            <a:off x="658961" y="1365973"/>
            <a:ext cx="11284085" cy="1697068"/>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A swapper manipulates entire processes, whereas a </a:t>
            </a:r>
            <a:r>
              <a:rPr lang="en-US" sz="2400" b="1" i="0" u="none" strike="noStrike" baseline="0" dirty="0">
                <a:solidFill>
                  <a:srgbClr val="00AEF0"/>
                </a:solidFill>
              </a:rPr>
              <a:t>pager </a:t>
            </a:r>
            <a:r>
              <a:rPr lang="en-US" sz="2400" b="0" i="0" u="none" strike="noStrike" baseline="0" dirty="0">
                <a:solidFill>
                  <a:srgbClr val="231F20"/>
                </a:solidFill>
              </a:rPr>
              <a:t>is concerned with the individual pages of a process.</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We thus use “pager,” rather than “swapper,” in connection with demand paging.</a:t>
            </a:r>
            <a:endParaRPr lang="en-IN" sz="2400" dirty="0"/>
          </a:p>
        </p:txBody>
      </p:sp>
    </p:spTree>
    <p:extLst>
      <p:ext uri="{BB962C8B-B14F-4D97-AF65-F5344CB8AC3E}">
        <p14:creationId xmlns:p14="http://schemas.microsoft.com/office/powerpoint/2010/main" val="53767915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Demand Paging</a:t>
            </a:r>
          </a:p>
        </p:txBody>
      </p:sp>
      <p:sp>
        <p:nvSpPr>
          <p:cNvPr id="2" name="TextBox 1">
            <a:extLst>
              <a:ext uri="{FF2B5EF4-FFF2-40B4-BE49-F238E27FC236}">
                <a16:creationId xmlns:a16="http://schemas.microsoft.com/office/drawing/2014/main" id="{045BB991-3B99-422E-4884-AAD18D59BF12}"/>
              </a:ext>
            </a:extLst>
          </p:cNvPr>
          <p:cNvSpPr txBox="1"/>
          <p:nvPr/>
        </p:nvSpPr>
        <p:spPr>
          <a:xfrm>
            <a:off x="739303" y="1342416"/>
            <a:ext cx="2042803" cy="461665"/>
          </a:xfrm>
          <a:prstGeom prst="rect">
            <a:avLst/>
          </a:prstGeom>
          <a:noFill/>
        </p:spPr>
        <p:txBody>
          <a:bodyPr wrap="none" rtlCol="0">
            <a:spAutoFit/>
          </a:bodyPr>
          <a:lstStyle/>
          <a:p>
            <a:r>
              <a:rPr lang="en-IN" sz="2400" dirty="0">
                <a:highlight>
                  <a:srgbClr val="00FFFF"/>
                </a:highlight>
              </a:rPr>
              <a:t>Basic Concepts</a:t>
            </a:r>
            <a:endParaRPr lang="en-IN" sz="2400" dirty="0">
              <a:highlight>
                <a:srgbClr val="FFFF00"/>
              </a:highlight>
            </a:endParaRPr>
          </a:p>
        </p:txBody>
      </p:sp>
      <p:sp>
        <p:nvSpPr>
          <p:cNvPr id="5" name="TextBox 4">
            <a:extLst>
              <a:ext uri="{FF2B5EF4-FFF2-40B4-BE49-F238E27FC236}">
                <a16:creationId xmlns:a16="http://schemas.microsoft.com/office/drawing/2014/main" id="{56C5A37E-AFA8-B66A-35D0-26E781DCA80C}"/>
              </a:ext>
            </a:extLst>
          </p:cNvPr>
          <p:cNvSpPr txBox="1"/>
          <p:nvPr/>
        </p:nvSpPr>
        <p:spPr>
          <a:xfrm>
            <a:off x="865761" y="1739804"/>
            <a:ext cx="10586936" cy="461036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200" b="0" i="0" u="none" strike="noStrike" baseline="0" dirty="0">
                <a:solidFill>
                  <a:srgbClr val="231F20"/>
                </a:solidFill>
              </a:rPr>
              <a:t>With this scheme, we need some form of hardware support to distinguish between the pages that are in memory and the pages that are on the disk. </a:t>
            </a:r>
          </a:p>
          <a:p>
            <a:pPr marL="342900" indent="-342900" algn="just">
              <a:lnSpc>
                <a:spcPct val="150000"/>
              </a:lnSpc>
              <a:buFont typeface="Arial" panose="020B0604020202020204" pitchFamily="34" charset="0"/>
              <a:buChar char="•"/>
            </a:pPr>
            <a:r>
              <a:rPr lang="en-US" sz="2200" b="0" i="0" u="none" strike="noStrike" baseline="0" dirty="0">
                <a:solidFill>
                  <a:srgbClr val="231F20"/>
                </a:solidFill>
              </a:rPr>
              <a:t>The valid–invalid bit scheme can be used for this purpose. </a:t>
            </a:r>
          </a:p>
          <a:p>
            <a:pPr marL="342900" indent="-342900" algn="just">
              <a:lnSpc>
                <a:spcPct val="150000"/>
              </a:lnSpc>
              <a:buFont typeface="Arial" panose="020B0604020202020204" pitchFamily="34" charset="0"/>
              <a:buChar char="•"/>
            </a:pPr>
            <a:r>
              <a:rPr lang="en-US" sz="2200" b="0" i="0" u="none" strike="noStrike" baseline="0" dirty="0">
                <a:solidFill>
                  <a:srgbClr val="231F20"/>
                </a:solidFill>
              </a:rPr>
              <a:t>When this bit is set to “valid,” the associated page is both legal and in memory. If the bit is set to “invalid,” the page either is not valid (that is, not in the logical address space of the process) or is valid but is currently on the disk. </a:t>
            </a:r>
          </a:p>
          <a:p>
            <a:pPr marL="342900" indent="-342900" algn="just">
              <a:lnSpc>
                <a:spcPct val="150000"/>
              </a:lnSpc>
              <a:buFont typeface="Arial" panose="020B0604020202020204" pitchFamily="34" charset="0"/>
              <a:buChar char="•"/>
            </a:pPr>
            <a:r>
              <a:rPr lang="en-US" sz="2200" b="0" i="0" u="none" strike="noStrike" baseline="0" dirty="0">
                <a:solidFill>
                  <a:srgbClr val="231F20"/>
                </a:solidFill>
              </a:rPr>
              <a:t>The page-table entry for a page that is brought into memory is set as usual, but the page-table entry for a page that is not currently in memory is either simply marked invalid or contains the address of the page </a:t>
            </a:r>
            <a:r>
              <a:rPr lang="en-IN" sz="2200" b="0" i="0" u="none" strike="noStrike" baseline="0" dirty="0">
                <a:solidFill>
                  <a:srgbClr val="231F20"/>
                </a:solidFill>
              </a:rPr>
              <a:t>on disk.</a:t>
            </a:r>
            <a:endParaRPr lang="en-IN" sz="2200" dirty="0"/>
          </a:p>
        </p:txBody>
      </p:sp>
    </p:spTree>
    <p:extLst>
      <p:ext uri="{BB962C8B-B14F-4D97-AF65-F5344CB8AC3E}">
        <p14:creationId xmlns:p14="http://schemas.microsoft.com/office/powerpoint/2010/main" val="228680062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Demand Paging</a:t>
            </a:r>
          </a:p>
        </p:txBody>
      </p:sp>
      <p:pic>
        <p:nvPicPr>
          <p:cNvPr id="4" name="Picture 3">
            <a:extLst>
              <a:ext uri="{FF2B5EF4-FFF2-40B4-BE49-F238E27FC236}">
                <a16:creationId xmlns:a16="http://schemas.microsoft.com/office/drawing/2014/main" id="{8ADD9F49-E562-021E-F27B-B068ACD86D7B}"/>
              </a:ext>
            </a:extLst>
          </p:cNvPr>
          <p:cNvPicPr>
            <a:picLocks noChangeAspect="1"/>
          </p:cNvPicPr>
          <p:nvPr/>
        </p:nvPicPr>
        <p:blipFill>
          <a:blip r:embed="rId3"/>
          <a:stretch>
            <a:fillRect/>
          </a:stretch>
        </p:blipFill>
        <p:spPr>
          <a:xfrm>
            <a:off x="3710194" y="1208887"/>
            <a:ext cx="5744377" cy="5649113"/>
          </a:xfrm>
          <a:prstGeom prst="rect">
            <a:avLst/>
          </a:prstGeom>
        </p:spPr>
      </p:pic>
      <p:sp>
        <p:nvSpPr>
          <p:cNvPr id="5" name="TextBox 4">
            <a:extLst>
              <a:ext uri="{FF2B5EF4-FFF2-40B4-BE49-F238E27FC236}">
                <a16:creationId xmlns:a16="http://schemas.microsoft.com/office/drawing/2014/main" id="{0AFE5635-251A-01D0-59CC-4AC57C6CC3C3}"/>
              </a:ext>
            </a:extLst>
          </p:cNvPr>
          <p:cNvSpPr txBox="1"/>
          <p:nvPr/>
        </p:nvSpPr>
        <p:spPr>
          <a:xfrm>
            <a:off x="739303" y="1342416"/>
            <a:ext cx="2042803" cy="461665"/>
          </a:xfrm>
          <a:prstGeom prst="rect">
            <a:avLst/>
          </a:prstGeom>
          <a:noFill/>
        </p:spPr>
        <p:txBody>
          <a:bodyPr wrap="none" rtlCol="0">
            <a:spAutoFit/>
          </a:bodyPr>
          <a:lstStyle/>
          <a:p>
            <a:r>
              <a:rPr lang="en-IN" sz="2400" dirty="0">
                <a:highlight>
                  <a:srgbClr val="00FFFF"/>
                </a:highlight>
              </a:rPr>
              <a:t>Basic Concepts</a:t>
            </a:r>
            <a:endParaRPr lang="en-IN" sz="2400" dirty="0">
              <a:highlight>
                <a:srgbClr val="FFFF00"/>
              </a:highlight>
            </a:endParaRPr>
          </a:p>
        </p:txBody>
      </p:sp>
    </p:spTree>
    <p:extLst>
      <p:ext uri="{BB962C8B-B14F-4D97-AF65-F5344CB8AC3E}">
        <p14:creationId xmlns:p14="http://schemas.microsoft.com/office/powerpoint/2010/main" val="347282554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284859" y="572657"/>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Demand Paging</a:t>
            </a:r>
          </a:p>
        </p:txBody>
      </p:sp>
      <p:sp>
        <p:nvSpPr>
          <p:cNvPr id="5" name="TextBox 4">
            <a:extLst>
              <a:ext uri="{FF2B5EF4-FFF2-40B4-BE49-F238E27FC236}">
                <a16:creationId xmlns:a16="http://schemas.microsoft.com/office/drawing/2014/main" id="{0AFE5635-251A-01D0-59CC-4AC57C6CC3C3}"/>
              </a:ext>
            </a:extLst>
          </p:cNvPr>
          <p:cNvSpPr txBox="1"/>
          <p:nvPr/>
        </p:nvSpPr>
        <p:spPr>
          <a:xfrm>
            <a:off x="739303" y="1342416"/>
            <a:ext cx="1464055" cy="461665"/>
          </a:xfrm>
          <a:prstGeom prst="rect">
            <a:avLst/>
          </a:prstGeom>
          <a:noFill/>
        </p:spPr>
        <p:txBody>
          <a:bodyPr wrap="none" rtlCol="0">
            <a:spAutoFit/>
          </a:bodyPr>
          <a:lstStyle/>
          <a:p>
            <a:r>
              <a:rPr lang="en-IN" sz="2400" dirty="0">
                <a:highlight>
                  <a:srgbClr val="00FFFF"/>
                </a:highlight>
              </a:rPr>
              <a:t>Page Fault</a:t>
            </a:r>
            <a:endParaRPr lang="en-IN" sz="2400" dirty="0">
              <a:highlight>
                <a:srgbClr val="FFFF00"/>
              </a:highlight>
            </a:endParaRPr>
          </a:p>
        </p:txBody>
      </p:sp>
      <p:sp>
        <p:nvSpPr>
          <p:cNvPr id="6" name="TextBox 5">
            <a:extLst>
              <a:ext uri="{FF2B5EF4-FFF2-40B4-BE49-F238E27FC236}">
                <a16:creationId xmlns:a16="http://schemas.microsoft.com/office/drawing/2014/main" id="{1F911D1E-446E-F2D9-5A33-E93350F518BF}"/>
              </a:ext>
            </a:extLst>
          </p:cNvPr>
          <p:cNvSpPr txBox="1"/>
          <p:nvPr/>
        </p:nvSpPr>
        <p:spPr>
          <a:xfrm>
            <a:off x="739302" y="2115926"/>
            <a:ext cx="10635955" cy="3139321"/>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Access to a page marked invalid causes a </a:t>
            </a:r>
            <a:r>
              <a:rPr lang="en-US" sz="2400" b="1" i="0" u="none" strike="noStrike" baseline="0" dirty="0">
                <a:solidFill>
                  <a:srgbClr val="00AEF0"/>
                </a:solidFill>
              </a:rPr>
              <a:t>page fault. </a:t>
            </a:r>
          </a:p>
          <a:p>
            <a:pPr marL="342900" indent="-342900" algn="just">
              <a:lnSpc>
                <a:spcPct val="150000"/>
              </a:lnSpc>
              <a:buFont typeface="Arial" panose="020B0604020202020204" pitchFamily="34" charset="0"/>
              <a:buChar char="•"/>
            </a:pPr>
            <a:r>
              <a:rPr lang="en-IN" sz="2400" b="0" i="0" u="none" strike="noStrike" baseline="0" dirty="0">
                <a:solidFill>
                  <a:srgbClr val="231F20"/>
                </a:solidFill>
              </a:rPr>
              <a:t>The paging </a:t>
            </a:r>
            <a:r>
              <a:rPr lang="en-US" sz="2400" b="0" i="0" u="none" strike="noStrike" baseline="0" dirty="0">
                <a:solidFill>
                  <a:srgbClr val="231F20"/>
                </a:solidFill>
              </a:rPr>
              <a:t>hardware, in translating the address through the page table, will notice that the invalid bit is set, causing a trap to the operating system. This trap is the result of the operating system’s failure to bring the desired page into memory.</a:t>
            </a:r>
            <a:endParaRPr lang="en-US" sz="2400" b="1" dirty="0">
              <a:solidFill>
                <a:srgbClr val="00AEF0"/>
              </a:solidFill>
            </a:endParaRPr>
          </a:p>
          <a:p>
            <a:pPr algn="l"/>
            <a:endParaRPr lang="en-IN" dirty="0"/>
          </a:p>
        </p:txBody>
      </p:sp>
    </p:spTree>
    <p:extLst>
      <p:ext uri="{BB962C8B-B14F-4D97-AF65-F5344CB8AC3E}">
        <p14:creationId xmlns:p14="http://schemas.microsoft.com/office/powerpoint/2010/main" val="165181249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98335-6F39-88C7-D5CF-791CE5EE291F}"/>
            </a:ext>
          </a:extLst>
        </p:cNvPr>
        <p:cNvGrpSpPr/>
        <p:nvPr/>
      </p:nvGrpSpPr>
      <p:grpSpPr>
        <a:xfrm>
          <a:off x="0" y="0"/>
          <a:ext cx="0" cy="0"/>
          <a:chOff x="0" y="0"/>
          <a:chExt cx="0" cy="0"/>
        </a:xfrm>
      </p:grpSpPr>
      <p:sp>
        <p:nvSpPr>
          <p:cNvPr id="9" name="Text Placeholder 3">
            <a:extLst>
              <a:ext uri="{FF2B5EF4-FFF2-40B4-BE49-F238E27FC236}">
                <a16:creationId xmlns:a16="http://schemas.microsoft.com/office/drawing/2014/main" id="{887863A9-46E6-1AAC-795A-3963862AF469}"/>
              </a:ext>
            </a:extLst>
          </p:cNvPr>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5" name="Subtitle 4">
            <a:extLst>
              <a:ext uri="{FF2B5EF4-FFF2-40B4-BE49-F238E27FC236}">
                <a16:creationId xmlns:a16="http://schemas.microsoft.com/office/drawing/2014/main" id="{0ECCED30-4574-CA0F-18BE-FDA3DAACCDC4}"/>
              </a:ext>
            </a:extLst>
          </p:cNvPr>
          <p:cNvSpPr>
            <a:spLocks noGrp="1"/>
          </p:cNvSpPr>
          <p:nvPr>
            <p:ph type="subTitle" idx="1"/>
          </p:nvPr>
        </p:nvSpPr>
        <p:spPr>
          <a:xfrm>
            <a:off x="1047345" y="2601119"/>
            <a:ext cx="9144000" cy="1655762"/>
          </a:xfrm>
        </p:spPr>
        <p:txBody>
          <a:bodyPr>
            <a:normAutofit/>
          </a:bodyPr>
          <a:lstStyle/>
          <a:p>
            <a:r>
              <a:rPr lang="en-US" sz="4400" dirty="0">
                <a:solidFill>
                  <a:srgbClr val="0066CC"/>
                </a:solidFill>
              </a:rPr>
              <a:t>Lecture - 14</a:t>
            </a:r>
          </a:p>
        </p:txBody>
      </p:sp>
    </p:spTree>
    <p:extLst>
      <p:ext uri="{BB962C8B-B14F-4D97-AF65-F5344CB8AC3E}">
        <p14:creationId xmlns:p14="http://schemas.microsoft.com/office/powerpoint/2010/main" val="156578919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Recap</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Virtual Memory</a:t>
            </a:r>
          </a:p>
          <a:p>
            <a:r>
              <a:rPr lang="en-IN" dirty="0"/>
              <a:t>Demand Paging</a:t>
            </a:r>
          </a:p>
          <a:p>
            <a:pPr lvl="1"/>
            <a:endParaRPr lang="en-US" dirty="0"/>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120570047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Agenda</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Page Fault</a:t>
            </a:r>
          </a:p>
          <a:p>
            <a:pPr lvl="1"/>
            <a:endParaRPr lang="en-US" dirty="0"/>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157148903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5588365" y="427962"/>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Page Fault</a:t>
            </a:r>
          </a:p>
        </p:txBody>
      </p:sp>
      <p:pic>
        <p:nvPicPr>
          <p:cNvPr id="4" name="Picture 3">
            <a:extLst>
              <a:ext uri="{FF2B5EF4-FFF2-40B4-BE49-F238E27FC236}">
                <a16:creationId xmlns:a16="http://schemas.microsoft.com/office/drawing/2014/main" id="{293C4641-833A-D459-96AF-EE0C672A1135}"/>
              </a:ext>
            </a:extLst>
          </p:cNvPr>
          <p:cNvPicPr>
            <a:picLocks noChangeAspect="1"/>
          </p:cNvPicPr>
          <p:nvPr/>
        </p:nvPicPr>
        <p:blipFill>
          <a:blip r:embed="rId3"/>
          <a:stretch>
            <a:fillRect/>
          </a:stretch>
        </p:blipFill>
        <p:spPr>
          <a:xfrm>
            <a:off x="4404550" y="1385705"/>
            <a:ext cx="6554115" cy="5001323"/>
          </a:xfrm>
          <a:prstGeom prst="rect">
            <a:avLst/>
          </a:prstGeom>
        </p:spPr>
      </p:pic>
      <p:sp>
        <p:nvSpPr>
          <p:cNvPr id="5" name="TextBox 4">
            <a:extLst>
              <a:ext uri="{FF2B5EF4-FFF2-40B4-BE49-F238E27FC236}">
                <a16:creationId xmlns:a16="http://schemas.microsoft.com/office/drawing/2014/main" id="{E69D06AB-310D-7BB6-A241-D9695C82D479}"/>
              </a:ext>
            </a:extLst>
          </p:cNvPr>
          <p:cNvSpPr txBox="1"/>
          <p:nvPr/>
        </p:nvSpPr>
        <p:spPr>
          <a:xfrm>
            <a:off x="381810" y="1668453"/>
            <a:ext cx="4112369" cy="1143070"/>
          </a:xfrm>
          <a:prstGeom prst="rect">
            <a:avLst/>
          </a:prstGeom>
          <a:noFill/>
        </p:spPr>
        <p:txBody>
          <a:bodyPr wrap="square">
            <a:spAutoFit/>
          </a:bodyPr>
          <a:lstStyle/>
          <a:p>
            <a:pPr algn="just">
              <a:lnSpc>
                <a:spcPct val="150000"/>
              </a:lnSpc>
            </a:pPr>
            <a:r>
              <a:rPr lang="en-US" sz="2400" b="0" i="0" u="none" strike="noStrike" baseline="0" dirty="0">
                <a:solidFill>
                  <a:srgbClr val="231F20"/>
                </a:solidFill>
              </a:rPr>
              <a:t>Access to a page marked invalid causes a </a:t>
            </a:r>
            <a:r>
              <a:rPr lang="en-US" sz="2400" b="1" i="0" u="none" strike="noStrike" baseline="0" dirty="0">
                <a:solidFill>
                  <a:srgbClr val="00AEF0"/>
                </a:solidFill>
              </a:rPr>
              <a:t>page fault</a:t>
            </a:r>
            <a:r>
              <a:rPr lang="en-US" sz="2400" b="0" i="0" u="none" strike="noStrike" baseline="0" dirty="0">
                <a:solidFill>
                  <a:srgbClr val="231F20"/>
                </a:solidFill>
              </a:rPr>
              <a:t>.</a:t>
            </a:r>
            <a:endParaRPr lang="en-IN" sz="2400" dirty="0"/>
          </a:p>
        </p:txBody>
      </p:sp>
    </p:spTree>
    <p:extLst>
      <p:ext uri="{BB962C8B-B14F-4D97-AF65-F5344CB8AC3E}">
        <p14:creationId xmlns:p14="http://schemas.microsoft.com/office/powerpoint/2010/main" val="97275153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5588365" y="427962"/>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Page Fault</a:t>
            </a:r>
          </a:p>
        </p:txBody>
      </p:sp>
      <p:sp>
        <p:nvSpPr>
          <p:cNvPr id="5" name="TextBox 4">
            <a:extLst>
              <a:ext uri="{FF2B5EF4-FFF2-40B4-BE49-F238E27FC236}">
                <a16:creationId xmlns:a16="http://schemas.microsoft.com/office/drawing/2014/main" id="{887A01AA-85B8-0212-C88C-783D8340C692}"/>
              </a:ext>
            </a:extLst>
          </p:cNvPr>
          <p:cNvSpPr txBox="1"/>
          <p:nvPr/>
        </p:nvSpPr>
        <p:spPr>
          <a:xfrm>
            <a:off x="488004" y="1247933"/>
            <a:ext cx="11215992" cy="3913059"/>
          </a:xfrm>
          <a:prstGeom prst="rect">
            <a:avLst/>
          </a:prstGeom>
          <a:noFill/>
        </p:spPr>
        <p:txBody>
          <a:bodyPr wrap="square">
            <a:spAutoFit/>
          </a:bodyPr>
          <a:lstStyle/>
          <a:p>
            <a:pPr algn="just">
              <a:lnSpc>
                <a:spcPct val="150000"/>
              </a:lnSpc>
            </a:pPr>
            <a:r>
              <a:rPr lang="en-US" sz="2400" b="0" i="0" u="none" strike="noStrike" baseline="0" dirty="0">
                <a:solidFill>
                  <a:srgbClr val="231F20"/>
                </a:solidFill>
              </a:rPr>
              <a:t>The procedure for handling this page fault is</a:t>
            </a:r>
            <a:r>
              <a:rPr lang="en-US" sz="2400" b="0" i="0" u="none" strike="noStrike" dirty="0">
                <a:solidFill>
                  <a:srgbClr val="231F20"/>
                </a:solidFill>
              </a:rPr>
              <a:t> as follows</a:t>
            </a:r>
            <a:r>
              <a:rPr lang="en-US" sz="2400" b="0" i="0" u="none" strike="noStrike" baseline="0" dirty="0">
                <a:solidFill>
                  <a:srgbClr val="231F20"/>
                </a:solidFill>
              </a:rPr>
              <a:t>:</a:t>
            </a:r>
          </a:p>
          <a:p>
            <a:pPr marL="457200" indent="-457200" algn="just">
              <a:lnSpc>
                <a:spcPct val="150000"/>
              </a:lnSpc>
              <a:buClr>
                <a:srgbClr val="0000FF"/>
              </a:buClr>
              <a:buFont typeface="+mj-lt"/>
              <a:buAutoNum type="arabicPeriod"/>
            </a:pPr>
            <a:r>
              <a:rPr lang="en-US" sz="2400" dirty="0">
                <a:solidFill>
                  <a:srgbClr val="231F20"/>
                </a:solidFill>
              </a:rPr>
              <a:t>C</a:t>
            </a:r>
            <a:r>
              <a:rPr lang="en-US" sz="2400" b="0" i="0" u="none" strike="noStrike" baseline="0" dirty="0">
                <a:solidFill>
                  <a:srgbClr val="231F20"/>
                </a:solidFill>
              </a:rPr>
              <a:t>heck an internal table (usually kept with the process control block) for this process to determine whether the reference was a valid or an </a:t>
            </a:r>
            <a:r>
              <a:rPr lang="en-IN" sz="2400" b="0" i="0" u="none" strike="noStrike" baseline="0" dirty="0">
                <a:solidFill>
                  <a:srgbClr val="231F20"/>
                </a:solidFill>
              </a:rPr>
              <a:t>invalid memory access.</a:t>
            </a:r>
            <a:endParaRPr lang="en-IN" sz="2400" dirty="0">
              <a:solidFill>
                <a:srgbClr val="231F20"/>
              </a:solidFill>
            </a:endParaRPr>
          </a:p>
          <a:p>
            <a:pPr marL="457200" indent="-457200" algn="just">
              <a:lnSpc>
                <a:spcPct val="150000"/>
              </a:lnSpc>
              <a:buClr>
                <a:srgbClr val="0000FF"/>
              </a:buClr>
              <a:buFont typeface="+mj-lt"/>
              <a:buAutoNum type="arabicPeriod"/>
            </a:pPr>
            <a:r>
              <a:rPr lang="en-US" sz="2400" b="0" i="0" u="none" strike="noStrike" baseline="0" dirty="0">
                <a:solidFill>
                  <a:srgbClr val="231F20"/>
                </a:solidFill>
              </a:rPr>
              <a:t>If the reference was invalid, we terminate the process. If it was valid but we have not yet brought in that page, we now page it in.</a:t>
            </a:r>
          </a:p>
          <a:p>
            <a:pPr marL="457200" indent="-457200" algn="just">
              <a:lnSpc>
                <a:spcPct val="150000"/>
              </a:lnSpc>
              <a:buClr>
                <a:srgbClr val="0000FF"/>
              </a:buClr>
              <a:buFont typeface="+mj-lt"/>
              <a:buAutoNum type="arabicPeriod"/>
            </a:pPr>
            <a:r>
              <a:rPr lang="en-US" sz="2400" dirty="0">
                <a:solidFill>
                  <a:srgbClr val="231F20"/>
                </a:solidFill>
              </a:rPr>
              <a:t>F</a:t>
            </a:r>
            <a:r>
              <a:rPr lang="en-US" sz="2400" b="0" i="0" u="none" strike="noStrike" baseline="0" dirty="0">
                <a:solidFill>
                  <a:srgbClr val="231F20"/>
                </a:solidFill>
              </a:rPr>
              <a:t>ind a free frame (by taking one from the free-frame list).</a:t>
            </a:r>
          </a:p>
          <a:p>
            <a:pPr marL="457200" indent="-457200" algn="just">
              <a:lnSpc>
                <a:spcPct val="150000"/>
              </a:lnSpc>
              <a:buClr>
                <a:srgbClr val="0000FF"/>
              </a:buClr>
              <a:buFont typeface="+mj-lt"/>
              <a:buAutoNum type="arabicPeriod"/>
            </a:pPr>
            <a:r>
              <a:rPr lang="en-US" sz="2400" dirty="0">
                <a:solidFill>
                  <a:srgbClr val="231F20"/>
                </a:solidFill>
              </a:rPr>
              <a:t>S</a:t>
            </a:r>
            <a:r>
              <a:rPr lang="en-US" sz="2400" b="0" i="0" u="none" strike="noStrike" baseline="0" dirty="0">
                <a:solidFill>
                  <a:srgbClr val="231F20"/>
                </a:solidFill>
              </a:rPr>
              <a:t>chedule a disk operation to read the desired page into the newly </a:t>
            </a:r>
            <a:r>
              <a:rPr lang="en-IN" sz="2400" b="0" i="0" u="none" strike="noStrike" baseline="0" dirty="0">
                <a:solidFill>
                  <a:srgbClr val="231F20"/>
                </a:solidFill>
              </a:rPr>
              <a:t>allocated frame.</a:t>
            </a:r>
          </a:p>
        </p:txBody>
      </p:sp>
    </p:spTree>
    <p:extLst>
      <p:ext uri="{BB962C8B-B14F-4D97-AF65-F5344CB8AC3E}">
        <p14:creationId xmlns:p14="http://schemas.microsoft.com/office/powerpoint/2010/main" val="312348846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5588365" y="427962"/>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Page Fault</a:t>
            </a:r>
          </a:p>
        </p:txBody>
      </p:sp>
      <p:sp>
        <p:nvSpPr>
          <p:cNvPr id="5" name="TextBox 4">
            <a:extLst>
              <a:ext uri="{FF2B5EF4-FFF2-40B4-BE49-F238E27FC236}">
                <a16:creationId xmlns:a16="http://schemas.microsoft.com/office/drawing/2014/main" id="{887A01AA-85B8-0212-C88C-783D8340C692}"/>
              </a:ext>
            </a:extLst>
          </p:cNvPr>
          <p:cNvSpPr txBox="1"/>
          <p:nvPr/>
        </p:nvSpPr>
        <p:spPr>
          <a:xfrm>
            <a:off x="488004" y="1646767"/>
            <a:ext cx="11215992" cy="2251065"/>
          </a:xfrm>
          <a:prstGeom prst="rect">
            <a:avLst/>
          </a:prstGeom>
          <a:noFill/>
        </p:spPr>
        <p:txBody>
          <a:bodyPr wrap="square">
            <a:spAutoFit/>
          </a:bodyPr>
          <a:lstStyle/>
          <a:p>
            <a:pPr marL="457200" indent="-457200" algn="just">
              <a:lnSpc>
                <a:spcPct val="150000"/>
              </a:lnSpc>
              <a:buClr>
                <a:srgbClr val="0000FF"/>
              </a:buClr>
              <a:buFont typeface="+mj-lt"/>
              <a:buAutoNum type="arabicPeriod" startAt="5"/>
            </a:pPr>
            <a:r>
              <a:rPr lang="en-US" sz="2400" b="0" i="0" u="none" strike="noStrike" baseline="0" dirty="0">
                <a:solidFill>
                  <a:srgbClr val="231F20"/>
                </a:solidFill>
              </a:rPr>
              <a:t>When the disk read is complete, we modify the internal table kept with the process and the page table to indicate that the page is now in memory.</a:t>
            </a:r>
          </a:p>
          <a:p>
            <a:pPr marL="457200" indent="-457200" algn="just">
              <a:lnSpc>
                <a:spcPct val="150000"/>
              </a:lnSpc>
              <a:buClr>
                <a:srgbClr val="0000FF"/>
              </a:buClr>
              <a:buFont typeface="+mj-lt"/>
              <a:buAutoNum type="arabicPeriod" startAt="5"/>
            </a:pPr>
            <a:r>
              <a:rPr lang="en-US" sz="2400" dirty="0">
                <a:solidFill>
                  <a:srgbClr val="231F20"/>
                </a:solidFill>
              </a:rPr>
              <a:t>R</a:t>
            </a:r>
            <a:r>
              <a:rPr lang="en-US" sz="2400" b="0" i="0" u="none" strike="noStrike" baseline="0" dirty="0">
                <a:solidFill>
                  <a:srgbClr val="231F20"/>
                </a:solidFill>
              </a:rPr>
              <a:t>estart the instruction that was interrupted by the trap. The process can now access the page as though it had always been in memory.</a:t>
            </a:r>
            <a:endParaRPr lang="en-IN" sz="2400" dirty="0"/>
          </a:p>
        </p:txBody>
      </p:sp>
    </p:spTree>
    <p:extLst>
      <p:ext uri="{BB962C8B-B14F-4D97-AF65-F5344CB8AC3E}">
        <p14:creationId xmlns:p14="http://schemas.microsoft.com/office/powerpoint/2010/main" val="246123759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430774" y="505783"/>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Page Replacement</a:t>
            </a:r>
          </a:p>
        </p:txBody>
      </p:sp>
      <p:sp>
        <p:nvSpPr>
          <p:cNvPr id="4" name="TextBox 3">
            <a:extLst>
              <a:ext uri="{FF2B5EF4-FFF2-40B4-BE49-F238E27FC236}">
                <a16:creationId xmlns:a16="http://schemas.microsoft.com/office/drawing/2014/main" id="{AFFEE9DC-C749-1818-529A-DE82B79E539E}"/>
              </a:ext>
            </a:extLst>
          </p:cNvPr>
          <p:cNvSpPr txBox="1"/>
          <p:nvPr/>
        </p:nvSpPr>
        <p:spPr>
          <a:xfrm>
            <a:off x="1091929" y="1841718"/>
            <a:ext cx="9958692" cy="225106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b="0" i="0" u="none" strike="noStrike" baseline="0" dirty="0">
                <a:solidFill>
                  <a:srgbClr val="231F20"/>
                </a:solidFill>
              </a:rPr>
              <a:t>While a user process </a:t>
            </a:r>
            <a:r>
              <a:rPr lang="en-US" sz="2400" b="0" i="0" u="none" strike="noStrike" baseline="0" dirty="0">
                <a:solidFill>
                  <a:srgbClr val="231F20"/>
                </a:solidFill>
              </a:rPr>
              <a:t>is executing, a page fault occurs. The operating system determines where the desired page is residing on the disk but then finds that there are </a:t>
            </a:r>
            <a:r>
              <a:rPr lang="en-US" sz="2400" b="1" i="1" u="none" strike="noStrike" baseline="0" dirty="0">
                <a:solidFill>
                  <a:srgbClr val="231F20"/>
                </a:solidFill>
              </a:rPr>
              <a:t>no </a:t>
            </a:r>
            <a:r>
              <a:rPr lang="en-US" sz="2400" b="0" i="0" u="none" strike="noStrike" baseline="0" dirty="0">
                <a:solidFill>
                  <a:srgbClr val="231F20"/>
                </a:solidFill>
              </a:rPr>
              <a:t>free frames on the free-frame list; all memory is in use.</a:t>
            </a:r>
          </a:p>
          <a:p>
            <a:pPr marL="342900" indent="-342900" algn="just">
              <a:lnSpc>
                <a:spcPct val="150000"/>
              </a:lnSpc>
              <a:buFont typeface="Arial" panose="020B0604020202020204" pitchFamily="34" charset="0"/>
              <a:buChar char="•"/>
            </a:pPr>
            <a:r>
              <a:rPr lang="en-US" sz="2400" dirty="0">
                <a:solidFill>
                  <a:srgbClr val="231F20"/>
                </a:solidFill>
              </a:rPr>
              <a:t>The most common solution: </a:t>
            </a:r>
            <a:r>
              <a:rPr lang="en-US" sz="2400" dirty="0">
                <a:solidFill>
                  <a:srgbClr val="0070C0"/>
                </a:solidFill>
              </a:rPr>
              <a:t>Page Replacement</a:t>
            </a:r>
            <a:endParaRPr lang="en-IN" sz="2400" dirty="0">
              <a:solidFill>
                <a:srgbClr val="0070C0"/>
              </a:solidFill>
            </a:endParaRPr>
          </a:p>
        </p:txBody>
      </p:sp>
    </p:spTree>
    <p:extLst>
      <p:ext uri="{BB962C8B-B14F-4D97-AF65-F5344CB8AC3E}">
        <p14:creationId xmlns:p14="http://schemas.microsoft.com/office/powerpoint/2010/main" val="129425730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430774" y="505783"/>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Page Replacement</a:t>
            </a:r>
          </a:p>
        </p:txBody>
      </p:sp>
      <p:sp>
        <p:nvSpPr>
          <p:cNvPr id="5" name="TextBox 4">
            <a:extLst>
              <a:ext uri="{FF2B5EF4-FFF2-40B4-BE49-F238E27FC236}">
                <a16:creationId xmlns:a16="http://schemas.microsoft.com/office/drawing/2014/main" id="{10A2123B-B643-F1BF-880D-6889F996D46B}"/>
              </a:ext>
            </a:extLst>
          </p:cNvPr>
          <p:cNvSpPr txBox="1"/>
          <p:nvPr/>
        </p:nvSpPr>
        <p:spPr>
          <a:xfrm>
            <a:off x="593387" y="1599005"/>
            <a:ext cx="10781871" cy="2805063"/>
          </a:xfrm>
          <a:prstGeom prst="rect">
            <a:avLst/>
          </a:prstGeom>
          <a:noFill/>
        </p:spPr>
        <p:txBody>
          <a:bodyPr wrap="square">
            <a:spAutoFit/>
          </a:bodyPr>
          <a:lstStyle/>
          <a:p>
            <a:pPr algn="just">
              <a:lnSpc>
                <a:spcPct val="150000"/>
              </a:lnSpc>
            </a:pPr>
            <a:r>
              <a:rPr lang="en-US" sz="2400" dirty="0">
                <a:solidFill>
                  <a:srgbClr val="231F20"/>
                </a:solidFill>
              </a:rPr>
              <a:t>Page replacement takes the following approach:</a:t>
            </a:r>
          </a:p>
          <a:p>
            <a:pPr marL="342900" indent="-342900" algn="just">
              <a:lnSpc>
                <a:spcPct val="150000"/>
              </a:lnSpc>
              <a:buFont typeface="Arial" panose="020B0604020202020204" pitchFamily="34" charset="0"/>
              <a:buChar char="•"/>
            </a:pPr>
            <a:r>
              <a:rPr lang="en-US" sz="2400" dirty="0">
                <a:solidFill>
                  <a:srgbClr val="231F20"/>
                </a:solidFill>
              </a:rPr>
              <a:t> If no frame is free, we find one that is not currently being used and free it.</a:t>
            </a:r>
          </a:p>
          <a:p>
            <a:pPr marL="342900" indent="-342900" algn="just">
              <a:lnSpc>
                <a:spcPct val="150000"/>
              </a:lnSpc>
              <a:buFont typeface="Arial" panose="020B0604020202020204" pitchFamily="34" charset="0"/>
              <a:buChar char="•"/>
            </a:pPr>
            <a:r>
              <a:rPr lang="en-US" sz="2400" dirty="0">
                <a:solidFill>
                  <a:srgbClr val="231F20"/>
                </a:solidFill>
              </a:rPr>
              <a:t>We can free a frame by writing its contents to swap space and changing the page table (and all other tables) to indicate that the page is no longer in memory. </a:t>
            </a:r>
          </a:p>
          <a:p>
            <a:pPr marL="342900" indent="-342900" algn="just">
              <a:lnSpc>
                <a:spcPct val="150000"/>
              </a:lnSpc>
              <a:buFont typeface="Arial" panose="020B0604020202020204" pitchFamily="34" charset="0"/>
              <a:buChar char="•"/>
            </a:pPr>
            <a:r>
              <a:rPr lang="en-US" sz="2400" dirty="0">
                <a:solidFill>
                  <a:srgbClr val="231F20"/>
                </a:solidFill>
              </a:rPr>
              <a:t>We can now use the freed frame to hold the page for which the process faulted.</a:t>
            </a:r>
            <a:endParaRPr lang="en-IN" sz="2400" dirty="0">
              <a:solidFill>
                <a:srgbClr val="231F20"/>
              </a:solidFill>
            </a:endParaRPr>
          </a:p>
        </p:txBody>
      </p:sp>
    </p:spTree>
    <p:extLst>
      <p:ext uri="{BB962C8B-B14F-4D97-AF65-F5344CB8AC3E}">
        <p14:creationId xmlns:p14="http://schemas.microsoft.com/office/powerpoint/2010/main" val="50753967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430774" y="505783"/>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Page Replacement</a:t>
            </a:r>
          </a:p>
        </p:txBody>
      </p:sp>
      <p:pic>
        <p:nvPicPr>
          <p:cNvPr id="4" name="Picture 3">
            <a:extLst>
              <a:ext uri="{FF2B5EF4-FFF2-40B4-BE49-F238E27FC236}">
                <a16:creationId xmlns:a16="http://schemas.microsoft.com/office/drawing/2014/main" id="{AEC1EE3C-149C-27F1-E2A8-CD1B9A37A278}"/>
              </a:ext>
            </a:extLst>
          </p:cNvPr>
          <p:cNvPicPr>
            <a:picLocks noChangeAspect="1"/>
          </p:cNvPicPr>
          <p:nvPr/>
        </p:nvPicPr>
        <p:blipFill rotWithShape="1">
          <a:blip r:embed="rId3"/>
          <a:srcRect l="5572" r="8389"/>
          <a:stretch/>
        </p:blipFill>
        <p:spPr>
          <a:xfrm>
            <a:off x="7393021" y="1599581"/>
            <a:ext cx="4698460" cy="3828453"/>
          </a:xfrm>
          <a:prstGeom prst="rect">
            <a:avLst/>
          </a:prstGeom>
        </p:spPr>
      </p:pic>
      <p:pic>
        <p:nvPicPr>
          <p:cNvPr id="7" name="Picture 6">
            <a:extLst>
              <a:ext uri="{FF2B5EF4-FFF2-40B4-BE49-F238E27FC236}">
                <a16:creationId xmlns:a16="http://schemas.microsoft.com/office/drawing/2014/main" id="{FE92F6C1-1EE0-0BB8-1C60-F93715F68497}"/>
              </a:ext>
            </a:extLst>
          </p:cNvPr>
          <p:cNvPicPr>
            <a:picLocks noChangeAspect="1"/>
          </p:cNvPicPr>
          <p:nvPr/>
        </p:nvPicPr>
        <p:blipFill>
          <a:blip r:embed="rId4"/>
          <a:stretch>
            <a:fillRect/>
          </a:stretch>
        </p:blipFill>
        <p:spPr>
          <a:xfrm>
            <a:off x="45181" y="1799618"/>
            <a:ext cx="6989481" cy="3024990"/>
          </a:xfrm>
          <a:prstGeom prst="rect">
            <a:avLst/>
          </a:prstGeom>
          <a:ln>
            <a:solidFill>
              <a:srgbClr val="ED682F"/>
            </a:solidFill>
          </a:ln>
        </p:spPr>
      </p:pic>
    </p:spTree>
    <p:extLst>
      <p:ext uri="{BB962C8B-B14F-4D97-AF65-F5344CB8AC3E}">
        <p14:creationId xmlns:p14="http://schemas.microsoft.com/office/powerpoint/2010/main" val="4045788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430774" y="505783"/>
            <a:ext cx="403229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Page Replacement</a:t>
            </a:r>
          </a:p>
        </p:txBody>
      </p:sp>
      <p:pic>
        <p:nvPicPr>
          <p:cNvPr id="4" name="Picture 3">
            <a:extLst>
              <a:ext uri="{FF2B5EF4-FFF2-40B4-BE49-F238E27FC236}">
                <a16:creationId xmlns:a16="http://schemas.microsoft.com/office/drawing/2014/main" id="{AEC1EE3C-149C-27F1-E2A8-CD1B9A37A278}"/>
              </a:ext>
            </a:extLst>
          </p:cNvPr>
          <p:cNvPicPr>
            <a:picLocks noChangeAspect="1"/>
          </p:cNvPicPr>
          <p:nvPr/>
        </p:nvPicPr>
        <p:blipFill rotWithShape="1">
          <a:blip r:embed="rId3"/>
          <a:srcRect l="5572" r="8389"/>
          <a:stretch/>
        </p:blipFill>
        <p:spPr>
          <a:xfrm>
            <a:off x="7393021" y="1599581"/>
            <a:ext cx="4698460" cy="3828453"/>
          </a:xfrm>
          <a:prstGeom prst="rect">
            <a:avLst/>
          </a:prstGeom>
        </p:spPr>
      </p:pic>
      <p:pic>
        <p:nvPicPr>
          <p:cNvPr id="7" name="Picture 6">
            <a:extLst>
              <a:ext uri="{FF2B5EF4-FFF2-40B4-BE49-F238E27FC236}">
                <a16:creationId xmlns:a16="http://schemas.microsoft.com/office/drawing/2014/main" id="{FE92F6C1-1EE0-0BB8-1C60-F93715F68497}"/>
              </a:ext>
            </a:extLst>
          </p:cNvPr>
          <p:cNvPicPr>
            <a:picLocks noChangeAspect="1"/>
          </p:cNvPicPr>
          <p:nvPr/>
        </p:nvPicPr>
        <p:blipFill>
          <a:blip r:embed="rId4"/>
          <a:stretch>
            <a:fillRect/>
          </a:stretch>
        </p:blipFill>
        <p:spPr>
          <a:xfrm>
            <a:off x="45181" y="1799618"/>
            <a:ext cx="6989481" cy="3024990"/>
          </a:xfrm>
          <a:prstGeom prst="rect">
            <a:avLst/>
          </a:prstGeom>
          <a:ln>
            <a:solidFill>
              <a:srgbClr val="ED682F"/>
            </a:solidFill>
          </a:ln>
        </p:spPr>
      </p:pic>
    </p:spTree>
    <p:extLst>
      <p:ext uri="{BB962C8B-B14F-4D97-AF65-F5344CB8AC3E}">
        <p14:creationId xmlns:p14="http://schemas.microsoft.com/office/powerpoint/2010/main" val="158042047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119488" y="554421"/>
            <a:ext cx="4820230" cy="623844"/>
          </a:xfrm>
        </p:spPr>
        <p:txBody>
          <a:bodyPr>
            <a:normAutofit fontScale="90000"/>
          </a:bodyPr>
          <a:lstStyle/>
          <a:p>
            <a:pPr>
              <a:lnSpc>
                <a:spcPct val="100000"/>
              </a:lnSpc>
            </a:pPr>
            <a:r>
              <a:rPr lang="en-US" altLang="zh-TW" sz="2800" dirty="0">
                <a:solidFill>
                  <a:srgbClr val="0066CC"/>
                </a:solidFill>
                <a:latin typeface="Aharoni" pitchFamily="2" charset="-79"/>
                <a:cs typeface="Aharoni" pitchFamily="2" charset="-79"/>
              </a:rPr>
              <a:t>Page Replacement Algorithms</a:t>
            </a:r>
          </a:p>
        </p:txBody>
      </p:sp>
      <p:sp>
        <p:nvSpPr>
          <p:cNvPr id="5" name="TextBox 4">
            <a:extLst>
              <a:ext uri="{FF2B5EF4-FFF2-40B4-BE49-F238E27FC236}">
                <a16:creationId xmlns:a16="http://schemas.microsoft.com/office/drawing/2014/main" id="{3A8CA34E-18A9-1522-2319-B5AC7510FFE8}"/>
              </a:ext>
            </a:extLst>
          </p:cNvPr>
          <p:cNvSpPr txBox="1"/>
          <p:nvPr/>
        </p:nvSpPr>
        <p:spPr>
          <a:xfrm>
            <a:off x="887649" y="1687909"/>
            <a:ext cx="6094378" cy="2031325"/>
          </a:xfrm>
          <a:prstGeom prst="rect">
            <a:avLst/>
          </a:prstGeom>
          <a:noFill/>
        </p:spPr>
        <p:txBody>
          <a:bodyPr wrap="square">
            <a:spAutoFit/>
          </a:bodyPr>
          <a:lstStyle/>
          <a:p>
            <a:pPr marL="342900" indent="-342900" algn="just">
              <a:lnSpc>
                <a:spcPct val="150000"/>
              </a:lnSpc>
              <a:buFont typeface="+mj-lt"/>
              <a:buAutoNum type="arabicPeriod"/>
            </a:pPr>
            <a:r>
              <a:rPr lang="en-IN" sz="2400" b="0" i="0" u="none" strike="noStrike" baseline="0" dirty="0">
                <a:solidFill>
                  <a:srgbClr val="231F20"/>
                </a:solidFill>
                <a:latin typeface="HelveticaNeue-MediumExt"/>
              </a:rPr>
              <a:t>FIFO Page Replacement</a:t>
            </a:r>
          </a:p>
          <a:p>
            <a:pPr marL="342900" indent="-342900" algn="just">
              <a:lnSpc>
                <a:spcPct val="150000"/>
              </a:lnSpc>
              <a:buFont typeface="+mj-lt"/>
              <a:buAutoNum type="arabicPeriod"/>
            </a:pPr>
            <a:r>
              <a:rPr lang="en-IN" sz="2400" b="0" i="0" u="none" strike="noStrike" baseline="0" dirty="0">
                <a:solidFill>
                  <a:srgbClr val="231F20"/>
                </a:solidFill>
                <a:latin typeface="HelveticaNeue-MediumExt"/>
              </a:rPr>
              <a:t>Optimal Page Replacement</a:t>
            </a:r>
            <a:endParaRPr lang="en-IN" sz="2400" dirty="0">
              <a:solidFill>
                <a:srgbClr val="231F20"/>
              </a:solidFill>
              <a:latin typeface="HelveticaNeue-MediumExt"/>
            </a:endParaRPr>
          </a:p>
          <a:p>
            <a:pPr marL="342900" indent="-342900" algn="just">
              <a:lnSpc>
                <a:spcPct val="150000"/>
              </a:lnSpc>
              <a:buFont typeface="+mj-lt"/>
              <a:buAutoNum type="arabicPeriod"/>
            </a:pPr>
            <a:r>
              <a:rPr lang="en-IN" sz="2400" b="0" i="0" u="none" strike="noStrike" baseline="0" dirty="0">
                <a:solidFill>
                  <a:srgbClr val="231F20"/>
                </a:solidFill>
                <a:latin typeface="HelveticaNeue-MediumExt"/>
              </a:rPr>
              <a:t>LRU Page Replacement</a:t>
            </a:r>
          </a:p>
          <a:p>
            <a:endParaRPr lang="en-IN" dirty="0"/>
          </a:p>
        </p:txBody>
      </p:sp>
    </p:spTree>
    <p:extLst>
      <p:ext uri="{BB962C8B-B14F-4D97-AF65-F5344CB8AC3E}">
        <p14:creationId xmlns:p14="http://schemas.microsoft.com/office/powerpoint/2010/main" val="62234967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119488" y="554421"/>
            <a:ext cx="4820230" cy="623844"/>
          </a:xfrm>
        </p:spPr>
        <p:txBody>
          <a:bodyPr>
            <a:normAutofit fontScale="90000"/>
          </a:bodyPr>
          <a:lstStyle/>
          <a:p>
            <a:pPr>
              <a:lnSpc>
                <a:spcPct val="100000"/>
              </a:lnSpc>
            </a:pPr>
            <a:r>
              <a:rPr lang="en-US" altLang="zh-TW" sz="2800" dirty="0">
                <a:solidFill>
                  <a:srgbClr val="0066CC"/>
                </a:solidFill>
                <a:latin typeface="Aharoni" pitchFamily="2" charset="-79"/>
                <a:cs typeface="Aharoni" pitchFamily="2" charset="-79"/>
              </a:rPr>
              <a:t>Page Replacement Algorithms</a:t>
            </a:r>
          </a:p>
        </p:txBody>
      </p:sp>
      <p:sp>
        <p:nvSpPr>
          <p:cNvPr id="2" name="TextBox 1">
            <a:extLst>
              <a:ext uri="{FF2B5EF4-FFF2-40B4-BE49-F238E27FC236}">
                <a16:creationId xmlns:a16="http://schemas.microsoft.com/office/drawing/2014/main" id="{1FAB4699-1A50-E996-2944-D3C609BFA1FB}"/>
              </a:ext>
            </a:extLst>
          </p:cNvPr>
          <p:cNvSpPr txBox="1"/>
          <p:nvPr/>
        </p:nvSpPr>
        <p:spPr>
          <a:xfrm>
            <a:off x="881974" y="1577447"/>
            <a:ext cx="4028923" cy="400110"/>
          </a:xfrm>
          <a:prstGeom prst="rect">
            <a:avLst/>
          </a:prstGeom>
          <a:noFill/>
        </p:spPr>
        <p:txBody>
          <a:bodyPr wrap="none" rtlCol="0">
            <a:spAutoFit/>
          </a:bodyPr>
          <a:lstStyle/>
          <a:p>
            <a:r>
              <a:rPr lang="en-IN" sz="2000" dirty="0">
                <a:solidFill>
                  <a:srgbClr val="C00000"/>
                </a:solidFill>
                <a:highlight>
                  <a:srgbClr val="FFFF00"/>
                </a:highlight>
                <a:latin typeface="Times New Roman" pitchFamily="18" charset="0"/>
                <a:cs typeface="Times New Roman" pitchFamily="18" charset="0"/>
              </a:rPr>
              <a:t>First In First Out (FIFO) Algorithm:</a:t>
            </a:r>
          </a:p>
        </p:txBody>
      </p:sp>
      <p:sp>
        <p:nvSpPr>
          <p:cNvPr id="6" name="TextBox 5">
            <a:extLst>
              <a:ext uri="{FF2B5EF4-FFF2-40B4-BE49-F238E27FC236}">
                <a16:creationId xmlns:a16="http://schemas.microsoft.com/office/drawing/2014/main" id="{4CF55726-107B-04E1-CB1E-F3533C698441}"/>
              </a:ext>
            </a:extLst>
          </p:cNvPr>
          <p:cNvSpPr txBox="1"/>
          <p:nvPr/>
        </p:nvSpPr>
        <p:spPr>
          <a:xfrm>
            <a:off x="975197" y="2232472"/>
            <a:ext cx="10201883" cy="2805063"/>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The simplest page-replacement algorithm is a first-in, first-out (FIFO) algorithm.</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A FIFO replacement algorithm associates with each page the time when that</a:t>
            </a:r>
            <a:r>
              <a:rPr lang="en-US" sz="2400" dirty="0">
                <a:solidFill>
                  <a:srgbClr val="231F20"/>
                </a:solidFill>
              </a:rPr>
              <a:t> </a:t>
            </a:r>
            <a:r>
              <a:rPr lang="en-US" sz="2400" b="0" i="0" u="none" strike="noStrike" baseline="0" dirty="0">
                <a:solidFill>
                  <a:srgbClr val="231F20"/>
                </a:solidFill>
              </a:rPr>
              <a:t>page was brought into memory.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When a page must be replaced, the oldest </a:t>
            </a:r>
            <a:r>
              <a:rPr lang="en-IN" sz="2400" b="0" i="0" u="none" strike="noStrike" baseline="0" dirty="0">
                <a:solidFill>
                  <a:srgbClr val="231F20"/>
                </a:solidFill>
              </a:rPr>
              <a:t>page is chosen.</a:t>
            </a:r>
            <a:endParaRPr lang="en-IN" sz="2400" dirty="0"/>
          </a:p>
        </p:txBody>
      </p:sp>
    </p:spTree>
    <p:extLst>
      <p:ext uri="{BB962C8B-B14F-4D97-AF65-F5344CB8AC3E}">
        <p14:creationId xmlns:p14="http://schemas.microsoft.com/office/powerpoint/2010/main" val="280882897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119488" y="554421"/>
            <a:ext cx="4820230" cy="623844"/>
          </a:xfrm>
        </p:spPr>
        <p:txBody>
          <a:bodyPr>
            <a:normAutofit fontScale="90000"/>
          </a:bodyPr>
          <a:lstStyle/>
          <a:p>
            <a:pPr>
              <a:lnSpc>
                <a:spcPct val="100000"/>
              </a:lnSpc>
            </a:pPr>
            <a:r>
              <a:rPr lang="en-US" altLang="zh-TW" sz="2800" dirty="0">
                <a:solidFill>
                  <a:srgbClr val="0066CC"/>
                </a:solidFill>
                <a:latin typeface="Aharoni" pitchFamily="2" charset="-79"/>
                <a:cs typeface="Aharoni" pitchFamily="2" charset="-79"/>
              </a:rPr>
              <a:t>Page Replacement Algorithms</a:t>
            </a:r>
          </a:p>
        </p:txBody>
      </p:sp>
      <p:sp>
        <p:nvSpPr>
          <p:cNvPr id="2" name="TextBox 1">
            <a:extLst>
              <a:ext uri="{FF2B5EF4-FFF2-40B4-BE49-F238E27FC236}">
                <a16:creationId xmlns:a16="http://schemas.microsoft.com/office/drawing/2014/main" id="{1FAB4699-1A50-E996-2944-D3C609BFA1FB}"/>
              </a:ext>
            </a:extLst>
          </p:cNvPr>
          <p:cNvSpPr txBox="1"/>
          <p:nvPr/>
        </p:nvSpPr>
        <p:spPr>
          <a:xfrm>
            <a:off x="881974" y="1577447"/>
            <a:ext cx="4028923" cy="400110"/>
          </a:xfrm>
          <a:prstGeom prst="rect">
            <a:avLst/>
          </a:prstGeom>
          <a:noFill/>
        </p:spPr>
        <p:txBody>
          <a:bodyPr wrap="none" rtlCol="0">
            <a:spAutoFit/>
          </a:bodyPr>
          <a:lstStyle/>
          <a:p>
            <a:r>
              <a:rPr lang="en-IN" sz="2000" dirty="0">
                <a:solidFill>
                  <a:srgbClr val="C00000"/>
                </a:solidFill>
                <a:highlight>
                  <a:srgbClr val="FFFF00"/>
                </a:highlight>
                <a:latin typeface="Times New Roman" pitchFamily="18" charset="0"/>
                <a:cs typeface="Times New Roman" pitchFamily="18" charset="0"/>
              </a:rPr>
              <a:t>First In First Out (FIFO) Algorithm:</a:t>
            </a:r>
          </a:p>
        </p:txBody>
      </p:sp>
      <p:pic>
        <p:nvPicPr>
          <p:cNvPr id="4" name="Picture 2">
            <a:extLst>
              <a:ext uri="{FF2B5EF4-FFF2-40B4-BE49-F238E27FC236}">
                <a16:creationId xmlns:a16="http://schemas.microsoft.com/office/drawing/2014/main" id="{DB9D789D-2F2F-BBB3-C38F-29F54AECC3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2796" y="2274251"/>
            <a:ext cx="9725177" cy="3406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a:extLst>
              <a:ext uri="{FF2B5EF4-FFF2-40B4-BE49-F238E27FC236}">
                <a16:creationId xmlns:a16="http://schemas.microsoft.com/office/drawing/2014/main" id="{BB1119BE-3FAE-9718-78B0-52FE2D2A1617}"/>
              </a:ext>
            </a:extLst>
          </p:cNvPr>
          <p:cNvSpPr txBox="1"/>
          <p:nvPr/>
        </p:nvSpPr>
        <p:spPr>
          <a:xfrm>
            <a:off x="8258783" y="1977557"/>
            <a:ext cx="2284472" cy="369332"/>
          </a:xfrm>
          <a:prstGeom prst="rect">
            <a:avLst/>
          </a:prstGeom>
          <a:noFill/>
        </p:spPr>
        <p:txBody>
          <a:bodyPr wrap="none" rtlCol="0">
            <a:spAutoFit/>
          </a:bodyPr>
          <a:lstStyle/>
          <a:p>
            <a:r>
              <a:rPr lang="en-IN" dirty="0">
                <a:highlight>
                  <a:srgbClr val="00FFFF"/>
                </a:highlight>
              </a:rPr>
              <a:t>No. of Page faults = 15</a:t>
            </a:r>
          </a:p>
        </p:txBody>
      </p:sp>
    </p:spTree>
    <p:extLst>
      <p:ext uri="{BB962C8B-B14F-4D97-AF65-F5344CB8AC3E}">
        <p14:creationId xmlns:p14="http://schemas.microsoft.com/office/powerpoint/2010/main" val="165964863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119488" y="554421"/>
            <a:ext cx="4820230" cy="623844"/>
          </a:xfrm>
        </p:spPr>
        <p:txBody>
          <a:bodyPr>
            <a:normAutofit fontScale="90000"/>
          </a:bodyPr>
          <a:lstStyle/>
          <a:p>
            <a:pPr>
              <a:lnSpc>
                <a:spcPct val="100000"/>
              </a:lnSpc>
            </a:pPr>
            <a:r>
              <a:rPr lang="en-US" altLang="zh-TW" sz="2800" dirty="0">
                <a:solidFill>
                  <a:srgbClr val="0066CC"/>
                </a:solidFill>
                <a:latin typeface="Aharoni" pitchFamily="2" charset="-79"/>
                <a:cs typeface="Aharoni" pitchFamily="2" charset="-79"/>
              </a:rPr>
              <a:t>Page Replacement Algorithms</a:t>
            </a:r>
          </a:p>
        </p:txBody>
      </p:sp>
      <p:sp>
        <p:nvSpPr>
          <p:cNvPr id="2" name="TextBox 1">
            <a:extLst>
              <a:ext uri="{FF2B5EF4-FFF2-40B4-BE49-F238E27FC236}">
                <a16:creationId xmlns:a16="http://schemas.microsoft.com/office/drawing/2014/main" id="{1FAB4699-1A50-E996-2944-D3C609BFA1FB}"/>
              </a:ext>
            </a:extLst>
          </p:cNvPr>
          <p:cNvSpPr txBox="1"/>
          <p:nvPr/>
        </p:nvSpPr>
        <p:spPr>
          <a:xfrm>
            <a:off x="881974" y="1577447"/>
            <a:ext cx="4028923" cy="400110"/>
          </a:xfrm>
          <a:prstGeom prst="rect">
            <a:avLst/>
          </a:prstGeom>
          <a:noFill/>
        </p:spPr>
        <p:txBody>
          <a:bodyPr wrap="none" rtlCol="0">
            <a:spAutoFit/>
          </a:bodyPr>
          <a:lstStyle/>
          <a:p>
            <a:r>
              <a:rPr lang="en-IN" sz="2000" dirty="0">
                <a:solidFill>
                  <a:srgbClr val="C00000"/>
                </a:solidFill>
                <a:highlight>
                  <a:srgbClr val="FFFF00"/>
                </a:highlight>
                <a:latin typeface="Times New Roman" pitchFamily="18" charset="0"/>
                <a:cs typeface="Times New Roman" pitchFamily="18" charset="0"/>
              </a:rPr>
              <a:t>First In First Out (FIFO) Algorithm:</a:t>
            </a:r>
          </a:p>
        </p:txBody>
      </p:sp>
      <p:sp>
        <p:nvSpPr>
          <p:cNvPr id="6" name="TextBox 5">
            <a:extLst>
              <a:ext uri="{FF2B5EF4-FFF2-40B4-BE49-F238E27FC236}">
                <a16:creationId xmlns:a16="http://schemas.microsoft.com/office/drawing/2014/main" id="{8C5360C2-12D9-899F-DE37-185FF337DDF4}"/>
              </a:ext>
            </a:extLst>
          </p:cNvPr>
          <p:cNvSpPr txBox="1"/>
          <p:nvPr/>
        </p:nvSpPr>
        <p:spPr>
          <a:xfrm>
            <a:off x="881974" y="2210544"/>
            <a:ext cx="6094378" cy="880819"/>
          </a:xfrm>
          <a:prstGeom prst="rect">
            <a:avLst/>
          </a:prstGeom>
          <a:noFill/>
        </p:spPr>
        <p:txBody>
          <a:bodyPr wrap="square">
            <a:spAutoFit/>
          </a:bodyPr>
          <a:lstStyle/>
          <a:p>
            <a:pPr algn="just">
              <a:lnSpc>
                <a:spcPct val="150000"/>
              </a:lnSpc>
            </a:pPr>
            <a:r>
              <a:rPr lang="en-IN" sz="1800" b="0" i="0" u="none" strike="noStrike" baseline="0" dirty="0">
                <a:solidFill>
                  <a:srgbClr val="231F20"/>
                </a:solidFill>
                <a:latin typeface="Palatino-Roman"/>
              </a:rPr>
              <a:t>Reference String:</a:t>
            </a:r>
          </a:p>
          <a:p>
            <a:pPr algn="just">
              <a:lnSpc>
                <a:spcPct val="150000"/>
              </a:lnSpc>
            </a:pPr>
            <a:r>
              <a:rPr lang="en-IN" sz="1800" b="0" i="0" u="none" strike="noStrike" baseline="0" dirty="0">
                <a:solidFill>
                  <a:srgbClr val="231F20"/>
                </a:solidFill>
                <a:latin typeface="Palatino-Roman"/>
              </a:rPr>
              <a:t>1, 2, 3, 4, 1, 2, 5, 1, 2, 3, 4, 5</a:t>
            </a:r>
            <a:endParaRPr lang="en-IN" dirty="0"/>
          </a:p>
        </p:txBody>
      </p:sp>
      <p:pic>
        <p:nvPicPr>
          <p:cNvPr id="10" name="Picture 9">
            <a:extLst>
              <a:ext uri="{FF2B5EF4-FFF2-40B4-BE49-F238E27FC236}">
                <a16:creationId xmlns:a16="http://schemas.microsoft.com/office/drawing/2014/main" id="{19CCCADD-2852-C401-91EE-8E903964CBD9}"/>
              </a:ext>
            </a:extLst>
          </p:cNvPr>
          <p:cNvPicPr>
            <a:picLocks noChangeAspect="1"/>
          </p:cNvPicPr>
          <p:nvPr/>
        </p:nvPicPr>
        <p:blipFill rotWithShape="1">
          <a:blip r:embed="rId3">
            <a:extLst>
              <a:ext uri="{28A0092B-C50C-407E-A947-70E740481C1C}">
                <a14:useLocalDpi xmlns:a14="http://schemas.microsoft.com/office/drawing/2010/main" val="0"/>
              </a:ext>
            </a:extLst>
          </a:blip>
          <a:srcRect l="67320" t="16998" r="11955" b="9668"/>
          <a:stretch/>
        </p:blipFill>
        <p:spPr>
          <a:xfrm rot="16200000">
            <a:off x="7072457" y="-14592"/>
            <a:ext cx="2600128" cy="6923245"/>
          </a:xfrm>
          <a:prstGeom prst="rect">
            <a:avLst/>
          </a:prstGeom>
        </p:spPr>
      </p:pic>
    </p:spTree>
    <p:extLst>
      <p:ext uri="{BB962C8B-B14F-4D97-AF65-F5344CB8AC3E}">
        <p14:creationId xmlns:p14="http://schemas.microsoft.com/office/powerpoint/2010/main" val="219529609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119488" y="554421"/>
            <a:ext cx="4820230" cy="623844"/>
          </a:xfrm>
        </p:spPr>
        <p:txBody>
          <a:bodyPr>
            <a:normAutofit fontScale="90000"/>
          </a:bodyPr>
          <a:lstStyle/>
          <a:p>
            <a:pPr>
              <a:lnSpc>
                <a:spcPct val="100000"/>
              </a:lnSpc>
            </a:pPr>
            <a:r>
              <a:rPr lang="en-US" altLang="zh-TW" sz="2800" dirty="0">
                <a:solidFill>
                  <a:srgbClr val="0066CC"/>
                </a:solidFill>
                <a:latin typeface="Aharoni" pitchFamily="2" charset="-79"/>
                <a:cs typeface="Aharoni" pitchFamily="2" charset="-79"/>
              </a:rPr>
              <a:t>Page Replacement Algorithms</a:t>
            </a:r>
          </a:p>
        </p:txBody>
      </p:sp>
      <p:sp>
        <p:nvSpPr>
          <p:cNvPr id="2" name="TextBox 1">
            <a:extLst>
              <a:ext uri="{FF2B5EF4-FFF2-40B4-BE49-F238E27FC236}">
                <a16:creationId xmlns:a16="http://schemas.microsoft.com/office/drawing/2014/main" id="{1FAB4699-1A50-E996-2944-D3C609BFA1FB}"/>
              </a:ext>
            </a:extLst>
          </p:cNvPr>
          <p:cNvSpPr txBox="1"/>
          <p:nvPr/>
        </p:nvSpPr>
        <p:spPr>
          <a:xfrm>
            <a:off x="881974" y="1577447"/>
            <a:ext cx="4028923" cy="400110"/>
          </a:xfrm>
          <a:prstGeom prst="rect">
            <a:avLst/>
          </a:prstGeom>
          <a:noFill/>
        </p:spPr>
        <p:txBody>
          <a:bodyPr wrap="none" rtlCol="0">
            <a:spAutoFit/>
          </a:bodyPr>
          <a:lstStyle/>
          <a:p>
            <a:r>
              <a:rPr lang="en-IN" sz="2000" dirty="0">
                <a:solidFill>
                  <a:srgbClr val="C00000"/>
                </a:solidFill>
                <a:highlight>
                  <a:srgbClr val="FFFF00"/>
                </a:highlight>
                <a:latin typeface="Times New Roman" pitchFamily="18" charset="0"/>
                <a:cs typeface="Times New Roman" pitchFamily="18" charset="0"/>
              </a:rPr>
              <a:t>First In First Out (FIFO) Algorithm:</a:t>
            </a:r>
          </a:p>
        </p:txBody>
      </p:sp>
      <p:sp>
        <p:nvSpPr>
          <p:cNvPr id="6" name="TextBox 5">
            <a:extLst>
              <a:ext uri="{FF2B5EF4-FFF2-40B4-BE49-F238E27FC236}">
                <a16:creationId xmlns:a16="http://schemas.microsoft.com/office/drawing/2014/main" id="{8C5360C2-12D9-899F-DE37-185FF337DDF4}"/>
              </a:ext>
            </a:extLst>
          </p:cNvPr>
          <p:cNvSpPr txBox="1"/>
          <p:nvPr/>
        </p:nvSpPr>
        <p:spPr>
          <a:xfrm>
            <a:off x="881974" y="2210544"/>
            <a:ext cx="6094378" cy="880819"/>
          </a:xfrm>
          <a:prstGeom prst="rect">
            <a:avLst/>
          </a:prstGeom>
          <a:noFill/>
        </p:spPr>
        <p:txBody>
          <a:bodyPr wrap="square">
            <a:spAutoFit/>
          </a:bodyPr>
          <a:lstStyle/>
          <a:p>
            <a:pPr algn="just">
              <a:lnSpc>
                <a:spcPct val="150000"/>
              </a:lnSpc>
            </a:pPr>
            <a:r>
              <a:rPr lang="en-IN" sz="1800" b="0" i="0" u="none" strike="noStrike" baseline="0" dirty="0">
                <a:solidFill>
                  <a:srgbClr val="231F20"/>
                </a:solidFill>
                <a:latin typeface="Palatino-Roman"/>
              </a:rPr>
              <a:t>Reference String:</a:t>
            </a:r>
          </a:p>
          <a:p>
            <a:pPr algn="just">
              <a:lnSpc>
                <a:spcPct val="150000"/>
              </a:lnSpc>
            </a:pPr>
            <a:r>
              <a:rPr lang="en-IN" sz="1800" b="0" i="0" u="none" strike="noStrike" baseline="0" dirty="0">
                <a:solidFill>
                  <a:srgbClr val="231F20"/>
                </a:solidFill>
                <a:latin typeface="Palatino-Roman"/>
              </a:rPr>
              <a:t>1, 2, 3, 4, 1, 2, 5, 1, 2, 3, 4, 5</a:t>
            </a:r>
            <a:endParaRPr lang="en-IN" dirty="0"/>
          </a:p>
        </p:txBody>
      </p:sp>
      <p:pic>
        <p:nvPicPr>
          <p:cNvPr id="5" name="Picture 4">
            <a:extLst>
              <a:ext uri="{FF2B5EF4-FFF2-40B4-BE49-F238E27FC236}">
                <a16:creationId xmlns:a16="http://schemas.microsoft.com/office/drawing/2014/main" id="{4ED90DD7-1062-F94B-E979-4C0BDF1086F1}"/>
              </a:ext>
            </a:extLst>
          </p:cNvPr>
          <p:cNvPicPr>
            <a:picLocks noChangeAspect="1"/>
          </p:cNvPicPr>
          <p:nvPr/>
        </p:nvPicPr>
        <p:blipFill rotWithShape="1">
          <a:blip r:embed="rId3">
            <a:extLst>
              <a:ext uri="{28A0092B-C50C-407E-A947-70E740481C1C}">
                <a14:useLocalDpi xmlns:a14="http://schemas.microsoft.com/office/drawing/2010/main" val="0"/>
              </a:ext>
            </a:extLst>
          </a:blip>
          <a:srcRect l="47162" t="18558" r="34554" b="11156"/>
          <a:stretch/>
        </p:blipFill>
        <p:spPr>
          <a:xfrm rot="16200000">
            <a:off x="6569042" y="-148660"/>
            <a:ext cx="2789334" cy="8069090"/>
          </a:xfrm>
          <a:prstGeom prst="rect">
            <a:avLst/>
          </a:prstGeom>
        </p:spPr>
      </p:pic>
    </p:spTree>
    <p:extLst>
      <p:ext uri="{BB962C8B-B14F-4D97-AF65-F5344CB8AC3E}">
        <p14:creationId xmlns:p14="http://schemas.microsoft.com/office/powerpoint/2010/main" val="336032641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119488" y="554421"/>
            <a:ext cx="4820230" cy="623844"/>
          </a:xfrm>
        </p:spPr>
        <p:txBody>
          <a:bodyPr>
            <a:normAutofit fontScale="90000"/>
          </a:bodyPr>
          <a:lstStyle/>
          <a:p>
            <a:pPr>
              <a:lnSpc>
                <a:spcPct val="100000"/>
              </a:lnSpc>
            </a:pPr>
            <a:r>
              <a:rPr lang="en-US" altLang="zh-TW" sz="2800" dirty="0">
                <a:solidFill>
                  <a:srgbClr val="0066CC"/>
                </a:solidFill>
                <a:latin typeface="Aharoni" pitchFamily="2" charset="-79"/>
                <a:cs typeface="Aharoni" pitchFamily="2" charset="-79"/>
              </a:rPr>
              <a:t>Page Replacement Algorithms</a:t>
            </a:r>
          </a:p>
        </p:txBody>
      </p:sp>
      <p:sp>
        <p:nvSpPr>
          <p:cNvPr id="2" name="TextBox 1">
            <a:extLst>
              <a:ext uri="{FF2B5EF4-FFF2-40B4-BE49-F238E27FC236}">
                <a16:creationId xmlns:a16="http://schemas.microsoft.com/office/drawing/2014/main" id="{1FAB4699-1A50-E996-2944-D3C609BFA1FB}"/>
              </a:ext>
            </a:extLst>
          </p:cNvPr>
          <p:cNvSpPr txBox="1"/>
          <p:nvPr/>
        </p:nvSpPr>
        <p:spPr>
          <a:xfrm>
            <a:off x="881974" y="1577447"/>
            <a:ext cx="4028923" cy="400110"/>
          </a:xfrm>
          <a:prstGeom prst="rect">
            <a:avLst/>
          </a:prstGeom>
          <a:noFill/>
        </p:spPr>
        <p:txBody>
          <a:bodyPr wrap="none" rtlCol="0">
            <a:spAutoFit/>
          </a:bodyPr>
          <a:lstStyle/>
          <a:p>
            <a:r>
              <a:rPr lang="en-IN" sz="2000" dirty="0">
                <a:solidFill>
                  <a:srgbClr val="C00000"/>
                </a:solidFill>
                <a:highlight>
                  <a:srgbClr val="FFFF00"/>
                </a:highlight>
                <a:latin typeface="Times New Roman" pitchFamily="18" charset="0"/>
                <a:cs typeface="Times New Roman" pitchFamily="18" charset="0"/>
              </a:rPr>
              <a:t>First In First Out (FIFO) Algorithm:</a:t>
            </a:r>
          </a:p>
        </p:txBody>
      </p:sp>
      <p:sp>
        <p:nvSpPr>
          <p:cNvPr id="6" name="TextBox 5">
            <a:extLst>
              <a:ext uri="{FF2B5EF4-FFF2-40B4-BE49-F238E27FC236}">
                <a16:creationId xmlns:a16="http://schemas.microsoft.com/office/drawing/2014/main" id="{8C5360C2-12D9-899F-DE37-185FF337DDF4}"/>
              </a:ext>
            </a:extLst>
          </p:cNvPr>
          <p:cNvSpPr txBox="1"/>
          <p:nvPr/>
        </p:nvSpPr>
        <p:spPr>
          <a:xfrm>
            <a:off x="881974" y="2210544"/>
            <a:ext cx="6094378" cy="880819"/>
          </a:xfrm>
          <a:prstGeom prst="rect">
            <a:avLst/>
          </a:prstGeom>
          <a:noFill/>
        </p:spPr>
        <p:txBody>
          <a:bodyPr wrap="square">
            <a:spAutoFit/>
          </a:bodyPr>
          <a:lstStyle/>
          <a:p>
            <a:pPr algn="just">
              <a:lnSpc>
                <a:spcPct val="150000"/>
              </a:lnSpc>
            </a:pPr>
            <a:r>
              <a:rPr lang="en-IN" sz="1800" b="0" i="0" u="none" strike="noStrike" baseline="0" dirty="0">
                <a:solidFill>
                  <a:srgbClr val="231F20"/>
                </a:solidFill>
                <a:latin typeface="Palatino-Roman"/>
              </a:rPr>
              <a:t>Reference String:</a:t>
            </a:r>
          </a:p>
          <a:p>
            <a:pPr algn="just">
              <a:lnSpc>
                <a:spcPct val="150000"/>
              </a:lnSpc>
            </a:pPr>
            <a:r>
              <a:rPr lang="en-IN" sz="1800" b="0" i="0" u="none" strike="noStrike" baseline="0" dirty="0">
                <a:solidFill>
                  <a:srgbClr val="231F20"/>
                </a:solidFill>
                <a:latin typeface="Palatino-Roman"/>
              </a:rPr>
              <a:t>1, 2, 3, 4, 1, 2, 5, 1, 2, 3, 4, 5</a:t>
            </a:r>
            <a:endParaRPr lang="en-IN" dirty="0"/>
          </a:p>
        </p:txBody>
      </p:sp>
      <p:sp>
        <p:nvSpPr>
          <p:cNvPr id="8" name="TextBox 7">
            <a:extLst>
              <a:ext uri="{FF2B5EF4-FFF2-40B4-BE49-F238E27FC236}">
                <a16:creationId xmlns:a16="http://schemas.microsoft.com/office/drawing/2014/main" id="{3D0E3A03-3366-7B86-02FB-3AE63DE88025}"/>
              </a:ext>
            </a:extLst>
          </p:cNvPr>
          <p:cNvSpPr txBox="1"/>
          <p:nvPr/>
        </p:nvSpPr>
        <p:spPr>
          <a:xfrm>
            <a:off x="4423747" y="2314508"/>
            <a:ext cx="6951511" cy="2805063"/>
          </a:xfrm>
          <a:prstGeom prst="rect">
            <a:avLst/>
          </a:prstGeom>
          <a:noFill/>
          <a:ln>
            <a:solidFill>
              <a:srgbClr val="ED682F"/>
            </a:solidFill>
          </a:ln>
        </p:spPr>
        <p:txBody>
          <a:bodyPr wrap="square">
            <a:spAutoFit/>
          </a:bodyPr>
          <a:lstStyle/>
          <a:p>
            <a:pPr algn="just">
              <a:lnSpc>
                <a:spcPct val="150000"/>
              </a:lnSpc>
            </a:pPr>
            <a:r>
              <a:rPr lang="en-US" sz="2400" b="0" i="0" u="none" strike="noStrike" baseline="0" dirty="0">
                <a:solidFill>
                  <a:srgbClr val="231F20"/>
                </a:solidFill>
              </a:rPr>
              <a:t>Notice that the number of faults for four frames (ten) is </a:t>
            </a:r>
            <a:r>
              <a:rPr lang="en-US" sz="2400" b="1" i="1" u="none" strike="noStrike" baseline="0" dirty="0">
                <a:solidFill>
                  <a:srgbClr val="231F20"/>
                </a:solidFill>
              </a:rPr>
              <a:t>greater </a:t>
            </a:r>
            <a:r>
              <a:rPr lang="en-US" sz="2400" b="0" i="0" u="none" strike="noStrike" baseline="0" dirty="0">
                <a:solidFill>
                  <a:srgbClr val="231F20"/>
                </a:solidFill>
              </a:rPr>
              <a:t>than the number of faults for three frames (nine)! </a:t>
            </a:r>
          </a:p>
          <a:p>
            <a:pPr algn="just">
              <a:lnSpc>
                <a:spcPct val="150000"/>
              </a:lnSpc>
            </a:pPr>
            <a:r>
              <a:rPr lang="en-US" sz="2400" b="0" i="0" u="none" strike="noStrike" baseline="0" dirty="0">
                <a:solidFill>
                  <a:srgbClr val="231F20"/>
                </a:solidFill>
              </a:rPr>
              <a:t>This most unexpected result is known as </a:t>
            </a:r>
            <a:r>
              <a:rPr lang="en-US" sz="2400" b="1" i="0" u="none" strike="noStrike" baseline="0" dirty="0" err="1">
                <a:solidFill>
                  <a:srgbClr val="00AEF0"/>
                </a:solidFill>
              </a:rPr>
              <a:t>Belady’s</a:t>
            </a:r>
            <a:r>
              <a:rPr lang="en-US" sz="2400" b="1" i="0" u="none" strike="noStrike" baseline="0" dirty="0">
                <a:solidFill>
                  <a:srgbClr val="00AEF0"/>
                </a:solidFill>
              </a:rPr>
              <a:t> Anomaly</a:t>
            </a:r>
            <a:r>
              <a:rPr lang="en-US" sz="2400" b="0" i="0" u="none" strike="noStrike" baseline="0" dirty="0">
                <a:solidFill>
                  <a:srgbClr val="231F20"/>
                </a:solidFill>
              </a:rPr>
              <a:t>:</a:t>
            </a:r>
            <a:endParaRPr lang="en-IN" sz="2400" dirty="0"/>
          </a:p>
        </p:txBody>
      </p:sp>
    </p:spTree>
    <p:extLst>
      <p:ext uri="{BB962C8B-B14F-4D97-AF65-F5344CB8AC3E}">
        <p14:creationId xmlns:p14="http://schemas.microsoft.com/office/powerpoint/2010/main" val="295839864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119488" y="554421"/>
            <a:ext cx="4820230" cy="623844"/>
          </a:xfrm>
        </p:spPr>
        <p:txBody>
          <a:bodyPr>
            <a:normAutofit fontScale="90000"/>
          </a:bodyPr>
          <a:lstStyle/>
          <a:p>
            <a:pPr>
              <a:lnSpc>
                <a:spcPct val="100000"/>
              </a:lnSpc>
            </a:pPr>
            <a:r>
              <a:rPr lang="en-US" altLang="zh-TW" sz="2800" dirty="0">
                <a:solidFill>
                  <a:srgbClr val="0066CC"/>
                </a:solidFill>
                <a:latin typeface="Aharoni" pitchFamily="2" charset="-79"/>
                <a:cs typeface="Aharoni" pitchFamily="2" charset="-79"/>
              </a:rPr>
              <a:t>Page Replacement Algorithms</a:t>
            </a:r>
          </a:p>
        </p:txBody>
      </p:sp>
      <p:sp>
        <p:nvSpPr>
          <p:cNvPr id="2" name="TextBox 1">
            <a:extLst>
              <a:ext uri="{FF2B5EF4-FFF2-40B4-BE49-F238E27FC236}">
                <a16:creationId xmlns:a16="http://schemas.microsoft.com/office/drawing/2014/main" id="{1FAB4699-1A50-E996-2944-D3C609BFA1FB}"/>
              </a:ext>
            </a:extLst>
          </p:cNvPr>
          <p:cNvSpPr txBox="1"/>
          <p:nvPr/>
        </p:nvSpPr>
        <p:spPr>
          <a:xfrm>
            <a:off x="881974" y="1577447"/>
            <a:ext cx="3050835" cy="400110"/>
          </a:xfrm>
          <a:prstGeom prst="rect">
            <a:avLst/>
          </a:prstGeom>
          <a:noFill/>
        </p:spPr>
        <p:txBody>
          <a:bodyPr wrap="none" rtlCol="0">
            <a:spAutoFit/>
          </a:bodyPr>
          <a:lstStyle/>
          <a:p>
            <a:r>
              <a:rPr lang="en-IN" sz="2000" dirty="0">
                <a:solidFill>
                  <a:srgbClr val="C00000"/>
                </a:solidFill>
                <a:highlight>
                  <a:srgbClr val="FFFF00"/>
                </a:highlight>
                <a:latin typeface="Times New Roman" pitchFamily="18" charset="0"/>
                <a:cs typeface="Times New Roman" pitchFamily="18" charset="0"/>
              </a:rPr>
              <a:t>Optimal Page Replacement </a:t>
            </a:r>
          </a:p>
        </p:txBody>
      </p:sp>
      <p:sp>
        <p:nvSpPr>
          <p:cNvPr id="5" name="TextBox 4">
            <a:extLst>
              <a:ext uri="{FF2B5EF4-FFF2-40B4-BE49-F238E27FC236}">
                <a16:creationId xmlns:a16="http://schemas.microsoft.com/office/drawing/2014/main" id="{70326AB9-58B6-FB52-33F5-DD597C64A218}"/>
              </a:ext>
            </a:extLst>
          </p:cNvPr>
          <p:cNvSpPr txBox="1"/>
          <p:nvPr/>
        </p:nvSpPr>
        <p:spPr>
          <a:xfrm>
            <a:off x="881974" y="2332821"/>
            <a:ext cx="10577209" cy="1143070"/>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solidFill>
                  <a:srgbClr val="231F20"/>
                </a:solidFill>
              </a:rPr>
              <a:t>T</a:t>
            </a:r>
            <a:r>
              <a:rPr lang="en-US" sz="2400" b="0" i="0" u="none" strike="noStrike" baseline="0" dirty="0">
                <a:solidFill>
                  <a:srgbClr val="231F20"/>
                </a:solidFill>
              </a:rPr>
              <a:t>he algorithm that has the lowest page-fault rate of all algorithms and will never suffer from </a:t>
            </a:r>
            <a:r>
              <a:rPr lang="en-US" sz="2400" b="0" i="0" u="none" strike="noStrike" baseline="0" dirty="0" err="1">
                <a:solidFill>
                  <a:srgbClr val="231F20"/>
                </a:solidFill>
              </a:rPr>
              <a:t>Belady’s</a:t>
            </a:r>
            <a:r>
              <a:rPr lang="en-US" sz="2400" b="0" i="0" u="none" strike="noStrike" baseline="0" dirty="0">
                <a:solidFill>
                  <a:srgbClr val="231F20"/>
                </a:solidFill>
              </a:rPr>
              <a:t> Anomaly.</a:t>
            </a:r>
            <a:endParaRPr lang="en-IN" sz="2400" dirty="0"/>
          </a:p>
        </p:txBody>
      </p:sp>
      <p:sp>
        <p:nvSpPr>
          <p:cNvPr id="9" name="TextBox 8">
            <a:extLst>
              <a:ext uri="{FF2B5EF4-FFF2-40B4-BE49-F238E27FC236}">
                <a16:creationId xmlns:a16="http://schemas.microsoft.com/office/drawing/2014/main" id="{F6C4ED0A-122C-0816-D3F5-E072E1B92CB6}"/>
              </a:ext>
            </a:extLst>
          </p:cNvPr>
          <p:cNvSpPr txBox="1"/>
          <p:nvPr/>
        </p:nvSpPr>
        <p:spPr>
          <a:xfrm>
            <a:off x="1891825" y="4041375"/>
            <a:ext cx="8866966" cy="589072"/>
          </a:xfrm>
          <a:prstGeom prst="rect">
            <a:avLst/>
          </a:prstGeom>
          <a:noFill/>
        </p:spPr>
        <p:txBody>
          <a:bodyPr wrap="square">
            <a:spAutoFit/>
          </a:bodyPr>
          <a:lstStyle/>
          <a:p>
            <a:pPr algn="just">
              <a:lnSpc>
                <a:spcPct val="150000"/>
              </a:lnSpc>
            </a:pPr>
            <a:r>
              <a:rPr lang="en-US" sz="2400" dirty="0">
                <a:solidFill>
                  <a:srgbClr val="231F20"/>
                </a:solidFill>
                <a:highlight>
                  <a:srgbClr val="00FFFF"/>
                </a:highlight>
              </a:rPr>
              <a:t>Replace the page that will not be used for the longest period of time.</a:t>
            </a:r>
            <a:endParaRPr lang="en-IN" sz="2400" dirty="0">
              <a:solidFill>
                <a:srgbClr val="231F20"/>
              </a:solidFill>
              <a:highlight>
                <a:srgbClr val="00FFFF"/>
              </a:highlight>
            </a:endParaRPr>
          </a:p>
        </p:txBody>
      </p:sp>
    </p:spTree>
    <p:extLst>
      <p:ext uri="{BB962C8B-B14F-4D97-AF65-F5344CB8AC3E}">
        <p14:creationId xmlns:p14="http://schemas.microsoft.com/office/powerpoint/2010/main" val="421363174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119488" y="554421"/>
            <a:ext cx="4820230" cy="623844"/>
          </a:xfrm>
        </p:spPr>
        <p:txBody>
          <a:bodyPr>
            <a:normAutofit fontScale="90000"/>
          </a:bodyPr>
          <a:lstStyle/>
          <a:p>
            <a:pPr>
              <a:lnSpc>
                <a:spcPct val="100000"/>
              </a:lnSpc>
            </a:pPr>
            <a:r>
              <a:rPr lang="en-US" altLang="zh-TW" sz="2800" dirty="0">
                <a:solidFill>
                  <a:srgbClr val="0066CC"/>
                </a:solidFill>
                <a:latin typeface="Aharoni" pitchFamily="2" charset="-79"/>
                <a:cs typeface="Aharoni" pitchFamily="2" charset="-79"/>
              </a:rPr>
              <a:t>Page Replacement Algorithms</a:t>
            </a:r>
          </a:p>
        </p:txBody>
      </p:sp>
      <p:sp>
        <p:nvSpPr>
          <p:cNvPr id="2" name="TextBox 1">
            <a:extLst>
              <a:ext uri="{FF2B5EF4-FFF2-40B4-BE49-F238E27FC236}">
                <a16:creationId xmlns:a16="http://schemas.microsoft.com/office/drawing/2014/main" id="{1FAB4699-1A50-E996-2944-D3C609BFA1FB}"/>
              </a:ext>
            </a:extLst>
          </p:cNvPr>
          <p:cNvSpPr txBox="1"/>
          <p:nvPr/>
        </p:nvSpPr>
        <p:spPr>
          <a:xfrm>
            <a:off x="881974" y="1577447"/>
            <a:ext cx="3050835" cy="400110"/>
          </a:xfrm>
          <a:prstGeom prst="rect">
            <a:avLst/>
          </a:prstGeom>
          <a:noFill/>
        </p:spPr>
        <p:txBody>
          <a:bodyPr wrap="none" rtlCol="0">
            <a:spAutoFit/>
          </a:bodyPr>
          <a:lstStyle/>
          <a:p>
            <a:r>
              <a:rPr lang="en-IN" sz="2000" dirty="0">
                <a:solidFill>
                  <a:srgbClr val="C00000"/>
                </a:solidFill>
                <a:highlight>
                  <a:srgbClr val="FFFF00"/>
                </a:highlight>
                <a:latin typeface="Times New Roman" pitchFamily="18" charset="0"/>
                <a:cs typeface="Times New Roman" pitchFamily="18" charset="0"/>
              </a:rPr>
              <a:t>Optimal Page Replacement </a:t>
            </a:r>
          </a:p>
        </p:txBody>
      </p:sp>
      <p:pic>
        <p:nvPicPr>
          <p:cNvPr id="4" name="Picture 2">
            <a:extLst>
              <a:ext uri="{FF2B5EF4-FFF2-40B4-BE49-F238E27FC236}">
                <a16:creationId xmlns:a16="http://schemas.microsoft.com/office/drawing/2014/main" id="{96A4E8A9-D766-9700-1FCA-1E99207305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2753" y="2253974"/>
            <a:ext cx="9042740" cy="324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a:extLst>
              <a:ext uri="{FF2B5EF4-FFF2-40B4-BE49-F238E27FC236}">
                <a16:creationId xmlns:a16="http://schemas.microsoft.com/office/drawing/2014/main" id="{C916DEBD-94DC-BE6B-E184-210EFCB71475}"/>
              </a:ext>
            </a:extLst>
          </p:cNvPr>
          <p:cNvSpPr txBox="1"/>
          <p:nvPr/>
        </p:nvSpPr>
        <p:spPr>
          <a:xfrm>
            <a:off x="8414426" y="1561768"/>
            <a:ext cx="2167453" cy="369332"/>
          </a:xfrm>
          <a:prstGeom prst="rect">
            <a:avLst/>
          </a:prstGeom>
          <a:noFill/>
        </p:spPr>
        <p:txBody>
          <a:bodyPr wrap="none" rtlCol="0">
            <a:spAutoFit/>
          </a:bodyPr>
          <a:lstStyle/>
          <a:p>
            <a:r>
              <a:rPr lang="en-IN" dirty="0">
                <a:highlight>
                  <a:srgbClr val="00FFFF"/>
                </a:highlight>
              </a:rPr>
              <a:t>No. of Page faults = 9</a:t>
            </a:r>
          </a:p>
        </p:txBody>
      </p:sp>
    </p:spTree>
    <p:extLst>
      <p:ext uri="{BB962C8B-B14F-4D97-AF65-F5344CB8AC3E}">
        <p14:creationId xmlns:p14="http://schemas.microsoft.com/office/powerpoint/2010/main" val="32942914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119488" y="554421"/>
            <a:ext cx="4820230" cy="623844"/>
          </a:xfrm>
        </p:spPr>
        <p:txBody>
          <a:bodyPr>
            <a:normAutofit fontScale="90000"/>
          </a:bodyPr>
          <a:lstStyle/>
          <a:p>
            <a:pPr>
              <a:lnSpc>
                <a:spcPct val="100000"/>
              </a:lnSpc>
            </a:pPr>
            <a:r>
              <a:rPr lang="en-US" altLang="zh-TW" sz="2800" dirty="0">
                <a:solidFill>
                  <a:srgbClr val="0066CC"/>
                </a:solidFill>
                <a:latin typeface="Aharoni" pitchFamily="2" charset="-79"/>
                <a:cs typeface="Aharoni" pitchFamily="2" charset="-79"/>
              </a:rPr>
              <a:t>Page Replacement Algorithms</a:t>
            </a:r>
          </a:p>
        </p:txBody>
      </p:sp>
      <p:sp>
        <p:nvSpPr>
          <p:cNvPr id="2" name="TextBox 1">
            <a:extLst>
              <a:ext uri="{FF2B5EF4-FFF2-40B4-BE49-F238E27FC236}">
                <a16:creationId xmlns:a16="http://schemas.microsoft.com/office/drawing/2014/main" id="{1FAB4699-1A50-E996-2944-D3C609BFA1FB}"/>
              </a:ext>
            </a:extLst>
          </p:cNvPr>
          <p:cNvSpPr txBox="1"/>
          <p:nvPr/>
        </p:nvSpPr>
        <p:spPr>
          <a:xfrm>
            <a:off x="881974" y="1577447"/>
            <a:ext cx="2727029" cy="400110"/>
          </a:xfrm>
          <a:prstGeom prst="rect">
            <a:avLst/>
          </a:prstGeom>
          <a:noFill/>
        </p:spPr>
        <p:txBody>
          <a:bodyPr wrap="none" rtlCol="0">
            <a:spAutoFit/>
          </a:bodyPr>
          <a:lstStyle/>
          <a:p>
            <a:r>
              <a:rPr lang="en-IN" sz="2000" dirty="0">
                <a:solidFill>
                  <a:srgbClr val="C00000"/>
                </a:solidFill>
                <a:highlight>
                  <a:srgbClr val="FFFF00"/>
                </a:highlight>
                <a:latin typeface="Times New Roman" pitchFamily="18" charset="0"/>
                <a:cs typeface="Times New Roman" pitchFamily="18" charset="0"/>
              </a:rPr>
              <a:t>LRU Page Replacement </a:t>
            </a:r>
          </a:p>
        </p:txBody>
      </p:sp>
      <p:sp>
        <p:nvSpPr>
          <p:cNvPr id="6" name="TextBox 5">
            <a:extLst>
              <a:ext uri="{FF2B5EF4-FFF2-40B4-BE49-F238E27FC236}">
                <a16:creationId xmlns:a16="http://schemas.microsoft.com/office/drawing/2014/main" id="{9FBC77DD-2926-1DD3-4208-5902CA8355D1}"/>
              </a:ext>
            </a:extLst>
          </p:cNvPr>
          <p:cNvSpPr txBox="1"/>
          <p:nvPr/>
        </p:nvSpPr>
        <p:spPr>
          <a:xfrm>
            <a:off x="881973" y="2601803"/>
            <a:ext cx="10742579" cy="225106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b="1" i="0" u="none" strike="noStrike" baseline="0" dirty="0">
                <a:solidFill>
                  <a:srgbClr val="00AEF0"/>
                </a:solidFill>
              </a:rPr>
              <a:t>Least Recently Used (LRU) algorithm</a:t>
            </a:r>
            <a:r>
              <a:rPr lang="en-IN" sz="2400" b="0" i="0" u="none" strike="noStrike" baseline="0" dirty="0">
                <a:solidFill>
                  <a:srgbClr val="231F20"/>
                </a:solidFill>
              </a:rPr>
              <a:t>.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LRU replacement associates with each page the time of that page’s last use. </a:t>
            </a:r>
          </a:p>
          <a:p>
            <a:pPr marL="342900" indent="-342900" algn="just">
              <a:lnSpc>
                <a:spcPct val="150000"/>
              </a:lnSpc>
              <a:buFont typeface="Arial" panose="020B0604020202020204" pitchFamily="34" charset="0"/>
              <a:buChar char="•"/>
            </a:pPr>
            <a:r>
              <a:rPr lang="en-US" sz="2400" b="0" i="0" u="none" strike="noStrike" baseline="0" dirty="0">
                <a:solidFill>
                  <a:srgbClr val="231F20"/>
                </a:solidFill>
              </a:rPr>
              <a:t>When a page must be replaced, LRU chooses the page that has not been used for the longest period.</a:t>
            </a:r>
            <a:endParaRPr lang="en-IN" sz="2400" dirty="0"/>
          </a:p>
        </p:txBody>
      </p:sp>
    </p:spTree>
    <p:extLst>
      <p:ext uri="{BB962C8B-B14F-4D97-AF65-F5344CB8AC3E}">
        <p14:creationId xmlns:p14="http://schemas.microsoft.com/office/powerpoint/2010/main" val="398066026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119488" y="554421"/>
            <a:ext cx="4820230" cy="623844"/>
          </a:xfrm>
        </p:spPr>
        <p:txBody>
          <a:bodyPr>
            <a:normAutofit fontScale="90000"/>
          </a:bodyPr>
          <a:lstStyle/>
          <a:p>
            <a:pPr>
              <a:lnSpc>
                <a:spcPct val="100000"/>
              </a:lnSpc>
            </a:pPr>
            <a:r>
              <a:rPr lang="en-US" altLang="zh-TW" sz="2800" dirty="0">
                <a:solidFill>
                  <a:srgbClr val="0066CC"/>
                </a:solidFill>
                <a:latin typeface="Aharoni" pitchFamily="2" charset="-79"/>
                <a:cs typeface="Aharoni" pitchFamily="2" charset="-79"/>
              </a:rPr>
              <a:t>Page Replacement Algorithms</a:t>
            </a:r>
          </a:p>
        </p:txBody>
      </p:sp>
      <p:sp>
        <p:nvSpPr>
          <p:cNvPr id="2" name="TextBox 1">
            <a:extLst>
              <a:ext uri="{FF2B5EF4-FFF2-40B4-BE49-F238E27FC236}">
                <a16:creationId xmlns:a16="http://schemas.microsoft.com/office/drawing/2014/main" id="{1FAB4699-1A50-E996-2944-D3C609BFA1FB}"/>
              </a:ext>
            </a:extLst>
          </p:cNvPr>
          <p:cNvSpPr txBox="1"/>
          <p:nvPr/>
        </p:nvSpPr>
        <p:spPr>
          <a:xfrm>
            <a:off x="881974" y="1577447"/>
            <a:ext cx="2727029" cy="400110"/>
          </a:xfrm>
          <a:prstGeom prst="rect">
            <a:avLst/>
          </a:prstGeom>
          <a:noFill/>
        </p:spPr>
        <p:txBody>
          <a:bodyPr wrap="none" rtlCol="0">
            <a:spAutoFit/>
          </a:bodyPr>
          <a:lstStyle/>
          <a:p>
            <a:r>
              <a:rPr lang="en-IN" sz="2000" dirty="0">
                <a:solidFill>
                  <a:srgbClr val="C00000"/>
                </a:solidFill>
                <a:highlight>
                  <a:srgbClr val="FFFF00"/>
                </a:highlight>
                <a:latin typeface="Times New Roman" pitchFamily="18" charset="0"/>
                <a:cs typeface="Times New Roman" pitchFamily="18" charset="0"/>
              </a:rPr>
              <a:t>LRU Page Replacement </a:t>
            </a:r>
          </a:p>
        </p:txBody>
      </p:sp>
      <p:sp>
        <p:nvSpPr>
          <p:cNvPr id="7" name="TextBox 6">
            <a:extLst>
              <a:ext uri="{FF2B5EF4-FFF2-40B4-BE49-F238E27FC236}">
                <a16:creationId xmlns:a16="http://schemas.microsoft.com/office/drawing/2014/main" id="{C916DEBD-94DC-BE6B-E184-210EFCB71475}"/>
              </a:ext>
            </a:extLst>
          </p:cNvPr>
          <p:cNvSpPr txBox="1"/>
          <p:nvPr/>
        </p:nvSpPr>
        <p:spPr>
          <a:xfrm>
            <a:off x="8414426" y="1561768"/>
            <a:ext cx="2284472" cy="369332"/>
          </a:xfrm>
          <a:prstGeom prst="rect">
            <a:avLst/>
          </a:prstGeom>
          <a:noFill/>
        </p:spPr>
        <p:txBody>
          <a:bodyPr wrap="none" rtlCol="0">
            <a:spAutoFit/>
          </a:bodyPr>
          <a:lstStyle/>
          <a:p>
            <a:r>
              <a:rPr lang="en-IN" dirty="0">
                <a:highlight>
                  <a:srgbClr val="00FFFF"/>
                </a:highlight>
              </a:rPr>
              <a:t>No. of Page faults = 12</a:t>
            </a:r>
          </a:p>
        </p:txBody>
      </p:sp>
      <p:pic>
        <p:nvPicPr>
          <p:cNvPr id="4" name="Picture 2">
            <a:extLst>
              <a:ext uri="{FF2B5EF4-FFF2-40B4-BE49-F238E27FC236}">
                <a16:creationId xmlns:a16="http://schemas.microsoft.com/office/drawing/2014/main" id="{CD7324B0-D42C-6354-1EFD-F14D608154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1029" y="2314603"/>
            <a:ext cx="9679669" cy="3652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546965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119488" y="554421"/>
            <a:ext cx="4820230" cy="623844"/>
          </a:xfrm>
        </p:spPr>
        <p:txBody>
          <a:bodyPr>
            <a:normAutofit fontScale="90000"/>
          </a:bodyPr>
          <a:lstStyle/>
          <a:p>
            <a:pPr>
              <a:lnSpc>
                <a:spcPct val="100000"/>
              </a:lnSpc>
            </a:pPr>
            <a:r>
              <a:rPr lang="en-US" altLang="zh-TW" sz="2800" dirty="0">
                <a:solidFill>
                  <a:srgbClr val="0066CC"/>
                </a:solidFill>
                <a:latin typeface="Aharoni" pitchFamily="2" charset="-79"/>
                <a:cs typeface="Aharoni" pitchFamily="2" charset="-79"/>
              </a:rPr>
              <a:t>Page Replacement Algorithms</a:t>
            </a:r>
          </a:p>
        </p:txBody>
      </p:sp>
      <p:sp>
        <p:nvSpPr>
          <p:cNvPr id="6" name="TextBox 5">
            <a:extLst>
              <a:ext uri="{FF2B5EF4-FFF2-40B4-BE49-F238E27FC236}">
                <a16:creationId xmlns:a16="http://schemas.microsoft.com/office/drawing/2014/main" id="{28897EE5-8976-84D4-3CDA-79228E421958}"/>
              </a:ext>
            </a:extLst>
          </p:cNvPr>
          <p:cNvSpPr txBox="1"/>
          <p:nvPr/>
        </p:nvSpPr>
        <p:spPr>
          <a:xfrm>
            <a:off x="881974" y="1935075"/>
            <a:ext cx="10211612" cy="2435731"/>
          </a:xfrm>
          <a:prstGeom prst="rect">
            <a:avLst/>
          </a:prstGeom>
          <a:noFill/>
        </p:spPr>
        <p:txBody>
          <a:bodyPr wrap="square">
            <a:spAutoFit/>
          </a:bodyPr>
          <a:lstStyle/>
          <a:p>
            <a:pPr algn="just">
              <a:lnSpc>
                <a:spcPct val="150000"/>
              </a:lnSpc>
            </a:pPr>
            <a:r>
              <a:rPr lang="en-IN" sz="2400" dirty="0"/>
              <a:t>Given page reference string: </a:t>
            </a:r>
          </a:p>
          <a:p>
            <a:pPr algn="ctr">
              <a:lnSpc>
                <a:spcPct val="150000"/>
              </a:lnSpc>
            </a:pPr>
            <a:r>
              <a:rPr lang="en-IN" sz="2400" dirty="0"/>
              <a:t> </a:t>
            </a:r>
            <a:r>
              <a:rPr lang="en-IN" sz="3200" dirty="0">
                <a:highlight>
                  <a:srgbClr val="99FFCC"/>
                </a:highlight>
              </a:rPr>
              <a:t>1,2,3,4,2,1,5,6,2,1,2,3,7,6,3,2,1,2,3,6 </a:t>
            </a:r>
            <a:endParaRPr lang="en-IN" sz="2400" dirty="0">
              <a:highlight>
                <a:srgbClr val="99FFCC"/>
              </a:highlight>
            </a:endParaRPr>
          </a:p>
          <a:p>
            <a:pPr algn="just">
              <a:lnSpc>
                <a:spcPct val="150000"/>
              </a:lnSpc>
            </a:pPr>
            <a:r>
              <a:rPr lang="en-IN" sz="2400" dirty="0"/>
              <a:t>Compare the number of page faults for LRU, FIFO, and Optimal page replacement algorithm. Given Frame Size = 4</a:t>
            </a:r>
          </a:p>
        </p:txBody>
      </p:sp>
      <p:sp>
        <p:nvSpPr>
          <p:cNvPr id="8" name="TextBox 7">
            <a:extLst>
              <a:ext uri="{FF2B5EF4-FFF2-40B4-BE49-F238E27FC236}">
                <a16:creationId xmlns:a16="http://schemas.microsoft.com/office/drawing/2014/main" id="{BAD0FF12-A035-31A3-9C7F-3CAE7ED031B7}"/>
              </a:ext>
            </a:extLst>
          </p:cNvPr>
          <p:cNvSpPr txBox="1"/>
          <p:nvPr/>
        </p:nvSpPr>
        <p:spPr>
          <a:xfrm>
            <a:off x="6817333" y="4002083"/>
            <a:ext cx="3687228" cy="2251065"/>
          </a:xfrm>
          <a:prstGeom prst="rect">
            <a:avLst/>
          </a:prstGeom>
          <a:noFill/>
          <a:ln>
            <a:solidFill>
              <a:schemeClr val="accent2"/>
            </a:solidFill>
          </a:ln>
        </p:spPr>
        <p:txBody>
          <a:bodyPr wrap="none" rtlCol="0">
            <a:spAutoFit/>
          </a:bodyPr>
          <a:lstStyle/>
          <a:p>
            <a:pPr>
              <a:lnSpc>
                <a:spcPct val="150000"/>
              </a:lnSpc>
            </a:pPr>
            <a:r>
              <a:rPr lang="en-IN" sz="2400" dirty="0">
                <a:highlight>
                  <a:srgbClr val="00FFFF"/>
                </a:highlight>
              </a:rPr>
              <a:t>No. of Page faults :</a:t>
            </a:r>
          </a:p>
          <a:p>
            <a:pPr marL="342900" indent="-342900">
              <a:lnSpc>
                <a:spcPct val="150000"/>
              </a:lnSpc>
              <a:buAutoNum type="arabicPeriod"/>
            </a:pPr>
            <a:r>
              <a:rPr lang="en-IN" sz="2400" dirty="0">
                <a:highlight>
                  <a:srgbClr val="00FFFF"/>
                </a:highlight>
              </a:rPr>
              <a:t>LRU = 10</a:t>
            </a:r>
          </a:p>
          <a:p>
            <a:pPr marL="342900" indent="-342900">
              <a:lnSpc>
                <a:spcPct val="150000"/>
              </a:lnSpc>
              <a:buAutoNum type="arabicPeriod"/>
            </a:pPr>
            <a:r>
              <a:rPr lang="en-IN" sz="2400" dirty="0">
                <a:highlight>
                  <a:srgbClr val="00FFFF"/>
                </a:highlight>
              </a:rPr>
              <a:t>Optimal Replacement = 8</a:t>
            </a:r>
          </a:p>
          <a:p>
            <a:pPr marL="342900" indent="-342900">
              <a:lnSpc>
                <a:spcPct val="150000"/>
              </a:lnSpc>
              <a:buAutoNum type="arabicPeriod"/>
            </a:pPr>
            <a:r>
              <a:rPr lang="en-IN" sz="2400" dirty="0">
                <a:highlight>
                  <a:srgbClr val="00FFFF"/>
                </a:highlight>
              </a:rPr>
              <a:t>FIFO = 14</a:t>
            </a:r>
          </a:p>
        </p:txBody>
      </p:sp>
    </p:spTree>
    <p:extLst>
      <p:ext uri="{BB962C8B-B14F-4D97-AF65-F5344CB8AC3E}">
        <p14:creationId xmlns:p14="http://schemas.microsoft.com/office/powerpoint/2010/main" val="12460909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98335-6F39-88C7-D5CF-791CE5EE291F}"/>
            </a:ext>
          </a:extLst>
        </p:cNvPr>
        <p:cNvGrpSpPr/>
        <p:nvPr/>
      </p:nvGrpSpPr>
      <p:grpSpPr>
        <a:xfrm>
          <a:off x="0" y="0"/>
          <a:ext cx="0" cy="0"/>
          <a:chOff x="0" y="0"/>
          <a:chExt cx="0" cy="0"/>
        </a:xfrm>
      </p:grpSpPr>
      <p:sp>
        <p:nvSpPr>
          <p:cNvPr id="9" name="Text Placeholder 3">
            <a:extLst>
              <a:ext uri="{FF2B5EF4-FFF2-40B4-BE49-F238E27FC236}">
                <a16:creationId xmlns:a16="http://schemas.microsoft.com/office/drawing/2014/main" id="{887863A9-46E6-1AAC-795A-3963862AF469}"/>
              </a:ext>
            </a:extLst>
          </p:cNvPr>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5" name="Subtitle 4">
            <a:extLst>
              <a:ext uri="{FF2B5EF4-FFF2-40B4-BE49-F238E27FC236}">
                <a16:creationId xmlns:a16="http://schemas.microsoft.com/office/drawing/2014/main" id="{0ECCED30-4574-CA0F-18BE-FDA3DAACCDC4}"/>
              </a:ext>
            </a:extLst>
          </p:cNvPr>
          <p:cNvSpPr>
            <a:spLocks noGrp="1"/>
          </p:cNvSpPr>
          <p:nvPr>
            <p:ph type="subTitle" idx="1"/>
          </p:nvPr>
        </p:nvSpPr>
        <p:spPr>
          <a:xfrm>
            <a:off x="1047345" y="2601119"/>
            <a:ext cx="9144000" cy="1655762"/>
          </a:xfrm>
        </p:spPr>
        <p:txBody>
          <a:bodyPr>
            <a:normAutofit/>
          </a:bodyPr>
          <a:lstStyle/>
          <a:p>
            <a:r>
              <a:rPr lang="en-US" sz="4400" dirty="0">
                <a:solidFill>
                  <a:srgbClr val="0066CC"/>
                </a:solidFill>
              </a:rPr>
              <a:t>Lecture - 15</a:t>
            </a:r>
          </a:p>
        </p:txBody>
      </p:sp>
    </p:spTree>
    <p:extLst>
      <p:ext uri="{BB962C8B-B14F-4D97-AF65-F5344CB8AC3E}">
        <p14:creationId xmlns:p14="http://schemas.microsoft.com/office/powerpoint/2010/main" val="74263290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Recap</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Page Fault</a:t>
            </a:r>
          </a:p>
          <a:p>
            <a:pPr lvl="1"/>
            <a:endParaRPr lang="en-US" dirty="0"/>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270065740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txBox="1">
            <a:spLocks/>
          </p:cNvSpPr>
          <p:nvPr/>
        </p:nvSpPr>
        <p:spPr>
          <a:xfrm>
            <a:off x="1515923" y="1357885"/>
            <a:ext cx="4402739" cy="23080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solidFill>
                <a:schemeClr val="tx1">
                  <a:lumMod val="95000"/>
                  <a:lumOff val="5000"/>
                </a:schemeClr>
              </a:solidFill>
              <a:latin typeface="Roboto Slab" pitchFamily="2" charset="0"/>
              <a:ea typeface="Roboto Slab" pitchFamily="2" charset="0"/>
            </a:endParaRPr>
          </a:p>
        </p:txBody>
      </p:sp>
      <p:sp>
        <p:nvSpPr>
          <p:cNvPr id="6" name="Title 1">
            <a:extLst>
              <a:ext uri="{FF2B5EF4-FFF2-40B4-BE49-F238E27FC236}">
                <a16:creationId xmlns:a16="http://schemas.microsoft.com/office/drawing/2014/main" id="{A5451137-FB0F-963A-D043-3FD3DB7D61B2}"/>
              </a:ext>
            </a:extLst>
          </p:cNvPr>
          <p:cNvSpPr txBox="1">
            <a:spLocks/>
          </p:cNvSpPr>
          <p:nvPr/>
        </p:nvSpPr>
        <p:spPr>
          <a:xfrm>
            <a:off x="364043" y="709813"/>
            <a:ext cx="2664296"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solidFill>
                  <a:srgbClr val="FF6600"/>
                </a:solidFill>
              </a:rPr>
              <a:t>Agenda</a:t>
            </a:r>
          </a:p>
        </p:txBody>
      </p:sp>
      <p:sp>
        <p:nvSpPr>
          <p:cNvPr id="8" name="Text Placeholder 3">
            <a:extLst>
              <a:ext uri="{FF2B5EF4-FFF2-40B4-BE49-F238E27FC236}">
                <a16:creationId xmlns:a16="http://schemas.microsoft.com/office/drawing/2014/main" id="{99B0DA10-AC11-F841-F87E-2D9C207FC2EB}"/>
              </a:ext>
            </a:extLst>
          </p:cNvPr>
          <p:cNvSpPr txBox="1">
            <a:spLocks/>
          </p:cNvSpPr>
          <p:nvPr/>
        </p:nvSpPr>
        <p:spPr>
          <a:xfrm>
            <a:off x="735128" y="1611683"/>
            <a:ext cx="8136904" cy="3888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Page Fault Exercises</a:t>
            </a:r>
          </a:p>
          <a:p>
            <a:pPr lvl="1"/>
            <a:endParaRPr lang="en-US" dirty="0"/>
          </a:p>
          <a:p>
            <a:pPr>
              <a:buFont typeface="Wingdings" panose="05000000000000000000" pitchFamily="2" charset="2"/>
              <a:buChar char="§"/>
            </a:pPr>
            <a:endParaRPr lang="en-US" sz="2400" dirty="0">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427972703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119488" y="554421"/>
            <a:ext cx="4820230" cy="623844"/>
          </a:xfrm>
        </p:spPr>
        <p:txBody>
          <a:bodyPr>
            <a:normAutofit fontScale="90000"/>
          </a:bodyPr>
          <a:lstStyle/>
          <a:p>
            <a:pPr>
              <a:lnSpc>
                <a:spcPct val="100000"/>
              </a:lnSpc>
            </a:pPr>
            <a:r>
              <a:rPr lang="en-US" altLang="zh-TW" sz="2800" dirty="0">
                <a:solidFill>
                  <a:srgbClr val="0066CC"/>
                </a:solidFill>
                <a:latin typeface="Aharoni" pitchFamily="2" charset="-79"/>
                <a:cs typeface="Aharoni" pitchFamily="2" charset="-79"/>
              </a:rPr>
              <a:t>Page Replacement Algorithms</a:t>
            </a:r>
          </a:p>
        </p:txBody>
      </p:sp>
      <p:sp>
        <p:nvSpPr>
          <p:cNvPr id="8" name="TextBox 7">
            <a:extLst>
              <a:ext uri="{FF2B5EF4-FFF2-40B4-BE49-F238E27FC236}">
                <a16:creationId xmlns:a16="http://schemas.microsoft.com/office/drawing/2014/main" id="{BAD0FF12-A035-31A3-9C7F-3CAE7ED031B7}"/>
              </a:ext>
            </a:extLst>
          </p:cNvPr>
          <p:cNvSpPr txBox="1"/>
          <p:nvPr/>
        </p:nvSpPr>
        <p:spPr>
          <a:xfrm>
            <a:off x="6817333" y="4002083"/>
            <a:ext cx="3687228" cy="2251065"/>
          </a:xfrm>
          <a:prstGeom prst="rect">
            <a:avLst/>
          </a:prstGeom>
          <a:noFill/>
          <a:ln>
            <a:solidFill>
              <a:schemeClr val="accent2"/>
            </a:solidFill>
          </a:ln>
        </p:spPr>
        <p:txBody>
          <a:bodyPr wrap="none" rtlCol="0">
            <a:spAutoFit/>
          </a:bodyPr>
          <a:lstStyle/>
          <a:p>
            <a:pPr>
              <a:lnSpc>
                <a:spcPct val="150000"/>
              </a:lnSpc>
            </a:pPr>
            <a:r>
              <a:rPr lang="en-IN" sz="2400" dirty="0">
                <a:highlight>
                  <a:srgbClr val="00FFFF"/>
                </a:highlight>
              </a:rPr>
              <a:t>No. of Page faults :</a:t>
            </a:r>
          </a:p>
          <a:p>
            <a:pPr marL="342900" indent="-342900">
              <a:lnSpc>
                <a:spcPct val="150000"/>
              </a:lnSpc>
              <a:buFontTx/>
              <a:buAutoNum type="arabicPeriod"/>
            </a:pPr>
            <a:r>
              <a:rPr lang="en-IN" sz="2400" dirty="0">
                <a:highlight>
                  <a:srgbClr val="00FFFF"/>
                </a:highlight>
              </a:rPr>
              <a:t>FIFO = 14</a:t>
            </a:r>
          </a:p>
          <a:p>
            <a:pPr marL="342900" indent="-342900">
              <a:lnSpc>
                <a:spcPct val="150000"/>
              </a:lnSpc>
              <a:buAutoNum type="arabicPeriod"/>
            </a:pPr>
            <a:r>
              <a:rPr lang="en-IN" sz="2400" dirty="0">
                <a:highlight>
                  <a:srgbClr val="00FFFF"/>
                </a:highlight>
              </a:rPr>
              <a:t>Optimal Replacement = 8</a:t>
            </a:r>
          </a:p>
          <a:p>
            <a:pPr marL="342900" indent="-342900">
              <a:lnSpc>
                <a:spcPct val="150000"/>
              </a:lnSpc>
              <a:buFontTx/>
              <a:buAutoNum type="arabicPeriod"/>
            </a:pPr>
            <a:r>
              <a:rPr lang="en-IN" sz="2400" dirty="0">
                <a:highlight>
                  <a:srgbClr val="00FFFF"/>
                </a:highlight>
              </a:rPr>
              <a:t>LRU = 10</a:t>
            </a:r>
          </a:p>
        </p:txBody>
      </p:sp>
      <p:sp>
        <p:nvSpPr>
          <p:cNvPr id="4" name="TextBox 3">
            <a:extLst>
              <a:ext uri="{FF2B5EF4-FFF2-40B4-BE49-F238E27FC236}">
                <a16:creationId xmlns:a16="http://schemas.microsoft.com/office/drawing/2014/main" id="{281A8BBD-CD9A-5588-5A37-7761C38A6DFC}"/>
              </a:ext>
            </a:extLst>
          </p:cNvPr>
          <p:cNvSpPr txBox="1"/>
          <p:nvPr/>
        </p:nvSpPr>
        <p:spPr>
          <a:xfrm>
            <a:off x="595818" y="1753690"/>
            <a:ext cx="10250521" cy="369332"/>
          </a:xfrm>
          <a:prstGeom prst="rect">
            <a:avLst/>
          </a:prstGeom>
          <a:noFill/>
        </p:spPr>
        <p:txBody>
          <a:bodyPr wrap="square">
            <a:spAutoFit/>
          </a:bodyPr>
          <a:lstStyle/>
          <a:p>
            <a:r>
              <a:rPr lang="en-US" b="0" i="0" dirty="0">
                <a:solidFill>
                  <a:srgbClr val="000000"/>
                </a:solidFill>
                <a:effectLst/>
                <a:highlight>
                  <a:srgbClr val="F6F8FA"/>
                </a:highlight>
                <a:latin typeface="Nunito Sans" pitchFamily="2" charset="0"/>
              </a:rPr>
              <a:t>Consider the Pages referenced by the CPU in the order 6, 7, 8, 9, 6, 7, 1, 6, 7, 8, 9, 1</a:t>
            </a:r>
            <a:endParaRPr lang="en-IN" dirty="0"/>
          </a:p>
        </p:txBody>
      </p:sp>
    </p:spTree>
    <p:extLst>
      <p:ext uri="{BB962C8B-B14F-4D97-AF65-F5344CB8AC3E}">
        <p14:creationId xmlns:p14="http://schemas.microsoft.com/office/powerpoint/2010/main" val="249901805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119488" y="554421"/>
            <a:ext cx="4820230" cy="623844"/>
          </a:xfrm>
        </p:spPr>
        <p:txBody>
          <a:bodyPr>
            <a:normAutofit fontScale="90000"/>
          </a:bodyPr>
          <a:lstStyle/>
          <a:p>
            <a:pPr>
              <a:lnSpc>
                <a:spcPct val="100000"/>
              </a:lnSpc>
            </a:pPr>
            <a:r>
              <a:rPr lang="en-US" altLang="zh-TW" sz="2800" dirty="0">
                <a:solidFill>
                  <a:srgbClr val="0066CC"/>
                </a:solidFill>
                <a:latin typeface="Aharoni" pitchFamily="2" charset="-79"/>
                <a:cs typeface="Aharoni" pitchFamily="2" charset="-79"/>
              </a:rPr>
              <a:t>Page Replacement Algorithms</a:t>
            </a:r>
          </a:p>
        </p:txBody>
      </p:sp>
      <p:sp>
        <p:nvSpPr>
          <p:cNvPr id="2" name="TextBox 1">
            <a:extLst>
              <a:ext uri="{FF2B5EF4-FFF2-40B4-BE49-F238E27FC236}">
                <a16:creationId xmlns:a16="http://schemas.microsoft.com/office/drawing/2014/main" id="{AEC6CDAD-16D4-22EB-367A-662829B4752E}"/>
              </a:ext>
            </a:extLst>
          </p:cNvPr>
          <p:cNvSpPr txBox="1"/>
          <p:nvPr/>
        </p:nvSpPr>
        <p:spPr>
          <a:xfrm>
            <a:off x="881974" y="1577447"/>
            <a:ext cx="4028923" cy="400110"/>
          </a:xfrm>
          <a:prstGeom prst="rect">
            <a:avLst/>
          </a:prstGeom>
          <a:noFill/>
        </p:spPr>
        <p:txBody>
          <a:bodyPr wrap="none" rtlCol="0">
            <a:spAutoFit/>
          </a:bodyPr>
          <a:lstStyle/>
          <a:p>
            <a:r>
              <a:rPr lang="en-IN" sz="2000" dirty="0">
                <a:solidFill>
                  <a:srgbClr val="C00000"/>
                </a:solidFill>
                <a:highlight>
                  <a:srgbClr val="FFFF00"/>
                </a:highlight>
                <a:latin typeface="Times New Roman" pitchFamily="18" charset="0"/>
                <a:cs typeface="Times New Roman" pitchFamily="18" charset="0"/>
              </a:rPr>
              <a:t>First In First Out (FIFO) Algorithm:</a:t>
            </a:r>
          </a:p>
        </p:txBody>
      </p:sp>
      <p:pic>
        <p:nvPicPr>
          <p:cNvPr id="6" name="Picture 5">
            <a:extLst>
              <a:ext uri="{FF2B5EF4-FFF2-40B4-BE49-F238E27FC236}">
                <a16:creationId xmlns:a16="http://schemas.microsoft.com/office/drawing/2014/main" id="{94554685-2886-A226-A6EF-21DBF3CAF45A}"/>
              </a:ext>
            </a:extLst>
          </p:cNvPr>
          <p:cNvPicPr>
            <a:picLocks noChangeAspect="1"/>
          </p:cNvPicPr>
          <p:nvPr/>
        </p:nvPicPr>
        <p:blipFill>
          <a:blip r:embed="rId3"/>
          <a:stretch>
            <a:fillRect/>
          </a:stretch>
        </p:blipFill>
        <p:spPr>
          <a:xfrm>
            <a:off x="881974" y="2809791"/>
            <a:ext cx="10391052" cy="2470762"/>
          </a:xfrm>
          <a:prstGeom prst="rect">
            <a:avLst/>
          </a:prstGeom>
        </p:spPr>
      </p:pic>
      <p:sp>
        <p:nvSpPr>
          <p:cNvPr id="9" name="TextBox 8">
            <a:extLst>
              <a:ext uri="{FF2B5EF4-FFF2-40B4-BE49-F238E27FC236}">
                <a16:creationId xmlns:a16="http://schemas.microsoft.com/office/drawing/2014/main" id="{D50B2C46-1DE1-46F7-226C-2C0E8AFAD497}"/>
              </a:ext>
            </a:extLst>
          </p:cNvPr>
          <p:cNvSpPr txBox="1"/>
          <p:nvPr/>
        </p:nvSpPr>
        <p:spPr>
          <a:xfrm>
            <a:off x="5372100" y="1696368"/>
            <a:ext cx="6094378" cy="464871"/>
          </a:xfrm>
          <a:prstGeom prst="rect">
            <a:avLst/>
          </a:prstGeom>
          <a:noFill/>
        </p:spPr>
        <p:txBody>
          <a:bodyPr wrap="square">
            <a:spAutoFit/>
          </a:bodyPr>
          <a:lstStyle/>
          <a:p>
            <a:pPr>
              <a:lnSpc>
                <a:spcPct val="150000"/>
              </a:lnSpc>
            </a:pPr>
            <a:r>
              <a:rPr lang="en-IN" sz="1800" dirty="0">
                <a:highlight>
                  <a:srgbClr val="00FFFF"/>
                </a:highlight>
              </a:rPr>
              <a:t>No. of Page faults : 9</a:t>
            </a:r>
          </a:p>
        </p:txBody>
      </p:sp>
    </p:spTree>
    <p:extLst>
      <p:ext uri="{BB962C8B-B14F-4D97-AF65-F5344CB8AC3E}">
        <p14:creationId xmlns:p14="http://schemas.microsoft.com/office/powerpoint/2010/main" val="93858131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119488" y="554421"/>
            <a:ext cx="4820230" cy="623844"/>
          </a:xfrm>
        </p:spPr>
        <p:txBody>
          <a:bodyPr>
            <a:normAutofit fontScale="90000"/>
          </a:bodyPr>
          <a:lstStyle/>
          <a:p>
            <a:pPr>
              <a:lnSpc>
                <a:spcPct val="100000"/>
              </a:lnSpc>
            </a:pPr>
            <a:r>
              <a:rPr lang="en-US" altLang="zh-TW" sz="2800" dirty="0">
                <a:solidFill>
                  <a:srgbClr val="0066CC"/>
                </a:solidFill>
                <a:latin typeface="Aharoni" pitchFamily="2" charset="-79"/>
                <a:cs typeface="Aharoni" pitchFamily="2" charset="-79"/>
              </a:rPr>
              <a:t>Page Replacement Algorithms</a:t>
            </a:r>
          </a:p>
        </p:txBody>
      </p:sp>
      <p:sp>
        <p:nvSpPr>
          <p:cNvPr id="9" name="TextBox 8">
            <a:extLst>
              <a:ext uri="{FF2B5EF4-FFF2-40B4-BE49-F238E27FC236}">
                <a16:creationId xmlns:a16="http://schemas.microsoft.com/office/drawing/2014/main" id="{D50B2C46-1DE1-46F7-226C-2C0E8AFAD497}"/>
              </a:ext>
            </a:extLst>
          </p:cNvPr>
          <p:cNvSpPr txBox="1"/>
          <p:nvPr/>
        </p:nvSpPr>
        <p:spPr>
          <a:xfrm>
            <a:off x="5372100" y="1696368"/>
            <a:ext cx="6094378" cy="464871"/>
          </a:xfrm>
          <a:prstGeom prst="rect">
            <a:avLst/>
          </a:prstGeom>
          <a:noFill/>
        </p:spPr>
        <p:txBody>
          <a:bodyPr wrap="square">
            <a:spAutoFit/>
          </a:bodyPr>
          <a:lstStyle/>
          <a:p>
            <a:pPr>
              <a:lnSpc>
                <a:spcPct val="150000"/>
              </a:lnSpc>
            </a:pPr>
            <a:r>
              <a:rPr lang="en-IN" sz="1800" dirty="0">
                <a:highlight>
                  <a:srgbClr val="00FFFF"/>
                </a:highlight>
              </a:rPr>
              <a:t>No. of Page faults : 7</a:t>
            </a:r>
          </a:p>
        </p:txBody>
      </p:sp>
      <p:sp>
        <p:nvSpPr>
          <p:cNvPr id="4" name="TextBox 3">
            <a:extLst>
              <a:ext uri="{FF2B5EF4-FFF2-40B4-BE49-F238E27FC236}">
                <a16:creationId xmlns:a16="http://schemas.microsoft.com/office/drawing/2014/main" id="{9350E908-1D2C-82C4-4F5D-E146A2784A3C}"/>
              </a:ext>
            </a:extLst>
          </p:cNvPr>
          <p:cNvSpPr txBox="1"/>
          <p:nvPr/>
        </p:nvSpPr>
        <p:spPr>
          <a:xfrm>
            <a:off x="881974" y="1577447"/>
            <a:ext cx="3050835" cy="400110"/>
          </a:xfrm>
          <a:prstGeom prst="rect">
            <a:avLst/>
          </a:prstGeom>
          <a:noFill/>
        </p:spPr>
        <p:txBody>
          <a:bodyPr wrap="none" rtlCol="0">
            <a:spAutoFit/>
          </a:bodyPr>
          <a:lstStyle/>
          <a:p>
            <a:r>
              <a:rPr lang="en-IN" sz="2000" dirty="0">
                <a:solidFill>
                  <a:srgbClr val="C00000"/>
                </a:solidFill>
                <a:highlight>
                  <a:srgbClr val="FFFF00"/>
                </a:highlight>
                <a:latin typeface="Times New Roman" pitchFamily="18" charset="0"/>
                <a:cs typeface="Times New Roman" pitchFamily="18" charset="0"/>
              </a:rPr>
              <a:t>Optimal Page Replacement </a:t>
            </a:r>
          </a:p>
        </p:txBody>
      </p:sp>
      <p:pic>
        <p:nvPicPr>
          <p:cNvPr id="7" name="Picture 6">
            <a:extLst>
              <a:ext uri="{FF2B5EF4-FFF2-40B4-BE49-F238E27FC236}">
                <a16:creationId xmlns:a16="http://schemas.microsoft.com/office/drawing/2014/main" id="{688D7FA0-44DB-CFB8-9A98-E3DF8A698774}"/>
              </a:ext>
            </a:extLst>
          </p:cNvPr>
          <p:cNvPicPr>
            <a:picLocks noChangeAspect="1"/>
          </p:cNvPicPr>
          <p:nvPr/>
        </p:nvPicPr>
        <p:blipFill>
          <a:blip r:embed="rId3"/>
          <a:stretch>
            <a:fillRect/>
          </a:stretch>
        </p:blipFill>
        <p:spPr>
          <a:xfrm>
            <a:off x="649012" y="2838638"/>
            <a:ext cx="10769066" cy="2041806"/>
          </a:xfrm>
          <a:prstGeom prst="rect">
            <a:avLst/>
          </a:prstGeom>
        </p:spPr>
      </p:pic>
    </p:spTree>
    <p:extLst>
      <p:ext uri="{BB962C8B-B14F-4D97-AF65-F5344CB8AC3E}">
        <p14:creationId xmlns:p14="http://schemas.microsoft.com/office/powerpoint/2010/main" val="303618701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119488" y="554421"/>
            <a:ext cx="4820230" cy="623844"/>
          </a:xfrm>
        </p:spPr>
        <p:txBody>
          <a:bodyPr>
            <a:normAutofit fontScale="90000"/>
          </a:bodyPr>
          <a:lstStyle/>
          <a:p>
            <a:pPr>
              <a:lnSpc>
                <a:spcPct val="100000"/>
              </a:lnSpc>
            </a:pPr>
            <a:r>
              <a:rPr lang="en-US" altLang="zh-TW" sz="2800" dirty="0">
                <a:solidFill>
                  <a:srgbClr val="0066CC"/>
                </a:solidFill>
                <a:latin typeface="Aharoni" pitchFamily="2" charset="-79"/>
                <a:cs typeface="Aharoni" pitchFamily="2" charset="-79"/>
              </a:rPr>
              <a:t>Page Replacement Algorithms</a:t>
            </a:r>
          </a:p>
        </p:txBody>
      </p:sp>
      <p:sp>
        <p:nvSpPr>
          <p:cNvPr id="9" name="TextBox 8">
            <a:extLst>
              <a:ext uri="{FF2B5EF4-FFF2-40B4-BE49-F238E27FC236}">
                <a16:creationId xmlns:a16="http://schemas.microsoft.com/office/drawing/2014/main" id="{D50B2C46-1DE1-46F7-226C-2C0E8AFAD497}"/>
              </a:ext>
            </a:extLst>
          </p:cNvPr>
          <p:cNvSpPr txBox="1"/>
          <p:nvPr/>
        </p:nvSpPr>
        <p:spPr>
          <a:xfrm>
            <a:off x="5372100" y="1696368"/>
            <a:ext cx="6094378" cy="464871"/>
          </a:xfrm>
          <a:prstGeom prst="rect">
            <a:avLst/>
          </a:prstGeom>
          <a:noFill/>
        </p:spPr>
        <p:txBody>
          <a:bodyPr wrap="square">
            <a:spAutoFit/>
          </a:bodyPr>
          <a:lstStyle/>
          <a:p>
            <a:pPr>
              <a:lnSpc>
                <a:spcPct val="150000"/>
              </a:lnSpc>
            </a:pPr>
            <a:r>
              <a:rPr lang="en-IN" sz="1800" dirty="0">
                <a:highlight>
                  <a:srgbClr val="00FFFF"/>
                </a:highlight>
              </a:rPr>
              <a:t>No. of Page faults : 10</a:t>
            </a:r>
          </a:p>
        </p:txBody>
      </p:sp>
      <p:sp>
        <p:nvSpPr>
          <p:cNvPr id="2" name="TextBox 1">
            <a:extLst>
              <a:ext uri="{FF2B5EF4-FFF2-40B4-BE49-F238E27FC236}">
                <a16:creationId xmlns:a16="http://schemas.microsoft.com/office/drawing/2014/main" id="{BFD0A331-8C02-D783-1CDF-02572677849B}"/>
              </a:ext>
            </a:extLst>
          </p:cNvPr>
          <p:cNvSpPr txBox="1"/>
          <p:nvPr/>
        </p:nvSpPr>
        <p:spPr>
          <a:xfrm>
            <a:off x="881974" y="1577447"/>
            <a:ext cx="2727029" cy="400110"/>
          </a:xfrm>
          <a:prstGeom prst="rect">
            <a:avLst/>
          </a:prstGeom>
          <a:noFill/>
        </p:spPr>
        <p:txBody>
          <a:bodyPr wrap="none" rtlCol="0">
            <a:spAutoFit/>
          </a:bodyPr>
          <a:lstStyle/>
          <a:p>
            <a:r>
              <a:rPr lang="en-IN" sz="2000" dirty="0">
                <a:solidFill>
                  <a:srgbClr val="C00000"/>
                </a:solidFill>
                <a:highlight>
                  <a:srgbClr val="FFFF00"/>
                </a:highlight>
                <a:latin typeface="Times New Roman" pitchFamily="18" charset="0"/>
                <a:cs typeface="Times New Roman" pitchFamily="18" charset="0"/>
              </a:rPr>
              <a:t>LRU Page Replacement </a:t>
            </a:r>
          </a:p>
        </p:txBody>
      </p:sp>
      <p:pic>
        <p:nvPicPr>
          <p:cNvPr id="6" name="Picture 5">
            <a:extLst>
              <a:ext uri="{FF2B5EF4-FFF2-40B4-BE49-F238E27FC236}">
                <a16:creationId xmlns:a16="http://schemas.microsoft.com/office/drawing/2014/main" id="{7D537248-1397-7AA2-29E3-CC8C5570A3C8}"/>
              </a:ext>
            </a:extLst>
          </p:cNvPr>
          <p:cNvPicPr>
            <a:picLocks noChangeAspect="1"/>
          </p:cNvPicPr>
          <p:nvPr/>
        </p:nvPicPr>
        <p:blipFill>
          <a:blip r:embed="rId3"/>
          <a:stretch>
            <a:fillRect/>
          </a:stretch>
        </p:blipFill>
        <p:spPr>
          <a:xfrm>
            <a:off x="674972" y="2602021"/>
            <a:ext cx="11346019" cy="2444933"/>
          </a:xfrm>
          <a:prstGeom prst="rect">
            <a:avLst/>
          </a:prstGeom>
        </p:spPr>
      </p:pic>
    </p:spTree>
    <p:extLst>
      <p:ext uri="{BB962C8B-B14F-4D97-AF65-F5344CB8AC3E}">
        <p14:creationId xmlns:p14="http://schemas.microsoft.com/office/powerpoint/2010/main" val="26040457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119488" y="554421"/>
            <a:ext cx="482023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Allocation of Frames</a:t>
            </a:r>
          </a:p>
        </p:txBody>
      </p:sp>
      <p:sp>
        <p:nvSpPr>
          <p:cNvPr id="5" name="TextBox 4">
            <a:extLst>
              <a:ext uri="{FF2B5EF4-FFF2-40B4-BE49-F238E27FC236}">
                <a16:creationId xmlns:a16="http://schemas.microsoft.com/office/drawing/2014/main" id="{102BFB3F-21A9-305E-B92E-17B6FE48AA6A}"/>
              </a:ext>
            </a:extLst>
          </p:cNvPr>
          <p:cNvSpPr txBox="1"/>
          <p:nvPr/>
        </p:nvSpPr>
        <p:spPr>
          <a:xfrm>
            <a:off x="4542817" y="2937753"/>
            <a:ext cx="2656496" cy="830997"/>
          </a:xfrm>
          <a:prstGeom prst="rect">
            <a:avLst/>
          </a:prstGeom>
          <a:noFill/>
        </p:spPr>
        <p:txBody>
          <a:bodyPr wrap="none" rtlCol="0">
            <a:spAutoFit/>
          </a:bodyPr>
          <a:lstStyle/>
          <a:p>
            <a:r>
              <a:rPr lang="en-IN" sz="4800" dirty="0">
                <a:highlight>
                  <a:srgbClr val="00FFFF"/>
                </a:highlight>
              </a:rPr>
              <a:t>Self Study</a:t>
            </a:r>
          </a:p>
        </p:txBody>
      </p:sp>
    </p:spTree>
    <p:extLst>
      <p:ext uri="{BB962C8B-B14F-4D97-AF65-F5344CB8AC3E}">
        <p14:creationId xmlns:p14="http://schemas.microsoft.com/office/powerpoint/2010/main" val="162140879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D5B2-7D91-561B-7AA2-2477539F8FF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C44703-1464-69A3-F168-41E338D1A7E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02</a:t>
            </a:r>
          </a:p>
        </p:txBody>
      </p:sp>
      <p:pic>
        <p:nvPicPr>
          <p:cNvPr id="13" name="Picture 12">
            <a:extLst>
              <a:ext uri="{FF2B5EF4-FFF2-40B4-BE49-F238E27FC236}">
                <a16:creationId xmlns:a16="http://schemas.microsoft.com/office/drawing/2014/main" id="{B541107A-7453-5649-EEDD-0DB1E57CF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CFCA99C6-920A-C41E-39BB-DBC475ADC378}"/>
              </a:ext>
            </a:extLst>
          </p:cNvPr>
          <p:cNvSpPr>
            <a:spLocks noGrp="1" noChangeArrowheads="1"/>
          </p:cNvSpPr>
          <p:nvPr>
            <p:ph type="title"/>
          </p:nvPr>
        </p:nvSpPr>
        <p:spPr>
          <a:xfrm>
            <a:off x="4119488" y="554421"/>
            <a:ext cx="4820230" cy="623844"/>
          </a:xfrm>
        </p:spPr>
        <p:txBody>
          <a:bodyPr>
            <a:normAutofit/>
          </a:bodyPr>
          <a:lstStyle/>
          <a:p>
            <a:pPr>
              <a:lnSpc>
                <a:spcPct val="100000"/>
              </a:lnSpc>
            </a:pPr>
            <a:r>
              <a:rPr lang="en-US" altLang="zh-TW" sz="2800" dirty="0">
                <a:solidFill>
                  <a:srgbClr val="0066CC"/>
                </a:solidFill>
                <a:latin typeface="Aharoni" pitchFamily="2" charset="-79"/>
                <a:cs typeface="Aharoni" pitchFamily="2" charset="-79"/>
              </a:rPr>
              <a:t>Thrashing</a:t>
            </a:r>
          </a:p>
        </p:txBody>
      </p:sp>
      <p:sp>
        <p:nvSpPr>
          <p:cNvPr id="5" name="TextBox 4">
            <a:extLst>
              <a:ext uri="{FF2B5EF4-FFF2-40B4-BE49-F238E27FC236}">
                <a16:creationId xmlns:a16="http://schemas.microsoft.com/office/drawing/2014/main" id="{102BFB3F-21A9-305E-B92E-17B6FE48AA6A}"/>
              </a:ext>
            </a:extLst>
          </p:cNvPr>
          <p:cNvSpPr txBox="1"/>
          <p:nvPr/>
        </p:nvSpPr>
        <p:spPr>
          <a:xfrm>
            <a:off x="4542817" y="2937753"/>
            <a:ext cx="2656496" cy="830997"/>
          </a:xfrm>
          <a:prstGeom prst="rect">
            <a:avLst/>
          </a:prstGeom>
          <a:noFill/>
        </p:spPr>
        <p:txBody>
          <a:bodyPr wrap="none" rtlCol="0">
            <a:spAutoFit/>
          </a:bodyPr>
          <a:lstStyle/>
          <a:p>
            <a:r>
              <a:rPr lang="en-IN" sz="4800" dirty="0">
                <a:highlight>
                  <a:srgbClr val="00FFFF"/>
                </a:highlight>
              </a:rPr>
              <a:t>Self Study</a:t>
            </a:r>
          </a:p>
        </p:txBody>
      </p:sp>
    </p:spTree>
    <p:extLst>
      <p:ext uri="{BB962C8B-B14F-4D97-AF65-F5344CB8AC3E}">
        <p14:creationId xmlns:p14="http://schemas.microsoft.com/office/powerpoint/2010/main" val="324888868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A6DC3-59F1-ED8F-DB87-1415971142C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1D7038DD-77A6-3D0D-9A69-232C778B356F}"/>
              </a:ext>
            </a:extLst>
          </p:cNvPr>
          <p:cNvSpPr/>
          <p:nvPr/>
        </p:nvSpPr>
        <p:spPr>
          <a:xfrm>
            <a:off x="11375258" y="6029928"/>
            <a:ext cx="471604"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07</a:t>
            </a:r>
          </a:p>
        </p:txBody>
      </p:sp>
      <p:pic>
        <p:nvPicPr>
          <p:cNvPr id="13" name="Picture 12">
            <a:extLst>
              <a:ext uri="{FF2B5EF4-FFF2-40B4-BE49-F238E27FC236}">
                <a16:creationId xmlns:a16="http://schemas.microsoft.com/office/drawing/2014/main" id="{2284D116-3D73-D2F4-4123-096D761605E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3" name="Rectangle 2">
            <a:extLst>
              <a:ext uri="{FF2B5EF4-FFF2-40B4-BE49-F238E27FC236}">
                <a16:creationId xmlns:a16="http://schemas.microsoft.com/office/drawing/2014/main" id="{8A95E595-FD36-DC1F-B371-92E063E682D7}"/>
              </a:ext>
            </a:extLst>
          </p:cNvPr>
          <p:cNvSpPr>
            <a:spLocks noGrp="1" noChangeArrowheads="1"/>
          </p:cNvSpPr>
          <p:nvPr>
            <p:ph type="title"/>
          </p:nvPr>
        </p:nvSpPr>
        <p:spPr>
          <a:xfrm>
            <a:off x="936487" y="705146"/>
            <a:ext cx="7772400" cy="1143000"/>
          </a:xfrm>
        </p:spPr>
        <p:txBody>
          <a:bodyPr/>
          <a:lstStyle/>
          <a:p>
            <a:r>
              <a:rPr lang="en-US" altLang="zh-TW" sz="3600" dirty="0">
                <a:solidFill>
                  <a:srgbClr val="FF6600"/>
                </a:solidFill>
                <a:latin typeface="Aharoni" pitchFamily="2" charset="-79"/>
                <a:cs typeface="Aharoni" pitchFamily="2" charset="-79"/>
              </a:rPr>
              <a:t>Unit Summary</a:t>
            </a:r>
          </a:p>
        </p:txBody>
      </p:sp>
      <p:sp>
        <p:nvSpPr>
          <p:cNvPr id="4" name="Rectangle 3">
            <a:extLst>
              <a:ext uri="{FF2B5EF4-FFF2-40B4-BE49-F238E27FC236}">
                <a16:creationId xmlns:a16="http://schemas.microsoft.com/office/drawing/2014/main" id="{6995E6D4-E799-ACD9-0C10-FA4357BE546C}"/>
              </a:ext>
            </a:extLst>
          </p:cNvPr>
          <p:cNvSpPr txBox="1">
            <a:spLocks noChangeArrowheads="1"/>
          </p:cNvSpPr>
          <p:nvPr/>
        </p:nvSpPr>
        <p:spPr>
          <a:xfrm>
            <a:off x="1010438" y="1679644"/>
            <a:ext cx="7772400" cy="314527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dirty="0">
                <a:highlight>
                  <a:srgbClr val="FFFF00"/>
                </a:highlight>
              </a:rPr>
              <a:t>Unit 2: Dead locks </a:t>
            </a:r>
          </a:p>
          <a:p>
            <a:pPr marL="0" indent="0" algn="just">
              <a:lnSpc>
                <a:spcPct val="150000"/>
              </a:lnSpc>
              <a:buNone/>
            </a:pPr>
            <a:r>
              <a:rPr lang="en-US" dirty="0">
                <a:latin typeface="+mj-lt"/>
                <a:ea typeface="+mj-ea"/>
                <a:cs typeface="+mj-cs"/>
              </a:rPr>
              <a:t>	</a:t>
            </a:r>
          </a:p>
        </p:txBody>
      </p:sp>
      <p:sp>
        <p:nvSpPr>
          <p:cNvPr id="5" name="TextBox 4">
            <a:extLst>
              <a:ext uri="{FF2B5EF4-FFF2-40B4-BE49-F238E27FC236}">
                <a16:creationId xmlns:a16="http://schemas.microsoft.com/office/drawing/2014/main" id="{2659AB67-E337-99EB-994C-49873662AC0B}"/>
              </a:ext>
            </a:extLst>
          </p:cNvPr>
          <p:cNvSpPr txBox="1"/>
          <p:nvPr/>
        </p:nvSpPr>
        <p:spPr>
          <a:xfrm>
            <a:off x="1010438" y="2490498"/>
            <a:ext cx="10364820" cy="3086871"/>
          </a:xfrm>
          <a:prstGeom prst="rect">
            <a:avLst/>
          </a:prstGeom>
          <a:noFill/>
          <a:ln>
            <a:solidFill>
              <a:srgbClr val="ED682F"/>
            </a:solidFill>
          </a:ln>
        </p:spPr>
        <p:txBody>
          <a:bodyPr wrap="square">
            <a:spAutoFit/>
          </a:bodyPr>
          <a:lstStyle/>
          <a:p>
            <a:pPr algn="just">
              <a:lnSpc>
                <a:spcPct val="150000"/>
              </a:lnSpc>
            </a:pPr>
            <a:r>
              <a:rPr lang="en-US" sz="2200" dirty="0"/>
              <a:t>Deadlocks: system model, Characterization, Deadlock prevention, avoidance and detection, Recovery from deadlock. 	</a:t>
            </a:r>
          </a:p>
          <a:p>
            <a:pPr algn="just">
              <a:lnSpc>
                <a:spcPct val="150000"/>
              </a:lnSpc>
            </a:pPr>
            <a:r>
              <a:rPr lang="en-US" sz="2200" dirty="0"/>
              <a:t>Memory Management: Logical and Physical address space, Swapping, Contiguous allocation, Paging, Segmentation, Segmentation with paging, Virtual memory -Demand paging and its performance, Page replacement algorithms, Allocation of frames, Thrashing. 	</a:t>
            </a:r>
          </a:p>
        </p:txBody>
      </p:sp>
    </p:spTree>
    <p:extLst>
      <p:ext uri="{BB962C8B-B14F-4D97-AF65-F5344CB8AC3E}">
        <p14:creationId xmlns:p14="http://schemas.microsoft.com/office/powerpoint/2010/main" val="87388971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1111CBB-FD54-4F31-B47E-B211674C3374}"/>
              </a:ext>
            </a:extLst>
          </p:cNvPr>
          <p:cNvSpPr txBox="1"/>
          <p:nvPr/>
        </p:nvSpPr>
        <p:spPr>
          <a:xfrm>
            <a:off x="2190050" y="2531296"/>
            <a:ext cx="7811900" cy="16850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anchor="b">
            <a:spAutoFit/>
          </a:bodyPr>
          <a:lstStyle>
            <a:lvl1pPr algn="ctr">
              <a:lnSpc>
                <a:spcPct val="90000"/>
              </a:lnSpc>
              <a:defRPr sz="8800" b="1">
                <a:solidFill>
                  <a:srgbClr val="F27E22"/>
                </a:solidFill>
                <a:latin typeface="Bookman Old Style"/>
                <a:ea typeface="Bookman Old Style"/>
                <a:cs typeface="Bookman Old Style"/>
                <a:sym typeface="Bookman Old Style"/>
              </a:defRPr>
            </a:lvl1pPr>
          </a:lstStyle>
          <a:p>
            <a:r>
              <a:rPr lang="en-US" sz="11500" dirty="0">
                <a:latin typeface="Roboto" panose="02000000000000000000" pitchFamily="2" charset="0"/>
                <a:ea typeface="Roboto" panose="02000000000000000000" pitchFamily="2" charset="0"/>
                <a:cs typeface="Roboto" panose="02000000000000000000" pitchFamily="2" charset="0"/>
              </a:rPr>
              <a:t>Thank You</a:t>
            </a:r>
            <a:endParaRPr sz="11500" dirty="0">
              <a:latin typeface="Roboto" panose="02000000000000000000" pitchFamily="2" charset="0"/>
              <a:ea typeface="Roboto" panose="02000000000000000000" pitchFamily="2" charset="0"/>
              <a:cs typeface="Roboto" panose="02000000000000000000" pitchFamily="2" charset="0"/>
            </a:endParaRPr>
          </a:p>
        </p:txBody>
      </p:sp>
      <p:pic>
        <p:nvPicPr>
          <p:cNvPr id="2" name="Picture 1"/>
          <p:cNvPicPr>
            <a:picLocks noChangeAspect="1"/>
          </p:cNvPicPr>
          <p:nvPr/>
        </p:nvPicPr>
        <p:blipFill>
          <a:blip r:embed="rId2"/>
          <a:stretch>
            <a:fillRect/>
          </a:stretch>
        </p:blipFill>
        <p:spPr>
          <a:xfrm>
            <a:off x="515887" y="5823109"/>
            <a:ext cx="3646344" cy="832385"/>
          </a:xfrm>
          <a:prstGeom prst="rect">
            <a:avLst/>
          </a:prstGeom>
        </p:spPr>
      </p:pic>
      <p:cxnSp>
        <p:nvCxnSpPr>
          <p:cNvPr id="4" name="Straight Connector 3"/>
          <p:cNvCxnSpPr/>
          <p:nvPr/>
        </p:nvCxnSpPr>
        <p:spPr>
          <a:xfrm>
            <a:off x="4305993" y="6255384"/>
            <a:ext cx="7886007" cy="0"/>
          </a:xfrm>
          <a:prstGeom prst="line">
            <a:avLst/>
          </a:prstGeom>
          <a:ln w="28575">
            <a:solidFill>
              <a:srgbClr val="FF66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0542781"/>
      </p:ext>
    </p:extLst>
  </p:cSld>
  <p:clrMapOvr>
    <a:masterClrMapping/>
  </p:clrMapOvr>
  <p:transition spd="slow">
    <p:randomBar dir="ver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4432</TotalTime>
  <Words>9071</Words>
  <Application>Microsoft Macintosh PowerPoint</Application>
  <PresentationFormat>Widescreen</PresentationFormat>
  <Paragraphs>1079</Paragraphs>
  <Slides>212</Slides>
  <Notes>0</Notes>
  <HiddenSlides>1</HiddenSlides>
  <MMClips>0</MMClips>
  <ScaleCrop>false</ScaleCrop>
  <HeadingPairs>
    <vt:vector size="6" baseType="variant">
      <vt:variant>
        <vt:lpstr>Fonts Used</vt:lpstr>
      </vt:variant>
      <vt:variant>
        <vt:i4>19</vt:i4>
      </vt:variant>
      <vt:variant>
        <vt:lpstr>Theme</vt:lpstr>
      </vt:variant>
      <vt:variant>
        <vt:i4>1</vt:i4>
      </vt:variant>
      <vt:variant>
        <vt:lpstr>Slide Titles</vt:lpstr>
      </vt:variant>
      <vt:variant>
        <vt:i4>212</vt:i4>
      </vt:variant>
    </vt:vector>
  </HeadingPairs>
  <TitlesOfParts>
    <vt:vector size="232" baseType="lpstr">
      <vt:lpstr>Aharoni</vt:lpstr>
      <vt:lpstr>Arial</vt:lpstr>
      <vt:lpstr>Calibri</vt:lpstr>
      <vt:lpstr>Calibri Light</vt:lpstr>
      <vt:lpstr>Google Sans</vt:lpstr>
      <vt:lpstr>Helvetica</vt:lpstr>
      <vt:lpstr>HelveticaNeue-MediumExt</vt:lpstr>
      <vt:lpstr>Monotype Sorts</vt:lpstr>
      <vt:lpstr>Nunito Sans</vt:lpstr>
      <vt:lpstr>Palatino-Bold</vt:lpstr>
      <vt:lpstr>Palatino-Roman</vt:lpstr>
      <vt:lpstr>roboto</vt:lpstr>
      <vt:lpstr>roboto</vt:lpstr>
      <vt:lpstr>Roboto Medium</vt:lpstr>
      <vt:lpstr>Roboto Slab</vt:lpstr>
      <vt:lpstr>Symbol</vt:lpstr>
      <vt:lpstr>Times New Roman</vt:lpstr>
      <vt:lpstr>Webdings</vt:lpstr>
      <vt:lpstr>Wingdings</vt:lpstr>
      <vt:lpstr>Office Theme</vt:lpstr>
      <vt:lpstr>PowerPoint Presentation</vt:lpstr>
      <vt:lpstr>PowerPoint Presentation</vt:lpstr>
      <vt:lpstr>PowerPoint Presentation</vt:lpstr>
      <vt:lpstr>Quick Look at the Syllabus</vt:lpstr>
      <vt:lpstr>Introduction to Deadlocks</vt:lpstr>
      <vt:lpstr>Introduction to Deadlocks</vt:lpstr>
      <vt:lpstr>Introduction to Deadlocks</vt:lpstr>
      <vt:lpstr>Introduction to Deadlocks</vt:lpstr>
      <vt:lpstr>Introduction to Deadlocks</vt:lpstr>
      <vt:lpstr>Introduction to Deadlocks</vt:lpstr>
      <vt:lpstr>Introduction to Deadlocks</vt:lpstr>
      <vt:lpstr>PowerPoint Presentation</vt:lpstr>
      <vt:lpstr>PowerPoint Presentation</vt:lpstr>
      <vt:lpstr>PowerPoint Presentation</vt:lpstr>
      <vt:lpstr>Deadlock Characterization</vt:lpstr>
      <vt:lpstr>Deadlock Characterization</vt:lpstr>
      <vt:lpstr>Resource Allocation Graph</vt:lpstr>
      <vt:lpstr>Resource Allocation Graph</vt:lpstr>
      <vt:lpstr>Resource Allocation Graph</vt:lpstr>
      <vt:lpstr>Resource Allocation Graph</vt:lpstr>
      <vt:lpstr>Resource Allocation Graph</vt:lpstr>
      <vt:lpstr>Resource Allocation Graph</vt:lpstr>
      <vt:lpstr>Resource Allocation Graph</vt:lpstr>
      <vt:lpstr>Resource Allocation Graph</vt:lpstr>
      <vt:lpstr>Resource Allocation Graph</vt:lpstr>
      <vt:lpstr>PowerPoint Presentation</vt:lpstr>
      <vt:lpstr>PowerPoint Presentation</vt:lpstr>
      <vt:lpstr>PowerPoint Presentation</vt:lpstr>
      <vt:lpstr>Methods of Handling Deadlock</vt:lpstr>
      <vt:lpstr>Methods of Handling Deadlock</vt:lpstr>
      <vt:lpstr>Methods of Handling Deadlock</vt:lpstr>
      <vt:lpstr>Methods of Handling Deadlock</vt:lpstr>
      <vt:lpstr>Methods of Handling Deadlock</vt:lpstr>
      <vt:lpstr>Methods of Handling Deadlock</vt:lpstr>
      <vt:lpstr>Methods of Handling Deadlock</vt:lpstr>
      <vt:lpstr>Methods of Handling Deadlock</vt:lpstr>
      <vt:lpstr>Methods of Handling Deadlock</vt:lpstr>
      <vt:lpstr>Methods of Handling Deadlock</vt:lpstr>
      <vt:lpstr>Methods of Handling Deadlock</vt:lpstr>
      <vt:lpstr>Methods of Handling Deadlock</vt:lpstr>
      <vt:lpstr>Methods of Handling Deadlock</vt:lpstr>
      <vt:lpstr>Methods of Handling Deadlock</vt:lpstr>
      <vt:lpstr>PowerPoint Presentation</vt:lpstr>
      <vt:lpstr>PowerPoint Presentation</vt:lpstr>
      <vt:lpstr>PowerPoint Presentation</vt:lpstr>
      <vt:lpstr>Methods of Handling Deadlock</vt:lpstr>
      <vt:lpstr>Methods of Handling Deadlock</vt:lpstr>
      <vt:lpstr>Methods of Handling Deadlock</vt:lpstr>
      <vt:lpstr>Methods of Handling Deadlock</vt:lpstr>
      <vt:lpstr>Methods of Handling Deadlock</vt:lpstr>
      <vt:lpstr>Methods of Handling Deadlock</vt:lpstr>
      <vt:lpstr>Methods of Handling Deadlock</vt:lpstr>
      <vt:lpstr>PowerPoint Presentation</vt:lpstr>
      <vt:lpstr>PowerPoint Presentation</vt:lpstr>
      <vt:lpstr>PowerPoint Presentation</vt:lpstr>
      <vt:lpstr>Deadlock Detection </vt:lpstr>
      <vt:lpstr>Deadlock Detection </vt:lpstr>
      <vt:lpstr>Deadlock Detection </vt:lpstr>
      <vt:lpstr>Deadlock Detection </vt:lpstr>
      <vt:lpstr>Deadlock Detection </vt:lpstr>
      <vt:lpstr>Deadlock Detection </vt:lpstr>
      <vt:lpstr>Deadlock Detection </vt:lpstr>
      <vt:lpstr>Deadlock Detection </vt:lpstr>
      <vt:lpstr>Deadlock Detection </vt:lpstr>
      <vt:lpstr>Deadlock Detection </vt:lpstr>
      <vt:lpstr>Deadlock Detection </vt:lpstr>
      <vt:lpstr>Deadlock Detection </vt:lpstr>
      <vt:lpstr>PowerPoint Presentation</vt:lpstr>
      <vt:lpstr>PowerPoint Presentation</vt:lpstr>
      <vt:lpstr>PowerPoint Presentation</vt:lpstr>
      <vt:lpstr>Recovery from Deadlock</vt:lpstr>
      <vt:lpstr>Recovery from Deadlock</vt:lpstr>
      <vt:lpstr>Recovery from Deadlock</vt:lpstr>
      <vt:lpstr>Recovery from Deadlock</vt:lpstr>
      <vt:lpstr>Recovery from Deadlock</vt:lpstr>
      <vt:lpstr>Recovery from Deadlock</vt:lpstr>
      <vt:lpstr>Recovery from Deadlock</vt:lpstr>
      <vt:lpstr>Recovery from Deadlock</vt:lpstr>
      <vt:lpstr>PowerPoint Presentation</vt:lpstr>
      <vt:lpstr>PowerPoint Presentation</vt:lpstr>
      <vt:lpstr>PowerPoint Presentation</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PowerPoint Presentation</vt:lpstr>
      <vt:lpstr>PowerPoint Presentation</vt:lpstr>
      <vt:lpstr>PowerPoint Presentation</vt:lpstr>
      <vt:lpstr>Memory Management</vt:lpstr>
      <vt:lpstr>Memory Management</vt:lpstr>
      <vt:lpstr>Memory Management</vt:lpstr>
      <vt:lpstr>Memory Management</vt:lpstr>
      <vt:lpstr>Memory Management</vt:lpstr>
      <vt:lpstr>PowerPoint Presentation</vt:lpstr>
      <vt:lpstr>PowerPoint Presentation</vt:lpstr>
      <vt:lpstr>PowerPoint Presentation</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PowerPoint Presentation</vt:lpstr>
      <vt:lpstr>PowerPoint Presentation</vt:lpstr>
      <vt:lpstr>PowerPoint Presentation</vt:lpstr>
      <vt:lpstr>Memory Management</vt:lpstr>
      <vt:lpstr>Memory Management</vt:lpstr>
      <vt:lpstr>Memory Management</vt:lpstr>
      <vt:lpstr>Memory Management</vt:lpstr>
      <vt:lpstr>Memory Management</vt:lpstr>
      <vt:lpstr>Memory Management</vt:lpstr>
      <vt:lpstr>Memory Management</vt:lpstr>
      <vt:lpstr>PowerPoint Presentation</vt:lpstr>
      <vt:lpstr>PowerPoint Presentation</vt:lpstr>
      <vt:lpstr>PowerPoint Presentation</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PowerPoint Presentation</vt:lpstr>
      <vt:lpstr>PowerPoint Presentation</vt:lpstr>
      <vt:lpstr>PowerPoint Presentation</vt:lpstr>
      <vt:lpstr>Virtual Memory</vt:lpstr>
      <vt:lpstr>Virtual Memory</vt:lpstr>
      <vt:lpstr>Virtual Memory</vt:lpstr>
      <vt:lpstr>Virtual Memory</vt:lpstr>
      <vt:lpstr>Virtual Memory</vt:lpstr>
      <vt:lpstr>Virtual Memory</vt:lpstr>
      <vt:lpstr>Virtual Memory</vt:lpstr>
      <vt:lpstr>Virtual Memory</vt:lpstr>
      <vt:lpstr>Demand Paging</vt:lpstr>
      <vt:lpstr>Demand Paging</vt:lpstr>
      <vt:lpstr>Demand Paging</vt:lpstr>
      <vt:lpstr>Demand Paging</vt:lpstr>
      <vt:lpstr>Demand Paging</vt:lpstr>
      <vt:lpstr>Demand Paging</vt:lpstr>
      <vt:lpstr>Demand Paging</vt:lpstr>
      <vt:lpstr>Demand Paging</vt:lpstr>
      <vt:lpstr>PowerPoint Presentation</vt:lpstr>
      <vt:lpstr>PowerPoint Presentation</vt:lpstr>
      <vt:lpstr>PowerPoint Presentation</vt:lpstr>
      <vt:lpstr>Page Fault</vt:lpstr>
      <vt:lpstr>Page Fault</vt:lpstr>
      <vt:lpstr>Page Fault</vt:lpstr>
      <vt:lpstr>Page Replacement</vt:lpstr>
      <vt:lpstr>Page Replacement</vt:lpstr>
      <vt:lpstr>Page Replacement</vt:lpstr>
      <vt:lpstr>Page Replacement</vt:lpstr>
      <vt:lpstr>Page Replacement Algorithms</vt:lpstr>
      <vt:lpstr>Page Replacement Algorithms</vt:lpstr>
      <vt:lpstr>Page Replacement Algorithms</vt:lpstr>
      <vt:lpstr>Page Replacement Algorithms</vt:lpstr>
      <vt:lpstr>Page Replacement Algorithms</vt:lpstr>
      <vt:lpstr>Page Replacement Algorithms</vt:lpstr>
      <vt:lpstr>Page Replacement Algorithms</vt:lpstr>
      <vt:lpstr>Page Replacement Algorithms</vt:lpstr>
      <vt:lpstr>Page Replacement Algorithms</vt:lpstr>
      <vt:lpstr>Page Replacement Algorithms</vt:lpstr>
      <vt:lpstr>Page Replacement Algorithms</vt:lpstr>
      <vt:lpstr>PowerPoint Presentation</vt:lpstr>
      <vt:lpstr>PowerPoint Presentation</vt:lpstr>
      <vt:lpstr>PowerPoint Presentation</vt:lpstr>
      <vt:lpstr>Page Replacement Algorithms</vt:lpstr>
      <vt:lpstr>Page Replacement Algorithms</vt:lpstr>
      <vt:lpstr>Page Replacement Algorithms</vt:lpstr>
      <vt:lpstr>Page Replacement Algorithms</vt:lpstr>
      <vt:lpstr>Allocation of Frames</vt:lpstr>
      <vt:lpstr>Thrashing</vt:lpstr>
      <vt:lpstr>Unit 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Dileep Suresha Naik</dc:creator>
  <cp:lastModifiedBy>Vinay G</cp:lastModifiedBy>
  <cp:revision>280</cp:revision>
  <dcterms:created xsi:type="dcterms:W3CDTF">2023-08-10T08:59:21Z</dcterms:created>
  <dcterms:modified xsi:type="dcterms:W3CDTF">2025-03-04T06:44:24Z</dcterms:modified>
</cp:coreProperties>
</file>