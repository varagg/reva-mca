
<file path=[Content_Types].xml><?xml version="1.0" encoding="utf-8"?>
<Types xmlns="http://schemas.openxmlformats.org/package/2006/content-types">
  <Default Extension="bin" ContentType="application/vnd.openxmlformats-officedocument.oleObject"/>
  <Default Extension="emf" ContentType="image/x-emf"/>
  <Default Extension="jpeg" ContentType="image/jpeg"/>
  <Default Extension="jp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customXml/itemProps1.xml" ContentType="application/vnd.openxmlformats-officedocument.customXmlProperties+xml"/>
  <Override PartName="/customXml/itemProps2.xml" ContentType="application/vnd.openxmlformats-officedocument.customXmlProperties+xml"/>
  <Override PartName="/customXml/itemProps3.xml" ContentType="application/vnd.openxmlformats-officedocument.customXmlProperties+xml"/>
  <Override PartName="/ppt/slideMasters/slideMaster1.xml" ContentType="application/vnd.openxmlformats-officedocument.presentationml.slideMaster+xml"/>
  <Override PartName="/ppt/slideMasters/slideMaster2.xml" ContentType="application/vnd.openxmlformats-officedocument.presentationml.slideMaster+xml"/>
  <Override PartName="/ppt/slideMasters/slideMaster3.xml" ContentType="application/vnd.openxmlformats-officedocument.presentationml.slideMaster+xml"/>
  <Override PartName="/ppt/slideMasters/slideMaster4.xml" ContentType="application/vnd.openxmlformats-officedocument.presentationml.slideMaster+xml"/>
  <Override PartName="/ppt/slideMasters/slideMaster5.xml" ContentType="application/vnd.openxmlformats-officedocument.presentationml.slideMaster+xml"/>
  <Override PartName="/ppt/slideMasters/slideMaster6.xml" ContentType="application/vnd.openxmlformats-officedocument.presentationml.slideMaster+xml"/>
  <Override PartName="/ppt/slideMasters/slideMaster7.xml" ContentType="application/vnd.openxmlformats-officedocument.presentationml.slideMaster+xml"/>
  <Override PartName="/ppt/slideMasters/slideMaster8.xml" ContentType="application/vnd.openxmlformats-officedocument.presentationml.slideMaster+xml"/>
  <Override PartName="/ppt/slideMasters/slideMaster9.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slides/slide48.xml" ContentType="application/vnd.openxmlformats-officedocument.presentationml.slide+xml"/>
  <Override PartName="/ppt/slides/slide49.xml" ContentType="application/vnd.openxmlformats-officedocument.presentationml.slide+xml"/>
  <Override PartName="/ppt/slides/slide50.xml" ContentType="application/vnd.openxmlformats-officedocument.presentationml.slide+xml"/>
  <Override PartName="/ppt/slides/slide51.xml" ContentType="application/vnd.openxmlformats-officedocument.presentationml.slide+xml"/>
  <Override PartName="/ppt/slides/slide52.xml" ContentType="application/vnd.openxmlformats-officedocument.presentationml.slide+xml"/>
  <Override PartName="/ppt/slides/slide53.xml" ContentType="application/vnd.openxmlformats-officedocument.presentationml.slide+xml"/>
  <Override PartName="/ppt/slides/slide54.xml" ContentType="application/vnd.openxmlformats-officedocument.presentationml.slide+xml"/>
  <Override PartName="/ppt/slides/slide55.xml" ContentType="application/vnd.openxmlformats-officedocument.presentationml.slide+xml"/>
  <Override PartName="/ppt/slides/slide56.xml" ContentType="application/vnd.openxmlformats-officedocument.presentationml.slide+xml"/>
  <Override PartName="/ppt/slides/slide57.xml" ContentType="application/vnd.openxmlformats-officedocument.presentationml.slide+xml"/>
  <Override PartName="/ppt/slides/slide58.xml" ContentType="application/vnd.openxmlformats-officedocument.presentationml.slide+xml"/>
  <Override PartName="/ppt/slides/slide59.xml" ContentType="application/vnd.openxmlformats-officedocument.presentationml.slide+xml"/>
  <Override PartName="/ppt/slides/slide60.xml" ContentType="application/vnd.openxmlformats-officedocument.presentationml.slide+xml"/>
  <Override PartName="/ppt/slides/slide61.xml" ContentType="application/vnd.openxmlformats-officedocument.presentationml.slide+xml"/>
  <Override PartName="/ppt/slides/slide62.xml" ContentType="application/vnd.openxmlformats-officedocument.presentationml.slide+xml"/>
  <Override PartName="/ppt/slides/slide63.xml" ContentType="application/vnd.openxmlformats-officedocument.presentationml.slide+xml"/>
  <Override PartName="/ppt/slides/slide64.xml" ContentType="application/vnd.openxmlformats-officedocument.presentationml.slide+xml"/>
  <Override PartName="/ppt/slides/slide65.xml" ContentType="application/vnd.openxmlformats-officedocument.presentationml.slide+xml"/>
  <Override PartName="/ppt/slides/slide66.xml" ContentType="application/vnd.openxmlformats-officedocument.presentationml.slide+xml"/>
  <Override PartName="/ppt/slides/slide67.xml" ContentType="application/vnd.openxmlformats-officedocument.presentationml.slide+xml"/>
  <Override PartName="/ppt/slides/slide68.xml" ContentType="application/vnd.openxmlformats-officedocument.presentationml.slide+xml"/>
  <Override PartName="/ppt/slides/slide69.xml" ContentType="application/vnd.openxmlformats-officedocument.presentationml.slide+xml"/>
  <Override PartName="/ppt/slides/slide70.xml" ContentType="application/vnd.openxmlformats-officedocument.presentationml.slide+xml"/>
  <Override PartName="/ppt/slides/slide71.xml" ContentType="application/vnd.openxmlformats-officedocument.presentationml.slide+xml"/>
  <Override PartName="/ppt/slides/slide72.xml" ContentType="application/vnd.openxmlformats-officedocument.presentationml.slide+xml"/>
  <Override PartName="/ppt/slides/slide73.xml" ContentType="application/vnd.openxmlformats-officedocument.presentationml.slide+xml"/>
  <Override PartName="/ppt/slides/slide74.xml" ContentType="application/vnd.openxmlformats-officedocument.presentationml.slide+xml"/>
  <Override PartName="/ppt/slides/slide75.xml" ContentType="application/vnd.openxmlformats-officedocument.presentationml.slide+xml"/>
  <Override PartName="/ppt/slides/slide76.xml" ContentType="application/vnd.openxmlformats-officedocument.presentationml.slide+xml"/>
  <Override PartName="/ppt/slides/slide77.xml" ContentType="application/vnd.openxmlformats-officedocument.presentationml.slide+xml"/>
  <Override PartName="/ppt/slides/slide78.xml" ContentType="application/vnd.openxmlformats-officedocument.presentationml.slide+xml"/>
  <Override PartName="/ppt/slides/slide79.xml" ContentType="application/vnd.openxmlformats-officedocument.presentationml.slide+xml"/>
  <Override PartName="/ppt/slides/slide80.xml" ContentType="application/vnd.openxmlformats-officedocument.presentationml.slide+xml"/>
  <Override PartName="/ppt/slides/slide81.xml" ContentType="application/vnd.openxmlformats-officedocument.presentationml.slide+xml"/>
  <Override PartName="/ppt/slides/slide82.xml" ContentType="application/vnd.openxmlformats-officedocument.presentationml.slide+xml"/>
  <Override PartName="/ppt/slides/slide83.xml" ContentType="application/vnd.openxmlformats-officedocument.presentationml.slide+xml"/>
  <Override PartName="/ppt/slides/slide84.xml" ContentType="application/vnd.openxmlformats-officedocument.presentationml.slide+xml"/>
  <Override PartName="/ppt/slides/slide85.xml" ContentType="application/vnd.openxmlformats-officedocument.presentationml.slide+xml"/>
  <Override PartName="/ppt/slides/slide86.xml" ContentType="application/vnd.openxmlformats-officedocument.presentationml.slide+xml"/>
  <Override PartName="/ppt/slides/slide87.xml" ContentType="application/vnd.openxmlformats-officedocument.presentationml.slide+xml"/>
  <Override PartName="/ppt/slides/slide88.xml" ContentType="application/vnd.openxmlformats-officedocument.presentationml.slide+xml"/>
  <Override PartName="/ppt/slides/slide89.xml" ContentType="application/vnd.openxmlformats-officedocument.presentationml.slide+xml"/>
  <Override PartName="/ppt/slides/slide90.xml" ContentType="application/vnd.openxmlformats-officedocument.presentationml.slide+xml"/>
  <Override PartName="/ppt/slides/slide91.xml" ContentType="application/vnd.openxmlformats-officedocument.presentationml.slide+xml"/>
  <Override PartName="/ppt/slides/slide92.xml" ContentType="application/vnd.openxmlformats-officedocument.presentationml.slide+xml"/>
  <Override PartName="/ppt/slides/slide93.xml" ContentType="application/vnd.openxmlformats-officedocument.presentationml.slide+xml"/>
  <Override PartName="/ppt/slides/slide94.xml" ContentType="application/vnd.openxmlformats-officedocument.presentationml.slide+xml"/>
  <Override PartName="/ppt/slides/slide95.xml" ContentType="application/vnd.openxmlformats-officedocument.presentationml.slide+xml"/>
  <Override PartName="/ppt/slides/slide96.xml" ContentType="application/vnd.openxmlformats-officedocument.presentationml.slide+xml"/>
  <Override PartName="/ppt/slides/slide97.xml" ContentType="application/vnd.openxmlformats-officedocument.presentationml.slide+xml"/>
  <Override PartName="/ppt/slides/slide98.xml" ContentType="application/vnd.openxmlformats-officedocument.presentationml.slide+xml"/>
  <Override PartName="/ppt/slides/slide99.xml" ContentType="application/vnd.openxmlformats-officedocument.presentationml.slide+xml"/>
  <Override PartName="/ppt/slides/slide100.xml" ContentType="application/vnd.openxmlformats-officedocument.presentationml.slide+xml"/>
  <Override PartName="/ppt/slides/slide101.xml" ContentType="application/vnd.openxmlformats-officedocument.presentationml.slide+xml"/>
  <Override PartName="/ppt/slides/slide102.xml" ContentType="application/vnd.openxmlformats-officedocument.presentationml.slide+xml"/>
  <Override PartName="/ppt/slides/slide103.xml" ContentType="application/vnd.openxmlformats-officedocument.presentationml.slide+xml"/>
  <Override PartName="/ppt/slides/slide104.xml" ContentType="application/vnd.openxmlformats-officedocument.presentationml.slide+xml"/>
  <Override PartName="/ppt/slides/slide105.xml" ContentType="application/vnd.openxmlformats-officedocument.presentationml.slide+xml"/>
  <Override PartName="/ppt/slides/slide106.xml" ContentType="application/vnd.openxmlformats-officedocument.presentationml.slide+xml"/>
  <Override PartName="/ppt/slides/slide107.xml" ContentType="application/vnd.openxmlformats-officedocument.presentationml.slide+xml"/>
  <Override PartName="/ppt/slides/slide108.xml" ContentType="application/vnd.openxmlformats-officedocument.presentationml.slide+xml"/>
  <Override PartName="/ppt/slides/slide109.xml" ContentType="application/vnd.openxmlformats-officedocument.presentationml.slide+xml"/>
  <Override PartName="/ppt/slides/slide110.xml" ContentType="application/vnd.openxmlformats-officedocument.presentationml.slide+xml"/>
  <Override PartName="/ppt/slides/slide111.xml" ContentType="application/vnd.openxmlformats-officedocument.presentationml.slide+xml"/>
  <Override PartName="/ppt/slides/slide112.xml" ContentType="application/vnd.openxmlformats-officedocument.presentationml.slide+xml"/>
  <Override PartName="/ppt/slides/slide113.xml" ContentType="application/vnd.openxmlformats-officedocument.presentationml.slide+xml"/>
  <Override PartName="/ppt/slides/slide114.xml" ContentType="application/vnd.openxmlformats-officedocument.presentationml.slide+xml"/>
  <Override PartName="/ppt/slides/slide115.xml" ContentType="application/vnd.openxmlformats-officedocument.presentationml.slide+xml"/>
  <Override PartName="/ppt/slides/slide116.xml" ContentType="application/vnd.openxmlformats-officedocument.presentationml.slide+xml"/>
  <Override PartName="/ppt/slides/slide117.xml" ContentType="application/vnd.openxmlformats-officedocument.presentationml.slide+xml"/>
  <Override PartName="/ppt/slides/slide118.xml" ContentType="application/vnd.openxmlformats-officedocument.presentationml.slide+xml"/>
  <Override PartName="/ppt/slides/slide119.xml" ContentType="application/vnd.openxmlformats-officedocument.presentationml.slide+xml"/>
  <Override PartName="/ppt/slides/slide120.xml" ContentType="application/vnd.openxmlformats-officedocument.presentationml.slide+xml"/>
  <Override PartName="/ppt/slides/slide121.xml" ContentType="application/vnd.openxmlformats-officedocument.presentationml.slide+xml"/>
  <Override PartName="/ppt/slides/slide122.xml" ContentType="application/vnd.openxmlformats-officedocument.presentationml.slide+xml"/>
  <Override PartName="/ppt/slides/slide123.xml" ContentType="application/vnd.openxmlformats-officedocument.presentationml.slide+xml"/>
  <Override PartName="/ppt/slides/slide124.xml" ContentType="application/vnd.openxmlformats-officedocument.presentationml.slide+xml"/>
  <Override PartName="/ppt/slides/slide125.xml" ContentType="application/vnd.openxmlformats-officedocument.presentationml.slide+xml"/>
  <Override PartName="/ppt/slides/slide126.xml" ContentType="application/vnd.openxmlformats-officedocument.presentationml.slide+xml"/>
  <Override PartName="/ppt/slides/slide127.xml" ContentType="application/vnd.openxmlformats-officedocument.presentationml.slide+xml"/>
  <Override PartName="/ppt/slides/slide128.xml" ContentType="application/vnd.openxmlformats-officedocument.presentationml.slide+xml"/>
  <Override PartName="/ppt/slides/slide129.xml" ContentType="application/vnd.openxmlformats-officedocument.presentationml.slide+xml"/>
  <Override PartName="/ppt/slides/slide130.xml" ContentType="application/vnd.openxmlformats-officedocument.presentationml.slide+xml"/>
  <Override PartName="/ppt/slides/slide131.xml" ContentType="application/vnd.openxmlformats-officedocument.presentationml.slide+xml"/>
  <Override PartName="/ppt/slides/slide132.xml" ContentType="application/vnd.openxmlformats-officedocument.presentationml.slide+xml"/>
  <Override PartName="/ppt/slides/slide133.xml" ContentType="application/vnd.openxmlformats-officedocument.presentationml.slide+xml"/>
  <Override PartName="/ppt/slides/slide134.xml" ContentType="application/vnd.openxmlformats-officedocument.presentationml.slide+xml"/>
  <Override PartName="/ppt/slides/slide135.xml" ContentType="application/vnd.openxmlformats-officedocument.presentationml.slide+xml"/>
  <Override PartName="/ppt/slides/slide136.xml" ContentType="application/vnd.openxmlformats-officedocument.presentationml.slide+xml"/>
  <Override PartName="/ppt/slides/slide137.xml" ContentType="application/vnd.openxmlformats-officedocument.presentationml.slide+xml"/>
  <Override PartName="/ppt/slides/slide138.xml" ContentType="application/vnd.openxmlformats-officedocument.presentationml.slide+xml"/>
  <Override PartName="/ppt/slides/slide139.xml" ContentType="application/vnd.openxmlformats-officedocument.presentationml.slide+xml"/>
  <Override PartName="/ppt/slides/slide140.xml" ContentType="application/vnd.openxmlformats-officedocument.presentationml.slide+xml"/>
  <Override PartName="/ppt/slides/slide141.xml" ContentType="application/vnd.openxmlformats-officedocument.presentationml.slide+xml"/>
  <Override PartName="/ppt/slides/slide142.xml" ContentType="application/vnd.openxmlformats-officedocument.presentationml.slide+xml"/>
  <Override PartName="/ppt/slides/slide143.xml" ContentType="application/vnd.openxmlformats-officedocument.presentationml.slide+xml"/>
  <Override PartName="/ppt/slides/slide144.xml" ContentType="application/vnd.openxmlformats-officedocument.presentationml.slide+xml"/>
  <Override PartName="/ppt/slides/slide145.xml" ContentType="application/vnd.openxmlformats-officedocument.presentationml.slide+xml"/>
  <Override PartName="/ppt/slides/slide146.xml" ContentType="application/vnd.openxmlformats-officedocument.presentationml.slide+xml"/>
  <Override PartName="/ppt/slides/slide147.xml" ContentType="application/vnd.openxmlformats-officedocument.presentationml.slide+xml"/>
  <Override PartName="/ppt/slides/slide148.xml" ContentType="application/vnd.openxmlformats-officedocument.presentationml.slide+xml"/>
  <Override PartName="/ppt/slides/slide149.xml" ContentType="application/vnd.openxmlformats-officedocument.presentationml.slide+xml"/>
  <Override PartName="/ppt/slides/slide150.xml" ContentType="application/vnd.openxmlformats-officedocument.presentationml.slide+xml"/>
  <Override PartName="/ppt/slides/slide151.xml" ContentType="application/vnd.openxmlformats-officedocument.presentationml.slide+xml"/>
  <Override PartName="/ppt/slides/slide152.xml" ContentType="application/vnd.openxmlformats-officedocument.presentationml.slide+xml"/>
  <Override PartName="/ppt/slides/slide153.xml" ContentType="application/vnd.openxmlformats-officedocument.presentationml.slide+xml"/>
  <Override PartName="/ppt/slides/slide154.xml" ContentType="application/vnd.openxmlformats-officedocument.presentationml.slide+xml"/>
  <Override PartName="/ppt/slides/slide155.xml" ContentType="application/vnd.openxmlformats-officedocument.presentationml.slide+xml"/>
  <Override PartName="/ppt/slides/slide156.xml" ContentType="application/vnd.openxmlformats-officedocument.presentationml.slide+xml"/>
  <Override PartName="/ppt/slides/slide157.xml" ContentType="application/vnd.openxmlformats-officedocument.presentationml.slide+xml"/>
  <Override PartName="/ppt/slides/slide158.xml" ContentType="application/vnd.openxmlformats-officedocument.presentationml.slide+xml"/>
  <Override PartName="/ppt/slides/slide159.xml" ContentType="application/vnd.openxmlformats-officedocument.presentationml.slide+xml"/>
  <Override PartName="/ppt/slides/slide160.xml" ContentType="application/vnd.openxmlformats-officedocument.presentationml.slide+xml"/>
  <Override PartName="/ppt/slides/slide161.xml" ContentType="application/vnd.openxmlformats-officedocument.presentationml.slide+xml"/>
  <Override PartName="/ppt/slides/slide162.xml" ContentType="application/vnd.openxmlformats-officedocument.presentationml.slide+xml"/>
  <Override PartName="/ppt/slides/slide163.xml" ContentType="application/vnd.openxmlformats-officedocument.presentationml.slide+xml"/>
  <Override PartName="/ppt/slides/slide164.xml" ContentType="application/vnd.openxmlformats-officedocument.presentationml.slide+xml"/>
  <Override PartName="/ppt/slides/slide165.xml" ContentType="application/vnd.openxmlformats-officedocument.presentationml.slide+xml"/>
  <Override PartName="/ppt/slides/slide166.xml" ContentType="application/vnd.openxmlformats-officedocument.presentationml.slide+xml"/>
  <Override PartName="/ppt/slides/slide167.xml" ContentType="application/vnd.openxmlformats-officedocument.presentationml.slide+xml"/>
  <Override PartName="/ppt/slides/slide168.xml" ContentType="application/vnd.openxmlformats-officedocument.presentationml.slide+xml"/>
  <Override PartName="/ppt/slides/slide169.xml" ContentType="application/vnd.openxmlformats-officedocument.presentationml.slide+xml"/>
  <Override PartName="/ppt/slides/slide170.xml" ContentType="application/vnd.openxmlformats-officedocument.presentationml.slide+xml"/>
  <Override PartName="/ppt/slides/slide171.xml" ContentType="application/vnd.openxmlformats-officedocument.presentationml.slide+xml"/>
  <Override PartName="/ppt/slides/slide172.xml" ContentType="application/vnd.openxmlformats-officedocument.presentationml.slide+xml"/>
  <Override PartName="/ppt/slides/slide173.xml" ContentType="application/vnd.openxmlformats-officedocument.presentationml.slide+xml"/>
  <Override PartName="/ppt/notesMasters/notesMaster1.xml" ContentType="application/vnd.openxmlformats-officedocument.presentationml.notesMaster+xml"/>
  <Override PartName="/ppt/handoutMasters/handoutMaster1.xml" ContentType="application/vnd.openxmlformats-officedocument.presentationml.handoutMaster+xml"/>
  <Override PartName="/ppt/commentAuthors.xml" ContentType="application/vnd.openxmlformats-officedocument.presentationml.commentAuthors+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theme/theme2.xml" ContentType="application/vnd.openxmlformats-officedocument.theme+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theme/theme3.xml" ContentType="application/vnd.openxmlformats-officedocument.theme+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theme/theme4.xml" ContentType="application/vnd.openxmlformats-officedocument.theme+xml"/>
  <Override PartName="/ppt/slideLayouts/slideLayout17.xml" ContentType="application/vnd.openxmlformats-officedocument.presentationml.slideLayout+xml"/>
  <Override PartName="/ppt/slideLayouts/slideLayout18.xml" ContentType="application/vnd.openxmlformats-officedocument.presentationml.slideLayout+xml"/>
  <Override PartName="/ppt/slideLayouts/slideLayout19.xml" ContentType="application/vnd.openxmlformats-officedocument.presentationml.slideLayout+xml"/>
  <Override PartName="/ppt/slideLayouts/slideLayout20.xml" ContentType="application/vnd.openxmlformats-officedocument.presentationml.slideLayout+xml"/>
  <Override PartName="/ppt/theme/theme5.xml" ContentType="application/vnd.openxmlformats-officedocument.theme+xml"/>
  <Override PartName="/ppt/slideLayouts/slideLayout21.xml" ContentType="application/vnd.openxmlformats-officedocument.presentationml.slideLayout+xml"/>
  <Override PartName="/ppt/slideLayouts/slideLayout22.xml" ContentType="application/vnd.openxmlformats-officedocument.presentationml.slideLayout+xml"/>
  <Override PartName="/ppt/slideLayouts/slideLayout23.xml" ContentType="application/vnd.openxmlformats-officedocument.presentationml.slideLayout+xml"/>
  <Override PartName="/ppt/slideLayouts/slideLayout24.xml" ContentType="application/vnd.openxmlformats-officedocument.presentationml.slideLayout+xml"/>
  <Override PartName="/ppt/theme/theme6.xml" ContentType="application/vnd.openxmlformats-officedocument.theme+xml"/>
  <Override PartName="/ppt/slideLayouts/slideLayout25.xml" ContentType="application/vnd.openxmlformats-officedocument.presentationml.slideLayout+xml"/>
  <Override PartName="/ppt/slideLayouts/slideLayout26.xml" ContentType="application/vnd.openxmlformats-officedocument.presentationml.slideLayout+xml"/>
  <Override PartName="/ppt/slideLayouts/slideLayout27.xml" ContentType="application/vnd.openxmlformats-officedocument.presentationml.slideLayout+xml"/>
  <Override PartName="/ppt/slideLayouts/slideLayout28.xml" ContentType="application/vnd.openxmlformats-officedocument.presentationml.slideLayout+xml"/>
  <Override PartName="/ppt/slideLayouts/slideLayout29.xml" ContentType="application/vnd.openxmlformats-officedocument.presentationml.slideLayout+xml"/>
  <Override PartName="/ppt/slideLayouts/slideLayout30.xml" ContentType="application/vnd.openxmlformats-officedocument.presentationml.slideLayout+xml"/>
  <Override PartName="/ppt/theme/theme7.xml" ContentType="application/vnd.openxmlformats-officedocument.theme+xml"/>
  <Override PartName="/ppt/slideLayouts/slideLayout31.xml" ContentType="application/vnd.openxmlformats-officedocument.presentationml.slideLayout+xml"/>
  <Override PartName="/ppt/slideLayouts/slideLayout32.xml" ContentType="application/vnd.openxmlformats-officedocument.presentationml.slideLayout+xml"/>
  <Override PartName="/ppt/theme/theme8.xml" ContentType="application/vnd.openxmlformats-officedocument.theme+xml"/>
  <Override PartName="/ppt/slideLayouts/slideLayout33.xml" ContentType="application/vnd.openxmlformats-officedocument.presentationml.slideLayout+xml"/>
  <Override PartName="/ppt/slideLayouts/slideLayout34.xml" ContentType="application/vnd.openxmlformats-officedocument.presentationml.slideLayout+xml"/>
  <Override PartName="/ppt/slideLayouts/slideLayout35.xml" ContentType="application/vnd.openxmlformats-officedocument.presentationml.slideLayout+xml"/>
  <Override PartName="/ppt/slideLayouts/slideLayout36.xml" ContentType="application/vnd.openxmlformats-officedocument.presentationml.slideLayout+xml"/>
  <Override PartName="/ppt/theme/theme9.xml" ContentType="application/vnd.openxmlformats-officedocument.theme+xml"/>
  <Override PartName="/ppt/theme/theme10.xml" ContentType="application/vnd.openxmlformats-officedocument.theme+xml"/>
  <Override PartName="/ppt/theme/theme11.xml" ContentType="application/vnd.openxmlformats-officedocument.theme+xml"/>
  <Override PartName="/ppt/theme/themeOverride1.xml" ContentType="application/vnd.openxmlformats-officedocument.themeOverride+xml"/>
  <Override PartName="/ppt/theme/themeOverride2.xml" ContentType="application/vnd.openxmlformats-officedocument.themeOverrid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 Id="rId4" Type="http://schemas.openxmlformats.org/officeDocument/2006/relationships/custom-properties" Target="docProps/custom.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707" r:id="rId4"/>
    <p:sldMasterId id="2147483953" r:id="rId5"/>
    <p:sldMasterId id="2147483954" r:id="rId6"/>
    <p:sldMasterId id="2147483961" r:id="rId7"/>
    <p:sldMasterId id="2147483963" r:id="rId8"/>
    <p:sldMasterId id="2147483956" r:id="rId9"/>
    <p:sldMasterId id="2147483958" r:id="rId10"/>
    <p:sldMasterId id="2147483955" r:id="rId11"/>
    <p:sldMasterId id="2147483973" r:id="rId12"/>
  </p:sldMasterIdLst>
  <p:notesMasterIdLst>
    <p:notesMasterId r:id="rId186"/>
  </p:notesMasterIdLst>
  <p:handoutMasterIdLst>
    <p:handoutMasterId r:id="rId187"/>
  </p:handoutMasterIdLst>
  <p:sldIdLst>
    <p:sldId id="569" r:id="rId13"/>
    <p:sldId id="574" r:id="rId14"/>
    <p:sldId id="437" r:id="rId15"/>
    <p:sldId id="434" r:id="rId16"/>
    <p:sldId id="608" r:id="rId17"/>
    <p:sldId id="375" r:id="rId18"/>
    <p:sldId id="374" r:id="rId19"/>
    <p:sldId id="704" r:id="rId20"/>
    <p:sldId id="376" r:id="rId21"/>
    <p:sldId id="597" r:id="rId22"/>
    <p:sldId id="609" r:id="rId23"/>
    <p:sldId id="598" r:id="rId24"/>
    <p:sldId id="628" r:id="rId25"/>
    <p:sldId id="602" r:id="rId26"/>
    <p:sldId id="601" r:id="rId27"/>
    <p:sldId id="606" r:id="rId28"/>
    <p:sldId id="629" r:id="rId29"/>
    <p:sldId id="600" r:id="rId30"/>
    <p:sldId id="603" r:id="rId31"/>
    <p:sldId id="604" r:id="rId32"/>
    <p:sldId id="630" r:id="rId33"/>
    <p:sldId id="631" r:id="rId34"/>
    <p:sldId id="632" r:id="rId35"/>
    <p:sldId id="577" r:id="rId36"/>
    <p:sldId id="575" r:id="rId37"/>
    <p:sldId id="576" r:id="rId38"/>
    <p:sldId id="578" r:id="rId39"/>
    <p:sldId id="705" r:id="rId40"/>
    <p:sldId id="579" r:id="rId41"/>
    <p:sldId id="633" r:id="rId42"/>
    <p:sldId id="581" r:id="rId43"/>
    <p:sldId id="634" r:id="rId44"/>
    <p:sldId id="636" r:id="rId45"/>
    <p:sldId id="582" r:id="rId46"/>
    <p:sldId id="635" r:id="rId47"/>
    <p:sldId id="637" r:id="rId48"/>
    <p:sldId id="638" r:id="rId49"/>
    <p:sldId id="590" r:id="rId50"/>
    <p:sldId id="591" r:id="rId51"/>
    <p:sldId id="592" r:id="rId52"/>
    <p:sldId id="593" r:id="rId53"/>
    <p:sldId id="594" r:id="rId54"/>
    <p:sldId id="525" r:id="rId55"/>
    <p:sldId id="392" r:id="rId56"/>
    <p:sldId id="570" r:id="rId57"/>
    <p:sldId id="639" r:id="rId58"/>
    <p:sldId id="641" r:id="rId59"/>
    <p:sldId id="640" r:id="rId60"/>
    <p:sldId id="642" r:id="rId61"/>
    <p:sldId id="643" r:id="rId62"/>
    <p:sldId id="644" r:id="rId63"/>
    <p:sldId id="393" r:id="rId64"/>
    <p:sldId id="645" r:id="rId65"/>
    <p:sldId id="571" r:id="rId66"/>
    <p:sldId id="430" r:id="rId67"/>
    <p:sldId id="573" r:id="rId68"/>
    <p:sldId id="610" r:id="rId69"/>
    <p:sldId id="646" r:id="rId70"/>
    <p:sldId id="647" r:id="rId71"/>
    <p:sldId id="648" r:id="rId72"/>
    <p:sldId id="611" r:id="rId73"/>
    <p:sldId id="612" r:id="rId74"/>
    <p:sldId id="613" r:id="rId75"/>
    <p:sldId id="614" r:id="rId76"/>
    <p:sldId id="509" r:id="rId77"/>
    <p:sldId id="649" r:id="rId78"/>
    <p:sldId id="650" r:id="rId79"/>
    <p:sldId id="651" r:id="rId80"/>
    <p:sldId id="652" r:id="rId81"/>
    <p:sldId id="653" r:id="rId82"/>
    <p:sldId id="654" r:id="rId83"/>
    <p:sldId id="656" r:id="rId84"/>
    <p:sldId id="655" r:id="rId85"/>
    <p:sldId id="513" r:id="rId86"/>
    <p:sldId id="512" r:id="rId87"/>
    <p:sldId id="511" r:id="rId88"/>
    <p:sldId id="507" r:id="rId89"/>
    <p:sldId id="391" r:id="rId90"/>
    <p:sldId id="657" r:id="rId91"/>
    <p:sldId id="659" r:id="rId92"/>
    <p:sldId id="620" r:id="rId93"/>
    <p:sldId id="622" r:id="rId94"/>
    <p:sldId id="621" r:id="rId95"/>
    <p:sldId id="626" r:id="rId96"/>
    <p:sldId id="664" r:id="rId97"/>
    <p:sldId id="660" r:id="rId98"/>
    <p:sldId id="661" r:id="rId99"/>
    <p:sldId id="658" r:id="rId100"/>
    <p:sldId id="663" r:id="rId101"/>
    <p:sldId id="627" r:id="rId102"/>
    <p:sldId id="623" r:id="rId103"/>
    <p:sldId id="624" r:id="rId104"/>
    <p:sldId id="665" r:id="rId105"/>
    <p:sldId id="625" r:id="rId106"/>
    <p:sldId id="666" r:id="rId107"/>
    <p:sldId id="407" r:id="rId108"/>
    <p:sldId id="667" r:id="rId109"/>
    <p:sldId id="669" r:id="rId110"/>
    <p:sldId id="668" r:id="rId111"/>
    <p:sldId id="670" r:id="rId112"/>
    <p:sldId id="673" r:id="rId113"/>
    <p:sldId id="671" r:id="rId114"/>
    <p:sldId id="672" r:id="rId115"/>
    <p:sldId id="677" r:id="rId116"/>
    <p:sldId id="676" r:id="rId117"/>
    <p:sldId id="674" r:id="rId118"/>
    <p:sldId id="394" r:id="rId119"/>
    <p:sldId id="678" r:id="rId120"/>
    <p:sldId id="679" r:id="rId121"/>
    <p:sldId id="680" r:id="rId122"/>
    <p:sldId id="681" r:id="rId123"/>
    <p:sldId id="395" r:id="rId124"/>
    <p:sldId id="396" r:id="rId125"/>
    <p:sldId id="397" r:id="rId126"/>
    <p:sldId id="398" r:id="rId127"/>
    <p:sldId id="412" r:id="rId128"/>
    <p:sldId id="415" r:id="rId129"/>
    <p:sldId id="416" r:id="rId130"/>
    <p:sldId id="417" r:id="rId131"/>
    <p:sldId id="418" r:id="rId132"/>
    <p:sldId id="420" r:id="rId133"/>
    <p:sldId id="433" r:id="rId134"/>
    <p:sldId id="544" r:id="rId135"/>
    <p:sldId id="545" r:id="rId136"/>
    <p:sldId id="546" r:id="rId137"/>
    <p:sldId id="547" r:id="rId138"/>
    <p:sldId id="548" r:id="rId139"/>
    <p:sldId id="549" r:id="rId140"/>
    <p:sldId id="550" r:id="rId141"/>
    <p:sldId id="551" r:id="rId142"/>
    <p:sldId id="682" r:id="rId143"/>
    <p:sldId id="552" r:id="rId144"/>
    <p:sldId id="683" r:id="rId145"/>
    <p:sldId id="684" r:id="rId146"/>
    <p:sldId id="553" r:id="rId147"/>
    <p:sldId id="554" r:id="rId148"/>
    <p:sldId id="419" r:id="rId149"/>
    <p:sldId id="556" r:id="rId150"/>
    <p:sldId id="557" r:id="rId151"/>
    <p:sldId id="558" r:id="rId152"/>
    <p:sldId id="559" r:id="rId153"/>
    <p:sldId id="616" r:id="rId154"/>
    <p:sldId id="617" r:id="rId155"/>
    <p:sldId id="618" r:id="rId156"/>
    <p:sldId id="619" r:id="rId157"/>
    <p:sldId id="685" r:id="rId158"/>
    <p:sldId id="693" r:id="rId159"/>
    <p:sldId id="694" r:id="rId160"/>
    <p:sldId id="695" r:id="rId161"/>
    <p:sldId id="696" r:id="rId162"/>
    <p:sldId id="686" r:id="rId163"/>
    <p:sldId id="697" r:id="rId164"/>
    <p:sldId id="698" r:id="rId165"/>
    <p:sldId id="699" r:id="rId166"/>
    <p:sldId id="700" r:id="rId167"/>
    <p:sldId id="701" r:id="rId168"/>
    <p:sldId id="687" r:id="rId169"/>
    <p:sldId id="702" r:id="rId170"/>
    <p:sldId id="708" r:id="rId171"/>
    <p:sldId id="710" r:id="rId172"/>
    <p:sldId id="707" r:id="rId173"/>
    <p:sldId id="703" r:id="rId174"/>
    <p:sldId id="709" r:id="rId175"/>
    <p:sldId id="706" r:id="rId176"/>
    <p:sldId id="711" r:id="rId177"/>
    <p:sldId id="712" r:id="rId178"/>
    <p:sldId id="713" r:id="rId179"/>
    <p:sldId id="714" r:id="rId180"/>
    <p:sldId id="715" r:id="rId181"/>
    <p:sldId id="716" r:id="rId182"/>
    <p:sldId id="717" r:id="rId183"/>
    <p:sldId id="718" r:id="rId184"/>
    <p:sldId id="688" r:id="rId185"/>
  </p:sldIdLst>
  <p:sldSz cx="12192000" cy="6858000"/>
  <p:notesSz cx="6807200" cy="9939338"/>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160">
          <p15:clr>
            <a:srgbClr val="A4A3A4"/>
          </p15:clr>
        </p15:guide>
        <p15:guide id="2" pos="3840">
          <p15:clr>
            <a:srgbClr val="A4A3A4"/>
          </p15:clr>
        </p15:guide>
        <p15:guide id="3" orient="horz" userDrawn="1">
          <p15:clr>
            <a:srgbClr val="A4A3A4"/>
          </p15:clr>
        </p15:guide>
        <p15:guide id="4" pos="7679">
          <p15:clr>
            <a:srgbClr val="A4A3A4"/>
          </p15:clr>
        </p15:guide>
      </p15:sldGuideLst>
    </p:ext>
    <p:ext uri="{2D200454-40CA-4A62-9FC3-DE9A4176ACB9}">
      <p15:notesGuideLst xmlns:p15="http://schemas.microsoft.com/office/powerpoint/2012/main">
        <p15:guide id="1" orient="horz" pos="3130">
          <p15:clr>
            <a:srgbClr val="A4A3A4"/>
          </p15:clr>
        </p15:guide>
        <p15:guide id="2" pos="2144">
          <p15:clr>
            <a:srgbClr val="A4A3A4"/>
          </p15:clr>
        </p15:guide>
      </p15:notesGuideLst>
    </p:ext>
  </p:extLst>
</p:presentation>
</file>

<file path=ppt/commentAuthors.xml><?xml version="1.0" encoding="utf-8"?>
<p:cmAuthorLst xmlns:a="http://schemas.openxmlformats.org/drawingml/2006/main" xmlns:r="http://schemas.openxmlformats.org/officeDocument/2006/relationships" xmlns:p="http://schemas.openxmlformats.org/presentationml/2006/main">
  <p:cmAuthor id="1" name="Akiko Takemi" initials="AT" lastIdx="1" clrIdx="0"/>
</p:cmAuthorLst>
</file>

<file path=ppt/presProps.xml><?xml version="1.0" encoding="utf-8"?>
<p:presentationPr xmlns:a="http://schemas.openxmlformats.org/drawingml/2006/main" xmlns:r="http://schemas.openxmlformats.org/officeDocument/2006/relationships" xmlns:p="http://schemas.openxmlformats.org/presentationml/2006/main">
  <p:prnPr/>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48367D"/>
    <a:srgbClr val="FF6600"/>
    <a:srgbClr val="A5A5A5"/>
    <a:srgbClr val="F9950F"/>
    <a:srgbClr val="E7E6E6"/>
    <a:srgbClr val="4C5252"/>
    <a:srgbClr val="EFCAAF"/>
    <a:srgbClr val="958FBC"/>
    <a:srgbClr val="EBE4A7"/>
    <a:srgbClr val="C9D5B1"/>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21E4AEA4-8DFA-4A89-87EB-49C32662AFE0}" styleName="Medium Style 2 - Accent 2">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2">
              <a:tint val="20000"/>
            </a:schemeClr>
          </a:solidFill>
        </a:fill>
      </a:tcStyle>
    </a:wholeTbl>
    <a:band1H>
      <a:tcStyle>
        <a:tcBdr/>
        <a:fill>
          <a:solidFill>
            <a:schemeClr val="accent2">
              <a:tint val="40000"/>
            </a:schemeClr>
          </a:solidFill>
        </a:fill>
      </a:tcStyle>
    </a:band1H>
    <a:band2H>
      <a:tcStyle>
        <a:tcBdr/>
      </a:tcStyle>
    </a:band2H>
    <a:band1V>
      <a:tcStyle>
        <a:tcBdr/>
        <a:fill>
          <a:solidFill>
            <a:schemeClr val="accent2">
              <a:tint val="40000"/>
            </a:schemeClr>
          </a:solidFill>
        </a:fill>
      </a:tcStyle>
    </a:band1V>
    <a:band2V>
      <a:tcStyle>
        <a:tcBdr/>
      </a:tcStyle>
    </a:band2V>
    <a:lastCol>
      <a:tcTxStyle b="on">
        <a:fontRef idx="minor">
          <a:prstClr val="black"/>
        </a:fontRef>
        <a:schemeClr val="lt1"/>
      </a:tcTxStyle>
      <a:tcStyle>
        <a:tcBdr/>
        <a:fill>
          <a:solidFill>
            <a:schemeClr val="accent2"/>
          </a:solidFill>
        </a:fill>
      </a:tcStyle>
    </a:lastCol>
    <a:firstCol>
      <a:tcTxStyle b="on">
        <a:fontRef idx="minor">
          <a:prstClr val="black"/>
        </a:fontRef>
        <a:schemeClr val="lt1"/>
      </a:tcTxStyle>
      <a:tcStyle>
        <a:tcBdr/>
        <a:fill>
          <a:solidFill>
            <a:schemeClr val="accent2"/>
          </a:solidFill>
        </a:fill>
      </a:tcStyle>
    </a:firstCol>
    <a:lastRow>
      <a:tcTxStyle b="on">
        <a:fontRef idx="minor">
          <a:prstClr val="black"/>
        </a:fontRef>
        <a:schemeClr val="lt1"/>
      </a:tcTxStyle>
      <a:tcStyle>
        <a:tcBdr>
          <a:top>
            <a:ln w="38100" cmpd="sng">
              <a:solidFill>
                <a:schemeClr val="lt1"/>
              </a:solidFill>
            </a:ln>
          </a:top>
        </a:tcBdr>
        <a:fill>
          <a:solidFill>
            <a:schemeClr val="accent2"/>
          </a:solidFill>
        </a:fill>
      </a:tcStyle>
    </a:lastRow>
    <a:firstRow>
      <a:tcTxStyle b="on">
        <a:fontRef idx="minor">
          <a:prstClr val="black"/>
        </a:fontRef>
        <a:schemeClr val="lt1"/>
      </a:tcTxStyle>
      <a:tcStyle>
        <a:tcBdr>
          <a:bottom>
            <a:ln w="38100" cmpd="sng">
              <a:solidFill>
                <a:schemeClr val="lt1"/>
              </a:solidFill>
            </a:ln>
          </a:bottom>
        </a:tcBdr>
        <a:fill>
          <a:solidFill>
            <a:schemeClr val="accent2"/>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lastView="sldThumbnailView">
  <p:normalViewPr horzBarState="maximized">
    <p:restoredLeft sz="24399" autoAdjust="0"/>
    <p:restoredTop sz="86391"/>
  </p:normalViewPr>
  <p:slideViewPr>
    <p:cSldViewPr>
      <p:cViewPr varScale="1">
        <p:scale>
          <a:sx n="73" d="100"/>
          <a:sy n="73" d="100"/>
        </p:scale>
        <p:origin x="44" y="68"/>
      </p:cViewPr>
      <p:guideLst>
        <p:guide orient="horz" pos="2160"/>
        <p:guide pos="3840"/>
        <p:guide orient="horz"/>
        <p:guide pos="7679"/>
      </p:guideLst>
    </p:cSldViewPr>
  </p:slideViewPr>
  <p:outlineViewPr>
    <p:cViewPr>
      <p:scale>
        <a:sx n="33" d="100"/>
        <a:sy n="33" d="100"/>
      </p:scale>
      <p:origin x="0" y="0"/>
    </p:cViewPr>
  </p:outlineViewPr>
  <p:notesTextViewPr>
    <p:cViewPr>
      <p:scale>
        <a:sx n="1" d="1"/>
        <a:sy n="1" d="1"/>
      </p:scale>
      <p:origin x="0" y="0"/>
    </p:cViewPr>
  </p:notesTextViewPr>
  <p:sorterViewPr>
    <p:cViewPr>
      <p:scale>
        <a:sx n="100" d="100"/>
        <a:sy n="100" d="100"/>
      </p:scale>
      <p:origin x="0" y="0"/>
    </p:cViewPr>
  </p:sorterViewPr>
  <p:notesViewPr>
    <p:cSldViewPr showGuides="1">
      <p:cViewPr varScale="1">
        <p:scale>
          <a:sx n="75" d="100"/>
          <a:sy n="75" d="100"/>
        </p:scale>
        <p:origin x="-4068" y="-114"/>
      </p:cViewPr>
      <p:guideLst>
        <p:guide orient="horz" pos="3130"/>
        <p:guide pos="2144"/>
      </p:guideLst>
    </p:cSldViewPr>
  </p:notesViewPr>
  <p:gridSpacing cx="72008" cy="72008"/>
</p:viewPr>
</file>

<file path=ppt/_rels/presentation.xml.rels><?xml version="1.0" encoding="UTF-8" standalone="yes"?>
<Relationships xmlns="http://schemas.openxmlformats.org/package/2006/relationships"><Relationship Id="rId117" Type="http://schemas.openxmlformats.org/officeDocument/2006/relationships/slide" Target="slides/slide105.xml"/><Relationship Id="rId21" Type="http://schemas.openxmlformats.org/officeDocument/2006/relationships/slide" Target="slides/slide9.xml"/><Relationship Id="rId42" Type="http://schemas.openxmlformats.org/officeDocument/2006/relationships/slide" Target="slides/slide30.xml"/><Relationship Id="rId63" Type="http://schemas.openxmlformats.org/officeDocument/2006/relationships/slide" Target="slides/slide51.xml"/><Relationship Id="rId84" Type="http://schemas.openxmlformats.org/officeDocument/2006/relationships/slide" Target="slides/slide72.xml"/><Relationship Id="rId138" Type="http://schemas.openxmlformats.org/officeDocument/2006/relationships/slide" Target="slides/slide126.xml"/><Relationship Id="rId159" Type="http://schemas.openxmlformats.org/officeDocument/2006/relationships/slide" Target="slides/slide147.xml"/><Relationship Id="rId170" Type="http://schemas.openxmlformats.org/officeDocument/2006/relationships/slide" Target="slides/slide158.xml"/><Relationship Id="rId191" Type="http://schemas.openxmlformats.org/officeDocument/2006/relationships/theme" Target="theme/theme1.xml"/><Relationship Id="rId107" Type="http://schemas.openxmlformats.org/officeDocument/2006/relationships/slide" Target="slides/slide95.xml"/><Relationship Id="rId11" Type="http://schemas.openxmlformats.org/officeDocument/2006/relationships/slideMaster" Target="slideMasters/slideMaster8.xml"/><Relationship Id="rId32" Type="http://schemas.openxmlformats.org/officeDocument/2006/relationships/slide" Target="slides/slide20.xml"/><Relationship Id="rId53" Type="http://schemas.openxmlformats.org/officeDocument/2006/relationships/slide" Target="slides/slide41.xml"/><Relationship Id="rId74" Type="http://schemas.openxmlformats.org/officeDocument/2006/relationships/slide" Target="slides/slide62.xml"/><Relationship Id="rId128" Type="http://schemas.openxmlformats.org/officeDocument/2006/relationships/slide" Target="slides/slide116.xml"/><Relationship Id="rId149" Type="http://schemas.openxmlformats.org/officeDocument/2006/relationships/slide" Target="slides/slide137.xml"/><Relationship Id="rId5" Type="http://schemas.openxmlformats.org/officeDocument/2006/relationships/slideMaster" Target="slideMasters/slideMaster2.xml"/><Relationship Id="rId95" Type="http://schemas.openxmlformats.org/officeDocument/2006/relationships/slide" Target="slides/slide83.xml"/><Relationship Id="rId160" Type="http://schemas.openxmlformats.org/officeDocument/2006/relationships/slide" Target="slides/slide148.xml"/><Relationship Id="rId181" Type="http://schemas.openxmlformats.org/officeDocument/2006/relationships/slide" Target="slides/slide169.xml"/><Relationship Id="rId22" Type="http://schemas.openxmlformats.org/officeDocument/2006/relationships/slide" Target="slides/slide10.xml"/><Relationship Id="rId43" Type="http://schemas.openxmlformats.org/officeDocument/2006/relationships/slide" Target="slides/slide31.xml"/><Relationship Id="rId64" Type="http://schemas.openxmlformats.org/officeDocument/2006/relationships/slide" Target="slides/slide52.xml"/><Relationship Id="rId118" Type="http://schemas.openxmlformats.org/officeDocument/2006/relationships/slide" Target="slides/slide106.xml"/><Relationship Id="rId139" Type="http://schemas.openxmlformats.org/officeDocument/2006/relationships/slide" Target="slides/slide127.xml"/><Relationship Id="rId85" Type="http://schemas.openxmlformats.org/officeDocument/2006/relationships/slide" Target="slides/slide73.xml"/><Relationship Id="rId150" Type="http://schemas.openxmlformats.org/officeDocument/2006/relationships/slide" Target="slides/slide138.xml"/><Relationship Id="rId171" Type="http://schemas.openxmlformats.org/officeDocument/2006/relationships/slide" Target="slides/slide159.xml"/><Relationship Id="rId192" Type="http://schemas.openxmlformats.org/officeDocument/2006/relationships/tableStyles" Target="tableStyles.xml"/><Relationship Id="rId12" Type="http://schemas.openxmlformats.org/officeDocument/2006/relationships/slideMaster" Target="slideMasters/slideMaster9.xml"/><Relationship Id="rId33" Type="http://schemas.openxmlformats.org/officeDocument/2006/relationships/slide" Target="slides/slide21.xml"/><Relationship Id="rId108" Type="http://schemas.openxmlformats.org/officeDocument/2006/relationships/slide" Target="slides/slide96.xml"/><Relationship Id="rId129" Type="http://schemas.openxmlformats.org/officeDocument/2006/relationships/slide" Target="slides/slide117.xml"/><Relationship Id="rId54" Type="http://schemas.openxmlformats.org/officeDocument/2006/relationships/slide" Target="slides/slide42.xml"/><Relationship Id="rId75" Type="http://schemas.openxmlformats.org/officeDocument/2006/relationships/slide" Target="slides/slide63.xml"/><Relationship Id="rId96" Type="http://schemas.openxmlformats.org/officeDocument/2006/relationships/slide" Target="slides/slide84.xml"/><Relationship Id="rId140" Type="http://schemas.openxmlformats.org/officeDocument/2006/relationships/slide" Target="slides/slide128.xml"/><Relationship Id="rId161" Type="http://schemas.openxmlformats.org/officeDocument/2006/relationships/slide" Target="slides/slide149.xml"/><Relationship Id="rId182" Type="http://schemas.openxmlformats.org/officeDocument/2006/relationships/slide" Target="slides/slide170.xml"/><Relationship Id="rId6" Type="http://schemas.openxmlformats.org/officeDocument/2006/relationships/slideMaster" Target="slideMasters/slideMaster3.xml"/><Relationship Id="rId23" Type="http://schemas.openxmlformats.org/officeDocument/2006/relationships/slide" Target="slides/slide11.xml"/><Relationship Id="rId119" Type="http://schemas.openxmlformats.org/officeDocument/2006/relationships/slide" Target="slides/slide107.xml"/><Relationship Id="rId44" Type="http://schemas.openxmlformats.org/officeDocument/2006/relationships/slide" Target="slides/slide32.xml"/><Relationship Id="rId65" Type="http://schemas.openxmlformats.org/officeDocument/2006/relationships/slide" Target="slides/slide53.xml"/><Relationship Id="rId86" Type="http://schemas.openxmlformats.org/officeDocument/2006/relationships/slide" Target="slides/slide74.xml"/><Relationship Id="rId130" Type="http://schemas.openxmlformats.org/officeDocument/2006/relationships/slide" Target="slides/slide118.xml"/><Relationship Id="rId151" Type="http://schemas.openxmlformats.org/officeDocument/2006/relationships/slide" Target="slides/slide139.xml"/><Relationship Id="rId172" Type="http://schemas.openxmlformats.org/officeDocument/2006/relationships/slide" Target="slides/slide160.xml"/><Relationship Id="rId13" Type="http://schemas.openxmlformats.org/officeDocument/2006/relationships/slide" Target="slides/slide1.xml"/><Relationship Id="rId18" Type="http://schemas.openxmlformats.org/officeDocument/2006/relationships/slide" Target="slides/slide6.xml"/><Relationship Id="rId39" Type="http://schemas.openxmlformats.org/officeDocument/2006/relationships/slide" Target="slides/slide27.xml"/><Relationship Id="rId109" Type="http://schemas.openxmlformats.org/officeDocument/2006/relationships/slide" Target="slides/slide97.xml"/><Relationship Id="rId34" Type="http://schemas.openxmlformats.org/officeDocument/2006/relationships/slide" Target="slides/slide22.xml"/><Relationship Id="rId50" Type="http://schemas.openxmlformats.org/officeDocument/2006/relationships/slide" Target="slides/slide38.xml"/><Relationship Id="rId55" Type="http://schemas.openxmlformats.org/officeDocument/2006/relationships/slide" Target="slides/slide43.xml"/><Relationship Id="rId76" Type="http://schemas.openxmlformats.org/officeDocument/2006/relationships/slide" Target="slides/slide64.xml"/><Relationship Id="rId97" Type="http://schemas.openxmlformats.org/officeDocument/2006/relationships/slide" Target="slides/slide85.xml"/><Relationship Id="rId104" Type="http://schemas.openxmlformats.org/officeDocument/2006/relationships/slide" Target="slides/slide92.xml"/><Relationship Id="rId120" Type="http://schemas.openxmlformats.org/officeDocument/2006/relationships/slide" Target="slides/slide108.xml"/><Relationship Id="rId125" Type="http://schemas.openxmlformats.org/officeDocument/2006/relationships/slide" Target="slides/slide113.xml"/><Relationship Id="rId141" Type="http://schemas.openxmlformats.org/officeDocument/2006/relationships/slide" Target="slides/slide129.xml"/><Relationship Id="rId146" Type="http://schemas.openxmlformats.org/officeDocument/2006/relationships/slide" Target="slides/slide134.xml"/><Relationship Id="rId167" Type="http://schemas.openxmlformats.org/officeDocument/2006/relationships/slide" Target="slides/slide155.xml"/><Relationship Id="rId188" Type="http://schemas.openxmlformats.org/officeDocument/2006/relationships/commentAuthors" Target="commentAuthors.xml"/><Relationship Id="rId7" Type="http://schemas.openxmlformats.org/officeDocument/2006/relationships/slideMaster" Target="slideMasters/slideMaster4.xml"/><Relationship Id="rId71" Type="http://schemas.openxmlformats.org/officeDocument/2006/relationships/slide" Target="slides/slide59.xml"/><Relationship Id="rId92" Type="http://schemas.openxmlformats.org/officeDocument/2006/relationships/slide" Target="slides/slide80.xml"/><Relationship Id="rId162" Type="http://schemas.openxmlformats.org/officeDocument/2006/relationships/slide" Target="slides/slide150.xml"/><Relationship Id="rId183" Type="http://schemas.openxmlformats.org/officeDocument/2006/relationships/slide" Target="slides/slide171.xml"/><Relationship Id="rId2" Type="http://schemas.openxmlformats.org/officeDocument/2006/relationships/customXml" Target="../customXml/item2.xml"/><Relationship Id="rId29" Type="http://schemas.openxmlformats.org/officeDocument/2006/relationships/slide" Target="slides/slide17.xml"/><Relationship Id="rId24" Type="http://schemas.openxmlformats.org/officeDocument/2006/relationships/slide" Target="slides/slide12.xml"/><Relationship Id="rId40" Type="http://schemas.openxmlformats.org/officeDocument/2006/relationships/slide" Target="slides/slide28.xml"/><Relationship Id="rId45" Type="http://schemas.openxmlformats.org/officeDocument/2006/relationships/slide" Target="slides/slide33.xml"/><Relationship Id="rId66" Type="http://schemas.openxmlformats.org/officeDocument/2006/relationships/slide" Target="slides/slide54.xml"/><Relationship Id="rId87" Type="http://schemas.openxmlformats.org/officeDocument/2006/relationships/slide" Target="slides/slide75.xml"/><Relationship Id="rId110" Type="http://schemas.openxmlformats.org/officeDocument/2006/relationships/slide" Target="slides/slide98.xml"/><Relationship Id="rId115" Type="http://schemas.openxmlformats.org/officeDocument/2006/relationships/slide" Target="slides/slide103.xml"/><Relationship Id="rId131" Type="http://schemas.openxmlformats.org/officeDocument/2006/relationships/slide" Target="slides/slide119.xml"/><Relationship Id="rId136" Type="http://schemas.openxmlformats.org/officeDocument/2006/relationships/slide" Target="slides/slide124.xml"/><Relationship Id="rId157" Type="http://schemas.openxmlformats.org/officeDocument/2006/relationships/slide" Target="slides/slide145.xml"/><Relationship Id="rId178" Type="http://schemas.openxmlformats.org/officeDocument/2006/relationships/slide" Target="slides/slide166.xml"/><Relationship Id="rId61" Type="http://schemas.openxmlformats.org/officeDocument/2006/relationships/slide" Target="slides/slide49.xml"/><Relationship Id="rId82" Type="http://schemas.openxmlformats.org/officeDocument/2006/relationships/slide" Target="slides/slide70.xml"/><Relationship Id="rId152" Type="http://schemas.openxmlformats.org/officeDocument/2006/relationships/slide" Target="slides/slide140.xml"/><Relationship Id="rId173" Type="http://schemas.openxmlformats.org/officeDocument/2006/relationships/slide" Target="slides/slide161.xml"/><Relationship Id="rId19" Type="http://schemas.openxmlformats.org/officeDocument/2006/relationships/slide" Target="slides/slide7.xml"/><Relationship Id="rId14" Type="http://schemas.openxmlformats.org/officeDocument/2006/relationships/slide" Target="slides/slide2.xml"/><Relationship Id="rId30" Type="http://schemas.openxmlformats.org/officeDocument/2006/relationships/slide" Target="slides/slide18.xml"/><Relationship Id="rId35" Type="http://schemas.openxmlformats.org/officeDocument/2006/relationships/slide" Target="slides/slide23.xml"/><Relationship Id="rId56" Type="http://schemas.openxmlformats.org/officeDocument/2006/relationships/slide" Target="slides/slide44.xml"/><Relationship Id="rId77" Type="http://schemas.openxmlformats.org/officeDocument/2006/relationships/slide" Target="slides/slide65.xml"/><Relationship Id="rId100" Type="http://schemas.openxmlformats.org/officeDocument/2006/relationships/slide" Target="slides/slide88.xml"/><Relationship Id="rId105" Type="http://schemas.openxmlformats.org/officeDocument/2006/relationships/slide" Target="slides/slide93.xml"/><Relationship Id="rId126" Type="http://schemas.openxmlformats.org/officeDocument/2006/relationships/slide" Target="slides/slide114.xml"/><Relationship Id="rId147" Type="http://schemas.openxmlformats.org/officeDocument/2006/relationships/slide" Target="slides/slide135.xml"/><Relationship Id="rId168" Type="http://schemas.openxmlformats.org/officeDocument/2006/relationships/slide" Target="slides/slide156.xml"/><Relationship Id="rId8" Type="http://schemas.openxmlformats.org/officeDocument/2006/relationships/slideMaster" Target="slideMasters/slideMaster5.xml"/><Relationship Id="rId51" Type="http://schemas.openxmlformats.org/officeDocument/2006/relationships/slide" Target="slides/slide39.xml"/><Relationship Id="rId72" Type="http://schemas.openxmlformats.org/officeDocument/2006/relationships/slide" Target="slides/slide60.xml"/><Relationship Id="rId93" Type="http://schemas.openxmlformats.org/officeDocument/2006/relationships/slide" Target="slides/slide81.xml"/><Relationship Id="rId98" Type="http://schemas.openxmlformats.org/officeDocument/2006/relationships/slide" Target="slides/slide86.xml"/><Relationship Id="rId121" Type="http://schemas.openxmlformats.org/officeDocument/2006/relationships/slide" Target="slides/slide109.xml"/><Relationship Id="rId142" Type="http://schemas.openxmlformats.org/officeDocument/2006/relationships/slide" Target="slides/slide130.xml"/><Relationship Id="rId163" Type="http://schemas.openxmlformats.org/officeDocument/2006/relationships/slide" Target="slides/slide151.xml"/><Relationship Id="rId184" Type="http://schemas.openxmlformats.org/officeDocument/2006/relationships/slide" Target="slides/slide172.xml"/><Relationship Id="rId189" Type="http://schemas.openxmlformats.org/officeDocument/2006/relationships/presProps" Target="presProps.xml"/><Relationship Id="rId3" Type="http://schemas.openxmlformats.org/officeDocument/2006/relationships/customXml" Target="../customXml/item3.xml"/><Relationship Id="rId25" Type="http://schemas.openxmlformats.org/officeDocument/2006/relationships/slide" Target="slides/slide13.xml"/><Relationship Id="rId46" Type="http://schemas.openxmlformats.org/officeDocument/2006/relationships/slide" Target="slides/slide34.xml"/><Relationship Id="rId67" Type="http://schemas.openxmlformats.org/officeDocument/2006/relationships/slide" Target="slides/slide55.xml"/><Relationship Id="rId116" Type="http://schemas.openxmlformats.org/officeDocument/2006/relationships/slide" Target="slides/slide104.xml"/><Relationship Id="rId137" Type="http://schemas.openxmlformats.org/officeDocument/2006/relationships/slide" Target="slides/slide125.xml"/><Relationship Id="rId158" Type="http://schemas.openxmlformats.org/officeDocument/2006/relationships/slide" Target="slides/slide146.xml"/><Relationship Id="rId20" Type="http://schemas.openxmlformats.org/officeDocument/2006/relationships/slide" Target="slides/slide8.xml"/><Relationship Id="rId41" Type="http://schemas.openxmlformats.org/officeDocument/2006/relationships/slide" Target="slides/slide29.xml"/><Relationship Id="rId62" Type="http://schemas.openxmlformats.org/officeDocument/2006/relationships/slide" Target="slides/slide50.xml"/><Relationship Id="rId83" Type="http://schemas.openxmlformats.org/officeDocument/2006/relationships/slide" Target="slides/slide71.xml"/><Relationship Id="rId88" Type="http://schemas.openxmlformats.org/officeDocument/2006/relationships/slide" Target="slides/slide76.xml"/><Relationship Id="rId111" Type="http://schemas.openxmlformats.org/officeDocument/2006/relationships/slide" Target="slides/slide99.xml"/><Relationship Id="rId132" Type="http://schemas.openxmlformats.org/officeDocument/2006/relationships/slide" Target="slides/slide120.xml"/><Relationship Id="rId153" Type="http://schemas.openxmlformats.org/officeDocument/2006/relationships/slide" Target="slides/slide141.xml"/><Relationship Id="rId174" Type="http://schemas.openxmlformats.org/officeDocument/2006/relationships/slide" Target="slides/slide162.xml"/><Relationship Id="rId179" Type="http://schemas.openxmlformats.org/officeDocument/2006/relationships/slide" Target="slides/slide167.xml"/><Relationship Id="rId190" Type="http://schemas.openxmlformats.org/officeDocument/2006/relationships/viewProps" Target="viewProps.xml"/><Relationship Id="rId15" Type="http://schemas.openxmlformats.org/officeDocument/2006/relationships/slide" Target="slides/slide3.xml"/><Relationship Id="rId36" Type="http://schemas.openxmlformats.org/officeDocument/2006/relationships/slide" Target="slides/slide24.xml"/><Relationship Id="rId57" Type="http://schemas.openxmlformats.org/officeDocument/2006/relationships/slide" Target="slides/slide45.xml"/><Relationship Id="rId106" Type="http://schemas.openxmlformats.org/officeDocument/2006/relationships/slide" Target="slides/slide94.xml"/><Relationship Id="rId127" Type="http://schemas.openxmlformats.org/officeDocument/2006/relationships/slide" Target="slides/slide115.xml"/><Relationship Id="rId10" Type="http://schemas.openxmlformats.org/officeDocument/2006/relationships/slideMaster" Target="slideMasters/slideMaster7.xml"/><Relationship Id="rId31" Type="http://schemas.openxmlformats.org/officeDocument/2006/relationships/slide" Target="slides/slide19.xml"/><Relationship Id="rId52" Type="http://schemas.openxmlformats.org/officeDocument/2006/relationships/slide" Target="slides/slide40.xml"/><Relationship Id="rId73" Type="http://schemas.openxmlformats.org/officeDocument/2006/relationships/slide" Target="slides/slide61.xml"/><Relationship Id="rId78" Type="http://schemas.openxmlformats.org/officeDocument/2006/relationships/slide" Target="slides/slide66.xml"/><Relationship Id="rId94" Type="http://schemas.openxmlformats.org/officeDocument/2006/relationships/slide" Target="slides/slide82.xml"/><Relationship Id="rId99" Type="http://schemas.openxmlformats.org/officeDocument/2006/relationships/slide" Target="slides/slide87.xml"/><Relationship Id="rId101" Type="http://schemas.openxmlformats.org/officeDocument/2006/relationships/slide" Target="slides/slide89.xml"/><Relationship Id="rId122" Type="http://schemas.openxmlformats.org/officeDocument/2006/relationships/slide" Target="slides/slide110.xml"/><Relationship Id="rId143" Type="http://schemas.openxmlformats.org/officeDocument/2006/relationships/slide" Target="slides/slide131.xml"/><Relationship Id="rId148" Type="http://schemas.openxmlformats.org/officeDocument/2006/relationships/slide" Target="slides/slide136.xml"/><Relationship Id="rId164" Type="http://schemas.openxmlformats.org/officeDocument/2006/relationships/slide" Target="slides/slide152.xml"/><Relationship Id="rId169" Type="http://schemas.openxmlformats.org/officeDocument/2006/relationships/slide" Target="slides/slide157.xml"/><Relationship Id="rId185" Type="http://schemas.openxmlformats.org/officeDocument/2006/relationships/slide" Target="slides/slide173.xml"/><Relationship Id="rId4" Type="http://schemas.openxmlformats.org/officeDocument/2006/relationships/slideMaster" Target="slideMasters/slideMaster1.xml"/><Relationship Id="rId9" Type="http://schemas.openxmlformats.org/officeDocument/2006/relationships/slideMaster" Target="slideMasters/slideMaster6.xml"/><Relationship Id="rId180" Type="http://schemas.openxmlformats.org/officeDocument/2006/relationships/slide" Target="slides/slide168.xml"/><Relationship Id="rId26" Type="http://schemas.openxmlformats.org/officeDocument/2006/relationships/slide" Target="slides/slide14.xml"/><Relationship Id="rId47" Type="http://schemas.openxmlformats.org/officeDocument/2006/relationships/slide" Target="slides/slide35.xml"/><Relationship Id="rId68" Type="http://schemas.openxmlformats.org/officeDocument/2006/relationships/slide" Target="slides/slide56.xml"/><Relationship Id="rId89" Type="http://schemas.openxmlformats.org/officeDocument/2006/relationships/slide" Target="slides/slide77.xml"/><Relationship Id="rId112" Type="http://schemas.openxmlformats.org/officeDocument/2006/relationships/slide" Target="slides/slide100.xml"/><Relationship Id="rId133" Type="http://schemas.openxmlformats.org/officeDocument/2006/relationships/slide" Target="slides/slide121.xml"/><Relationship Id="rId154" Type="http://schemas.openxmlformats.org/officeDocument/2006/relationships/slide" Target="slides/slide142.xml"/><Relationship Id="rId175" Type="http://schemas.openxmlformats.org/officeDocument/2006/relationships/slide" Target="slides/slide163.xml"/><Relationship Id="rId16" Type="http://schemas.openxmlformats.org/officeDocument/2006/relationships/slide" Target="slides/slide4.xml"/><Relationship Id="rId37" Type="http://schemas.openxmlformats.org/officeDocument/2006/relationships/slide" Target="slides/slide25.xml"/><Relationship Id="rId58" Type="http://schemas.openxmlformats.org/officeDocument/2006/relationships/slide" Target="slides/slide46.xml"/><Relationship Id="rId79" Type="http://schemas.openxmlformats.org/officeDocument/2006/relationships/slide" Target="slides/slide67.xml"/><Relationship Id="rId102" Type="http://schemas.openxmlformats.org/officeDocument/2006/relationships/slide" Target="slides/slide90.xml"/><Relationship Id="rId123" Type="http://schemas.openxmlformats.org/officeDocument/2006/relationships/slide" Target="slides/slide111.xml"/><Relationship Id="rId144" Type="http://schemas.openxmlformats.org/officeDocument/2006/relationships/slide" Target="slides/slide132.xml"/><Relationship Id="rId90" Type="http://schemas.openxmlformats.org/officeDocument/2006/relationships/slide" Target="slides/slide78.xml"/><Relationship Id="rId165" Type="http://schemas.openxmlformats.org/officeDocument/2006/relationships/slide" Target="slides/slide153.xml"/><Relationship Id="rId186" Type="http://schemas.openxmlformats.org/officeDocument/2006/relationships/notesMaster" Target="notesMasters/notesMaster1.xml"/><Relationship Id="rId27" Type="http://schemas.openxmlformats.org/officeDocument/2006/relationships/slide" Target="slides/slide15.xml"/><Relationship Id="rId48" Type="http://schemas.openxmlformats.org/officeDocument/2006/relationships/slide" Target="slides/slide36.xml"/><Relationship Id="rId69" Type="http://schemas.openxmlformats.org/officeDocument/2006/relationships/slide" Target="slides/slide57.xml"/><Relationship Id="rId113" Type="http://schemas.openxmlformats.org/officeDocument/2006/relationships/slide" Target="slides/slide101.xml"/><Relationship Id="rId134" Type="http://schemas.openxmlformats.org/officeDocument/2006/relationships/slide" Target="slides/slide122.xml"/><Relationship Id="rId80" Type="http://schemas.openxmlformats.org/officeDocument/2006/relationships/slide" Target="slides/slide68.xml"/><Relationship Id="rId155" Type="http://schemas.openxmlformats.org/officeDocument/2006/relationships/slide" Target="slides/slide143.xml"/><Relationship Id="rId176" Type="http://schemas.openxmlformats.org/officeDocument/2006/relationships/slide" Target="slides/slide164.xml"/><Relationship Id="rId17" Type="http://schemas.openxmlformats.org/officeDocument/2006/relationships/slide" Target="slides/slide5.xml"/><Relationship Id="rId38" Type="http://schemas.openxmlformats.org/officeDocument/2006/relationships/slide" Target="slides/slide26.xml"/><Relationship Id="rId59" Type="http://schemas.openxmlformats.org/officeDocument/2006/relationships/slide" Target="slides/slide47.xml"/><Relationship Id="rId103" Type="http://schemas.openxmlformats.org/officeDocument/2006/relationships/slide" Target="slides/slide91.xml"/><Relationship Id="rId124" Type="http://schemas.openxmlformats.org/officeDocument/2006/relationships/slide" Target="slides/slide112.xml"/><Relationship Id="rId70" Type="http://schemas.openxmlformats.org/officeDocument/2006/relationships/slide" Target="slides/slide58.xml"/><Relationship Id="rId91" Type="http://schemas.openxmlformats.org/officeDocument/2006/relationships/slide" Target="slides/slide79.xml"/><Relationship Id="rId145" Type="http://schemas.openxmlformats.org/officeDocument/2006/relationships/slide" Target="slides/slide133.xml"/><Relationship Id="rId166" Type="http://schemas.openxmlformats.org/officeDocument/2006/relationships/slide" Target="slides/slide154.xml"/><Relationship Id="rId187" Type="http://schemas.openxmlformats.org/officeDocument/2006/relationships/handoutMaster" Target="handoutMasters/handoutMaster1.xml"/><Relationship Id="rId1" Type="http://schemas.openxmlformats.org/officeDocument/2006/relationships/customXml" Target="../customXml/item1.xml"/><Relationship Id="rId28" Type="http://schemas.openxmlformats.org/officeDocument/2006/relationships/slide" Target="slides/slide16.xml"/><Relationship Id="rId49" Type="http://schemas.openxmlformats.org/officeDocument/2006/relationships/slide" Target="slides/slide37.xml"/><Relationship Id="rId114" Type="http://schemas.openxmlformats.org/officeDocument/2006/relationships/slide" Target="slides/slide102.xml"/><Relationship Id="rId60" Type="http://schemas.openxmlformats.org/officeDocument/2006/relationships/slide" Target="slides/slide48.xml"/><Relationship Id="rId81" Type="http://schemas.openxmlformats.org/officeDocument/2006/relationships/slide" Target="slides/slide69.xml"/><Relationship Id="rId135" Type="http://schemas.openxmlformats.org/officeDocument/2006/relationships/slide" Target="slides/slide123.xml"/><Relationship Id="rId156" Type="http://schemas.openxmlformats.org/officeDocument/2006/relationships/slide" Target="slides/slide144.xml"/><Relationship Id="rId177" Type="http://schemas.openxmlformats.org/officeDocument/2006/relationships/slide" Target="slides/slide165.xml"/></Relationships>
</file>

<file path=ppt/handoutMasters/_rels/handoutMaster1.xml.rels><?xml version="1.0" encoding="UTF-8" standalone="yes"?>
<Relationships xmlns="http://schemas.openxmlformats.org/package/2006/relationships"><Relationship Id="rId1" Type="http://schemas.openxmlformats.org/officeDocument/2006/relationships/theme" Target="../theme/theme11.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2" y="1"/>
            <a:ext cx="2949786" cy="498693"/>
          </a:xfrm>
          <a:prstGeom prst="rect">
            <a:avLst/>
          </a:prstGeom>
        </p:spPr>
        <p:txBody>
          <a:bodyPr vert="horz" lIns="91474" tIns="45737" rIns="91474" bIns="45737" rtlCol="0"/>
          <a:lstStyle>
            <a:lvl1pPr algn="l">
              <a:defRPr sz="1200"/>
            </a:lvl1pPr>
          </a:lstStyle>
          <a:p>
            <a:endParaRPr lang="en-NZ" dirty="0"/>
          </a:p>
        </p:txBody>
      </p:sp>
      <p:sp>
        <p:nvSpPr>
          <p:cNvPr id="3" name="Date Placeholder 2"/>
          <p:cNvSpPr>
            <a:spLocks noGrp="1"/>
          </p:cNvSpPr>
          <p:nvPr>
            <p:ph type="dt" sz="quarter" idx="1"/>
          </p:nvPr>
        </p:nvSpPr>
        <p:spPr>
          <a:xfrm>
            <a:off x="3855839" y="1"/>
            <a:ext cx="2949786" cy="498693"/>
          </a:xfrm>
          <a:prstGeom prst="rect">
            <a:avLst/>
          </a:prstGeom>
        </p:spPr>
        <p:txBody>
          <a:bodyPr vert="horz" lIns="91474" tIns="45737" rIns="91474" bIns="45737" rtlCol="0"/>
          <a:lstStyle>
            <a:lvl1pPr algn="r">
              <a:defRPr sz="1200"/>
            </a:lvl1pPr>
          </a:lstStyle>
          <a:p>
            <a:fld id="{85D701EE-1FBA-4307-A5A0-FAD659DC6E39}" type="datetimeFigureOut">
              <a:rPr lang="en-NZ" smtClean="0"/>
              <a:pPr/>
              <a:t>24/01/2025</a:t>
            </a:fld>
            <a:endParaRPr lang="en-NZ" dirty="0"/>
          </a:p>
        </p:txBody>
      </p:sp>
      <p:sp>
        <p:nvSpPr>
          <p:cNvPr id="4" name="Footer Placeholder 3"/>
          <p:cNvSpPr>
            <a:spLocks noGrp="1"/>
          </p:cNvSpPr>
          <p:nvPr>
            <p:ph type="ftr" sz="quarter" idx="2"/>
          </p:nvPr>
        </p:nvSpPr>
        <p:spPr>
          <a:xfrm>
            <a:off x="2" y="9440647"/>
            <a:ext cx="2949786" cy="498693"/>
          </a:xfrm>
          <a:prstGeom prst="rect">
            <a:avLst/>
          </a:prstGeom>
        </p:spPr>
        <p:txBody>
          <a:bodyPr vert="horz" lIns="91474" tIns="45737" rIns="91474" bIns="45737" rtlCol="0" anchor="b"/>
          <a:lstStyle>
            <a:lvl1pPr algn="l">
              <a:defRPr sz="1200"/>
            </a:lvl1pPr>
          </a:lstStyle>
          <a:p>
            <a:endParaRPr lang="en-NZ" dirty="0"/>
          </a:p>
        </p:txBody>
      </p:sp>
      <p:sp>
        <p:nvSpPr>
          <p:cNvPr id="5" name="Slide Number Placeholder 4"/>
          <p:cNvSpPr>
            <a:spLocks noGrp="1"/>
          </p:cNvSpPr>
          <p:nvPr>
            <p:ph type="sldNum" sz="quarter" idx="3"/>
          </p:nvPr>
        </p:nvSpPr>
        <p:spPr>
          <a:xfrm>
            <a:off x="3855839" y="9440647"/>
            <a:ext cx="2949786" cy="498693"/>
          </a:xfrm>
          <a:prstGeom prst="rect">
            <a:avLst/>
          </a:prstGeom>
        </p:spPr>
        <p:txBody>
          <a:bodyPr vert="horz" lIns="91474" tIns="45737" rIns="91474" bIns="45737" rtlCol="0" anchor="b"/>
          <a:lstStyle>
            <a:lvl1pPr algn="r">
              <a:defRPr sz="1200"/>
            </a:lvl1pPr>
          </a:lstStyle>
          <a:p>
            <a:fld id="{97D3D0BD-DB2D-4CFB-B804-653564142846}" type="slidenum">
              <a:rPr lang="en-NZ" smtClean="0"/>
              <a:pPr/>
              <a:t>‹#›</a:t>
            </a:fld>
            <a:endParaRPr lang="en-NZ" dirty="0"/>
          </a:p>
        </p:txBody>
      </p:sp>
    </p:spTree>
    <p:extLst>
      <p:ext uri="{BB962C8B-B14F-4D97-AF65-F5344CB8AC3E}">
        <p14:creationId xmlns:p14="http://schemas.microsoft.com/office/powerpoint/2010/main" val="110953281"/>
      </p:ext>
    </p:extLst>
  </p:cSld>
  <p:clrMap bg1="lt1" tx1="dk1" bg2="lt2" tx2="dk2" accent1="accent1" accent2="accent2" accent3="accent3" accent4="accent4" accent5="accent5" accent6="accent6" hlink="hlink" folHlink="folHlink"/>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10.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2" y="1"/>
            <a:ext cx="2949786" cy="498693"/>
          </a:xfrm>
          <a:prstGeom prst="rect">
            <a:avLst/>
          </a:prstGeom>
        </p:spPr>
        <p:txBody>
          <a:bodyPr vert="horz" lIns="91474" tIns="45737" rIns="91474" bIns="45737" rtlCol="0"/>
          <a:lstStyle>
            <a:lvl1pPr algn="l">
              <a:defRPr sz="1200" b="0" i="0">
                <a:latin typeface="+mn-lt"/>
              </a:defRPr>
            </a:lvl1pPr>
          </a:lstStyle>
          <a:p>
            <a:endParaRPr lang="en-NZ" dirty="0"/>
          </a:p>
        </p:txBody>
      </p:sp>
      <p:sp>
        <p:nvSpPr>
          <p:cNvPr id="3" name="Date Placeholder 2"/>
          <p:cNvSpPr>
            <a:spLocks noGrp="1"/>
          </p:cNvSpPr>
          <p:nvPr>
            <p:ph type="dt" idx="1"/>
          </p:nvPr>
        </p:nvSpPr>
        <p:spPr>
          <a:xfrm>
            <a:off x="3855839" y="1"/>
            <a:ext cx="2949786" cy="498693"/>
          </a:xfrm>
          <a:prstGeom prst="rect">
            <a:avLst/>
          </a:prstGeom>
        </p:spPr>
        <p:txBody>
          <a:bodyPr vert="horz" lIns="91474" tIns="45737" rIns="91474" bIns="45737" rtlCol="0"/>
          <a:lstStyle>
            <a:lvl1pPr algn="r">
              <a:defRPr sz="1200" b="0" i="0">
                <a:latin typeface="+mn-lt"/>
              </a:defRPr>
            </a:lvl1pPr>
          </a:lstStyle>
          <a:p>
            <a:fld id="{72A1673E-E3F0-41EB-8C5F-8EC9A5FDE63C}" type="datetimeFigureOut">
              <a:rPr lang="en-NZ" smtClean="0"/>
              <a:pPr/>
              <a:t>24/01/2025</a:t>
            </a:fld>
            <a:endParaRPr lang="en-NZ" dirty="0"/>
          </a:p>
        </p:txBody>
      </p:sp>
      <p:sp>
        <p:nvSpPr>
          <p:cNvPr id="4" name="Slide Image Placeholder 3"/>
          <p:cNvSpPr>
            <a:spLocks noGrp="1" noRot="1" noChangeAspect="1"/>
          </p:cNvSpPr>
          <p:nvPr>
            <p:ph type="sldImg" idx="2"/>
          </p:nvPr>
        </p:nvSpPr>
        <p:spPr>
          <a:xfrm>
            <a:off x="422275" y="1243013"/>
            <a:ext cx="5964238" cy="3355975"/>
          </a:xfrm>
          <a:prstGeom prst="rect">
            <a:avLst/>
          </a:prstGeom>
          <a:noFill/>
          <a:ln w="12700">
            <a:solidFill>
              <a:prstClr val="black"/>
            </a:solidFill>
          </a:ln>
        </p:spPr>
        <p:txBody>
          <a:bodyPr vert="horz" lIns="91474" tIns="45737" rIns="91474" bIns="45737" rtlCol="0" anchor="ctr"/>
          <a:lstStyle/>
          <a:p>
            <a:endParaRPr lang="en-NZ" dirty="0"/>
          </a:p>
        </p:txBody>
      </p:sp>
      <p:sp>
        <p:nvSpPr>
          <p:cNvPr id="5" name="Notes Placeholder 4"/>
          <p:cNvSpPr>
            <a:spLocks noGrp="1"/>
          </p:cNvSpPr>
          <p:nvPr>
            <p:ph type="body" sz="quarter" idx="3"/>
          </p:nvPr>
        </p:nvSpPr>
        <p:spPr>
          <a:xfrm>
            <a:off x="680721" y="4783309"/>
            <a:ext cx="5445760" cy="3913614"/>
          </a:xfrm>
          <a:prstGeom prst="rect">
            <a:avLst/>
          </a:prstGeom>
        </p:spPr>
        <p:txBody>
          <a:bodyPr vert="horz" lIns="91474" tIns="45737" rIns="91474" bIns="45737" rtlCol="0"/>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endParaRPr lang="en-NZ" dirty="0"/>
          </a:p>
        </p:txBody>
      </p:sp>
      <p:sp>
        <p:nvSpPr>
          <p:cNvPr id="6" name="Footer Placeholder 5"/>
          <p:cNvSpPr>
            <a:spLocks noGrp="1"/>
          </p:cNvSpPr>
          <p:nvPr>
            <p:ph type="ftr" sz="quarter" idx="4"/>
          </p:nvPr>
        </p:nvSpPr>
        <p:spPr>
          <a:xfrm>
            <a:off x="2" y="9440647"/>
            <a:ext cx="2949786" cy="498693"/>
          </a:xfrm>
          <a:prstGeom prst="rect">
            <a:avLst/>
          </a:prstGeom>
        </p:spPr>
        <p:txBody>
          <a:bodyPr vert="horz" lIns="91474" tIns="45737" rIns="91474" bIns="45737" rtlCol="0" anchor="b"/>
          <a:lstStyle>
            <a:lvl1pPr algn="l">
              <a:defRPr sz="1200" b="0" i="0">
                <a:latin typeface="+mn-lt"/>
              </a:defRPr>
            </a:lvl1pPr>
          </a:lstStyle>
          <a:p>
            <a:endParaRPr lang="en-NZ" dirty="0"/>
          </a:p>
        </p:txBody>
      </p:sp>
      <p:sp>
        <p:nvSpPr>
          <p:cNvPr id="7" name="Slide Number Placeholder 6"/>
          <p:cNvSpPr>
            <a:spLocks noGrp="1"/>
          </p:cNvSpPr>
          <p:nvPr>
            <p:ph type="sldNum" sz="quarter" idx="5"/>
          </p:nvPr>
        </p:nvSpPr>
        <p:spPr>
          <a:xfrm>
            <a:off x="3855839" y="9440647"/>
            <a:ext cx="2949786" cy="498693"/>
          </a:xfrm>
          <a:prstGeom prst="rect">
            <a:avLst/>
          </a:prstGeom>
        </p:spPr>
        <p:txBody>
          <a:bodyPr vert="horz" lIns="91474" tIns="45737" rIns="91474" bIns="45737" rtlCol="0" anchor="b"/>
          <a:lstStyle>
            <a:lvl1pPr algn="r">
              <a:defRPr sz="1200" b="0" i="0">
                <a:latin typeface="+mn-lt"/>
              </a:defRPr>
            </a:lvl1pPr>
          </a:lstStyle>
          <a:p>
            <a:fld id="{F4089372-A661-494F-90C4-94E25994D307}" type="slidenum">
              <a:rPr lang="en-NZ" smtClean="0"/>
              <a:pPr/>
              <a:t>‹#›</a:t>
            </a:fld>
            <a:endParaRPr lang="en-NZ" dirty="0"/>
          </a:p>
        </p:txBody>
      </p:sp>
    </p:spTree>
    <p:extLst>
      <p:ext uri="{BB962C8B-B14F-4D97-AF65-F5344CB8AC3E}">
        <p14:creationId xmlns:p14="http://schemas.microsoft.com/office/powerpoint/2010/main" val="113860507"/>
      </p:ext>
    </p:extLst>
  </p:cSld>
  <p:clrMap bg1="lt1" tx1="dk1" bg2="lt2" tx2="dk2" accent1="accent1" accent2="accent2" accent3="accent3" accent4="accent4" accent5="accent5" accent6="accent6" hlink="hlink" folHlink="folHlink"/>
  <p:notesStyle>
    <a:lvl1pPr marL="0" algn="l" defTabSz="914400" rtl="0" eaLnBrk="1" latinLnBrk="0" hangingPunct="1">
      <a:defRPr sz="1200" b="0" i="0" kern="1200">
        <a:solidFill>
          <a:schemeClr val="tx1"/>
        </a:solidFill>
        <a:latin typeface="+mn-lt"/>
        <a:ea typeface="+mn-ea"/>
        <a:cs typeface="+mn-cs"/>
      </a:defRPr>
    </a:lvl1pPr>
    <a:lvl2pPr marL="457200" algn="l" defTabSz="914400" rtl="0" eaLnBrk="1" latinLnBrk="0" hangingPunct="1">
      <a:defRPr sz="1200" b="0" i="0" kern="1200">
        <a:solidFill>
          <a:schemeClr val="tx1"/>
        </a:solidFill>
        <a:latin typeface="+mn-lt"/>
        <a:ea typeface="+mn-ea"/>
        <a:cs typeface="+mn-cs"/>
      </a:defRPr>
    </a:lvl2pPr>
    <a:lvl3pPr marL="914400" algn="l" defTabSz="914400" rtl="0" eaLnBrk="1" latinLnBrk="0" hangingPunct="1">
      <a:defRPr sz="1200" b="0" i="0" kern="1200">
        <a:solidFill>
          <a:schemeClr val="tx1"/>
        </a:solidFill>
        <a:latin typeface="+mn-lt"/>
        <a:ea typeface="+mn-ea"/>
        <a:cs typeface="+mn-cs"/>
      </a:defRPr>
    </a:lvl3pPr>
    <a:lvl4pPr marL="1371600" algn="l" defTabSz="914400" rtl="0" eaLnBrk="1" latinLnBrk="0" hangingPunct="1">
      <a:defRPr sz="1200" b="0" i="0" kern="1200">
        <a:solidFill>
          <a:schemeClr val="tx1"/>
        </a:solidFill>
        <a:latin typeface="+mn-lt"/>
        <a:ea typeface="+mn-ea"/>
        <a:cs typeface="+mn-cs"/>
      </a:defRPr>
    </a:lvl4pPr>
    <a:lvl5pPr marL="1828800" algn="l" defTabSz="914400" rtl="0" eaLnBrk="1" latinLnBrk="0" hangingPunct="1">
      <a:defRPr sz="1200" b="0" i="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76.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120.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127.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3E01517-4172-4077-848B-2264E0EA59BA}" type="slidenum">
              <a:rPr lang="en-US" smtClean="0"/>
              <a:pPr/>
              <a:t>76</a:t>
            </a:fld>
            <a:endParaRPr lang="en-US"/>
          </a:p>
        </p:txBody>
      </p:sp>
    </p:spTree>
    <p:extLst>
      <p:ext uri="{BB962C8B-B14F-4D97-AF65-F5344CB8AC3E}">
        <p14:creationId xmlns:p14="http://schemas.microsoft.com/office/powerpoint/2010/main" val="413920493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3E01517-4172-4077-848B-2264E0EA59BA}" type="slidenum">
              <a:rPr lang="en-US" smtClean="0"/>
              <a:pPr/>
              <a:t>120</a:t>
            </a:fld>
            <a:endParaRPr lang="en-US"/>
          </a:p>
        </p:txBody>
      </p:sp>
    </p:spTree>
    <p:extLst>
      <p:ext uri="{BB962C8B-B14F-4D97-AF65-F5344CB8AC3E}">
        <p14:creationId xmlns:p14="http://schemas.microsoft.com/office/powerpoint/2010/main" val="1488966162"/>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IN"/>
          </a:p>
        </p:txBody>
      </p:sp>
      <p:sp>
        <p:nvSpPr>
          <p:cNvPr id="4" name="Slide Number Placeholder 3"/>
          <p:cNvSpPr>
            <a:spLocks noGrp="1"/>
          </p:cNvSpPr>
          <p:nvPr>
            <p:ph type="sldNum" sz="quarter" idx="5"/>
          </p:nvPr>
        </p:nvSpPr>
        <p:spPr/>
        <p:txBody>
          <a:bodyPr/>
          <a:lstStyle/>
          <a:p>
            <a:fld id="{F4089372-A661-494F-90C4-94E25994D307}" type="slidenum">
              <a:rPr lang="en-NZ" smtClean="0"/>
              <a:pPr/>
              <a:t>127</a:t>
            </a:fld>
            <a:endParaRPr lang="en-NZ" dirty="0"/>
          </a:p>
        </p:txBody>
      </p:sp>
    </p:spTree>
    <p:extLst>
      <p:ext uri="{BB962C8B-B14F-4D97-AF65-F5344CB8AC3E}">
        <p14:creationId xmlns:p14="http://schemas.microsoft.com/office/powerpoint/2010/main" val="861573028"/>
      </p:ext>
    </p:extLst>
  </p:cSld>
  <p:clrMapOvr>
    <a:masterClrMapping/>
  </p:clrMapOvr>
</p:notes>
</file>

<file path=ppt/slideLayouts/_rels/slideLayout1.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3" Type="http://schemas.openxmlformats.org/officeDocument/2006/relationships/image" Target="../media/image2.png"/><Relationship Id="rId7" Type="http://schemas.openxmlformats.org/officeDocument/2006/relationships/image" Target="../media/image6.png"/><Relationship Id="rId2" Type="http://schemas.openxmlformats.org/officeDocument/2006/relationships/image" Target="../media/image1.jpeg"/><Relationship Id="rId1" Type="http://schemas.openxmlformats.org/officeDocument/2006/relationships/slideMaster" Target="../slideMasters/slideMaster1.xml"/><Relationship Id="rId6" Type="http://schemas.openxmlformats.org/officeDocument/2006/relationships/image" Target="../media/image5.png"/><Relationship Id="rId5" Type="http://schemas.openxmlformats.org/officeDocument/2006/relationships/image" Target="../media/image4.png"/><Relationship Id="rId4" Type="http://schemas.openxmlformats.org/officeDocument/2006/relationships/image" Target="../media/image3.png"/></Relationships>
</file>

<file path=ppt/slideLayouts/_rels/slideLayout3.xml.rels><?xml version="1.0" encoding="UTF-8" standalone="yes"?>
<Relationships xmlns="http://schemas.openxmlformats.org/package/2006/relationships"><Relationship Id="rId3" Type="http://schemas.openxmlformats.org/officeDocument/2006/relationships/image" Target="../media/image2.png"/><Relationship Id="rId7" Type="http://schemas.openxmlformats.org/officeDocument/2006/relationships/image" Target="../media/image6.png"/><Relationship Id="rId2" Type="http://schemas.openxmlformats.org/officeDocument/2006/relationships/image" Target="../media/image7.jpeg"/><Relationship Id="rId1" Type="http://schemas.openxmlformats.org/officeDocument/2006/relationships/slideMaster" Target="../slideMasters/slideMaster1.xml"/><Relationship Id="rId6" Type="http://schemas.openxmlformats.org/officeDocument/2006/relationships/image" Target="../media/image5.png"/><Relationship Id="rId5" Type="http://schemas.openxmlformats.org/officeDocument/2006/relationships/image" Target="../media/image4.png"/><Relationship Id="rId4" Type="http://schemas.openxmlformats.org/officeDocument/2006/relationships/image" Target="../media/image3.png"/></Relationships>
</file>

<file path=ppt/slideLayouts/_rels/slideLayout4.xml.rels><?xml version="1.0" encoding="UTF-8" standalone="yes"?>
<Relationships xmlns="http://schemas.openxmlformats.org/package/2006/relationships"><Relationship Id="rId2" Type="http://schemas.openxmlformats.org/officeDocument/2006/relationships/image" Target="../media/image7.jpeg"/><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2" Type="http://schemas.openxmlformats.org/officeDocument/2006/relationships/image" Target="../media/image8.png"/><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2" Type="http://schemas.openxmlformats.org/officeDocument/2006/relationships/image" Target="../media/image9.jpeg"/><Relationship Id="rId1" Type="http://schemas.openxmlformats.org/officeDocument/2006/relationships/slideMaster" Target="../slideMasters/slideMaster2.xml"/></Relationships>
</file>

<file path=ppt/slideLayouts/_rels/slideLayout7.xml.rels><?xml version="1.0" encoding="UTF-8" standalone="yes"?>
<Relationships xmlns="http://schemas.openxmlformats.org/package/2006/relationships"><Relationship Id="rId2" Type="http://schemas.openxmlformats.org/officeDocument/2006/relationships/image" Target="../media/image10.jpeg"/><Relationship Id="rId1" Type="http://schemas.openxmlformats.org/officeDocument/2006/relationships/slideMaster" Target="../slideMasters/slideMaster2.xml"/></Relationships>
</file>

<file path=ppt/slideLayouts/_rels/slideLayout8.xml.rels><?xml version="1.0" encoding="UTF-8" standalone="yes"?>
<Relationships xmlns="http://schemas.openxmlformats.org/package/2006/relationships"><Relationship Id="rId2" Type="http://schemas.openxmlformats.org/officeDocument/2006/relationships/image" Target="../media/image9.jpeg"/><Relationship Id="rId1" Type="http://schemas.openxmlformats.org/officeDocument/2006/relationships/slideMaster" Target="../slideMasters/slideMaster2.xml"/></Relationships>
</file>

<file path=ppt/slideLayouts/_rels/slideLayout9.xml.rels><?xml version="1.0" encoding="UTF-8" standalone="yes"?>
<Relationships xmlns="http://schemas.openxmlformats.org/package/2006/relationships"><Relationship Id="rId2" Type="http://schemas.openxmlformats.org/officeDocument/2006/relationships/image" Target="../media/image10.jpeg"/><Relationship Id="rId1" Type="http://schemas.openxmlformats.org/officeDocument/2006/relationships/slideMaster" Target="../slideMasters/slideMaster2.xml"/></Relationships>
</file>

<file path=ppt/slideLayouts/_rels/slideLayout10.xml.rels><?xml version="1.0" encoding="UTF-8" standalone="yes"?>
<Relationships xmlns="http://schemas.openxmlformats.org/package/2006/relationships"><Relationship Id="rId3" Type="http://schemas.openxmlformats.org/officeDocument/2006/relationships/image" Target="../media/image12.png"/><Relationship Id="rId2" Type="http://schemas.openxmlformats.org/officeDocument/2006/relationships/image" Target="../media/image11.jpeg"/><Relationship Id="rId1" Type="http://schemas.openxmlformats.org/officeDocument/2006/relationships/slideMaster" Target="../slideMasters/slideMaster3.xml"/></Relationships>
</file>

<file path=ppt/slideLayouts/_rels/slideLayout11.xml.rels><?xml version="1.0" encoding="UTF-8" standalone="yes"?>
<Relationships xmlns="http://schemas.openxmlformats.org/package/2006/relationships"><Relationship Id="rId3" Type="http://schemas.openxmlformats.org/officeDocument/2006/relationships/image" Target="../media/image14.png"/><Relationship Id="rId2" Type="http://schemas.openxmlformats.org/officeDocument/2006/relationships/image" Target="../media/image13.jpeg"/><Relationship Id="rId1" Type="http://schemas.openxmlformats.org/officeDocument/2006/relationships/slideMaster" Target="../slideMasters/slideMaster3.xml"/></Relationships>
</file>

<file path=ppt/slideLayouts/_rels/slideLayout12.xml.rels><?xml version="1.0" encoding="UTF-8" standalone="yes"?>
<Relationships xmlns="http://schemas.openxmlformats.org/package/2006/relationships"><Relationship Id="rId3" Type="http://schemas.openxmlformats.org/officeDocument/2006/relationships/image" Target="../media/image12.png"/><Relationship Id="rId2" Type="http://schemas.openxmlformats.org/officeDocument/2006/relationships/image" Target="../media/image15.png"/><Relationship Id="rId1" Type="http://schemas.openxmlformats.org/officeDocument/2006/relationships/slideMaster" Target="../slideMasters/slideMaster3.xml"/></Relationships>
</file>

<file path=ppt/slideLayouts/_rels/slideLayout13.xml.rels><?xml version="1.0" encoding="UTF-8" standalone="yes"?>
<Relationships xmlns="http://schemas.openxmlformats.org/package/2006/relationships"><Relationship Id="rId2" Type="http://schemas.openxmlformats.org/officeDocument/2006/relationships/image" Target="../media/image16.jpeg"/><Relationship Id="rId1" Type="http://schemas.openxmlformats.org/officeDocument/2006/relationships/slideMaster" Target="../slideMasters/slideMaster4.xml"/></Relationships>
</file>

<file path=ppt/slideLayouts/_rels/slideLayout14.xml.rels><?xml version="1.0" encoding="UTF-8" standalone="yes"?>
<Relationships xmlns="http://schemas.openxmlformats.org/package/2006/relationships"><Relationship Id="rId2" Type="http://schemas.openxmlformats.org/officeDocument/2006/relationships/image" Target="../media/image17.jpeg"/><Relationship Id="rId1" Type="http://schemas.openxmlformats.org/officeDocument/2006/relationships/slideMaster" Target="../slideMasters/slideMaster4.xml"/></Relationships>
</file>

<file path=ppt/slideLayouts/_rels/slideLayout15.xml.rels><?xml version="1.0" encoding="UTF-8" standalone="yes"?>
<Relationships xmlns="http://schemas.openxmlformats.org/package/2006/relationships"><Relationship Id="rId2" Type="http://schemas.openxmlformats.org/officeDocument/2006/relationships/image" Target="../media/image16.jpeg"/><Relationship Id="rId1" Type="http://schemas.openxmlformats.org/officeDocument/2006/relationships/slideMaster" Target="../slideMasters/slideMaster4.xml"/></Relationships>
</file>

<file path=ppt/slideLayouts/_rels/slideLayout16.xml.rels><?xml version="1.0" encoding="UTF-8" standalone="yes"?>
<Relationships xmlns="http://schemas.openxmlformats.org/package/2006/relationships"><Relationship Id="rId2" Type="http://schemas.openxmlformats.org/officeDocument/2006/relationships/image" Target="../media/image17.jpeg"/><Relationship Id="rId1" Type="http://schemas.openxmlformats.org/officeDocument/2006/relationships/slideMaster" Target="../slideMasters/slideMaster4.xml"/></Relationships>
</file>

<file path=ppt/slideLayouts/_rels/slideLayout17.xml.rels><?xml version="1.0" encoding="UTF-8" standalone="yes"?>
<Relationships xmlns="http://schemas.openxmlformats.org/package/2006/relationships"><Relationship Id="rId2" Type="http://schemas.openxmlformats.org/officeDocument/2006/relationships/image" Target="../media/image9.jpeg"/><Relationship Id="rId1" Type="http://schemas.openxmlformats.org/officeDocument/2006/relationships/slideMaster" Target="../slideMasters/slideMaster5.xml"/></Relationships>
</file>

<file path=ppt/slideLayouts/_rels/slideLayout18.xml.rels><?xml version="1.0" encoding="UTF-8" standalone="yes"?>
<Relationships xmlns="http://schemas.openxmlformats.org/package/2006/relationships"><Relationship Id="rId2" Type="http://schemas.openxmlformats.org/officeDocument/2006/relationships/image" Target="../media/image10.jpeg"/><Relationship Id="rId1" Type="http://schemas.openxmlformats.org/officeDocument/2006/relationships/slideMaster" Target="../slideMasters/slideMaster5.xml"/></Relationships>
</file>

<file path=ppt/slideLayouts/_rels/slideLayout19.xml.rels><?xml version="1.0" encoding="UTF-8" standalone="yes"?>
<Relationships xmlns="http://schemas.openxmlformats.org/package/2006/relationships"><Relationship Id="rId2" Type="http://schemas.openxmlformats.org/officeDocument/2006/relationships/image" Target="../media/image16.jpeg"/><Relationship Id="rId1" Type="http://schemas.openxmlformats.org/officeDocument/2006/relationships/slideMaster" Target="../slideMasters/slideMaster5.xml"/></Relationships>
</file>

<file path=ppt/slideLayouts/_rels/slideLayout20.xml.rels><?xml version="1.0" encoding="UTF-8" standalone="yes"?>
<Relationships xmlns="http://schemas.openxmlformats.org/package/2006/relationships"><Relationship Id="rId2" Type="http://schemas.openxmlformats.org/officeDocument/2006/relationships/image" Target="../media/image17.jpeg"/><Relationship Id="rId1" Type="http://schemas.openxmlformats.org/officeDocument/2006/relationships/slideMaster" Target="../slideMasters/slideMaster5.xml"/></Relationships>
</file>

<file path=ppt/slideLayouts/_rels/slideLayout21.xml.rels><?xml version="1.0" encoding="UTF-8" standalone="yes"?>
<Relationships xmlns="http://schemas.openxmlformats.org/package/2006/relationships"><Relationship Id="rId2" Type="http://schemas.openxmlformats.org/officeDocument/2006/relationships/image" Target="../media/image9.jpeg"/><Relationship Id="rId1" Type="http://schemas.openxmlformats.org/officeDocument/2006/relationships/slideMaster" Target="../slideMasters/slideMaster6.xml"/></Relationships>
</file>

<file path=ppt/slideLayouts/_rels/slideLayout22.xml.rels><?xml version="1.0" encoding="UTF-8" standalone="yes"?>
<Relationships xmlns="http://schemas.openxmlformats.org/package/2006/relationships"><Relationship Id="rId2" Type="http://schemas.openxmlformats.org/officeDocument/2006/relationships/image" Target="../media/image10.jpeg"/><Relationship Id="rId1" Type="http://schemas.openxmlformats.org/officeDocument/2006/relationships/slideMaster" Target="../slideMasters/slideMaster6.xml"/></Relationships>
</file>

<file path=ppt/slideLayouts/_rels/slideLayout23.xml.rels><?xml version="1.0" encoding="UTF-8" standalone="yes"?>
<Relationships xmlns="http://schemas.openxmlformats.org/package/2006/relationships"><Relationship Id="rId2" Type="http://schemas.openxmlformats.org/officeDocument/2006/relationships/image" Target="../media/image10.jpeg"/><Relationship Id="rId1" Type="http://schemas.openxmlformats.org/officeDocument/2006/relationships/slideMaster" Target="../slideMasters/slideMaster6.xml"/></Relationships>
</file>

<file path=ppt/slideLayouts/_rels/slideLayout24.xml.rels><?xml version="1.0" encoding="UTF-8" standalone="yes"?>
<Relationships xmlns="http://schemas.openxmlformats.org/package/2006/relationships"><Relationship Id="rId2" Type="http://schemas.openxmlformats.org/officeDocument/2006/relationships/image" Target="../media/image9.jpeg"/><Relationship Id="rId1" Type="http://schemas.openxmlformats.org/officeDocument/2006/relationships/slideMaster" Target="../slideMasters/slideMaster6.xml"/></Relationships>
</file>

<file path=ppt/slideLayouts/_rels/slideLayout25.xml.rels><?xml version="1.0" encoding="UTF-8" standalone="yes"?>
<Relationships xmlns="http://schemas.openxmlformats.org/package/2006/relationships"><Relationship Id="rId2" Type="http://schemas.openxmlformats.org/officeDocument/2006/relationships/image" Target="../media/image18.jpeg"/><Relationship Id="rId1" Type="http://schemas.openxmlformats.org/officeDocument/2006/relationships/slideMaster" Target="../slideMasters/slideMaster7.xml"/></Relationships>
</file>

<file path=ppt/slideLayouts/_rels/slideLayout26.xml.rels><?xml version="1.0" encoding="UTF-8" standalone="yes"?>
<Relationships xmlns="http://schemas.openxmlformats.org/package/2006/relationships"><Relationship Id="rId2" Type="http://schemas.openxmlformats.org/officeDocument/2006/relationships/image" Target="../media/image19.jpeg"/><Relationship Id="rId1" Type="http://schemas.openxmlformats.org/officeDocument/2006/relationships/slideMaster" Target="../slideMasters/slideMaster7.xml"/></Relationships>
</file>

<file path=ppt/slideLayouts/_rels/slideLayout27.xml.rels><?xml version="1.0" encoding="UTF-8" standalone="yes"?>
<Relationships xmlns="http://schemas.openxmlformats.org/package/2006/relationships"><Relationship Id="rId2" Type="http://schemas.openxmlformats.org/officeDocument/2006/relationships/image" Target="../media/image18.jpeg"/><Relationship Id="rId1" Type="http://schemas.openxmlformats.org/officeDocument/2006/relationships/slideMaster" Target="../slideMasters/slideMaster7.xml"/></Relationships>
</file>

<file path=ppt/slideLayouts/_rels/slideLayout28.xml.rels><?xml version="1.0" encoding="UTF-8" standalone="yes"?>
<Relationships xmlns="http://schemas.openxmlformats.org/package/2006/relationships"><Relationship Id="rId2" Type="http://schemas.openxmlformats.org/officeDocument/2006/relationships/image" Target="../media/image19.jpeg"/><Relationship Id="rId1" Type="http://schemas.openxmlformats.org/officeDocument/2006/relationships/slideMaster" Target="../slideMasters/slideMaster7.xml"/></Relationships>
</file>

<file path=ppt/slideLayouts/_rels/slideLayout29.xml.rels><?xml version="1.0" encoding="UTF-8" standalone="yes"?>
<Relationships xmlns="http://schemas.openxmlformats.org/package/2006/relationships"><Relationship Id="rId2" Type="http://schemas.openxmlformats.org/officeDocument/2006/relationships/image" Target="../media/image18.jpeg"/><Relationship Id="rId1" Type="http://schemas.openxmlformats.org/officeDocument/2006/relationships/slideMaster" Target="../slideMasters/slideMaster7.xml"/></Relationships>
</file>

<file path=ppt/slideLayouts/_rels/slideLayout30.xml.rels><?xml version="1.0" encoding="UTF-8" standalone="yes"?>
<Relationships xmlns="http://schemas.openxmlformats.org/package/2006/relationships"><Relationship Id="rId2" Type="http://schemas.openxmlformats.org/officeDocument/2006/relationships/image" Target="../media/image19.jpeg"/><Relationship Id="rId1" Type="http://schemas.openxmlformats.org/officeDocument/2006/relationships/slideMaster" Target="../slideMasters/slideMaster7.xml"/></Relationships>
</file>

<file path=ppt/slideLayouts/_rels/slideLayout31.xml.rels><?xml version="1.0" encoding="UTF-8" standalone="yes"?>
<Relationships xmlns="http://schemas.openxmlformats.org/package/2006/relationships"><Relationship Id="rId2" Type="http://schemas.openxmlformats.org/officeDocument/2006/relationships/image" Target="../media/image18.jpeg"/><Relationship Id="rId1" Type="http://schemas.openxmlformats.org/officeDocument/2006/relationships/slideMaster" Target="../slideMasters/slideMaster8.xml"/></Relationships>
</file>

<file path=ppt/slideLayouts/_rels/slideLayout32.xml.rels><?xml version="1.0" encoding="UTF-8" standalone="yes"?>
<Relationships xmlns="http://schemas.openxmlformats.org/package/2006/relationships"><Relationship Id="rId2" Type="http://schemas.openxmlformats.org/officeDocument/2006/relationships/image" Target="../media/image19.jpeg"/><Relationship Id="rId1" Type="http://schemas.openxmlformats.org/officeDocument/2006/relationships/slideMaster" Target="../slideMasters/slideMaster8.xml"/></Relationships>
</file>

<file path=ppt/slideLayouts/_rels/slideLayout33.xml.rels><?xml version="1.0" encoding="UTF-8" standalone="yes"?>
<Relationships xmlns="http://schemas.openxmlformats.org/package/2006/relationships"><Relationship Id="rId3" Type="http://schemas.openxmlformats.org/officeDocument/2006/relationships/image" Target="../media/image20.jpeg"/><Relationship Id="rId2" Type="http://schemas.openxmlformats.org/officeDocument/2006/relationships/image" Target="../media/image13.jpeg"/><Relationship Id="rId1" Type="http://schemas.openxmlformats.org/officeDocument/2006/relationships/slideMaster" Target="../slideMasters/slideMaster9.xml"/></Relationships>
</file>

<file path=ppt/slideLayouts/_rels/slideLayout34.xml.rels><?xml version="1.0" encoding="UTF-8" standalone="yes"?>
<Relationships xmlns="http://schemas.openxmlformats.org/package/2006/relationships"><Relationship Id="rId2" Type="http://schemas.openxmlformats.org/officeDocument/2006/relationships/image" Target="../media/image7.jpeg"/><Relationship Id="rId1" Type="http://schemas.openxmlformats.org/officeDocument/2006/relationships/slideMaster" Target="../slideMasters/slideMaster9.xml"/></Relationships>
</file>

<file path=ppt/slideLayouts/_rels/slideLayout35.xml.rels><?xml version="1.0" encoding="UTF-8" standalone="yes"?>
<Relationships xmlns="http://schemas.openxmlformats.org/package/2006/relationships"><Relationship Id="rId3" Type="http://schemas.openxmlformats.org/officeDocument/2006/relationships/image" Target="../media/image14.png"/><Relationship Id="rId2" Type="http://schemas.openxmlformats.org/officeDocument/2006/relationships/image" Target="../media/image21.jpeg"/><Relationship Id="rId1" Type="http://schemas.openxmlformats.org/officeDocument/2006/relationships/slideMaster" Target="../slideMasters/slideMaster9.xml"/></Relationships>
</file>

<file path=ppt/slideLayouts/_rels/slideLayout36.xml.rels><?xml version="1.0" encoding="UTF-8" standalone="yes"?>
<Relationships xmlns="http://schemas.openxmlformats.org/package/2006/relationships"><Relationship Id="rId3" Type="http://schemas.openxmlformats.org/officeDocument/2006/relationships/image" Target="../media/image1.jpeg"/><Relationship Id="rId2" Type="http://schemas.openxmlformats.org/officeDocument/2006/relationships/image" Target="../media/image15.png"/><Relationship Id="rId1" Type="http://schemas.openxmlformats.org/officeDocument/2006/relationships/slideMaster" Target="../slideMasters/slideMaster9.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userDrawn="1">
  <p:cSld name="Cover Black">
    <p:bg>
      <p:bgPr>
        <a:solidFill>
          <a:schemeClr val="tx1"/>
        </a:solidFill>
        <a:effectLst/>
      </p:bgPr>
    </p:bg>
    <p:spTree>
      <p:nvGrpSpPr>
        <p:cNvPr id="1" name=""/>
        <p:cNvGrpSpPr/>
        <p:nvPr/>
      </p:nvGrpSpPr>
      <p:grpSpPr>
        <a:xfrm>
          <a:off x="0" y="0"/>
          <a:ext cx="0" cy="0"/>
          <a:chOff x="0" y="0"/>
          <a:chExt cx="0" cy="0"/>
        </a:xfrm>
      </p:grpSpPr>
      <p:pic>
        <p:nvPicPr>
          <p:cNvPr id="9" name="Picture 2" descr="C:\Users\Admin\Downloads\ilovepdf_pages-to-jpg (1)\RU_PPT Template-White Blank_page-0001.jpg"/>
          <p:cNvPicPr>
            <a:picLocks noChangeAspect="1" noChangeArrowheads="1"/>
          </p:cNvPicPr>
          <p:nvPr userDrawn="1"/>
        </p:nvPicPr>
        <p:blipFill>
          <a:blip r:embed="rId2"/>
          <a:srcRect/>
          <a:stretch>
            <a:fillRect/>
          </a:stretch>
        </p:blipFill>
        <p:spPr bwMode="auto">
          <a:xfrm>
            <a:off x="0" y="0"/>
            <a:ext cx="12193190" cy="6858000"/>
          </a:xfrm>
          <a:prstGeom prst="rect">
            <a:avLst/>
          </a:prstGeom>
          <a:noFill/>
        </p:spPr>
      </p:pic>
      <p:sp>
        <p:nvSpPr>
          <p:cNvPr id="15" name="Title 1">
            <a:extLst>
              <a:ext uri="{FF2B5EF4-FFF2-40B4-BE49-F238E27FC236}">
                <a16:creationId xmlns:a16="http://schemas.microsoft.com/office/drawing/2014/main" id="{3567D619-CB47-F041-985A-230E32AF28B6}"/>
              </a:ext>
            </a:extLst>
          </p:cNvPr>
          <p:cNvSpPr>
            <a:spLocks noGrp="1"/>
          </p:cNvSpPr>
          <p:nvPr>
            <p:ph type="title" hasCustomPrompt="1"/>
          </p:nvPr>
        </p:nvSpPr>
        <p:spPr bwMode="gray">
          <a:xfrm>
            <a:off x="1058553" y="3124200"/>
            <a:ext cx="8421823" cy="1750095"/>
          </a:xfrm>
          <a:prstGeom prst="rect">
            <a:avLst/>
          </a:prstGeom>
        </p:spPr>
        <p:txBody>
          <a:bodyPr anchor="ctr"/>
          <a:lstStyle>
            <a:lvl1pPr>
              <a:defRPr sz="4000" spc="0" baseline="0">
                <a:solidFill>
                  <a:srgbClr val="FF6600"/>
                </a:solidFill>
                <a:latin typeface="Roboto Medium" pitchFamily="2" charset="0"/>
                <a:ea typeface="Roboto Medium" pitchFamily="2" charset="0"/>
                <a:cs typeface="Roboto Medium" pitchFamily="2" charset="0"/>
              </a:defRPr>
            </a:lvl1pPr>
          </a:lstStyle>
          <a:p>
            <a:r>
              <a:rPr lang="en-NZ" dirty="0"/>
              <a:t>TITLE</a:t>
            </a:r>
            <a:br>
              <a:rPr lang="en-NZ" dirty="0"/>
            </a:br>
            <a:r>
              <a:rPr lang="en-NZ" dirty="0"/>
              <a:t>OF </a:t>
            </a:r>
            <a:br>
              <a:rPr lang="en-NZ" dirty="0"/>
            </a:br>
            <a:r>
              <a:rPr lang="en-NZ" dirty="0"/>
              <a:t>PRESENTATION</a:t>
            </a:r>
          </a:p>
        </p:txBody>
      </p:sp>
      <p:sp>
        <p:nvSpPr>
          <p:cNvPr id="16" name="Text Placeholder 2">
            <a:extLst>
              <a:ext uri="{FF2B5EF4-FFF2-40B4-BE49-F238E27FC236}">
                <a16:creationId xmlns:a16="http://schemas.microsoft.com/office/drawing/2014/main" id="{DD82E332-C6ED-164F-A8EB-880825F13C99}"/>
              </a:ext>
            </a:extLst>
          </p:cNvPr>
          <p:cNvSpPr>
            <a:spLocks noGrp="1"/>
          </p:cNvSpPr>
          <p:nvPr>
            <p:ph type="body" sz="quarter" idx="10" hasCustomPrompt="1"/>
          </p:nvPr>
        </p:nvSpPr>
        <p:spPr bwMode="gray">
          <a:xfrm>
            <a:off x="1046572" y="5129788"/>
            <a:ext cx="6755716" cy="407987"/>
          </a:xfrm>
          <a:prstGeom prst="rect">
            <a:avLst/>
          </a:prstGeom>
        </p:spPr>
        <p:txBody>
          <a:bodyPr anchor="ctr"/>
          <a:lstStyle>
            <a:lvl1pPr marL="0" marR="0" indent="0" algn="l" defTabSz="914400" rtl="0" eaLnBrk="1" fontAlgn="auto" latinLnBrk="0" hangingPunct="1">
              <a:lnSpc>
                <a:spcPct val="100000"/>
              </a:lnSpc>
              <a:spcBef>
                <a:spcPts val="0"/>
              </a:spcBef>
              <a:spcAft>
                <a:spcPts val="0"/>
              </a:spcAft>
              <a:buClrTx/>
              <a:buSzTx/>
              <a:buFontTx/>
              <a:buNone/>
              <a:tabLst/>
              <a:defRPr lang="en-NZ" sz="2500" kern="1200" spc="400" baseline="0" dirty="0">
                <a:solidFill>
                  <a:srgbClr val="FF6600"/>
                </a:solidFill>
                <a:latin typeface="Roboto Medium" pitchFamily="2" charset="0"/>
                <a:ea typeface="Roboto Medium" pitchFamily="2" charset="0"/>
                <a:cs typeface="Roboto Medium" pitchFamily="2" charset="0"/>
              </a:defRPr>
            </a:lvl1pPr>
          </a:lstStyle>
          <a:p>
            <a:r>
              <a:rPr lang="en-NZ" dirty="0"/>
              <a:t>Department Name and Division</a:t>
            </a:r>
          </a:p>
        </p:txBody>
      </p:sp>
    </p:spTree>
    <p:extLst>
      <p:ext uri="{BB962C8B-B14F-4D97-AF65-F5344CB8AC3E}">
        <p14:creationId xmlns:p14="http://schemas.microsoft.com/office/powerpoint/2010/main" val="47805016"/>
      </p:ext>
    </p:extLst>
  </p:cSld>
  <p:clrMapOvr>
    <a:overrideClrMapping bg1="dk1" tx1="lt1" bg2="dk2" tx2="lt2" accent1="accent1" accent2="accent2" accent3="accent3" accent4="accent4" accent5="accent5" accent6="accent6" hlink="hlink" folHlink="folHlink"/>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userDrawn="1">
  <p:cSld name="Cover White">
    <p:spTree>
      <p:nvGrpSpPr>
        <p:cNvPr id="1" name=""/>
        <p:cNvGrpSpPr/>
        <p:nvPr/>
      </p:nvGrpSpPr>
      <p:grpSpPr>
        <a:xfrm>
          <a:off x="0" y="0"/>
          <a:ext cx="0" cy="0"/>
          <a:chOff x="0" y="0"/>
          <a:chExt cx="0" cy="0"/>
        </a:xfrm>
      </p:grpSpPr>
      <p:pic>
        <p:nvPicPr>
          <p:cNvPr id="10" name="Picture 2" descr="C:\Users\Admin\Downloads\ilovepdf_pages-to-jpg (1)\RU_PPT Template-White Blank_page-0001.jpg"/>
          <p:cNvPicPr>
            <a:picLocks noChangeAspect="1" noChangeArrowheads="1"/>
          </p:cNvPicPr>
          <p:nvPr userDrawn="1"/>
        </p:nvPicPr>
        <p:blipFill>
          <a:blip r:embed="rId2"/>
          <a:srcRect/>
          <a:stretch>
            <a:fillRect/>
          </a:stretch>
        </p:blipFill>
        <p:spPr bwMode="auto">
          <a:xfrm>
            <a:off x="-1" y="0"/>
            <a:ext cx="12193191" cy="6858000"/>
          </a:xfrm>
          <a:prstGeom prst="rect">
            <a:avLst/>
          </a:prstGeom>
          <a:noFill/>
        </p:spPr>
      </p:pic>
      <p:sp>
        <p:nvSpPr>
          <p:cNvPr id="11" name="Rectangle 10"/>
          <p:cNvSpPr/>
          <p:nvPr userDrawn="1"/>
        </p:nvSpPr>
        <p:spPr>
          <a:xfrm>
            <a:off x="685800" y="5880100"/>
            <a:ext cx="3422650" cy="977900"/>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2" name="Rectangle 11"/>
          <p:cNvSpPr/>
          <p:nvPr userDrawn="1"/>
        </p:nvSpPr>
        <p:spPr>
          <a:xfrm>
            <a:off x="8769350" y="5486400"/>
            <a:ext cx="3422650" cy="977900"/>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nvGrpSpPr>
          <p:cNvPr id="13" name="Group 12">
            <a:extLst>
              <a:ext uri="{FF2B5EF4-FFF2-40B4-BE49-F238E27FC236}">
                <a16:creationId xmlns:a16="http://schemas.microsoft.com/office/drawing/2014/main" id="{5AFE99A1-F019-42EF-A6DD-FBA9CE0E5FB1}"/>
              </a:ext>
            </a:extLst>
          </p:cNvPr>
          <p:cNvGrpSpPr/>
          <p:nvPr userDrawn="1"/>
        </p:nvGrpSpPr>
        <p:grpSpPr>
          <a:xfrm>
            <a:off x="9220200" y="5410200"/>
            <a:ext cx="2601503" cy="1082742"/>
            <a:chOff x="10616154" y="97913"/>
            <a:chExt cx="3619726" cy="1349912"/>
          </a:xfrm>
        </p:grpSpPr>
        <p:pic>
          <p:nvPicPr>
            <p:cNvPr id="14" name="Picture 2" descr="NIRF — SAVEETHA SCHOOL OF MANAGEMENT">
              <a:extLst>
                <a:ext uri="{FF2B5EF4-FFF2-40B4-BE49-F238E27FC236}">
                  <a16:creationId xmlns:a16="http://schemas.microsoft.com/office/drawing/2014/main" id="{9B00A4D8-FB36-4B42-882E-EE775CC50F6E}"/>
                </a:ext>
              </a:extLst>
            </p:cNvPr>
            <p:cNvPicPr>
              <a:picLocks noChangeAspect="1" noChangeArrowheads="1"/>
            </p:cNvPicPr>
            <p:nvPr userDrawn="1"/>
          </p:nvPicPr>
          <p:blipFill rotWithShape="1">
            <a:blip r:embed="rId3" cstate="print">
              <a:extLst>
                <a:ext uri="{28A0092B-C50C-407E-A947-70E740481C1C}">
                  <a14:useLocalDpi xmlns:a14="http://schemas.microsoft.com/office/drawing/2010/main" val="0"/>
                </a:ext>
              </a:extLst>
            </a:blip>
            <a:srcRect l="27517" t="4377" r="28922" b="7151"/>
            <a:stretch/>
          </p:blipFill>
          <p:spPr bwMode="auto">
            <a:xfrm>
              <a:off x="12122688" y="97913"/>
              <a:ext cx="843474" cy="592257"/>
            </a:xfrm>
            <a:prstGeom prst="rect">
              <a:avLst/>
            </a:prstGeom>
            <a:noFill/>
            <a:extLst>
              <a:ext uri="{909E8E84-426E-40DD-AFC4-6F175D3DCCD1}">
                <a14:hiddenFill xmlns:a14="http://schemas.microsoft.com/office/drawing/2010/main">
                  <a:solidFill>
                    <a:srgbClr val="FFFFFF"/>
                  </a:solidFill>
                </a14:hiddenFill>
              </a:ext>
            </a:extLst>
          </p:spPr>
        </p:pic>
        <p:pic>
          <p:nvPicPr>
            <p:cNvPr id="15" name="Picture 4" descr="Bharath University - Top University In India">
              <a:extLst>
                <a:ext uri="{FF2B5EF4-FFF2-40B4-BE49-F238E27FC236}">
                  <a16:creationId xmlns:a16="http://schemas.microsoft.com/office/drawing/2014/main" id="{8CF62A35-8903-4AEE-9045-1FA034AB8A07}"/>
                </a:ext>
              </a:extLst>
            </p:cNvPr>
            <p:cNvPicPr>
              <a:picLocks noChangeAspect="1" noChangeArrowheads="1"/>
            </p:cNvPicPr>
            <p:nvPr userDrawn="1"/>
          </p:nvPicPr>
          <p:blipFill>
            <a:blip r:embed="rId4" cstate="print">
              <a:extLst>
                <a:ext uri="{28A0092B-C50C-407E-A947-70E740481C1C}">
                  <a14:useLocalDpi xmlns:a14="http://schemas.microsoft.com/office/drawing/2010/main" val="0"/>
                </a:ext>
              </a:extLst>
            </a:blip>
            <a:srcRect/>
            <a:stretch>
              <a:fillRect/>
            </a:stretch>
          </p:blipFill>
          <p:spPr bwMode="auto">
            <a:xfrm>
              <a:off x="10737939" y="182966"/>
              <a:ext cx="1158298" cy="430887"/>
            </a:xfrm>
            <a:prstGeom prst="rect">
              <a:avLst/>
            </a:prstGeom>
            <a:noFill/>
            <a:extLst>
              <a:ext uri="{909E8E84-426E-40DD-AFC4-6F175D3DCCD1}">
                <a14:hiddenFill xmlns:a14="http://schemas.microsoft.com/office/drawing/2010/main">
                  <a:solidFill>
                    <a:srgbClr val="FFFFFF"/>
                  </a:solidFill>
                </a14:hiddenFill>
              </a:ext>
            </a:extLst>
          </p:spPr>
        </p:pic>
        <p:pic>
          <p:nvPicPr>
            <p:cNvPr id="16" name="Picture 6" descr="CREDISAPP for Ratings - Eloit">
              <a:extLst>
                <a:ext uri="{FF2B5EF4-FFF2-40B4-BE49-F238E27FC236}">
                  <a16:creationId xmlns:a16="http://schemas.microsoft.com/office/drawing/2014/main" id="{4EC4255E-9275-4645-A3F8-21419123E0ED}"/>
                </a:ext>
              </a:extLst>
            </p:cNvPr>
            <p:cNvPicPr>
              <a:picLocks noChangeAspect="1" noChangeArrowheads="1"/>
            </p:cNvPicPr>
            <p:nvPr userDrawn="1"/>
          </p:nvPicPr>
          <p:blipFill>
            <a:blip r:embed="rId5" cstate="print">
              <a:extLst>
                <a:ext uri="{28A0092B-C50C-407E-A947-70E740481C1C}">
                  <a14:useLocalDpi xmlns:a14="http://schemas.microsoft.com/office/drawing/2010/main" val="0"/>
                </a:ext>
              </a:extLst>
            </a:blip>
            <a:srcRect/>
            <a:stretch>
              <a:fillRect/>
            </a:stretch>
          </p:blipFill>
          <p:spPr bwMode="auto">
            <a:xfrm>
              <a:off x="13072901" y="114292"/>
              <a:ext cx="1155067" cy="575878"/>
            </a:xfrm>
            <a:prstGeom prst="rect">
              <a:avLst/>
            </a:prstGeom>
            <a:noFill/>
            <a:extLst>
              <a:ext uri="{909E8E84-426E-40DD-AFC4-6F175D3DCCD1}">
                <a14:hiddenFill xmlns:a14="http://schemas.microsoft.com/office/drawing/2010/main">
                  <a:solidFill>
                    <a:srgbClr val="FFFFFF"/>
                  </a:solidFill>
                </a14:hiddenFill>
              </a:ext>
            </a:extLst>
          </p:spPr>
        </p:pic>
        <p:pic>
          <p:nvPicPr>
            <p:cNvPr id="17" name="Picture 8" descr="MHRD | Innovation Cell - Home">
              <a:extLst>
                <a:ext uri="{FF2B5EF4-FFF2-40B4-BE49-F238E27FC236}">
                  <a16:creationId xmlns:a16="http://schemas.microsoft.com/office/drawing/2014/main" id="{E6BC1D26-C603-41F7-A77B-3E57CF81C4C7}"/>
                </a:ext>
              </a:extLst>
            </p:cNvPr>
            <p:cNvPicPr>
              <a:picLocks noChangeAspect="1" noChangeArrowheads="1"/>
            </p:cNvPicPr>
            <p:nvPr userDrawn="1"/>
          </p:nvPicPr>
          <p:blipFill>
            <a:blip r:embed="rId6" cstate="print">
              <a:extLst>
                <a:ext uri="{28A0092B-C50C-407E-A947-70E740481C1C}">
                  <a14:useLocalDpi xmlns:a14="http://schemas.microsoft.com/office/drawing/2010/main" val="0"/>
                </a:ext>
              </a:extLst>
            </a:blip>
            <a:srcRect/>
            <a:stretch>
              <a:fillRect/>
            </a:stretch>
          </p:blipFill>
          <p:spPr bwMode="auto">
            <a:xfrm>
              <a:off x="10616154" y="789734"/>
              <a:ext cx="1857797" cy="658091"/>
            </a:xfrm>
            <a:prstGeom prst="rect">
              <a:avLst/>
            </a:prstGeom>
            <a:noFill/>
            <a:extLst>
              <a:ext uri="{909E8E84-426E-40DD-AFC4-6F175D3DCCD1}">
                <a14:hiddenFill xmlns:a14="http://schemas.microsoft.com/office/drawing/2010/main">
                  <a:solidFill>
                    <a:srgbClr val="FFFFFF"/>
                  </a:solidFill>
                </a14:hiddenFill>
              </a:ext>
            </a:extLst>
          </p:spPr>
        </p:pic>
        <p:pic>
          <p:nvPicPr>
            <p:cNvPr id="18" name="Picture 10" descr="Institution's Innovation Council | MHRD">
              <a:extLst>
                <a:ext uri="{FF2B5EF4-FFF2-40B4-BE49-F238E27FC236}">
                  <a16:creationId xmlns:a16="http://schemas.microsoft.com/office/drawing/2014/main" id="{36AC505C-EAFA-4C95-8784-8D5ACB655BDA}"/>
                </a:ext>
              </a:extLst>
            </p:cNvPr>
            <p:cNvPicPr>
              <a:picLocks noChangeAspect="1" noChangeArrowheads="1"/>
            </p:cNvPicPr>
            <p:nvPr userDrawn="1"/>
          </p:nvPicPr>
          <p:blipFill rotWithShape="1">
            <a:blip r:embed="rId7" cstate="print">
              <a:extLst>
                <a:ext uri="{28A0092B-C50C-407E-A947-70E740481C1C}">
                  <a14:useLocalDpi xmlns:a14="http://schemas.microsoft.com/office/drawing/2010/main" val="0"/>
                </a:ext>
              </a:extLst>
            </a:blip>
            <a:srcRect l="8879" t="20721" r="8879" b="24346"/>
            <a:stretch/>
          </p:blipFill>
          <p:spPr bwMode="auto">
            <a:xfrm>
              <a:off x="12886182" y="774201"/>
              <a:ext cx="1349698" cy="637584"/>
            </a:xfrm>
            <a:prstGeom prst="rect">
              <a:avLst/>
            </a:prstGeom>
            <a:noFill/>
            <a:extLst>
              <a:ext uri="{909E8E84-426E-40DD-AFC4-6F175D3DCCD1}">
                <a14:hiddenFill xmlns:a14="http://schemas.microsoft.com/office/drawing/2010/main">
                  <a:solidFill>
                    <a:srgbClr val="FFFFFF"/>
                  </a:solidFill>
                </a14:hiddenFill>
              </a:ext>
            </a:extLst>
          </p:spPr>
        </p:pic>
      </p:grpSp>
      <p:sp>
        <p:nvSpPr>
          <p:cNvPr id="19" name="Title 1">
            <a:extLst>
              <a:ext uri="{FF2B5EF4-FFF2-40B4-BE49-F238E27FC236}">
                <a16:creationId xmlns:a16="http://schemas.microsoft.com/office/drawing/2014/main" id="{3567D619-CB47-F041-985A-230E32AF28B6}"/>
              </a:ext>
            </a:extLst>
          </p:cNvPr>
          <p:cNvSpPr>
            <a:spLocks noGrp="1"/>
          </p:cNvSpPr>
          <p:nvPr>
            <p:ph type="title" hasCustomPrompt="1"/>
          </p:nvPr>
        </p:nvSpPr>
        <p:spPr bwMode="gray">
          <a:xfrm>
            <a:off x="1058553" y="3124200"/>
            <a:ext cx="8421823" cy="1750095"/>
          </a:xfrm>
          <a:prstGeom prst="rect">
            <a:avLst/>
          </a:prstGeom>
        </p:spPr>
        <p:txBody>
          <a:bodyPr anchor="ctr"/>
          <a:lstStyle>
            <a:lvl1pPr>
              <a:defRPr sz="4000" spc="0" baseline="0">
                <a:solidFill>
                  <a:srgbClr val="FF6600"/>
                </a:solidFill>
                <a:latin typeface="Roboto Medium" pitchFamily="2" charset="0"/>
                <a:ea typeface="Roboto Medium" pitchFamily="2" charset="0"/>
                <a:cs typeface="Roboto Medium" pitchFamily="2" charset="0"/>
              </a:defRPr>
            </a:lvl1pPr>
          </a:lstStyle>
          <a:p>
            <a:r>
              <a:rPr lang="en-NZ" dirty="0"/>
              <a:t>TITLE</a:t>
            </a:r>
            <a:br>
              <a:rPr lang="en-NZ" dirty="0"/>
            </a:br>
            <a:r>
              <a:rPr lang="en-NZ" dirty="0"/>
              <a:t>OF </a:t>
            </a:r>
            <a:br>
              <a:rPr lang="en-NZ" dirty="0"/>
            </a:br>
            <a:r>
              <a:rPr lang="en-NZ" dirty="0"/>
              <a:t>PRESENTATION</a:t>
            </a:r>
          </a:p>
        </p:txBody>
      </p:sp>
      <p:sp>
        <p:nvSpPr>
          <p:cNvPr id="20" name="Text Placeholder 2">
            <a:extLst>
              <a:ext uri="{FF2B5EF4-FFF2-40B4-BE49-F238E27FC236}">
                <a16:creationId xmlns:a16="http://schemas.microsoft.com/office/drawing/2014/main" id="{DD82E332-C6ED-164F-A8EB-880825F13C99}"/>
              </a:ext>
            </a:extLst>
          </p:cNvPr>
          <p:cNvSpPr>
            <a:spLocks noGrp="1"/>
          </p:cNvSpPr>
          <p:nvPr>
            <p:ph type="body" sz="quarter" idx="10" hasCustomPrompt="1"/>
          </p:nvPr>
        </p:nvSpPr>
        <p:spPr bwMode="gray">
          <a:xfrm>
            <a:off x="1046572" y="5129788"/>
            <a:ext cx="6755716" cy="407987"/>
          </a:xfrm>
          <a:prstGeom prst="rect">
            <a:avLst/>
          </a:prstGeom>
        </p:spPr>
        <p:txBody>
          <a:bodyPr anchor="ctr"/>
          <a:lstStyle>
            <a:lvl1pPr marL="0" marR="0" indent="0" algn="l" defTabSz="914400" rtl="0" eaLnBrk="1" fontAlgn="auto" latinLnBrk="0" hangingPunct="1">
              <a:lnSpc>
                <a:spcPct val="100000"/>
              </a:lnSpc>
              <a:spcBef>
                <a:spcPts val="0"/>
              </a:spcBef>
              <a:spcAft>
                <a:spcPts val="0"/>
              </a:spcAft>
              <a:buClrTx/>
              <a:buSzTx/>
              <a:buFontTx/>
              <a:buNone/>
              <a:tabLst/>
              <a:defRPr lang="en-NZ" sz="2500" kern="1200" spc="400" baseline="0" dirty="0">
                <a:solidFill>
                  <a:srgbClr val="FF6600"/>
                </a:solidFill>
                <a:latin typeface="Roboto Medium" pitchFamily="2" charset="0"/>
                <a:ea typeface="Roboto Medium" pitchFamily="2" charset="0"/>
                <a:cs typeface="Roboto Medium" pitchFamily="2" charset="0"/>
              </a:defRPr>
            </a:lvl1pPr>
          </a:lstStyle>
          <a:p>
            <a:r>
              <a:rPr lang="en-NZ" dirty="0"/>
              <a:t>Department Name and Division</a:t>
            </a:r>
          </a:p>
        </p:txBody>
      </p:sp>
    </p:spTree>
    <p:extLst>
      <p:ext uri="{BB962C8B-B14F-4D97-AF65-F5344CB8AC3E}">
        <p14:creationId xmlns:p14="http://schemas.microsoft.com/office/powerpoint/2010/main" val="1518763473"/>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reserve="1" userDrawn="1">
  <p:cSld name="2_Cover White">
    <p:spTree>
      <p:nvGrpSpPr>
        <p:cNvPr id="1" name=""/>
        <p:cNvGrpSpPr/>
        <p:nvPr/>
      </p:nvGrpSpPr>
      <p:grpSpPr>
        <a:xfrm>
          <a:off x="0" y="0"/>
          <a:ext cx="0" cy="0"/>
          <a:chOff x="0" y="0"/>
          <a:chExt cx="0" cy="0"/>
        </a:xfrm>
      </p:grpSpPr>
      <p:pic>
        <p:nvPicPr>
          <p:cNvPr id="13" name="Picture 2" descr="C:\Users\Admin\Downloads\ilovepdf_pages-to-jpg (2)\RU_PPT Template-Grey Blank_page-0001.jpg"/>
          <p:cNvPicPr>
            <a:picLocks noChangeAspect="1" noChangeArrowheads="1"/>
          </p:cNvPicPr>
          <p:nvPr userDrawn="1"/>
        </p:nvPicPr>
        <p:blipFill>
          <a:blip r:embed="rId2"/>
          <a:srcRect/>
          <a:stretch>
            <a:fillRect/>
          </a:stretch>
        </p:blipFill>
        <p:spPr bwMode="auto">
          <a:xfrm>
            <a:off x="0" y="0"/>
            <a:ext cx="12193191" cy="6858000"/>
          </a:xfrm>
          <a:prstGeom prst="rect">
            <a:avLst/>
          </a:prstGeom>
          <a:noFill/>
        </p:spPr>
      </p:pic>
      <p:grpSp>
        <p:nvGrpSpPr>
          <p:cNvPr id="21" name="Group 20">
            <a:extLst>
              <a:ext uri="{FF2B5EF4-FFF2-40B4-BE49-F238E27FC236}">
                <a16:creationId xmlns:a16="http://schemas.microsoft.com/office/drawing/2014/main" id="{5AFE99A1-F019-42EF-A6DD-FBA9CE0E5FB1}"/>
              </a:ext>
            </a:extLst>
          </p:cNvPr>
          <p:cNvGrpSpPr/>
          <p:nvPr userDrawn="1"/>
        </p:nvGrpSpPr>
        <p:grpSpPr>
          <a:xfrm>
            <a:off x="9220200" y="304800"/>
            <a:ext cx="2601503" cy="1082742"/>
            <a:chOff x="10616154" y="97913"/>
            <a:chExt cx="3619726" cy="1349912"/>
          </a:xfrm>
        </p:grpSpPr>
        <p:pic>
          <p:nvPicPr>
            <p:cNvPr id="22" name="Picture 2" descr="NIRF — SAVEETHA SCHOOL OF MANAGEMENT">
              <a:extLst>
                <a:ext uri="{FF2B5EF4-FFF2-40B4-BE49-F238E27FC236}">
                  <a16:creationId xmlns:a16="http://schemas.microsoft.com/office/drawing/2014/main" id="{9B00A4D8-FB36-4B42-882E-EE775CC50F6E}"/>
                </a:ext>
              </a:extLst>
            </p:cNvPr>
            <p:cNvPicPr>
              <a:picLocks noChangeAspect="1" noChangeArrowheads="1"/>
            </p:cNvPicPr>
            <p:nvPr userDrawn="1"/>
          </p:nvPicPr>
          <p:blipFill rotWithShape="1">
            <a:blip r:embed="rId3" cstate="print">
              <a:extLst>
                <a:ext uri="{28A0092B-C50C-407E-A947-70E740481C1C}">
                  <a14:useLocalDpi xmlns:a14="http://schemas.microsoft.com/office/drawing/2010/main" val="0"/>
                </a:ext>
              </a:extLst>
            </a:blip>
            <a:srcRect l="27517" t="4377" r="28922" b="7151"/>
            <a:stretch/>
          </p:blipFill>
          <p:spPr bwMode="auto">
            <a:xfrm>
              <a:off x="12122688" y="97913"/>
              <a:ext cx="843474" cy="592257"/>
            </a:xfrm>
            <a:prstGeom prst="rect">
              <a:avLst/>
            </a:prstGeom>
            <a:noFill/>
            <a:extLst>
              <a:ext uri="{909E8E84-426E-40DD-AFC4-6F175D3DCCD1}">
                <a14:hiddenFill xmlns:a14="http://schemas.microsoft.com/office/drawing/2010/main">
                  <a:solidFill>
                    <a:srgbClr val="FFFFFF"/>
                  </a:solidFill>
                </a14:hiddenFill>
              </a:ext>
            </a:extLst>
          </p:spPr>
        </p:pic>
        <p:pic>
          <p:nvPicPr>
            <p:cNvPr id="23" name="Picture 4" descr="Bharath University - Top University In India">
              <a:extLst>
                <a:ext uri="{FF2B5EF4-FFF2-40B4-BE49-F238E27FC236}">
                  <a16:creationId xmlns:a16="http://schemas.microsoft.com/office/drawing/2014/main" id="{8CF62A35-8903-4AEE-9045-1FA034AB8A07}"/>
                </a:ext>
              </a:extLst>
            </p:cNvPr>
            <p:cNvPicPr>
              <a:picLocks noChangeAspect="1" noChangeArrowheads="1"/>
            </p:cNvPicPr>
            <p:nvPr userDrawn="1"/>
          </p:nvPicPr>
          <p:blipFill>
            <a:blip r:embed="rId4" cstate="print">
              <a:extLst>
                <a:ext uri="{28A0092B-C50C-407E-A947-70E740481C1C}">
                  <a14:useLocalDpi xmlns:a14="http://schemas.microsoft.com/office/drawing/2010/main" val="0"/>
                </a:ext>
              </a:extLst>
            </a:blip>
            <a:srcRect/>
            <a:stretch>
              <a:fillRect/>
            </a:stretch>
          </p:blipFill>
          <p:spPr bwMode="auto">
            <a:xfrm>
              <a:off x="10737939" y="182966"/>
              <a:ext cx="1158298" cy="430887"/>
            </a:xfrm>
            <a:prstGeom prst="rect">
              <a:avLst/>
            </a:prstGeom>
            <a:noFill/>
            <a:extLst>
              <a:ext uri="{909E8E84-426E-40DD-AFC4-6F175D3DCCD1}">
                <a14:hiddenFill xmlns:a14="http://schemas.microsoft.com/office/drawing/2010/main">
                  <a:solidFill>
                    <a:srgbClr val="FFFFFF"/>
                  </a:solidFill>
                </a14:hiddenFill>
              </a:ext>
            </a:extLst>
          </p:spPr>
        </p:pic>
        <p:pic>
          <p:nvPicPr>
            <p:cNvPr id="24" name="Picture 6" descr="CREDISAPP for Ratings - Eloit">
              <a:extLst>
                <a:ext uri="{FF2B5EF4-FFF2-40B4-BE49-F238E27FC236}">
                  <a16:creationId xmlns:a16="http://schemas.microsoft.com/office/drawing/2014/main" id="{4EC4255E-9275-4645-A3F8-21419123E0ED}"/>
                </a:ext>
              </a:extLst>
            </p:cNvPr>
            <p:cNvPicPr>
              <a:picLocks noChangeAspect="1" noChangeArrowheads="1"/>
            </p:cNvPicPr>
            <p:nvPr userDrawn="1"/>
          </p:nvPicPr>
          <p:blipFill>
            <a:blip r:embed="rId5" cstate="print">
              <a:extLst>
                <a:ext uri="{28A0092B-C50C-407E-A947-70E740481C1C}">
                  <a14:useLocalDpi xmlns:a14="http://schemas.microsoft.com/office/drawing/2010/main" val="0"/>
                </a:ext>
              </a:extLst>
            </a:blip>
            <a:srcRect/>
            <a:stretch>
              <a:fillRect/>
            </a:stretch>
          </p:blipFill>
          <p:spPr bwMode="auto">
            <a:xfrm>
              <a:off x="13072901" y="114292"/>
              <a:ext cx="1155067" cy="575878"/>
            </a:xfrm>
            <a:prstGeom prst="rect">
              <a:avLst/>
            </a:prstGeom>
            <a:noFill/>
            <a:extLst>
              <a:ext uri="{909E8E84-426E-40DD-AFC4-6F175D3DCCD1}">
                <a14:hiddenFill xmlns:a14="http://schemas.microsoft.com/office/drawing/2010/main">
                  <a:solidFill>
                    <a:srgbClr val="FFFFFF"/>
                  </a:solidFill>
                </a14:hiddenFill>
              </a:ext>
            </a:extLst>
          </p:spPr>
        </p:pic>
        <p:pic>
          <p:nvPicPr>
            <p:cNvPr id="25" name="Picture 8" descr="MHRD | Innovation Cell - Home">
              <a:extLst>
                <a:ext uri="{FF2B5EF4-FFF2-40B4-BE49-F238E27FC236}">
                  <a16:creationId xmlns:a16="http://schemas.microsoft.com/office/drawing/2014/main" id="{E6BC1D26-C603-41F7-A77B-3E57CF81C4C7}"/>
                </a:ext>
              </a:extLst>
            </p:cNvPr>
            <p:cNvPicPr>
              <a:picLocks noChangeAspect="1" noChangeArrowheads="1"/>
            </p:cNvPicPr>
            <p:nvPr userDrawn="1"/>
          </p:nvPicPr>
          <p:blipFill>
            <a:blip r:embed="rId6" cstate="print">
              <a:extLst>
                <a:ext uri="{28A0092B-C50C-407E-A947-70E740481C1C}">
                  <a14:useLocalDpi xmlns:a14="http://schemas.microsoft.com/office/drawing/2010/main" val="0"/>
                </a:ext>
              </a:extLst>
            </a:blip>
            <a:srcRect/>
            <a:stretch>
              <a:fillRect/>
            </a:stretch>
          </p:blipFill>
          <p:spPr bwMode="auto">
            <a:xfrm>
              <a:off x="10616154" y="789734"/>
              <a:ext cx="1857797" cy="658091"/>
            </a:xfrm>
            <a:prstGeom prst="rect">
              <a:avLst/>
            </a:prstGeom>
            <a:noFill/>
            <a:extLst>
              <a:ext uri="{909E8E84-426E-40DD-AFC4-6F175D3DCCD1}">
                <a14:hiddenFill xmlns:a14="http://schemas.microsoft.com/office/drawing/2010/main">
                  <a:solidFill>
                    <a:srgbClr val="FFFFFF"/>
                  </a:solidFill>
                </a14:hiddenFill>
              </a:ext>
            </a:extLst>
          </p:spPr>
        </p:pic>
        <p:pic>
          <p:nvPicPr>
            <p:cNvPr id="26" name="Picture 10" descr="Institution's Innovation Council | MHRD">
              <a:extLst>
                <a:ext uri="{FF2B5EF4-FFF2-40B4-BE49-F238E27FC236}">
                  <a16:creationId xmlns:a16="http://schemas.microsoft.com/office/drawing/2014/main" id="{36AC505C-EAFA-4C95-8784-8D5ACB655BDA}"/>
                </a:ext>
              </a:extLst>
            </p:cNvPr>
            <p:cNvPicPr>
              <a:picLocks noChangeAspect="1" noChangeArrowheads="1"/>
            </p:cNvPicPr>
            <p:nvPr userDrawn="1"/>
          </p:nvPicPr>
          <p:blipFill rotWithShape="1">
            <a:blip r:embed="rId7" cstate="print">
              <a:extLst>
                <a:ext uri="{28A0092B-C50C-407E-A947-70E740481C1C}">
                  <a14:useLocalDpi xmlns:a14="http://schemas.microsoft.com/office/drawing/2010/main" val="0"/>
                </a:ext>
              </a:extLst>
            </a:blip>
            <a:srcRect l="8879" t="20721" r="8879" b="24346"/>
            <a:stretch/>
          </p:blipFill>
          <p:spPr bwMode="auto">
            <a:xfrm>
              <a:off x="12886182" y="774201"/>
              <a:ext cx="1349698" cy="637584"/>
            </a:xfrm>
            <a:prstGeom prst="rect">
              <a:avLst/>
            </a:prstGeom>
            <a:noFill/>
            <a:extLst>
              <a:ext uri="{909E8E84-426E-40DD-AFC4-6F175D3DCCD1}">
                <a14:hiddenFill xmlns:a14="http://schemas.microsoft.com/office/drawing/2010/main">
                  <a:solidFill>
                    <a:srgbClr val="FFFFFF"/>
                  </a:solidFill>
                </a14:hiddenFill>
              </a:ext>
            </a:extLst>
          </p:spPr>
        </p:pic>
      </p:grpSp>
      <p:sp>
        <p:nvSpPr>
          <p:cNvPr id="19" name="Title 1">
            <a:extLst>
              <a:ext uri="{FF2B5EF4-FFF2-40B4-BE49-F238E27FC236}">
                <a16:creationId xmlns:a16="http://schemas.microsoft.com/office/drawing/2014/main" id="{3567D619-CB47-F041-985A-230E32AF28B6}"/>
              </a:ext>
            </a:extLst>
          </p:cNvPr>
          <p:cNvSpPr>
            <a:spLocks noGrp="1"/>
          </p:cNvSpPr>
          <p:nvPr>
            <p:ph type="title" hasCustomPrompt="1"/>
          </p:nvPr>
        </p:nvSpPr>
        <p:spPr bwMode="gray">
          <a:xfrm>
            <a:off x="1058553" y="3124200"/>
            <a:ext cx="8421823" cy="1750095"/>
          </a:xfrm>
          <a:prstGeom prst="rect">
            <a:avLst/>
          </a:prstGeom>
        </p:spPr>
        <p:txBody>
          <a:bodyPr anchor="ctr"/>
          <a:lstStyle>
            <a:lvl1pPr>
              <a:defRPr sz="4000" spc="0" baseline="0">
                <a:solidFill>
                  <a:srgbClr val="FF6600"/>
                </a:solidFill>
                <a:latin typeface="Roboto Medium" pitchFamily="2" charset="0"/>
                <a:ea typeface="Roboto Medium" pitchFamily="2" charset="0"/>
                <a:cs typeface="Roboto Medium" pitchFamily="2" charset="0"/>
              </a:defRPr>
            </a:lvl1pPr>
          </a:lstStyle>
          <a:p>
            <a:r>
              <a:rPr lang="en-NZ" dirty="0"/>
              <a:t>TITLE</a:t>
            </a:r>
            <a:br>
              <a:rPr lang="en-NZ" dirty="0"/>
            </a:br>
            <a:r>
              <a:rPr lang="en-NZ" dirty="0"/>
              <a:t>OF </a:t>
            </a:r>
            <a:br>
              <a:rPr lang="en-NZ" dirty="0"/>
            </a:br>
            <a:r>
              <a:rPr lang="en-NZ" dirty="0"/>
              <a:t>PRESENTATION</a:t>
            </a:r>
          </a:p>
        </p:txBody>
      </p:sp>
      <p:sp>
        <p:nvSpPr>
          <p:cNvPr id="20" name="Text Placeholder 2">
            <a:extLst>
              <a:ext uri="{FF2B5EF4-FFF2-40B4-BE49-F238E27FC236}">
                <a16:creationId xmlns:a16="http://schemas.microsoft.com/office/drawing/2014/main" id="{DD82E332-C6ED-164F-A8EB-880825F13C99}"/>
              </a:ext>
            </a:extLst>
          </p:cNvPr>
          <p:cNvSpPr>
            <a:spLocks noGrp="1"/>
          </p:cNvSpPr>
          <p:nvPr>
            <p:ph type="body" sz="quarter" idx="10" hasCustomPrompt="1"/>
          </p:nvPr>
        </p:nvSpPr>
        <p:spPr bwMode="gray">
          <a:xfrm>
            <a:off x="1046572" y="5129788"/>
            <a:ext cx="6755716" cy="407987"/>
          </a:xfrm>
          <a:prstGeom prst="rect">
            <a:avLst/>
          </a:prstGeom>
        </p:spPr>
        <p:txBody>
          <a:bodyPr anchor="ctr"/>
          <a:lstStyle>
            <a:lvl1pPr marL="0" marR="0" indent="0" algn="l" defTabSz="914400" rtl="0" eaLnBrk="1" fontAlgn="auto" latinLnBrk="0" hangingPunct="1">
              <a:lnSpc>
                <a:spcPct val="100000"/>
              </a:lnSpc>
              <a:spcBef>
                <a:spcPts val="0"/>
              </a:spcBef>
              <a:spcAft>
                <a:spcPts val="0"/>
              </a:spcAft>
              <a:buClrTx/>
              <a:buSzTx/>
              <a:buFontTx/>
              <a:buNone/>
              <a:tabLst/>
              <a:defRPr lang="en-NZ" sz="2500" kern="1200" spc="400" baseline="0" dirty="0">
                <a:solidFill>
                  <a:srgbClr val="FF6600"/>
                </a:solidFill>
                <a:latin typeface="Roboto Medium" pitchFamily="2" charset="0"/>
                <a:ea typeface="Roboto Medium" pitchFamily="2" charset="0"/>
                <a:cs typeface="Roboto Medium" pitchFamily="2" charset="0"/>
              </a:defRPr>
            </a:lvl1pPr>
          </a:lstStyle>
          <a:p>
            <a:r>
              <a:rPr lang="en-NZ" dirty="0"/>
              <a:t>Department Name and Division</a:t>
            </a:r>
          </a:p>
        </p:txBody>
      </p:sp>
    </p:spTree>
    <p:extLst>
      <p:ext uri="{BB962C8B-B14F-4D97-AF65-F5344CB8AC3E}">
        <p14:creationId xmlns:p14="http://schemas.microsoft.com/office/powerpoint/2010/main" val="1518763473"/>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preserve="1" userDrawn="1">
  <p:cSld name="Cover Image">
    <p:spTree>
      <p:nvGrpSpPr>
        <p:cNvPr id="1" name=""/>
        <p:cNvGrpSpPr/>
        <p:nvPr/>
      </p:nvGrpSpPr>
      <p:grpSpPr>
        <a:xfrm>
          <a:off x="0" y="0"/>
          <a:ext cx="0" cy="0"/>
          <a:chOff x="0" y="0"/>
          <a:chExt cx="0" cy="0"/>
        </a:xfrm>
      </p:grpSpPr>
      <p:pic>
        <p:nvPicPr>
          <p:cNvPr id="14" name="Picture 2" descr="C:\Users\Admin\Downloads\ilovepdf_pages-to-jpg (2)\RU_PPT Template-Grey Blank_page-0001.jpg"/>
          <p:cNvPicPr>
            <a:picLocks noChangeAspect="1" noChangeArrowheads="1"/>
          </p:cNvPicPr>
          <p:nvPr userDrawn="1"/>
        </p:nvPicPr>
        <p:blipFill>
          <a:blip r:embed="rId2"/>
          <a:srcRect/>
          <a:stretch>
            <a:fillRect/>
          </a:stretch>
        </p:blipFill>
        <p:spPr bwMode="auto">
          <a:xfrm>
            <a:off x="-1" y="0"/>
            <a:ext cx="12193191" cy="6858000"/>
          </a:xfrm>
          <a:prstGeom prst="rect">
            <a:avLst/>
          </a:prstGeom>
          <a:noFill/>
        </p:spPr>
      </p:pic>
      <p:sp>
        <p:nvSpPr>
          <p:cNvPr id="15" name="Title 1">
            <a:extLst>
              <a:ext uri="{FF2B5EF4-FFF2-40B4-BE49-F238E27FC236}">
                <a16:creationId xmlns:a16="http://schemas.microsoft.com/office/drawing/2014/main" id="{3567D619-CB47-F041-985A-230E32AF28B6}"/>
              </a:ext>
            </a:extLst>
          </p:cNvPr>
          <p:cNvSpPr>
            <a:spLocks noGrp="1"/>
          </p:cNvSpPr>
          <p:nvPr>
            <p:ph type="title" hasCustomPrompt="1"/>
          </p:nvPr>
        </p:nvSpPr>
        <p:spPr bwMode="gray">
          <a:xfrm>
            <a:off x="1058553" y="3124200"/>
            <a:ext cx="8421823" cy="1750095"/>
          </a:xfrm>
          <a:prstGeom prst="rect">
            <a:avLst/>
          </a:prstGeom>
        </p:spPr>
        <p:txBody>
          <a:bodyPr anchor="ctr"/>
          <a:lstStyle>
            <a:lvl1pPr>
              <a:defRPr sz="4000" spc="0" baseline="0">
                <a:solidFill>
                  <a:srgbClr val="FF6600"/>
                </a:solidFill>
                <a:latin typeface="Roboto Medium" pitchFamily="2" charset="0"/>
                <a:ea typeface="Roboto Medium" pitchFamily="2" charset="0"/>
                <a:cs typeface="Roboto Medium" pitchFamily="2" charset="0"/>
              </a:defRPr>
            </a:lvl1pPr>
          </a:lstStyle>
          <a:p>
            <a:r>
              <a:rPr lang="en-NZ" dirty="0"/>
              <a:t>TITLE</a:t>
            </a:r>
            <a:br>
              <a:rPr lang="en-NZ" dirty="0"/>
            </a:br>
            <a:r>
              <a:rPr lang="en-NZ" dirty="0"/>
              <a:t>OF </a:t>
            </a:r>
            <a:br>
              <a:rPr lang="en-NZ" dirty="0"/>
            </a:br>
            <a:r>
              <a:rPr lang="en-NZ" dirty="0"/>
              <a:t>PRESENTATION</a:t>
            </a:r>
          </a:p>
        </p:txBody>
      </p:sp>
      <p:sp>
        <p:nvSpPr>
          <p:cNvPr id="16" name="Text Placeholder 2">
            <a:extLst>
              <a:ext uri="{FF2B5EF4-FFF2-40B4-BE49-F238E27FC236}">
                <a16:creationId xmlns:a16="http://schemas.microsoft.com/office/drawing/2014/main" id="{DD82E332-C6ED-164F-A8EB-880825F13C99}"/>
              </a:ext>
            </a:extLst>
          </p:cNvPr>
          <p:cNvSpPr>
            <a:spLocks noGrp="1"/>
          </p:cNvSpPr>
          <p:nvPr>
            <p:ph type="body" sz="quarter" idx="10" hasCustomPrompt="1"/>
          </p:nvPr>
        </p:nvSpPr>
        <p:spPr bwMode="gray">
          <a:xfrm>
            <a:off x="1046572" y="5129788"/>
            <a:ext cx="6755716" cy="407987"/>
          </a:xfrm>
          <a:prstGeom prst="rect">
            <a:avLst/>
          </a:prstGeom>
        </p:spPr>
        <p:txBody>
          <a:bodyPr anchor="ctr"/>
          <a:lstStyle>
            <a:lvl1pPr marL="0" marR="0" indent="0" algn="l" defTabSz="914400" rtl="0" eaLnBrk="1" fontAlgn="auto" latinLnBrk="0" hangingPunct="1">
              <a:lnSpc>
                <a:spcPct val="100000"/>
              </a:lnSpc>
              <a:spcBef>
                <a:spcPts val="0"/>
              </a:spcBef>
              <a:spcAft>
                <a:spcPts val="0"/>
              </a:spcAft>
              <a:buClrTx/>
              <a:buSzTx/>
              <a:buFontTx/>
              <a:buNone/>
              <a:tabLst/>
              <a:defRPr lang="en-NZ" sz="2500" kern="1200" spc="400" baseline="0" dirty="0">
                <a:solidFill>
                  <a:srgbClr val="FF6600"/>
                </a:solidFill>
                <a:latin typeface="Roboto Medium" pitchFamily="2" charset="0"/>
                <a:ea typeface="Roboto Medium" pitchFamily="2" charset="0"/>
                <a:cs typeface="Roboto Medium" pitchFamily="2" charset="0"/>
              </a:defRPr>
            </a:lvl1pPr>
          </a:lstStyle>
          <a:p>
            <a:r>
              <a:rPr lang="en-NZ" dirty="0"/>
              <a:t>Department Name and Division</a:t>
            </a:r>
          </a:p>
        </p:txBody>
      </p:sp>
    </p:spTree>
    <p:extLst>
      <p:ext uri="{BB962C8B-B14F-4D97-AF65-F5344CB8AC3E}">
        <p14:creationId xmlns:p14="http://schemas.microsoft.com/office/powerpoint/2010/main" val="2896653650"/>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preserve="1" userDrawn="1">
  <p:cSld name="1_Cover White">
    <p:spTree>
      <p:nvGrpSpPr>
        <p:cNvPr id="1" name=""/>
        <p:cNvGrpSpPr/>
        <p:nvPr/>
      </p:nvGrpSpPr>
      <p:grpSpPr>
        <a:xfrm>
          <a:off x="0" y="0"/>
          <a:ext cx="0" cy="0"/>
          <a:chOff x="0" y="0"/>
          <a:chExt cx="0" cy="0"/>
        </a:xfrm>
      </p:grpSpPr>
      <p:sp>
        <p:nvSpPr>
          <p:cNvPr id="3" name="Picture Placeholder 2">
            <a:extLst>
              <a:ext uri="{FF2B5EF4-FFF2-40B4-BE49-F238E27FC236}">
                <a16:creationId xmlns:a16="http://schemas.microsoft.com/office/drawing/2014/main" id="{6C96D411-367F-DE44-B86F-24693F081E88}"/>
              </a:ext>
            </a:extLst>
          </p:cNvPr>
          <p:cNvSpPr>
            <a:spLocks noGrp="1"/>
          </p:cNvSpPr>
          <p:nvPr>
            <p:ph type="pic" sz="quarter" idx="15"/>
          </p:nvPr>
        </p:nvSpPr>
        <p:spPr>
          <a:xfrm>
            <a:off x="0" y="0"/>
            <a:ext cx="12192000" cy="6858000"/>
          </a:xfrm>
          <a:prstGeom prst="rect">
            <a:avLst/>
          </a:prstGeom>
        </p:spPr>
        <p:txBody>
          <a:bodyPr/>
          <a:lstStyle>
            <a:lvl1pPr>
              <a:defRPr>
                <a:latin typeface="Roboto Medium" pitchFamily="2" charset="0"/>
                <a:ea typeface="Roboto Medium" pitchFamily="2" charset="0"/>
              </a:defRPr>
            </a:lvl1pPr>
          </a:lstStyle>
          <a:p>
            <a:r>
              <a:rPr lang="en-US"/>
              <a:t>Click icon to add picture</a:t>
            </a:r>
            <a:endParaRPr lang="en-US" dirty="0"/>
          </a:p>
        </p:txBody>
      </p:sp>
      <p:sp>
        <p:nvSpPr>
          <p:cNvPr id="12" name="Title 1">
            <a:extLst>
              <a:ext uri="{FF2B5EF4-FFF2-40B4-BE49-F238E27FC236}">
                <a16:creationId xmlns:a16="http://schemas.microsoft.com/office/drawing/2014/main" id="{3567D619-CB47-F041-985A-230E32AF28B6}"/>
              </a:ext>
            </a:extLst>
          </p:cNvPr>
          <p:cNvSpPr>
            <a:spLocks noGrp="1"/>
          </p:cNvSpPr>
          <p:nvPr>
            <p:ph type="title" hasCustomPrompt="1"/>
          </p:nvPr>
        </p:nvSpPr>
        <p:spPr bwMode="gray">
          <a:xfrm>
            <a:off x="1058553" y="3124200"/>
            <a:ext cx="4580247" cy="1750095"/>
          </a:xfrm>
          <a:prstGeom prst="rect">
            <a:avLst/>
          </a:prstGeom>
        </p:spPr>
        <p:txBody>
          <a:bodyPr anchor="ctr"/>
          <a:lstStyle>
            <a:lvl1pPr>
              <a:defRPr sz="4000" spc="0" baseline="0">
                <a:solidFill>
                  <a:srgbClr val="FF6600"/>
                </a:solidFill>
                <a:latin typeface="Roboto Medium" pitchFamily="2" charset="0"/>
                <a:ea typeface="Roboto Medium" pitchFamily="2" charset="0"/>
                <a:cs typeface="Roboto Medium" pitchFamily="2" charset="0"/>
              </a:defRPr>
            </a:lvl1pPr>
          </a:lstStyle>
          <a:p>
            <a:r>
              <a:rPr lang="en-NZ" dirty="0"/>
              <a:t>TITLE</a:t>
            </a:r>
            <a:br>
              <a:rPr lang="en-NZ" dirty="0"/>
            </a:br>
            <a:r>
              <a:rPr lang="en-NZ" dirty="0"/>
              <a:t>OF </a:t>
            </a:r>
            <a:br>
              <a:rPr lang="en-NZ" dirty="0"/>
            </a:br>
            <a:r>
              <a:rPr lang="en-NZ" dirty="0"/>
              <a:t>PRESENTATION</a:t>
            </a:r>
          </a:p>
        </p:txBody>
      </p:sp>
      <p:sp>
        <p:nvSpPr>
          <p:cNvPr id="13" name="Text Placeholder 2">
            <a:extLst>
              <a:ext uri="{FF2B5EF4-FFF2-40B4-BE49-F238E27FC236}">
                <a16:creationId xmlns:a16="http://schemas.microsoft.com/office/drawing/2014/main" id="{DD82E332-C6ED-164F-A8EB-880825F13C99}"/>
              </a:ext>
            </a:extLst>
          </p:cNvPr>
          <p:cNvSpPr>
            <a:spLocks noGrp="1"/>
          </p:cNvSpPr>
          <p:nvPr>
            <p:ph type="body" sz="quarter" idx="10" hasCustomPrompt="1"/>
          </p:nvPr>
        </p:nvSpPr>
        <p:spPr bwMode="gray">
          <a:xfrm>
            <a:off x="1046572" y="5129788"/>
            <a:ext cx="6755716" cy="407987"/>
          </a:xfrm>
          <a:prstGeom prst="rect">
            <a:avLst/>
          </a:prstGeom>
        </p:spPr>
        <p:txBody>
          <a:bodyPr anchor="ctr"/>
          <a:lstStyle>
            <a:lvl1pPr marL="0" marR="0" indent="0" algn="l" defTabSz="914400" rtl="0" eaLnBrk="1" fontAlgn="auto" latinLnBrk="0" hangingPunct="1">
              <a:lnSpc>
                <a:spcPct val="100000"/>
              </a:lnSpc>
              <a:spcBef>
                <a:spcPts val="0"/>
              </a:spcBef>
              <a:spcAft>
                <a:spcPts val="0"/>
              </a:spcAft>
              <a:buClrTx/>
              <a:buSzTx/>
              <a:buFontTx/>
              <a:buNone/>
              <a:tabLst/>
              <a:defRPr lang="en-NZ" sz="2500" kern="1200" spc="400" baseline="0" dirty="0">
                <a:solidFill>
                  <a:srgbClr val="FF6600"/>
                </a:solidFill>
                <a:latin typeface="Roboto Medium" pitchFamily="2" charset="0"/>
                <a:ea typeface="Roboto Medium" pitchFamily="2" charset="0"/>
                <a:cs typeface="Roboto Medium" pitchFamily="2" charset="0"/>
              </a:defRPr>
            </a:lvl1pPr>
          </a:lstStyle>
          <a:p>
            <a:r>
              <a:rPr lang="en-NZ" dirty="0"/>
              <a:t>Department Name and Division</a:t>
            </a:r>
          </a:p>
        </p:txBody>
      </p:sp>
      <p:pic>
        <p:nvPicPr>
          <p:cNvPr id="16" name="Picture 2" descr="C:\Users\Admin\Downloads\REVA LOGO2.png"/>
          <p:cNvPicPr>
            <a:picLocks noChangeAspect="1" noChangeArrowheads="1"/>
          </p:cNvPicPr>
          <p:nvPr userDrawn="1"/>
        </p:nvPicPr>
        <p:blipFill>
          <a:blip r:embed="rId2" cstate="print"/>
          <a:srcRect/>
          <a:stretch>
            <a:fillRect/>
          </a:stretch>
        </p:blipFill>
        <p:spPr bwMode="auto">
          <a:xfrm>
            <a:off x="754380" y="1857550"/>
            <a:ext cx="3581400" cy="997709"/>
          </a:xfrm>
          <a:prstGeom prst="rect">
            <a:avLst/>
          </a:prstGeom>
          <a:noFill/>
        </p:spPr>
      </p:pic>
    </p:spTree>
    <p:extLst>
      <p:ext uri="{BB962C8B-B14F-4D97-AF65-F5344CB8AC3E}">
        <p14:creationId xmlns:p14="http://schemas.microsoft.com/office/powerpoint/2010/main" val="643554452"/>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preserve="1" userDrawn="1">
  <p:cSld name="Agenda Black">
    <p:bg bwMode="gray">
      <p:bgPr>
        <a:solidFill>
          <a:schemeClr val="bg1"/>
        </a:solidFill>
        <a:effectLst/>
      </p:bgPr>
    </p:bg>
    <p:spTree>
      <p:nvGrpSpPr>
        <p:cNvPr id="1" name=""/>
        <p:cNvGrpSpPr/>
        <p:nvPr/>
      </p:nvGrpSpPr>
      <p:grpSpPr>
        <a:xfrm>
          <a:off x="0" y="0"/>
          <a:ext cx="0" cy="0"/>
          <a:chOff x="0" y="0"/>
          <a:chExt cx="0" cy="0"/>
        </a:xfrm>
      </p:grpSpPr>
      <p:pic>
        <p:nvPicPr>
          <p:cNvPr id="3074" name="Picture 2" descr="C:\Users\Admin\Downloads\ilovepdf_pages-to-jpg (4)\RU_PPT Template-Grey Blank (1)_page-0003.jpg"/>
          <p:cNvPicPr>
            <a:picLocks noChangeAspect="1" noChangeArrowheads="1"/>
          </p:cNvPicPr>
          <p:nvPr userDrawn="1"/>
        </p:nvPicPr>
        <p:blipFill>
          <a:blip r:embed="rId2"/>
          <a:srcRect/>
          <a:stretch>
            <a:fillRect/>
          </a:stretch>
        </p:blipFill>
        <p:spPr bwMode="auto">
          <a:xfrm>
            <a:off x="0" y="0"/>
            <a:ext cx="12193190" cy="6858000"/>
          </a:xfrm>
          <a:prstGeom prst="rect">
            <a:avLst/>
          </a:prstGeom>
          <a:noFill/>
        </p:spPr>
      </p:pic>
      <p:sp>
        <p:nvSpPr>
          <p:cNvPr id="3" name="Text Placeholder 2">
            <a:extLst>
              <a:ext uri="{FF2B5EF4-FFF2-40B4-BE49-F238E27FC236}">
                <a16:creationId xmlns:a16="http://schemas.microsoft.com/office/drawing/2014/main" id="{A57C66B2-DB5E-EF42-BC3E-8844BAB7CAB2}"/>
              </a:ext>
            </a:extLst>
          </p:cNvPr>
          <p:cNvSpPr>
            <a:spLocks noGrp="1"/>
          </p:cNvSpPr>
          <p:nvPr>
            <p:ph type="body" sz="quarter" idx="17"/>
          </p:nvPr>
        </p:nvSpPr>
        <p:spPr>
          <a:xfrm>
            <a:off x="695400" y="1773936"/>
            <a:ext cx="10801201" cy="4320480"/>
          </a:xfrm>
          <a:prstGeom prst="rect">
            <a:avLst/>
          </a:prstGeom>
        </p:spPr>
        <p:txBody>
          <a:bodyPr/>
          <a:lstStyle>
            <a:lvl1pPr marL="457200" indent="-457200">
              <a:spcBef>
                <a:spcPts val="0"/>
              </a:spcBef>
              <a:spcAft>
                <a:spcPts val="1400"/>
              </a:spcAft>
              <a:buFont typeface="+mj-lt"/>
              <a:buAutoNum type="arabicPeriod"/>
              <a:defRPr sz="2400">
                <a:solidFill>
                  <a:schemeClr val="bg1"/>
                </a:solidFill>
                <a:latin typeface="Roboto Medium" pitchFamily="2" charset="0"/>
                <a:ea typeface="Roboto Medium" pitchFamily="2" charset="0"/>
                <a:cs typeface="Roboto Medium" pitchFamily="2" charset="0"/>
              </a:defRPr>
            </a:lvl1pPr>
            <a:lvl2pPr marL="700088" indent="-457200">
              <a:spcBef>
                <a:spcPts val="0"/>
              </a:spcBef>
              <a:spcAft>
                <a:spcPts val="1400"/>
              </a:spcAft>
              <a:buFont typeface="+mj-lt"/>
              <a:buAutoNum type="arabicPeriod"/>
              <a:tabLst/>
              <a:defRPr sz="2400">
                <a:solidFill>
                  <a:schemeClr val="bg1"/>
                </a:solidFill>
                <a:latin typeface="Roboto Medium" pitchFamily="2" charset="0"/>
                <a:ea typeface="Roboto Medium" pitchFamily="2" charset="0"/>
                <a:cs typeface="Roboto Medium" pitchFamily="2" charset="0"/>
              </a:defRPr>
            </a:lvl2pPr>
            <a:lvl3pPr marL="593725" indent="0">
              <a:spcBef>
                <a:spcPts val="0"/>
              </a:spcBef>
              <a:spcAft>
                <a:spcPts val="1400"/>
              </a:spcAft>
              <a:buNone/>
              <a:tabLst/>
              <a:defRPr sz="2000">
                <a:solidFill>
                  <a:schemeClr val="bg1"/>
                </a:solidFill>
              </a:defRPr>
            </a:lvl3pPr>
            <a:lvl4pPr marL="890588" indent="0">
              <a:spcBef>
                <a:spcPts val="0"/>
              </a:spcBef>
              <a:spcAft>
                <a:spcPts val="1400"/>
              </a:spcAft>
              <a:buNone/>
              <a:tabLst/>
              <a:defRPr sz="1800">
                <a:solidFill>
                  <a:schemeClr val="bg1"/>
                </a:solidFill>
              </a:defRPr>
            </a:lvl4pPr>
            <a:lvl5pPr marL="1093787" indent="0">
              <a:spcBef>
                <a:spcPts val="0"/>
              </a:spcBef>
              <a:spcAft>
                <a:spcPts val="1400"/>
              </a:spcAft>
              <a:buNone/>
              <a:tabLst/>
              <a:defRPr sz="1800">
                <a:solidFill>
                  <a:schemeClr val="bg1"/>
                </a:solidFill>
              </a:defRPr>
            </a:lvl5pPr>
          </a:lstStyle>
          <a:p>
            <a:pPr lvl="0"/>
            <a:r>
              <a:rPr lang="en-US" dirty="0"/>
              <a:t>Edit Master text styles</a:t>
            </a:r>
          </a:p>
          <a:p>
            <a:pPr lvl="1"/>
            <a:endParaRPr lang="en-US" dirty="0"/>
          </a:p>
        </p:txBody>
      </p:sp>
      <p:sp>
        <p:nvSpPr>
          <p:cNvPr id="13" name="Title 1">
            <a:extLst>
              <a:ext uri="{FF2B5EF4-FFF2-40B4-BE49-F238E27FC236}">
                <a16:creationId xmlns:a16="http://schemas.microsoft.com/office/drawing/2014/main" id="{502052CF-F9E7-714A-BDAE-9BE0ECB4DA7F}"/>
              </a:ext>
            </a:extLst>
          </p:cNvPr>
          <p:cNvSpPr>
            <a:spLocks noGrp="1"/>
          </p:cNvSpPr>
          <p:nvPr>
            <p:ph type="title" hasCustomPrompt="1"/>
          </p:nvPr>
        </p:nvSpPr>
        <p:spPr bwMode="gray">
          <a:xfrm>
            <a:off x="695400" y="395786"/>
            <a:ext cx="6211927" cy="838202"/>
          </a:xfrm>
          <a:prstGeom prst="rect">
            <a:avLst/>
          </a:prstGeom>
        </p:spPr>
        <p:txBody>
          <a:bodyPr anchor="ctr" anchorCtr="0">
            <a:noAutofit/>
          </a:bodyPr>
          <a:lstStyle>
            <a:lvl1pPr>
              <a:defRPr sz="2800" cap="all" spc="0" baseline="0">
                <a:solidFill>
                  <a:schemeClr val="bg1"/>
                </a:solidFill>
                <a:latin typeface="Roboto Medium" pitchFamily="2" charset="0"/>
                <a:ea typeface="Roboto Medium" pitchFamily="2" charset="0"/>
                <a:cs typeface="Roboto Medium" pitchFamily="2" charset="0"/>
              </a:defRPr>
            </a:lvl1pPr>
          </a:lstStyle>
          <a:p>
            <a:r>
              <a:rPr lang="en-US" dirty="0"/>
              <a:t>Agenda</a:t>
            </a:r>
          </a:p>
        </p:txBody>
      </p:sp>
      <p:sp>
        <p:nvSpPr>
          <p:cNvPr id="8" name="Slide Number Placeholder 17"/>
          <p:cNvSpPr>
            <a:spLocks noGrp="1"/>
          </p:cNvSpPr>
          <p:nvPr>
            <p:ph type="sldNum" sz="quarter" idx="14"/>
          </p:nvPr>
        </p:nvSpPr>
        <p:spPr bwMode="gray">
          <a:xfrm>
            <a:off x="11367146" y="6096000"/>
            <a:ext cx="596254" cy="365125"/>
          </a:xfrm>
          <a:prstGeom prst="rect">
            <a:avLst/>
          </a:prstGeom>
        </p:spPr>
        <p:txBody>
          <a:bodyPr anchor="ctr"/>
          <a:lstStyle>
            <a:lvl1pPr algn="ctr">
              <a:defRPr sz="1800" b="0" i="0">
                <a:solidFill>
                  <a:schemeClr val="tx1"/>
                </a:solidFill>
                <a:latin typeface="Roboto Medium" pitchFamily="2" charset="0"/>
                <a:ea typeface="Roboto Medium" pitchFamily="2" charset="0"/>
              </a:defRPr>
            </a:lvl1pPr>
          </a:lstStyle>
          <a:p>
            <a:fld id="{45A3C14A-F937-4231-B6F1-40B429FAFB2F}" type="slidenum">
              <a:rPr lang="en-NZ" smtClean="0"/>
              <a:pPr/>
              <a:t>‹#›</a:t>
            </a:fld>
            <a:endParaRPr lang="en-NZ" dirty="0"/>
          </a:p>
        </p:txBody>
      </p:sp>
    </p:spTree>
    <p:extLst>
      <p:ext uri="{BB962C8B-B14F-4D97-AF65-F5344CB8AC3E}">
        <p14:creationId xmlns:p14="http://schemas.microsoft.com/office/powerpoint/2010/main" val="2202334114"/>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preserve="1" userDrawn="1">
  <p:cSld name="Agenda White">
    <p:bg bwMode="gray">
      <p:bgPr>
        <a:solidFill>
          <a:schemeClr val="bg1"/>
        </a:solidFill>
        <a:effectLst/>
      </p:bgPr>
    </p:bg>
    <p:spTree>
      <p:nvGrpSpPr>
        <p:cNvPr id="1" name=""/>
        <p:cNvGrpSpPr/>
        <p:nvPr/>
      </p:nvGrpSpPr>
      <p:grpSpPr>
        <a:xfrm>
          <a:off x="0" y="0"/>
          <a:ext cx="0" cy="0"/>
          <a:chOff x="0" y="0"/>
          <a:chExt cx="0" cy="0"/>
        </a:xfrm>
      </p:grpSpPr>
      <p:pic>
        <p:nvPicPr>
          <p:cNvPr id="2050" name="Picture 2" descr="C:\Users\Admin\Downloads\ilovepdf_pages-to-jpg (3)\RU_PPT Template-White Blank (1)_page-0003.jpg"/>
          <p:cNvPicPr>
            <a:picLocks noChangeAspect="1" noChangeArrowheads="1"/>
          </p:cNvPicPr>
          <p:nvPr userDrawn="1"/>
        </p:nvPicPr>
        <p:blipFill>
          <a:blip r:embed="rId2"/>
          <a:srcRect/>
          <a:stretch>
            <a:fillRect/>
          </a:stretch>
        </p:blipFill>
        <p:spPr bwMode="auto">
          <a:xfrm>
            <a:off x="0" y="0"/>
            <a:ext cx="12192000" cy="6857330"/>
          </a:xfrm>
          <a:prstGeom prst="rect">
            <a:avLst/>
          </a:prstGeom>
          <a:noFill/>
        </p:spPr>
      </p:pic>
      <p:sp>
        <p:nvSpPr>
          <p:cNvPr id="10" name="Slide Number Placeholder 17"/>
          <p:cNvSpPr>
            <a:spLocks noGrp="1"/>
          </p:cNvSpPr>
          <p:nvPr>
            <p:ph type="sldNum" sz="quarter" idx="14"/>
          </p:nvPr>
        </p:nvSpPr>
        <p:spPr bwMode="gray">
          <a:xfrm>
            <a:off x="11367146" y="6096000"/>
            <a:ext cx="596254" cy="365125"/>
          </a:xfrm>
          <a:prstGeom prst="rect">
            <a:avLst/>
          </a:prstGeom>
        </p:spPr>
        <p:txBody>
          <a:bodyPr anchor="ctr"/>
          <a:lstStyle>
            <a:lvl1pPr algn="ctr">
              <a:defRPr sz="1800" b="0" i="0">
                <a:solidFill>
                  <a:schemeClr val="tx1"/>
                </a:solidFill>
                <a:latin typeface="Roboto Medium" pitchFamily="2" charset="0"/>
                <a:ea typeface="Roboto Medium" pitchFamily="2" charset="0"/>
              </a:defRPr>
            </a:lvl1pPr>
          </a:lstStyle>
          <a:p>
            <a:fld id="{45A3C14A-F937-4231-B6F1-40B429FAFB2F}" type="slidenum">
              <a:rPr lang="en-NZ" smtClean="0"/>
              <a:pPr/>
              <a:t>‹#›</a:t>
            </a:fld>
            <a:endParaRPr lang="en-NZ" dirty="0"/>
          </a:p>
        </p:txBody>
      </p:sp>
      <p:sp>
        <p:nvSpPr>
          <p:cNvPr id="8" name="Title 1">
            <a:extLst>
              <a:ext uri="{FF2B5EF4-FFF2-40B4-BE49-F238E27FC236}">
                <a16:creationId xmlns:a16="http://schemas.microsoft.com/office/drawing/2014/main" id="{F1559C6D-4317-AA46-BAB3-6CD813F0D97F}"/>
              </a:ext>
            </a:extLst>
          </p:cNvPr>
          <p:cNvSpPr>
            <a:spLocks noGrp="1"/>
          </p:cNvSpPr>
          <p:nvPr>
            <p:ph type="title" hasCustomPrompt="1"/>
          </p:nvPr>
        </p:nvSpPr>
        <p:spPr bwMode="gray">
          <a:xfrm>
            <a:off x="695400" y="395786"/>
            <a:ext cx="6211927" cy="838202"/>
          </a:xfrm>
          <a:prstGeom prst="rect">
            <a:avLst/>
          </a:prstGeom>
        </p:spPr>
        <p:txBody>
          <a:bodyPr anchor="ctr" anchorCtr="0">
            <a:noAutofit/>
          </a:bodyPr>
          <a:lstStyle>
            <a:lvl1pPr>
              <a:defRPr sz="2800" cap="all" spc="0" baseline="0">
                <a:solidFill>
                  <a:schemeClr val="tx1">
                    <a:lumMod val="50000"/>
                    <a:lumOff val="50000"/>
                  </a:schemeClr>
                </a:solidFill>
                <a:latin typeface="Roboto Medium" pitchFamily="2" charset="0"/>
                <a:ea typeface="Roboto Medium" pitchFamily="2" charset="0"/>
                <a:cs typeface="Roboto Medium" pitchFamily="2" charset="0"/>
              </a:defRPr>
            </a:lvl1pPr>
          </a:lstStyle>
          <a:p>
            <a:r>
              <a:rPr lang="en-US" dirty="0"/>
              <a:t>Agenda</a:t>
            </a:r>
          </a:p>
        </p:txBody>
      </p:sp>
      <p:sp>
        <p:nvSpPr>
          <p:cNvPr id="11" name="Text Placeholder 2">
            <a:extLst>
              <a:ext uri="{FF2B5EF4-FFF2-40B4-BE49-F238E27FC236}">
                <a16:creationId xmlns:a16="http://schemas.microsoft.com/office/drawing/2014/main" id="{75464016-775B-B140-8812-D9666C711A48}"/>
              </a:ext>
            </a:extLst>
          </p:cNvPr>
          <p:cNvSpPr>
            <a:spLocks noGrp="1"/>
          </p:cNvSpPr>
          <p:nvPr>
            <p:ph type="body" sz="quarter" idx="17"/>
          </p:nvPr>
        </p:nvSpPr>
        <p:spPr>
          <a:xfrm>
            <a:off x="695400" y="1773936"/>
            <a:ext cx="10801201" cy="4320480"/>
          </a:xfrm>
          <a:prstGeom prst="rect">
            <a:avLst/>
          </a:prstGeom>
        </p:spPr>
        <p:txBody>
          <a:bodyPr/>
          <a:lstStyle>
            <a:lvl1pPr marL="457200" indent="-457200">
              <a:spcBef>
                <a:spcPts val="0"/>
              </a:spcBef>
              <a:spcAft>
                <a:spcPts val="1400"/>
              </a:spcAft>
              <a:buFont typeface="+mj-lt"/>
              <a:buAutoNum type="arabicPeriod"/>
              <a:defRPr sz="2400">
                <a:solidFill>
                  <a:schemeClr val="tx1">
                    <a:lumMod val="50000"/>
                    <a:lumOff val="50000"/>
                  </a:schemeClr>
                </a:solidFill>
                <a:latin typeface="Roboto Medium" pitchFamily="2" charset="0"/>
                <a:ea typeface="Roboto Medium" pitchFamily="2" charset="0"/>
                <a:cs typeface="Roboto Medium" pitchFamily="2" charset="0"/>
              </a:defRPr>
            </a:lvl1pPr>
            <a:lvl2pPr marL="700088" indent="-457200">
              <a:spcBef>
                <a:spcPts val="0"/>
              </a:spcBef>
              <a:spcAft>
                <a:spcPts val="1400"/>
              </a:spcAft>
              <a:buFont typeface="+mj-lt"/>
              <a:buAutoNum type="arabicPeriod"/>
              <a:tabLst/>
              <a:defRPr sz="2400">
                <a:solidFill>
                  <a:schemeClr val="tx1">
                    <a:lumMod val="50000"/>
                    <a:lumOff val="50000"/>
                  </a:schemeClr>
                </a:solidFill>
                <a:latin typeface="Roboto Medium" pitchFamily="2" charset="0"/>
                <a:ea typeface="Roboto Medium" pitchFamily="2" charset="0"/>
                <a:cs typeface="Roboto Medium" pitchFamily="2" charset="0"/>
              </a:defRPr>
            </a:lvl2pPr>
            <a:lvl3pPr marL="593725" indent="0">
              <a:spcBef>
                <a:spcPts val="0"/>
              </a:spcBef>
              <a:spcAft>
                <a:spcPts val="1400"/>
              </a:spcAft>
              <a:buNone/>
              <a:tabLst/>
              <a:defRPr sz="2000">
                <a:solidFill>
                  <a:schemeClr val="bg1"/>
                </a:solidFill>
              </a:defRPr>
            </a:lvl3pPr>
            <a:lvl4pPr marL="890588" indent="0">
              <a:spcBef>
                <a:spcPts val="0"/>
              </a:spcBef>
              <a:spcAft>
                <a:spcPts val="1400"/>
              </a:spcAft>
              <a:buNone/>
              <a:tabLst/>
              <a:defRPr sz="1800">
                <a:solidFill>
                  <a:schemeClr val="bg1"/>
                </a:solidFill>
              </a:defRPr>
            </a:lvl4pPr>
            <a:lvl5pPr marL="1093787" indent="0">
              <a:spcBef>
                <a:spcPts val="0"/>
              </a:spcBef>
              <a:spcAft>
                <a:spcPts val="1400"/>
              </a:spcAft>
              <a:buNone/>
              <a:tabLst/>
              <a:defRPr sz="1800">
                <a:solidFill>
                  <a:schemeClr val="bg1"/>
                </a:solidFill>
              </a:defRPr>
            </a:lvl5pPr>
          </a:lstStyle>
          <a:p>
            <a:pPr lvl="0"/>
            <a:r>
              <a:rPr lang="en-US" dirty="0"/>
              <a:t>Edit Master text styles</a:t>
            </a:r>
          </a:p>
          <a:p>
            <a:pPr lvl="1"/>
            <a:endParaRPr lang="en-US" dirty="0"/>
          </a:p>
        </p:txBody>
      </p:sp>
    </p:spTree>
    <p:extLst>
      <p:ext uri="{BB962C8B-B14F-4D97-AF65-F5344CB8AC3E}">
        <p14:creationId xmlns:p14="http://schemas.microsoft.com/office/powerpoint/2010/main" val="1792141335"/>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preserve="1" userDrawn="1">
  <p:cSld name="2 Column Agenda Black">
    <p:bg bwMode="gray">
      <p:bgPr>
        <a:solidFill>
          <a:schemeClr val="bg1"/>
        </a:solidFill>
        <a:effectLst/>
      </p:bgPr>
    </p:bg>
    <p:spTree>
      <p:nvGrpSpPr>
        <p:cNvPr id="1" name=""/>
        <p:cNvGrpSpPr/>
        <p:nvPr/>
      </p:nvGrpSpPr>
      <p:grpSpPr>
        <a:xfrm>
          <a:off x="0" y="0"/>
          <a:ext cx="0" cy="0"/>
          <a:chOff x="0" y="0"/>
          <a:chExt cx="0" cy="0"/>
        </a:xfrm>
      </p:grpSpPr>
      <p:pic>
        <p:nvPicPr>
          <p:cNvPr id="11" name="Picture 2" descr="C:\Users\Admin\Downloads\ilovepdf_pages-to-jpg (4)\RU_PPT Template-Grey Blank (1)_page-0003.jpg"/>
          <p:cNvPicPr>
            <a:picLocks noChangeAspect="1" noChangeArrowheads="1"/>
          </p:cNvPicPr>
          <p:nvPr userDrawn="1"/>
        </p:nvPicPr>
        <p:blipFill>
          <a:blip r:embed="rId2"/>
          <a:srcRect/>
          <a:stretch>
            <a:fillRect/>
          </a:stretch>
        </p:blipFill>
        <p:spPr bwMode="auto">
          <a:xfrm>
            <a:off x="0" y="0"/>
            <a:ext cx="12193190" cy="6858000"/>
          </a:xfrm>
          <a:prstGeom prst="rect">
            <a:avLst/>
          </a:prstGeom>
          <a:noFill/>
        </p:spPr>
      </p:pic>
      <p:sp>
        <p:nvSpPr>
          <p:cNvPr id="3" name="Text Placeholder 2">
            <a:extLst>
              <a:ext uri="{FF2B5EF4-FFF2-40B4-BE49-F238E27FC236}">
                <a16:creationId xmlns:a16="http://schemas.microsoft.com/office/drawing/2014/main" id="{A57C66B2-DB5E-EF42-BC3E-8844BAB7CAB2}"/>
              </a:ext>
            </a:extLst>
          </p:cNvPr>
          <p:cNvSpPr>
            <a:spLocks noGrp="1"/>
          </p:cNvSpPr>
          <p:nvPr>
            <p:ph type="body" sz="quarter" idx="17"/>
          </p:nvPr>
        </p:nvSpPr>
        <p:spPr>
          <a:xfrm>
            <a:off x="695400" y="1773937"/>
            <a:ext cx="5112568" cy="4319360"/>
          </a:xfrm>
          <a:prstGeom prst="rect">
            <a:avLst/>
          </a:prstGeom>
        </p:spPr>
        <p:txBody>
          <a:bodyPr/>
          <a:lstStyle>
            <a:lvl1pPr marL="457200" indent="-457200">
              <a:spcBef>
                <a:spcPts val="0"/>
              </a:spcBef>
              <a:spcAft>
                <a:spcPts val="1400"/>
              </a:spcAft>
              <a:buFont typeface="+mj-lt"/>
              <a:buAutoNum type="arabicPeriod"/>
              <a:defRPr sz="2400">
                <a:solidFill>
                  <a:schemeClr val="bg1"/>
                </a:solidFill>
                <a:latin typeface="Roboto Medium" pitchFamily="2" charset="0"/>
                <a:ea typeface="Roboto Medium" pitchFamily="2" charset="0"/>
                <a:cs typeface="Roboto Medium" pitchFamily="2" charset="0"/>
              </a:defRPr>
            </a:lvl1pPr>
            <a:lvl2pPr marL="700088" indent="-457200">
              <a:spcBef>
                <a:spcPts val="0"/>
              </a:spcBef>
              <a:spcAft>
                <a:spcPts val="1400"/>
              </a:spcAft>
              <a:buFont typeface="+mj-lt"/>
              <a:buAutoNum type="arabicPeriod"/>
              <a:tabLst/>
              <a:defRPr sz="2400">
                <a:solidFill>
                  <a:schemeClr val="bg1"/>
                </a:solidFill>
                <a:latin typeface="Roboto Medium" pitchFamily="2" charset="0"/>
                <a:ea typeface="Roboto Medium" pitchFamily="2" charset="0"/>
                <a:cs typeface="Roboto Medium" pitchFamily="2" charset="0"/>
              </a:defRPr>
            </a:lvl2pPr>
            <a:lvl3pPr marL="593725" indent="0">
              <a:spcBef>
                <a:spcPts val="0"/>
              </a:spcBef>
              <a:spcAft>
                <a:spcPts val="1400"/>
              </a:spcAft>
              <a:buNone/>
              <a:tabLst/>
              <a:defRPr sz="2000">
                <a:solidFill>
                  <a:schemeClr val="bg1"/>
                </a:solidFill>
              </a:defRPr>
            </a:lvl3pPr>
            <a:lvl4pPr marL="890588" indent="0">
              <a:spcBef>
                <a:spcPts val="0"/>
              </a:spcBef>
              <a:spcAft>
                <a:spcPts val="1400"/>
              </a:spcAft>
              <a:buNone/>
              <a:tabLst/>
              <a:defRPr sz="1800">
                <a:solidFill>
                  <a:schemeClr val="bg1"/>
                </a:solidFill>
              </a:defRPr>
            </a:lvl4pPr>
            <a:lvl5pPr marL="1093787" indent="0">
              <a:spcBef>
                <a:spcPts val="0"/>
              </a:spcBef>
              <a:spcAft>
                <a:spcPts val="1400"/>
              </a:spcAft>
              <a:buNone/>
              <a:tabLst/>
              <a:defRPr sz="1800">
                <a:solidFill>
                  <a:schemeClr val="bg1"/>
                </a:solidFill>
              </a:defRPr>
            </a:lvl5pPr>
          </a:lstStyle>
          <a:p>
            <a:pPr lvl="0"/>
            <a:r>
              <a:rPr lang="en-US" dirty="0"/>
              <a:t>Edit Master text styles</a:t>
            </a:r>
          </a:p>
          <a:p>
            <a:pPr lvl="1"/>
            <a:endParaRPr lang="en-US" dirty="0"/>
          </a:p>
        </p:txBody>
      </p:sp>
      <p:sp>
        <p:nvSpPr>
          <p:cNvPr id="7" name="Text Placeholder 2">
            <a:extLst>
              <a:ext uri="{FF2B5EF4-FFF2-40B4-BE49-F238E27FC236}">
                <a16:creationId xmlns:a16="http://schemas.microsoft.com/office/drawing/2014/main" id="{EF680B5D-7167-924C-AF0A-D048ACEDB4E4}"/>
              </a:ext>
            </a:extLst>
          </p:cNvPr>
          <p:cNvSpPr>
            <a:spLocks noGrp="1"/>
          </p:cNvSpPr>
          <p:nvPr>
            <p:ph type="body" sz="quarter" idx="18"/>
          </p:nvPr>
        </p:nvSpPr>
        <p:spPr>
          <a:xfrm>
            <a:off x="6168008" y="1773937"/>
            <a:ext cx="5112568" cy="4319360"/>
          </a:xfrm>
          <a:prstGeom prst="rect">
            <a:avLst/>
          </a:prstGeom>
        </p:spPr>
        <p:txBody>
          <a:bodyPr/>
          <a:lstStyle>
            <a:lvl1pPr marL="457200" indent="-457200">
              <a:spcBef>
                <a:spcPts val="0"/>
              </a:spcBef>
              <a:spcAft>
                <a:spcPts val="1400"/>
              </a:spcAft>
              <a:buFont typeface="+mj-lt"/>
              <a:buAutoNum type="arabicPeriod"/>
              <a:defRPr sz="2400">
                <a:solidFill>
                  <a:schemeClr val="bg1"/>
                </a:solidFill>
                <a:latin typeface="Roboto Medium" pitchFamily="2" charset="0"/>
                <a:ea typeface="Roboto Medium" pitchFamily="2" charset="0"/>
                <a:cs typeface="Roboto Medium" pitchFamily="2" charset="0"/>
              </a:defRPr>
            </a:lvl1pPr>
            <a:lvl2pPr marL="700088" indent="-457200">
              <a:spcBef>
                <a:spcPts val="0"/>
              </a:spcBef>
              <a:spcAft>
                <a:spcPts val="1400"/>
              </a:spcAft>
              <a:buFont typeface="+mj-lt"/>
              <a:buAutoNum type="arabicPeriod"/>
              <a:tabLst/>
              <a:defRPr sz="2400">
                <a:solidFill>
                  <a:schemeClr val="bg1"/>
                </a:solidFill>
                <a:latin typeface="Roboto Medium" pitchFamily="2" charset="0"/>
                <a:ea typeface="Roboto Medium" pitchFamily="2" charset="0"/>
                <a:cs typeface="Roboto Medium" pitchFamily="2" charset="0"/>
              </a:defRPr>
            </a:lvl2pPr>
            <a:lvl3pPr marL="593725" indent="0">
              <a:spcBef>
                <a:spcPts val="0"/>
              </a:spcBef>
              <a:spcAft>
                <a:spcPts val="1400"/>
              </a:spcAft>
              <a:buNone/>
              <a:tabLst/>
              <a:defRPr sz="2000">
                <a:solidFill>
                  <a:schemeClr val="bg1"/>
                </a:solidFill>
              </a:defRPr>
            </a:lvl3pPr>
            <a:lvl4pPr marL="890588" indent="0">
              <a:spcBef>
                <a:spcPts val="0"/>
              </a:spcBef>
              <a:spcAft>
                <a:spcPts val="1400"/>
              </a:spcAft>
              <a:buNone/>
              <a:tabLst/>
              <a:defRPr sz="1800">
                <a:solidFill>
                  <a:schemeClr val="bg1"/>
                </a:solidFill>
              </a:defRPr>
            </a:lvl4pPr>
            <a:lvl5pPr marL="1093787" indent="0">
              <a:spcBef>
                <a:spcPts val="0"/>
              </a:spcBef>
              <a:spcAft>
                <a:spcPts val="1400"/>
              </a:spcAft>
              <a:buNone/>
              <a:tabLst/>
              <a:defRPr sz="1800">
                <a:solidFill>
                  <a:schemeClr val="bg1"/>
                </a:solidFill>
              </a:defRPr>
            </a:lvl5pPr>
          </a:lstStyle>
          <a:p>
            <a:pPr lvl="0"/>
            <a:r>
              <a:rPr lang="en-US" dirty="0"/>
              <a:t>Edit Master text styles</a:t>
            </a:r>
          </a:p>
          <a:p>
            <a:pPr lvl="1"/>
            <a:endParaRPr lang="en-US" dirty="0"/>
          </a:p>
        </p:txBody>
      </p:sp>
      <p:sp>
        <p:nvSpPr>
          <p:cNvPr id="8" name="Title 1">
            <a:extLst>
              <a:ext uri="{FF2B5EF4-FFF2-40B4-BE49-F238E27FC236}">
                <a16:creationId xmlns:a16="http://schemas.microsoft.com/office/drawing/2014/main" id="{4B8854B0-9314-934B-A796-5B8219D03959}"/>
              </a:ext>
            </a:extLst>
          </p:cNvPr>
          <p:cNvSpPr>
            <a:spLocks noGrp="1"/>
          </p:cNvSpPr>
          <p:nvPr>
            <p:ph type="title" hasCustomPrompt="1"/>
          </p:nvPr>
        </p:nvSpPr>
        <p:spPr bwMode="gray">
          <a:xfrm>
            <a:off x="695400" y="395786"/>
            <a:ext cx="6211927" cy="838202"/>
          </a:xfrm>
          <a:prstGeom prst="rect">
            <a:avLst/>
          </a:prstGeom>
        </p:spPr>
        <p:txBody>
          <a:bodyPr anchor="ctr" anchorCtr="0">
            <a:noAutofit/>
          </a:bodyPr>
          <a:lstStyle>
            <a:lvl1pPr>
              <a:defRPr sz="2800" cap="all" spc="0" baseline="0">
                <a:solidFill>
                  <a:schemeClr val="bg1"/>
                </a:solidFill>
                <a:latin typeface="Roboto Medium" pitchFamily="2" charset="0"/>
                <a:ea typeface="Roboto Medium" pitchFamily="2" charset="0"/>
                <a:cs typeface="Roboto Medium" pitchFamily="2" charset="0"/>
              </a:defRPr>
            </a:lvl1pPr>
          </a:lstStyle>
          <a:p>
            <a:r>
              <a:rPr lang="en-US" dirty="0"/>
              <a:t>Agenda (Two Columns)</a:t>
            </a:r>
          </a:p>
        </p:txBody>
      </p:sp>
      <p:sp>
        <p:nvSpPr>
          <p:cNvPr id="12" name="Slide Number Placeholder 17"/>
          <p:cNvSpPr>
            <a:spLocks noGrp="1"/>
          </p:cNvSpPr>
          <p:nvPr>
            <p:ph type="sldNum" sz="quarter" idx="14"/>
          </p:nvPr>
        </p:nvSpPr>
        <p:spPr bwMode="gray">
          <a:xfrm>
            <a:off x="11367146" y="6096000"/>
            <a:ext cx="596254" cy="365125"/>
          </a:xfrm>
          <a:prstGeom prst="rect">
            <a:avLst/>
          </a:prstGeom>
        </p:spPr>
        <p:txBody>
          <a:bodyPr anchor="ctr"/>
          <a:lstStyle>
            <a:lvl1pPr algn="ctr">
              <a:defRPr sz="1800" b="0" i="0">
                <a:solidFill>
                  <a:schemeClr val="tx1"/>
                </a:solidFill>
                <a:latin typeface="Roboto Medium" pitchFamily="2" charset="0"/>
                <a:ea typeface="Roboto Medium" pitchFamily="2" charset="0"/>
              </a:defRPr>
            </a:lvl1pPr>
          </a:lstStyle>
          <a:p>
            <a:fld id="{45A3C14A-F937-4231-B6F1-40B429FAFB2F}" type="slidenum">
              <a:rPr lang="en-NZ" smtClean="0"/>
              <a:pPr/>
              <a:t>‹#›</a:t>
            </a:fld>
            <a:endParaRPr lang="en-NZ" dirty="0"/>
          </a:p>
        </p:txBody>
      </p:sp>
    </p:spTree>
    <p:extLst>
      <p:ext uri="{BB962C8B-B14F-4D97-AF65-F5344CB8AC3E}">
        <p14:creationId xmlns:p14="http://schemas.microsoft.com/office/powerpoint/2010/main" val="292246912"/>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preserve="1" userDrawn="1">
  <p:cSld name="2 Column Agenda White">
    <p:bg bwMode="gray">
      <p:bgPr>
        <a:solidFill>
          <a:schemeClr val="bg1"/>
        </a:solidFill>
        <a:effectLst/>
      </p:bgPr>
    </p:bg>
    <p:spTree>
      <p:nvGrpSpPr>
        <p:cNvPr id="1" name=""/>
        <p:cNvGrpSpPr/>
        <p:nvPr/>
      </p:nvGrpSpPr>
      <p:grpSpPr>
        <a:xfrm>
          <a:off x="0" y="0"/>
          <a:ext cx="0" cy="0"/>
          <a:chOff x="0" y="0"/>
          <a:chExt cx="0" cy="0"/>
        </a:xfrm>
      </p:grpSpPr>
      <p:pic>
        <p:nvPicPr>
          <p:cNvPr id="12" name="Picture 2" descr="C:\Users\Admin\Downloads\ilovepdf_pages-to-jpg (3)\RU_PPT Template-White Blank (1)_page-0003.jpg"/>
          <p:cNvPicPr>
            <a:picLocks noChangeAspect="1" noChangeArrowheads="1"/>
          </p:cNvPicPr>
          <p:nvPr userDrawn="1"/>
        </p:nvPicPr>
        <p:blipFill>
          <a:blip r:embed="rId2"/>
          <a:srcRect/>
          <a:stretch>
            <a:fillRect/>
          </a:stretch>
        </p:blipFill>
        <p:spPr bwMode="auto">
          <a:xfrm>
            <a:off x="0" y="0"/>
            <a:ext cx="12192000" cy="6857330"/>
          </a:xfrm>
          <a:prstGeom prst="rect">
            <a:avLst/>
          </a:prstGeom>
          <a:noFill/>
        </p:spPr>
      </p:pic>
      <p:sp>
        <p:nvSpPr>
          <p:cNvPr id="8" name="Text Placeholder 2">
            <a:extLst>
              <a:ext uri="{FF2B5EF4-FFF2-40B4-BE49-F238E27FC236}">
                <a16:creationId xmlns:a16="http://schemas.microsoft.com/office/drawing/2014/main" id="{41BD9FBF-4057-CE4A-95FF-A7E4437BE406}"/>
              </a:ext>
            </a:extLst>
          </p:cNvPr>
          <p:cNvSpPr>
            <a:spLocks noGrp="1"/>
          </p:cNvSpPr>
          <p:nvPr>
            <p:ph type="body" sz="quarter" idx="17"/>
          </p:nvPr>
        </p:nvSpPr>
        <p:spPr>
          <a:xfrm>
            <a:off x="695400" y="1773937"/>
            <a:ext cx="5112568" cy="4319360"/>
          </a:xfrm>
          <a:prstGeom prst="rect">
            <a:avLst/>
          </a:prstGeom>
        </p:spPr>
        <p:txBody>
          <a:bodyPr/>
          <a:lstStyle>
            <a:lvl1pPr marL="457200" indent="-457200">
              <a:spcBef>
                <a:spcPts val="0"/>
              </a:spcBef>
              <a:spcAft>
                <a:spcPts val="1400"/>
              </a:spcAft>
              <a:buFont typeface="+mj-lt"/>
              <a:buAutoNum type="arabicPeriod"/>
              <a:defRPr sz="2400">
                <a:solidFill>
                  <a:schemeClr val="tx1">
                    <a:lumMod val="50000"/>
                    <a:lumOff val="50000"/>
                  </a:schemeClr>
                </a:solidFill>
                <a:latin typeface="Roboto Medium" pitchFamily="2" charset="0"/>
                <a:ea typeface="Roboto Medium" pitchFamily="2" charset="0"/>
                <a:cs typeface="Roboto Medium" pitchFamily="2" charset="0"/>
              </a:defRPr>
            </a:lvl1pPr>
            <a:lvl2pPr marL="700088" indent="-457200">
              <a:spcBef>
                <a:spcPts val="0"/>
              </a:spcBef>
              <a:spcAft>
                <a:spcPts val="1400"/>
              </a:spcAft>
              <a:buFont typeface="+mj-lt"/>
              <a:buAutoNum type="arabicPeriod"/>
              <a:tabLst/>
              <a:defRPr sz="2400">
                <a:solidFill>
                  <a:schemeClr val="tx1">
                    <a:lumMod val="50000"/>
                    <a:lumOff val="50000"/>
                  </a:schemeClr>
                </a:solidFill>
                <a:latin typeface="Roboto Medium" pitchFamily="2" charset="0"/>
                <a:ea typeface="Roboto Medium" pitchFamily="2" charset="0"/>
                <a:cs typeface="Roboto Medium" pitchFamily="2" charset="0"/>
              </a:defRPr>
            </a:lvl2pPr>
            <a:lvl3pPr marL="593725" indent="0">
              <a:spcBef>
                <a:spcPts val="0"/>
              </a:spcBef>
              <a:spcAft>
                <a:spcPts val="1400"/>
              </a:spcAft>
              <a:buNone/>
              <a:tabLst/>
              <a:defRPr sz="2000">
                <a:solidFill>
                  <a:schemeClr val="bg1"/>
                </a:solidFill>
              </a:defRPr>
            </a:lvl3pPr>
            <a:lvl4pPr marL="890588" indent="0">
              <a:spcBef>
                <a:spcPts val="0"/>
              </a:spcBef>
              <a:spcAft>
                <a:spcPts val="1400"/>
              </a:spcAft>
              <a:buNone/>
              <a:tabLst/>
              <a:defRPr sz="1800">
                <a:solidFill>
                  <a:schemeClr val="bg1"/>
                </a:solidFill>
              </a:defRPr>
            </a:lvl4pPr>
            <a:lvl5pPr marL="1093787" indent="0">
              <a:spcBef>
                <a:spcPts val="0"/>
              </a:spcBef>
              <a:spcAft>
                <a:spcPts val="1400"/>
              </a:spcAft>
              <a:buNone/>
              <a:tabLst/>
              <a:defRPr sz="1800">
                <a:solidFill>
                  <a:schemeClr val="bg1"/>
                </a:solidFill>
              </a:defRPr>
            </a:lvl5pPr>
          </a:lstStyle>
          <a:p>
            <a:pPr lvl="0"/>
            <a:r>
              <a:rPr lang="en-US" dirty="0"/>
              <a:t>Edit Master text styles</a:t>
            </a:r>
          </a:p>
          <a:p>
            <a:pPr lvl="1"/>
            <a:endParaRPr lang="en-US" dirty="0"/>
          </a:p>
        </p:txBody>
      </p:sp>
      <p:sp>
        <p:nvSpPr>
          <p:cNvPr id="9" name="Text Placeholder 2">
            <a:extLst>
              <a:ext uri="{FF2B5EF4-FFF2-40B4-BE49-F238E27FC236}">
                <a16:creationId xmlns:a16="http://schemas.microsoft.com/office/drawing/2014/main" id="{8F61B18F-41E7-EB43-A1A5-986763A09CCA}"/>
              </a:ext>
            </a:extLst>
          </p:cNvPr>
          <p:cNvSpPr>
            <a:spLocks noGrp="1"/>
          </p:cNvSpPr>
          <p:nvPr>
            <p:ph type="body" sz="quarter" idx="18"/>
          </p:nvPr>
        </p:nvSpPr>
        <p:spPr>
          <a:xfrm>
            <a:off x="6168008" y="1773937"/>
            <a:ext cx="5112568" cy="4319360"/>
          </a:xfrm>
          <a:prstGeom prst="rect">
            <a:avLst/>
          </a:prstGeom>
        </p:spPr>
        <p:txBody>
          <a:bodyPr/>
          <a:lstStyle>
            <a:lvl1pPr marL="457200" indent="-457200">
              <a:spcBef>
                <a:spcPts val="0"/>
              </a:spcBef>
              <a:spcAft>
                <a:spcPts val="1400"/>
              </a:spcAft>
              <a:buFont typeface="+mj-lt"/>
              <a:buAutoNum type="arabicPeriod"/>
              <a:defRPr sz="2400">
                <a:solidFill>
                  <a:schemeClr val="tx1">
                    <a:lumMod val="50000"/>
                    <a:lumOff val="50000"/>
                  </a:schemeClr>
                </a:solidFill>
                <a:latin typeface="Roboto Medium" pitchFamily="2" charset="0"/>
                <a:ea typeface="Roboto Medium" pitchFamily="2" charset="0"/>
                <a:cs typeface="Roboto Medium" pitchFamily="2" charset="0"/>
              </a:defRPr>
            </a:lvl1pPr>
            <a:lvl2pPr marL="700088" indent="-457200">
              <a:spcBef>
                <a:spcPts val="0"/>
              </a:spcBef>
              <a:spcAft>
                <a:spcPts val="1400"/>
              </a:spcAft>
              <a:buFont typeface="+mj-lt"/>
              <a:buAutoNum type="arabicPeriod"/>
              <a:tabLst/>
              <a:defRPr sz="2400">
                <a:solidFill>
                  <a:schemeClr val="tx1">
                    <a:lumMod val="50000"/>
                    <a:lumOff val="50000"/>
                  </a:schemeClr>
                </a:solidFill>
                <a:latin typeface="Roboto Medium" pitchFamily="2" charset="0"/>
                <a:ea typeface="Roboto Medium" pitchFamily="2" charset="0"/>
                <a:cs typeface="Roboto Medium" pitchFamily="2" charset="0"/>
              </a:defRPr>
            </a:lvl2pPr>
            <a:lvl3pPr marL="593725" indent="0">
              <a:spcBef>
                <a:spcPts val="0"/>
              </a:spcBef>
              <a:spcAft>
                <a:spcPts val="1400"/>
              </a:spcAft>
              <a:buNone/>
              <a:tabLst/>
              <a:defRPr sz="2000">
                <a:solidFill>
                  <a:schemeClr val="bg1"/>
                </a:solidFill>
              </a:defRPr>
            </a:lvl3pPr>
            <a:lvl4pPr marL="890588" indent="0">
              <a:spcBef>
                <a:spcPts val="0"/>
              </a:spcBef>
              <a:spcAft>
                <a:spcPts val="1400"/>
              </a:spcAft>
              <a:buNone/>
              <a:tabLst/>
              <a:defRPr sz="1800">
                <a:solidFill>
                  <a:schemeClr val="bg1"/>
                </a:solidFill>
              </a:defRPr>
            </a:lvl4pPr>
            <a:lvl5pPr marL="1093787" indent="0">
              <a:spcBef>
                <a:spcPts val="0"/>
              </a:spcBef>
              <a:spcAft>
                <a:spcPts val="1400"/>
              </a:spcAft>
              <a:buNone/>
              <a:tabLst/>
              <a:defRPr sz="1800">
                <a:solidFill>
                  <a:schemeClr val="bg1"/>
                </a:solidFill>
              </a:defRPr>
            </a:lvl5pPr>
          </a:lstStyle>
          <a:p>
            <a:pPr lvl="0"/>
            <a:r>
              <a:rPr lang="en-US" dirty="0"/>
              <a:t>Edit Master text styles</a:t>
            </a:r>
          </a:p>
          <a:p>
            <a:pPr lvl="1"/>
            <a:endParaRPr lang="en-US" dirty="0"/>
          </a:p>
        </p:txBody>
      </p:sp>
      <p:sp>
        <p:nvSpPr>
          <p:cNvPr id="13" name="Title 1">
            <a:extLst>
              <a:ext uri="{FF2B5EF4-FFF2-40B4-BE49-F238E27FC236}">
                <a16:creationId xmlns:a16="http://schemas.microsoft.com/office/drawing/2014/main" id="{E3932FE3-F1D5-2245-8974-1F3F9EDF2F16}"/>
              </a:ext>
            </a:extLst>
          </p:cNvPr>
          <p:cNvSpPr>
            <a:spLocks noGrp="1"/>
          </p:cNvSpPr>
          <p:nvPr>
            <p:ph type="title" hasCustomPrompt="1"/>
          </p:nvPr>
        </p:nvSpPr>
        <p:spPr bwMode="gray">
          <a:xfrm>
            <a:off x="695400" y="395786"/>
            <a:ext cx="6211927" cy="838202"/>
          </a:xfrm>
          <a:prstGeom prst="rect">
            <a:avLst/>
          </a:prstGeom>
        </p:spPr>
        <p:txBody>
          <a:bodyPr anchor="ctr" anchorCtr="0">
            <a:noAutofit/>
          </a:bodyPr>
          <a:lstStyle>
            <a:lvl1pPr>
              <a:defRPr sz="2800" cap="all" spc="0" baseline="0">
                <a:solidFill>
                  <a:schemeClr val="tx1">
                    <a:lumMod val="50000"/>
                    <a:lumOff val="50000"/>
                  </a:schemeClr>
                </a:solidFill>
                <a:latin typeface="Roboto Medium" pitchFamily="2" charset="0"/>
                <a:ea typeface="Roboto Medium" pitchFamily="2" charset="0"/>
                <a:cs typeface="Roboto Medium" pitchFamily="2" charset="0"/>
              </a:defRPr>
            </a:lvl1pPr>
          </a:lstStyle>
          <a:p>
            <a:r>
              <a:rPr lang="en-US" dirty="0"/>
              <a:t>Agenda (Two Columns)</a:t>
            </a:r>
          </a:p>
        </p:txBody>
      </p:sp>
      <p:sp>
        <p:nvSpPr>
          <p:cNvPr id="14" name="Slide Number Placeholder 17"/>
          <p:cNvSpPr>
            <a:spLocks noGrp="1"/>
          </p:cNvSpPr>
          <p:nvPr>
            <p:ph type="sldNum" sz="quarter" idx="14"/>
          </p:nvPr>
        </p:nvSpPr>
        <p:spPr bwMode="gray">
          <a:xfrm>
            <a:off x="11367146" y="6096000"/>
            <a:ext cx="596254" cy="365125"/>
          </a:xfrm>
          <a:prstGeom prst="rect">
            <a:avLst/>
          </a:prstGeom>
        </p:spPr>
        <p:txBody>
          <a:bodyPr anchor="ctr"/>
          <a:lstStyle>
            <a:lvl1pPr algn="ctr">
              <a:defRPr sz="1800" b="0" i="0">
                <a:solidFill>
                  <a:schemeClr val="tx1"/>
                </a:solidFill>
                <a:latin typeface="Roboto Medium" pitchFamily="2" charset="0"/>
                <a:ea typeface="Roboto Medium" pitchFamily="2" charset="0"/>
              </a:defRPr>
            </a:lvl1pPr>
          </a:lstStyle>
          <a:p>
            <a:fld id="{45A3C14A-F937-4231-B6F1-40B429FAFB2F}" type="slidenum">
              <a:rPr lang="en-NZ" smtClean="0"/>
              <a:pPr/>
              <a:t>‹#›</a:t>
            </a:fld>
            <a:endParaRPr lang="en-NZ" dirty="0"/>
          </a:p>
        </p:txBody>
      </p:sp>
    </p:spTree>
    <p:extLst>
      <p:ext uri="{BB962C8B-B14F-4D97-AF65-F5344CB8AC3E}">
        <p14:creationId xmlns:p14="http://schemas.microsoft.com/office/powerpoint/2010/main" val="1241344415"/>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preserve="1" userDrawn="1">
  <p:cSld name="Divider Black">
    <p:bg bwMode="gray">
      <p:bgPr>
        <a:solidFill>
          <a:schemeClr val="bg1"/>
        </a:solidFill>
        <a:effectLst/>
      </p:bgPr>
    </p:bg>
    <p:spTree>
      <p:nvGrpSpPr>
        <p:cNvPr id="1" name=""/>
        <p:cNvGrpSpPr/>
        <p:nvPr/>
      </p:nvGrpSpPr>
      <p:grpSpPr>
        <a:xfrm>
          <a:off x="0" y="0"/>
          <a:ext cx="0" cy="0"/>
          <a:chOff x="0" y="0"/>
          <a:chExt cx="0" cy="0"/>
        </a:xfrm>
      </p:grpSpPr>
      <p:pic>
        <p:nvPicPr>
          <p:cNvPr id="4098" name="Picture 2" descr="C:\Users\Admin\Downloads\ilovepdf_pages-to-jpg (4)\RU_PPT Template-Grey Blank (1)_page-0002.jpg"/>
          <p:cNvPicPr>
            <a:picLocks noChangeAspect="1" noChangeArrowheads="1"/>
          </p:cNvPicPr>
          <p:nvPr userDrawn="1"/>
        </p:nvPicPr>
        <p:blipFill>
          <a:blip r:embed="rId2"/>
          <a:srcRect/>
          <a:stretch>
            <a:fillRect/>
          </a:stretch>
        </p:blipFill>
        <p:spPr bwMode="auto">
          <a:xfrm>
            <a:off x="0" y="0"/>
            <a:ext cx="12192000" cy="6857330"/>
          </a:xfrm>
          <a:prstGeom prst="rect">
            <a:avLst/>
          </a:prstGeom>
          <a:noFill/>
        </p:spPr>
      </p:pic>
      <p:sp>
        <p:nvSpPr>
          <p:cNvPr id="7" name="Title 1">
            <a:extLst>
              <a:ext uri="{FF2B5EF4-FFF2-40B4-BE49-F238E27FC236}">
                <a16:creationId xmlns:a16="http://schemas.microsoft.com/office/drawing/2014/main" id="{8C57D2F1-AB6B-D646-B596-57C131E95FB4}"/>
              </a:ext>
            </a:extLst>
          </p:cNvPr>
          <p:cNvSpPr>
            <a:spLocks noGrp="1"/>
          </p:cNvSpPr>
          <p:nvPr>
            <p:ph type="title" hasCustomPrompt="1"/>
          </p:nvPr>
        </p:nvSpPr>
        <p:spPr bwMode="gray">
          <a:xfrm>
            <a:off x="2514600" y="2363699"/>
            <a:ext cx="9220200" cy="1325563"/>
          </a:xfrm>
          <a:prstGeom prst="rect">
            <a:avLst/>
          </a:prstGeom>
        </p:spPr>
        <p:txBody>
          <a:bodyPr anchor="ctr"/>
          <a:lstStyle>
            <a:lvl1pPr>
              <a:defRPr sz="7800" b="0" i="0" spc="0">
                <a:solidFill>
                  <a:srgbClr val="FF6600"/>
                </a:solidFill>
                <a:latin typeface="Roboto Medium" pitchFamily="2" charset="0"/>
                <a:ea typeface="Roboto Medium" pitchFamily="2" charset="0"/>
                <a:cs typeface="Roboto Medium" pitchFamily="2" charset="0"/>
              </a:defRPr>
            </a:lvl1pPr>
          </a:lstStyle>
          <a:p>
            <a:r>
              <a:rPr lang="en-US" dirty="0"/>
              <a:t>TITLE PAGE</a:t>
            </a:r>
            <a:endParaRPr lang="en-NZ" dirty="0"/>
          </a:p>
        </p:txBody>
      </p:sp>
      <p:sp>
        <p:nvSpPr>
          <p:cNvPr id="10" name="Text Placeholder 5">
            <a:extLst>
              <a:ext uri="{FF2B5EF4-FFF2-40B4-BE49-F238E27FC236}">
                <a16:creationId xmlns:a16="http://schemas.microsoft.com/office/drawing/2014/main" id="{AD0D9561-E154-7543-8D06-7AF9B72F9B8B}"/>
              </a:ext>
            </a:extLst>
          </p:cNvPr>
          <p:cNvSpPr>
            <a:spLocks noGrp="1"/>
          </p:cNvSpPr>
          <p:nvPr>
            <p:ph type="body" sz="quarter" idx="11" hasCustomPrompt="1"/>
          </p:nvPr>
        </p:nvSpPr>
        <p:spPr bwMode="gray">
          <a:xfrm>
            <a:off x="2518979" y="3796320"/>
            <a:ext cx="5923490" cy="407987"/>
          </a:xfrm>
          <a:prstGeom prst="rect">
            <a:avLst/>
          </a:prstGeom>
        </p:spPr>
        <p:txBody>
          <a:bodyPr/>
          <a:lstStyle>
            <a:lvl1pPr marL="0" marR="0" indent="0" algn="l" defTabSz="914400" rtl="0" eaLnBrk="1" fontAlgn="auto" latinLnBrk="0" hangingPunct="1">
              <a:lnSpc>
                <a:spcPct val="90000"/>
              </a:lnSpc>
              <a:spcBef>
                <a:spcPts val="1000"/>
              </a:spcBef>
              <a:spcAft>
                <a:spcPts val="0"/>
              </a:spcAft>
              <a:buClrTx/>
              <a:buSzTx/>
              <a:buFont typeface="Arial" panose="020B0604020202020204" pitchFamily="34" charset="0"/>
              <a:buNone/>
              <a:tabLst/>
              <a:defRPr lang="en-US" sz="2500" kern="1200" spc="400" baseline="0">
                <a:solidFill>
                  <a:schemeClr val="bg1"/>
                </a:solidFill>
                <a:latin typeface="Roboto Medium" pitchFamily="2" charset="0"/>
                <a:ea typeface="Roboto Medium" pitchFamily="2" charset="0"/>
                <a:cs typeface="Roboto Medium" pitchFamily="2" charset="0"/>
              </a:defRPr>
            </a:lvl1pPr>
          </a:lstStyle>
          <a:p>
            <a:pPr marL="0" marR="0" lvl="0" indent="0" algn="l" defTabSz="914400" rtl="0" eaLnBrk="1" fontAlgn="auto" latinLnBrk="0" hangingPunct="1">
              <a:lnSpc>
                <a:spcPct val="90000"/>
              </a:lnSpc>
              <a:spcBef>
                <a:spcPts val="1000"/>
              </a:spcBef>
              <a:spcAft>
                <a:spcPts val="0"/>
              </a:spcAft>
              <a:buClrTx/>
              <a:buSzTx/>
              <a:buFont typeface="Arial" panose="020B0604020202020204" pitchFamily="34" charset="0"/>
              <a:buNone/>
              <a:tabLst/>
              <a:defRPr/>
            </a:pPr>
            <a:r>
              <a:rPr lang="en-US" dirty="0"/>
              <a:t>SUBTITLE</a:t>
            </a:r>
          </a:p>
        </p:txBody>
      </p:sp>
      <p:pic>
        <p:nvPicPr>
          <p:cNvPr id="11" name="Picture 2" descr="C:\Users\Admin\Downloads\REVA LOGO2.png"/>
          <p:cNvPicPr>
            <a:picLocks noChangeAspect="1" noChangeArrowheads="1"/>
          </p:cNvPicPr>
          <p:nvPr userDrawn="1"/>
        </p:nvPicPr>
        <p:blipFill>
          <a:blip r:embed="rId3" cstate="print"/>
          <a:srcRect r="76596" b="15988"/>
          <a:stretch>
            <a:fillRect/>
          </a:stretch>
        </p:blipFill>
        <p:spPr bwMode="auto">
          <a:xfrm>
            <a:off x="152400" y="152400"/>
            <a:ext cx="685800" cy="685800"/>
          </a:xfrm>
          <a:prstGeom prst="rect">
            <a:avLst/>
          </a:prstGeom>
          <a:noFill/>
        </p:spPr>
      </p:pic>
    </p:spTree>
    <p:extLst>
      <p:ext uri="{BB962C8B-B14F-4D97-AF65-F5344CB8AC3E}">
        <p14:creationId xmlns:p14="http://schemas.microsoft.com/office/powerpoint/2010/main" val="4131591702"/>
      </p:ext>
    </p:extLst>
  </p:cSld>
  <p:clrMapOvr>
    <a:masterClrMapping/>
  </p:clrMapOvr>
  <p:extLst>
    <p:ext uri="{DCECCB84-F9BA-43D5-87BE-67443E8EF086}">
      <p15:sldGuideLst xmlns:p15="http://schemas.microsoft.com/office/powerpoint/2012/main"/>
    </p:ext>
  </p:extLst>
</p:sldLayout>
</file>

<file path=ppt/slideLayouts/slideLayout11.xml><?xml version="1.0" encoding="utf-8"?>
<p:sldLayout xmlns:a="http://schemas.openxmlformats.org/drawingml/2006/main" xmlns:r="http://schemas.openxmlformats.org/officeDocument/2006/relationships" xmlns:p="http://schemas.openxmlformats.org/presentationml/2006/main" preserve="1" userDrawn="1">
  <p:cSld name="Divider White">
    <p:bg bwMode="gray">
      <p:bgPr>
        <a:solidFill>
          <a:schemeClr val="bg1"/>
        </a:solidFill>
        <a:effectLst/>
      </p:bgPr>
    </p:bg>
    <p:spTree>
      <p:nvGrpSpPr>
        <p:cNvPr id="1" name=""/>
        <p:cNvGrpSpPr/>
        <p:nvPr/>
      </p:nvGrpSpPr>
      <p:grpSpPr>
        <a:xfrm>
          <a:off x="0" y="0"/>
          <a:ext cx="0" cy="0"/>
          <a:chOff x="0" y="0"/>
          <a:chExt cx="0" cy="0"/>
        </a:xfrm>
      </p:grpSpPr>
      <p:pic>
        <p:nvPicPr>
          <p:cNvPr id="5122" name="Picture 2" descr="C:\Users\Admin\Downloads\ilovepdf_pages-to-jpg (3)\RU_PPT Template-White Blank (1)_page-0002.jpg"/>
          <p:cNvPicPr>
            <a:picLocks noChangeAspect="1" noChangeArrowheads="1"/>
          </p:cNvPicPr>
          <p:nvPr userDrawn="1"/>
        </p:nvPicPr>
        <p:blipFill>
          <a:blip r:embed="rId2"/>
          <a:srcRect/>
          <a:stretch>
            <a:fillRect/>
          </a:stretch>
        </p:blipFill>
        <p:spPr bwMode="auto">
          <a:xfrm>
            <a:off x="-1" y="0"/>
            <a:ext cx="12193191" cy="6858000"/>
          </a:xfrm>
          <a:prstGeom prst="rect">
            <a:avLst/>
          </a:prstGeom>
          <a:noFill/>
        </p:spPr>
      </p:pic>
      <p:sp>
        <p:nvSpPr>
          <p:cNvPr id="11" name="Title 1">
            <a:extLst>
              <a:ext uri="{FF2B5EF4-FFF2-40B4-BE49-F238E27FC236}">
                <a16:creationId xmlns:a16="http://schemas.microsoft.com/office/drawing/2014/main" id="{8C57D2F1-AB6B-D646-B596-57C131E95FB4}"/>
              </a:ext>
            </a:extLst>
          </p:cNvPr>
          <p:cNvSpPr>
            <a:spLocks noGrp="1"/>
          </p:cNvSpPr>
          <p:nvPr>
            <p:ph type="title" hasCustomPrompt="1"/>
          </p:nvPr>
        </p:nvSpPr>
        <p:spPr bwMode="gray">
          <a:xfrm>
            <a:off x="2514600" y="2363699"/>
            <a:ext cx="9220200" cy="1325563"/>
          </a:xfrm>
          <a:prstGeom prst="rect">
            <a:avLst/>
          </a:prstGeom>
        </p:spPr>
        <p:txBody>
          <a:bodyPr anchor="ctr"/>
          <a:lstStyle>
            <a:lvl1pPr>
              <a:defRPr sz="7800" b="0" i="0" spc="0">
                <a:solidFill>
                  <a:srgbClr val="FF6600"/>
                </a:solidFill>
                <a:latin typeface="Roboto Medium" pitchFamily="2" charset="0"/>
                <a:ea typeface="Roboto Medium" pitchFamily="2" charset="0"/>
                <a:cs typeface="Roboto Medium" pitchFamily="2" charset="0"/>
              </a:defRPr>
            </a:lvl1pPr>
          </a:lstStyle>
          <a:p>
            <a:r>
              <a:rPr lang="en-US" dirty="0"/>
              <a:t>TITLE PAGE</a:t>
            </a:r>
            <a:endParaRPr lang="en-NZ" dirty="0"/>
          </a:p>
        </p:txBody>
      </p:sp>
      <p:sp>
        <p:nvSpPr>
          <p:cNvPr id="12" name="Text Placeholder 5">
            <a:extLst>
              <a:ext uri="{FF2B5EF4-FFF2-40B4-BE49-F238E27FC236}">
                <a16:creationId xmlns:a16="http://schemas.microsoft.com/office/drawing/2014/main" id="{AD0D9561-E154-7543-8D06-7AF9B72F9B8B}"/>
              </a:ext>
            </a:extLst>
          </p:cNvPr>
          <p:cNvSpPr>
            <a:spLocks noGrp="1"/>
          </p:cNvSpPr>
          <p:nvPr>
            <p:ph type="body" sz="quarter" idx="11" hasCustomPrompt="1"/>
          </p:nvPr>
        </p:nvSpPr>
        <p:spPr bwMode="gray">
          <a:xfrm>
            <a:off x="2518979" y="3796320"/>
            <a:ext cx="5923490" cy="407987"/>
          </a:xfrm>
          <a:prstGeom prst="rect">
            <a:avLst/>
          </a:prstGeom>
        </p:spPr>
        <p:txBody>
          <a:bodyPr/>
          <a:lstStyle>
            <a:lvl1pPr marL="0" marR="0" indent="0" algn="l" defTabSz="914400" rtl="0" eaLnBrk="1" fontAlgn="auto" latinLnBrk="0" hangingPunct="1">
              <a:lnSpc>
                <a:spcPct val="90000"/>
              </a:lnSpc>
              <a:spcBef>
                <a:spcPts val="1000"/>
              </a:spcBef>
              <a:spcAft>
                <a:spcPts val="0"/>
              </a:spcAft>
              <a:buClrTx/>
              <a:buSzTx/>
              <a:buFont typeface="Arial" panose="020B0604020202020204" pitchFamily="34" charset="0"/>
              <a:buNone/>
              <a:tabLst/>
              <a:defRPr lang="en-US" sz="2500" kern="1200" spc="400" baseline="0">
                <a:solidFill>
                  <a:srgbClr val="A5A5A5"/>
                </a:solidFill>
                <a:latin typeface="Roboto Medium" pitchFamily="2" charset="0"/>
                <a:ea typeface="Roboto Medium" pitchFamily="2" charset="0"/>
                <a:cs typeface="Roboto Medium" pitchFamily="2" charset="0"/>
              </a:defRPr>
            </a:lvl1pPr>
          </a:lstStyle>
          <a:p>
            <a:pPr marL="0" marR="0" lvl="0" indent="0" algn="l" defTabSz="914400" rtl="0" eaLnBrk="1" fontAlgn="auto" latinLnBrk="0" hangingPunct="1">
              <a:lnSpc>
                <a:spcPct val="90000"/>
              </a:lnSpc>
              <a:spcBef>
                <a:spcPts val="1000"/>
              </a:spcBef>
              <a:spcAft>
                <a:spcPts val="0"/>
              </a:spcAft>
              <a:buClrTx/>
              <a:buSzTx/>
              <a:buFont typeface="Arial" panose="020B0604020202020204" pitchFamily="34" charset="0"/>
              <a:buNone/>
              <a:tabLst/>
              <a:defRPr/>
            </a:pPr>
            <a:r>
              <a:rPr lang="en-US" dirty="0"/>
              <a:t>SUBTITLE</a:t>
            </a:r>
          </a:p>
        </p:txBody>
      </p:sp>
      <p:pic>
        <p:nvPicPr>
          <p:cNvPr id="14" name="Picture 3" descr="C:\Users\Admin\Downloads\1-05.png"/>
          <p:cNvPicPr>
            <a:picLocks noChangeAspect="1" noChangeArrowheads="1"/>
          </p:cNvPicPr>
          <p:nvPr userDrawn="1"/>
        </p:nvPicPr>
        <p:blipFill>
          <a:blip r:embed="rId3"/>
          <a:srcRect r="73063"/>
          <a:stretch>
            <a:fillRect/>
          </a:stretch>
        </p:blipFill>
        <p:spPr bwMode="auto">
          <a:xfrm>
            <a:off x="-54605" y="-381001"/>
            <a:ext cx="955557" cy="1711183"/>
          </a:xfrm>
          <a:prstGeom prst="rect">
            <a:avLst/>
          </a:prstGeom>
          <a:noFill/>
        </p:spPr>
      </p:pic>
    </p:spTree>
    <p:extLst>
      <p:ext uri="{BB962C8B-B14F-4D97-AF65-F5344CB8AC3E}">
        <p14:creationId xmlns:p14="http://schemas.microsoft.com/office/powerpoint/2010/main" val="2731359464"/>
      </p:ext>
    </p:extLst>
  </p:cSld>
  <p:clrMapOvr>
    <a:masterClrMapping/>
  </p:clrMapOvr>
  <p:extLst>
    <p:ext uri="{DCECCB84-F9BA-43D5-87BE-67443E8EF086}">
      <p15:sldGuideLst xmlns:p15="http://schemas.microsoft.com/office/powerpoint/2012/main"/>
    </p:ext>
  </p:extLst>
</p:sldLayout>
</file>

<file path=ppt/slideLayouts/slideLayout12.xml><?xml version="1.0" encoding="utf-8"?>
<p:sldLayout xmlns:a="http://schemas.openxmlformats.org/drawingml/2006/main" xmlns:r="http://schemas.openxmlformats.org/officeDocument/2006/relationships" xmlns:p="http://schemas.openxmlformats.org/presentationml/2006/main" preserve="1" userDrawn="1">
  <p:cSld name="1_Divider White">
    <p:bg bwMode="gray">
      <p:bgPr>
        <a:solidFill>
          <a:schemeClr val="bg1"/>
        </a:solidFill>
        <a:effectLst/>
      </p:bgPr>
    </p:bg>
    <p:spTree>
      <p:nvGrpSpPr>
        <p:cNvPr id="1" name=""/>
        <p:cNvGrpSpPr/>
        <p:nvPr/>
      </p:nvGrpSpPr>
      <p:grpSpPr>
        <a:xfrm>
          <a:off x="0" y="0"/>
          <a:ext cx="0" cy="0"/>
          <a:chOff x="0" y="0"/>
          <a:chExt cx="0" cy="0"/>
        </a:xfrm>
      </p:grpSpPr>
      <p:sp>
        <p:nvSpPr>
          <p:cNvPr id="13" name="Title 1">
            <a:extLst>
              <a:ext uri="{FF2B5EF4-FFF2-40B4-BE49-F238E27FC236}">
                <a16:creationId xmlns:a16="http://schemas.microsoft.com/office/drawing/2014/main" id="{8C57D2F1-AB6B-D646-B596-57C131E95FB4}"/>
              </a:ext>
            </a:extLst>
          </p:cNvPr>
          <p:cNvSpPr>
            <a:spLocks noGrp="1"/>
          </p:cNvSpPr>
          <p:nvPr>
            <p:ph type="title" hasCustomPrompt="1"/>
          </p:nvPr>
        </p:nvSpPr>
        <p:spPr bwMode="gray">
          <a:xfrm>
            <a:off x="2514600" y="2363699"/>
            <a:ext cx="7772400" cy="1325563"/>
          </a:xfrm>
          <a:prstGeom prst="rect">
            <a:avLst/>
          </a:prstGeom>
        </p:spPr>
        <p:txBody>
          <a:bodyPr anchor="ctr"/>
          <a:lstStyle>
            <a:lvl1pPr>
              <a:defRPr sz="7800" b="0" i="0" spc="0">
                <a:solidFill>
                  <a:srgbClr val="FF6600"/>
                </a:solidFill>
                <a:latin typeface="Roboto Medium" pitchFamily="2" charset="0"/>
                <a:ea typeface="Roboto Medium" pitchFamily="2" charset="0"/>
                <a:cs typeface="Roboto Medium" pitchFamily="2" charset="0"/>
              </a:defRPr>
            </a:lvl1pPr>
          </a:lstStyle>
          <a:p>
            <a:r>
              <a:rPr lang="en-US" dirty="0"/>
              <a:t>TITLE PAGE</a:t>
            </a:r>
            <a:endParaRPr lang="en-NZ" dirty="0"/>
          </a:p>
        </p:txBody>
      </p:sp>
      <p:sp>
        <p:nvSpPr>
          <p:cNvPr id="11" name="Picture Placeholder 2">
            <a:extLst>
              <a:ext uri="{FF2B5EF4-FFF2-40B4-BE49-F238E27FC236}">
                <a16:creationId xmlns:a16="http://schemas.microsoft.com/office/drawing/2014/main" id="{DDAC6C2B-8407-D64F-820D-E7CF746EE15D}"/>
              </a:ext>
            </a:extLst>
          </p:cNvPr>
          <p:cNvSpPr>
            <a:spLocks noGrp="1"/>
          </p:cNvSpPr>
          <p:nvPr>
            <p:ph type="pic" sz="quarter" idx="15"/>
          </p:nvPr>
        </p:nvSpPr>
        <p:spPr>
          <a:xfrm>
            <a:off x="0" y="0"/>
            <a:ext cx="12192000" cy="6858000"/>
          </a:xfrm>
          <a:prstGeom prst="rect">
            <a:avLst/>
          </a:prstGeom>
        </p:spPr>
        <p:txBody>
          <a:bodyPr/>
          <a:lstStyle>
            <a:lvl1pPr>
              <a:defRPr>
                <a:latin typeface="Nobel-Book" panose="02000503040000020004" pitchFamily="2" charset="0"/>
              </a:defRPr>
            </a:lvl1pPr>
          </a:lstStyle>
          <a:p>
            <a:endParaRPr lang="en-US" dirty="0"/>
          </a:p>
        </p:txBody>
      </p:sp>
      <p:pic>
        <p:nvPicPr>
          <p:cNvPr id="8" name="Picture 7">
            <a:extLst>
              <a:ext uri="{FF2B5EF4-FFF2-40B4-BE49-F238E27FC236}">
                <a16:creationId xmlns:a16="http://schemas.microsoft.com/office/drawing/2014/main" id="{FF1A0E79-2BC7-C74E-A6C5-1646C3E49F5F}"/>
              </a:ext>
            </a:extLst>
          </p:cNvPr>
          <p:cNvPicPr>
            <a:picLocks noChangeAspect="1"/>
          </p:cNvPicPr>
          <p:nvPr userDrawn="1"/>
        </p:nvPicPr>
        <p:blipFill>
          <a:blip r:embed="rId2" cstate="print">
            <a:extLst>
              <a:ext uri="{28A0092B-C50C-407E-A947-70E740481C1C}">
                <a14:useLocalDpi xmlns:a14="http://schemas.microsoft.com/office/drawing/2010/main"/>
              </a:ext>
            </a:extLst>
          </a:blip>
          <a:stretch>
            <a:fillRect/>
          </a:stretch>
        </p:blipFill>
        <p:spPr>
          <a:xfrm>
            <a:off x="515352" y="6384910"/>
            <a:ext cx="812480" cy="142503"/>
          </a:xfrm>
          <a:prstGeom prst="rect">
            <a:avLst/>
          </a:prstGeom>
        </p:spPr>
      </p:pic>
      <p:sp>
        <p:nvSpPr>
          <p:cNvPr id="14" name="Text Placeholder 5">
            <a:extLst>
              <a:ext uri="{FF2B5EF4-FFF2-40B4-BE49-F238E27FC236}">
                <a16:creationId xmlns:a16="http://schemas.microsoft.com/office/drawing/2014/main" id="{AD0D9561-E154-7543-8D06-7AF9B72F9B8B}"/>
              </a:ext>
            </a:extLst>
          </p:cNvPr>
          <p:cNvSpPr>
            <a:spLocks noGrp="1"/>
          </p:cNvSpPr>
          <p:nvPr>
            <p:ph type="body" sz="quarter" idx="11" hasCustomPrompt="1"/>
          </p:nvPr>
        </p:nvSpPr>
        <p:spPr bwMode="gray">
          <a:xfrm>
            <a:off x="2518979" y="3796320"/>
            <a:ext cx="5923490" cy="407987"/>
          </a:xfrm>
          <a:prstGeom prst="rect">
            <a:avLst/>
          </a:prstGeom>
        </p:spPr>
        <p:txBody>
          <a:bodyPr/>
          <a:lstStyle>
            <a:lvl1pPr marL="0" marR="0" indent="0" algn="l" defTabSz="914400" rtl="0" eaLnBrk="1" fontAlgn="auto" latinLnBrk="0" hangingPunct="1">
              <a:lnSpc>
                <a:spcPct val="90000"/>
              </a:lnSpc>
              <a:spcBef>
                <a:spcPts val="1000"/>
              </a:spcBef>
              <a:spcAft>
                <a:spcPts val="0"/>
              </a:spcAft>
              <a:buClrTx/>
              <a:buSzTx/>
              <a:buFont typeface="Arial" panose="020B0604020202020204" pitchFamily="34" charset="0"/>
              <a:buNone/>
              <a:tabLst/>
              <a:defRPr lang="en-US" sz="2500" kern="1200" spc="400" baseline="0">
                <a:solidFill>
                  <a:srgbClr val="A5A5A5"/>
                </a:solidFill>
                <a:latin typeface="Roboto Medium" pitchFamily="2" charset="0"/>
                <a:ea typeface="Roboto Medium" pitchFamily="2" charset="0"/>
                <a:cs typeface="Roboto Medium" pitchFamily="2" charset="0"/>
              </a:defRPr>
            </a:lvl1pPr>
          </a:lstStyle>
          <a:p>
            <a:pPr marL="0" marR="0" lvl="0" indent="0" algn="l" defTabSz="914400" rtl="0" eaLnBrk="1" fontAlgn="auto" latinLnBrk="0" hangingPunct="1">
              <a:lnSpc>
                <a:spcPct val="90000"/>
              </a:lnSpc>
              <a:spcBef>
                <a:spcPts val="1000"/>
              </a:spcBef>
              <a:spcAft>
                <a:spcPts val="0"/>
              </a:spcAft>
              <a:buClrTx/>
              <a:buSzTx/>
              <a:buFont typeface="Arial" panose="020B0604020202020204" pitchFamily="34" charset="0"/>
              <a:buNone/>
              <a:tabLst/>
              <a:defRPr/>
            </a:pPr>
            <a:r>
              <a:rPr lang="en-US" dirty="0"/>
              <a:t>SUBTITLE</a:t>
            </a:r>
          </a:p>
        </p:txBody>
      </p:sp>
      <p:pic>
        <p:nvPicPr>
          <p:cNvPr id="15" name="Picture 2" descr="C:\Users\Admin\Downloads\REVA LOGO2.png"/>
          <p:cNvPicPr>
            <a:picLocks noChangeAspect="1" noChangeArrowheads="1"/>
          </p:cNvPicPr>
          <p:nvPr userDrawn="1"/>
        </p:nvPicPr>
        <p:blipFill>
          <a:blip r:embed="rId3" cstate="print"/>
          <a:srcRect r="76596" b="15988"/>
          <a:stretch>
            <a:fillRect/>
          </a:stretch>
        </p:blipFill>
        <p:spPr bwMode="auto">
          <a:xfrm>
            <a:off x="152400" y="152400"/>
            <a:ext cx="685800" cy="685800"/>
          </a:xfrm>
          <a:prstGeom prst="rect">
            <a:avLst/>
          </a:prstGeom>
          <a:noFill/>
        </p:spPr>
      </p:pic>
    </p:spTree>
    <p:extLst>
      <p:ext uri="{BB962C8B-B14F-4D97-AF65-F5344CB8AC3E}">
        <p14:creationId xmlns:p14="http://schemas.microsoft.com/office/powerpoint/2010/main" val="1173274083"/>
      </p:ext>
    </p:extLst>
  </p:cSld>
  <p:clrMapOvr>
    <a:masterClrMapping/>
  </p:clrMapOvr>
  <p:extLst>
    <p:ext uri="{DCECCB84-F9BA-43D5-87BE-67443E8EF086}">
      <p15:sldGuideLst xmlns:p15="http://schemas.microsoft.com/office/powerpoint/2012/main"/>
    </p:ext>
  </p:extLst>
</p:sldLayout>
</file>

<file path=ppt/slideLayouts/slideLayout13.xml><?xml version="1.0" encoding="utf-8"?>
<p:sldLayout xmlns:a="http://schemas.openxmlformats.org/drawingml/2006/main" xmlns:r="http://schemas.openxmlformats.org/officeDocument/2006/relationships" xmlns:p="http://schemas.openxmlformats.org/presentationml/2006/main" preserve="1" userDrawn="1">
  <p:cSld name="Media / Video Slide Black">
    <p:bg bwMode="gray">
      <p:bgPr>
        <a:solidFill>
          <a:schemeClr val="bg1"/>
        </a:solidFill>
        <a:effectLst/>
      </p:bgPr>
    </p:bg>
    <p:spTree>
      <p:nvGrpSpPr>
        <p:cNvPr id="1" name=""/>
        <p:cNvGrpSpPr/>
        <p:nvPr/>
      </p:nvGrpSpPr>
      <p:grpSpPr>
        <a:xfrm>
          <a:off x="0" y="0"/>
          <a:ext cx="0" cy="0"/>
          <a:chOff x="0" y="0"/>
          <a:chExt cx="0" cy="0"/>
        </a:xfrm>
      </p:grpSpPr>
      <p:pic>
        <p:nvPicPr>
          <p:cNvPr id="6146" name="Picture 2" descr="C:\Users\Admin\Downloads\ilovepdf_pages-to-jpg (3)\RU_PPT Template-White Blank (1)_page-0004.jpg"/>
          <p:cNvPicPr>
            <a:picLocks noChangeAspect="1" noChangeArrowheads="1"/>
          </p:cNvPicPr>
          <p:nvPr userDrawn="1"/>
        </p:nvPicPr>
        <p:blipFill>
          <a:blip r:embed="rId2"/>
          <a:srcRect/>
          <a:stretch>
            <a:fillRect/>
          </a:stretch>
        </p:blipFill>
        <p:spPr bwMode="auto">
          <a:xfrm>
            <a:off x="0" y="0"/>
            <a:ext cx="12192000" cy="6857330"/>
          </a:xfrm>
          <a:prstGeom prst="rect">
            <a:avLst/>
          </a:prstGeom>
          <a:noFill/>
        </p:spPr>
      </p:pic>
      <p:sp>
        <p:nvSpPr>
          <p:cNvPr id="11" name="Title 1">
            <a:extLst>
              <a:ext uri="{FF2B5EF4-FFF2-40B4-BE49-F238E27FC236}">
                <a16:creationId xmlns:a16="http://schemas.microsoft.com/office/drawing/2014/main" id="{E9E6745F-DAB6-B248-B478-7A0CF8A76EEA}"/>
              </a:ext>
            </a:extLst>
          </p:cNvPr>
          <p:cNvSpPr>
            <a:spLocks noGrp="1"/>
          </p:cNvSpPr>
          <p:nvPr>
            <p:ph type="title" hasCustomPrompt="1"/>
          </p:nvPr>
        </p:nvSpPr>
        <p:spPr bwMode="gray">
          <a:xfrm>
            <a:off x="609600" y="395786"/>
            <a:ext cx="5258776" cy="838202"/>
          </a:xfrm>
          <a:prstGeom prst="rect">
            <a:avLst/>
          </a:prstGeom>
        </p:spPr>
        <p:txBody>
          <a:bodyPr anchor="ctr" anchorCtr="0">
            <a:noAutofit/>
          </a:bodyPr>
          <a:lstStyle>
            <a:lvl1pPr>
              <a:defRPr sz="2800" cap="all" spc="0" baseline="0">
                <a:solidFill>
                  <a:srgbClr val="A5A5A5"/>
                </a:solidFill>
                <a:latin typeface="Roboto Medium" pitchFamily="2" charset="0"/>
                <a:ea typeface="Roboto Medium" pitchFamily="2" charset="0"/>
                <a:cs typeface="Roboto Medium" pitchFamily="2" charset="0"/>
              </a:defRPr>
            </a:lvl1pPr>
          </a:lstStyle>
          <a:p>
            <a:r>
              <a:rPr lang="en-US" dirty="0"/>
              <a:t>Media/Video Page</a:t>
            </a:r>
          </a:p>
        </p:txBody>
      </p:sp>
      <p:sp>
        <p:nvSpPr>
          <p:cNvPr id="4" name="Media Placeholder 3">
            <a:extLst>
              <a:ext uri="{FF2B5EF4-FFF2-40B4-BE49-F238E27FC236}">
                <a16:creationId xmlns:a16="http://schemas.microsoft.com/office/drawing/2014/main" id="{9B10B4EE-A653-1D4B-98CF-698451C180B3}"/>
              </a:ext>
            </a:extLst>
          </p:cNvPr>
          <p:cNvSpPr>
            <a:spLocks noGrp="1"/>
          </p:cNvSpPr>
          <p:nvPr>
            <p:ph type="media" sz="quarter" idx="20" hasCustomPrompt="1"/>
          </p:nvPr>
        </p:nvSpPr>
        <p:spPr>
          <a:xfrm>
            <a:off x="623888" y="1412875"/>
            <a:ext cx="11088687" cy="4454525"/>
          </a:xfrm>
          <a:prstGeom prst="rect">
            <a:avLst/>
          </a:prstGeom>
        </p:spPr>
        <p:txBody>
          <a:bodyPr/>
          <a:lstStyle>
            <a:lvl1pPr marL="228600" marR="0" indent="-228600" algn="l" defTabSz="914400" rtl="0" eaLnBrk="1" fontAlgn="auto" latinLnBrk="0" hangingPunct="1">
              <a:lnSpc>
                <a:spcPct val="90000"/>
              </a:lnSpc>
              <a:spcBef>
                <a:spcPts val="1000"/>
              </a:spcBef>
              <a:spcAft>
                <a:spcPts val="0"/>
              </a:spcAft>
              <a:buClrTx/>
              <a:buSzTx/>
              <a:buFont typeface="Arial" panose="020B0604020202020204" pitchFamily="34" charset="0"/>
              <a:buChar char="•"/>
              <a:tabLst/>
              <a:defRPr>
                <a:solidFill>
                  <a:srgbClr val="A5A5A5"/>
                </a:solidFill>
                <a:latin typeface="Roboto Medium" pitchFamily="2" charset="0"/>
                <a:ea typeface="Roboto Medium" pitchFamily="2" charset="0"/>
                <a:cs typeface="Roboto Medium" pitchFamily="2" charset="0"/>
              </a:defRPr>
            </a:lvl1pPr>
          </a:lstStyle>
          <a:p>
            <a:pPr marL="228600" marR="0" lvl="0" indent="-228600" algn="l" defTabSz="914400" rtl="0" eaLnBrk="1" fontAlgn="auto" latinLnBrk="0" hangingPunct="1">
              <a:lnSpc>
                <a:spcPct val="90000"/>
              </a:lnSpc>
              <a:spcBef>
                <a:spcPts val="1000"/>
              </a:spcBef>
              <a:spcAft>
                <a:spcPts val="0"/>
              </a:spcAft>
              <a:buClrTx/>
              <a:buSzTx/>
              <a:buFont typeface="Arial" panose="020B0604020202020204" pitchFamily="34" charset="0"/>
              <a:buChar char="•"/>
              <a:tabLst/>
              <a:defRPr/>
            </a:pPr>
            <a:r>
              <a:rPr lang="en-US" dirty="0"/>
              <a:t>Click Icon to add video</a:t>
            </a:r>
          </a:p>
          <a:p>
            <a:endParaRPr lang="en-US" dirty="0"/>
          </a:p>
        </p:txBody>
      </p:sp>
      <p:sp>
        <p:nvSpPr>
          <p:cNvPr id="8" name="Slide Number Placeholder 17"/>
          <p:cNvSpPr>
            <a:spLocks noGrp="1"/>
          </p:cNvSpPr>
          <p:nvPr>
            <p:ph type="sldNum" sz="quarter" idx="14"/>
          </p:nvPr>
        </p:nvSpPr>
        <p:spPr bwMode="gray">
          <a:xfrm>
            <a:off x="11367146" y="6096000"/>
            <a:ext cx="596254" cy="365125"/>
          </a:xfrm>
          <a:prstGeom prst="rect">
            <a:avLst/>
          </a:prstGeom>
        </p:spPr>
        <p:txBody>
          <a:bodyPr anchor="ctr"/>
          <a:lstStyle>
            <a:lvl1pPr algn="ctr">
              <a:defRPr sz="1800" b="0" i="0">
                <a:solidFill>
                  <a:schemeClr val="tx1"/>
                </a:solidFill>
                <a:latin typeface="Roboto Medium" pitchFamily="2" charset="0"/>
                <a:ea typeface="Roboto Medium" pitchFamily="2" charset="0"/>
              </a:defRPr>
            </a:lvl1pPr>
          </a:lstStyle>
          <a:p>
            <a:fld id="{45A3C14A-F937-4231-B6F1-40B429FAFB2F}" type="slidenum">
              <a:rPr lang="en-NZ" smtClean="0"/>
              <a:pPr/>
              <a:t>‹#›</a:t>
            </a:fld>
            <a:endParaRPr lang="en-NZ" dirty="0"/>
          </a:p>
        </p:txBody>
      </p:sp>
    </p:spTree>
    <p:extLst>
      <p:ext uri="{BB962C8B-B14F-4D97-AF65-F5344CB8AC3E}">
        <p14:creationId xmlns:p14="http://schemas.microsoft.com/office/powerpoint/2010/main" val="2234062442"/>
      </p:ext>
    </p:extLst>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preserve="1" userDrawn="1">
  <p:cSld name="Media / Video Slide White">
    <p:bg bwMode="gray">
      <p:bgPr>
        <a:solidFill>
          <a:schemeClr val="bg1"/>
        </a:solidFill>
        <a:effectLst/>
      </p:bgPr>
    </p:bg>
    <p:spTree>
      <p:nvGrpSpPr>
        <p:cNvPr id="1" name=""/>
        <p:cNvGrpSpPr/>
        <p:nvPr/>
      </p:nvGrpSpPr>
      <p:grpSpPr>
        <a:xfrm>
          <a:off x="0" y="0"/>
          <a:ext cx="0" cy="0"/>
          <a:chOff x="0" y="0"/>
          <a:chExt cx="0" cy="0"/>
        </a:xfrm>
      </p:grpSpPr>
      <p:pic>
        <p:nvPicPr>
          <p:cNvPr id="7170" name="Picture 2" descr="C:\Users\Admin\Downloads\ilovepdf_pages-to-jpg (4)\RU_PPT Template-Grey Blank (1)_page-0004.jpg"/>
          <p:cNvPicPr>
            <a:picLocks noChangeAspect="1" noChangeArrowheads="1"/>
          </p:cNvPicPr>
          <p:nvPr userDrawn="1"/>
        </p:nvPicPr>
        <p:blipFill>
          <a:blip r:embed="rId2"/>
          <a:srcRect/>
          <a:stretch>
            <a:fillRect/>
          </a:stretch>
        </p:blipFill>
        <p:spPr bwMode="auto">
          <a:xfrm>
            <a:off x="-1" y="-1"/>
            <a:ext cx="12193193" cy="6858001"/>
          </a:xfrm>
          <a:prstGeom prst="rect">
            <a:avLst/>
          </a:prstGeom>
          <a:noFill/>
        </p:spPr>
      </p:pic>
      <p:sp>
        <p:nvSpPr>
          <p:cNvPr id="9" name="Title 1">
            <a:extLst>
              <a:ext uri="{FF2B5EF4-FFF2-40B4-BE49-F238E27FC236}">
                <a16:creationId xmlns:a16="http://schemas.microsoft.com/office/drawing/2014/main" id="{E9E6745F-DAB6-B248-B478-7A0CF8A76EEA}"/>
              </a:ext>
            </a:extLst>
          </p:cNvPr>
          <p:cNvSpPr>
            <a:spLocks noGrp="1"/>
          </p:cNvSpPr>
          <p:nvPr>
            <p:ph type="title" hasCustomPrompt="1"/>
          </p:nvPr>
        </p:nvSpPr>
        <p:spPr bwMode="gray">
          <a:xfrm>
            <a:off x="609600" y="395786"/>
            <a:ext cx="5258776" cy="838202"/>
          </a:xfrm>
          <a:prstGeom prst="rect">
            <a:avLst/>
          </a:prstGeom>
        </p:spPr>
        <p:txBody>
          <a:bodyPr anchor="ctr" anchorCtr="0">
            <a:noAutofit/>
          </a:bodyPr>
          <a:lstStyle>
            <a:lvl1pPr>
              <a:defRPr sz="2800" cap="all" spc="0" baseline="0">
                <a:solidFill>
                  <a:schemeClr val="bg1"/>
                </a:solidFill>
                <a:latin typeface="Roboto Medium" pitchFamily="2" charset="0"/>
                <a:ea typeface="Roboto Medium" pitchFamily="2" charset="0"/>
                <a:cs typeface="Roboto Medium" pitchFamily="2" charset="0"/>
              </a:defRPr>
            </a:lvl1pPr>
          </a:lstStyle>
          <a:p>
            <a:r>
              <a:rPr lang="en-US" dirty="0"/>
              <a:t>Media/Video Page</a:t>
            </a:r>
          </a:p>
        </p:txBody>
      </p:sp>
      <p:sp>
        <p:nvSpPr>
          <p:cNvPr id="13" name="Media Placeholder 3">
            <a:extLst>
              <a:ext uri="{FF2B5EF4-FFF2-40B4-BE49-F238E27FC236}">
                <a16:creationId xmlns:a16="http://schemas.microsoft.com/office/drawing/2014/main" id="{9B10B4EE-A653-1D4B-98CF-698451C180B3}"/>
              </a:ext>
            </a:extLst>
          </p:cNvPr>
          <p:cNvSpPr>
            <a:spLocks noGrp="1"/>
          </p:cNvSpPr>
          <p:nvPr>
            <p:ph type="media" sz="quarter" idx="20" hasCustomPrompt="1"/>
          </p:nvPr>
        </p:nvSpPr>
        <p:spPr>
          <a:xfrm>
            <a:off x="623888" y="1412875"/>
            <a:ext cx="11088687" cy="4454525"/>
          </a:xfrm>
          <a:prstGeom prst="rect">
            <a:avLst/>
          </a:prstGeom>
        </p:spPr>
        <p:txBody>
          <a:bodyPr/>
          <a:lstStyle>
            <a:lvl1pPr marL="228600" marR="0" indent="-228600" algn="l" defTabSz="914400" rtl="0" eaLnBrk="1" fontAlgn="auto" latinLnBrk="0" hangingPunct="1">
              <a:lnSpc>
                <a:spcPct val="90000"/>
              </a:lnSpc>
              <a:spcBef>
                <a:spcPts val="1000"/>
              </a:spcBef>
              <a:spcAft>
                <a:spcPts val="0"/>
              </a:spcAft>
              <a:buClrTx/>
              <a:buSzTx/>
              <a:buFont typeface="Arial" panose="020B0604020202020204" pitchFamily="34" charset="0"/>
              <a:buChar char="•"/>
              <a:tabLst/>
              <a:defRPr>
                <a:solidFill>
                  <a:schemeClr val="bg1"/>
                </a:solidFill>
                <a:latin typeface="Roboto Medium" pitchFamily="2" charset="0"/>
                <a:ea typeface="Roboto Medium" pitchFamily="2" charset="0"/>
                <a:cs typeface="Roboto Medium" pitchFamily="2" charset="0"/>
              </a:defRPr>
            </a:lvl1pPr>
          </a:lstStyle>
          <a:p>
            <a:pPr marL="228600" marR="0" lvl="0" indent="-228600" algn="l" defTabSz="914400" rtl="0" eaLnBrk="1" fontAlgn="auto" latinLnBrk="0" hangingPunct="1">
              <a:lnSpc>
                <a:spcPct val="90000"/>
              </a:lnSpc>
              <a:spcBef>
                <a:spcPts val="1000"/>
              </a:spcBef>
              <a:spcAft>
                <a:spcPts val="0"/>
              </a:spcAft>
              <a:buClrTx/>
              <a:buSzTx/>
              <a:buFont typeface="Arial" panose="020B0604020202020204" pitchFamily="34" charset="0"/>
              <a:buChar char="•"/>
              <a:tabLst/>
              <a:defRPr/>
            </a:pPr>
            <a:r>
              <a:rPr lang="en-US" dirty="0"/>
              <a:t>Click Icon to add video</a:t>
            </a:r>
          </a:p>
          <a:p>
            <a:endParaRPr lang="en-US" dirty="0"/>
          </a:p>
        </p:txBody>
      </p:sp>
      <p:sp>
        <p:nvSpPr>
          <p:cNvPr id="15" name="Slide Number Placeholder 17"/>
          <p:cNvSpPr>
            <a:spLocks noGrp="1"/>
          </p:cNvSpPr>
          <p:nvPr>
            <p:ph type="sldNum" sz="quarter" idx="14"/>
          </p:nvPr>
        </p:nvSpPr>
        <p:spPr bwMode="gray">
          <a:xfrm>
            <a:off x="11367146" y="6096000"/>
            <a:ext cx="596254" cy="365125"/>
          </a:xfrm>
          <a:prstGeom prst="rect">
            <a:avLst/>
          </a:prstGeom>
        </p:spPr>
        <p:txBody>
          <a:bodyPr anchor="ctr"/>
          <a:lstStyle>
            <a:lvl1pPr algn="ctr">
              <a:defRPr sz="1800" b="0" i="0">
                <a:solidFill>
                  <a:schemeClr val="tx1"/>
                </a:solidFill>
                <a:latin typeface="Roboto Medium" pitchFamily="2" charset="0"/>
                <a:ea typeface="Roboto Medium" pitchFamily="2" charset="0"/>
              </a:defRPr>
            </a:lvl1pPr>
          </a:lstStyle>
          <a:p>
            <a:fld id="{45A3C14A-F937-4231-B6F1-40B429FAFB2F}" type="slidenum">
              <a:rPr lang="en-NZ" smtClean="0"/>
              <a:pPr/>
              <a:t>‹#›</a:t>
            </a:fld>
            <a:endParaRPr lang="en-NZ" dirty="0"/>
          </a:p>
        </p:txBody>
      </p:sp>
    </p:spTree>
    <p:extLst>
      <p:ext uri="{BB962C8B-B14F-4D97-AF65-F5344CB8AC3E}">
        <p14:creationId xmlns:p14="http://schemas.microsoft.com/office/powerpoint/2010/main" val="2347756061"/>
      </p:ext>
    </p:extLst>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preserve="1" userDrawn="1">
  <p:cSld name="1_Media / Video Slide Black">
    <p:bg bwMode="gray">
      <p:bgPr>
        <a:solidFill>
          <a:schemeClr val="bg1"/>
        </a:solidFill>
        <a:effectLst/>
      </p:bgPr>
    </p:bg>
    <p:spTree>
      <p:nvGrpSpPr>
        <p:cNvPr id="1" name=""/>
        <p:cNvGrpSpPr/>
        <p:nvPr/>
      </p:nvGrpSpPr>
      <p:grpSpPr>
        <a:xfrm>
          <a:off x="0" y="0"/>
          <a:ext cx="0" cy="0"/>
          <a:chOff x="0" y="0"/>
          <a:chExt cx="0" cy="0"/>
        </a:xfrm>
      </p:grpSpPr>
      <p:pic>
        <p:nvPicPr>
          <p:cNvPr id="6146" name="Picture 2" descr="C:\Users\Admin\Downloads\ilovepdf_pages-to-jpg (3)\RU_PPT Template-White Blank (1)_page-0004.jpg"/>
          <p:cNvPicPr>
            <a:picLocks noChangeAspect="1" noChangeArrowheads="1"/>
          </p:cNvPicPr>
          <p:nvPr userDrawn="1"/>
        </p:nvPicPr>
        <p:blipFill>
          <a:blip r:embed="rId2"/>
          <a:srcRect/>
          <a:stretch>
            <a:fillRect/>
          </a:stretch>
        </p:blipFill>
        <p:spPr bwMode="auto">
          <a:xfrm>
            <a:off x="0" y="0"/>
            <a:ext cx="12192000" cy="6857330"/>
          </a:xfrm>
          <a:prstGeom prst="rect">
            <a:avLst/>
          </a:prstGeom>
          <a:noFill/>
        </p:spPr>
      </p:pic>
      <p:sp>
        <p:nvSpPr>
          <p:cNvPr id="11" name="Title 1">
            <a:extLst>
              <a:ext uri="{FF2B5EF4-FFF2-40B4-BE49-F238E27FC236}">
                <a16:creationId xmlns:a16="http://schemas.microsoft.com/office/drawing/2014/main" id="{E9E6745F-DAB6-B248-B478-7A0CF8A76EEA}"/>
              </a:ext>
            </a:extLst>
          </p:cNvPr>
          <p:cNvSpPr>
            <a:spLocks noGrp="1"/>
          </p:cNvSpPr>
          <p:nvPr>
            <p:ph type="title" hasCustomPrompt="1"/>
          </p:nvPr>
        </p:nvSpPr>
        <p:spPr bwMode="gray">
          <a:xfrm>
            <a:off x="609600" y="395786"/>
            <a:ext cx="5258776" cy="838202"/>
          </a:xfrm>
          <a:prstGeom prst="rect">
            <a:avLst/>
          </a:prstGeom>
        </p:spPr>
        <p:txBody>
          <a:bodyPr anchor="ctr" anchorCtr="0">
            <a:noAutofit/>
          </a:bodyPr>
          <a:lstStyle>
            <a:lvl1pPr>
              <a:defRPr sz="2800" cap="all" spc="0" baseline="0">
                <a:solidFill>
                  <a:srgbClr val="A5A5A5"/>
                </a:solidFill>
                <a:latin typeface="Roboto Medium" pitchFamily="2" charset="0"/>
                <a:ea typeface="Roboto Medium" pitchFamily="2" charset="0"/>
                <a:cs typeface="Roboto Medium" pitchFamily="2" charset="0"/>
              </a:defRPr>
            </a:lvl1pPr>
          </a:lstStyle>
          <a:p>
            <a:r>
              <a:rPr lang="en-US" dirty="0"/>
              <a:t>Media/Video Page</a:t>
            </a:r>
          </a:p>
        </p:txBody>
      </p:sp>
      <p:sp>
        <p:nvSpPr>
          <p:cNvPr id="8" name="Slide Number Placeholder 17"/>
          <p:cNvSpPr>
            <a:spLocks noGrp="1"/>
          </p:cNvSpPr>
          <p:nvPr>
            <p:ph type="sldNum" sz="quarter" idx="14"/>
          </p:nvPr>
        </p:nvSpPr>
        <p:spPr bwMode="gray">
          <a:xfrm>
            <a:off x="11367146" y="6096000"/>
            <a:ext cx="596254" cy="365125"/>
          </a:xfrm>
          <a:prstGeom prst="rect">
            <a:avLst/>
          </a:prstGeom>
        </p:spPr>
        <p:txBody>
          <a:bodyPr anchor="ctr"/>
          <a:lstStyle>
            <a:lvl1pPr algn="ctr">
              <a:defRPr sz="1800" b="0" i="0">
                <a:solidFill>
                  <a:schemeClr val="tx1"/>
                </a:solidFill>
                <a:latin typeface="Roboto Medium" pitchFamily="2" charset="0"/>
                <a:ea typeface="Roboto Medium" pitchFamily="2" charset="0"/>
              </a:defRPr>
            </a:lvl1pPr>
          </a:lstStyle>
          <a:p>
            <a:fld id="{45A3C14A-F937-4231-B6F1-40B429FAFB2F}" type="slidenum">
              <a:rPr lang="en-NZ" smtClean="0"/>
              <a:pPr/>
              <a:t>‹#›</a:t>
            </a:fld>
            <a:endParaRPr lang="en-NZ" dirty="0"/>
          </a:p>
        </p:txBody>
      </p:sp>
      <p:sp>
        <p:nvSpPr>
          <p:cNvPr id="13" name="Picture Placeholder 12"/>
          <p:cNvSpPr>
            <a:spLocks noGrp="1"/>
          </p:cNvSpPr>
          <p:nvPr>
            <p:ph type="pic" sz="quarter" idx="15" hasCustomPrompt="1"/>
          </p:nvPr>
        </p:nvSpPr>
        <p:spPr>
          <a:xfrm>
            <a:off x="609600" y="1447800"/>
            <a:ext cx="5257800" cy="4038600"/>
          </a:xfrm>
          <a:prstGeom prst="rect">
            <a:avLst/>
          </a:prstGeom>
        </p:spPr>
        <p:txBody>
          <a:bodyPr/>
          <a:lstStyle>
            <a:lvl1pPr>
              <a:defRPr baseline="0">
                <a:solidFill>
                  <a:schemeClr val="tx1"/>
                </a:solidFill>
                <a:latin typeface="Roboto Medium" pitchFamily="2" charset="0"/>
                <a:ea typeface="Roboto Medium" pitchFamily="2" charset="0"/>
              </a:defRPr>
            </a:lvl1pPr>
          </a:lstStyle>
          <a:p>
            <a:r>
              <a:rPr lang="en-US" dirty="0"/>
              <a:t>Click icon to add image</a:t>
            </a:r>
          </a:p>
        </p:txBody>
      </p:sp>
      <p:sp>
        <p:nvSpPr>
          <p:cNvPr id="14" name="Picture Placeholder 12"/>
          <p:cNvSpPr>
            <a:spLocks noGrp="1"/>
          </p:cNvSpPr>
          <p:nvPr>
            <p:ph type="pic" sz="quarter" idx="16" hasCustomPrompt="1"/>
          </p:nvPr>
        </p:nvSpPr>
        <p:spPr>
          <a:xfrm>
            <a:off x="6019800" y="1447800"/>
            <a:ext cx="5257800" cy="4038600"/>
          </a:xfrm>
          <a:prstGeom prst="rect">
            <a:avLst/>
          </a:prstGeom>
        </p:spPr>
        <p:txBody>
          <a:bodyPr/>
          <a:lstStyle>
            <a:lvl1pPr>
              <a:defRPr>
                <a:solidFill>
                  <a:schemeClr val="tx1"/>
                </a:solidFill>
                <a:latin typeface="Roboto Medium" pitchFamily="2" charset="0"/>
                <a:ea typeface="Roboto Medium" pitchFamily="2" charset="0"/>
              </a:defRPr>
            </a:lvl1pPr>
          </a:lstStyle>
          <a:p>
            <a:r>
              <a:rPr lang="en-US" dirty="0"/>
              <a:t>Click icon to add image</a:t>
            </a:r>
          </a:p>
        </p:txBody>
      </p:sp>
    </p:spTree>
    <p:extLst>
      <p:ext uri="{BB962C8B-B14F-4D97-AF65-F5344CB8AC3E}">
        <p14:creationId xmlns:p14="http://schemas.microsoft.com/office/powerpoint/2010/main" val="2234062442"/>
      </p:ext>
    </p:extLst>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preserve="1" userDrawn="1">
  <p:cSld name="1_Media / Video Slide White">
    <p:bg bwMode="gray">
      <p:bgPr>
        <a:solidFill>
          <a:schemeClr val="bg1"/>
        </a:solidFill>
        <a:effectLst/>
      </p:bgPr>
    </p:bg>
    <p:spTree>
      <p:nvGrpSpPr>
        <p:cNvPr id="1" name=""/>
        <p:cNvGrpSpPr/>
        <p:nvPr/>
      </p:nvGrpSpPr>
      <p:grpSpPr>
        <a:xfrm>
          <a:off x="0" y="0"/>
          <a:ext cx="0" cy="0"/>
          <a:chOff x="0" y="0"/>
          <a:chExt cx="0" cy="0"/>
        </a:xfrm>
      </p:grpSpPr>
      <p:pic>
        <p:nvPicPr>
          <p:cNvPr id="7170" name="Picture 2" descr="C:\Users\Admin\Downloads\ilovepdf_pages-to-jpg (4)\RU_PPT Template-Grey Blank (1)_page-0004.jpg"/>
          <p:cNvPicPr>
            <a:picLocks noChangeAspect="1" noChangeArrowheads="1"/>
          </p:cNvPicPr>
          <p:nvPr userDrawn="1"/>
        </p:nvPicPr>
        <p:blipFill>
          <a:blip r:embed="rId2"/>
          <a:srcRect/>
          <a:stretch>
            <a:fillRect/>
          </a:stretch>
        </p:blipFill>
        <p:spPr bwMode="auto">
          <a:xfrm>
            <a:off x="-1" y="-1"/>
            <a:ext cx="12193193" cy="6858001"/>
          </a:xfrm>
          <a:prstGeom prst="rect">
            <a:avLst/>
          </a:prstGeom>
          <a:noFill/>
        </p:spPr>
      </p:pic>
      <p:sp>
        <p:nvSpPr>
          <p:cNvPr id="9" name="Title 1">
            <a:extLst>
              <a:ext uri="{FF2B5EF4-FFF2-40B4-BE49-F238E27FC236}">
                <a16:creationId xmlns:a16="http://schemas.microsoft.com/office/drawing/2014/main" id="{E9E6745F-DAB6-B248-B478-7A0CF8A76EEA}"/>
              </a:ext>
            </a:extLst>
          </p:cNvPr>
          <p:cNvSpPr>
            <a:spLocks noGrp="1"/>
          </p:cNvSpPr>
          <p:nvPr>
            <p:ph type="title" hasCustomPrompt="1"/>
          </p:nvPr>
        </p:nvSpPr>
        <p:spPr bwMode="gray">
          <a:xfrm>
            <a:off x="609600" y="395786"/>
            <a:ext cx="5258776" cy="838202"/>
          </a:xfrm>
          <a:prstGeom prst="rect">
            <a:avLst/>
          </a:prstGeom>
        </p:spPr>
        <p:txBody>
          <a:bodyPr anchor="ctr" anchorCtr="0">
            <a:noAutofit/>
          </a:bodyPr>
          <a:lstStyle>
            <a:lvl1pPr>
              <a:defRPr sz="2800" cap="all" spc="0" baseline="0">
                <a:solidFill>
                  <a:schemeClr val="bg1"/>
                </a:solidFill>
                <a:latin typeface="Roboto Medium" pitchFamily="2" charset="0"/>
                <a:ea typeface="Roboto Medium" pitchFamily="2" charset="0"/>
                <a:cs typeface="Roboto Medium" pitchFamily="2" charset="0"/>
              </a:defRPr>
            </a:lvl1pPr>
          </a:lstStyle>
          <a:p>
            <a:r>
              <a:rPr lang="en-US" dirty="0"/>
              <a:t>Media/Video Page</a:t>
            </a:r>
          </a:p>
        </p:txBody>
      </p:sp>
      <p:sp>
        <p:nvSpPr>
          <p:cNvPr id="15" name="Slide Number Placeholder 17"/>
          <p:cNvSpPr>
            <a:spLocks noGrp="1"/>
          </p:cNvSpPr>
          <p:nvPr>
            <p:ph type="sldNum" sz="quarter" idx="14"/>
          </p:nvPr>
        </p:nvSpPr>
        <p:spPr bwMode="gray">
          <a:xfrm>
            <a:off x="11367146" y="6096000"/>
            <a:ext cx="596254" cy="365125"/>
          </a:xfrm>
          <a:prstGeom prst="rect">
            <a:avLst/>
          </a:prstGeom>
        </p:spPr>
        <p:txBody>
          <a:bodyPr anchor="ctr"/>
          <a:lstStyle>
            <a:lvl1pPr algn="ctr">
              <a:defRPr sz="1800" b="0" i="0">
                <a:solidFill>
                  <a:schemeClr val="tx1"/>
                </a:solidFill>
                <a:latin typeface="Roboto Medium" pitchFamily="2" charset="0"/>
                <a:ea typeface="Roboto Medium" pitchFamily="2" charset="0"/>
              </a:defRPr>
            </a:lvl1pPr>
          </a:lstStyle>
          <a:p>
            <a:fld id="{45A3C14A-F937-4231-B6F1-40B429FAFB2F}" type="slidenum">
              <a:rPr lang="en-NZ" smtClean="0"/>
              <a:pPr/>
              <a:t>‹#›</a:t>
            </a:fld>
            <a:endParaRPr lang="en-NZ" dirty="0"/>
          </a:p>
        </p:txBody>
      </p:sp>
      <p:sp>
        <p:nvSpPr>
          <p:cNvPr id="6" name="Picture Placeholder 12"/>
          <p:cNvSpPr>
            <a:spLocks noGrp="1"/>
          </p:cNvSpPr>
          <p:nvPr>
            <p:ph type="pic" sz="quarter" idx="15" hasCustomPrompt="1"/>
          </p:nvPr>
        </p:nvSpPr>
        <p:spPr>
          <a:xfrm>
            <a:off x="609600" y="1447800"/>
            <a:ext cx="5257800" cy="4038600"/>
          </a:xfrm>
          <a:prstGeom prst="rect">
            <a:avLst/>
          </a:prstGeom>
        </p:spPr>
        <p:txBody>
          <a:bodyPr/>
          <a:lstStyle>
            <a:lvl1pPr>
              <a:defRPr>
                <a:solidFill>
                  <a:schemeClr val="bg1"/>
                </a:solidFill>
                <a:latin typeface="Roboto Medium" pitchFamily="2" charset="0"/>
                <a:ea typeface="Roboto Medium" pitchFamily="2" charset="0"/>
              </a:defRPr>
            </a:lvl1pPr>
          </a:lstStyle>
          <a:p>
            <a:r>
              <a:rPr lang="en-US" dirty="0"/>
              <a:t>Click icon to add image</a:t>
            </a:r>
          </a:p>
        </p:txBody>
      </p:sp>
      <p:sp>
        <p:nvSpPr>
          <p:cNvPr id="7" name="Picture Placeholder 12"/>
          <p:cNvSpPr>
            <a:spLocks noGrp="1"/>
          </p:cNvSpPr>
          <p:nvPr>
            <p:ph type="pic" sz="quarter" idx="16" hasCustomPrompt="1"/>
          </p:nvPr>
        </p:nvSpPr>
        <p:spPr>
          <a:xfrm>
            <a:off x="6019800" y="1447800"/>
            <a:ext cx="5257800" cy="4038600"/>
          </a:xfrm>
          <a:prstGeom prst="rect">
            <a:avLst/>
          </a:prstGeom>
        </p:spPr>
        <p:txBody>
          <a:bodyPr/>
          <a:lstStyle>
            <a:lvl1pPr>
              <a:defRPr>
                <a:solidFill>
                  <a:schemeClr val="bg1"/>
                </a:solidFill>
                <a:latin typeface="Roboto Medium" pitchFamily="2" charset="0"/>
                <a:ea typeface="Roboto Medium" pitchFamily="2" charset="0"/>
              </a:defRPr>
            </a:lvl1pPr>
          </a:lstStyle>
          <a:p>
            <a:r>
              <a:rPr lang="en-US" dirty="0"/>
              <a:t>Click icon to add image</a:t>
            </a:r>
          </a:p>
        </p:txBody>
      </p:sp>
    </p:spTree>
    <p:extLst>
      <p:ext uri="{BB962C8B-B14F-4D97-AF65-F5344CB8AC3E}">
        <p14:creationId xmlns:p14="http://schemas.microsoft.com/office/powerpoint/2010/main" val="2347756061"/>
      </p:ext>
    </p:extLst>
  </p:cSld>
  <p:clrMapOvr>
    <a:masterClrMapping/>
  </p:clrMapOvr>
</p:sldLayout>
</file>

<file path=ppt/slideLayouts/slideLayout17.xml><?xml version="1.0" encoding="utf-8"?>
<p:sldLayout xmlns:a="http://schemas.openxmlformats.org/drawingml/2006/main" xmlns:r="http://schemas.openxmlformats.org/officeDocument/2006/relationships" xmlns:p="http://schemas.openxmlformats.org/presentationml/2006/main" preserve="1" userDrawn="1">
  <p:cSld name="Copy Slide Black">
    <p:bg bwMode="gray">
      <p:bgPr>
        <a:solidFill>
          <a:schemeClr val="bg1"/>
        </a:solidFill>
        <a:effectLst/>
      </p:bgPr>
    </p:bg>
    <p:spTree>
      <p:nvGrpSpPr>
        <p:cNvPr id="1" name=""/>
        <p:cNvGrpSpPr/>
        <p:nvPr/>
      </p:nvGrpSpPr>
      <p:grpSpPr>
        <a:xfrm>
          <a:off x="0" y="0"/>
          <a:ext cx="0" cy="0"/>
          <a:chOff x="0" y="0"/>
          <a:chExt cx="0" cy="0"/>
        </a:xfrm>
      </p:grpSpPr>
      <p:pic>
        <p:nvPicPr>
          <p:cNvPr id="11" name="Picture 2" descr="C:\Users\Admin\Downloads\ilovepdf_pages-to-jpg (4)\RU_PPT Template-Grey Blank (1)_page-0003.jpg"/>
          <p:cNvPicPr>
            <a:picLocks noChangeAspect="1" noChangeArrowheads="1"/>
          </p:cNvPicPr>
          <p:nvPr userDrawn="1"/>
        </p:nvPicPr>
        <p:blipFill>
          <a:blip r:embed="rId2"/>
          <a:srcRect/>
          <a:stretch>
            <a:fillRect/>
          </a:stretch>
        </p:blipFill>
        <p:spPr bwMode="auto">
          <a:xfrm>
            <a:off x="0" y="0"/>
            <a:ext cx="12193190" cy="6858000"/>
          </a:xfrm>
          <a:prstGeom prst="rect">
            <a:avLst/>
          </a:prstGeom>
          <a:noFill/>
        </p:spPr>
      </p:pic>
      <p:sp>
        <p:nvSpPr>
          <p:cNvPr id="12" name="Title 1"/>
          <p:cNvSpPr>
            <a:spLocks noGrp="1"/>
          </p:cNvSpPr>
          <p:nvPr>
            <p:ph type="title" hasCustomPrompt="1"/>
          </p:nvPr>
        </p:nvSpPr>
        <p:spPr bwMode="gray">
          <a:xfrm>
            <a:off x="595469" y="374154"/>
            <a:ext cx="6211927" cy="440926"/>
          </a:xfrm>
          <a:prstGeom prst="rect">
            <a:avLst/>
          </a:prstGeom>
        </p:spPr>
        <p:txBody>
          <a:bodyPr anchor="t" anchorCtr="0">
            <a:noAutofit/>
          </a:bodyPr>
          <a:lstStyle>
            <a:lvl1pPr>
              <a:defRPr sz="2800" b="0" cap="all" spc="0" baseline="0">
                <a:solidFill>
                  <a:schemeClr val="bg1"/>
                </a:solidFill>
                <a:latin typeface="Roboto Medium" pitchFamily="2" charset="0"/>
                <a:ea typeface="Roboto Medium" pitchFamily="2" charset="0"/>
                <a:cs typeface="Roboto Medium" pitchFamily="2" charset="0"/>
              </a:defRPr>
            </a:lvl1pPr>
          </a:lstStyle>
          <a:p>
            <a:r>
              <a:rPr lang="en-US" dirty="0"/>
              <a:t>Heading Copy Here </a:t>
            </a:r>
          </a:p>
        </p:txBody>
      </p:sp>
      <p:sp>
        <p:nvSpPr>
          <p:cNvPr id="14" name="Text Placeholder 3">
            <a:extLst>
              <a:ext uri="{FF2B5EF4-FFF2-40B4-BE49-F238E27FC236}">
                <a16:creationId xmlns:a16="http://schemas.microsoft.com/office/drawing/2014/main" id="{6FB73F14-68E6-0D40-8C86-4D7BCC64F88D}"/>
              </a:ext>
            </a:extLst>
          </p:cNvPr>
          <p:cNvSpPr>
            <a:spLocks noGrp="1"/>
          </p:cNvSpPr>
          <p:nvPr>
            <p:ph type="body" sz="quarter" idx="18" hasCustomPrompt="1"/>
          </p:nvPr>
        </p:nvSpPr>
        <p:spPr>
          <a:xfrm>
            <a:off x="623888" y="836613"/>
            <a:ext cx="6192837" cy="432147"/>
          </a:xfrm>
          <a:prstGeom prst="rect">
            <a:avLst/>
          </a:prstGeom>
        </p:spPr>
        <p:txBody>
          <a:bodyPr/>
          <a:lstStyle>
            <a:lvl1pPr marL="0" indent="0">
              <a:buNone/>
              <a:defRPr sz="2600" b="0" i="0">
                <a:solidFill>
                  <a:schemeClr val="bg1"/>
                </a:solidFill>
                <a:latin typeface="Roboto Medium" pitchFamily="2" charset="0"/>
                <a:ea typeface="Roboto Medium" pitchFamily="2" charset="0"/>
                <a:cs typeface="Roboto Medium" pitchFamily="2" charset="0"/>
              </a:defRPr>
            </a:lvl1pPr>
          </a:lstStyle>
          <a:p>
            <a:pPr lvl="0"/>
            <a:r>
              <a:rPr lang="en-US" dirty="0"/>
              <a:t>SUBTITLE HERE</a:t>
            </a:r>
          </a:p>
        </p:txBody>
      </p:sp>
      <p:sp>
        <p:nvSpPr>
          <p:cNvPr id="15" name="Text Placeholder 2">
            <a:extLst>
              <a:ext uri="{FF2B5EF4-FFF2-40B4-BE49-F238E27FC236}">
                <a16:creationId xmlns:a16="http://schemas.microsoft.com/office/drawing/2014/main" id="{17A2154B-A454-8249-909D-10FDDFC09675}"/>
              </a:ext>
            </a:extLst>
          </p:cNvPr>
          <p:cNvSpPr>
            <a:spLocks noGrp="1"/>
          </p:cNvSpPr>
          <p:nvPr>
            <p:ph type="body" sz="quarter" idx="17" hasCustomPrompt="1"/>
          </p:nvPr>
        </p:nvSpPr>
        <p:spPr>
          <a:xfrm>
            <a:off x="623391" y="1370483"/>
            <a:ext cx="7615365" cy="4722813"/>
          </a:xfrm>
          <a:prstGeom prst="rect">
            <a:avLst/>
          </a:prstGeom>
        </p:spPr>
        <p:txBody>
          <a:bodyPr/>
          <a:lstStyle>
            <a:lvl1pPr>
              <a:defRPr lang="en-US" altLang="ja-JP" sz="2400" dirty="0">
                <a:solidFill>
                  <a:schemeClr val="bg1"/>
                </a:solidFill>
                <a:latin typeface="Roboto Medium" pitchFamily="2" charset="0"/>
                <a:ea typeface="Roboto Medium" pitchFamily="2" charset="0"/>
                <a:cs typeface="Roboto Medium" pitchFamily="2" charset="0"/>
              </a:defRPr>
            </a:lvl1pPr>
            <a:lvl2pPr>
              <a:defRPr lang="en-US" altLang="ja-JP" sz="2200" dirty="0">
                <a:solidFill>
                  <a:schemeClr val="bg1"/>
                </a:solidFill>
                <a:latin typeface="Roboto Medium" pitchFamily="2" charset="0"/>
                <a:ea typeface="Roboto Medium" pitchFamily="2" charset="0"/>
                <a:cs typeface="Roboto Medium" pitchFamily="2" charset="0"/>
              </a:defRPr>
            </a:lvl2pPr>
            <a:lvl3pPr>
              <a:defRPr lang="en-US" altLang="ja-JP" dirty="0">
                <a:solidFill>
                  <a:schemeClr val="bg1"/>
                </a:solidFill>
                <a:latin typeface="Roboto Medium" pitchFamily="2" charset="0"/>
                <a:ea typeface="Roboto Medium" pitchFamily="2" charset="0"/>
                <a:cs typeface="Roboto Medium" pitchFamily="2" charset="0"/>
              </a:defRPr>
            </a:lvl3pPr>
            <a:lvl5pPr>
              <a:defRPr lang="en-US" dirty="0">
                <a:solidFill>
                  <a:schemeClr val="bg1"/>
                </a:solidFill>
                <a:latin typeface="Roboto Medium" pitchFamily="2" charset="0"/>
                <a:ea typeface="Roboto Medium" pitchFamily="2" charset="0"/>
                <a:cs typeface="Roboto Medium" pitchFamily="2" charset="0"/>
              </a:defRPr>
            </a:lvl5pPr>
          </a:lstStyle>
          <a:p>
            <a:pPr lvl="0">
              <a:spcAft>
                <a:spcPts val="0"/>
              </a:spcAft>
            </a:pPr>
            <a:r>
              <a:rPr lang="en-US" altLang="ja-JP" dirty="0"/>
              <a:t>Editable body copy</a:t>
            </a:r>
          </a:p>
          <a:p>
            <a:pPr marL="458788" lvl="1" indent="-215900">
              <a:spcBef>
                <a:spcPts val="1000"/>
              </a:spcBef>
              <a:spcAft>
                <a:spcPts val="0"/>
              </a:spcAft>
              <a:tabLst/>
            </a:pPr>
            <a:r>
              <a:rPr lang="en-US" altLang="ja-JP" dirty="0"/>
              <a:t>Editable body copy</a:t>
            </a:r>
          </a:p>
          <a:p>
            <a:pPr marL="809625" lvl="2" indent="-215900">
              <a:spcBef>
                <a:spcPts val="1000"/>
              </a:spcBef>
              <a:spcAft>
                <a:spcPts val="0"/>
              </a:spcAft>
              <a:tabLst/>
            </a:pPr>
            <a:r>
              <a:rPr lang="en-US" altLang="ja-JP" dirty="0"/>
              <a:t>Editable body copy</a:t>
            </a:r>
          </a:p>
          <a:p>
            <a:pPr marL="1323975" lvl="4" indent="-230188">
              <a:spcBef>
                <a:spcPts val="1000"/>
              </a:spcBef>
              <a:spcAft>
                <a:spcPts val="0"/>
              </a:spcAft>
              <a:tabLst/>
            </a:pPr>
            <a:endParaRPr lang="en-US" dirty="0"/>
          </a:p>
        </p:txBody>
      </p:sp>
      <p:sp>
        <p:nvSpPr>
          <p:cNvPr id="16" name="Slide Number Placeholder 17"/>
          <p:cNvSpPr>
            <a:spLocks noGrp="1"/>
          </p:cNvSpPr>
          <p:nvPr>
            <p:ph type="sldNum" sz="quarter" idx="14"/>
          </p:nvPr>
        </p:nvSpPr>
        <p:spPr bwMode="gray">
          <a:xfrm>
            <a:off x="11367146" y="6096000"/>
            <a:ext cx="596254" cy="365125"/>
          </a:xfrm>
          <a:prstGeom prst="rect">
            <a:avLst/>
          </a:prstGeom>
        </p:spPr>
        <p:txBody>
          <a:bodyPr anchor="ctr"/>
          <a:lstStyle>
            <a:lvl1pPr algn="ctr">
              <a:defRPr sz="1800" b="0" i="0">
                <a:solidFill>
                  <a:schemeClr val="tx1"/>
                </a:solidFill>
                <a:latin typeface="Roboto Medium" pitchFamily="2" charset="0"/>
                <a:ea typeface="Roboto Medium" pitchFamily="2" charset="0"/>
              </a:defRPr>
            </a:lvl1pPr>
          </a:lstStyle>
          <a:p>
            <a:fld id="{45A3C14A-F937-4231-B6F1-40B429FAFB2F}" type="slidenum">
              <a:rPr lang="en-NZ" smtClean="0"/>
              <a:pPr/>
              <a:t>‹#›</a:t>
            </a:fld>
            <a:endParaRPr lang="en-NZ" dirty="0"/>
          </a:p>
        </p:txBody>
      </p:sp>
    </p:spTree>
    <p:extLst>
      <p:ext uri="{BB962C8B-B14F-4D97-AF65-F5344CB8AC3E}">
        <p14:creationId xmlns:p14="http://schemas.microsoft.com/office/powerpoint/2010/main" val="3533335871"/>
      </p:ext>
    </p:extLst>
  </p:cSld>
  <p:clrMapOvr>
    <a:masterClrMapping/>
  </p:clrMapOvr>
</p:sldLayout>
</file>

<file path=ppt/slideLayouts/slideLayout18.xml><?xml version="1.0" encoding="utf-8"?>
<p:sldLayout xmlns:a="http://schemas.openxmlformats.org/drawingml/2006/main" xmlns:r="http://schemas.openxmlformats.org/officeDocument/2006/relationships" xmlns:p="http://schemas.openxmlformats.org/presentationml/2006/main" preserve="1" userDrawn="1">
  <p:cSld name="Copy Slide White">
    <p:bg bwMode="gray">
      <p:bgPr>
        <a:solidFill>
          <a:schemeClr val="bg1"/>
        </a:solidFill>
        <a:effectLst/>
      </p:bgPr>
    </p:bg>
    <p:spTree>
      <p:nvGrpSpPr>
        <p:cNvPr id="1" name=""/>
        <p:cNvGrpSpPr/>
        <p:nvPr/>
      </p:nvGrpSpPr>
      <p:grpSpPr>
        <a:xfrm>
          <a:off x="0" y="0"/>
          <a:ext cx="0" cy="0"/>
          <a:chOff x="0" y="0"/>
          <a:chExt cx="0" cy="0"/>
        </a:xfrm>
      </p:grpSpPr>
      <p:pic>
        <p:nvPicPr>
          <p:cNvPr id="12" name="Picture 2" descr="C:\Users\Admin\Downloads\ilovepdf_pages-to-jpg (3)\RU_PPT Template-White Blank (1)_page-0003.jpg"/>
          <p:cNvPicPr>
            <a:picLocks noChangeAspect="1" noChangeArrowheads="1"/>
          </p:cNvPicPr>
          <p:nvPr userDrawn="1"/>
        </p:nvPicPr>
        <p:blipFill>
          <a:blip r:embed="rId2"/>
          <a:srcRect/>
          <a:stretch>
            <a:fillRect/>
          </a:stretch>
        </p:blipFill>
        <p:spPr bwMode="auto">
          <a:xfrm>
            <a:off x="0" y="0"/>
            <a:ext cx="12192000" cy="6857330"/>
          </a:xfrm>
          <a:prstGeom prst="rect">
            <a:avLst/>
          </a:prstGeom>
          <a:noFill/>
        </p:spPr>
      </p:pic>
      <p:sp>
        <p:nvSpPr>
          <p:cNvPr id="8" name="Title 1"/>
          <p:cNvSpPr>
            <a:spLocks noGrp="1"/>
          </p:cNvSpPr>
          <p:nvPr>
            <p:ph type="title" hasCustomPrompt="1"/>
          </p:nvPr>
        </p:nvSpPr>
        <p:spPr bwMode="gray">
          <a:xfrm>
            <a:off x="595469" y="374154"/>
            <a:ext cx="6211927" cy="440926"/>
          </a:xfrm>
          <a:prstGeom prst="rect">
            <a:avLst/>
          </a:prstGeom>
        </p:spPr>
        <p:txBody>
          <a:bodyPr anchor="t" anchorCtr="0">
            <a:noAutofit/>
          </a:bodyPr>
          <a:lstStyle>
            <a:lvl1pPr>
              <a:defRPr sz="2800" b="0" cap="all" spc="0" baseline="0">
                <a:solidFill>
                  <a:srgbClr val="A5A5A5"/>
                </a:solidFill>
                <a:latin typeface="Roboto Medium" pitchFamily="2" charset="0"/>
                <a:ea typeface="Roboto Medium" pitchFamily="2" charset="0"/>
                <a:cs typeface="Roboto Medium" pitchFamily="2" charset="0"/>
              </a:defRPr>
            </a:lvl1pPr>
          </a:lstStyle>
          <a:p>
            <a:r>
              <a:rPr lang="en-US" dirty="0"/>
              <a:t>Heading Copy Here </a:t>
            </a:r>
          </a:p>
        </p:txBody>
      </p:sp>
      <p:sp>
        <p:nvSpPr>
          <p:cNvPr id="4" name="Text Placeholder 3">
            <a:extLst>
              <a:ext uri="{FF2B5EF4-FFF2-40B4-BE49-F238E27FC236}">
                <a16:creationId xmlns:a16="http://schemas.microsoft.com/office/drawing/2014/main" id="{6FB73F14-68E6-0D40-8C86-4D7BCC64F88D}"/>
              </a:ext>
            </a:extLst>
          </p:cNvPr>
          <p:cNvSpPr>
            <a:spLocks noGrp="1"/>
          </p:cNvSpPr>
          <p:nvPr>
            <p:ph type="body" sz="quarter" idx="18" hasCustomPrompt="1"/>
          </p:nvPr>
        </p:nvSpPr>
        <p:spPr>
          <a:xfrm>
            <a:off x="623888" y="836613"/>
            <a:ext cx="6192837" cy="432147"/>
          </a:xfrm>
          <a:prstGeom prst="rect">
            <a:avLst/>
          </a:prstGeom>
        </p:spPr>
        <p:txBody>
          <a:bodyPr/>
          <a:lstStyle>
            <a:lvl1pPr marL="0" indent="0">
              <a:buNone/>
              <a:defRPr sz="2600" b="0" i="0">
                <a:solidFill>
                  <a:srgbClr val="A5A5A5"/>
                </a:solidFill>
                <a:latin typeface="Roboto Medium" pitchFamily="2" charset="0"/>
                <a:ea typeface="Roboto Medium" pitchFamily="2" charset="0"/>
                <a:cs typeface="Roboto Medium" pitchFamily="2" charset="0"/>
              </a:defRPr>
            </a:lvl1pPr>
          </a:lstStyle>
          <a:p>
            <a:pPr lvl="0"/>
            <a:r>
              <a:rPr lang="en-US" dirty="0"/>
              <a:t>SUBTITLE HERE</a:t>
            </a:r>
          </a:p>
        </p:txBody>
      </p:sp>
      <p:sp>
        <p:nvSpPr>
          <p:cNvPr id="11" name="Text Placeholder 2">
            <a:extLst>
              <a:ext uri="{FF2B5EF4-FFF2-40B4-BE49-F238E27FC236}">
                <a16:creationId xmlns:a16="http://schemas.microsoft.com/office/drawing/2014/main" id="{17A2154B-A454-8249-909D-10FDDFC09675}"/>
              </a:ext>
            </a:extLst>
          </p:cNvPr>
          <p:cNvSpPr>
            <a:spLocks noGrp="1"/>
          </p:cNvSpPr>
          <p:nvPr>
            <p:ph type="body" sz="quarter" idx="17" hasCustomPrompt="1"/>
          </p:nvPr>
        </p:nvSpPr>
        <p:spPr>
          <a:xfrm>
            <a:off x="623391" y="1370483"/>
            <a:ext cx="7615365" cy="4722813"/>
          </a:xfrm>
          <a:prstGeom prst="rect">
            <a:avLst/>
          </a:prstGeom>
        </p:spPr>
        <p:txBody>
          <a:bodyPr/>
          <a:lstStyle>
            <a:lvl1pPr>
              <a:defRPr lang="en-US" altLang="ja-JP" sz="2400" dirty="0">
                <a:solidFill>
                  <a:srgbClr val="A5A5A5"/>
                </a:solidFill>
                <a:latin typeface="Roboto Medium" pitchFamily="2" charset="0"/>
                <a:ea typeface="Roboto Medium" pitchFamily="2" charset="0"/>
                <a:cs typeface="Roboto Medium" pitchFamily="2" charset="0"/>
              </a:defRPr>
            </a:lvl1pPr>
            <a:lvl2pPr>
              <a:defRPr lang="en-US" altLang="ja-JP" sz="2200" dirty="0">
                <a:solidFill>
                  <a:srgbClr val="A5A5A5"/>
                </a:solidFill>
                <a:latin typeface="Roboto Medium" pitchFamily="2" charset="0"/>
                <a:ea typeface="Roboto Medium" pitchFamily="2" charset="0"/>
                <a:cs typeface="Roboto Medium" pitchFamily="2" charset="0"/>
              </a:defRPr>
            </a:lvl2pPr>
            <a:lvl3pPr>
              <a:defRPr lang="en-US" altLang="ja-JP" dirty="0">
                <a:solidFill>
                  <a:srgbClr val="A5A5A5"/>
                </a:solidFill>
                <a:latin typeface="Roboto Medium" pitchFamily="2" charset="0"/>
                <a:ea typeface="Roboto Medium" pitchFamily="2" charset="0"/>
                <a:cs typeface="Roboto Medium" pitchFamily="2" charset="0"/>
              </a:defRPr>
            </a:lvl3pPr>
            <a:lvl5pPr>
              <a:defRPr lang="en-US" dirty="0">
                <a:solidFill>
                  <a:srgbClr val="A5A5A5"/>
                </a:solidFill>
                <a:latin typeface="Roboto Medium" pitchFamily="2" charset="0"/>
                <a:ea typeface="Roboto Medium" pitchFamily="2" charset="0"/>
                <a:cs typeface="Roboto Medium" pitchFamily="2" charset="0"/>
              </a:defRPr>
            </a:lvl5pPr>
          </a:lstStyle>
          <a:p>
            <a:pPr lvl="0">
              <a:spcAft>
                <a:spcPts val="0"/>
              </a:spcAft>
            </a:pPr>
            <a:r>
              <a:rPr lang="en-US" altLang="ja-JP" dirty="0"/>
              <a:t>Editable body copy</a:t>
            </a:r>
          </a:p>
          <a:p>
            <a:pPr marL="458788" lvl="1" indent="-215900">
              <a:spcBef>
                <a:spcPts val="1000"/>
              </a:spcBef>
              <a:spcAft>
                <a:spcPts val="0"/>
              </a:spcAft>
              <a:tabLst/>
            </a:pPr>
            <a:r>
              <a:rPr lang="en-US" altLang="ja-JP" dirty="0"/>
              <a:t>Editable body copy</a:t>
            </a:r>
          </a:p>
          <a:p>
            <a:pPr marL="809625" lvl="2" indent="-215900">
              <a:spcBef>
                <a:spcPts val="1000"/>
              </a:spcBef>
              <a:spcAft>
                <a:spcPts val="0"/>
              </a:spcAft>
              <a:tabLst/>
            </a:pPr>
            <a:r>
              <a:rPr lang="en-US" altLang="ja-JP" dirty="0"/>
              <a:t>Editable body copy</a:t>
            </a:r>
          </a:p>
          <a:p>
            <a:pPr marL="1323975" lvl="4" indent="-230188">
              <a:spcBef>
                <a:spcPts val="1000"/>
              </a:spcBef>
              <a:spcAft>
                <a:spcPts val="0"/>
              </a:spcAft>
              <a:tabLst/>
            </a:pPr>
            <a:endParaRPr lang="en-US" dirty="0"/>
          </a:p>
        </p:txBody>
      </p:sp>
      <p:sp>
        <p:nvSpPr>
          <p:cNvPr id="14" name="Slide Number Placeholder 17"/>
          <p:cNvSpPr>
            <a:spLocks noGrp="1"/>
          </p:cNvSpPr>
          <p:nvPr>
            <p:ph type="sldNum" sz="quarter" idx="14"/>
          </p:nvPr>
        </p:nvSpPr>
        <p:spPr bwMode="gray">
          <a:xfrm>
            <a:off x="11367146" y="6096000"/>
            <a:ext cx="596254" cy="365125"/>
          </a:xfrm>
          <a:prstGeom prst="rect">
            <a:avLst/>
          </a:prstGeom>
        </p:spPr>
        <p:txBody>
          <a:bodyPr anchor="ctr"/>
          <a:lstStyle>
            <a:lvl1pPr algn="ctr">
              <a:defRPr sz="1800" b="0" i="0">
                <a:solidFill>
                  <a:schemeClr val="tx1"/>
                </a:solidFill>
                <a:latin typeface="Roboto Medium" pitchFamily="2" charset="0"/>
                <a:ea typeface="Roboto Medium" pitchFamily="2" charset="0"/>
              </a:defRPr>
            </a:lvl1pPr>
          </a:lstStyle>
          <a:p>
            <a:fld id="{45A3C14A-F937-4231-B6F1-40B429FAFB2F}" type="slidenum">
              <a:rPr lang="en-NZ" smtClean="0"/>
              <a:pPr/>
              <a:t>‹#›</a:t>
            </a:fld>
            <a:endParaRPr lang="en-NZ" dirty="0"/>
          </a:p>
        </p:txBody>
      </p:sp>
    </p:spTree>
    <p:extLst>
      <p:ext uri="{BB962C8B-B14F-4D97-AF65-F5344CB8AC3E}">
        <p14:creationId xmlns:p14="http://schemas.microsoft.com/office/powerpoint/2010/main" val="4280280402"/>
      </p:ext>
    </p:extLst>
  </p:cSld>
  <p:clrMapOvr>
    <a:masterClrMapping/>
  </p:clrMapOvr>
</p:sldLayout>
</file>

<file path=ppt/slideLayouts/slideLayout19.xml><?xml version="1.0" encoding="utf-8"?>
<p:sldLayout xmlns:a="http://schemas.openxmlformats.org/drawingml/2006/main" xmlns:r="http://schemas.openxmlformats.org/officeDocument/2006/relationships" xmlns:p="http://schemas.openxmlformats.org/presentationml/2006/main" preserve="1" userDrawn="1">
  <p:cSld name="1_Copy Slide White">
    <p:bg bwMode="gray">
      <p:bgPr>
        <a:solidFill>
          <a:schemeClr val="bg1"/>
        </a:solidFill>
        <a:effectLst/>
      </p:bgPr>
    </p:bg>
    <p:spTree>
      <p:nvGrpSpPr>
        <p:cNvPr id="1" name=""/>
        <p:cNvGrpSpPr/>
        <p:nvPr/>
      </p:nvGrpSpPr>
      <p:grpSpPr>
        <a:xfrm>
          <a:off x="0" y="0"/>
          <a:ext cx="0" cy="0"/>
          <a:chOff x="0" y="0"/>
          <a:chExt cx="0" cy="0"/>
        </a:xfrm>
      </p:grpSpPr>
      <p:pic>
        <p:nvPicPr>
          <p:cNvPr id="10242" name="Picture 2" descr="C:\Users\Admin\Downloads\ilovepdf_pages-to-jpg (3)\RU_PPT Template-White Blank (1)_page-0004.jpg"/>
          <p:cNvPicPr>
            <a:picLocks noChangeAspect="1" noChangeArrowheads="1"/>
          </p:cNvPicPr>
          <p:nvPr userDrawn="1"/>
        </p:nvPicPr>
        <p:blipFill>
          <a:blip r:embed="rId2"/>
          <a:srcRect/>
          <a:stretch>
            <a:fillRect/>
          </a:stretch>
        </p:blipFill>
        <p:spPr bwMode="auto">
          <a:xfrm>
            <a:off x="0" y="0"/>
            <a:ext cx="12192000" cy="6857330"/>
          </a:xfrm>
          <a:prstGeom prst="rect">
            <a:avLst/>
          </a:prstGeom>
          <a:noFill/>
        </p:spPr>
      </p:pic>
      <p:sp>
        <p:nvSpPr>
          <p:cNvPr id="8" name="Title 1"/>
          <p:cNvSpPr>
            <a:spLocks noGrp="1"/>
          </p:cNvSpPr>
          <p:nvPr>
            <p:ph type="title" hasCustomPrompt="1"/>
          </p:nvPr>
        </p:nvSpPr>
        <p:spPr bwMode="gray">
          <a:xfrm>
            <a:off x="595469" y="374154"/>
            <a:ext cx="6211927" cy="440926"/>
          </a:xfrm>
          <a:prstGeom prst="rect">
            <a:avLst/>
          </a:prstGeom>
        </p:spPr>
        <p:txBody>
          <a:bodyPr anchor="t" anchorCtr="0">
            <a:noAutofit/>
          </a:bodyPr>
          <a:lstStyle>
            <a:lvl1pPr>
              <a:defRPr sz="2800" b="0" cap="all" spc="0" baseline="0">
                <a:solidFill>
                  <a:srgbClr val="A5A5A5"/>
                </a:solidFill>
                <a:latin typeface="Roboto Medium" pitchFamily="2" charset="0"/>
                <a:ea typeface="Roboto Medium" pitchFamily="2" charset="0"/>
                <a:cs typeface="Roboto Medium" pitchFamily="2" charset="0"/>
              </a:defRPr>
            </a:lvl1pPr>
          </a:lstStyle>
          <a:p>
            <a:r>
              <a:rPr lang="en-US" dirty="0"/>
              <a:t>Heading Copy Here </a:t>
            </a:r>
          </a:p>
        </p:txBody>
      </p:sp>
      <p:sp>
        <p:nvSpPr>
          <p:cNvPr id="4" name="Text Placeholder 3">
            <a:extLst>
              <a:ext uri="{FF2B5EF4-FFF2-40B4-BE49-F238E27FC236}">
                <a16:creationId xmlns:a16="http://schemas.microsoft.com/office/drawing/2014/main" id="{6FB73F14-68E6-0D40-8C86-4D7BCC64F88D}"/>
              </a:ext>
            </a:extLst>
          </p:cNvPr>
          <p:cNvSpPr>
            <a:spLocks noGrp="1"/>
          </p:cNvSpPr>
          <p:nvPr>
            <p:ph type="body" sz="quarter" idx="18" hasCustomPrompt="1"/>
          </p:nvPr>
        </p:nvSpPr>
        <p:spPr>
          <a:xfrm>
            <a:off x="623888" y="836613"/>
            <a:ext cx="6192837" cy="432147"/>
          </a:xfrm>
          <a:prstGeom prst="rect">
            <a:avLst/>
          </a:prstGeom>
        </p:spPr>
        <p:txBody>
          <a:bodyPr/>
          <a:lstStyle>
            <a:lvl1pPr marL="0" indent="0">
              <a:buNone/>
              <a:defRPr sz="2600" b="0" i="0">
                <a:solidFill>
                  <a:srgbClr val="A5A5A5"/>
                </a:solidFill>
                <a:latin typeface="Roboto Medium" pitchFamily="2" charset="0"/>
                <a:ea typeface="Roboto Medium" pitchFamily="2" charset="0"/>
                <a:cs typeface="Roboto Medium" pitchFamily="2" charset="0"/>
              </a:defRPr>
            </a:lvl1pPr>
          </a:lstStyle>
          <a:p>
            <a:pPr lvl="0"/>
            <a:r>
              <a:rPr lang="en-US" dirty="0"/>
              <a:t>SUBTITLE HERE</a:t>
            </a:r>
          </a:p>
        </p:txBody>
      </p:sp>
      <p:sp>
        <p:nvSpPr>
          <p:cNvPr id="11" name="Text Placeholder 2">
            <a:extLst>
              <a:ext uri="{FF2B5EF4-FFF2-40B4-BE49-F238E27FC236}">
                <a16:creationId xmlns:a16="http://schemas.microsoft.com/office/drawing/2014/main" id="{17A2154B-A454-8249-909D-10FDDFC09675}"/>
              </a:ext>
            </a:extLst>
          </p:cNvPr>
          <p:cNvSpPr>
            <a:spLocks noGrp="1"/>
          </p:cNvSpPr>
          <p:nvPr>
            <p:ph type="body" sz="quarter" idx="17" hasCustomPrompt="1"/>
          </p:nvPr>
        </p:nvSpPr>
        <p:spPr>
          <a:xfrm>
            <a:off x="623391" y="1370483"/>
            <a:ext cx="7615365" cy="4722813"/>
          </a:xfrm>
          <a:prstGeom prst="rect">
            <a:avLst/>
          </a:prstGeom>
        </p:spPr>
        <p:txBody>
          <a:bodyPr/>
          <a:lstStyle>
            <a:lvl1pPr>
              <a:defRPr lang="en-US" altLang="ja-JP" sz="2400" dirty="0">
                <a:solidFill>
                  <a:srgbClr val="A5A5A5"/>
                </a:solidFill>
                <a:latin typeface="Roboto Medium" pitchFamily="2" charset="0"/>
                <a:ea typeface="Roboto Medium" pitchFamily="2" charset="0"/>
                <a:cs typeface="Roboto Medium" pitchFamily="2" charset="0"/>
              </a:defRPr>
            </a:lvl1pPr>
            <a:lvl2pPr>
              <a:defRPr lang="en-US" altLang="ja-JP" sz="2200" dirty="0">
                <a:solidFill>
                  <a:srgbClr val="A5A5A5"/>
                </a:solidFill>
                <a:latin typeface="Roboto Medium" pitchFamily="2" charset="0"/>
                <a:ea typeface="Roboto Medium" pitchFamily="2" charset="0"/>
                <a:cs typeface="Roboto Medium" pitchFamily="2" charset="0"/>
              </a:defRPr>
            </a:lvl2pPr>
            <a:lvl3pPr>
              <a:defRPr lang="en-US" altLang="ja-JP" dirty="0">
                <a:solidFill>
                  <a:srgbClr val="A5A5A5"/>
                </a:solidFill>
                <a:latin typeface="Roboto Medium" pitchFamily="2" charset="0"/>
                <a:ea typeface="Roboto Medium" pitchFamily="2" charset="0"/>
                <a:cs typeface="Roboto Medium" pitchFamily="2" charset="0"/>
              </a:defRPr>
            </a:lvl3pPr>
            <a:lvl5pPr>
              <a:defRPr lang="en-US" dirty="0">
                <a:solidFill>
                  <a:srgbClr val="A5A5A5"/>
                </a:solidFill>
                <a:latin typeface="Roboto Medium" pitchFamily="2" charset="0"/>
                <a:ea typeface="Roboto Medium" pitchFamily="2" charset="0"/>
                <a:cs typeface="Roboto Medium" pitchFamily="2" charset="0"/>
              </a:defRPr>
            </a:lvl5pPr>
          </a:lstStyle>
          <a:p>
            <a:pPr lvl="0">
              <a:spcAft>
                <a:spcPts val="0"/>
              </a:spcAft>
            </a:pPr>
            <a:r>
              <a:rPr lang="en-US" altLang="ja-JP" dirty="0"/>
              <a:t>Editable body copy</a:t>
            </a:r>
          </a:p>
          <a:p>
            <a:pPr marL="458788" lvl="1" indent="-215900">
              <a:spcBef>
                <a:spcPts val="1000"/>
              </a:spcBef>
              <a:spcAft>
                <a:spcPts val="0"/>
              </a:spcAft>
              <a:tabLst/>
            </a:pPr>
            <a:r>
              <a:rPr lang="en-US" altLang="ja-JP" dirty="0"/>
              <a:t>Editable body copy</a:t>
            </a:r>
          </a:p>
          <a:p>
            <a:pPr marL="809625" lvl="2" indent="-215900">
              <a:spcBef>
                <a:spcPts val="1000"/>
              </a:spcBef>
              <a:spcAft>
                <a:spcPts val="0"/>
              </a:spcAft>
              <a:tabLst/>
            </a:pPr>
            <a:r>
              <a:rPr lang="en-US" altLang="ja-JP" dirty="0"/>
              <a:t>Editable body copy</a:t>
            </a:r>
          </a:p>
          <a:p>
            <a:pPr marL="1323975" lvl="4" indent="-230188">
              <a:spcBef>
                <a:spcPts val="1000"/>
              </a:spcBef>
              <a:spcAft>
                <a:spcPts val="0"/>
              </a:spcAft>
              <a:tabLst/>
            </a:pPr>
            <a:endParaRPr lang="en-US" dirty="0"/>
          </a:p>
        </p:txBody>
      </p:sp>
      <p:sp>
        <p:nvSpPr>
          <p:cNvPr id="14" name="Slide Number Placeholder 17"/>
          <p:cNvSpPr>
            <a:spLocks noGrp="1"/>
          </p:cNvSpPr>
          <p:nvPr>
            <p:ph type="sldNum" sz="quarter" idx="14"/>
          </p:nvPr>
        </p:nvSpPr>
        <p:spPr bwMode="gray">
          <a:xfrm>
            <a:off x="11367146" y="6096000"/>
            <a:ext cx="596254" cy="365125"/>
          </a:xfrm>
          <a:prstGeom prst="rect">
            <a:avLst/>
          </a:prstGeom>
        </p:spPr>
        <p:txBody>
          <a:bodyPr anchor="ctr"/>
          <a:lstStyle>
            <a:lvl1pPr algn="ctr">
              <a:defRPr sz="1800" b="0" i="0">
                <a:solidFill>
                  <a:schemeClr val="tx1"/>
                </a:solidFill>
                <a:latin typeface="Roboto Medium" pitchFamily="2" charset="0"/>
                <a:ea typeface="Roboto Medium" pitchFamily="2" charset="0"/>
              </a:defRPr>
            </a:lvl1pPr>
          </a:lstStyle>
          <a:p>
            <a:fld id="{45A3C14A-F937-4231-B6F1-40B429FAFB2F}" type="slidenum">
              <a:rPr lang="en-NZ" smtClean="0"/>
              <a:pPr/>
              <a:t>‹#›</a:t>
            </a:fld>
            <a:endParaRPr lang="en-NZ" dirty="0"/>
          </a:p>
        </p:txBody>
      </p:sp>
    </p:spTree>
    <p:extLst>
      <p:ext uri="{BB962C8B-B14F-4D97-AF65-F5344CB8AC3E}">
        <p14:creationId xmlns:p14="http://schemas.microsoft.com/office/powerpoint/2010/main" val="4280280402"/>
      </p:ext>
    </p:extLst>
  </p:cSld>
  <p:clrMapOvr>
    <a:masterClrMapping/>
  </p:clrMapOvr>
</p:sldLayout>
</file>

<file path=ppt/slideLayouts/slideLayout20.xml><?xml version="1.0" encoding="utf-8"?>
<p:sldLayout xmlns:a="http://schemas.openxmlformats.org/drawingml/2006/main" xmlns:r="http://schemas.openxmlformats.org/officeDocument/2006/relationships" xmlns:p="http://schemas.openxmlformats.org/presentationml/2006/main" preserve="1" userDrawn="1">
  <p:cSld name="2_Copy Slide White">
    <p:bg bwMode="gray">
      <p:bgPr>
        <a:solidFill>
          <a:schemeClr val="bg1"/>
        </a:solidFill>
        <a:effectLst/>
      </p:bgPr>
    </p:bg>
    <p:spTree>
      <p:nvGrpSpPr>
        <p:cNvPr id="1" name=""/>
        <p:cNvGrpSpPr/>
        <p:nvPr/>
      </p:nvGrpSpPr>
      <p:grpSpPr>
        <a:xfrm>
          <a:off x="0" y="0"/>
          <a:ext cx="0" cy="0"/>
          <a:chOff x="0" y="0"/>
          <a:chExt cx="0" cy="0"/>
        </a:xfrm>
      </p:grpSpPr>
      <p:pic>
        <p:nvPicPr>
          <p:cNvPr id="11266" name="Picture 2" descr="C:\Users\Admin\Downloads\ilovepdf_pages-to-jpg (4)\RU_PPT Template-Grey Blank (1)_page-0004.jpg"/>
          <p:cNvPicPr>
            <a:picLocks noChangeAspect="1" noChangeArrowheads="1"/>
          </p:cNvPicPr>
          <p:nvPr userDrawn="1"/>
        </p:nvPicPr>
        <p:blipFill>
          <a:blip r:embed="rId2"/>
          <a:srcRect/>
          <a:stretch>
            <a:fillRect/>
          </a:stretch>
        </p:blipFill>
        <p:spPr bwMode="auto">
          <a:xfrm>
            <a:off x="-1" y="0"/>
            <a:ext cx="12193191" cy="6858000"/>
          </a:xfrm>
          <a:prstGeom prst="rect">
            <a:avLst/>
          </a:prstGeom>
          <a:noFill/>
        </p:spPr>
      </p:pic>
      <p:sp>
        <p:nvSpPr>
          <p:cNvPr id="8" name="Title 1"/>
          <p:cNvSpPr>
            <a:spLocks noGrp="1"/>
          </p:cNvSpPr>
          <p:nvPr>
            <p:ph type="title" hasCustomPrompt="1"/>
          </p:nvPr>
        </p:nvSpPr>
        <p:spPr bwMode="gray">
          <a:xfrm>
            <a:off x="595469" y="374154"/>
            <a:ext cx="6211927" cy="440926"/>
          </a:xfrm>
          <a:prstGeom prst="rect">
            <a:avLst/>
          </a:prstGeom>
        </p:spPr>
        <p:txBody>
          <a:bodyPr anchor="t" anchorCtr="0">
            <a:noAutofit/>
          </a:bodyPr>
          <a:lstStyle>
            <a:lvl1pPr>
              <a:defRPr sz="2800" b="0" cap="all" spc="0" baseline="0">
                <a:solidFill>
                  <a:schemeClr val="bg1"/>
                </a:solidFill>
                <a:latin typeface="Roboto Medium" pitchFamily="2" charset="0"/>
                <a:ea typeface="Roboto Medium" pitchFamily="2" charset="0"/>
                <a:cs typeface="Roboto Medium" pitchFamily="2" charset="0"/>
              </a:defRPr>
            </a:lvl1pPr>
          </a:lstStyle>
          <a:p>
            <a:r>
              <a:rPr lang="en-US" dirty="0"/>
              <a:t>Heading Copy Here </a:t>
            </a:r>
          </a:p>
        </p:txBody>
      </p:sp>
      <p:sp>
        <p:nvSpPr>
          <p:cNvPr id="4" name="Text Placeholder 3">
            <a:extLst>
              <a:ext uri="{FF2B5EF4-FFF2-40B4-BE49-F238E27FC236}">
                <a16:creationId xmlns:a16="http://schemas.microsoft.com/office/drawing/2014/main" id="{6FB73F14-68E6-0D40-8C86-4D7BCC64F88D}"/>
              </a:ext>
            </a:extLst>
          </p:cNvPr>
          <p:cNvSpPr>
            <a:spLocks noGrp="1"/>
          </p:cNvSpPr>
          <p:nvPr>
            <p:ph type="body" sz="quarter" idx="18" hasCustomPrompt="1"/>
          </p:nvPr>
        </p:nvSpPr>
        <p:spPr>
          <a:xfrm>
            <a:off x="623888" y="836613"/>
            <a:ext cx="6192837" cy="432147"/>
          </a:xfrm>
          <a:prstGeom prst="rect">
            <a:avLst/>
          </a:prstGeom>
        </p:spPr>
        <p:txBody>
          <a:bodyPr/>
          <a:lstStyle>
            <a:lvl1pPr marL="0" indent="0">
              <a:buNone/>
              <a:defRPr sz="2600" b="0" i="0">
                <a:solidFill>
                  <a:schemeClr val="bg1"/>
                </a:solidFill>
                <a:latin typeface="Roboto Medium" pitchFamily="2" charset="0"/>
                <a:ea typeface="Roboto Medium" pitchFamily="2" charset="0"/>
                <a:cs typeface="Roboto Medium" pitchFamily="2" charset="0"/>
              </a:defRPr>
            </a:lvl1pPr>
          </a:lstStyle>
          <a:p>
            <a:pPr lvl="0"/>
            <a:r>
              <a:rPr lang="en-US" dirty="0"/>
              <a:t>SUBTITLE HERE</a:t>
            </a:r>
          </a:p>
        </p:txBody>
      </p:sp>
      <p:sp>
        <p:nvSpPr>
          <p:cNvPr id="11" name="Text Placeholder 2">
            <a:extLst>
              <a:ext uri="{FF2B5EF4-FFF2-40B4-BE49-F238E27FC236}">
                <a16:creationId xmlns:a16="http://schemas.microsoft.com/office/drawing/2014/main" id="{17A2154B-A454-8249-909D-10FDDFC09675}"/>
              </a:ext>
            </a:extLst>
          </p:cNvPr>
          <p:cNvSpPr>
            <a:spLocks noGrp="1"/>
          </p:cNvSpPr>
          <p:nvPr>
            <p:ph type="body" sz="quarter" idx="17" hasCustomPrompt="1"/>
          </p:nvPr>
        </p:nvSpPr>
        <p:spPr>
          <a:xfrm>
            <a:off x="623391" y="1370483"/>
            <a:ext cx="7615365" cy="4722813"/>
          </a:xfrm>
          <a:prstGeom prst="rect">
            <a:avLst/>
          </a:prstGeom>
        </p:spPr>
        <p:txBody>
          <a:bodyPr/>
          <a:lstStyle>
            <a:lvl1pPr>
              <a:defRPr lang="en-US" altLang="ja-JP" sz="2400" dirty="0">
                <a:solidFill>
                  <a:schemeClr val="bg1"/>
                </a:solidFill>
                <a:latin typeface="Roboto Medium" pitchFamily="2" charset="0"/>
                <a:ea typeface="Roboto Medium" pitchFamily="2" charset="0"/>
                <a:cs typeface="Roboto Medium" pitchFamily="2" charset="0"/>
              </a:defRPr>
            </a:lvl1pPr>
            <a:lvl2pPr>
              <a:defRPr lang="en-US" altLang="ja-JP" sz="2200" dirty="0">
                <a:solidFill>
                  <a:schemeClr val="bg1"/>
                </a:solidFill>
                <a:latin typeface="Roboto Medium" pitchFamily="2" charset="0"/>
                <a:ea typeface="Roboto Medium" pitchFamily="2" charset="0"/>
                <a:cs typeface="Roboto Medium" pitchFamily="2" charset="0"/>
              </a:defRPr>
            </a:lvl2pPr>
            <a:lvl3pPr>
              <a:defRPr lang="en-US" altLang="ja-JP" dirty="0">
                <a:solidFill>
                  <a:schemeClr val="bg1"/>
                </a:solidFill>
                <a:latin typeface="Roboto Medium" pitchFamily="2" charset="0"/>
                <a:ea typeface="Roboto Medium" pitchFamily="2" charset="0"/>
                <a:cs typeface="Roboto Medium" pitchFamily="2" charset="0"/>
              </a:defRPr>
            </a:lvl3pPr>
            <a:lvl5pPr>
              <a:defRPr lang="en-US" dirty="0">
                <a:solidFill>
                  <a:schemeClr val="bg1"/>
                </a:solidFill>
                <a:latin typeface="Roboto Medium" pitchFamily="2" charset="0"/>
                <a:ea typeface="Roboto Medium" pitchFamily="2" charset="0"/>
                <a:cs typeface="Roboto Medium" pitchFamily="2" charset="0"/>
              </a:defRPr>
            </a:lvl5pPr>
          </a:lstStyle>
          <a:p>
            <a:pPr lvl="0">
              <a:spcAft>
                <a:spcPts val="0"/>
              </a:spcAft>
            </a:pPr>
            <a:r>
              <a:rPr lang="en-US" altLang="ja-JP" dirty="0"/>
              <a:t>Editable body copy</a:t>
            </a:r>
          </a:p>
          <a:p>
            <a:pPr marL="458788" lvl="1" indent="-215900">
              <a:spcBef>
                <a:spcPts val="1000"/>
              </a:spcBef>
              <a:spcAft>
                <a:spcPts val="0"/>
              </a:spcAft>
              <a:tabLst/>
            </a:pPr>
            <a:r>
              <a:rPr lang="en-US" altLang="ja-JP" dirty="0"/>
              <a:t>Editable body copy</a:t>
            </a:r>
          </a:p>
          <a:p>
            <a:pPr marL="809625" lvl="2" indent="-215900">
              <a:spcBef>
                <a:spcPts val="1000"/>
              </a:spcBef>
              <a:spcAft>
                <a:spcPts val="0"/>
              </a:spcAft>
              <a:tabLst/>
            </a:pPr>
            <a:r>
              <a:rPr lang="en-US" altLang="ja-JP" dirty="0"/>
              <a:t>Editable body copy</a:t>
            </a:r>
          </a:p>
          <a:p>
            <a:pPr marL="1323975" lvl="4" indent="-230188">
              <a:spcBef>
                <a:spcPts val="1000"/>
              </a:spcBef>
              <a:spcAft>
                <a:spcPts val="0"/>
              </a:spcAft>
              <a:tabLst/>
            </a:pPr>
            <a:endParaRPr lang="en-US" dirty="0"/>
          </a:p>
        </p:txBody>
      </p:sp>
      <p:sp>
        <p:nvSpPr>
          <p:cNvPr id="14" name="Slide Number Placeholder 17"/>
          <p:cNvSpPr>
            <a:spLocks noGrp="1"/>
          </p:cNvSpPr>
          <p:nvPr>
            <p:ph type="sldNum" sz="quarter" idx="14"/>
          </p:nvPr>
        </p:nvSpPr>
        <p:spPr bwMode="gray">
          <a:xfrm>
            <a:off x="11367146" y="6096000"/>
            <a:ext cx="596254" cy="365125"/>
          </a:xfrm>
          <a:prstGeom prst="rect">
            <a:avLst/>
          </a:prstGeom>
        </p:spPr>
        <p:txBody>
          <a:bodyPr anchor="ctr"/>
          <a:lstStyle>
            <a:lvl1pPr algn="ctr">
              <a:defRPr sz="1800" b="0" i="0">
                <a:solidFill>
                  <a:schemeClr val="tx1"/>
                </a:solidFill>
                <a:latin typeface="Roboto Medium" pitchFamily="2" charset="0"/>
                <a:ea typeface="Roboto Medium" pitchFamily="2" charset="0"/>
              </a:defRPr>
            </a:lvl1pPr>
          </a:lstStyle>
          <a:p>
            <a:fld id="{45A3C14A-F937-4231-B6F1-40B429FAFB2F}" type="slidenum">
              <a:rPr lang="en-NZ" smtClean="0"/>
              <a:pPr/>
              <a:t>‹#›</a:t>
            </a:fld>
            <a:endParaRPr lang="en-NZ" dirty="0"/>
          </a:p>
        </p:txBody>
      </p:sp>
    </p:spTree>
    <p:extLst>
      <p:ext uri="{BB962C8B-B14F-4D97-AF65-F5344CB8AC3E}">
        <p14:creationId xmlns:p14="http://schemas.microsoft.com/office/powerpoint/2010/main" val="4280280402"/>
      </p:ext>
    </p:extLst>
  </p:cSld>
  <p:clrMapOvr>
    <a:masterClrMapping/>
  </p:clrMapOvr>
</p:sldLayout>
</file>

<file path=ppt/slideLayouts/slideLayout21.xml><?xml version="1.0" encoding="utf-8"?>
<p:sldLayout xmlns:a="http://schemas.openxmlformats.org/drawingml/2006/main" xmlns:r="http://schemas.openxmlformats.org/officeDocument/2006/relationships" xmlns:p="http://schemas.openxmlformats.org/presentationml/2006/main" preserve="1" userDrawn="1">
  <p:cSld name="Copy and Image Black 3">
    <p:bg bwMode="gray">
      <p:bgPr>
        <a:solidFill>
          <a:schemeClr val="bg1"/>
        </a:solidFill>
        <a:effectLst/>
      </p:bgPr>
    </p:bg>
    <p:spTree>
      <p:nvGrpSpPr>
        <p:cNvPr id="1" name=""/>
        <p:cNvGrpSpPr/>
        <p:nvPr/>
      </p:nvGrpSpPr>
      <p:grpSpPr>
        <a:xfrm>
          <a:off x="0" y="0"/>
          <a:ext cx="0" cy="0"/>
          <a:chOff x="0" y="0"/>
          <a:chExt cx="0" cy="0"/>
        </a:xfrm>
      </p:grpSpPr>
      <p:pic>
        <p:nvPicPr>
          <p:cNvPr id="12" name="Picture 2" descr="C:\Users\Admin\Downloads\ilovepdf_pages-to-jpg (4)\RU_PPT Template-Grey Blank (1)_page-0003.jpg"/>
          <p:cNvPicPr>
            <a:picLocks noChangeAspect="1" noChangeArrowheads="1"/>
          </p:cNvPicPr>
          <p:nvPr userDrawn="1"/>
        </p:nvPicPr>
        <p:blipFill>
          <a:blip r:embed="rId2"/>
          <a:srcRect/>
          <a:stretch>
            <a:fillRect/>
          </a:stretch>
        </p:blipFill>
        <p:spPr bwMode="auto">
          <a:xfrm>
            <a:off x="0" y="0"/>
            <a:ext cx="12193190" cy="6858000"/>
          </a:xfrm>
          <a:prstGeom prst="rect">
            <a:avLst/>
          </a:prstGeom>
          <a:noFill/>
        </p:spPr>
      </p:pic>
      <p:sp>
        <p:nvSpPr>
          <p:cNvPr id="15" name="Picture Placeholder 2">
            <a:extLst>
              <a:ext uri="{FF2B5EF4-FFF2-40B4-BE49-F238E27FC236}">
                <a16:creationId xmlns:a16="http://schemas.microsoft.com/office/drawing/2014/main" id="{7876850F-ABC0-9B46-8AA9-D1E0133CA4CB}"/>
              </a:ext>
            </a:extLst>
          </p:cNvPr>
          <p:cNvSpPr>
            <a:spLocks noGrp="1"/>
          </p:cNvSpPr>
          <p:nvPr>
            <p:ph type="pic" sz="quarter" idx="15" hasCustomPrompt="1"/>
          </p:nvPr>
        </p:nvSpPr>
        <p:spPr>
          <a:xfrm>
            <a:off x="6097200" y="381000"/>
            <a:ext cx="5561400" cy="5715000"/>
          </a:xfrm>
          <a:prstGeom prst="rect">
            <a:avLst/>
          </a:prstGeom>
        </p:spPr>
        <p:txBody>
          <a:bodyPr/>
          <a:lstStyle>
            <a:lvl1pPr>
              <a:defRPr baseline="0">
                <a:solidFill>
                  <a:schemeClr val="bg1"/>
                </a:solidFill>
                <a:latin typeface="Roboto Medium" pitchFamily="2" charset="0"/>
                <a:ea typeface="Roboto Medium" pitchFamily="2" charset="0"/>
                <a:cs typeface="Roboto Medium" pitchFamily="2" charset="0"/>
              </a:defRPr>
            </a:lvl1pPr>
          </a:lstStyle>
          <a:p>
            <a:r>
              <a:rPr lang="en-US" dirty="0"/>
              <a:t>Click icon to add image</a:t>
            </a:r>
          </a:p>
        </p:txBody>
      </p:sp>
      <p:sp>
        <p:nvSpPr>
          <p:cNvPr id="13" name="Text Placeholder 2">
            <a:extLst>
              <a:ext uri="{FF2B5EF4-FFF2-40B4-BE49-F238E27FC236}">
                <a16:creationId xmlns:a16="http://schemas.microsoft.com/office/drawing/2014/main" id="{0F74C1A9-D7CD-AE4E-B3EE-BA5A1E80F2C7}"/>
              </a:ext>
            </a:extLst>
          </p:cNvPr>
          <p:cNvSpPr>
            <a:spLocks noGrp="1"/>
          </p:cNvSpPr>
          <p:nvPr>
            <p:ph type="body" sz="quarter" idx="17" hasCustomPrompt="1"/>
          </p:nvPr>
        </p:nvSpPr>
        <p:spPr>
          <a:xfrm>
            <a:off x="623392" y="1370483"/>
            <a:ext cx="5112568" cy="4722813"/>
          </a:xfrm>
          <a:prstGeom prst="rect">
            <a:avLst/>
          </a:prstGeom>
        </p:spPr>
        <p:txBody>
          <a:bodyPr/>
          <a:lstStyle>
            <a:lvl1pPr>
              <a:spcBef>
                <a:spcPts val="1000"/>
              </a:spcBef>
              <a:spcAft>
                <a:spcPts val="0"/>
              </a:spcAft>
              <a:defRPr sz="2400">
                <a:solidFill>
                  <a:schemeClr val="bg1"/>
                </a:solidFill>
                <a:latin typeface="Roboto Medium" pitchFamily="2" charset="0"/>
                <a:ea typeface="Roboto Medium" pitchFamily="2" charset="0"/>
                <a:cs typeface="Roboto Medium" pitchFamily="2" charset="0"/>
              </a:defRPr>
            </a:lvl1pPr>
            <a:lvl2pPr marL="458788" indent="-215900">
              <a:spcBef>
                <a:spcPts val="1000"/>
              </a:spcBef>
              <a:spcAft>
                <a:spcPts val="0"/>
              </a:spcAft>
              <a:tabLst/>
              <a:defRPr sz="2200">
                <a:solidFill>
                  <a:schemeClr val="bg1"/>
                </a:solidFill>
                <a:latin typeface="Roboto Medium" pitchFamily="2" charset="0"/>
                <a:ea typeface="Roboto Medium" pitchFamily="2" charset="0"/>
                <a:cs typeface="Roboto Medium" pitchFamily="2" charset="0"/>
              </a:defRPr>
            </a:lvl2pPr>
            <a:lvl3pPr marL="809625" indent="-215900">
              <a:spcBef>
                <a:spcPts val="1000"/>
              </a:spcBef>
              <a:spcAft>
                <a:spcPts val="0"/>
              </a:spcAft>
              <a:tabLst/>
              <a:defRPr sz="2000">
                <a:solidFill>
                  <a:schemeClr val="bg1"/>
                </a:solidFill>
                <a:latin typeface="Roboto Medium" pitchFamily="2" charset="0"/>
                <a:ea typeface="Roboto Medium" pitchFamily="2" charset="0"/>
                <a:cs typeface="Roboto Medium" pitchFamily="2" charset="0"/>
              </a:defRPr>
            </a:lvl3pPr>
            <a:lvl4pPr marL="1093788" indent="-203200">
              <a:spcBef>
                <a:spcPts val="0"/>
              </a:spcBef>
              <a:spcAft>
                <a:spcPts val="1400"/>
              </a:spcAft>
              <a:tabLst/>
              <a:defRPr sz="1800">
                <a:solidFill>
                  <a:schemeClr val="bg1"/>
                </a:solidFill>
              </a:defRPr>
            </a:lvl4pPr>
            <a:lvl5pPr marL="1323975" indent="-230188">
              <a:spcBef>
                <a:spcPts val="0"/>
              </a:spcBef>
              <a:spcAft>
                <a:spcPts val="1400"/>
              </a:spcAft>
              <a:tabLst/>
              <a:defRPr sz="1800">
                <a:solidFill>
                  <a:schemeClr val="bg1"/>
                </a:solidFill>
              </a:defRPr>
            </a:lvl5pPr>
          </a:lstStyle>
          <a:p>
            <a:pPr lvl="0"/>
            <a:r>
              <a:rPr lang="en-US" altLang="ja-JP" dirty="0"/>
              <a:t>Editable body copy</a:t>
            </a:r>
          </a:p>
          <a:p>
            <a:pPr lvl="1"/>
            <a:r>
              <a:rPr lang="en-US" altLang="ja-JP" dirty="0"/>
              <a:t>Editable body copy</a:t>
            </a:r>
          </a:p>
          <a:p>
            <a:pPr lvl="2"/>
            <a:r>
              <a:rPr lang="en-US" altLang="ja-JP" dirty="0"/>
              <a:t>Editable body copy</a:t>
            </a:r>
            <a:endParaRPr lang="en-US" dirty="0"/>
          </a:p>
        </p:txBody>
      </p:sp>
      <p:sp>
        <p:nvSpPr>
          <p:cNvPr id="9" name="Title 1">
            <a:extLst>
              <a:ext uri="{FF2B5EF4-FFF2-40B4-BE49-F238E27FC236}">
                <a16:creationId xmlns:a16="http://schemas.microsoft.com/office/drawing/2014/main" id="{E9E6745F-DAB6-B248-B478-7A0CF8A76EEA}"/>
              </a:ext>
            </a:extLst>
          </p:cNvPr>
          <p:cNvSpPr>
            <a:spLocks noGrp="1"/>
          </p:cNvSpPr>
          <p:nvPr>
            <p:ph type="title" hasCustomPrompt="1"/>
          </p:nvPr>
        </p:nvSpPr>
        <p:spPr bwMode="gray">
          <a:xfrm>
            <a:off x="595470" y="395786"/>
            <a:ext cx="5258776" cy="838202"/>
          </a:xfrm>
          <a:prstGeom prst="rect">
            <a:avLst/>
          </a:prstGeom>
        </p:spPr>
        <p:txBody>
          <a:bodyPr anchor="ctr" anchorCtr="0">
            <a:noAutofit/>
          </a:bodyPr>
          <a:lstStyle>
            <a:lvl1pPr>
              <a:defRPr sz="2800" cap="all" spc="0" baseline="0">
                <a:solidFill>
                  <a:schemeClr val="bg1"/>
                </a:solidFill>
                <a:latin typeface="Roboto Medium" pitchFamily="2" charset="0"/>
                <a:ea typeface="Roboto Medium" pitchFamily="2" charset="0"/>
                <a:cs typeface="Roboto Medium" pitchFamily="2" charset="0"/>
              </a:defRPr>
            </a:lvl1pPr>
          </a:lstStyle>
          <a:p>
            <a:r>
              <a:rPr lang="en-US" dirty="0"/>
              <a:t>Heading </a:t>
            </a:r>
            <a:br>
              <a:rPr lang="en-US" dirty="0"/>
            </a:br>
            <a:r>
              <a:rPr lang="en-US" dirty="0"/>
              <a:t>Copy Here</a:t>
            </a:r>
          </a:p>
        </p:txBody>
      </p:sp>
      <p:sp>
        <p:nvSpPr>
          <p:cNvPr id="14" name="Slide Number Placeholder 17"/>
          <p:cNvSpPr>
            <a:spLocks noGrp="1"/>
          </p:cNvSpPr>
          <p:nvPr>
            <p:ph type="sldNum" sz="quarter" idx="14"/>
          </p:nvPr>
        </p:nvSpPr>
        <p:spPr bwMode="gray">
          <a:xfrm>
            <a:off x="11367146" y="6096000"/>
            <a:ext cx="596254" cy="365125"/>
          </a:xfrm>
          <a:prstGeom prst="rect">
            <a:avLst/>
          </a:prstGeom>
        </p:spPr>
        <p:txBody>
          <a:bodyPr anchor="ctr"/>
          <a:lstStyle>
            <a:lvl1pPr algn="ctr">
              <a:defRPr sz="1800" b="0" i="0">
                <a:solidFill>
                  <a:schemeClr val="tx1"/>
                </a:solidFill>
                <a:latin typeface="Roboto Medium" pitchFamily="2" charset="0"/>
                <a:ea typeface="Roboto Medium" pitchFamily="2" charset="0"/>
              </a:defRPr>
            </a:lvl1pPr>
          </a:lstStyle>
          <a:p>
            <a:fld id="{45A3C14A-F937-4231-B6F1-40B429FAFB2F}" type="slidenum">
              <a:rPr lang="en-NZ" smtClean="0"/>
              <a:pPr/>
              <a:t>‹#›</a:t>
            </a:fld>
            <a:endParaRPr lang="en-NZ" dirty="0"/>
          </a:p>
        </p:txBody>
      </p:sp>
    </p:spTree>
    <p:extLst>
      <p:ext uri="{BB962C8B-B14F-4D97-AF65-F5344CB8AC3E}">
        <p14:creationId xmlns:p14="http://schemas.microsoft.com/office/powerpoint/2010/main" val="3237723858"/>
      </p:ext>
    </p:extLst>
  </p:cSld>
  <p:clrMapOvr>
    <a:masterClrMapping/>
  </p:clrMapOvr>
</p:sldLayout>
</file>

<file path=ppt/slideLayouts/slideLayout22.xml><?xml version="1.0" encoding="utf-8"?>
<p:sldLayout xmlns:a="http://schemas.openxmlformats.org/drawingml/2006/main" xmlns:r="http://schemas.openxmlformats.org/officeDocument/2006/relationships" xmlns:p="http://schemas.openxmlformats.org/presentationml/2006/main" preserve="1" userDrawn="1">
  <p:cSld name="Copy and Image White 5">
    <p:bg bwMode="gray">
      <p:bgPr>
        <a:solidFill>
          <a:schemeClr val="bg1"/>
        </a:solidFill>
        <a:effectLst/>
      </p:bgPr>
    </p:bg>
    <p:spTree>
      <p:nvGrpSpPr>
        <p:cNvPr id="1" name=""/>
        <p:cNvGrpSpPr/>
        <p:nvPr/>
      </p:nvGrpSpPr>
      <p:grpSpPr>
        <a:xfrm>
          <a:off x="0" y="0"/>
          <a:ext cx="0" cy="0"/>
          <a:chOff x="0" y="0"/>
          <a:chExt cx="0" cy="0"/>
        </a:xfrm>
      </p:grpSpPr>
      <p:pic>
        <p:nvPicPr>
          <p:cNvPr id="18" name="Picture 2" descr="C:\Users\Admin\Downloads\ilovepdf_pages-to-jpg (3)\RU_PPT Template-White Blank (1)_page-0003.jpg"/>
          <p:cNvPicPr>
            <a:picLocks noChangeAspect="1" noChangeArrowheads="1"/>
          </p:cNvPicPr>
          <p:nvPr userDrawn="1"/>
        </p:nvPicPr>
        <p:blipFill>
          <a:blip r:embed="rId2"/>
          <a:srcRect/>
          <a:stretch>
            <a:fillRect/>
          </a:stretch>
        </p:blipFill>
        <p:spPr bwMode="auto">
          <a:xfrm>
            <a:off x="0" y="0"/>
            <a:ext cx="12192000" cy="6857330"/>
          </a:xfrm>
          <a:prstGeom prst="rect">
            <a:avLst/>
          </a:prstGeom>
          <a:noFill/>
        </p:spPr>
      </p:pic>
      <p:sp>
        <p:nvSpPr>
          <p:cNvPr id="13" name="Picture Placeholder 2">
            <a:extLst>
              <a:ext uri="{FF2B5EF4-FFF2-40B4-BE49-F238E27FC236}">
                <a16:creationId xmlns:a16="http://schemas.microsoft.com/office/drawing/2014/main" id="{7876850F-ABC0-9B46-8AA9-D1E0133CA4CB}"/>
              </a:ext>
            </a:extLst>
          </p:cNvPr>
          <p:cNvSpPr>
            <a:spLocks noGrp="1"/>
          </p:cNvSpPr>
          <p:nvPr>
            <p:ph type="pic" sz="quarter" idx="15" hasCustomPrompt="1"/>
          </p:nvPr>
        </p:nvSpPr>
        <p:spPr>
          <a:xfrm>
            <a:off x="6097200" y="381000"/>
            <a:ext cx="5561400" cy="5715000"/>
          </a:xfrm>
          <a:prstGeom prst="rect">
            <a:avLst/>
          </a:prstGeom>
        </p:spPr>
        <p:txBody>
          <a:bodyPr/>
          <a:lstStyle>
            <a:lvl1pPr>
              <a:defRPr baseline="0">
                <a:solidFill>
                  <a:srgbClr val="A5A5A5"/>
                </a:solidFill>
                <a:latin typeface="Roboto Medium" pitchFamily="2" charset="0"/>
                <a:ea typeface="Roboto Medium" pitchFamily="2" charset="0"/>
                <a:cs typeface="Roboto Medium" pitchFamily="2" charset="0"/>
              </a:defRPr>
            </a:lvl1pPr>
          </a:lstStyle>
          <a:p>
            <a:r>
              <a:rPr lang="en-US" dirty="0"/>
              <a:t>Click icon to add image</a:t>
            </a:r>
          </a:p>
        </p:txBody>
      </p:sp>
      <p:sp>
        <p:nvSpPr>
          <p:cNvPr id="15" name="Text Placeholder 2">
            <a:extLst>
              <a:ext uri="{FF2B5EF4-FFF2-40B4-BE49-F238E27FC236}">
                <a16:creationId xmlns:a16="http://schemas.microsoft.com/office/drawing/2014/main" id="{0F74C1A9-D7CD-AE4E-B3EE-BA5A1E80F2C7}"/>
              </a:ext>
            </a:extLst>
          </p:cNvPr>
          <p:cNvSpPr>
            <a:spLocks noGrp="1"/>
          </p:cNvSpPr>
          <p:nvPr>
            <p:ph type="body" sz="quarter" idx="17" hasCustomPrompt="1"/>
          </p:nvPr>
        </p:nvSpPr>
        <p:spPr>
          <a:xfrm>
            <a:off x="623392" y="1370483"/>
            <a:ext cx="5112568" cy="4722813"/>
          </a:xfrm>
          <a:prstGeom prst="rect">
            <a:avLst/>
          </a:prstGeom>
        </p:spPr>
        <p:txBody>
          <a:bodyPr/>
          <a:lstStyle>
            <a:lvl1pPr>
              <a:spcBef>
                <a:spcPts val="1000"/>
              </a:spcBef>
              <a:spcAft>
                <a:spcPts val="0"/>
              </a:spcAft>
              <a:defRPr sz="2400">
                <a:solidFill>
                  <a:srgbClr val="A5A5A5"/>
                </a:solidFill>
                <a:latin typeface="Roboto Medium" pitchFamily="2" charset="0"/>
                <a:ea typeface="Roboto Medium" pitchFamily="2" charset="0"/>
                <a:cs typeface="Roboto Medium" pitchFamily="2" charset="0"/>
              </a:defRPr>
            </a:lvl1pPr>
            <a:lvl2pPr marL="458788" indent="-215900">
              <a:spcBef>
                <a:spcPts val="1000"/>
              </a:spcBef>
              <a:spcAft>
                <a:spcPts val="0"/>
              </a:spcAft>
              <a:tabLst/>
              <a:defRPr sz="2200">
                <a:solidFill>
                  <a:srgbClr val="A5A5A5"/>
                </a:solidFill>
                <a:latin typeface="Roboto Medium" pitchFamily="2" charset="0"/>
                <a:ea typeface="Roboto Medium" pitchFamily="2" charset="0"/>
                <a:cs typeface="Roboto Medium" pitchFamily="2" charset="0"/>
              </a:defRPr>
            </a:lvl2pPr>
            <a:lvl3pPr marL="809625" indent="-215900">
              <a:spcBef>
                <a:spcPts val="1000"/>
              </a:spcBef>
              <a:spcAft>
                <a:spcPts val="0"/>
              </a:spcAft>
              <a:tabLst/>
              <a:defRPr sz="2000">
                <a:solidFill>
                  <a:srgbClr val="A5A5A5"/>
                </a:solidFill>
                <a:latin typeface="Roboto Medium" pitchFamily="2" charset="0"/>
                <a:ea typeface="Roboto Medium" pitchFamily="2" charset="0"/>
                <a:cs typeface="Roboto Medium" pitchFamily="2" charset="0"/>
              </a:defRPr>
            </a:lvl3pPr>
            <a:lvl4pPr marL="1093788" indent="-203200">
              <a:spcBef>
                <a:spcPts val="0"/>
              </a:spcBef>
              <a:spcAft>
                <a:spcPts val="1400"/>
              </a:spcAft>
              <a:tabLst/>
              <a:defRPr sz="1800">
                <a:solidFill>
                  <a:schemeClr val="bg1"/>
                </a:solidFill>
              </a:defRPr>
            </a:lvl4pPr>
            <a:lvl5pPr marL="1323975" indent="-230188">
              <a:spcBef>
                <a:spcPts val="0"/>
              </a:spcBef>
              <a:spcAft>
                <a:spcPts val="1400"/>
              </a:spcAft>
              <a:tabLst/>
              <a:defRPr sz="1800">
                <a:solidFill>
                  <a:schemeClr val="bg1"/>
                </a:solidFill>
              </a:defRPr>
            </a:lvl5pPr>
          </a:lstStyle>
          <a:p>
            <a:pPr lvl="0"/>
            <a:r>
              <a:rPr lang="en-US" altLang="ja-JP" dirty="0"/>
              <a:t>Editable body copy</a:t>
            </a:r>
          </a:p>
          <a:p>
            <a:pPr lvl="1"/>
            <a:r>
              <a:rPr lang="en-US" altLang="ja-JP" dirty="0"/>
              <a:t>Editable body copy</a:t>
            </a:r>
          </a:p>
          <a:p>
            <a:pPr lvl="2"/>
            <a:r>
              <a:rPr lang="en-US" altLang="ja-JP" dirty="0"/>
              <a:t>Editable body copy</a:t>
            </a:r>
            <a:endParaRPr lang="en-US" dirty="0"/>
          </a:p>
        </p:txBody>
      </p:sp>
      <p:sp>
        <p:nvSpPr>
          <p:cNvPr id="16" name="Title 1">
            <a:extLst>
              <a:ext uri="{FF2B5EF4-FFF2-40B4-BE49-F238E27FC236}">
                <a16:creationId xmlns:a16="http://schemas.microsoft.com/office/drawing/2014/main" id="{E9E6745F-DAB6-B248-B478-7A0CF8A76EEA}"/>
              </a:ext>
            </a:extLst>
          </p:cNvPr>
          <p:cNvSpPr>
            <a:spLocks noGrp="1"/>
          </p:cNvSpPr>
          <p:nvPr>
            <p:ph type="title" hasCustomPrompt="1"/>
          </p:nvPr>
        </p:nvSpPr>
        <p:spPr bwMode="gray">
          <a:xfrm>
            <a:off x="595470" y="395786"/>
            <a:ext cx="5258776" cy="838202"/>
          </a:xfrm>
          <a:prstGeom prst="rect">
            <a:avLst/>
          </a:prstGeom>
        </p:spPr>
        <p:txBody>
          <a:bodyPr anchor="ctr" anchorCtr="0">
            <a:noAutofit/>
          </a:bodyPr>
          <a:lstStyle>
            <a:lvl1pPr>
              <a:defRPr sz="2800" cap="all" spc="0" baseline="0">
                <a:solidFill>
                  <a:srgbClr val="A5A5A5"/>
                </a:solidFill>
                <a:latin typeface="Roboto Medium" pitchFamily="2" charset="0"/>
                <a:ea typeface="Roboto Medium" pitchFamily="2" charset="0"/>
                <a:cs typeface="Roboto Medium" pitchFamily="2" charset="0"/>
              </a:defRPr>
            </a:lvl1pPr>
          </a:lstStyle>
          <a:p>
            <a:r>
              <a:rPr lang="en-US" dirty="0"/>
              <a:t>Heading </a:t>
            </a:r>
            <a:br>
              <a:rPr lang="en-US" dirty="0"/>
            </a:br>
            <a:r>
              <a:rPr lang="en-US" dirty="0"/>
              <a:t>Copy Here</a:t>
            </a:r>
          </a:p>
        </p:txBody>
      </p:sp>
      <p:sp>
        <p:nvSpPr>
          <p:cNvPr id="17" name="Slide Number Placeholder 17"/>
          <p:cNvSpPr>
            <a:spLocks noGrp="1"/>
          </p:cNvSpPr>
          <p:nvPr>
            <p:ph type="sldNum" sz="quarter" idx="14"/>
          </p:nvPr>
        </p:nvSpPr>
        <p:spPr bwMode="gray">
          <a:xfrm>
            <a:off x="11367146" y="6096000"/>
            <a:ext cx="596254" cy="365125"/>
          </a:xfrm>
          <a:prstGeom prst="rect">
            <a:avLst/>
          </a:prstGeom>
        </p:spPr>
        <p:txBody>
          <a:bodyPr anchor="ctr"/>
          <a:lstStyle>
            <a:lvl1pPr algn="ctr">
              <a:defRPr sz="1800" b="0" i="0">
                <a:solidFill>
                  <a:schemeClr val="tx1"/>
                </a:solidFill>
                <a:latin typeface="Roboto Medium" pitchFamily="2" charset="0"/>
                <a:ea typeface="Roboto Medium" pitchFamily="2" charset="0"/>
              </a:defRPr>
            </a:lvl1pPr>
          </a:lstStyle>
          <a:p>
            <a:fld id="{45A3C14A-F937-4231-B6F1-40B429FAFB2F}" type="slidenum">
              <a:rPr lang="en-NZ" smtClean="0"/>
              <a:pPr/>
              <a:t>‹#›</a:t>
            </a:fld>
            <a:endParaRPr lang="en-NZ" dirty="0"/>
          </a:p>
        </p:txBody>
      </p:sp>
    </p:spTree>
    <p:extLst>
      <p:ext uri="{BB962C8B-B14F-4D97-AF65-F5344CB8AC3E}">
        <p14:creationId xmlns:p14="http://schemas.microsoft.com/office/powerpoint/2010/main" val="3732570955"/>
      </p:ext>
    </p:extLst>
  </p:cSld>
  <p:clrMapOvr>
    <a:masterClrMapping/>
  </p:clrMapOvr>
</p:sldLayout>
</file>

<file path=ppt/slideLayouts/slideLayout23.xml><?xml version="1.0" encoding="utf-8"?>
<p:sldLayout xmlns:a="http://schemas.openxmlformats.org/drawingml/2006/main" xmlns:r="http://schemas.openxmlformats.org/officeDocument/2006/relationships" xmlns:p="http://schemas.openxmlformats.org/presentationml/2006/main" preserve="1" userDrawn="1">
  <p:cSld name="3 Images Slide Black">
    <p:bg bwMode="gray">
      <p:bgPr>
        <a:solidFill>
          <a:schemeClr val="bg1"/>
        </a:solidFill>
        <a:effectLst/>
      </p:bgPr>
    </p:bg>
    <p:spTree>
      <p:nvGrpSpPr>
        <p:cNvPr id="1" name=""/>
        <p:cNvGrpSpPr/>
        <p:nvPr/>
      </p:nvGrpSpPr>
      <p:grpSpPr>
        <a:xfrm>
          <a:off x="0" y="0"/>
          <a:ext cx="0" cy="0"/>
          <a:chOff x="0" y="0"/>
          <a:chExt cx="0" cy="0"/>
        </a:xfrm>
      </p:grpSpPr>
      <p:pic>
        <p:nvPicPr>
          <p:cNvPr id="20" name="Picture 2" descr="C:\Users\Admin\Downloads\ilovepdf_pages-to-jpg (3)\RU_PPT Template-White Blank (1)_page-0003.jpg"/>
          <p:cNvPicPr>
            <a:picLocks noChangeAspect="1" noChangeArrowheads="1"/>
          </p:cNvPicPr>
          <p:nvPr userDrawn="1"/>
        </p:nvPicPr>
        <p:blipFill>
          <a:blip r:embed="rId2"/>
          <a:srcRect/>
          <a:stretch>
            <a:fillRect/>
          </a:stretch>
        </p:blipFill>
        <p:spPr bwMode="auto">
          <a:xfrm>
            <a:off x="0" y="0"/>
            <a:ext cx="12192000" cy="6857330"/>
          </a:xfrm>
          <a:prstGeom prst="rect">
            <a:avLst/>
          </a:prstGeom>
          <a:noFill/>
        </p:spPr>
      </p:pic>
      <p:sp>
        <p:nvSpPr>
          <p:cNvPr id="22" name="Picture Placeholder 2">
            <a:extLst>
              <a:ext uri="{FF2B5EF4-FFF2-40B4-BE49-F238E27FC236}">
                <a16:creationId xmlns:a16="http://schemas.microsoft.com/office/drawing/2014/main" id="{F32C3D9F-FFE4-0F49-B358-349DAE3C537A}"/>
              </a:ext>
            </a:extLst>
          </p:cNvPr>
          <p:cNvSpPr>
            <a:spLocks noGrp="1"/>
          </p:cNvSpPr>
          <p:nvPr>
            <p:ph type="pic" sz="quarter" idx="22"/>
          </p:nvPr>
        </p:nvSpPr>
        <p:spPr>
          <a:xfrm>
            <a:off x="8480943" y="2527475"/>
            <a:ext cx="3291840" cy="2167128"/>
          </a:xfrm>
          <a:prstGeom prst="rect">
            <a:avLst/>
          </a:prstGeom>
        </p:spPr>
        <p:txBody>
          <a:bodyPr/>
          <a:lstStyle>
            <a:lvl1pPr>
              <a:defRPr sz="1400">
                <a:solidFill>
                  <a:srgbClr val="A5A5A5"/>
                </a:solidFill>
                <a:latin typeface="Roboto Medium" pitchFamily="2" charset="0"/>
                <a:ea typeface="Roboto Medium" pitchFamily="2" charset="0"/>
                <a:cs typeface="Roboto Medium" pitchFamily="2" charset="0"/>
              </a:defRPr>
            </a:lvl1pPr>
          </a:lstStyle>
          <a:p>
            <a:endParaRPr lang="en-US"/>
          </a:p>
        </p:txBody>
      </p:sp>
      <p:sp>
        <p:nvSpPr>
          <p:cNvPr id="27" name="Picture Placeholder 2">
            <a:extLst>
              <a:ext uri="{FF2B5EF4-FFF2-40B4-BE49-F238E27FC236}">
                <a16:creationId xmlns:a16="http://schemas.microsoft.com/office/drawing/2014/main" id="{6CCF012A-37B8-A846-96C9-F68F190709BA}"/>
              </a:ext>
            </a:extLst>
          </p:cNvPr>
          <p:cNvSpPr>
            <a:spLocks noGrp="1"/>
          </p:cNvSpPr>
          <p:nvPr>
            <p:ph type="pic" sz="quarter" idx="23"/>
          </p:nvPr>
        </p:nvSpPr>
        <p:spPr>
          <a:xfrm>
            <a:off x="4583894" y="2527476"/>
            <a:ext cx="3291840" cy="2167128"/>
          </a:xfrm>
          <a:prstGeom prst="rect">
            <a:avLst/>
          </a:prstGeom>
        </p:spPr>
        <p:txBody>
          <a:bodyPr/>
          <a:lstStyle>
            <a:lvl1pPr>
              <a:defRPr sz="1400">
                <a:solidFill>
                  <a:srgbClr val="A5A5A5"/>
                </a:solidFill>
                <a:latin typeface="Roboto Medium" pitchFamily="2" charset="0"/>
                <a:ea typeface="Roboto Medium" pitchFamily="2" charset="0"/>
                <a:cs typeface="Roboto Medium" pitchFamily="2" charset="0"/>
              </a:defRPr>
            </a:lvl1pPr>
          </a:lstStyle>
          <a:p>
            <a:endParaRPr lang="en-US"/>
          </a:p>
        </p:txBody>
      </p:sp>
      <p:sp>
        <p:nvSpPr>
          <p:cNvPr id="17" name="Title 1">
            <a:extLst>
              <a:ext uri="{FF2B5EF4-FFF2-40B4-BE49-F238E27FC236}">
                <a16:creationId xmlns:a16="http://schemas.microsoft.com/office/drawing/2014/main" id="{E9E6745F-DAB6-B248-B478-7A0CF8A76EEA}"/>
              </a:ext>
            </a:extLst>
          </p:cNvPr>
          <p:cNvSpPr>
            <a:spLocks noGrp="1"/>
          </p:cNvSpPr>
          <p:nvPr>
            <p:ph type="title" hasCustomPrompt="1"/>
          </p:nvPr>
        </p:nvSpPr>
        <p:spPr bwMode="gray">
          <a:xfrm>
            <a:off x="595470" y="395786"/>
            <a:ext cx="9965026" cy="838202"/>
          </a:xfrm>
          <a:prstGeom prst="rect">
            <a:avLst/>
          </a:prstGeom>
        </p:spPr>
        <p:txBody>
          <a:bodyPr anchor="ctr" anchorCtr="0">
            <a:noAutofit/>
          </a:bodyPr>
          <a:lstStyle>
            <a:lvl1pPr>
              <a:defRPr sz="2800" cap="all" spc="0" baseline="0">
                <a:solidFill>
                  <a:srgbClr val="A5A5A5"/>
                </a:solidFill>
                <a:latin typeface="Roboto Medium" pitchFamily="2" charset="0"/>
                <a:ea typeface="Roboto Medium" pitchFamily="2" charset="0"/>
                <a:cs typeface="Roboto Medium" pitchFamily="2" charset="0"/>
              </a:defRPr>
            </a:lvl1pPr>
          </a:lstStyle>
          <a:p>
            <a:r>
              <a:rPr lang="en-US" dirty="0"/>
              <a:t>Heading </a:t>
            </a:r>
            <a:br>
              <a:rPr lang="en-US" dirty="0"/>
            </a:br>
            <a:r>
              <a:rPr lang="en-US" dirty="0"/>
              <a:t>Copy Here</a:t>
            </a:r>
          </a:p>
        </p:txBody>
      </p:sp>
      <p:sp>
        <p:nvSpPr>
          <p:cNvPr id="23" name="Text Placeholder 2">
            <a:extLst>
              <a:ext uri="{FF2B5EF4-FFF2-40B4-BE49-F238E27FC236}">
                <a16:creationId xmlns:a16="http://schemas.microsoft.com/office/drawing/2014/main" id="{A171FABC-7F9F-3F4F-AF20-A434E98D4512}"/>
              </a:ext>
            </a:extLst>
          </p:cNvPr>
          <p:cNvSpPr>
            <a:spLocks noGrp="1"/>
          </p:cNvSpPr>
          <p:nvPr>
            <p:ph type="body" sz="quarter" idx="17" hasCustomPrompt="1"/>
          </p:nvPr>
        </p:nvSpPr>
        <p:spPr>
          <a:xfrm>
            <a:off x="623393" y="4869160"/>
            <a:ext cx="3442051" cy="1152128"/>
          </a:xfrm>
          <a:prstGeom prst="rect">
            <a:avLst/>
          </a:prstGeom>
        </p:spPr>
        <p:txBody>
          <a:bodyPr/>
          <a:lstStyle>
            <a:lvl1pPr marL="171450" indent="-171450">
              <a:spcBef>
                <a:spcPts val="300"/>
              </a:spcBef>
              <a:buFont typeface="Arial" panose="020B0604020202020204" pitchFamily="34" charset="0"/>
              <a:buChar char="•"/>
              <a:defRPr sz="2000">
                <a:solidFill>
                  <a:srgbClr val="A5A5A5"/>
                </a:solidFill>
                <a:latin typeface="Roboto Medium" pitchFamily="2" charset="0"/>
                <a:ea typeface="Roboto Medium" pitchFamily="2" charset="0"/>
                <a:cs typeface="Roboto Medium" pitchFamily="2" charset="0"/>
              </a:defRPr>
            </a:lvl1pPr>
            <a:lvl2pPr marL="400050" indent="-157163">
              <a:spcBef>
                <a:spcPts val="900"/>
              </a:spcBef>
              <a:tabLst/>
              <a:defRPr sz="1100">
                <a:solidFill>
                  <a:schemeClr val="bg1"/>
                </a:solidFill>
              </a:defRPr>
            </a:lvl2pPr>
            <a:lvl3pPr marL="744538" indent="-150813">
              <a:spcBef>
                <a:spcPts val="900"/>
              </a:spcBef>
              <a:tabLst/>
              <a:defRPr sz="900">
                <a:solidFill>
                  <a:schemeClr val="bg1"/>
                </a:solidFill>
              </a:defRPr>
            </a:lvl3pPr>
            <a:lvl4pPr marL="1093788" indent="-203200">
              <a:spcBef>
                <a:spcPts val="900"/>
              </a:spcBef>
              <a:tabLst/>
              <a:defRPr sz="1600">
                <a:solidFill>
                  <a:schemeClr val="bg1"/>
                </a:solidFill>
              </a:defRPr>
            </a:lvl4pPr>
            <a:lvl5pPr marL="1323975" indent="-230188">
              <a:spcBef>
                <a:spcPts val="900"/>
              </a:spcBef>
              <a:tabLst/>
              <a:defRPr sz="1600">
                <a:solidFill>
                  <a:schemeClr val="bg1"/>
                </a:solidFill>
              </a:defRPr>
            </a:lvl5pPr>
          </a:lstStyle>
          <a:p>
            <a:pPr lvl="0"/>
            <a:r>
              <a:rPr lang="en-US" altLang="ja-JP" dirty="0"/>
              <a:t>Editable body copy</a:t>
            </a:r>
          </a:p>
        </p:txBody>
      </p:sp>
      <p:sp>
        <p:nvSpPr>
          <p:cNvPr id="24" name="Text Placeholder 2">
            <a:extLst>
              <a:ext uri="{FF2B5EF4-FFF2-40B4-BE49-F238E27FC236}">
                <a16:creationId xmlns:a16="http://schemas.microsoft.com/office/drawing/2014/main" id="{7AFFC4A7-46EC-C047-99A4-7BC9BF12521C}"/>
              </a:ext>
            </a:extLst>
          </p:cNvPr>
          <p:cNvSpPr>
            <a:spLocks noGrp="1"/>
          </p:cNvSpPr>
          <p:nvPr>
            <p:ph type="body" sz="quarter" idx="18" hasCustomPrompt="1"/>
          </p:nvPr>
        </p:nvSpPr>
        <p:spPr>
          <a:xfrm>
            <a:off x="4480249" y="4869160"/>
            <a:ext cx="3442051" cy="1152128"/>
          </a:xfrm>
          <a:prstGeom prst="rect">
            <a:avLst/>
          </a:prstGeom>
        </p:spPr>
        <p:txBody>
          <a:bodyPr/>
          <a:lstStyle>
            <a:lvl1pPr marL="230188" marR="0" indent="-230188" algn="l" defTabSz="914400" rtl="0" eaLnBrk="1" fontAlgn="auto" latinLnBrk="0" hangingPunct="1">
              <a:lnSpc>
                <a:spcPct val="90000"/>
              </a:lnSpc>
              <a:spcBef>
                <a:spcPts val="300"/>
              </a:spcBef>
              <a:spcAft>
                <a:spcPts val="0"/>
              </a:spcAft>
              <a:buClrTx/>
              <a:buSzTx/>
              <a:buFont typeface="Arial" panose="020B0604020202020204" pitchFamily="34" charset="0"/>
              <a:buChar char="•"/>
              <a:tabLst/>
              <a:defRPr sz="2000">
                <a:solidFill>
                  <a:srgbClr val="A5A5A5"/>
                </a:solidFill>
                <a:latin typeface="Roboto Medium" pitchFamily="2" charset="0"/>
                <a:ea typeface="Roboto Medium" pitchFamily="2" charset="0"/>
                <a:cs typeface="Roboto Medium" pitchFamily="2" charset="0"/>
              </a:defRPr>
            </a:lvl1pPr>
            <a:lvl2pPr marL="574675" marR="0" indent="-117475" algn="l" defTabSz="914400" rtl="0" eaLnBrk="1" fontAlgn="auto" latinLnBrk="0" hangingPunct="1">
              <a:lnSpc>
                <a:spcPct val="90000"/>
              </a:lnSpc>
              <a:spcBef>
                <a:spcPts val="500"/>
              </a:spcBef>
              <a:spcAft>
                <a:spcPts val="0"/>
              </a:spcAft>
              <a:buClrTx/>
              <a:buSzTx/>
              <a:buFont typeface="Arial" panose="020B0604020202020204" pitchFamily="34" charset="0"/>
              <a:buChar char="•"/>
              <a:tabLst/>
              <a:defRPr sz="1100">
                <a:solidFill>
                  <a:schemeClr val="bg1"/>
                </a:solidFill>
              </a:defRPr>
            </a:lvl2pPr>
            <a:lvl3pPr marL="1031875" marR="0" indent="-117475" algn="l" defTabSz="914400" rtl="0" eaLnBrk="1" fontAlgn="auto" latinLnBrk="0" hangingPunct="1">
              <a:lnSpc>
                <a:spcPct val="90000"/>
              </a:lnSpc>
              <a:spcBef>
                <a:spcPts val="500"/>
              </a:spcBef>
              <a:spcAft>
                <a:spcPts val="0"/>
              </a:spcAft>
              <a:buClrTx/>
              <a:buSzTx/>
              <a:buFont typeface="Arial" panose="020B0604020202020204" pitchFamily="34" charset="0"/>
              <a:buChar char="•"/>
              <a:tabLst/>
              <a:defRPr sz="900">
                <a:solidFill>
                  <a:schemeClr val="bg1"/>
                </a:solidFill>
              </a:defRPr>
            </a:lvl3pPr>
            <a:lvl4pPr marL="1093788" indent="-203200">
              <a:spcBef>
                <a:spcPts val="900"/>
              </a:spcBef>
              <a:tabLst/>
              <a:defRPr sz="1600">
                <a:solidFill>
                  <a:schemeClr val="bg1"/>
                </a:solidFill>
              </a:defRPr>
            </a:lvl4pPr>
            <a:lvl5pPr marL="1323975" indent="-230188">
              <a:spcBef>
                <a:spcPts val="900"/>
              </a:spcBef>
              <a:tabLst/>
              <a:defRPr sz="1600">
                <a:solidFill>
                  <a:schemeClr val="bg1"/>
                </a:solidFill>
              </a:defRPr>
            </a:lvl5pPr>
          </a:lstStyle>
          <a:p>
            <a:pPr marL="228600" marR="0" lvl="0" indent="-228600" algn="l" defTabSz="914400" rtl="0" eaLnBrk="1" fontAlgn="auto" latinLnBrk="0" hangingPunct="1">
              <a:lnSpc>
                <a:spcPct val="90000"/>
              </a:lnSpc>
              <a:spcBef>
                <a:spcPts val="1000"/>
              </a:spcBef>
              <a:spcAft>
                <a:spcPts val="0"/>
              </a:spcAft>
              <a:buClrTx/>
              <a:buSzTx/>
              <a:buFont typeface="Arial" panose="020B0604020202020204" pitchFamily="34" charset="0"/>
              <a:buChar char="•"/>
              <a:tabLst/>
              <a:defRPr/>
            </a:pPr>
            <a:r>
              <a:rPr lang="en-US" altLang="ja-JP" dirty="0"/>
              <a:t>Editable body copy</a:t>
            </a:r>
          </a:p>
        </p:txBody>
      </p:sp>
      <p:sp>
        <p:nvSpPr>
          <p:cNvPr id="36" name="Text Placeholder 2">
            <a:extLst>
              <a:ext uri="{FF2B5EF4-FFF2-40B4-BE49-F238E27FC236}">
                <a16:creationId xmlns:a16="http://schemas.microsoft.com/office/drawing/2014/main" id="{4D8CAD92-AB23-784E-BBCE-25C0466B2FF0}"/>
              </a:ext>
            </a:extLst>
          </p:cNvPr>
          <p:cNvSpPr>
            <a:spLocks noGrp="1"/>
          </p:cNvSpPr>
          <p:nvPr>
            <p:ph type="body" sz="quarter" idx="19" hasCustomPrompt="1"/>
          </p:nvPr>
        </p:nvSpPr>
        <p:spPr>
          <a:xfrm>
            <a:off x="8445147" y="4869160"/>
            <a:ext cx="3442051" cy="1152128"/>
          </a:xfrm>
          <a:prstGeom prst="rect">
            <a:avLst/>
          </a:prstGeom>
        </p:spPr>
        <p:txBody>
          <a:bodyPr/>
          <a:lstStyle>
            <a:lvl1pPr marL="285750" indent="-285750">
              <a:spcBef>
                <a:spcPts val="300"/>
              </a:spcBef>
              <a:buFont typeface="Arial" panose="020B0604020202020204" pitchFamily="34" charset="0"/>
              <a:buChar char="•"/>
              <a:defRPr sz="2000">
                <a:solidFill>
                  <a:srgbClr val="A5A5A5"/>
                </a:solidFill>
                <a:latin typeface="Roboto Medium" pitchFamily="2" charset="0"/>
                <a:ea typeface="Roboto Medium" pitchFamily="2" charset="0"/>
                <a:cs typeface="Roboto Medium" pitchFamily="2" charset="0"/>
              </a:defRPr>
            </a:lvl1pPr>
            <a:lvl2pPr marL="400050" indent="-157163">
              <a:spcBef>
                <a:spcPts val="900"/>
              </a:spcBef>
              <a:tabLst/>
              <a:defRPr sz="1100">
                <a:solidFill>
                  <a:schemeClr val="bg1"/>
                </a:solidFill>
              </a:defRPr>
            </a:lvl2pPr>
            <a:lvl3pPr marL="744538" indent="-150813">
              <a:spcBef>
                <a:spcPts val="900"/>
              </a:spcBef>
              <a:tabLst/>
              <a:defRPr sz="900">
                <a:solidFill>
                  <a:schemeClr val="bg1"/>
                </a:solidFill>
              </a:defRPr>
            </a:lvl3pPr>
            <a:lvl4pPr marL="1093788" indent="-203200">
              <a:spcBef>
                <a:spcPts val="900"/>
              </a:spcBef>
              <a:tabLst/>
              <a:defRPr sz="1600">
                <a:solidFill>
                  <a:schemeClr val="bg1"/>
                </a:solidFill>
              </a:defRPr>
            </a:lvl4pPr>
            <a:lvl5pPr marL="1323975" indent="-230188">
              <a:spcBef>
                <a:spcPts val="900"/>
              </a:spcBef>
              <a:tabLst/>
              <a:defRPr sz="1600">
                <a:solidFill>
                  <a:schemeClr val="bg1"/>
                </a:solidFill>
              </a:defRPr>
            </a:lvl5pPr>
          </a:lstStyle>
          <a:p>
            <a:pPr lvl="0"/>
            <a:r>
              <a:rPr lang="en-US" altLang="ja-JP" dirty="0"/>
              <a:t>Editable body copy</a:t>
            </a:r>
          </a:p>
        </p:txBody>
      </p:sp>
      <p:sp>
        <p:nvSpPr>
          <p:cNvPr id="14" name="Text Placeholder 2">
            <a:extLst>
              <a:ext uri="{FF2B5EF4-FFF2-40B4-BE49-F238E27FC236}">
                <a16:creationId xmlns:a16="http://schemas.microsoft.com/office/drawing/2014/main" id="{9133F4C6-1C2F-3C4D-AEE3-3C40BF75EF44}"/>
              </a:ext>
            </a:extLst>
          </p:cNvPr>
          <p:cNvSpPr>
            <a:spLocks noGrp="1"/>
          </p:cNvSpPr>
          <p:nvPr>
            <p:ph type="body" sz="quarter" idx="20"/>
          </p:nvPr>
        </p:nvSpPr>
        <p:spPr>
          <a:xfrm>
            <a:off x="623392" y="1340768"/>
            <a:ext cx="11089232" cy="864096"/>
          </a:xfrm>
          <a:prstGeom prst="rect">
            <a:avLst/>
          </a:prstGeom>
        </p:spPr>
        <p:txBody>
          <a:bodyPr anchor="ctr"/>
          <a:lstStyle>
            <a:lvl1pPr marL="0" indent="0">
              <a:spcBef>
                <a:spcPts val="1000"/>
              </a:spcBef>
              <a:buNone/>
              <a:defRPr sz="2400">
                <a:solidFill>
                  <a:srgbClr val="A5A5A5"/>
                </a:solidFill>
                <a:latin typeface="Roboto Medium" pitchFamily="2" charset="0"/>
                <a:ea typeface="Roboto Medium" pitchFamily="2" charset="0"/>
                <a:cs typeface="Roboto Medium" pitchFamily="2" charset="0"/>
              </a:defRPr>
            </a:lvl1pPr>
            <a:lvl2pPr marL="458788" indent="-215900">
              <a:spcBef>
                <a:spcPts val="900"/>
              </a:spcBef>
              <a:tabLst/>
              <a:defRPr sz="2000">
                <a:solidFill>
                  <a:schemeClr val="bg1"/>
                </a:solidFill>
              </a:defRPr>
            </a:lvl2pPr>
            <a:lvl3pPr marL="809625" indent="-215900">
              <a:spcBef>
                <a:spcPts val="900"/>
              </a:spcBef>
              <a:tabLst/>
              <a:defRPr sz="1800">
                <a:solidFill>
                  <a:schemeClr val="bg1"/>
                </a:solidFill>
              </a:defRPr>
            </a:lvl3pPr>
            <a:lvl4pPr marL="1093788" indent="-203200">
              <a:spcBef>
                <a:spcPts val="900"/>
              </a:spcBef>
              <a:tabLst/>
              <a:defRPr sz="1600">
                <a:solidFill>
                  <a:schemeClr val="bg1"/>
                </a:solidFill>
              </a:defRPr>
            </a:lvl4pPr>
            <a:lvl5pPr marL="1323975" indent="-230188">
              <a:spcBef>
                <a:spcPts val="900"/>
              </a:spcBef>
              <a:tabLst/>
              <a:defRPr sz="1600">
                <a:solidFill>
                  <a:schemeClr val="bg1"/>
                </a:solidFill>
              </a:defRPr>
            </a:lvl5pPr>
          </a:lstStyle>
          <a:p>
            <a:pPr lvl="0"/>
            <a:r>
              <a:rPr lang="en-US" dirty="0"/>
              <a:t>Edit Master text styles</a:t>
            </a:r>
          </a:p>
        </p:txBody>
      </p:sp>
      <p:sp>
        <p:nvSpPr>
          <p:cNvPr id="28" name="Picture Placeholder 2">
            <a:extLst>
              <a:ext uri="{FF2B5EF4-FFF2-40B4-BE49-F238E27FC236}">
                <a16:creationId xmlns:a16="http://schemas.microsoft.com/office/drawing/2014/main" id="{2F415E3C-898F-174D-87AF-BF01FE9814F3}"/>
              </a:ext>
            </a:extLst>
          </p:cNvPr>
          <p:cNvSpPr>
            <a:spLocks noGrp="1"/>
          </p:cNvSpPr>
          <p:nvPr>
            <p:ph type="pic" sz="quarter" idx="24"/>
          </p:nvPr>
        </p:nvSpPr>
        <p:spPr>
          <a:xfrm>
            <a:off x="699247" y="2526937"/>
            <a:ext cx="3291840" cy="2167128"/>
          </a:xfrm>
          <a:prstGeom prst="rect">
            <a:avLst/>
          </a:prstGeom>
        </p:spPr>
        <p:txBody>
          <a:bodyPr/>
          <a:lstStyle>
            <a:lvl1pPr>
              <a:defRPr sz="1400">
                <a:solidFill>
                  <a:srgbClr val="A5A5A5"/>
                </a:solidFill>
                <a:latin typeface="Roboto Medium" pitchFamily="2" charset="0"/>
                <a:ea typeface="Roboto Medium" pitchFamily="2" charset="0"/>
                <a:cs typeface="Roboto Medium" pitchFamily="2" charset="0"/>
              </a:defRPr>
            </a:lvl1pPr>
          </a:lstStyle>
          <a:p>
            <a:endParaRPr lang="en-US" dirty="0"/>
          </a:p>
        </p:txBody>
      </p:sp>
      <p:sp>
        <p:nvSpPr>
          <p:cNvPr id="21" name="Slide Number Placeholder 17"/>
          <p:cNvSpPr>
            <a:spLocks noGrp="1"/>
          </p:cNvSpPr>
          <p:nvPr>
            <p:ph type="sldNum" sz="quarter" idx="14"/>
          </p:nvPr>
        </p:nvSpPr>
        <p:spPr bwMode="gray">
          <a:xfrm>
            <a:off x="11367146" y="6096000"/>
            <a:ext cx="596254" cy="365125"/>
          </a:xfrm>
          <a:prstGeom prst="rect">
            <a:avLst/>
          </a:prstGeom>
        </p:spPr>
        <p:txBody>
          <a:bodyPr anchor="ctr"/>
          <a:lstStyle>
            <a:lvl1pPr algn="ctr">
              <a:defRPr sz="1800" b="0" i="0">
                <a:solidFill>
                  <a:schemeClr val="tx1"/>
                </a:solidFill>
                <a:latin typeface="Roboto Medium" pitchFamily="2" charset="0"/>
                <a:ea typeface="Roboto Medium" pitchFamily="2" charset="0"/>
              </a:defRPr>
            </a:lvl1pPr>
          </a:lstStyle>
          <a:p>
            <a:fld id="{45A3C14A-F937-4231-B6F1-40B429FAFB2F}" type="slidenum">
              <a:rPr lang="en-NZ" smtClean="0"/>
              <a:pPr/>
              <a:t>‹#›</a:t>
            </a:fld>
            <a:endParaRPr lang="en-NZ" dirty="0"/>
          </a:p>
        </p:txBody>
      </p:sp>
    </p:spTree>
    <p:extLst>
      <p:ext uri="{BB962C8B-B14F-4D97-AF65-F5344CB8AC3E}">
        <p14:creationId xmlns:p14="http://schemas.microsoft.com/office/powerpoint/2010/main" val="3458304109"/>
      </p:ext>
    </p:extLst>
  </p:cSld>
  <p:clrMapOvr>
    <a:masterClrMapping/>
  </p:clrMapOvr>
</p:sldLayout>
</file>

<file path=ppt/slideLayouts/slideLayout24.xml><?xml version="1.0" encoding="utf-8"?>
<p:sldLayout xmlns:a="http://schemas.openxmlformats.org/drawingml/2006/main" xmlns:r="http://schemas.openxmlformats.org/officeDocument/2006/relationships" xmlns:p="http://schemas.openxmlformats.org/presentationml/2006/main" preserve="1" userDrawn="1">
  <p:cSld name="1_3 Images Slide Black">
    <p:bg bwMode="gray">
      <p:bgPr>
        <a:solidFill>
          <a:schemeClr val="bg1"/>
        </a:solidFill>
        <a:effectLst/>
      </p:bgPr>
    </p:bg>
    <p:spTree>
      <p:nvGrpSpPr>
        <p:cNvPr id="1" name=""/>
        <p:cNvGrpSpPr/>
        <p:nvPr/>
      </p:nvGrpSpPr>
      <p:grpSpPr>
        <a:xfrm>
          <a:off x="0" y="0"/>
          <a:ext cx="0" cy="0"/>
          <a:chOff x="0" y="0"/>
          <a:chExt cx="0" cy="0"/>
        </a:xfrm>
      </p:grpSpPr>
      <p:pic>
        <p:nvPicPr>
          <p:cNvPr id="12" name="Picture 2" descr="C:\Users\Admin\Downloads\ilovepdf_pages-to-jpg (4)\RU_PPT Template-Grey Blank (1)_page-0003.jpg"/>
          <p:cNvPicPr>
            <a:picLocks noChangeAspect="1" noChangeArrowheads="1"/>
          </p:cNvPicPr>
          <p:nvPr userDrawn="1"/>
        </p:nvPicPr>
        <p:blipFill>
          <a:blip r:embed="rId2"/>
          <a:srcRect/>
          <a:stretch>
            <a:fillRect/>
          </a:stretch>
        </p:blipFill>
        <p:spPr bwMode="auto">
          <a:xfrm>
            <a:off x="0" y="0"/>
            <a:ext cx="12193190" cy="6858000"/>
          </a:xfrm>
          <a:prstGeom prst="rect">
            <a:avLst/>
          </a:prstGeom>
          <a:noFill/>
        </p:spPr>
      </p:pic>
      <p:sp>
        <p:nvSpPr>
          <p:cNvPr id="22" name="Picture Placeholder 2">
            <a:extLst>
              <a:ext uri="{FF2B5EF4-FFF2-40B4-BE49-F238E27FC236}">
                <a16:creationId xmlns:a16="http://schemas.microsoft.com/office/drawing/2014/main" id="{F32C3D9F-FFE4-0F49-B358-349DAE3C537A}"/>
              </a:ext>
            </a:extLst>
          </p:cNvPr>
          <p:cNvSpPr>
            <a:spLocks noGrp="1"/>
          </p:cNvSpPr>
          <p:nvPr>
            <p:ph type="pic" sz="quarter" idx="22"/>
          </p:nvPr>
        </p:nvSpPr>
        <p:spPr>
          <a:xfrm>
            <a:off x="8480943" y="2527475"/>
            <a:ext cx="3291840" cy="2167128"/>
          </a:xfrm>
          <a:prstGeom prst="rect">
            <a:avLst/>
          </a:prstGeom>
        </p:spPr>
        <p:txBody>
          <a:bodyPr/>
          <a:lstStyle>
            <a:lvl1pPr>
              <a:defRPr sz="1400">
                <a:solidFill>
                  <a:schemeClr val="bg1"/>
                </a:solidFill>
                <a:latin typeface="Roboto Medium" pitchFamily="2" charset="0"/>
                <a:ea typeface="Roboto Medium" pitchFamily="2" charset="0"/>
                <a:cs typeface="Roboto Medium" pitchFamily="2" charset="0"/>
              </a:defRPr>
            </a:lvl1pPr>
          </a:lstStyle>
          <a:p>
            <a:endParaRPr lang="en-US"/>
          </a:p>
        </p:txBody>
      </p:sp>
      <p:sp>
        <p:nvSpPr>
          <p:cNvPr id="27" name="Picture Placeholder 2">
            <a:extLst>
              <a:ext uri="{FF2B5EF4-FFF2-40B4-BE49-F238E27FC236}">
                <a16:creationId xmlns:a16="http://schemas.microsoft.com/office/drawing/2014/main" id="{6CCF012A-37B8-A846-96C9-F68F190709BA}"/>
              </a:ext>
            </a:extLst>
          </p:cNvPr>
          <p:cNvSpPr>
            <a:spLocks noGrp="1"/>
          </p:cNvSpPr>
          <p:nvPr>
            <p:ph type="pic" sz="quarter" idx="23"/>
          </p:nvPr>
        </p:nvSpPr>
        <p:spPr>
          <a:xfrm>
            <a:off x="4583894" y="2527476"/>
            <a:ext cx="3291840" cy="2167128"/>
          </a:xfrm>
          <a:prstGeom prst="rect">
            <a:avLst/>
          </a:prstGeom>
        </p:spPr>
        <p:txBody>
          <a:bodyPr/>
          <a:lstStyle>
            <a:lvl1pPr>
              <a:defRPr sz="1400">
                <a:solidFill>
                  <a:schemeClr val="bg1"/>
                </a:solidFill>
                <a:latin typeface="Roboto Medium" pitchFamily="2" charset="0"/>
                <a:ea typeface="Roboto Medium" pitchFamily="2" charset="0"/>
                <a:cs typeface="Roboto Medium" pitchFamily="2" charset="0"/>
              </a:defRPr>
            </a:lvl1pPr>
          </a:lstStyle>
          <a:p>
            <a:endParaRPr lang="en-US"/>
          </a:p>
        </p:txBody>
      </p:sp>
      <p:sp>
        <p:nvSpPr>
          <p:cNvPr id="17" name="Title 1">
            <a:extLst>
              <a:ext uri="{FF2B5EF4-FFF2-40B4-BE49-F238E27FC236}">
                <a16:creationId xmlns:a16="http://schemas.microsoft.com/office/drawing/2014/main" id="{E9E6745F-DAB6-B248-B478-7A0CF8A76EEA}"/>
              </a:ext>
            </a:extLst>
          </p:cNvPr>
          <p:cNvSpPr>
            <a:spLocks noGrp="1"/>
          </p:cNvSpPr>
          <p:nvPr>
            <p:ph type="title" hasCustomPrompt="1"/>
          </p:nvPr>
        </p:nvSpPr>
        <p:spPr bwMode="gray">
          <a:xfrm>
            <a:off x="595470" y="395786"/>
            <a:ext cx="9965026" cy="838202"/>
          </a:xfrm>
          <a:prstGeom prst="rect">
            <a:avLst/>
          </a:prstGeom>
        </p:spPr>
        <p:txBody>
          <a:bodyPr anchor="ctr" anchorCtr="0">
            <a:noAutofit/>
          </a:bodyPr>
          <a:lstStyle>
            <a:lvl1pPr>
              <a:defRPr sz="2800" cap="all" spc="0" baseline="0">
                <a:solidFill>
                  <a:schemeClr val="bg1"/>
                </a:solidFill>
                <a:latin typeface="Roboto Medium" pitchFamily="2" charset="0"/>
                <a:ea typeface="Roboto Medium" pitchFamily="2" charset="0"/>
                <a:cs typeface="Roboto Medium" pitchFamily="2" charset="0"/>
              </a:defRPr>
            </a:lvl1pPr>
          </a:lstStyle>
          <a:p>
            <a:r>
              <a:rPr lang="en-US" dirty="0"/>
              <a:t>Heading </a:t>
            </a:r>
            <a:br>
              <a:rPr lang="en-US" dirty="0"/>
            </a:br>
            <a:r>
              <a:rPr lang="en-US" dirty="0"/>
              <a:t>Copy Here</a:t>
            </a:r>
          </a:p>
        </p:txBody>
      </p:sp>
      <p:sp>
        <p:nvSpPr>
          <p:cNvPr id="23" name="Text Placeholder 2">
            <a:extLst>
              <a:ext uri="{FF2B5EF4-FFF2-40B4-BE49-F238E27FC236}">
                <a16:creationId xmlns:a16="http://schemas.microsoft.com/office/drawing/2014/main" id="{A171FABC-7F9F-3F4F-AF20-A434E98D4512}"/>
              </a:ext>
            </a:extLst>
          </p:cNvPr>
          <p:cNvSpPr>
            <a:spLocks noGrp="1"/>
          </p:cNvSpPr>
          <p:nvPr>
            <p:ph type="body" sz="quarter" idx="17" hasCustomPrompt="1"/>
          </p:nvPr>
        </p:nvSpPr>
        <p:spPr>
          <a:xfrm>
            <a:off x="623393" y="4869160"/>
            <a:ext cx="3442051" cy="1152128"/>
          </a:xfrm>
          <a:prstGeom prst="rect">
            <a:avLst/>
          </a:prstGeom>
        </p:spPr>
        <p:txBody>
          <a:bodyPr/>
          <a:lstStyle>
            <a:lvl1pPr marL="171450" indent="-171450">
              <a:spcBef>
                <a:spcPts val="300"/>
              </a:spcBef>
              <a:buFont typeface="Arial" panose="020B0604020202020204" pitchFamily="34" charset="0"/>
              <a:buChar char="•"/>
              <a:defRPr sz="2000">
                <a:solidFill>
                  <a:schemeClr val="bg1"/>
                </a:solidFill>
                <a:latin typeface="Roboto Medium" pitchFamily="2" charset="0"/>
                <a:ea typeface="Roboto Medium" pitchFamily="2" charset="0"/>
                <a:cs typeface="Roboto Medium" pitchFamily="2" charset="0"/>
              </a:defRPr>
            </a:lvl1pPr>
            <a:lvl2pPr marL="400050" indent="-157163">
              <a:spcBef>
                <a:spcPts val="900"/>
              </a:spcBef>
              <a:tabLst/>
              <a:defRPr sz="1100">
                <a:solidFill>
                  <a:schemeClr val="bg1"/>
                </a:solidFill>
              </a:defRPr>
            </a:lvl2pPr>
            <a:lvl3pPr marL="744538" indent="-150813">
              <a:spcBef>
                <a:spcPts val="900"/>
              </a:spcBef>
              <a:tabLst/>
              <a:defRPr sz="900">
                <a:solidFill>
                  <a:schemeClr val="bg1"/>
                </a:solidFill>
              </a:defRPr>
            </a:lvl3pPr>
            <a:lvl4pPr marL="1093788" indent="-203200">
              <a:spcBef>
                <a:spcPts val="900"/>
              </a:spcBef>
              <a:tabLst/>
              <a:defRPr sz="1600">
                <a:solidFill>
                  <a:schemeClr val="bg1"/>
                </a:solidFill>
              </a:defRPr>
            </a:lvl4pPr>
            <a:lvl5pPr marL="1323975" indent="-230188">
              <a:spcBef>
                <a:spcPts val="900"/>
              </a:spcBef>
              <a:tabLst/>
              <a:defRPr sz="1600">
                <a:solidFill>
                  <a:schemeClr val="bg1"/>
                </a:solidFill>
              </a:defRPr>
            </a:lvl5pPr>
          </a:lstStyle>
          <a:p>
            <a:pPr lvl="0"/>
            <a:r>
              <a:rPr lang="en-US" altLang="ja-JP" dirty="0"/>
              <a:t>Editable body copy</a:t>
            </a:r>
          </a:p>
        </p:txBody>
      </p:sp>
      <p:sp>
        <p:nvSpPr>
          <p:cNvPr id="24" name="Text Placeholder 2">
            <a:extLst>
              <a:ext uri="{FF2B5EF4-FFF2-40B4-BE49-F238E27FC236}">
                <a16:creationId xmlns:a16="http://schemas.microsoft.com/office/drawing/2014/main" id="{7AFFC4A7-46EC-C047-99A4-7BC9BF12521C}"/>
              </a:ext>
            </a:extLst>
          </p:cNvPr>
          <p:cNvSpPr>
            <a:spLocks noGrp="1"/>
          </p:cNvSpPr>
          <p:nvPr>
            <p:ph type="body" sz="quarter" idx="18" hasCustomPrompt="1"/>
          </p:nvPr>
        </p:nvSpPr>
        <p:spPr>
          <a:xfrm>
            <a:off x="4480249" y="4869160"/>
            <a:ext cx="3442051" cy="1152128"/>
          </a:xfrm>
          <a:prstGeom prst="rect">
            <a:avLst/>
          </a:prstGeom>
        </p:spPr>
        <p:txBody>
          <a:bodyPr/>
          <a:lstStyle>
            <a:lvl1pPr marL="230188" marR="0" indent="-230188" algn="l" defTabSz="914400" rtl="0" eaLnBrk="1" fontAlgn="auto" latinLnBrk="0" hangingPunct="1">
              <a:lnSpc>
                <a:spcPct val="90000"/>
              </a:lnSpc>
              <a:spcBef>
                <a:spcPts val="300"/>
              </a:spcBef>
              <a:spcAft>
                <a:spcPts val="0"/>
              </a:spcAft>
              <a:buClrTx/>
              <a:buSzTx/>
              <a:buFont typeface="Arial" panose="020B0604020202020204" pitchFamily="34" charset="0"/>
              <a:buChar char="•"/>
              <a:tabLst/>
              <a:defRPr sz="2000">
                <a:solidFill>
                  <a:schemeClr val="bg1"/>
                </a:solidFill>
                <a:latin typeface="Roboto Medium" pitchFamily="2" charset="0"/>
                <a:ea typeface="Roboto Medium" pitchFamily="2" charset="0"/>
                <a:cs typeface="Roboto Medium" pitchFamily="2" charset="0"/>
              </a:defRPr>
            </a:lvl1pPr>
            <a:lvl2pPr marL="574675" marR="0" indent="-117475" algn="l" defTabSz="914400" rtl="0" eaLnBrk="1" fontAlgn="auto" latinLnBrk="0" hangingPunct="1">
              <a:lnSpc>
                <a:spcPct val="90000"/>
              </a:lnSpc>
              <a:spcBef>
                <a:spcPts val="500"/>
              </a:spcBef>
              <a:spcAft>
                <a:spcPts val="0"/>
              </a:spcAft>
              <a:buClrTx/>
              <a:buSzTx/>
              <a:buFont typeface="Arial" panose="020B0604020202020204" pitchFamily="34" charset="0"/>
              <a:buChar char="•"/>
              <a:tabLst/>
              <a:defRPr sz="1100">
                <a:solidFill>
                  <a:schemeClr val="bg1"/>
                </a:solidFill>
              </a:defRPr>
            </a:lvl2pPr>
            <a:lvl3pPr marL="1031875" marR="0" indent="-117475" algn="l" defTabSz="914400" rtl="0" eaLnBrk="1" fontAlgn="auto" latinLnBrk="0" hangingPunct="1">
              <a:lnSpc>
                <a:spcPct val="90000"/>
              </a:lnSpc>
              <a:spcBef>
                <a:spcPts val="500"/>
              </a:spcBef>
              <a:spcAft>
                <a:spcPts val="0"/>
              </a:spcAft>
              <a:buClrTx/>
              <a:buSzTx/>
              <a:buFont typeface="Arial" panose="020B0604020202020204" pitchFamily="34" charset="0"/>
              <a:buChar char="•"/>
              <a:tabLst/>
              <a:defRPr sz="900">
                <a:solidFill>
                  <a:schemeClr val="bg1"/>
                </a:solidFill>
              </a:defRPr>
            </a:lvl3pPr>
            <a:lvl4pPr marL="1093788" indent="-203200">
              <a:spcBef>
                <a:spcPts val="900"/>
              </a:spcBef>
              <a:tabLst/>
              <a:defRPr sz="1600">
                <a:solidFill>
                  <a:schemeClr val="bg1"/>
                </a:solidFill>
              </a:defRPr>
            </a:lvl4pPr>
            <a:lvl5pPr marL="1323975" indent="-230188">
              <a:spcBef>
                <a:spcPts val="900"/>
              </a:spcBef>
              <a:tabLst/>
              <a:defRPr sz="1600">
                <a:solidFill>
                  <a:schemeClr val="bg1"/>
                </a:solidFill>
              </a:defRPr>
            </a:lvl5pPr>
          </a:lstStyle>
          <a:p>
            <a:pPr marL="228600" marR="0" lvl="0" indent="-228600" algn="l" defTabSz="914400" rtl="0" eaLnBrk="1" fontAlgn="auto" latinLnBrk="0" hangingPunct="1">
              <a:lnSpc>
                <a:spcPct val="90000"/>
              </a:lnSpc>
              <a:spcBef>
                <a:spcPts val="1000"/>
              </a:spcBef>
              <a:spcAft>
                <a:spcPts val="0"/>
              </a:spcAft>
              <a:buClrTx/>
              <a:buSzTx/>
              <a:buFont typeface="Arial" panose="020B0604020202020204" pitchFamily="34" charset="0"/>
              <a:buChar char="•"/>
              <a:tabLst/>
              <a:defRPr/>
            </a:pPr>
            <a:r>
              <a:rPr lang="en-US" altLang="ja-JP" dirty="0"/>
              <a:t>Editable body copy</a:t>
            </a:r>
          </a:p>
        </p:txBody>
      </p:sp>
      <p:sp>
        <p:nvSpPr>
          <p:cNvPr id="36" name="Text Placeholder 2">
            <a:extLst>
              <a:ext uri="{FF2B5EF4-FFF2-40B4-BE49-F238E27FC236}">
                <a16:creationId xmlns:a16="http://schemas.microsoft.com/office/drawing/2014/main" id="{4D8CAD92-AB23-784E-BBCE-25C0466B2FF0}"/>
              </a:ext>
            </a:extLst>
          </p:cNvPr>
          <p:cNvSpPr>
            <a:spLocks noGrp="1"/>
          </p:cNvSpPr>
          <p:nvPr>
            <p:ph type="body" sz="quarter" idx="19" hasCustomPrompt="1"/>
          </p:nvPr>
        </p:nvSpPr>
        <p:spPr>
          <a:xfrm>
            <a:off x="8445147" y="4869160"/>
            <a:ext cx="3442051" cy="1152128"/>
          </a:xfrm>
          <a:prstGeom prst="rect">
            <a:avLst/>
          </a:prstGeom>
        </p:spPr>
        <p:txBody>
          <a:bodyPr/>
          <a:lstStyle>
            <a:lvl1pPr marL="285750" indent="-285750">
              <a:spcBef>
                <a:spcPts val="300"/>
              </a:spcBef>
              <a:buFont typeface="Arial" panose="020B0604020202020204" pitchFamily="34" charset="0"/>
              <a:buChar char="•"/>
              <a:defRPr sz="2000">
                <a:solidFill>
                  <a:schemeClr val="bg1"/>
                </a:solidFill>
                <a:latin typeface="Roboto Medium" pitchFamily="2" charset="0"/>
                <a:ea typeface="Roboto Medium" pitchFamily="2" charset="0"/>
                <a:cs typeface="Roboto Medium" pitchFamily="2" charset="0"/>
              </a:defRPr>
            </a:lvl1pPr>
            <a:lvl2pPr marL="400050" indent="-157163">
              <a:spcBef>
                <a:spcPts val="900"/>
              </a:spcBef>
              <a:tabLst/>
              <a:defRPr sz="1100">
                <a:solidFill>
                  <a:schemeClr val="bg1"/>
                </a:solidFill>
              </a:defRPr>
            </a:lvl2pPr>
            <a:lvl3pPr marL="744538" indent="-150813">
              <a:spcBef>
                <a:spcPts val="900"/>
              </a:spcBef>
              <a:tabLst/>
              <a:defRPr sz="900">
                <a:solidFill>
                  <a:schemeClr val="bg1"/>
                </a:solidFill>
              </a:defRPr>
            </a:lvl3pPr>
            <a:lvl4pPr marL="1093788" indent="-203200">
              <a:spcBef>
                <a:spcPts val="900"/>
              </a:spcBef>
              <a:tabLst/>
              <a:defRPr sz="1600">
                <a:solidFill>
                  <a:schemeClr val="bg1"/>
                </a:solidFill>
              </a:defRPr>
            </a:lvl4pPr>
            <a:lvl5pPr marL="1323975" indent="-230188">
              <a:spcBef>
                <a:spcPts val="900"/>
              </a:spcBef>
              <a:tabLst/>
              <a:defRPr sz="1600">
                <a:solidFill>
                  <a:schemeClr val="bg1"/>
                </a:solidFill>
              </a:defRPr>
            </a:lvl5pPr>
          </a:lstStyle>
          <a:p>
            <a:pPr lvl="0"/>
            <a:r>
              <a:rPr lang="en-US" altLang="ja-JP" dirty="0"/>
              <a:t>Editable body copy</a:t>
            </a:r>
          </a:p>
        </p:txBody>
      </p:sp>
      <p:sp>
        <p:nvSpPr>
          <p:cNvPr id="14" name="Text Placeholder 2">
            <a:extLst>
              <a:ext uri="{FF2B5EF4-FFF2-40B4-BE49-F238E27FC236}">
                <a16:creationId xmlns:a16="http://schemas.microsoft.com/office/drawing/2014/main" id="{9133F4C6-1C2F-3C4D-AEE3-3C40BF75EF44}"/>
              </a:ext>
            </a:extLst>
          </p:cNvPr>
          <p:cNvSpPr>
            <a:spLocks noGrp="1"/>
          </p:cNvSpPr>
          <p:nvPr>
            <p:ph type="body" sz="quarter" idx="20"/>
          </p:nvPr>
        </p:nvSpPr>
        <p:spPr>
          <a:xfrm>
            <a:off x="623392" y="1340768"/>
            <a:ext cx="11089232" cy="864096"/>
          </a:xfrm>
          <a:prstGeom prst="rect">
            <a:avLst/>
          </a:prstGeom>
        </p:spPr>
        <p:txBody>
          <a:bodyPr anchor="ctr"/>
          <a:lstStyle>
            <a:lvl1pPr marL="0" indent="0">
              <a:spcBef>
                <a:spcPts val="1000"/>
              </a:spcBef>
              <a:buNone/>
              <a:defRPr sz="2400">
                <a:solidFill>
                  <a:schemeClr val="bg1"/>
                </a:solidFill>
                <a:latin typeface="Roboto Medium" pitchFamily="2" charset="0"/>
                <a:ea typeface="Roboto Medium" pitchFamily="2" charset="0"/>
                <a:cs typeface="Roboto Medium" pitchFamily="2" charset="0"/>
              </a:defRPr>
            </a:lvl1pPr>
            <a:lvl2pPr marL="458788" indent="-215900">
              <a:spcBef>
                <a:spcPts val="900"/>
              </a:spcBef>
              <a:tabLst/>
              <a:defRPr sz="2000">
                <a:solidFill>
                  <a:schemeClr val="bg1"/>
                </a:solidFill>
              </a:defRPr>
            </a:lvl2pPr>
            <a:lvl3pPr marL="809625" indent="-215900">
              <a:spcBef>
                <a:spcPts val="900"/>
              </a:spcBef>
              <a:tabLst/>
              <a:defRPr sz="1800">
                <a:solidFill>
                  <a:schemeClr val="bg1"/>
                </a:solidFill>
              </a:defRPr>
            </a:lvl3pPr>
            <a:lvl4pPr marL="1093788" indent="-203200">
              <a:spcBef>
                <a:spcPts val="900"/>
              </a:spcBef>
              <a:tabLst/>
              <a:defRPr sz="1600">
                <a:solidFill>
                  <a:schemeClr val="bg1"/>
                </a:solidFill>
              </a:defRPr>
            </a:lvl4pPr>
            <a:lvl5pPr marL="1323975" indent="-230188">
              <a:spcBef>
                <a:spcPts val="900"/>
              </a:spcBef>
              <a:tabLst/>
              <a:defRPr sz="1600">
                <a:solidFill>
                  <a:schemeClr val="bg1"/>
                </a:solidFill>
              </a:defRPr>
            </a:lvl5pPr>
          </a:lstStyle>
          <a:p>
            <a:pPr lvl="0"/>
            <a:r>
              <a:rPr lang="en-US" dirty="0"/>
              <a:t>Edit Master text styles</a:t>
            </a:r>
          </a:p>
        </p:txBody>
      </p:sp>
      <p:sp>
        <p:nvSpPr>
          <p:cNvPr id="28" name="Picture Placeholder 2">
            <a:extLst>
              <a:ext uri="{FF2B5EF4-FFF2-40B4-BE49-F238E27FC236}">
                <a16:creationId xmlns:a16="http://schemas.microsoft.com/office/drawing/2014/main" id="{2F415E3C-898F-174D-87AF-BF01FE9814F3}"/>
              </a:ext>
            </a:extLst>
          </p:cNvPr>
          <p:cNvSpPr>
            <a:spLocks noGrp="1"/>
          </p:cNvSpPr>
          <p:nvPr>
            <p:ph type="pic" sz="quarter" idx="24"/>
          </p:nvPr>
        </p:nvSpPr>
        <p:spPr>
          <a:xfrm>
            <a:off x="699247" y="2526937"/>
            <a:ext cx="3291840" cy="2167128"/>
          </a:xfrm>
          <a:prstGeom prst="rect">
            <a:avLst/>
          </a:prstGeom>
        </p:spPr>
        <p:txBody>
          <a:bodyPr/>
          <a:lstStyle>
            <a:lvl1pPr>
              <a:defRPr sz="1400">
                <a:solidFill>
                  <a:schemeClr val="bg1"/>
                </a:solidFill>
                <a:latin typeface="Roboto Medium" pitchFamily="2" charset="0"/>
                <a:ea typeface="Roboto Medium" pitchFamily="2" charset="0"/>
                <a:cs typeface="Roboto Medium" pitchFamily="2" charset="0"/>
              </a:defRPr>
            </a:lvl1pPr>
          </a:lstStyle>
          <a:p>
            <a:endParaRPr lang="en-US" dirty="0"/>
          </a:p>
        </p:txBody>
      </p:sp>
      <p:sp>
        <p:nvSpPr>
          <p:cNvPr id="21" name="Slide Number Placeholder 17"/>
          <p:cNvSpPr>
            <a:spLocks noGrp="1"/>
          </p:cNvSpPr>
          <p:nvPr>
            <p:ph type="sldNum" sz="quarter" idx="14"/>
          </p:nvPr>
        </p:nvSpPr>
        <p:spPr bwMode="gray">
          <a:xfrm>
            <a:off x="11367146" y="6096000"/>
            <a:ext cx="596254" cy="365125"/>
          </a:xfrm>
          <a:prstGeom prst="rect">
            <a:avLst/>
          </a:prstGeom>
        </p:spPr>
        <p:txBody>
          <a:bodyPr anchor="ctr"/>
          <a:lstStyle>
            <a:lvl1pPr algn="ctr">
              <a:defRPr sz="1800" b="0" i="0">
                <a:solidFill>
                  <a:schemeClr val="tx1"/>
                </a:solidFill>
                <a:latin typeface="Roboto Medium" pitchFamily="2" charset="0"/>
                <a:ea typeface="Roboto Medium" pitchFamily="2" charset="0"/>
              </a:defRPr>
            </a:lvl1pPr>
          </a:lstStyle>
          <a:p>
            <a:fld id="{45A3C14A-F937-4231-B6F1-40B429FAFB2F}" type="slidenum">
              <a:rPr lang="en-NZ" smtClean="0"/>
              <a:pPr/>
              <a:t>‹#›</a:t>
            </a:fld>
            <a:endParaRPr lang="en-NZ" dirty="0"/>
          </a:p>
        </p:txBody>
      </p:sp>
    </p:spTree>
    <p:extLst>
      <p:ext uri="{BB962C8B-B14F-4D97-AF65-F5344CB8AC3E}">
        <p14:creationId xmlns:p14="http://schemas.microsoft.com/office/powerpoint/2010/main" val="3458304109"/>
      </p:ext>
    </p:extLst>
  </p:cSld>
  <p:clrMapOvr>
    <a:masterClrMapping/>
  </p:clrMapOvr>
</p:sldLayout>
</file>

<file path=ppt/slideLayouts/slideLayout25.xml><?xml version="1.0" encoding="utf-8"?>
<p:sldLayout xmlns:a="http://schemas.openxmlformats.org/drawingml/2006/main" xmlns:r="http://schemas.openxmlformats.org/officeDocument/2006/relationships" xmlns:p="http://schemas.openxmlformats.org/presentationml/2006/main" preserve="1" userDrawn="1">
  <p:cSld name="Table Slide Black">
    <p:bg bwMode="gray">
      <p:bgPr>
        <a:solidFill>
          <a:schemeClr val="bg1"/>
        </a:solidFill>
        <a:effectLst/>
      </p:bgPr>
    </p:bg>
    <p:spTree>
      <p:nvGrpSpPr>
        <p:cNvPr id="1" name=""/>
        <p:cNvGrpSpPr/>
        <p:nvPr/>
      </p:nvGrpSpPr>
      <p:grpSpPr>
        <a:xfrm>
          <a:off x="0" y="0"/>
          <a:ext cx="0" cy="0"/>
          <a:chOff x="0" y="0"/>
          <a:chExt cx="0" cy="0"/>
        </a:xfrm>
      </p:grpSpPr>
      <p:pic>
        <p:nvPicPr>
          <p:cNvPr id="8194" name="Picture 2" descr="C:\Users\Admin\Downloads\ilovepdf_pages-to-jpg (4)\RU_PPT Template-Grey Blank (1)_page-0005.jpg"/>
          <p:cNvPicPr>
            <a:picLocks noChangeAspect="1" noChangeArrowheads="1"/>
          </p:cNvPicPr>
          <p:nvPr userDrawn="1"/>
        </p:nvPicPr>
        <p:blipFill>
          <a:blip r:embed="rId2"/>
          <a:srcRect/>
          <a:stretch>
            <a:fillRect/>
          </a:stretch>
        </p:blipFill>
        <p:spPr bwMode="auto">
          <a:xfrm>
            <a:off x="-1" y="0"/>
            <a:ext cx="12193191" cy="6858000"/>
          </a:xfrm>
          <a:prstGeom prst="rect">
            <a:avLst/>
          </a:prstGeom>
          <a:noFill/>
        </p:spPr>
      </p:pic>
      <p:sp>
        <p:nvSpPr>
          <p:cNvPr id="11" name="Title 1">
            <a:extLst>
              <a:ext uri="{FF2B5EF4-FFF2-40B4-BE49-F238E27FC236}">
                <a16:creationId xmlns:a16="http://schemas.microsoft.com/office/drawing/2014/main" id="{E9E6745F-DAB6-B248-B478-7A0CF8A76EEA}"/>
              </a:ext>
            </a:extLst>
          </p:cNvPr>
          <p:cNvSpPr>
            <a:spLocks noGrp="1"/>
          </p:cNvSpPr>
          <p:nvPr>
            <p:ph type="title" hasCustomPrompt="1"/>
          </p:nvPr>
        </p:nvSpPr>
        <p:spPr bwMode="gray">
          <a:xfrm>
            <a:off x="595470" y="395786"/>
            <a:ext cx="5258776" cy="838202"/>
          </a:xfrm>
          <a:prstGeom prst="rect">
            <a:avLst/>
          </a:prstGeom>
        </p:spPr>
        <p:txBody>
          <a:bodyPr anchor="ctr" anchorCtr="0">
            <a:noAutofit/>
          </a:bodyPr>
          <a:lstStyle>
            <a:lvl1pPr>
              <a:defRPr sz="2800" cap="all" spc="0" baseline="0">
                <a:solidFill>
                  <a:schemeClr val="bg1"/>
                </a:solidFill>
                <a:latin typeface="Roboto Medium" pitchFamily="2" charset="0"/>
                <a:ea typeface="Roboto Medium" pitchFamily="2" charset="0"/>
                <a:cs typeface="Roboto Medium" pitchFamily="2" charset="0"/>
              </a:defRPr>
            </a:lvl1pPr>
          </a:lstStyle>
          <a:p>
            <a:r>
              <a:rPr lang="en-US" dirty="0"/>
              <a:t>Table page</a:t>
            </a:r>
          </a:p>
        </p:txBody>
      </p:sp>
      <p:sp>
        <p:nvSpPr>
          <p:cNvPr id="8" name="Text Placeholder 2">
            <a:extLst>
              <a:ext uri="{FF2B5EF4-FFF2-40B4-BE49-F238E27FC236}">
                <a16:creationId xmlns:a16="http://schemas.microsoft.com/office/drawing/2014/main" id="{A7260009-5486-ED4F-84C4-78FE71BC59FC}"/>
              </a:ext>
            </a:extLst>
          </p:cNvPr>
          <p:cNvSpPr>
            <a:spLocks noGrp="1"/>
          </p:cNvSpPr>
          <p:nvPr>
            <p:ph type="body" sz="quarter" idx="17"/>
          </p:nvPr>
        </p:nvSpPr>
        <p:spPr>
          <a:xfrm>
            <a:off x="623392" y="1340768"/>
            <a:ext cx="11089232" cy="864096"/>
          </a:xfrm>
          <a:prstGeom prst="rect">
            <a:avLst/>
          </a:prstGeom>
        </p:spPr>
        <p:txBody>
          <a:bodyPr anchor="ctr"/>
          <a:lstStyle>
            <a:lvl1pPr marL="0" indent="0">
              <a:spcBef>
                <a:spcPts val="1000"/>
              </a:spcBef>
              <a:buNone/>
              <a:defRPr sz="2400">
                <a:solidFill>
                  <a:schemeClr val="bg1"/>
                </a:solidFill>
                <a:latin typeface="Roboto Medium" pitchFamily="2" charset="0"/>
                <a:ea typeface="Roboto Medium" pitchFamily="2" charset="0"/>
                <a:cs typeface="Roboto Medium" pitchFamily="2" charset="0"/>
              </a:defRPr>
            </a:lvl1pPr>
            <a:lvl2pPr marL="458788" indent="-215900">
              <a:spcBef>
                <a:spcPts val="900"/>
              </a:spcBef>
              <a:tabLst/>
              <a:defRPr sz="2000">
                <a:solidFill>
                  <a:schemeClr val="bg1"/>
                </a:solidFill>
              </a:defRPr>
            </a:lvl2pPr>
            <a:lvl3pPr marL="809625" indent="-215900">
              <a:spcBef>
                <a:spcPts val="900"/>
              </a:spcBef>
              <a:tabLst/>
              <a:defRPr sz="1800">
                <a:solidFill>
                  <a:schemeClr val="bg1"/>
                </a:solidFill>
              </a:defRPr>
            </a:lvl3pPr>
            <a:lvl4pPr marL="1093788" indent="-203200">
              <a:spcBef>
                <a:spcPts val="900"/>
              </a:spcBef>
              <a:tabLst/>
              <a:defRPr sz="1600">
                <a:solidFill>
                  <a:schemeClr val="bg1"/>
                </a:solidFill>
              </a:defRPr>
            </a:lvl4pPr>
            <a:lvl5pPr marL="1323975" indent="-230188">
              <a:spcBef>
                <a:spcPts val="900"/>
              </a:spcBef>
              <a:tabLst/>
              <a:defRPr sz="1600">
                <a:solidFill>
                  <a:schemeClr val="bg1"/>
                </a:solidFill>
              </a:defRPr>
            </a:lvl5pPr>
          </a:lstStyle>
          <a:p>
            <a:pPr lvl="0"/>
            <a:r>
              <a:rPr lang="en-US" dirty="0"/>
              <a:t>Edit Master text styles</a:t>
            </a:r>
          </a:p>
        </p:txBody>
      </p:sp>
      <p:sp>
        <p:nvSpPr>
          <p:cNvPr id="4" name="Table Placeholder 3">
            <a:extLst>
              <a:ext uri="{FF2B5EF4-FFF2-40B4-BE49-F238E27FC236}">
                <a16:creationId xmlns:a16="http://schemas.microsoft.com/office/drawing/2014/main" id="{941EFC9F-B96F-204C-8057-F2337DEBA477}"/>
              </a:ext>
            </a:extLst>
          </p:cNvPr>
          <p:cNvSpPr>
            <a:spLocks noGrp="1"/>
          </p:cNvSpPr>
          <p:nvPr>
            <p:ph type="tbl" sz="quarter" idx="18" hasCustomPrompt="1"/>
          </p:nvPr>
        </p:nvSpPr>
        <p:spPr>
          <a:xfrm>
            <a:off x="623392" y="2204864"/>
            <a:ext cx="11089183" cy="3887961"/>
          </a:xfrm>
          <a:prstGeom prst="rect">
            <a:avLst/>
          </a:prstGeom>
        </p:spPr>
        <p:txBody>
          <a:bodyPr/>
          <a:lstStyle>
            <a:lvl1pPr>
              <a:defRPr>
                <a:solidFill>
                  <a:schemeClr val="bg1"/>
                </a:solidFill>
                <a:latin typeface="Roboto Medium" pitchFamily="2" charset="0"/>
                <a:ea typeface="Roboto Medium" pitchFamily="2" charset="0"/>
                <a:cs typeface="Roboto Medium" pitchFamily="2" charset="0"/>
              </a:defRPr>
            </a:lvl1pPr>
          </a:lstStyle>
          <a:p>
            <a:r>
              <a:rPr lang="en-US" dirty="0"/>
              <a:t>Click icon to add Table</a:t>
            </a:r>
          </a:p>
        </p:txBody>
      </p:sp>
      <p:sp>
        <p:nvSpPr>
          <p:cNvPr id="9" name="Slide Number Placeholder 17"/>
          <p:cNvSpPr>
            <a:spLocks noGrp="1"/>
          </p:cNvSpPr>
          <p:nvPr>
            <p:ph type="sldNum" sz="quarter" idx="14"/>
          </p:nvPr>
        </p:nvSpPr>
        <p:spPr bwMode="gray">
          <a:xfrm>
            <a:off x="11367146" y="6096000"/>
            <a:ext cx="596254" cy="365125"/>
          </a:xfrm>
          <a:prstGeom prst="rect">
            <a:avLst/>
          </a:prstGeom>
        </p:spPr>
        <p:txBody>
          <a:bodyPr anchor="ctr"/>
          <a:lstStyle>
            <a:lvl1pPr algn="ctr">
              <a:defRPr sz="1800" b="0" i="0">
                <a:solidFill>
                  <a:schemeClr val="tx1"/>
                </a:solidFill>
                <a:latin typeface="Roboto Medium" pitchFamily="2" charset="0"/>
                <a:ea typeface="Roboto Medium" pitchFamily="2" charset="0"/>
              </a:defRPr>
            </a:lvl1pPr>
          </a:lstStyle>
          <a:p>
            <a:fld id="{45A3C14A-F937-4231-B6F1-40B429FAFB2F}" type="slidenum">
              <a:rPr lang="en-NZ" smtClean="0"/>
              <a:pPr/>
              <a:t>‹#›</a:t>
            </a:fld>
            <a:endParaRPr lang="en-NZ" dirty="0"/>
          </a:p>
        </p:txBody>
      </p:sp>
    </p:spTree>
    <p:extLst>
      <p:ext uri="{BB962C8B-B14F-4D97-AF65-F5344CB8AC3E}">
        <p14:creationId xmlns:p14="http://schemas.microsoft.com/office/powerpoint/2010/main" val="3025470058"/>
      </p:ext>
    </p:extLst>
  </p:cSld>
  <p:clrMapOvr>
    <a:masterClrMapping/>
  </p:clrMapOvr>
</p:sldLayout>
</file>

<file path=ppt/slideLayouts/slideLayout26.xml><?xml version="1.0" encoding="utf-8"?>
<p:sldLayout xmlns:a="http://schemas.openxmlformats.org/drawingml/2006/main" xmlns:r="http://schemas.openxmlformats.org/officeDocument/2006/relationships" xmlns:p="http://schemas.openxmlformats.org/presentationml/2006/main" preserve="1" userDrawn="1">
  <p:cSld name="1_Table Slide Black">
    <p:bg bwMode="gray">
      <p:bgPr>
        <a:solidFill>
          <a:schemeClr val="bg1"/>
        </a:solidFill>
        <a:effectLst/>
      </p:bgPr>
    </p:bg>
    <p:spTree>
      <p:nvGrpSpPr>
        <p:cNvPr id="1" name=""/>
        <p:cNvGrpSpPr/>
        <p:nvPr/>
      </p:nvGrpSpPr>
      <p:grpSpPr>
        <a:xfrm>
          <a:off x="0" y="0"/>
          <a:ext cx="0" cy="0"/>
          <a:chOff x="0" y="0"/>
          <a:chExt cx="0" cy="0"/>
        </a:xfrm>
      </p:grpSpPr>
      <p:pic>
        <p:nvPicPr>
          <p:cNvPr id="9218" name="Picture 2" descr="C:\Users\Admin\Downloads\ilovepdf_pages-to-jpg (3)\RU_PPT Template-White Blank (1)_page-0005.jpg"/>
          <p:cNvPicPr>
            <a:picLocks noChangeAspect="1" noChangeArrowheads="1"/>
          </p:cNvPicPr>
          <p:nvPr userDrawn="1"/>
        </p:nvPicPr>
        <p:blipFill>
          <a:blip r:embed="rId2"/>
          <a:srcRect/>
          <a:stretch>
            <a:fillRect/>
          </a:stretch>
        </p:blipFill>
        <p:spPr bwMode="auto">
          <a:xfrm>
            <a:off x="0" y="0"/>
            <a:ext cx="12192000" cy="6857330"/>
          </a:xfrm>
          <a:prstGeom prst="rect">
            <a:avLst/>
          </a:prstGeom>
          <a:noFill/>
        </p:spPr>
      </p:pic>
      <p:sp>
        <p:nvSpPr>
          <p:cNvPr id="11" name="Title 1">
            <a:extLst>
              <a:ext uri="{FF2B5EF4-FFF2-40B4-BE49-F238E27FC236}">
                <a16:creationId xmlns:a16="http://schemas.microsoft.com/office/drawing/2014/main" id="{E9E6745F-DAB6-B248-B478-7A0CF8A76EEA}"/>
              </a:ext>
            </a:extLst>
          </p:cNvPr>
          <p:cNvSpPr>
            <a:spLocks noGrp="1"/>
          </p:cNvSpPr>
          <p:nvPr>
            <p:ph type="title" hasCustomPrompt="1"/>
          </p:nvPr>
        </p:nvSpPr>
        <p:spPr bwMode="gray">
          <a:xfrm>
            <a:off x="595470" y="395786"/>
            <a:ext cx="5258776" cy="838202"/>
          </a:xfrm>
          <a:prstGeom prst="rect">
            <a:avLst/>
          </a:prstGeom>
        </p:spPr>
        <p:txBody>
          <a:bodyPr anchor="ctr" anchorCtr="0">
            <a:noAutofit/>
          </a:bodyPr>
          <a:lstStyle>
            <a:lvl1pPr>
              <a:defRPr sz="2800" cap="all" spc="0" baseline="0">
                <a:solidFill>
                  <a:srgbClr val="A5A5A5"/>
                </a:solidFill>
                <a:latin typeface="Roboto Medium" pitchFamily="2" charset="0"/>
                <a:ea typeface="Roboto Medium" pitchFamily="2" charset="0"/>
                <a:cs typeface="Roboto Medium" pitchFamily="2" charset="0"/>
              </a:defRPr>
            </a:lvl1pPr>
          </a:lstStyle>
          <a:p>
            <a:r>
              <a:rPr lang="en-US" dirty="0"/>
              <a:t>Table page</a:t>
            </a:r>
          </a:p>
        </p:txBody>
      </p:sp>
      <p:sp>
        <p:nvSpPr>
          <p:cNvPr id="8" name="Text Placeholder 2">
            <a:extLst>
              <a:ext uri="{FF2B5EF4-FFF2-40B4-BE49-F238E27FC236}">
                <a16:creationId xmlns:a16="http://schemas.microsoft.com/office/drawing/2014/main" id="{A7260009-5486-ED4F-84C4-78FE71BC59FC}"/>
              </a:ext>
            </a:extLst>
          </p:cNvPr>
          <p:cNvSpPr>
            <a:spLocks noGrp="1"/>
          </p:cNvSpPr>
          <p:nvPr>
            <p:ph type="body" sz="quarter" idx="17"/>
          </p:nvPr>
        </p:nvSpPr>
        <p:spPr>
          <a:xfrm>
            <a:off x="623392" y="1340768"/>
            <a:ext cx="11089232" cy="864096"/>
          </a:xfrm>
          <a:prstGeom prst="rect">
            <a:avLst/>
          </a:prstGeom>
        </p:spPr>
        <p:txBody>
          <a:bodyPr anchor="ctr"/>
          <a:lstStyle>
            <a:lvl1pPr marL="0" indent="0">
              <a:spcBef>
                <a:spcPts val="1000"/>
              </a:spcBef>
              <a:buNone/>
              <a:defRPr sz="2400">
                <a:solidFill>
                  <a:srgbClr val="A5A5A5"/>
                </a:solidFill>
                <a:latin typeface="Roboto Medium" pitchFamily="2" charset="0"/>
                <a:ea typeface="Roboto Medium" pitchFamily="2" charset="0"/>
                <a:cs typeface="Roboto Medium" pitchFamily="2" charset="0"/>
              </a:defRPr>
            </a:lvl1pPr>
            <a:lvl2pPr marL="458788" indent="-215900">
              <a:spcBef>
                <a:spcPts val="900"/>
              </a:spcBef>
              <a:tabLst/>
              <a:defRPr sz="2000">
                <a:solidFill>
                  <a:schemeClr val="bg1"/>
                </a:solidFill>
              </a:defRPr>
            </a:lvl2pPr>
            <a:lvl3pPr marL="809625" indent="-215900">
              <a:spcBef>
                <a:spcPts val="900"/>
              </a:spcBef>
              <a:tabLst/>
              <a:defRPr sz="1800">
                <a:solidFill>
                  <a:schemeClr val="bg1"/>
                </a:solidFill>
              </a:defRPr>
            </a:lvl3pPr>
            <a:lvl4pPr marL="1093788" indent="-203200">
              <a:spcBef>
                <a:spcPts val="900"/>
              </a:spcBef>
              <a:tabLst/>
              <a:defRPr sz="1600">
                <a:solidFill>
                  <a:schemeClr val="bg1"/>
                </a:solidFill>
              </a:defRPr>
            </a:lvl4pPr>
            <a:lvl5pPr marL="1323975" indent="-230188">
              <a:spcBef>
                <a:spcPts val="900"/>
              </a:spcBef>
              <a:tabLst/>
              <a:defRPr sz="1600">
                <a:solidFill>
                  <a:schemeClr val="bg1"/>
                </a:solidFill>
              </a:defRPr>
            </a:lvl5pPr>
          </a:lstStyle>
          <a:p>
            <a:pPr lvl="0"/>
            <a:r>
              <a:rPr lang="en-US" dirty="0"/>
              <a:t>Edit Master text styles</a:t>
            </a:r>
          </a:p>
        </p:txBody>
      </p:sp>
      <p:sp>
        <p:nvSpPr>
          <p:cNvPr id="4" name="Table Placeholder 3">
            <a:extLst>
              <a:ext uri="{FF2B5EF4-FFF2-40B4-BE49-F238E27FC236}">
                <a16:creationId xmlns:a16="http://schemas.microsoft.com/office/drawing/2014/main" id="{941EFC9F-B96F-204C-8057-F2337DEBA477}"/>
              </a:ext>
            </a:extLst>
          </p:cNvPr>
          <p:cNvSpPr>
            <a:spLocks noGrp="1"/>
          </p:cNvSpPr>
          <p:nvPr>
            <p:ph type="tbl" sz="quarter" idx="18" hasCustomPrompt="1"/>
          </p:nvPr>
        </p:nvSpPr>
        <p:spPr>
          <a:xfrm>
            <a:off x="623392" y="2204864"/>
            <a:ext cx="11089183" cy="3887961"/>
          </a:xfrm>
          <a:prstGeom prst="rect">
            <a:avLst/>
          </a:prstGeom>
        </p:spPr>
        <p:txBody>
          <a:bodyPr/>
          <a:lstStyle>
            <a:lvl1pPr>
              <a:defRPr>
                <a:solidFill>
                  <a:srgbClr val="A5A5A5"/>
                </a:solidFill>
                <a:latin typeface="Roboto Medium" pitchFamily="2" charset="0"/>
                <a:ea typeface="Roboto Medium" pitchFamily="2" charset="0"/>
                <a:cs typeface="Roboto Medium" pitchFamily="2" charset="0"/>
              </a:defRPr>
            </a:lvl1pPr>
          </a:lstStyle>
          <a:p>
            <a:r>
              <a:rPr lang="en-US" dirty="0"/>
              <a:t>Click icon to add Table</a:t>
            </a:r>
          </a:p>
        </p:txBody>
      </p:sp>
      <p:sp>
        <p:nvSpPr>
          <p:cNvPr id="9" name="Slide Number Placeholder 17"/>
          <p:cNvSpPr>
            <a:spLocks noGrp="1"/>
          </p:cNvSpPr>
          <p:nvPr>
            <p:ph type="sldNum" sz="quarter" idx="14"/>
          </p:nvPr>
        </p:nvSpPr>
        <p:spPr bwMode="gray">
          <a:xfrm>
            <a:off x="11367146" y="6096000"/>
            <a:ext cx="596254" cy="365125"/>
          </a:xfrm>
          <a:prstGeom prst="rect">
            <a:avLst/>
          </a:prstGeom>
        </p:spPr>
        <p:txBody>
          <a:bodyPr anchor="ctr"/>
          <a:lstStyle>
            <a:lvl1pPr algn="ctr">
              <a:defRPr sz="1800" b="0" i="0">
                <a:solidFill>
                  <a:schemeClr val="tx1"/>
                </a:solidFill>
                <a:latin typeface="Roboto Medium" pitchFamily="2" charset="0"/>
                <a:ea typeface="Roboto Medium" pitchFamily="2" charset="0"/>
              </a:defRPr>
            </a:lvl1pPr>
          </a:lstStyle>
          <a:p>
            <a:fld id="{45A3C14A-F937-4231-B6F1-40B429FAFB2F}" type="slidenum">
              <a:rPr lang="en-NZ" smtClean="0"/>
              <a:pPr/>
              <a:t>‹#›</a:t>
            </a:fld>
            <a:endParaRPr lang="en-NZ" dirty="0"/>
          </a:p>
        </p:txBody>
      </p:sp>
    </p:spTree>
    <p:extLst>
      <p:ext uri="{BB962C8B-B14F-4D97-AF65-F5344CB8AC3E}">
        <p14:creationId xmlns:p14="http://schemas.microsoft.com/office/powerpoint/2010/main" val="3025470058"/>
      </p:ext>
    </p:extLst>
  </p:cSld>
  <p:clrMapOvr>
    <a:masterClrMapping/>
  </p:clrMapOvr>
</p:sldLayout>
</file>

<file path=ppt/slideLayouts/slideLayout27.xml><?xml version="1.0" encoding="utf-8"?>
<p:sldLayout xmlns:a="http://schemas.openxmlformats.org/drawingml/2006/main" xmlns:r="http://schemas.openxmlformats.org/officeDocument/2006/relationships" xmlns:p="http://schemas.openxmlformats.org/presentationml/2006/main" preserve="1" userDrawn="1">
  <p:cSld name="Graph Slide Black">
    <p:bg bwMode="gray">
      <p:bgPr>
        <a:solidFill>
          <a:schemeClr val="bg1"/>
        </a:solidFill>
        <a:effectLst/>
      </p:bgPr>
    </p:bg>
    <p:spTree>
      <p:nvGrpSpPr>
        <p:cNvPr id="1" name=""/>
        <p:cNvGrpSpPr/>
        <p:nvPr/>
      </p:nvGrpSpPr>
      <p:grpSpPr>
        <a:xfrm>
          <a:off x="0" y="0"/>
          <a:ext cx="0" cy="0"/>
          <a:chOff x="0" y="0"/>
          <a:chExt cx="0" cy="0"/>
        </a:xfrm>
      </p:grpSpPr>
      <p:pic>
        <p:nvPicPr>
          <p:cNvPr id="12290" name="Picture 2" descr="C:\Users\Admin\Downloads\ilovepdf_pages-to-jpg (4)\RU_PPT Template-Grey Blank (1)_page-0005.jpg"/>
          <p:cNvPicPr>
            <a:picLocks noChangeAspect="1" noChangeArrowheads="1"/>
          </p:cNvPicPr>
          <p:nvPr userDrawn="1"/>
        </p:nvPicPr>
        <p:blipFill>
          <a:blip r:embed="rId2"/>
          <a:srcRect/>
          <a:stretch>
            <a:fillRect/>
          </a:stretch>
        </p:blipFill>
        <p:spPr bwMode="auto">
          <a:xfrm>
            <a:off x="0" y="0"/>
            <a:ext cx="12193191" cy="6858000"/>
          </a:xfrm>
          <a:prstGeom prst="rect">
            <a:avLst/>
          </a:prstGeom>
          <a:noFill/>
        </p:spPr>
      </p:pic>
      <p:sp>
        <p:nvSpPr>
          <p:cNvPr id="5" name="Chart Placeholder 4">
            <a:extLst>
              <a:ext uri="{FF2B5EF4-FFF2-40B4-BE49-F238E27FC236}">
                <a16:creationId xmlns:a16="http://schemas.microsoft.com/office/drawing/2014/main" id="{C95A2DA0-563A-2A49-9D5E-DC5BC2FF0F6D}"/>
              </a:ext>
            </a:extLst>
          </p:cNvPr>
          <p:cNvSpPr>
            <a:spLocks noGrp="1"/>
          </p:cNvSpPr>
          <p:nvPr>
            <p:ph type="chart" sz="quarter" idx="19" hasCustomPrompt="1"/>
          </p:nvPr>
        </p:nvSpPr>
        <p:spPr>
          <a:xfrm>
            <a:off x="407368" y="2276872"/>
            <a:ext cx="11325348" cy="3751914"/>
          </a:xfrm>
          <a:prstGeom prst="rect">
            <a:avLst/>
          </a:prstGeom>
          <a:ln>
            <a:noFill/>
          </a:ln>
        </p:spPr>
        <p:txBody>
          <a:bodyPr/>
          <a:lstStyle>
            <a:lvl1pPr>
              <a:defRPr>
                <a:solidFill>
                  <a:schemeClr val="bg1"/>
                </a:solidFill>
                <a:latin typeface="Roboto Medium" pitchFamily="2" charset="0"/>
                <a:ea typeface="Roboto Medium" pitchFamily="2" charset="0"/>
                <a:cs typeface="Roboto Medium" pitchFamily="2" charset="0"/>
              </a:defRPr>
            </a:lvl1pPr>
          </a:lstStyle>
          <a:p>
            <a:r>
              <a:rPr lang="en-US" dirty="0"/>
              <a:t>Click icon to add bar Graph</a:t>
            </a:r>
          </a:p>
        </p:txBody>
      </p:sp>
      <p:sp>
        <p:nvSpPr>
          <p:cNvPr id="3" name="Text Placeholder 2">
            <a:extLst>
              <a:ext uri="{FF2B5EF4-FFF2-40B4-BE49-F238E27FC236}">
                <a16:creationId xmlns:a16="http://schemas.microsoft.com/office/drawing/2014/main" id="{A57C66B2-DB5E-EF42-BC3E-8844BAB7CAB2}"/>
              </a:ext>
            </a:extLst>
          </p:cNvPr>
          <p:cNvSpPr>
            <a:spLocks noGrp="1"/>
          </p:cNvSpPr>
          <p:nvPr>
            <p:ph type="body" sz="quarter" idx="17"/>
          </p:nvPr>
        </p:nvSpPr>
        <p:spPr>
          <a:xfrm>
            <a:off x="623392" y="1340768"/>
            <a:ext cx="11089232" cy="864096"/>
          </a:xfrm>
          <a:prstGeom prst="rect">
            <a:avLst/>
          </a:prstGeom>
        </p:spPr>
        <p:txBody>
          <a:bodyPr anchor="ctr"/>
          <a:lstStyle>
            <a:lvl1pPr marL="0" indent="0">
              <a:spcBef>
                <a:spcPts val="1000"/>
              </a:spcBef>
              <a:buNone/>
              <a:defRPr sz="2400">
                <a:solidFill>
                  <a:schemeClr val="bg1"/>
                </a:solidFill>
                <a:latin typeface="Roboto Medium" pitchFamily="2" charset="0"/>
                <a:ea typeface="Roboto Medium" pitchFamily="2" charset="0"/>
                <a:cs typeface="Roboto Medium" pitchFamily="2" charset="0"/>
              </a:defRPr>
            </a:lvl1pPr>
            <a:lvl2pPr marL="458788" indent="-215900">
              <a:spcBef>
                <a:spcPts val="900"/>
              </a:spcBef>
              <a:tabLst/>
              <a:defRPr sz="2000">
                <a:solidFill>
                  <a:schemeClr val="bg1"/>
                </a:solidFill>
              </a:defRPr>
            </a:lvl2pPr>
            <a:lvl3pPr marL="809625" indent="-215900">
              <a:spcBef>
                <a:spcPts val="900"/>
              </a:spcBef>
              <a:tabLst/>
              <a:defRPr sz="1800">
                <a:solidFill>
                  <a:schemeClr val="bg1"/>
                </a:solidFill>
              </a:defRPr>
            </a:lvl3pPr>
            <a:lvl4pPr marL="1093788" indent="-203200">
              <a:spcBef>
                <a:spcPts val="900"/>
              </a:spcBef>
              <a:tabLst/>
              <a:defRPr sz="1600">
                <a:solidFill>
                  <a:schemeClr val="bg1"/>
                </a:solidFill>
              </a:defRPr>
            </a:lvl4pPr>
            <a:lvl5pPr marL="1323975" indent="-230188">
              <a:spcBef>
                <a:spcPts val="900"/>
              </a:spcBef>
              <a:tabLst/>
              <a:defRPr sz="1600">
                <a:solidFill>
                  <a:schemeClr val="bg1"/>
                </a:solidFill>
              </a:defRPr>
            </a:lvl5pPr>
          </a:lstStyle>
          <a:p>
            <a:pPr lvl="0"/>
            <a:r>
              <a:rPr lang="en-US" dirty="0"/>
              <a:t>Edit Master text styles</a:t>
            </a:r>
          </a:p>
        </p:txBody>
      </p:sp>
      <p:sp>
        <p:nvSpPr>
          <p:cNvPr id="11" name="Title 1">
            <a:extLst>
              <a:ext uri="{FF2B5EF4-FFF2-40B4-BE49-F238E27FC236}">
                <a16:creationId xmlns:a16="http://schemas.microsoft.com/office/drawing/2014/main" id="{E9E6745F-DAB6-B248-B478-7A0CF8A76EEA}"/>
              </a:ext>
            </a:extLst>
          </p:cNvPr>
          <p:cNvSpPr>
            <a:spLocks noGrp="1"/>
          </p:cNvSpPr>
          <p:nvPr>
            <p:ph type="title" hasCustomPrompt="1"/>
          </p:nvPr>
        </p:nvSpPr>
        <p:spPr bwMode="gray">
          <a:xfrm>
            <a:off x="595470" y="395786"/>
            <a:ext cx="5258776" cy="838202"/>
          </a:xfrm>
          <a:prstGeom prst="rect">
            <a:avLst/>
          </a:prstGeom>
        </p:spPr>
        <p:txBody>
          <a:bodyPr anchor="ctr" anchorCtr="0">
            <a:noAutofit/>
          </a:bodyPr>
          <a:lstStyle>
            <a:lvl1pPr>
              <a:defRPr sz="2800" cap="all" spc="0" baseline="0">
                <a:solidFill>
                  <a:schemeClr val="bg1"/>
                </a:solidFill>
                <a:latin typeface="Roboto Medium" pitchFamily="2" charset="0"/>
                <a:ea typeface="Roboto Medium" pitchFamily="2" charset="0"/>
                <a:cs typeface="Roboto Medium" pitchFamily="2" charset="0"/>
              </a:defRPr>
            </a:lvl1pPr>
          </a:lstStyle>
          <a:p>
            <a:r>
              <a:rPr lang="en-US" dirty="0"/>
              <a:t>Bar</a:t>
            </a:r>
            <a:br>
              <a:rPr lang="en-US" dirty="0"/>
            </a:br>
            <a:r>
              <a:rPr lang="en-US" dirty="0"/>
              <a:t>Graph</a:t>
            </a:r>
          </a:p>
        </p:txBody>
      </p:sp>
      <p:sp>
        <p:nvSpPr>
          <p:cNvPr id="12" name="Slide Number Placeholder 17"/>
          <p:cNvSpPr>
            <a:spLocks noGrp="1"/>
          </p:cNvSpPr>
          <p:nvPr>
            <p:ph type="sldNum" sz="quarter" idx="14"/>
          </p:nvPr>
        </p:nvSpPr>
        <p:spPr bwMode="gray">
          <a:xfrm>
            <a:off x="11367146" y="6096000"/>
            <a:ext cx="596254" cy="365125"/>
          </a:xfrm>
          <a:prstGeom prst="rect">
            <a:avLst/>
          </a:prstGeom>
        </p:spPr>
        <p:txBody>
          <a:bodyPr anchor="ctr"/>
          <a:lstStyle>
            <a:lvl1pPr algn="ctr">
              <a:defRPr sz="1800" b="0" i="0">
                <a:solidFill>
                  <a:schemeClr val="tx1"/>
                </a:solidFill>
                <a:latin typeface="Roboto Medium" pitchFamily="2" charset="0"/>
                <a:ea typeface="Roboto Medium" pitchFamily="2" charset="0"/>
              </a:defRPr>
            </a:lvl1pPr>
          </a:lstStyle>
          <a:p>
            <a:fld id="{45A3C14A-F937-4231-B6F1-40B429FAFB2F}" type="slidenum">
              <a:rPr lang="en-NZ" smtClean="0"/>
              <a:pPr/>
              <a:t>‹#›</a:t>
            </a:fld>
            <a:endParaRPr lang="en-NZ" dirty="0"/>
          </a:p>
        </p:txBody>
      </p:sp>
    </p:spTree>
    <p:extLst>
      <p:ext uri="{BB962C8B-B14F-4D97-AF65-F5344CB8AC3E}">
        <p14:creationId xmlns:p14="http://schemas.microsoft.com/office/powerpoint/2010/main" val="2723146128"/>
      </p:ext>
    </p:extLst>
  </p:cSld>
  <p:clrMapOvr>
    <a:masterClrMapping/>
  </p:clrMapOvr>
</p:sldLayout>
</file>

<file path=ppt/slideLayouts/slideLayout28.xml><?xml version="1.0" encoding="utf-8"?>
<p:sldLayout xmlns:a="http://schemas.openxmlformats.org/drawingml/2006/main" xmlns:r="http://schemas.openxmlformats.org/officeDocument/2006/relationships" xmlns:p="http://schemas.openxmlformats.org/presentationml/2006/main" preserve="1" userDrawn="1">
  <p:cSld name="1_Graph Slide Black">
    <p:bg bwMode="gray">
      <p:bgPr>
        <a:solidFill>
          <a:schemeClr val="bg1"/>
        </a:solidFill>
        <a:effectLst/>
      </p:bgPr>
    </p:bg>
    <p:spTree>
      <p:nvGrpSpPr>
        <p:cNvPr id="1" name=""/>
        <p:cNvGrpSpPr/>
        <p:nvPr/>
      </p:nvGrpSpPr>
      <p:grpSpPr>
        <a:xfrm>
          <a:off x="0" y="0"/>
          <a:ext cx="0" cy="0"/>
          <a:chOff x="0" y="0"/>
          <a:chExt cx="0" cy="0"/>
        </a:xfrm>
      </p:grpSpPr>
      <p:pic>
        <p:nvPicPr>
          <p:cNvPr id="13314" name="Picture 2" descr="C:\Users\Admin\Downloads\ilovepdf_pages-to-jpg (3)\RU_PPT Template-White Blank (1)_page-0005.jpg"/>
          <p:cNvPicPr>
            <a:picLocks noChangeAspect="1" noChangeArrowheads="1"/>
          </p:cNvPicPr>
          <p:nvPr userDrawn="1"/>
        </p:nvPicPr>
        <p:blipFill>
          <a:blip r:embed="rId2"/>
          <a:srcRect/>
          <a:stretch>
            <a:fillRect/>
          </a:stretch>
        </p:blipFill>
        <p:spPr bwMode="auto">
          <a:xfrm>
            <a:off x="-1" y="0"/>
            <a:ext cx="12193191" cy="6858000"/>
          </a:xfrm>
          <a:prstGeom prst="rect">
            <a:avLst/>
          </a:prstGeom>
          <a:noFill/>
        </p:spPr>
      </p:pic>
      <p:sp>
        <p:nvSpPr>
          <p:cNvPr id="5" name="Chart Placeholder 4">
            <a:extLst>
              <a:ext uri="{FF2B5EF4-FFF2-40B4-BE49-F238E27FC236}">
                <a16:creationId xmlns:a16="http://schemas.microsoft.com/office/drawing/2014/main" id="{C95A2DA0-563A-2A49-9D5E-DC5BC2FF0F6D}"/>
              </a:ext>
            </a:extLst>
          </p:cNvPr>
          <p:cNvSpPr>
            <a:spLocks noGrp="1"/>
          </p:cNvSpPr>
          <p:nvPr>
            <p:ph type="chart" sz="quarter" idx="19" hasCustomPrompt="1"/>
          </p:nvPr>
        </p:nvSpPr>
        <p:spPr>
          <a:xfrm>
            <a:off x="407368" y="2276872"/>
            <a:ext cx="11325348" cy="3751914"/>
          </a:xfrm>
          <a:prstGeom prst="rect">
            <a:avLst/>
          </a:prstGeom>
          <a:ln>
            <a:noFill/>
          </a:ln>
        </p:spPr>
        <p:txBody>
          <a:bodyPr/>
          <a:lstStyle>
            <a:lvl1pPr>
              <a:defRPr>
                <a:solidFill>
                  <a:srgbClr val="A5A5A5"/>
                </a:solidFill>
                <a:latin typeface="Roboto Medium" pitchFamily="2" charset="0"/>
                <a:ea typeface="Roboto Medium" pitchFamily="2" charset="0"/>
                <a:cs typeface="Roboto Medium" pitchFamily="2" charset="0"/>
              </a:defRPr>
            </a:lvl1pPr>
          </a:lstStyle>
          <a:p>
            <a:r>
              <a:rPr lang="en-US" dirty="0"/>
              <a:t>Click icon to add bar Graph</a:t>
            </a:r>
          </a:p>
        </p:txBody>
      </p:sp>
      <p:sp>
        <p:nvSpPr>
          <p:cNvPr id="3" name="Text Placeholder 2">
            <a:extLst>
              <a:ext uri="{FF2B5EF4-FFF2-40B4-BE49-F238E27FC236}">
                <a16:creationId xmlns:a16="http://schemas.microsoft.com/office/drawing/2014/main" id="{A57C66B2-DB5E-EF42-BC3E-8844BAB7CAB2}"/>
              </a:ext>
            </a:extLst>
          </p:cNvPr>
          <p:cNvSpPr>
            <a:spLocks noGrp="1"/>
          </p:cNvSpPr>
          <p:nvPr>
            <p:ph type="body" sz="quarter" idx="17"/>
          </p:nvPr>
        </p:nvSpPr>
        <p:spPr>
          <a:xfrm>
            <a:off x="623392" y="1340768"/>
            <a:ext cx="11089232" cy="864096"/>
          </a:xfrm>
          <a:prstGeom prst="rect">
            <a:avLst/>
          </a:prstGeom>
        </p:spPr>
        <p:txBody>
          <a:bodyPr anchor="ctr"/>
          <a:lstStyle>
            <a:lvl1pPr marL="0" indent="0">
              <a:spcBef>
                <a:spcPts val="1000"/>
              </a:spcBef>
              <a:buNone/>
              <a:defRPr sz="2400">
                <a:solidFill>
                  <a:srgbClr val="A5A5A5"/>
                </a:solidFill>
                <a:latin typeface="Roboto Medium" pitchFamily="2" charset="0"/>
                <a:ea typeface="Roboto Medium" pitchFamily="2" charset="0"/>
                <a:cs typeface="Roboto Medium" pitchFamily="2" charset="0"/>
              </a:defRPr>
            </a:lvl1pPr>
            <a:lvl2pPr marL="458788" indent="-215900">
              <a:spcBef>
                <a:spcPts val="900"/>
              </a:spcBef>
              <a:tabLst/>
              <a:defRPr sz="2000">
                <a:solidFill>
                  <a:schemeClr val="bg1"/>
                </a:solidFill>
              </a:defRPr>
            </a:lvl2pPr>
            <a:lvl3pPr marL="809625" indent="-215900">
              <a:spcBef>
                <a:spcPts val="900"/>
              </a:spcBef>
              <a:tabLst/>
              <a:defRPr sz="1800">
                <a:solidFill>
                  <a:schemeClr val="bg1"/>
                </a:solidFill>
              </a:defRPr>
            </a:lvl3pPr>
            <a:lvl4pPr marL="1093788" indent="-203200">
              <a:spcBef>
                <a:spcPts val="900"/>
              </a:spcBef>
              <a:tabLst/>
              <a:defRPr sz="1600">
                <a:solidFill>
                  <a:schemeClr val="bg1"/>
                </a:solidFill>
              </a:defRPr>
            </a:lvl4pPr>
            <a:lvl5pPr marL="1323975" indent="-230188">
              <a:spcBef>
                <a:spcPts val="900"/>
              </a:spcBef>
              <a:tabLst/>
              <a:defRPr sz="1600">
                <a:solidFill>
                  <a:schemeClr val="bg1"/>
                </a:solidFill>
              </a:defRPr>
            </a:lvl5pPr>
          </a:lstStyle>
          <a:p>
            <a:pPr lvl="0"/>
            <a:r>
              <a:rPr lang="en-US" dirty="0"/>
              <a:t>Edit Master text styles</a:t>
            </a:r>
          </a:p>
        </p:txBody>
      </p:sp>
      <p:sp>
        <p:nvSpPr>
          <p:cNvPr id="11" name="Title 1">
            <a:extLst>
              <a:ext uri="{FF2B5EF4-FFF2-40B4-BE49-F238E27FC236}">
                <a16:creationId xmlns:a16="http://schemas.microsoft.com/office/drawing/2014/main" id="{E9E6745F-DAB6-B248-B478-7A0CF8A76EEA}"/>
              </a:ext>
            </a:extLst>
          </p:cNvPr>
          <p:cNvSpPr>
            <a:spLocks noGrp="1"/>
          </p:cNvSpPr>
          <p:nvPr>
            <p:ph type="title" hasCustomPrompt="1"/>
          </p:nvPr>
        </p:nvSpPr>
        <p:spPr bwMode="gray">
          <a:xfrm>
            <a:off x="595470" y="395786"/>
            <a:ext cx="5258776" cy="838202"/>
          </a:xfrm>
          <a:prstGeom prst="rect">
            <a:avLst/>
          </a:prstGeom>
        </p:spPr>
        <p:txBody>
          <a:bodyPr anchor="ctr" anchorCtr="0">
            <a:noAutofit/>
          </a:bodyPr>
          <a:lstStyle>
            <a:lvl1pPr>
              <a:defRPr sz="2800" cap="all" spc="0" baseline="0">
                <a:solidFill>
                  <a:srgbClr val="A5A5A5"/>
                </a:solidFill>
                <a:latin typeface="Roboto Medium" pitchFamily="2" charset="0"/>
                <a:ea typeface="Roboto Medium" pitchFamily="2" charset="0"/>
                <a:cs typeface="Roboto Medium" pitchFamily="2" charset="0"/>
              </a:defRPr>
            </a:lvl1pPr>
          </a:lstStyle>
          <a:p>
            <a:r>
              <a:rPr lang="en-US" dirty="0"/>
              <a:t>Bar</a:t>
            </a:r>
            <a:br>
              <a:rPr lang="en-US" dirty="0"/>
            </a:br>
            <a:r>
              <a:rPr lang="en-US" dirty="0"/>
              <a:t>Graph</a:t>
            </a:r>
          </a:p>
        </p:txBody>
      </p:sp>
      <p:sp>
        <p:nvSpPr>
          <p:cNvPr id="12" name="Slide Number Placeholder 17"/>
          <p:cNvSpPr>
            <a:spLocks noGrp="1"/>
          </p:cNvSpPr>
          <p:nvPr>
            <p:ph type="sldNum" sz="quarter" idx="14"/>
          </p:nvPr>
        </p:nvSpPr>
        <p:spPr bwMode="gray">
          <a:xfrm>
            <a:off x="11367146" y="6096000"/>
            <a:ext cx="596254" cy="365125"/>
          </a:xfrm>
          <a:prstGeom prst="rect">
            <a:avLst/>
          </a:prstGeom>
        </p:spPr>
        <p:txBody>
          <a:bodyPr anchor="ctr"/>
          <a:lstStyle>
            <a:lvl1pPr algn="ctr">
              <a:defRPr sz="1800" b="0" i="0">
                <a:solidFill>
                  <a:schemeClr val="tx1"/>
                </a:solidFill>
                <a:latin typeface="Roboto Medium" pitchFamily="2" charset="0"/>
                <a:ea typeface="Roboto Medium" pitchFamily="2" charset="0"/>
              </a:defRPr>
            </a:lvl1pPr>
          </a:lstStyle>
          <a:p>
            <a:fld id="{45A3C14A-F937-4231-B6F1-40B429FAFB2F}" type="slidenum">
              <a:rPr lang="en-NZ" smtClean="0"/>
              <a:pPr/>
              <a:t>‹#›</a:t>
            </a:fld>
            <a:endParaRPr lang="en-NZ" dirty="0"/>
          </a:p>
        </p:txBody>
      </p:sp>
    </p:spTree>
    <p:extLst>
      <p:ext uri="{BB962C8B-B14F-4D97-AF65-F5344CB8AC3E}">
        <p14:creationId xmlns:p14="http://schemas.microsoft.com/office/powerpoint/2010/main" val="2723146128"/>
      </p:ext>
    </p:extLst>
  </p:cSld>
  <p:clrMapOvr>
    <a:masterClrMapping/>
  </p:clrMapOvr>
</p:sldLayout>
</file>

<file path=ppt/slideLayouts/slideLayout29.xml><?xml version="1.0" encoding="utf-8"?>
<p:sldLayout xmlns:a="http://schemas.openxmlformats.org/drawingml/2006/main" xmlns:r="http://schemas.openxmlformats.org/officeDocument/2006/relationships" xmlns:p="http://schemas.openxmlformats.org/presentationml/2006/main" preserve="1" userDrawn="1">
  <p:cSld name="Copy and Graph Black">
    <p:bg bwMode="gray">
      <p:bgPr>
        <a:solidFill>
          <a:schemeClr val="bg1"/>
        </a:solidFill>
        <a:effectLst/>
      </p:bgPr>
    </p:bg>
    <p:spTree>
      <p:nvGrpSpPr>
        <p:cNvPr id="1" name=""/>
        <p:cNvGrpSpPr/>
        <p:nvPr/>
      </p:nvGrpSpPr>
      <p:grpSpPr>
        <a:xfrm>
          <a:off x="0" y="0"/>
          <a:ext cx="0" cy="0"/>
          <a:chOff x="0" y="0"/>
          <a:chExt cx="0" cy="0"/>
        </a:xfrm>
      </p:grpSpPr>
      <p:pic>
        <p:nvPicPr>
          <p:cNvPr id="9" name="Picture 2" descr="C:\Users\Admin\Downloads\ilovepdf_pages-to-jpg (4)\RU_PPT Template-Grey Blank (1)_page-0005.jpg"/>
          <p:cNvPicPr>
            <a:picLocks noChangeAspect="1" noChangeArrowheads="1"/>
          </p:cNvPicPr>
          <p:nvPr userDrawn="1"/>
        </p:nvPicPr>
        <p:blipFill>
          <a:blip r:embed="rId2"/>
          <a:srcRect/>
          <a:stretch>
            <a:fillRect/>
          </a:stretch>
        </p:blipFill>
        <p:spPr bwMode="auto">
          <a:xfrm>
            <a:off x="-1" y="0"/>
            <a:ext cx="12193191" cy="6858000"/>
          </a:xfrm>
          <a:prstGeom prst="rect">
            <a:avLst/>
          </a:prstGeom>
          <a:noFill/>
        </p:spPr>
      </p:pic>
      <p:sp>
        <p:nvSpPr>
          <p:cNvPr id="5" name="Chart Placeholder 4">
            <a:extLst>
              <a:ext uri="{FF2B5EF4-FFF2-40B4-BE49-F238E27FC236}">
                <a16:creationId xmlns:a16="http://schemas.microsoft.com/office/drawing/2014/main" id="{C95A2DA0-563A-2A49-9D5E-DC5BC2FF0F6D}"/>
              </a:ext>
            </a:extLst>
          </p:cNvPr>
          <p:cNvSpPr>
            <a:spLocks noGrp="1"/>
          </p:cNvSpPr>
          <p:nvPr>
            <p:ph type="chart" sz="quarter" idx="19"/>
          </p:nvPr>
        </p:nvSpPr>
        <p:spPr>
          <a:xfrm>
            <a:off x="6328612" y="1376067"/>
            <a:ext cx="5404104" cy="4789237"/>
          </a:xfrm>
          <a:prstGeom prst="rect">
            <a:avLst/>
          </a:prstGeom>
        </p:spPr>
        <p:txBody>
          <a:bodyPr/>
          <a:lstStyle>
            <a:lvl1pPr>
              <a:defRPr>
                <a:solidFill>
                  <a:schemeClr val="bg1"/>
                </a:solidFill>
                <a:latin typeface="Roboto Medium" pitchFamily="2" charset="0"/>
                <a:ea typeface="Roboto Medium" pitchFamily="2" charset="0"/>
                <a:cs typeface="Roboto Medium" pitchFamily="2" charset="0"/>
              </a:defRPr>
            </a:lvl1pPr>
          </a:lstStyle>
          <a:p>
            <a:r>
              <a:rPr lang="en-US" dirty="0"/>
              <a:t>Click icon to add chart</a:t>
            </a:r>
          </a:p>
        </p:txBody>
      </p:sp>
      <p:sp>
        <p:nvSpPr>
          <p:cNvPr id="3" name="Text Placeholder 2">
            <a:extLst>
              <a:ext uri="{FF2B5EF4-FFF2-40B4-BE49-F238E27FC236}">
                <a16:creationId xmlns:a16="http://schemas.microsoft.com/office/drawing/2014/main" id="{A57C66B2-DB5E-EF42-BC3E-8844BAB7CAB2}"/>
              </a:ext>
            </a:extLst>
          </p:cNvPr>
          <p:cNvSpPr>
            <a:spLocks noGrp="1"/>
          </p:cNvSpPr>
          <p:nvPr>
            <p:ph type="body" sz="quarter" idx="17" hasCustomPrompt="1"/>
          </p:nvPr>
        </p:nvSpPr>
        <p:spPr>
          <a:xfrm>
            <a:off x="623392" y="1399629"/>
            <a:ext cx="5230853" cy="4722813"/>
          </a:xfrm>
          <a:prstGeom prst="rect">
            <a:avLst/>
          </a:prstGeom>
        </p:spPr>
        <p:txBody>
          <a:bodyPr/>
          <a:lstStyle>
            <a:lvl1pPr>
              <a:spcBef>
                <a:spcPts val="1000"/>
              </a:spcBef>
              <a:defRPr sz="2400">
                <a:solidFill>
                  <a:schemeClr val="bg1"/>
                </a:solidFill>
                <a:latin typeface="Roboto Medium" pitchFamily="2" charset="0"/>
                <a:ea typeface="Roboto Medium" pitchFamily="2" charset="0"/>
                <a:cs typeface="Roboto Medium" pitchFamily="2" charset="0"/>
              </a:defRPr>
            </a:lvl1pPr>
            <a:lvl2pPr marL="458788" indent="-215900">
              <a:spcBef>
                <a:spcPts val="1000"/>
              </a:spcBef>
              <a:tabLst/>
              <a:defRPr sz="2200">
                <a:solidFill>
                  <a:schemeClr val="bg1"/>
                </a:solidFill>
                <a:latin typeface="Roboto Medium" pitchFamily="2" charset="0"/>
                <a:ea typeface="Roboto Medium" pitchFamily="2" charset="0"/>
                <a:cs typeface="Roboto Medium" pitchFamily="2" charset="0"/>
              </a:defRPr>
            </a:lvl2pPr>
            <a:lvl3pPr marL="809625" indent="-215900">
              <a:spcBef>
                <a:spcPts val="1000"/>
              </a:spcBef>
              <a:tabLst/>
              <a:defRPr sz="2000">
                <a:solidFill>
                  <a:schemeClr val="bg1"/>
                </a:solidFill>
                <a:latin typeface="Roboto Medium" pitchFamily="2" charset="0"/>
                <a:ea typeface="Roboto Medium" pitchFamily="2" charset="0"/>
                <a:cs typeface="Roboto Medium" pitchFamily="2" charset="0"/>
              </a:defRPr>
            </a:lvl3pPr>
            <a:lvl4pPr marL="1093788" indent="-203200">
              <a:spcBef>
                <a:spcPts val="900"/>
              </a:spcBef>
              <a:tabLst/>
              <a:defRPr sz="1600">
                <a:solidFill>
                  <a:schemeClr val="bg1"/>
                </a:solidFill>
              </a:defRPr>
            </a:lvl4pPr>
            <a:lvl5pPr marL="1323975" indent="-230188">
              <a:spcBef>
                <a:spcPts val="900"/>
              </a:spcBef>
              <a:tabLst/>
              <a:defRPr sz="1600">
                <a:solidFill>
                  <a:schemeClr val="bg1"/>
                </a:solidFill>
              </a:defRPr>
            </a:lvl5pPr>
          </a:lstStyle>
          <a:p>
            <a:pPr lvl="0"/>
            <a:r>
              <a:rPr lang="en-US" altLang="ja-JP" dirty="0"/>
              <a:t>Editable body copy</a:t>
            </a:r>
          </a:p>
          <a:p>
            <a:pPr lvl="1"/>
            <a:r>
              <a:rPr lang="en-US" altLang="ja-JP" dirty="0"/>
              <a:t>Editable body copy</a:t>
            </a:r>
          </a:p>
          <a:p>
            <a:pPr lvl="2"/>
            <a:r>
              <a:rPr lang="en-US" altLang="ja-JP" dirty="0"/>
              <a:t>Editable body copy</a:t>
            </a:r>
          </a:p>
        </p:txBody>
      </p:sp>
      <p:sp>
        <p:nvSpPr>
          <p:cNvPr id="8" name="Title 1">
            <a:extLst>
              <a:ext uri="{FF2B5EF4-FFF2-40B4-BE49-F238E27FC236}">
                <a16:creationId xmlns:a16="http://schemas.microsoft.com/office/drawing/2014/main" id="{E9E6745F-DAB6-B248-B478-7A0CF8A76EEA}"/>
              </a:ext>
            </a:extLst>
          </p:cNvPr>
          <p:cNvSpPr>
            <a:spLocks noGrp="1"/>
          </p:cNvSpPr>
          <p:nvPr>
            <p:ph type="title" hasCustomPrompt="1"/>
          </p:nvPr>
        </p:nvSpPr>
        <p:spPr bwMode="gray">
          <a:xfrm>
            <a:off x="595469" y="395786"/>
            <a:ext cx="6211927" cy="838202"/>
          </a:xfrm>
          <a:prstGeom prst="rect">
            <a:avLst/>
          </a:prstGeom>
        </p:spPr>
        <p:txBody>
          <a:bodyPr anchor="ctr" anchorCtr="0">
            <a:noAutofit/>
          </a:bodyPr>
          <a:lstStyle>
            <a:lvl1pPr>
              <a:defRPr sz="2800" cap="all" spc="0" baseline="0">
                <a:solidFill>
                  <a:schemeClr val="bg1"/>
                </a:solidFill>
                <a:latin typeface="Roboto Medium" pitchFamily="2" charset="0"/>
                <a:ea typeface="Roboto Medium" pitchFamily="2" charset="0"/>
                <a:cs typeface="Roboto Medium" pitchFamily="2" charset="0"/>
              </a:defRPr>
            </a:lvl1pPr>
          </a:lstStyle>
          <a:p>
            <a:r>
              <a:rPr lang="en-US" dirty="0"/>
              <a:t>Heading </a:t>
            </a:r>
            <a:br>
              <a:rPr lang="en-US" dirty="0"/>
            </a:br>
            <a:r>
              <a:rPr lang="en-US" dirty="0"/>
              <a:t>Copy Here</a:t>
            </a:r>
          </a:p>
        </p:txBody>
      </p:sp>
      <p:sp>
        <p:nvSpPr>
          <p:cNvPr id="12" name="Slide Number Placeholder 17"/>
          <p:cNvSpPr>
            <a:spLocks noGrp="1"/>
          </p:cNvSpPr>
          <p:nvPr>
            <p:ph type="sldNum" sz="quarter" idx="14"/>
          </p:nvPr>
        </p:nvSpPr>
        <p:spPr bwMode="gray">
          <a:xfrm>
            <a:off x="11367146" y="6096000"/>
            <a:ext cx="596254" cy="365125"/>
          </a:xfrm>
          <a:prstGeom prst="rect">
            <a:avLst/>
          </a:prstGeom>
        </p:spPr>
        <p:txBody>
          <a:bodyPr anchor="ctr"/>
          <a:lstStyle>
            <a:lvl1pPr algn="ctr">
              <a:defRPr sz="1800" b="0" i="0">
                <a:solidFill>
                  <a:schemeClr val="tx1"/>
                </a:solidFill>
                <a:latin typeface="Roboto Medium" pitchFamily="2" charset="0"/>
                <a:ea typeface="Roboto Medium" pitchFamily="2" charset="0"/>
              </a:defRPr>
            </a:lvl1pPr>
          </a:lstStyle>
          <a:p>
            <a:fld id="{45A3C14A-F937-4231-B6F1-40B429FAFB2F}" type="slidenum">
              <a:rPr lang="en-NZ" smtClean="0"/>
              <a:pPr/>
              <a:t>‹#›</a:t>
            </a:fld>
            <a:endParaRPr lang="en-NZ" dirty="0"/>
          </a:p>
        </p:txBody>
      </p:sp>
    </p:spTree>
    <p:extLst>
      <p:ext uri="{BB962C8B-B14F-4D97-AF65-F5344CB8AC3E}">
        <p14:creationId xmlns:p14="http://schemas.microsoft.com/office/powerpoint/2010/main" val="3518510220"/>
      </p:ext>
    </p:extLst>
  </p:cSld>
  <p:clrMapOvr>
    <a:masterClrMapping/>
  </p:clrMapOvr>
</p:sldLayout>
</file>

<file path=ppt/slideLayouts/slideLayout30.xml><?xml version="1.0" encoding="utf-8"?>
<p:sldLayout xmlns:a="http://schemas.openxmlformats.org/drawingml/2006/main" xmlns:r="http://schemas.openxmlformats.org/officeDocument/2006/relationships" xmlns:p="http://schemas.openxmlformats.org/presentationml/2006/main" preserve="1" userDrawn="1">
  <p:cSld name="1_Copy and Graph Black">
    <p:bg bwMode="gray">
      <p:bgPr>
        <a:solidFill>
          <a:schemeClr val="bg1"/>
        </a:solidFill>
        <a:effectLst/>
      </p:bgPr>
    </p:bg>
    <p:spTree>
      <p:nvGrpSpPr>
        <p:cNvPr id="1" name=""/>
        <p:cNvGrpSpPr/>
        <p:nvPr/>
      </p:nvGrpSpPr>
      <p:grpSpPr>
        <a:xfrm>
          <a:off x="0" y="0"/>
          <a:ext cx="0" cy="0"/>
          <a:chOff x="0" y="0"/>
          <a:chExt cx="0" cy="0"/>
        </a:xfrm>
      </p:grpSpPr>
      <p:pic>
        <p:nvPicPr>
          <p:cNvPr id="7" name="Picture 2" descr="C:\Users\Admin\Downloads\ilovepdf_pages-to-jpg (3)\RU_PPT Template-White Blank (1)_page-0005.jpg"/>
          <p:cNvPicPr>
            <a:picLocks noChangeAspect="1" noChangeArrowheads="1"/>
          </p:cNvPicPr>
          <p:nvPr userDrawn="1"/>
        </p:nvPicPr>
        <p:blipFill>
          <a:blip r:embed="rId2"/>
          <a:srcRect/>
          <a:stretch>
            <a:fillRect/>
          </a:stretch>
        </p:blipFill>
        <p:spPr bwMode="auto">
          <a:xfrm>
            <a:off x="-1" y="0"/>
            <a:ext cx="12193191" cy="6858000"/>
          </a:xfrm>
          <a:prstGeom prst="rect">
            <a:avLst/>
          </a:prstGeom>
          <a:noFill/>
        </p:spPr>
      </p:pic>
      <p:sp>
        <p:nvSpPr>
          <p:cNvPr id="5" name="Chart Placeholder 4">
            <a:extLst>
              <a:ext uri="{FF2B5EF4-FFF2-40B4-BE49-F238E27FC236}">
                <a16:creationId xmlns:a16="http://schemas.microsoft.com/office/drawing/2014/main" id="{C95A2DA0-563A-2A49-9D5E-DC5BC2FF0F6D}"/>
              </a:ext>
            </a:extLst>
          </p:cNvPr>
          <p:cNvSpPr>
            <a:spLocks noGrp="1"/>
          </p:cNvSpPr>
          <p:nvPr>
            <p:ph type="chart" sz="quarter" idx="19"/>
          </p:nvPr>
        </p:nvSpPr>
        <p:spPr>
          <a:xfrm>
            <a:off x="6328612" y="1376067"/>
            <a:ext cx="5404104" cy="4789237"/>
          </a:xfrm>
          <a:prstGeom prst="rect">
            <a:avLst/>
          </a:prstGeom>
        </p:spPr>
        <p:txBody>
          <a:bodyPr/>
          <a:lstStyle>
            <a:lvl1pPr>
              <a:defRPr baseline="0">
                <a:solidFill>
                  <a:srgbClr val="A5A5A5"/>
                </a:solidFill>
                <a:latin typeface="Roboto Medium" pitchFamily="2" charset="0"/>
                <a:ea typeface="Roboto Medium" pitchFamily="2" charset="0"/>
                <a:cs typeface="Roboto Medium" pitchFamily="2" charset="0"/>
              </a:defRPr>
            </a:lvl1pPr>
          </a:lstStyle>
          <a:p>
            <a:r>
              <a:rPr lang="en-US" dirty="0"/>
              <a:t>Click icon to add chart</a:t>
            </a:r>
          </a:p>
        </p:txBody>
      </p:sp>
      <p:sp>
        <p:nvSpPr>
          <p:cNvPr id="3" name="Text Placeholder 2">
            <a:extLst>
              <a:ext uri="{FF2B5EF4-FFF2-40B4-BE49-F238E27FC236}">
                <a16:creationId xmlns:a16="http://schemas.microsoft.com/office/drawing/2014/main" id="{A57C66B2-DB5E-EF42-BC3E-8844BAB7CAB2}"/>
              </a:ext>
            </a:extLst>
          </p:cNvPr>
          <p:cNvSpPr>
            <a:spLocks noGrp="1"/>
          </p:cNvSpPr>
          <p:nvPr>
            <p:ph type="body" sz="quarter" idx="17" hasCustomPrompt="1"/>
          </p:nvPr>
        </p:nvSpPr>
        <p:spPr>
          <a:xfrm>
            <a:off x="623392" y="1399629"/>
            <a:ext cx="5230853" cy="4722813"/>
          </a:xfrm>
          <a:prstGeom prst="rect">
            <a:avLst/>
          </a:prstGeom>
        </p:spPr>
        <p:txBody>
          <a:bodyPr/>
          <a:lstStyle>
            <a:lvl1pPr>
              <a:spcBef>
                <a:spcPts val="1000"/>
              </a:spcBef>
              <a:defRPr sz="2400">
                <a:solidFill>
                  <a:srgbClr val="A5A5A5"/>
                </a:solidFill>
                <a:latin typeface="Roboto Medium" pitchFamily="2" charset="0"/>
                <a:ea typeface="Roboto Medium" pitchFamily="2" charset="0"/>
                <a:cs typeface="Roboto Medium" pitchFamily="2" charset="0"/>
              </a:defRPr>
            </a:lvl1pPr>
            <a:lvl2pPr marL="458788" indent="-215900">
              <a:spcBef>
                <a:spcPts val="1000"/>
              </a:spcBef>
              <a:tabLst/>
              <a:defRPr sz="2200">
                <a:solidFill>
                  <a:srgbClr val="A5A5A5"/>
                </a:solidFill>
                <a:latin typeface="Roboto Medium" pitchFamily="2" charset="0"/>
                <a:ea typeface="Roboto Medium" pitchFamily="2" charset="0"/>
                <a:cs typeface="Roboto Medium" pitchFamily="2" charset="0"/>
              </a:defRPr>
            </a:lvl2pPr>
            <a:lvl3pPr marL="809625" indent="-215900">
              <a:spcBef>
                <a:spcPts val="1000"/>
              </a:spcBef>
              <a:tabLst/>
              <a:defRPr sz="2000">
                <a:solidFill>
                  <a:srgbClr val="A5A5A5"/>
                </a:solidFill>
                <a:latin typeface="Roboto Medium" pitchFamily="2" charset="0"/>
                <a:ea typeface="Roboto Medium" pitchFamily="2" charset="0"/>
                <a:cs typeface="Roboto Medium" pitchFamily="2" charset="0"/>
              </a:defRPr>
            </a:lvl3pPr>
            <a:lvl4pPr marL="1093788" indent="-203200">
              <a:spcBef>
                <a:spcPts val="900"/>
              </a:spcBef>
              <a:tabLst/>
              <a:defRPr sz="1600">
                <a:solidFill>
                  <a:schemeClr val="bg1"/>
                </a:solidFill>
              </a:defRPr>
            </a:lvl4pPr>
            <a:lvl5pPr marL="1323975" indent="-230188">
              <a:spcBef>
                <a:spcPts val="900"/>
              </a:spcBef>
              <a:tabLst/>
              <a:defRPr sz="1600">
                <a:solidFill>
                  <a:schemeClr val="bg1"/>
                </a:solidFill>
              </a:defRPr>
            </a:lvl5pPr>
          </a:lstStyle>
          <a:p>
            <a:pPr lvl="0"/>
            <a:r>
              <a:rPr lang="en-US" altLang="ja-JP" dirty="0"/>
              <a:t>Editable body copy</a:t>
            </a:r>
          </a:p>
          <a:p>
            <a:pPr lvl="1"/>
            <a:r>
              <a:rPr lang="en-US" altLang="ja-JP" dirty="0"/>
              <a:t>Editable body copy</a:t>
            </a:r>
          </a:p>
          <a:p>
            <a:pPr lvl="2"/>
            <a:r>
              <a:rPr lang="en-US" altLang="ja-JP" dirty="0"/>
              <a:t>Editable body copy</a:t>
            </a:r>
          </a:p>
        </p:txBody>
      </p:sp>
      <p:sp>
        <p:nvSpPr>
          <p:cNvPr id="8" name="Title 1">
            <a:extLst>
              <a:ext uri="{FF2B5EF4-FFF2-40B4-BE49-F238E27FC236}">
                <a16:creationId xmlns:a16="http://schemas.microsoft.com/office/drawing/2014/main" id="{E9E6745F-DAB6-B248-B478-7A0CF8A76EEA}"/>
              </a:ext>
            </a:extLst>
          </p:cNvPr>
          <p:cNvSpPr>
            <a:spLocks noGrp="1"/>
          </p:cNvSpPr>
          <p:nvPr>
            <p:ph type="title" hasCustomPrompt="1"/>
          </p:nvPr>
        </p:nvSpPr>
        <p:spPr bwMode="gray">
          <a:xfrm>
            <a:off x="595469" y="395786"/>
            <a:ext cx="6211927" cy="838202"/>
          </a:xfrm>
          <a:prstGeom prst="rect">
            <a:avLst/>
          </a:prstGeom>
        </p:spPr>
        <p:txBody>
          <a:bodyPr anchor="ctr" anchorCtr="0">
            <a:noAutofit/>
          </a:bodyPr>
          <a:lstStyle>
            <a:lvl1pPr>
              <a:defRPr sz="2800" cap="all" spc="0" baseline="0">
                <a:solidFill>
                  <a:srgbClr val="A5A5A5"/>
                </a:solidFill>
                <a:latin typeface="Roboto Medium" pitchFamily="2" charset="0"/>
                <a:ea typeface="Roboto Medium" pitchFamily="2" charset="0"/>
                <a:cs typeface="Roboto Medium" pitchFamily="2" charset="0"/>
              </a:defRPr>
            </a:lvl1pPr>
          </a:lstStyle>
          <a:p>
            <a:r>
              <a:rPr lang="en-US" dirty="0"/>
              <a:t>Heading </a:t>
            </a:r>
            <a:br>
              <a:rPr lang="en-US" dirty="0"/>
            </a:br>
            <a:r>
              <a:rPr lang="en-US" dirty="0"/>
              <a:t>Copy Here</a:t>
            </a:r>
          </a:p>
        </p:txBody>
      </p:sp>
      <p:sp>
        <p:nvSpPr>
          <p:cNvPr id="12" name="Slide Number Placeholder 17"/>
          <p:cNvSpPr>
            <a:spLocks noGrp="1"/>
          </p:cNvSpPr>
          <p:nvPr>
            <p:ph type="sldNum" sz="quarter" idx="14"/>
          </p:nvPr>
        </p:nvSpPr>
        <p:spPr bwMode="gray">
          <a:xfrm>
            <a:off x="11367146" y="6096000"/>
            <a:ext cx="596254" cy="365125"/>
          </a:xfrm>
          <a:prstGeom prst="rect">
            <a:avLst/>
          </a:prstGeom>
        </p:spPr>
        <p:txBody>
          <a:bodyPr anchor="ctr"/>
          <a:lstStyle>
            <a:lvl1pPr algn="ctr">
              <a:defRPr sz="1800" b="0" i="0">
                <a:solidFill>
                  <a:schemeClr val="tx1"/>
                </a:solidFill>
                <a:latin typeface="Roboto Medium" pitchFamily="2" charset="0"/>
                <a:ea typeface="Roboto Medium" pitchFamily="2" charset="0"/>
              </a:defRPr>
            </a:lvl1pPr>
          </a:lstStyle>
          <a:p>
            <a:fld id="{45A3C14A-F937-4231-B6F1-40B429FAFB2F}" type="slidenum">
              <a:rPr lang="en-NZ" smtClean="0"/>
              <a:pPr/>
              <a:t>‹#›</a:t>
            </a:fld>
            <a:endParaRPr lang="en-NZ" dirty="0"/>
          </a:p>
        </p:txBody>
      </p:sp>
    </p:spTree>
    <p:extLst>
      <p:ext uri="{BB962C8B-B14F-4D97-AF65-F5344CB8AC3E}">
        <p14:creationId xmlns:p14="http://schemas.microsoft.com/office/powerpoint/2010/main" val="3518510220"/>
      </p:ext>
    </p:extLst>
  </p:cSld>
  <p:clrMapOvr>
    <a:masterClrMapping/>
  </p:clrMapOvr>
</p:sldLayout>
</file>

<file path=ppt/slideLayouts/slideLayout31.xml><?xml version="1.0" encoding="utf-8"?>
<p:sldLayout xmlns:a="http://schemas.openxmlformats.org/drawingml/2006/main" xmlns:r="http://schemas.openxmlformats.org/officeDocument/2006/relationships" xmlns:p="http://schemas.openxmlformats.org/presentationml/2006/main" preserve="1" userDrawn="1">
  <p:cSld name="Flow Slide Black">
    <p:bg bwMode="gray">
      <p:bgPr>
        <a:solidFill>
          <a:schemeClr val="bg1"/>
        </a:solidFill>
        <a:effectLst/>
      </p:bgPr>
    </p:bg>
    <p:spTree>
      <p:nvGrpSpPr>
        <p:cNvPr id="1" name=""/>
        <p:cNvGrpSpPr/>
        <p:nvPr/>
      </p:nvGrpSpPr>
      <p:grpSpPr>
        <a:xfrm>
          <a:off x="0" y="0"/>
          <a:ext cx="0" cy="0"/>
          <a:chOff x="0" y="0"/>
          <a:chExt cx="0" cy="0"/>
        </a:xfrm>
      </p:grpSpPr>
      <p:pic>
        <p:nvPicPr>
          <p:cNvPr id="21" name="Picture 2" descr="C:\Users\Admin\Downloads\ilovepdf_pages-to-jpg (4)\RU_PPT Template-Grey Blank (1)_page-0005.jpg"/>
          <p:cNvPicPr>
            <a:picLocks noChangeAspect="1" noChangeArrowheads="1"/>
          </p:cNvPicPr>
          <p:nvPr userDrawn="1"/>
        </p:nvPicPr>
        <p:blipFill>
          <a:blip r:embed="rId2"/>
          <a:srcRect/>
          <a:stretch>
            <a:fillRect/>
          </a:stretch>
        </p:blipFill>
        <p:spPr bwMode="auto">
          <a:xfrm>
            <a:off x="0" y="0"/>
            <a:ext cx="12193191" cy="6858000"/>
          </a:xfrm>
          <a:prstGeom prst="rect">
            <a:avLst/>
          </a:prstGeom>
          <a:noFill/>
        </p:spPr>
      </p:pic>
      <p:sp>
        <p:nvSpPr>
          <p:cNvPr id="11" name="Title 1">
            <a:extLst>
              <a:ext uri="{FF2B5EF4-FFF2-40B4-BE49-F238E27FC236}">
                <a16:creationId xmlns:a16="http://schemas.microsoft.com/office/drawing/2014/main" id="{E9E6745F-DAB6-B248-B478-7A0CF8A76EEA}"/>
              </a:ext>
            </a:extLst>
          </p:cNvPr>
          <p:cNvSpPr>
            <a:spLocks noGrp="1"/>
          </p:cNvSpPr>
          <p:nvPr>
            <p:ph type="title" hasCustomPrompt="1"/>
          </p:nvPr>
        </p:nvSpPr>
        <p:spPr bwMode="gray">
          <a:xfrm>
            <a:off x="595470" y="395786"/>
            <a:ext cx="5258776" cy="838202"/>
          </a:xfrm>
          <a:prstGeom prst="rect">
            <a:avLst/>
          </a:prstGeom>
        </p:spPr>
        <p:txBody>
          <a:bodyPr anchor="ctr" anchorCtr="0">
            <a:noAutofit/>
          </a:bodyPr>
          <a:lstStyle>
            <a:lvl1pPr>
              <a:defRPr sz="2800" cap="all" spc="0" baseline="0">
                <a:solidFill>
                  <a:schemeClr val="bg1"/>
                </a:solidFill>
                <a:latin typeface="Roboto Medium" pitchFamily="2" charset="0"/>
                <a:ea typeface="Roboto Medium" pitchFamily="2" charset="0"/>
                <a:cs typeface="Roboto Medium" pitchFamily="2" charset="0"/>
              </a:defRPr>
            </a:lvl1pPr>
          </a:lstStyle>
          <a:p>
            <a:r>
              <a:rPr lang="en-US" dirty="0"/>
              <a:t>Work Flow slide</a:t>
            </a:r>
          </a:p>
        </p:txBody>
      </p:sp>
      <p:sp>
        <p:nvSpPr>
          <p:cNvPr id="7" name="Text Placeholder 2">
            <a:extLst>
              <a:ext uri="{FF2B5EF4-FFF2-40B4-BE49-F238E27FC236}">
                <a16:creationId xmlns:a16="http://schemas.microsoft.com/office/drawing/2014/main" id="{9C105C5C-DB09-9B48-BE37-71390178EE77}"/>
              </a:ext>
            </a:extLst>
          </p:cNvPr>
          <p:cNvSpPr>
            <a:spLocks noGrp="1"/>
          </p:cNvSpPr>
          <p:nvPr>
            <p:ph type="body" sz="quarter" idx="17" hasCustomPrompt="1"/>
          </p:nvPr>
        </p:nvSpPr>
        <p:spPr>
          <a:xfrm>
            <a:off x="623392" y="1340768"/>
            <a:ext cx="11089232" cy="1008112"/>
          </a:xfrm>
          <a:prstGeom prst="rect">
            <a:avLst/>
          </a:prstGeom>
        </p:spPr>
        <p:txBody>
          <a:bodyPr anchor="ctr"/>
          <a:lstStyle>
            <a:lvl1pPr marL="0" indent="0">
              <a:spcBef>
                <a:spcPts val="1000"/>
              </a:spcBef>
              <a:buNone/>
              <a:defRPr sz="2400">
                <a:solidFill>
                  <a:schemeClr val="bg1"/>
                </a:solidFill>
                <a:latin typeface="Roboto Medium" pitchFamily="2" charset="0"/>
                <a:ea typeface="Roboto Medium" pitchFamily="2" charset="0"/>
                <a:cs typeface="Roboto Medium" pitchFamily="2" charset="0"/>
              </a:defRPr>
            </a:lvl1pPr>
            <a:lvl2pPr marL="458788" indent="-215900">
              <a:spcBef>
                <a:spcPts val="900"/>
              </a:spcBef>
              <a:tabLst/>
              <a:defRPr sz="2000">
                <a:solidFill>
                  <a:schemeClr val="bg1"/>
                </a:solidFill>
              </a:defRPr>
            </a:lvl2pPr>
            <a:lvl3pPr marL="809625" indent="-215900">
              <a:spcBef>
                <a:spcPts val="900"/>
              </a:spcBef>
              <a:tabLst/>
              <a:defRPr sz="1800">
                <a:solidFill>
                  <a:schemeClr val="bg1"/>
                </a:solidFill>
              </a:defRPr>
            </a:lvl3pPr>
            <a:lvl4pPr marL="1093788" indent="-203200">
              <a:spcBef>
                <a:spcPts val="900"/>
              </a:spcBef>
              <a:tabLst/>
              <a:defRPr sz="1600">
                <a:solidFill>
                  <a:schemeClr val="bg1"/>
                </a:solidFill>
              </a:defRPr>
            </a:lvl4pPr>
            <a:lvl5pPr marL="1323975" indent="-230188">
              <a:spcBef>
                <a:spcPts val="900"/>
              </a:spcBef>
              <a:tabLst/>
              <a:defRPr sz="1600">
                <a:solidFill>
                  <a:schemeClr val="bg1"/>
                </a:solidFill>
              </a:defRPr>
            </a:lvl5pPr>
          </a:lstStyle>
          <a:p>
            <a:pPr lvl="0"/>
            <a:r>
              <a:rPr lang="en-US" dirty="0"/>
              <a:t>Editable body copy</a:t>
            </a:r>
          </a:p>
        </p:txBody>
      </p:sp>
      <p:sp>
        <p:nvSpPr>
          <p:cNvPr id="2" name="Pentagon 1">
            <a:extLst>
              <a:ext uri="{FF2B5EF4-FFF2-40B4-BE49-F238E27FC236}">
                <a16:creationId xmlns:a16="http://schemas.microsoft.com/office/drawing/2014/main" id="{8FBA3758-16A0-D14A-BD36-337B1D31271F}"/>
              </a:ext>
            </a:extLst>
          </p:cNvPr>
          <p:cNvSpPr/>
          <p:nvPr userDrawn="1"/>
        </p:nvSpPr>
        <p:spPr>
          <a:xfrm>
            <a:off x="808086" y="2636912"/>
            <a:ext cx="3816424" cy="1800200"/>
          </a:xfrm>
          <a:prstGeom prst="homePlate">
            <a:avLst>
              <a:gd name="adj" fmla="val 22899"/>
            </a:avLst>
          </a:prstGeom>
          <a:no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schemeClr val="bg1"/>
              </a:solidFill>
              <a:latin typeface="Roboto Medium" pitchFamily="2" charset="0"/>
              <a:ea typeface="Roboto Medium" pitchFamily="2" charset="0"/>
              <a:cs typeface="Nobel-Light" panose="02000506020000020004" pitchFamily="2" charset="0"/>
            </a:endParaRPr>
          </a:p>
        </p:txBody>
      </p:sp>
      <p:sp>
        <p:nvSpPr>
          <p:cNvPr id="15" name="Freeform 14">
            <a:extLst>
              <a:ext uri="{FF2B5EF4-FFF2-40B4-BE49-F238E27FC236}">
                <a16:creationId xmlns:a16="http://schemas.microsoft.com/office/drawing/2014/main" id="{64720C1A-BDFE-E146-B6ED-4700DEA3F3E3}"/>
              </a:ext>
            </a:extLst>
          </p:cNvPr>
          <p:cNvSpPr/>
          <p:nvPr userDrawn="1"/>
        </p:nvSpPr>
        <p:spPr>
          <a:xfrm>
            <a:off x="4408486" y="2636912"/>
            <a:ext cx="3487714" cy="1800200"/>
          </a:xfrm>
          <a:custGeom>
            <a:avLst/>
            <a:gdLst>
              <a:gd name="connsiteX0" fmla="*/ 0 w 3487714"/>
              <a:gd name="connsiteY0" fmla="*/ 0 h 1800200"/>
              <a:gd name="connsiteX1" fmla="*/ 3075486 w 3487714"/>
              <a:gd name="connsiteY1" fmla="*/ 0 h 1800200"/>
              <a:gd name="connsiteX2" fmla="*/ 3487714 w 3487714"/>
              <a:gd name="connsiteY2" fmla="*/ 900100 h 1800200"/>
              <a:gd name="connsiteX3" fmla="*/ 3075486 w 3487714"/>
              <a:gd name="connsiteY3" fmla="*/ 1800200 h 1800200"/>
              <a:gd name="connsiteX4" fmla="*/ 0 w 3487714"/>
              <a:gd name="connsiteY4" fmla="*/ 1800200 h 1800200"/>
              <a:gd name="connsiteX5" fmla="*/ 412228 w 3487714"/>
              <a:gd name="connsiteY5" fmla="*/ 900100 h 1800200"/>
              <a:gd name="connsiteX6" fmla="*/ 0 w 3487714"/>
              <a:gd name="connsiteY6" fmla="*/ 0 h 18002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3487714" h="1800200">
                <a:moveTo>
                  <a:pt x="0" y="0"/>
                </a:moveTo>
                <a:lnTo>
                  <a:pt x="3075486" y="0"/>
                </a:lnTo>
                <a:lnTo>
                  <a:pt x="3487714" y="900100"/>
                </a:lnTo>
                <a:lnTo>
                  <a:pt x="3075486" y="1800200"/>
                </a:lnTo>
                <a:lnTo>
                  <a:pt x="0" y="1800200"/>
                </a:lnTo>
                <a:lnTo>
                  <a:pt x="412228" y="900100"/>
                </a:lnTo>
                <a:lnTo>
                  <a:pt x="0" y="0"/>
                </a:lnTo>
                <a:close/>
              </a:path>
            </a:pathLst>
          </a:custGeom>
          <a:no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schemeClr val="bg1"/>
              </a:solidFill>
              <a:latin typeface="Roboto Medium" pitchFamily="2" charset="0"/>
              <a:ea typeface="Roboto Medium" pitchFamily="2" charset="0"/>
              <a:cs typeface="Nobel-Light" panose="02000506020000020004" pitchFamily="2" charset="0"/>
            </a:endParaRPr>
          </a:p>
        </p:txBody>
      </p:sp>
      <p:sp>
        <p:nvSpPr>
          <p:cNvPr id="17" name="Freeform 16">
            <a:extLst>
              <a:ext uri="{FF2B5EF4-FFF2-40B4-BE49-F238E27FC236}">
                <a16:creationId xmlns:a16="http://schemas.microsoft.com/office/drawing/2014/main" id="{E3B464B9-0F71-424C-BC88-02B2AA03265F}"/>
              </a:ext>
            </a:extLst>
          </p:cNvPr>
          <p:cNvSpPr/>
          <p:nvPr userDrawn="1"/>
        </p:nvSpPr>
        <p:spPr>
          <a:xfrm>
            <a:off x="7648846" y="2636912"/>
            <a:ext cx="3487714" cy="1800200"/>
          </a:xfrm>
          <a:custGeom>
            <a:avLst/>
            <a:gdLst>
              <a:gd name="connsiteX0" fmla="*/ 0 w 3487714"/>
              <a:gd name="connsiteY0" fmla="*/ 0 h 1800200"/>
              <a:gd name="connsiteX1" fmla="*/ 3075486 w 3487714"/>
              <a:gd name="connsiteY1" fmla="*/ 0 h 1800200"/>
              <a:gd name="connsiteX2" fmla="*/ 3487714 w 3487714"/>
              <a:gd name="connsiteY2" fmla="*/ 900100 h 1800200"/>
              <a:gd name="connsiteX3" fmla="*/ 3075486 w 3487714"/>
              <a:gd name="connsiteY3" fmla="*/ 1800200 h 1800200"/>
              <a:gd name="connsiteX4" fmla="*/ 0 w 3487714"/>
              <a:gd name="connsiteY4" fmla="*/ 1800200 h 1800200"/>
              <a:gd name="connsiteX5" fmla="*/ 412228 w 3487714"/>
              <a:gd name="connsiteY5" fmla="*/ 900100 h 1800200"/>
              <a:gd name="connsiteX6" fmla="*/ 0 w 3487714"/>
              <a:gd name="connsiteY6" fmla="*/ 0 h 18002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3487714" h="1800200">
                <a:moveTo>
                  <a:pt x="0" y="0"/>
                </a:moveTo>
                <a:lnTo>
                  <a:pt x="3075486" y="0"/>
                </a:lnTo>
                <a:lnTo>
                  <a:pt x="3487714" y="900100"/>
                </a:lnTo>
                <a:lnTo>
                  <a:pt x="3075486" y="1800200"/>
                </a:lnTo>
                <a:lnTo>
                  <a:pt x="0" y="1800200"/>
                </a:lnTo>
                <a:lnTo>
                  <a:pt x="412228" y="900100"/>
                </a:lnTo>
                <a:lnTo>
                  <a:pt x="0" y="0"/>
                </a:lnTo>
                <a:close/>
              </a:path>
            </a:pathLst>
          </a:custGeom>
          <a:no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schemeClr val="bg1"/>
              </a:solidFill>
              <a:latin typeface="Roboto Medium" pitchFamily="2" charset="0"/>
              <a:ea typeface="Roboto Medium" pitchFamily="2" charset="0"/>
              <a:cs typeface="Nobel-Light" panose="02000506020000020004" pitchFamily="2" charset="0"/>
            </a:endParaRPr>
          </a:p>
        </p:txBody>
      </p:sp>
      <p:sp>
        <p:nvSpPr>
          <p:cNvPr id="5" name="Text Placeholder 4">
            <a:extLst>
              <a:ext uri="{FF2B5EF4-FFF2-40B4-BE49-F238E27FC236}">
                <a16:creationId xmlns:a16="http://schemas.microsoft.com/office/drawing/2014/main" id="{5D376484-E90C-F04E-B131-5D61FED1F333}"/>
              </a:ext>
            </a:extLst>
          </p:cNvPr>
          <p:cNvSpPr>
            <a:spLocks noGrp="1"/>
          </p:cNvSpPr>
          <p:nvPr>
            <p:ph type="body" sz="quarter" idx="18" hasCustomPrompt="1"/>
          </p:nvPr>
        </p:nvSpPr>
        <p:spPr>
          <a:xfrm>
            <a:off x="880590" y="2708275"/>
            <a:ext cx="3311525" cy="1657350"/>
          </a:xfrm>
          <a:prstGeom prst="rect">
            <a:avLst/>
          </a:prstGeom>
        </p:spPr>
        <p:txBody>
          <a:bodyPr/>
          <a:lstStyle>
            <a:lvl1pPr>
              <a:spcBef>
                <a:spcPts val="500"/>
              </a:spcBef>
              <a:defRPr sz="1800">
                <a:solidFill>
                  <a:schemeClr val="bg1"/>
                </a:solidFill>
                <a:latin typeface="Roboto Medium" pitchFamily="2" charset="0"/>
                <a:ea typeface="Roboto Medium" pitchFamily="2" charset="0"/>
                <a:cs typeface="Roboto Medium" pitchFamily="2" charset="0"/>
              </a:defRPr>
            </a:lvl1pPr>
            <a:lvl2pPr>
              <a:defRPr sz="1400">
                <a:solidFill>
                  <a:schemeClr val="bg1"/>
                </a:solidFill>
              </a:defRPr>
            </a:lvl2pPr>
            <a:lvl3pPr>
              <a:defRPr sz="1200">
                <a:solidFill>
                  <a:schemeClr val="bg1"/>
                </a:solidFill>
              </a:defRPr>
            </a:lvl3pPr>
            <a:lvl4pPr>
              <a:defRPr sz="1400">
                <a:solidFill>
                  <a:schemeClr val="bg1"/>
                </a:solidFill>
              </a:defRPr>
            </a:lvl4pPr>
            <a:lvl5pPr>
              <a:defRPr sz="1400">
                <a:solidFill>
                  <a:schemeClr val="bg1"/>
                </a:solidFill>
              </a:defRPr>
            </a:lvl5pPr>
          </a:lstStyle>
          <a:p>
            <a:pPr lvl="0"/>
            <a:r>
              <a:rPr lang="en-US" altLang="ja-JP" dirty="0"/>
              <a:t>Editable body copy</a:t>
            </a:r>
          </a:p>
        </p:txBody>
      </p:sp>
      <p:sp>
        <p:nvSpPr>
          <p:cNvPr id="18" name="Text Placeholder 4">
            <a:extLst>
              <a:ext uri="{FF2B5EF4-FFF2-40B4-BE49-F238E27FC236}">
                <a16:creationId xmlns:a16="http://schemas.microsoft.com/office/drawing/2014/main" id="{194D7AD1-383D-8841-8460-9BA6874F355E}"/>
              </a:ext>
            </a:extLst>
          </p:cNvPr>
          <p:cNvSpPr>
            <a:spLocks noGrp="1"/>
          </p:cNvSpPr>
          <p:nvPr>
            <p:ph type="body" sz="quarter" idx="19" hasCustomPrompt="1"/>
          </p:nvPr>
        </p:nvSpPr>
        <p:spPr>
          <a:xfrm>
            <a:off x="4840534" y="2708275"/>
            <a:ext cx="2826775" cy="1657350"/>
          </a:xfrm>
          <a:prstGeom prst="rect">
            <a:avLst/>
          </a:prstGeom>
        </p:spPr>
        <p:txBody>
          <a:bodyPr/>
          <a:lstStyle>
            <a:lvl1pPr>
              <a:spcBef>
                <a:spcPts val="500"/>
              </a:spcBef>
              <a:defRPr sz="1800">
                <a:solidFill>
                  <a:schemeClr val="bg1"/>
                </a:solidFill>
                <a:latin typeface="Roboto Medium" pitchFamily="2" charset="0"/>
                <a:ea typeface="Roboto Medium" pitchFamily="2" charset="0"/>
                <a:cs typeface="Roboto Medium" pitchFamily="2" charset="0"/>
              </a:defRPr>
            </a:lvl1pPr>
            <a:lvl2pPr>
              <a:defRPr sz="1400">
                <a:solidFill>
                  <a:schemeClr val="bg1"/>
                </a:solidFill>
              </a:defRPr>
            </a:lvl2pPr>
            <a:lvl3pPr>
              <a:defRPr sz="1200">
                <a:solidFill>
                  <a:schemeClr val="bg1"/>
                </a:solidFill>
              </a:defRPr>
            </a:lvl3pPr>
            <a:lvl4pPr>
              <a:defRPr sz="1400">
                <a:solidFill>
                  <a:schemeClr val="bg1"/>
                </a:solidFill>
              </a:defRPr>
            </a:lvl4pPr>
            <a:lvl5pPr>
              <a:defRPr sz="1400">
                <a:solidFill>
                  <a:schemeClr val="bg1"/>
                </a:solidFill>
              </a:defRPr>
            </a:lvl5pPr>
          </a:lstStyle>
          <a:p>
            <a:pPr lvl="0"/>
            <a:r>
              <a:rPr lang="en-US" altLang="ja-JP" dirty="0"/>
              <a:t>Editable body copy</a:t>
            </a:r>
          </a:p>
        </p:txBody>
      </p:sp>
      <p:sp>
        <p:nvSpPr>
          <p:cNvPr id="19" name="Text Placeholder 4">
            <a:extLst>
              <a:ext uri="{FF2B5EF4-FFF2-40B4-BE49-F238E27FC236}">
                <a16:creationId xmlns:a16="http://schemas.microsoft.com/office/drawing/2014/main" id="{D95E0D3F-8EC7-5649-B14D-1D587E65EF9B}"/>
              </a:ext>
            </a:extLst>
          </p:cNvPr>
          <p:cNvSpPr>
            <a:spLocks noGrp="1"/>
          </p:cNvSpPr>
          <p:nvPr>
            <p:ph type="body" sz="quarter" idx="20" hasCustomPrompt="1"/>
          </p:nvPr>
        </p:nvSpPr>
        <p:spPr>
          <a:xfrm>
            <a:off x="8105631" y="2708275"/>
            <a:ext cx="2826775" cy="1657350"/>
          </a:xfrm>
          <a:prstGeom prst="rect">
            <a:avLst/>
          </a:prstGeom>
        </p:spPr>
        <p:txBody>
          <a:bodyPr/>
          <a:lstStyle>
            <a:lvl1pPr>
              <a:spcBef>
                <a:spcPts val="500"/>
              </a:spcBef>
              <a:defRPr sz="1800">
                <a:solidFill>
                  <a:schemeClr val="bg1"/>
                </a:solidFill>
                <a:latin typeface="Roboto Medium" pitchFamily="2" charset="0"/>
                <a:ea typeface="Roboto Medium" pitchFamily="2" charset="0"/>
                <a:cs typeface="Roboto Medium" pitchFamily="2" charset="0"/>
              </a:defRPr>
            </a:lvl1pPr>
            <a:lvl2pPr>
              <a:defRPr sz="1400">
                <a:solidFill>
                  <a:schemeClr val="bg1"/>
                </a:solidFill>
              </a:defRPr>
            </a:lvl2pPr>
            <a:lvl3pPr>
              <a:defRPr sz="1200">
                <a:solidFill>
                  <a:schemeClr val="bg1"/>
                </a:solidFill>
              </a:defRPr>
            </a:lvl3pPr>
            <a:lvl4pPr>
              <a:defRPr sz="1400">
                <a:solidFill>
                  <a:schemeClr val="bg1"/>
                </a:solidFill>
              </a:defRPr>
            </a:lvl4pPr>
            <a:lvl5pPr>
              <a:defRPr sz="1400">
                <a:solidFill>
                  <a:schemeClr val="bg1"/>
                </a:solidFill>
              </a:defRPr>
            </a:lvl5pPr>
          </a:lstStyle>
          <a:p>
            <a:pPr lvl="0"/>
            <a:r>
              <a:rPr lang="en-US" altLang="ja-JP" dirty="0"/>
              <a:t>Editable body copy</a:t>
            </a:r>
          </a:p>
        </p:txBody>
      </p:sp>
      <p:sp>
        <p:nvSpPr>
          <p:cNvPr id="20" name="Text Placeholder 4">
            <a:extLst>
              <a:ext uri="{FF2B5EF4-FFF2-40B4-BE49-F238E27FC236}">
                <a16:creationId xmlns:a16="http://schemas.microsoft.com/office/drawing/2014/main" id="{7D7869EA-8258-0C41-A3E5-4FCD4D1F1758}"/>
              </a:ext>
            </a:extLst>
          </p:cNvPr>
          <p:cNvSpPr>
            <a:spLocks noGrp="1"/>
          </p:cNvSpPr>
          <p:nvPr>
            <p:ph type="body" sz="quarter" idx="21" hasCustomPrompt="1"/>
          </p:nvPr>
        </p:nvSpPr>
        <p:spPr>
          <a:xfrm>
            <a:off x="880590" y="4648587"/>
            <a:ext cx="3311525" cy="1657350"/>
          </a:xfrm>
          <a:prstGeom prst="rect">
            <a:avLst/>
          </a:prstGeom>
        </p:spPr>
        <p:txBody>
          <a:bodyPr/>
          <a:lstStyle>
            <a:lvl1pPr>
              <a:spcBef>
                <a:spcPts val="300"/>
              </a:spcBef>
              <a:defRPr sz="2000">
                <a:solidFill>
                  <a:schemeClr val="bg1"/>
                </a:solidFill>
                <a:latin typeface="Roboto Medium" pitchFamily="2" charset="0"/>
                <a:ea typeface="Roboto Medium" pitchFamily="2" charset="0"/>
                <a:cs typeface="Roboto Medium" pitchFamily="2" charset="0"/>
              </a:defRPr>
            </a:lvl1pPr>
            <a:lvl2pPr>
              <a:spcBef>
                <a:spcPts val="300"/>
              </a:spcBef>
              <a:defRPr sz="1400">
                <a:solidFill>
                  <a:schemeClr val="bg1"/>
                </a:solidFill>
                <a:latin typeface="Roboto Medium" pitchFamily="2" charset="0"/>
                <a:ea typeface="Roboto Medium" pitchFamily="2" charset="0"/>
                <a:cs typeface="Roboto Medium" pitchFamily="2" charset="0"/>
              </a:defRPr>
            </a:lvl2pPr>
            <a:lvl3pPr>
              <a:spcBef>
                <a:spcPts val="300"/>
              </a:spcBef>
              <a:defRPr sz="1200">
                <a:solidFill>
                  <a:schemeClr val="bg1"/>
                </a:solidFill>
                <a:latin typeface="Roboto Medium" pitchFamily="2" charset="0"/>
                <a:ea typeface="Roboto Medium" pitchFamily="2" charset="0"/>
                <a:cs typeface="Roboto Medium" pitchFamily="2" charset="0"/>
              </a:defRPr>
            </a:lvl3pPr>
            <a:lvl4pPr>
              <a:defRPr sz="1400">
                <a:solidFill>
                  <a:schemeClr val="bg1"/>
                </a:solidFill>
              </a:defRPr>
            </a:lvl4pPr>
            <a:lvl5pPr>
              <a:defRPr sz="1400">
                <a:solidFill>
                  <a:schemeClr val="bg1"/>
                </a:solidFill>
              </a:defRPr>
            </a:lvl5pPr>
          </a:lstStyle>
          <a:p>
            <a:pPr lvl="0"/>
            <a:r>
              <a:rPr lang="en-US" altLang="ja-JP" dirty="0"/>
              <a:t>Editable body copy</a:t>
            </a:r>
          </a:p>
          <a:p>
            <a:pPr lvl="1"/>
            <a:r>
              <a:rPr lang="en-US" dirty="0"/>
              <a:t>Editable body copy</a:t>
            </a:r>
          </a:p>
          <a:p>
            <a:pPr lvl="2"/>
            <a:r>
              <a:rPr lang="en-US" dirty="0"/>
              <a:t>Editable body copy</a:t>
            </a:r>
          </a:p>
        </p:txBody>
      </p:sp>
      <p:sp>
        <p:nvSpPr>
          <p:cNvPr id="23" name="Text Placeholder 4">
            <a:extLst>
              <a:ext uri="{FF2B5EF4-FFF2-40B4-BE49-F238E27FC236}">
                <a16:creationId xmlns:a16="http://schemas.microsoft.com/office/drawing/2014/main" id="{06121E29-064A-1641-86F9-CFB9DAF65AEC}"/>
              </a:ext>
            </a:extLst>
          </p:cNvPr>
          <p:cNvSpPr>
            <a:spLocks noGrp="1"/>
          </p:cNvSpPr>
          <p:nvPr>
            <p:ph type="body" sz="quarter" idx="22" hasCustomPrompt="1"/>
          </p:nvPr>
        </p:nvSpPr>
        <p:spPr>
          <a:xfrm>
            <a:off x="4872727" y="4648587"/>
            <a:ext cx="2848128" cy="1657350"/>
          </a:xfrm>
          <a:prstGeom prst="rect">
            <a:avLst/>
          </a:prstGeom>
        </p:spPr>
        <p:txBody>
          <a:bodyPr/>
          <a:lstStyle>
            <a:lvl1pPr marL="228600" indent="-228600">
              <a:spcBef>
                <a:spcPts val="300"/>
              </a:spcBef>
              <a:defRPr lang="en-US" altLang="ja-JP" sz="2000" kern="1200" dirty="0">
                <a:solidFill>
                  <a:schemeClr val="bg1"/>
                </a:solidFill>
                <a:latin typeface="Roboto Medium" pitchFamily="2" charset="0"/>
                <a:ea typeface="Roboto Medium" pitchFamily="2" charset="0"/>
                <a:cs typeface="Roboto Medium" pitchFamily="2" charset="0"/>
              </a:defRPr>
            </a:lvl1pPr>
            <a:lvl2pPr>
              <a:spcBef>
                <a:spcPts val="300"/>
              </a:spcBef>
              <a:defRPr sz="1400">
                <a:solidFill>
                  <a:schemeClr val="bg1"/>
                </a:solidFill>
                <a:latin typeface="Roboto Medium" pitchFamily="2" charset="0"/>
                <a:ea typeface="Roboto Medium" pitchFamily="2" charset="0"/>
                <a:cs typeface="Roboto Medium" pitchFamily="2" charset="0"/>
              </a:defRPr>
            </a:lvl2pPr>
            <a:lvl3pPr>
              <a:spcBef>
                <a:spcPts val="300"/>
              </a:spcBef>
              <a:defRPr sz="1200">
                <a:solidFill>
                  <a:schemeClr val="bg1"/>
                </a:solidFill>
                <a:latin typeface="Roboto Medium" pitchFamily="2" charset="0"/>
                <a:ea typeface="Roboto Medium" pitchFamily="2" charset="0"/>
                <a:cs typeface="Roboto Medium" pitchFamily="2" charset="0"/>
              </a:defRPr>
            </a:lvl3pPr>
            <a:lvl4pPr>
              <a:defRPr sz="1400">
                <a:solidFill>
                  <a:schemeClr val="bg1"/>
                </a:solidFill>
              </a:defRPr>
            </a:lvl4pPr>
            <a:lvl5pPr>
              <a:defRPr sz="1400">
                <a:solidFill>
                  <a:schemeClr val="bg1"/>
                </a:solidFill>
              </a:defRPr>
            </a:lvl5pPr>
          </a:lstStyle>
          <a:p>
            <a:pPr marL="228600" lvl="0" indent="-228600" algn="l" defTabSz="914400" rtl="0" eaLnBrk="1" latinLnBrk="0" hangingPunct="1">
              <a:lnSpc>
                <a:spcPct val="90000"/>
              </a:lnSpc>
              <a:spcBef>
                <a:spcPts val="1000"/>
              </a:spcBef>
              <a:buFont typeface="Arial" panose="020B0604020202020204" pitchFamily="34" charset="0"/>
              <a:buChar char="•"/>
            </a:pPr>
            <a:r>
              <a:rPr lang="en-US" altLang="ja-JP" dirty="0"/>
              <a:t>Editable body copy</a:t>
            </a:r>
          </a:p>
          <a:p>
            <a:pPr lvl="1"/>
            <a:r>
              <a:rPr lang="en-US" dirty="0"/>
              <a:t>Editable body copy</a:t>
            </a:r>
          </a:p>
          <a:p>
            <a:pPr lvl="2"/>
            <a:r>
              <a:rPr lang="en-US" dirty="0"/>
              <a:t>Editable body copy</a:t>
            </a:r>
          </a:p>
        </p:txBody>
      </p:sp>
      <p:sp>
        <p:nvSpPr>
          <p:cNvPr id="24" name="Text Placeholder 4">
            <a:extLst>
              <a:ext uri="{FF2B5EF4-FFF2-40B4-BE49-F238E27FC236}">
                <a16:creationId xmlns:a16="http://schemas.microsoft.com/office/drawing/2014/main" id="{0018615F-C088-3949-9CA2-1FDCB1416F79}"/>
              </a:ext>
            </a:extLst>
          </p:cNvPr>
          <p:cNvSpPr>
            <a:spLocks noGrp="1"/>
          </p:cNvSpPr>
          <p:nvPr>
            <p:ph type="body" sz="quarter" idx="23" hasCustomPrompt="1"/>
          </p:nvPr>
        </p:nvSpPr>
        <p:spPr>
          <a:xfrm>
            <a:off x="8084278" y="4648587"/>
            <a:ext cx="2848128" cy="1657350"/>
          </a:xfrm>
          <a:prstGeom prst="rect">
            <a:avLst/>
          </a:prstGeom>
        </p:spPr>
        <p:txBody>
          <a:bodyPr/>
          <a:lstStyle>
            <a:lvl1pPr marL="228600" indent="-228600">
              <a:spcBef>
                <a:spcPts val="300"/>
              </a:spcBef>
              <a:defRPr lang="en-US" altLang="ja-JP" sz="2000" kern="1200" dirty="0">
                <a:solidFill>
                  <a:schemeClr val="bg1"/>
                </a:solidFill>
                <a:latin typeface="Roboto Medium" pitchFamily="2" charset="0"/>
                <a:ea typeface="Roboto Medium" pitchFamily="2" charset="0"/>
                <a:cs typeface="Roboto Medium" pitchFamily="2" charset="0"/>
              </a:defRPr>
            </a:lvl1pPr>
            <a:lvl2pPr>
              <a:spcBef>
                <a:spcPts val="300"/>
              </a:spcBef>
              <a:defRPr sz="1400">
                <a:solidFill>
                  <a:schemeClr val="bg1"/>
                </a:solidFill>
                <a:latin typeface="Roboto Medium" pitchFamily="2" charset="0"/>
                <a:ea typeface="Roboto Medium" pitchFamily="2" charset="0"/>
                <a:cs typeface="Roboto Medium" pitchFamily="2" charset="0"/>
              </a:defRPr>
            </a:lvl2pPr>
            <a:lvl3pPr>
              <a:spcBef>
                <a:spcPts val="300"/>
              </a:spcBef>
              <a:defRPr sz="1200">
                <a:solidFill>
                  <a:schemeClr val="bg1"/>
                </a:solidFill>
                <a:latin typeface="Roboto Medium" pitchFamily="2" charset="0"/>
                <a:ea typeface="Roboto Medium" pitchFamily="2" charset="0"/>
                <a:cs typeface="Roboto Medium" pitchFamily="2" charset="0"/>
              </a:defRPr>
            </a:lvl3pPr>
            <a:lvl4pPr>
              <a:defRPr sz="1400">
                <a:solidFill>
                  <a:schemeClr val="bg1"/>
                </a:solidFill>
              </a:defRPr>
            </a:lvl4pPr>
            <a:lvl5pPr>
              <a:defRPr sz="1400">
                <a:solidFill>
                  <a:schemeClr val="bg1"/>
                </a:solidFill>
              </a:defRPr>
            </a:lvl5pPr>
          </a:lstStyle>
          <a:p>
            <a:pPr marL="228600" lvl="0" indent="-228600" algn="l" defTabSz="914400" rtl="0" eaLnBrk="1" latinLnBrk="0" hangingPunct="1">
              <a:lnSpc>
                <a:spcPct val="90000"/>
              </a:lnSpc>
              <a:spcBef>
                <a:spcPts val="1000"/>
              </a:spcBef>
              <a:buFont typeface="Arial" panose="020B0604020202020204" pitchFamily="34" charset="0"/>
              <a:buChar char="•"/>
            </a:pPr>
            <a:r>
              <a:rPr lang="en-US" altLang="ja-JP" dirty="0"/>
              <a:t>Editable body copy</a:t>
            </a:r>
          </a:p>
          <a:p>
            <a:pPr lvl="1"/>
            <a:r>
              <a:rPr lang="en-US" dirty="0"/>
              <a:t>Editable body copy</a:t>
            </a:r>
          </a:p>
          <a:p>
            <a:pPr lvl="2"/>
            <a:r>
              <a:rPr lang="en-US" dirty="0"/>
              <a:t>Editable body copy</a:t>
            </a:r>
          </a:p>
        </p:txBody>
      </p:sp>
      <p:sp>
        <p:nvSpPr>
          <p:cNvPr id="22" name="Slide Number Placeholder 17"/>
          <p:cNvSpPr>
            <a:spLocks noGrp="1"/>
          </p:cNvSpPr>
          <p:nvPr>
            <p:ph type="sldNum" sz="quarter" idx="14"/>
          </p:nvPr>
        </p:nvSpPr>
        <p:spPr bwMode="gray">
          <a:xfrm>
            <a:off x="11367146" y="6096000"/>
            <a:ext cx="596254" cy="365125"/>
          </a:xfrm>
          <a:prstGeom prst="rect">
            <a:avLst/>
          </a:prstGeom>
        </p:spPr>
        <p:txBody>
          <a:bodyPr anchor="ctr"/>
          <a:lstStyle>
            <a:lvl1pPr algn="ctr">
              <a:defRPr sz="1800" b="0" i="0">
                <a:solidFill>
                  <a:schemeClr val="tx1"/>
                </a:solidFill>
                <a:latin typeface="Roboto Medium" pitchFamily="2" charset="0"/>
                <a:ea typeface="Roboto Medium" pitchFamily="2" charset="0"/>
              </a:defRPr>
            </a:lvl1pPr>
          </a:lstStyle>
          <a:p>
            <a:fld id="{45A3C14A-F937-4231-B6F1-40B429FAFB2F}" type="slidenum">
              <a:rPr lang="en-NZ" smtClean="0"/>
              <a:pPr/>
              <a:t>‹#›</a:t>
            </a:fld>
            <a:endParaRPr lang="en-NZ" dirty="0"/>
          </a:p>
        </p:txBody>
      </p:sp>
    </p:spTree>
    <p:extLst>
      <p:ext uri="{BB962C8B-B14F-4D97-AF65-F5344CB8AC3E}">
        <p14:creationId xmlns:p14="http://schemas.microsoft.com/office/powerpoint/2010/main" val="2704828333"/>
      </p:ext>
    </p:extLst>
  </p:cSld>
  <p:clrMapOvr>
    <a:masterClrMapping/>
  </p:clrMapOvr>
</p:sldLayout>
</file>

<file path=ppt/slideLayouts/slideLayout32.xml><?xml version="1.0" encoding="utf-8"?>
<p:sldLayout xmlns:a="http://schemas.openxmlformats.org/drawingml/2006/main" xmlns:r="http://schemas.openxmlformats.org/officeDocument/2006/relationships" xmlns:p="http://schemas.openxmlformats.org/presentationml/2006/main" preserve="1" userDrawn="1">
  <p:cSld name="Flow Slide White">
    <p:bg bwMode="gray">
      <p:bgPr>
        <a:solidFill>
          <a:schemeClr val="bg1"/>
        </a:solidFill>
        <a:effectLst/>
      </p:bgPr>
    </p:bg>
    <p:spTree>
      <p:nvGrpSpPr>
        <p:cNvPr id="1" name=""/>
        <p:cNvGrpSpPr/>
        <p:nvPr/>
      </p:nvGrpSpPr>
      <p:grpSpPr>
        <a:xfrm>
          <a:off x="0" y="0"/>
          <a:ext cx="0" cy="0"/>
          <a:chOff x="0" y="0"/>
          <a:chExt cx="0" cy="0"/>
        </a:xfrm>
      </p:grpSpPr>
      <p:pic>
        <p:nvPicPr>
          <p:cNvPr id="23" name="Picture 2" descr="C:\Users\Admin\Downloads\ilovepdf_pages-to-jpg (3)\RU_PPT Template-White Blank (1)_page-0005.jpg"/>
          <p:cNvPicPr>
            <a:picLocks noChangeAspect="1" noChangeArrowheads="1"/>
          </p:cNvPicPr>
          <p:nvPr userDrawn="1"/>
        </p:nvPicPr>
        <p:blipFill>
          <a:blip r:embed="rId2"/>
          <a:srcRect/>
          <a:stretch>
            <a:fillRect/>
          </a:stretch>
        </p:blipFill>
        <p:spPr bwMode="auto">
          <a:xfrm>
            <a:off x="-1" y="0"/>
            <a:ext cx="12193191" cy="6858000"/>
          </a:xfrm>
          <a:prstGeom prst="rect">
            <a:avLst/>
          </a:prstGeom>
          <a:noFill/>
        </p:spPr>
      </p:pic>
      <p:sp>
        <p:nvSpPr>
          <p:cNvPr id="12" name="Title 1">
            <a:extLst>
              <a:ext uri="{FF2B5EF4-FFF2-40B4-BE49-F238E27FC236}">
                <a16:creationId xmlns:a16="http://schemas.microsoft.com/office/drawing/2014/main" id="{E9E6745F-DAB6-B248-B478-7A0CF8A76EEA}"/>
              </a:ext>
            </a:extLst>
          </p:cNvPr>
          <p:cNvSpPr>
            <a:spLocks noGrp="1"/>
          </p:cNvSpPr>
          <p:nvPr>
            <p:ph type="title" hasCustomPrompt="1"/>
          </p:nvPr>
        </p:nvSpPr>
        <p:spPr bwMode="gray">
          <a:xfrm>
            <a:off x="595470" y="395786"/>
            <a:ext cx="5258776" cy="838202"/>
          </a:xfrm>
          <a:prstGeom prst="rect">
            <a:avLst/>
          </a:prstGeom>
        </p:spPr>
        <p:txBody>
          <a:bodyPr anchor="ctr" anchorCtr="0">
            <a:noAutofit/>
          </a:bodyPr>
          <a:lstStyle>
            <a:lvl1pPr>
              <a:defRPr sz="2800" cap="all" spc="0" baseline="0">
                <a:solidFill>
                  <a:srgbClr val="A5A5A5"/>
                </a:solidFill>
                <a:latin typeface="Roboto Medium" pitchFamily="2" charset="0"/>
                <a:ea typeface="Roboto Medium" pitchFamily="2" charset="0"/>
                <a:cs typeface="Roboto Medium" pitchFamily="2" charset="0"/>
              </a:defRPr>
            </a:lvl1pPr>
          </a:lstStyle>
          <a:p>
            <a:r>
              <a:rPr lang="en-US" dirty="0"/>
              <a:t>Workflow slide</a:t>
            </a:r>
          </a:p>
        </p:txBody>
      </p:sp>
      <p:sp>
        <p:nvSpPr>
          <p:cNvPr id="8" name="Pentagon 7">
            <a:extLst>
              <a:ext uri="{FF2B5EF4-FFF2-40B4-BE49-F238E27FC236}">
                <a16:creationId xmlns:a16="http://schemas.microsoft.com/office/drawing/2014/main" id="{5A79C9B3-40EA-6841-962A-BB4931099614}"/>
              </a:ext>
            </a:extLst>
          </p:cNvPr>
          <p:cNvSpPr/>
          <p:nvPr userDrawn="1"/>
        </p:nvSpPr>
        <p:spPr>
          <a:xfrm>
            <a:off x="808086" y="2636912"/>
            <a:ext cx="3816424" cy="1800200"/>
          </a:xfrm>
          <a:prstGeom prst="homePlate">
            <a:avLst>
              <a:gd name="adj" fmla="val 22899"/>
            </a:avLst>
          </a:prstGeom>
          <a:no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srgbClr val="A5A5A5"/>
              </a:solidFill>
              <a:latin typeface="Roboto Medium" pitchFamily="2" charset="0"/>
              <a:ea typeface="Roboto Medium" pitchFamily="2" charset="0"/>
              <a:cs typeface="Nobel-Light" panose="02000506020000020004" pitchFamily="2" charset="0"/>
            </a:endParaRPr>
          </a:p>
        </p:txBody>
      </p:sp>
      <p:sp>
        <p:nvSpPr>
          <p:cNvPr id="13" name="Freeform 12">
            <a:extLst>
              <a:ext uri="{FF2B5EF4-FFF2-40B4-BE49-F238E27FC236}">
                <a16:creationId xmlns:a16="http://schemas.microsoft.com/office/drawing/2014/main" id="{65D17357-6BFE-1941-B56A-C8F51F73177D}"/>
              </a:ext>
            </a:extLst>
          </p:cNvPr>
          <p:cNvSpPr/>
          <p:nvPr userDrawn="1"/>
        </p:nvSpPr>
        <p:spPr>
          <a:xfrm>
            <a:off x="4408486" y="2636912"/>
            <a:ext cx="3487714" cy="1800200"/>
          </a:xfrm>
          <a:custGeom>
            <a:avLst/>
            <a:gdLst>
              <a:gd name="connsiteX0" fmla="*/ 0 w 3487714"/>
              <a:gd name="connsiteY0" fmla="*/ 0 h 1800200"/>
              <a:gd name="connsiteX1" fmla="*/ 3075486 w 3487714"/>
              <a:gd name="connsiteY1" fmla="*/ 0 h 1800200"/>
              <a:gd name="connsiteX2" fmla="*/ 3487714 w 3487714"/>
              <a:gd name="connsiteY2" fmla="*/ 900100 h 1800200"/>
              <a:gd name="connsiteX3" fmla="*/ 3075486 w 3487714"/>
              <a:gd name="connsiteY3" fmla="*/ 1800200 h 1800200"/>
              <a:gd name="connsiteX4" fmla="*/ 0 w 3487714"/>
              <a:gd name="connsiteY4" fmla="*/ 1800200 h 1800200"/>
              <a:gd name="connsiteX5" fmla="*/ 412228 w 3487714"/>
              <a:gd name="connsiteY5" fmla="*/ 900100 h 1800200"/>
              <a:gd name="connsiteX6" fmla="*/ 0 w 3487714"/>
              <a:gd name="connsiteY6" fmla="*/ 0 h 18002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3487714" h="1800200">
                <a:moveTo>
                  <a:pt x="0" y="0"/>
                </a:moveTo>
                <a:lnTo>
                  <a:pt x="3075486" y="0"/>
                </a:lnTo>
                <a:lnTo>
                  <a:pt x="3487714" y="900100"/>
                </a:lnTo>
                <a:lnTo>
                  <a:pt x="3075486" y="1800200"/>
                </a:lnTo>
                <a:lnTo>
                  <a:pt x="0" y="1800200"/>
                </a:lnTo>
                <a:lnTo>
                  <a:pt x="412228" y="900100"/>
                </a:lnTo>
                <a:lnTo>
                  <a:pt x="0" y="0"/>
                </a:lnTo>
                <a:close/>
              </a:path>
            </a:pathLst>
          </a:custGeom>
          <a:no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srgbClr val="A5A5A5"/>
              </a:solidFill>
              <a:latin typeface="Roboto Medium" pitchFamily="2" charset="0"/>
              <a:ea typeface="Roboto Medium" pitchFamily="2" charset="0"/>
              <a:cs typeface="Nobel-Light" panose="02000506020000020004" pitchFamily="2" charset="0"/>
            </a:endParaRPr>
          </a:p>
        </p:txBody>
      </p:sp>
      <p:sp>
        <p:nvSpPr>
          <p:cNvPr id="14" name="Freeform 13">
            <a:extLst>
              <a:ext uri="{FF2B5EF4-FFF2-40B4-BE49-F238E27FC236}">
                <a16:creationId xmlns:a16="http://schemas.microsoft.com/office/drawing/2014/main" id="{480B83C1-8261-F644-8639-88185FC10CFE}"/>
              </a:ext>
            </a:extLst>
          </p:cNvPr>
          <p:cNvSpPr/>
          <p:nvPr userDrawn="1"/>
        </p:nvSpPr>
        <p:spPr>
          <a:xfrm>
            <a:off x="7648846" y="2636912"/>
            <a:ext cx="3487714" cy="1800200"/>
          </a:xfrm>
          <a:custGeom>
            <a:avLst/>
            <a:gdLst>
              <a:gd name="connsiteX0" fmla="*/ 0 w 3487714"/>
              <a:gd name="connsiteY0" fmla="*/ 0 h 1800200"/>
              <a:gd name="connsiteX1" fmla="*/ 3075486 w 3487714"/>
              <a:gd name="connsiteY1" fmla="*/ 0 h 1800200"/>
              <a:gd name="connsiteX2" fmla="*/ 3487714 w 3487714"/>
              <a:gd name="connsiteY2" fmla="*/ 900100 h 1800200"/>
              <a:gd name="connsiteX3" fmla="*/ 3075486 w 3487714"/>
              <a:gd name="connsiteY3" fmla="*/ 1800200 h 1800200"/>
              <a:gd name="connsiteX4" fmla="*/ 0 w 3487714"/>
              <a:gd name="connsiteY4" fmla="*/ 1800200 h 1800200"/>
              <a:gd name="connsiteX5" fmla="*/ 412228 w 3487714"/>
              <a:gd name="connsiteY5" fmla="*/ 900100 h 1800200"/>
              <a:gd name="connsiteX6" fmla="*/ 0 w 3487714"/>
              <a:gd name="connsiteY6" fmla="*/ 0 h 18002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3487714" h="1800200">
                <a:moveTo>
                  <a:pt x="0" y="0"/>
                </a:moveTo>
                <a:lnTo>
                  <a:pt x="3075486" y="0"/>
                </a:lnTo>
                <a:lnTo>
                  <a:pt x="3487714" y="900100"/>
                </a:lnTo>
                <a:lnTo>
                  <a:pt x="3075486" y="1800200"/>
                </a:lnTo>
                <a:lnTo>
                  <a:pt x="0" y="1800200"/>
                </a:lnTo>
                <a:lnTo>
                  <a:pt x="412228" y="900100"/>
                </a:lnTo>
                <a:lnTo>
                  <a:pt x="0" y="0"/>
                </a:lnTo>
                <a:close/>
              </a:path>
            </a:pathLst>
          </a:custGeom>
          <a:no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srgbClr val="A5A5A5"/>
              </a:solidFill>
              <a:latin typeface="Roboto Medium" pitchFamily="2" charset="0"/>
              <a:ea typeface="Roboto Medium" pitchFamily="2" charset="0"/>
              <a:cs typeface="Nobel-Light" panose="02000506020000020004" pitchFamily="2" charset="0"/>
            </a:endParaRPr>
          </a:p>
        </p:txBody>
      </p:sp>
      <p:sp>
        <p:nvSpPr>
          <p:cNvPr id="15" name="Text Placeholder 4">
            <a:extLst>
              <a:ext uri="{FF2B5EF4-FFF2-40B4-BE49-F238E27FC236}">
                <a16:creationId xmlns:a16="http://schemas.microsoft.com/office/drawing/2014/main" id="{CF6605B9-0F65-4D4B-9FFA-E922993530EA}"/>
              </a:ext>
            </a:extLst>
          </p:cNvPr>
          <p:cNvSpPr>
            <a:spLocks noGrp="1"/>
          </p:cNvSpPr>
          <p:nvPr>
            <p:ph type="body" sz="quarter" idx="18" hasCustomPrompt="1"/>
          </p:nvPr>
        </p:nvSpPr>
        <p:spPr>
          <a:xfrm>
            <a:off x="880590" y="2708275"/>
            <a:ext cx="3311525" cy="1657350"/>
          </a:xfrm>
          <a:prstGeom prst="rect">
            <a:avLst/>
          </a:prstGeom>
        </p:spPr>
        <p:txBody>
          <a:bodyPr/>
          <a:lstStyle>
            <a:lvl1pPr>
              <a:spcBef>
                <a:spcPts val="500"/>
              </a:spcBef>
              <a:defRPr sz="1800">
                <a:solidFill>
                  <a:srgbClr val="A5A5A5"/>
                </a:solidFill>
                <a:latin typeface="Roboto Medium" pitchFamily="2" charset="0"/>
                <a:ea typeface="Roboto Medium" pitchFamily="2" charset="0"/>
                <a:cs typeface="Roboto Medium" pitchFamily="2" charset="0"/>
              </a:defRPr>
            </a:lvl1pPr>
            <a:lvl2pPr>
              <a:defRPr sz="1400">
                <a:solidFill>
                  <a:schemeClr val="bg1"/>
                </a:solidFill>
              </a:defRPr>
            </a:lvl2pPr>
            <a:lvl3pPr>
              <a:defRPr sz="1200">
                <a:solidFill>
                  <a:schemeClr val="bg1"/>
                </a:solidFill>
              </a:defRPr>
            </a:lvl3pPr>
            <a:lvl4pPr>
              <a:defRPr sz="1400">
                <a:solidFill>
                  <a:schemeClr val="bg1"/>
                </a:solidFill>
              </a:defRPr>
            </a:lvl4pPr>
            <a:lvl5pPr>
              <a:defRPr sz="1400">
                <a:solidFill>
                  <a:schemeClr val="bg1"/>
                </a:solidFill>
              </a:defRPr>
            </a:lvl5pPr>
          </a:lstStyle>
          <a:p>
            <a:pPr lvl="0"/>
            <a:r>
              <a:rPr lang="en-US" altLang="ja-JP" dirty="0"/>
              <a:t>Editable body copy</a:t>
            </a:r>
          </a:p>
        </p:txBody>
      </p:sp>
      <p:sp>
        <p:nvSpPr>
          <p:cNvPr id="16" name="Text Placeholder 4">
            <a:extLst>
              <a:ext uri="{FF2B5EF4-FFF2-40B4-BE49-F238E27FC236}">
                <a16:creationId xmlns:a16="http://schemas.microsoft.com/office/drawing/2014/main" id="{99737036-FF00-C544-808C-D5A2177D418C}"/>
              </a:ext>
            </a:extLst>
          </p:cNvPr>
          <p:cNvSpPr>
            <a:spLocks noGrp="1"/>
          </p:cNvSpPr>
          <p:nvPr>
            <p:ph type="body" sz="quarter" idx="19" hasCustomPrompt="1"/>
          </p:nvPr>
        </p:nvSpPr>
        <p:spPr>
          <a:xfrm>
            <a:off x="4840534" y="2708275"/>
            <a:ext cx="2826775" cy="1657350"/>
          </a:xfrm>
          <a:prstGeom prst="rect">
            <a:avLst/>
          </a:prstGeom>
        </p:spPr>
        <p:txBody>
          <a:bodyPr/>
          <a:lstStyle>
            <a:lvl1pPr>
              <a:spcBef>
                <a:spcPts val="500"/>
              </a:spcBef>
              <a:defRPr sz="1800">
                <a:solidFill>
                  <a:srgbClr val="A5A5A5"/>
                </a:solidFill>
                <a:latin typeface="Roboto Medium" pitchFamily="2" charset="0"/>
                <a:ea typeface="Roboto Medium" pitchFamily="2" charset="0"/>
                <a:cs typeface="Roboto Medium" pitchFamily="2" charset="0"/>
              </a:defRPr>
            </a:lvl1pPr>
            <a:lvl2pPr>
              <a:defRPr sz="1400">
                <a:solidFill>
                  <a:schemeClr val="bg1"/>
                </a:solidFill>
              </a:defRPr>
            </a:lvl2pPr>
            <a:lvl3pPr>
              <a:defRPr sz="1200">
                <a:solidFill>
                  <a:schemeClr val="bg1"/>
                </a:solidFill>
              </a:defRPr>
            </a:lvl3pPr>
            <a:lvl4pPr>
              <a:defRPr sz="1400">
                <a:solidFill>
                  <a:schemeClr val="bg1"/>
                </a:solidFill>
              </a:defRPr>
            </a:lvl4pPr>
            <a:lvl5pPr>
              <a:defRPr sz="1400">
                <a:solidFill>
                  <a:schemeClr val="bg1"/>
                </a:solidFill>
              </a:defRPr>
            </a:lvl5pPr>
          </a:lstStyle>
          <a:p>
            <a:pPr lvl="0"/>
            <a:r>
              <a:rPr lang="en-US" altLang="ja-JP" dirty="0"/>
              <a:t>Editable body copy</a:t>
            </a:r>
          </a:p>
        </p:txBody>
      </p:sp>
      <p:sp>
        <p:nvSpPr>
          <p:cNvPr id="17" name="Text Placeholder 4">
            <a:extLst>
              <a:ext uri="{FF2B5EF4-FFF2-40B4-BE49-F238E27FC236}">
                <a16:creationId xmlns:a16="http://schemas.microsoft.com/office/drawing/2014/main" id="{91CC5985-5A7F-6441-BC10-7E669F1E87CB}"/>
              </a:ext>
            </a:extLst>
          </p:cNvPr>
          <p:cNvSpPr>
            <a:spLocks noGrp="1"/>
          </p:cNvSpPr>
          <p:nvPr>
            <p:ph type="body" sz="quarter" idx="20" hasCustomPrompt="1"/>
          </p:nvPr>
        </p:nvSpPr>
        <p:spPr>
          <a:xfrm>
            <a:off x="8105631" y="2708275"/>
            <a:ext cx="2826775" cy="1657350"/>
          </a:xfrm>
          <a:prstGeom prst="rect">
            <a:avLst/>
          </a:prstGeom>
        </p:spPr>
        <p:txBody>
          <a:bodyPr/>
          <a:lstStyle>
            <a:lvl1pPr>
              <a:spcBef>
                <a:spcPts val="500"/>
              </a:spcBef>
              <a:defRPr sz="1800">
                <a:solidFill>
                  <a:srgbClr val="A5A5A5"/>
                </a:solidFill>
                <a:latin typeface="Roboto Medium" pitchFamily="2" charset="0"/>
                <a:ea typeface="Roboto Medium" pitchFamily="2" charset="0"/>
                <a:cs typeface="Roboto Medium" pitchFamily="2" charset="0"/>
              </a:defRPr>
            </a:lvl1pPr>
            <a:lvl2pPr>
              <a:defRPr sz="1400">
                <a:solidFill>
                  <a:schemeClr val="bg1"/>
                </a:solidFill>
              </a:defRPr>
            </a:lvl2pPr>
            <a:lvl3pPr>
              <a:defRPr sz="1200">
                <a:solidFill>
                  <a:schemeClr val="bg1"/>
                </a:solidFill>
              </a:defRPr>
            </a:lvl3pPr>
            <a:lvl4pPr>
              <a:defRPr sz="1400">
                <a:solidFill>
                  <a:schemeClr val="bg1"/>
                </a:solidFill>
              </a:defRPr>
            </a:lvl4pPr>
            <a:lvl5pPr>
              <a:defRPr sz="1400">
                <a:solidFill>
                  <a:schemeClr val="bg1"/>
                </a:solidFill>
              </a:defRPr>
            </a:lvl5pPr>
          </a:lstStyle>
          <a:p>
            <a:pPr lvl="0"/>
            <a:r>
              <a:rPr lang="en-US" altLang="ja-JP" dirty="0"/>
              <a:t>Editable body copy</a:t>
            </a:r>
          </a:p>
        </p:txBody>
      </p:sp>
      <p:sp>
        <p:nvSpPr>
          <p:cNvPr id="18" name="Text Placeholder 4">
            <a:extLst>
              <a:ext uri="{FF2B5EF4-FFF2-40B4-BE49-F238E27FC236}">
                <a16:creationId xmlns:a16="http://schemas.microsoft.com/office/drawing/2014/main" id="{6AB7B642-A681-B34E-977A-6F85EA6BC12A}"/>
              </a:ext>
            </a:extLst>
          </p:cNvPr>
          <p:cNvSpPr>
            <a:spLocks noGrp="1"/>
          </p:cNvSpPr>
          <p:nvPr>
            <p:ph type="body" sz="quarter" idx="21" hasCustomPrompt="1"/>
          </p:nvPr>
        </p:nvSpPr>
        <p:spPr>
          <a:xfrm>
            <a:off x="880590" y="4648587"/>
            <a:ext cx="3311525" cy="1657350"/>
          </a:xfrm>
          <a:prstGeom prst="rect">
            <a:avLst/>
          </a:prstGeom>
        </p:spPr>
        <p:txBody>
          <a:bodyPr/>
          <a:lstStyle>
            <a:lvl1pPr marL="228600" indent="-228600">
              <a:spcBef>
                <a:spcPts val="300"/>
              </a:spcBef>
              <a:defRPr lang="en-US" altLang="ja-JP" sz="2000" kern="1200" dirty="0">
                <a:solidFill>
                  <a:srgbClr val="A5A5A5"/>
                </a:solidFill>
                <a:latin typeface="Roboto Medium" pitchFamily="2" charset="0"/>
                <a:ea typeface="Roboto Medium" pitchFamily="2" charset="0"/>
                <a:cs typeface="Roboto Medium" pitchFamily="2" charset="0"/>
              </a:defRPr>
            </a:lvl1pPr>
            <a:lvl2pPr>
              <a:spcBef>
                <a:spcPts val="300"/>
              </a:spcBef>
              <a:defRPr sz="1400">
                <a:solidFill>
                  <a:srgbClr val="A5A5A5"/>
                </a:solidFill>
                <a:latin typeface="Roboto Medium" pitchFamily="2" charset="0"/>
                <a:ea typeface="Roboto Medium" pitchFamily="2" charset="0"/>
                <a:cs typeface="Roboto Medium" pitchFamily="2" charset="0"/>
              </a:defRPr>
            </a:lvl2pPr>
            <a:lvl3pPr>
              <a:spcBef>
                <a:spcPts val="300"/>
              </a:spcBef>
              <a:defRPr sz="1200">
                <a:solidFill>
                  <a:srgbClr val="A5A5A5"/>
                </a:solidFill>
                <a:latin typeface="Roboto Medium" pitchFamily="2" charset="0"/>
                <a:ea typeface="Roboto Medium" pitchFamily="2" charset="0"/>
                <a:cs typeface="Roboto Medium" pitchFamily="2" charset="0"/>
              </a:defRPr>
            </a:lvl3pPr>
            <a:lvl4pPr>
              <a:defRPr sz="1400">
                <a:solidFill>
                  <a:schemeClr val="bg1"/>
                </a:solidFill>
              </a:defRPr>
            </a:lvl4pPr>
            <a:lvl5pPr>
              <a:defRPr sz="1400">
                <a:solidFill>
                  <a:schemeClr val="bg1"/>
                </a:solidFill>
              </a:defRPr>
            </a:lvl5pPr>
          </a:lstStyle>
          <a:p>
            <a:pPr marL="228600" lvl="0" indent="-228600" algn="l" defTabSz="914400" rtl="0" eaLnBrk="1" latinLnBrk="0" hangingPunct="1">
              <a:lnSpc>
                <a:spcPct val="90000"/>
              </a:lnSpc>
              <a:spcBef>
                <a:spcPts val="1000"/>
              </a:spcBef>
              <a:buFont typeface="Arial" panose="020B0604020202020204" pitchFamily="34" charset="0"/>
              <a:buChar char="•"/>
            </a:pPr>
            <a:r>
              <a:rPr lang="en-US" altLang="ja-JP" dirty="0"/>
              <a:t>Editable body copy</a:t>
            </a:r>
          </a:p>
          <a:p>
            <a:pPr lvl="1"/>
            <a:r>
              <a:rPr lang="en-US" dirty="0"/>
              <a:t>Editable body copy</a:t>
            </a:r>
          </a:p>
          <a:p>
            <a:pPr lvl="2"/>
            <a:r>
              <a:rPr lang="en-US" dirty="0"/>
              <a:t>Editable body copy</a:t>
            </a:r>
          </a:p>
        </p:txBody>
      </p:sp>
      <p:sp>
        <p:nvSpPr>
          <p:cNvPr id="19" name="Text Placeholder 4">
            <a:extLst>
              <a:ext uri="{FF2B5EF4-FFF2-40B4-BE49-F238E27FC236}">
                <a16:creationId xmlns:a16="http://schemas.microsoft.com/office/drawing/2014/main" id="{82827E12-373D-8B4F-AD69-9F7C005EDEA9}"/>
              </a:ext>
            </a:extLst>
          </p:cNvPr>
          <p:cNvSpPr>
            <a:spLocks noGrp="1"/>
          </p:cNvSpPr>
          <p:nvPr>
            <p:ph type="body" sz="quarter" idx="22" hasCustomPrompt="1"/>
          </p:nvPr>
        </p:nvSpPr>
        <p:spPr>
          <a:xfrm>
            <a:off x="4872727" y="4648587"/>
            <a:ext cx="2848128" cy="1657350"/>
          </a:xfrm>
          <a:prstGeom prst="rect">
            <a:avLst/>
          </a:prstGeom>
        </p:spPr>
        <p:txBody>
          <a:bodyPr/>
          <a:lstStyle>
            <a:lvl1pPr marL="228600" indent="-228600">
              <a:spcBef>
                <a:spcPts val="300"/>
              </a:spcBef>
              <a:defRPr lang="en-US" altLang="ja-JP" sz="2000" kern="1200" dirty="0">
                <a:solidFill>
                  <a:srgbClr val="A5A5A5"/>
                </a:solidFill>
                <a:latin typeface="Roboto Medium" pitchFamily="2" charset="0"/>
                <a:ea typeface="Roboto Medium" pitchFamily="2" charset="0"/>
                <a:cs typeface="Roboto Medium" pitchFamily="2" charset="0"/>
              </a:defRPr>
            </a:lvl1pPr>
            <a:lvl2pPr>
              <a:spcBef>
                <a:spcPts val="300"/>
              </a:spcBef>
              <a:defRPr sz="1400">
                <a:solidFill>
                  <a:srgbClr val="A5A5A5"/>
                </a:solidFill>
                <a:latin typeface="Roboto Medium" pitchFamily="2" charset="0"/>
                <a:ea typeface="Roboto Medium" pitchFamily="2" charset="0"/>
                <a:cs typeface="Roboto Medium" pitchFamily="2" charset="0"/>
              </a:defRPr>
            </a:lvl2pPr>
            <a:lvl3pPr>
              <a:spcBef>
                <a:spcPts val="300"/>
              </a:spcBef>
              <a:defRPr sz="1200">
                <a:solidFill>
                  <a:srgbClr val="A5A5A5"/>
                </a:solidFill>
                <a:latin typeface="Roboto Medium" pitchFamily="2" charset="0"/>
                <a:ea typeface="Roboto Medium" pitchFamily="2" charset="0"/>
                <a:cs typeface="Roboto Medium" pitchFamily="2" charset="0"/>
              </a:defRPr>
            </a:lvl3pPr>
            <a:lvl4pPr>
              <a:defRPr sz="1400">
                <a:solidFill>
                  <a:schemeClr val="bg1"/>
                </a:solidFill>
              </a:defRPr>
            </a:lvl4pPr>
            <a:lvl5pPr>
              <a:defRPr sz="1400">
                <a:solidFill>
                  <a:schemeClr val="bg1"/>
                </a:solidFill>
              </a:defRPr>
            </a:lvl5pPr>
          </a:lstStyle>
          <a:p>
            <a:pPr marL="228600" lvl="0" indent="-228600" algn="l" defTabSz="914400" rtl="0" eaLnBrk="1" latinLnBrk="0" hangingPunct="1">
              <a:lnSpc>
                <a:spcPct val="90000"/>
              </a:lnSpc>
              <a:spcBef>
                <a:spcPts val="1000"/>
              </a:spcBef>
              <a:buFont typeface="Arial" panose="020B0604020202020204" pitchFamily="34" charset="0"/>
              <a:buChar char="•"/>
            </a:pPr>
            <a:r>
              <a:rPr lang="en-US" altLang="ja-JP" dirty="0"/>
              <a:t>Editable body copy</a:t>
            </a:r>
          </a:p>
          <a:p>
            <a:pPr lvl="1"/>
            <a:r>
              <a:rPr lang="en-US" dirty="0"/>
              <a:t>Editable body copy</a:t>
            </a:r>
          </a:p>
          <a:p>
            <a:pPr lvl="2"/>
            <a:r>
              <a:rPr lang="en-US" dirty="0"/>
              <a:t>Editable body copy</a:t>
            </a:r>
          </a:p>
        </p:txBody>
      </p:sp>
      <p:sp>
        <p:nvSpPr>
          <p:cNvPr id="20" name="Text Placeholder 4">
            <a:extLst>
              <a:ext uri="{FF2B5EF4-FFF2-40B4-BE49-F238E27FC236}">
                <a16:creationId xmlns:a16="http://schemas.microsoft.com/office/drawing/2014/main" id="{9FCBB0C0-51D7-0448-A90C-8B8B74462D90}"/>
              </a:ext>
            </a:extLst>
          </p:cNvPr>
          <p:cNvSpPr>
            <a:spLocks noGrp="1"/>
          </p:cNvSpPr>
          <p:nvPr>
            <p:ph type="body" sz="quarter" idx="23" hasCustomPrompt="1"/>
          </p:nvPr>
        </p:nvSpPr>
        <p:spPr>
          <a:xfrm>
            <a:off x="8084278" y="4648587"/>
            <a:ext cx="2848128" cy="1657350"/>
          </a:xfrm>
          <a:prstGeom prst="rect">
            <a:avLst/>
          </a:prstGeom>
        </p:spPr>
        <p:txBody>
          <a:bodyPr/>
          <a:lstStyle>
            <a:lvl1pPr marL="228600" indent="-228600">
              <a:spcBef>
                <a:spcPts val="300"/>
              </a:spcBef>
              <a:defRPr lang="en-US" altLang="ja-JP" sz="2000" kern="1200" dirty="0">
                <a:solidFill>
                  <a:srgbClr val="A5A5A5"/>
                </a:solidFill>
                <a:latin typeface="Roboto Medium" pitchFamily="2" charset="0"/>
                <a:ea typeface="Roboto Medium" pitchFamily="2" charset="0"/>
                <a:cs typeface="Roboto Medium" pitchFamily="2" charset="0"/>
              </a:defRPr>
            </a:lvl1pPr>
            <a:lvl2pPr>
              <a:spcBef>
                <a:spcPts val="300"/>
              </a:spcBef>
              <a:defRPr sz="1400">
                <a:solidFill>
                  <a:srgbClr val="A5A5A5"/>
                </a:solidFill>
                <a:latin typeface="Roboto Medium" pitchFamily="2" charset="0"/>
                <a:ea typeface="Roboto Medium" pitchFamily="2" charset="0"/>
                <a:cs typeface="Roboto Medium" pitchFamily="2" charset="0"/>
              </a:defRPr>
            </a:lvl2pPr>
            <a:lvl3pPr>
              <a:spcBef>
                <a:spcPts val="300"/>
              </a:spcBef>
              <a:defRPr sz="1200">
                <a:solidFill>
                  <a:srgbClr val="A5A5A5"/>
                </a:solidFill>
                <a:latin typeface="Roboto Medium" pitchFamily="2" charset="0"/>
                <a:ea typeface="Roboto Medium" pitchFamily="2" charset="0"/>
                <a:cs typeface="Roboto Medium" pitchFamily="2" charset="0"/>
              </a:defRPr>
            </a:lvl3pPr>
            <a:lvl4pPr>
              <a:defRPr sz="1400">
                <a:solidFill>
                  <a:schemeClr val="bg1"/>
                </a:solidFill>
              </a:defRPr>
            </a:lvl4pPr>
            <a:lvl5pPr>
              <a:defRPr sz="1400">
                <a:solidFill>
                  <a:schemeClr val="bg1"/>
                </a:solidFill>
              </a:defRPr>
            </a:lvl5pPr>
          </a:lstStyle>
          <a:p>
            <a:pPr marL="228600" lvl="0" indent="-228600" algn="l" defTabSz="914400" rtl="0" eaLnBrk="1" latinLnBrk="0" hangingPunct="1">
              <a:lnSpc>
                <a:spcPct val="90000"/>
              </a:lnSpc>
              <a:spcBef>
                <a:spcPts val="1000"/>
              </a:spcBef>
              <a:buFont typeface="Arial" panose="020B0604020202020204" pitchFamily="34" charset="0"/>
              <a:buChar char="•"/>
            </a:pPr>
            <a:r>
              <a:rPr lang="en-US" altLang="ja-JP" dirty="0"/>
              <a:t>Editable body copy</a:t>
            </a:r>
          </a:p>
          <a:p>
            <a:pPr lvl="1"/>
            <a:r>
              <a:rPr lang="en-US" dirty="0"/>
              <a:t>Editable body copy</a:t>
            </a:r>
          </a:p>
          <a:p>
            <a:pPr lvl="2"/>
            <a:r>
              <a:rPr lang="en-US" dirty="0"/>
              <a:t>Editable body copy</a:t>
            </a:r>
          </a:p>
        </p:txBody>
      </p:sp>
      <p:sp>
        <p:nvSpPr>
          <p:cNvPr id="21" name="Text Placeholder 2">
            <a:extLst>
              <a:ext uri="{FF2B5EF4-FFF2-40B4-BE49-F238E27FC236}">
                <a16:creationId xmlns:a16="http://schemas.microsoft.com/office/drawing/2014/main" id="{0E1F1297-EA50-094F-9E80-E44D36C5432B}"/>
              </a:ext>
            </a:extLst>
          </p:cNvPr>
          <p:cNvSpPr>
            <a:spLocks noGrp="1"/>
          </p:cNvSpPr>
          <p:nvPr>
            <p:ph type="body" sz="quarter" idx="17" hasCustomPrompt="1"/>
          </p:nvPr>
        </p:nvSpPr>
        <p:spPr>
          <a:xfrm>
            <a:off x="623392" y="1340768"/>
            <a:ext cx="11089232" cy="1008112"/>
          </a:xfrm>
          <a:prstGeom prst="rect">
            <a:avLst/>
          </a:prstGeom>
        </p:spPr>
        <p:txBody>
          <a:bodyPr anchor="ctr"/>
          <a:lstStyle>
            <a:lvl1pPr marL="0" indent="0">
              <a:spcBef>
                <a:spcPts val="1000"/>
              </a:spcBef>
              <a:buNone/>
              <a:defRPr sz="2400">
                <a:solidFill>
                  <a:srgbClr val="A5A5A5"/>
                </a:solidFill>
                <a:latin typeface="Roboto Medium" pitchFamily="2" charset="0"/>
                <a:ea typeface="Roboto Medium" pitchFamily="2" charset="0"/>
                <a:cs typeface="Roboto Medium" pitchFamily="2" charset="0"/>
              </a:defRPr>
            </a:lvl1pPr>
            <a:lvl2pPr marL="458788" indent="-215900">
              <a:spcBef>
                <a:spcPts val="900"/>
              </a:spcBef>
              <a:tabLst/>
              <a:defRPr sz="2000">
                <a:solidFill>
                  <a:schemeClr val="bg1"/>
                </a:solidFill>
              </a:defRPr>
            </a:lvl2pPr>
            <a:lvl3pPr marL="809625" indent="-215900">
              <a:spcBef>
                <a:spcPts val="900"/>
              </a:spcBef>
              <a:tabLst/>
              <a:defRPr sz="1800">
                <a:solidFill>
                  <a:schemeClr val="bg1"/>
                </a:solidFill>
              </a:defRPr>
            </a:lvl3pPr>
            <a:lvl4pPr marL="1093788" indent="-203200">
              <a:spcBef>
                <a:spcPts val="900"/>
              </a:spcBef>
              <a:tabLst/>
              <a:defRPr sz="1600">
                <a:solidFill>
                  <a:schemeClr val="bg1"/>
                </a:solidFill>
              </a:defRPr>
            </a:lvl4pPr>
            <a:lvl5pPr marL="1323975" indent="-230188">
              <a:spcBef>
                <a:spcPts val="900"/>
              </a:spcBef>
              <a:tabLst/>
              <a:defRPr sz="1600">
                <a:solidFill>
                  <a:schemeClr val="bg1"/>
                </a:solidFill>
              </a:defRPr>
            </a:lvl5pPr>
          </a:lstStyle>
          <a:p>
            <a:pPr lvl="0"/>
            <a:r>
              <a:rPr lang="en-US" dirty="0"/>
              <a:t>Editable body copy</a:t>
            </a:r>
          </a:p>
        </p:txBody>
      </p:sp>
      <p:sp>
        <p:nvSpPr>
          <p:cNvPr id="24" name="Slide Number Placeholder 17"/>
          <p:cNvSpPr>
            <a:spLocks noGrp="1"/>
          </p:cNvSpPr>
          <p:nvPr>
            <p:ph type="sldNum" sz="quarter" idx="14"/>
          </p:nvPr>
        </p:nvSpPr>
        <p:spPr bwMode="gray">
          <a:xfrm>
            <a:off x="11367146" y="6096000"/>
            <a:ext cx="596254" cy="365125"/>
          </a:xfrm>
          <a:prstGeom prst="rect">
            <a:avLst/>
          </a:prstGeom>
        </p:spPr>
        <p:txBody>
          <a:bodyPr anchor="ctr"/>
          <a:lstStyle>
            <a:lvl1pPr algn="ctr">
              <a:defRPr sz="1800" b="0" i="0">
                <a:solidFill>
                  <a:schemeClr val="tx1"/>
                </a:solidFill>
                <a:latin typeface="Roboto Medium" pitchFamily="2" charset="0"/>
                <a:ea typeface="Roboto Medium" pitchFamily="2" charset="0"/>
              </a:defRPr>
            </a:lvl1pPr>
          </a:lstStyle>
          <a:p>
            <a:fld id="{45A3C14A-F937-4231-B6F1-40B429FAFB2F}" type="slidenum">
              <a:rPr lang="en-NZ" smtClean="0"/>
              <a:pPr/>
              <a:t>‹#›</a:t>
            </a:fld>
            <a:endParaRPr lang="en-NZ" dirty="0"/>
          </a:p>
        </p:txBody>
      </p:sp>
    </p:spTree>
    <p:extLst>
      <p:ext uri="{BB962C8B-B14F-4D97-AF65-F5344CB8AC3E}">
        <p14:creationId xmlns:p14="http://schemas.microsoft.com/office/powerpoint/2010/main" val="2286059552"/>
      </p:ext>
    </p:extLst>
  </p:cSld>
  <p:clrMapOvr>
    <a:masterClrMapping/>
  </p:clrMapOvr>
</p:sldLayout>
</file>

<file path=ppt/slideLayouts/slideLayout33.xml><?xml version="1.0" encoding="utf-8"?>
<p:sldLayout xmlns:a="http://schemas.openxmlformats.org/drawingml/2006/main" xmlns:r="http://schemas.openxmlformats.org/officeDocument/2006/relationships" xmlns:p="http://schemas.openxmlformats.org/presentationml/2006/main" preserve="1" userDrawn="1">
  <p:cSld name="3_Thank You White">
    <p:bg bwMode="gray">
      <p:bgPr>
        <a:solidFill>
          <a:schemeClr val="bg1"/>
        </a:solidFill>
        <a:effectLst/>
      </p:bgPr>
    </p:bg>
    <p:spTree>
      <p:nvGrpSpPr>
        <p:cNvPr id="1" name=""/>
        <p:cNvGrpSpPr/>
        <p:nvPr/>
      </p:nvGrpSpPr>
      <p:grpSpPr>
        <a:xfrm>
          <a:off x="0" y="0"/>
          <a:ext cx="0" cy="0"/>
          <a:chOff x="0" y="0"/>
          <a:chExt cx="0" cy="0"/>
        </a:xfrm>
      </p:grpSpPr>
      <p:pic>
        <p:nvPicPr>
          <p:cNvPr id="14338" name="Picture 2" descr="C:\Users\Admin\Downloads\ilovepdf_pages-to-jpg (3)\RU_PPT Template-White Blank (1)_page-0002.jpg"/>
          <p:cNvPicPr>
            <a:picLocks noChangeAspect="1" noChangeArrowheads="1"/>
          </p:cNvPicPr>
          <p:nvPr userDrawn="1"/>
        </p:nvPicPr>
        <p:blipFill>
          <a:blip r:embed="rId2"/>
          <a:srcRect/>
          <a:stretch>
            <a:fillRect/>
          </a:stretch>
        </p:blipFill>
        <p:spPr bwMode="auto">
          <a:xfrm>
            <a:off x="-1" y="0"/>
            <a:ext cx="12193191" cy="6858000"/>
          </a:xfrm>
          <a:prstGeom prst="rect">
            <a:avLst/>
          </a:prstGeom>
          <a:noFill/>
        </p:spPr>
      </p:pic>
      <p:sp>
        <p:nvSpPr>
          <p:cNvPr id="9" name="Title 1">
            <a:extLst>
              <a:ext uri="{FF2B5EF4-FFF2-40B4-BE49-F238E27FC236}">
                <a16:creationId xmlns:a16="http://schemas.microsoft.com/office/drawing/2014/main" id="{F49B44DA-46E8-CE45-AC10-AC35239D504E}"/>
              </a:ext>
            </a:extLst>
          </p:cNvPr>
          <p:cNvSpPr>
            <a:spLocks noGrp="1"/>
          </p:cNvSpPr>
          <p:nvPr>
            <p:ph type="title" hasCustomPrompt="1"/>
          </p:nvPr>
        </p:nvSpPr>
        <p:spPr bwMode="gray">
          <a:xfrm>
            <a:off x="764976" y="2708920"/>
            <a:ext cx="10515600" cy="1325563"/>
          </a:xfrm>
          <a:prstGeom prst="rect">
            <a:avLst/>
          </a:prstGeom>
        </p:spPr>
        <p:txBody>
          <a:bodyPr lIns="91436" tIns="45718" rIns="91436" bIns="45718" anchor="ctr"/>
          <a:lstStyle>
            <a:lvl1pPr algn="ctr">
              <a:defRPr sz="7800" b="1" i="0" spc="0">
                <a:solidFill>
                  <a:srgbClr val="FF6600"/>
                </a:solidFill>
                <a:latin typeface="Roboto Medium" pitchFamily="2" charset="0"/>
                <a:ea typeface="Roboto Medium" pitchFamily="2" charset="0"/>
                <a:cs typeface="Roboto Medium" pitchFamily="2" charset="0"/>
              </a:defRPr>
            </a:lvl1pPr>
          </a:lstStyle>
          <a:p>
            <a:r>
              <a:rPr lang="en-US" dirty="0"/>
              <a:t>THANK YOU</a:t>
            </a:r>
            <a:endParaRPr lang="en-NZ" dirty="0"/>
          </a:p>
        </p:txBody>
      </p:sp>
      <p:pic>
        <p:nvPicPr>
          <p:cNvPr id="14339" name="Picture 3" descr="C:\Users\Admin\Downloads\ilovepdf_pages-to-jpg (3)\RU_PPT Template-White Blank (1)_page-0001.jpg"/>
          <p:cNvPicPr>
            <a:picLocks noChangeAspect="1" noChangeArrowheads="1"/>
          </p:cNvPicPr>
          <p:nvPr userDrawn="1"/>
        </p:nvPicPr>
        <p:blipFill>
          <a:blip r:embed="rId3" cstate="print"/>
          <a:srcRect l="6250" t="83342" b="3324"/>
          <a:stretch>
            <a:fillRect/>
          </a:stretch>
        </p:blipFill>
        <p:spPr bwMode="auto">
          <a:xfrm>
            <a:off x="2173941" y="5983224"/>
            <a:ext cx="9982200" cy="798576"/>
          </a:xfrm>
          <a:prstGeom prst="rect">
            <a:avLst/>
          </a:prstGeom>
          <a:noFill/>
        </p:spPr>
      </p:pic>
    </p:spTree>
    <p:extLst>
      <p:ext uri="{BB962C8B-B14F-4D97-AF65-F5344CB8AC3E}">
        <p14:creationId xmlns:p14="http://schemas.microsoft.com/office/powerpoint/2010/main" val="3459266439"/>
      </p:ext>
    </p:extLst>
  </p:cSld>
  <p:clrMapOvr>
    <a:masterClrMapping/>
  </p:clrMapOvr>
  <p:extLst>
    <p:ext uri="{DCECCB84-F9BA-43D5-87BE-67443E8EF086}">
      <p15:sldGuideLst xmlns:p15="http://schemas.microsoft.com/office/powerpoint/2012/main"/>
    </p:ext>
  </p:extLst>
</p:sldLayout>
</file>

<file path=ppt/slideLayouts/slideLayout34.xml><?xml version="1.0" encoding="utf-8"?>
<p:sldLayout xmlns:a="http://schemas.openxmlformats.org/drawingml/2006/main" xmlns:r="http://schemas.openxmlformats.org/officeDocument/2006/relationships" xmlns:p="http://schemas.openxmlformats.org/presentationml/2006/main" preserve="1" userDrawn="1">
  <p:cSld name="4_Thank You White">
    <p:bg bwMode="gray">
      <p:bgPr>
        <a:solidFill>
          <a:schemeClr val="bg1"/>
        </a:solidFill>
        <a:effectLst/>
      </p:bgPr>
    </p:bg>
    <p:spTree>
      <p:nvGrpSpPr>
        <p:cNvPr id="1" name=""/>
        <p:cNvGrpSpPr/>
        <p:nvPr/>
      </p:nvGrpSpPr>
      <p:grpSpPr>
        <a:xfrm>
          <a:off x="0" y="0"/>
          <a:ext cx="0" cy="0"/>
          <a:chOff x="0" y="0"/>
          <a:chExt cx="0" cy="0"/>
        </a:xfrm>
      </p:grpSpPr>
      <p:pic>
        <p:nvPicPr>
          <p:cNvPr id="5" name="Picture 2" descr="C:\Users\Admin\Downloads\ilovepdf_pages-to-jpg (2)\RU_PPT Template-Grey Blank_page-0001.jpg"/>
          <p:cNvPicPr>
            <a:picLocks noChangeAspect="1" noChangeArrowheads="1"/>
          </p:cNvPicPr>
          <p:nvPr userDrawn="1"/>
        </p:nvPicPr>
        <p:blipFill>
          <a:blip r:embed="rId2"/>
          <a:srcRect/>
          <a:stretch>
            <a:fillRect/>
          </a:stretch>
        </p:blipFill>
        <p:spPr bwMode="auto">
          <a:xfrm>
            <a:off x="-1" y="0"/>
            <a:ext cx="12193191" cy="6858000"/>
          </a:xfrm>
          <a:prstGeom prst="rect">
            <a:avLst/>
          </a:prstGeom>
          <a:noFill/>
        </p:spPr>
      </p:pic>
      <p:sp>
        <p:nvSpPr>
          <p:cNvPr id="9" name="Title 1">
            <a:extLst>
              <a:ext uri="{FF2B5EF4-FFF2-40B4-BE49-F238E27FC236}">
                <a16:creationId xmlns:a16="http://schemas.microsoft.com/office/drawing/2014/main" id="{F49B44DA-46E8-CE45-AC10-AC35239D504E}"/>
              </a:ext>
            </a:extLst>
          </p:cNvPr>
          <p:cNvSpPr>
            <a:spLocks noGrp="1"/>
          </p:cNvSpPr>
          <p:nvPr>
            <p:ph type="title" hasCustomPrompt="1"/>
          </p:nvPr>
        </p:nvSpPr>
        <p:spPr bwMode="gray">
          <a:xfrm>
            <a:off x="764976" y="3017837"/>
            <a:ext cx="10515600" cy="1325563"/>
          </a:xfrm>
          <a:prstGeom prst="rect">
            <a:avLst/>
          </a:prstGeom>
        </p:spPr>
        <p:txBody>
          <a:bodyPr lIns="91436" tIns="45718" rIns="91436" bIns="45718" anchor="ctr"/>
          <a:lstStyle>
            <a:lvl1pPr algn="ctr">
              <a:defRPr sz="7800" b="1" i="0" spc="0">
                <a:solidFill>
                  <a:srgbClr val="FF6600"/>
                </a:solidFill>
                <a:latin typeface="Roboto Medium" pitchFamily="2" charset="0"/>
                <a:ea typeface="Roboto Medium" pitchFamily="2" charset="0"/>
                <a:cs typeface="Roboto Medium" pitchFamily="2" charset="0"/>
              </a:defRPr>
            </a:lvl1pPr>
          </a:lstStyle>
          <a:p>
            <a:r>
              <a:rPr lang="en-US" dirty="0"/>
              <a:t>THANK YOU</a:t>
            </a:r>
            <a:endParaRPr lang="en-NZ" dirty="0"/>
          </a:p>
        </p:txBody>
      </p:sp>
      <p:pic>
        <p:nvPicPr>
          <p:cNvPr id="6" name="Picture 2" descr="C:\Users\Admin\Downloads\ilovepdf_pages-to-jpg (2)\RU_PPT Template-Grey Blank_page-0001.jpg"/>
          <p:cNvPicPr>
            <a:picLocks noChangeAspect="1" noChangeArrowheads="1"/>
          </p:cNvPicPr>
          <p:nvPr userDrawn="1"/>
        </p:nvPicPr>
        <p:blipFill>
          <a:blip r:embed="rId2"/>
          <a:srcRect t="69444" b="16667"/>
          <a:stretch>
            <a:fillRect/>
          </a:stretch>
        </p:blipFill>
        <p:spPr bwMode="auto">
          <a:xfrm>
            <a:off x="228600" y="1752600"/>
            <a:ext cx="5486400" cy="1143000"/>
          </a:xfrm>
          <a:prstGeom prst="rect">
            <a:avLst/>
          </a:prstGeom>
          <a:noFill/>
        </p:spPr>
      </p:pic>
    </p:spTree>
    <p:extLst>
      <p:ext uri="{BB962C8B-B14F-4D97-AF65-F5344CB8AC3E}">
        <p14:creationId xmlns:p14="http://schemas.microsoft.com/office/powerpoint/2010/main" val="3459266439"/>
      </p:ext>
    </p:extLst>
  </p:cSld>
  <p:clrMapOvr>
    <a:masterClrMapping/>
  </p:clrMapOvr>
  <p:extLst>
    <p:ext uri="{DCECCB84-F9BA-43D5-87BE-67443E8EF086}">
      <p15:sldGuideLst xmlns:p15="http://schemas.microsoft.com/office/powerpoint/2012/main"/>
    </p:ext>
  </p:extLst>
</p:sldLayout>
</file>

<file path=ppt/slideLayouts/slideLayout35.xml><?xml version="1.0" encoding="utf-8"?>
<p:sldLayout xmlns:a="http://schemas.openxmlformats.org/drawingml/2006/main" xmlns:r="http://schemas.openxmlformats.org/officeDocument/2006/relationships" xmlns:p="http://schemas.openxmlformats.org/presentationml/2006/main" preserve="1" userDrawn="1">
  <p:cSld name="2_Thank You White">
    <p:bg bwMode="gray">
      <p:bgPr>
        <a:solidFill>
          <a:schemeClr val="bg1"/>
        </a:solidFill>
        <a:effectLst/>
      </p:bgPr>
    </p:bg>
    <p:spTree>
      <p:nvGrpSpPr>
        <p:cNvPr id="1" name=""/>
        <p:cNvGrpSpPr/>
        <p:nvPr/>
      </p:nvGrpSpPr>
      <p:grpSpPr>
        <a:xfrm>
          <a:off x="0" y="0"/>
          <a:ext cx="0" cy="0"/>
          <a:chOff x="0" y="0"/>
          <a:chExt cx="0" cy="0"/>
        </a:xfrm>
      </p:grpSpPr>
      <p:pic>
        <p:nvPicPr>
          <p:cNvPr id="6" name="Picture 2" descr="C:\Users\Admin\Downloads\FAI_7881_HDR_edit.jpg"/>
          <p:cNvPicPr>
            <a:picLocks noChangeAspect="1" noChangeArrowheads="1"/>
          </p:cNvPicPr>
          <p:nvPr userDrawn="1"/>
        </p:nvPicPr>
        <p:blipFill>
          <a:blip r:embed="rId2" cstate="print"/>
          <a:srcRect r="872" b="11451"/>
          <a:stretch>
            <a:fillRect/>
          </a:stretch>
        </p:blipFill>
        <p:spPr bwMode="auto">
          <a:xfrm>
            <a:off x="-16567" y="-16565"/>
            <a:ext cx="12246810" cy="6896100"/>
          </a:xfrm>
          <a:prstGeom prst="rect">
            <a:avLst/>
          </a:prstGeom>
          <a:noFill/>
        </p:spPr>
      </p:pic>
      <p:sp>
        <p:nvSpPr>
          <p:cNvPr id="7" name="Rectangle 6"/>
          <p:cNvSpPr/>
          <p:nvPr userDrawn="1"/>
        </p:nvSpPr>
        <p:spPr>
          <a:xfrm>
            <a:off x="-26276" y="-26276"/>
            <a:ext cx="12218276" cy="6884276"/>
          </a:xfrm>
          <a:prstGeom prst="rect">
            <a:avLst/>
          </a:prstGeom>
          <a:solidFill>
            <a:schemeClr val="dk1">
              <a:alpha val="59000"/>
            </a:schemeClr>
          </a:solidFill>
        </p:spPr>
        <p:style>
          <a:lnRef idx="2">
            <a:schemeClr val="dk1">
              <a:shade val="50000"/>
            </a:schemeClr>
          </a:lnRef>
          <a:fillRef idx="1">
            <a:schemeClr val="dk1"/>
          </a:fillRef>
          <a:effectRef idx="0">
            <a:schemeClr val="dk1"/>
          </a:effectRef>
          <a:fontRef idx="minor">
            <a:schemeClr val="lt1"/>
          </a:fontRef>
        </p:style>
        <p:txBody>
          <a:bodyPr lIns="76197" tIns="38098" rIns="76197" bIns="38098" rtlCol="0" anchor="ctr"/>
          <a:lstStyle/>
          <a:p>
            <a:pPr algn="ctr"/>
            <a:endParaRPr lang="en-US"/>
          </a:p>
        </p:txBody>
      </p:sp>
      <p:sp>
        <p:nvSpPr>
          <p:cNvPr id="10" name="Title 1">
            <a:extLst>
              <a:ext uri="{FF2B5EF4-FFF2-40B4-BE49-F238E27FC236}">
                <a16:creationId xmlns:a16="http://schemas.microsoft.com/office/drawing/2014/main" id="{F49B44DA-46E8-CE45-AC10-AC35239D504E}"/>
              </a:ext>
            </a:extLst>
          </p:cNvPr>
          <p:cNvSpPr>
            <a:spLocks noGrp="1"/>
          </p:cNvSpPr>
          <p:nvPr>
            <p:ph type="title" hasCustomPrompt="1"/>
          </p:nvPr>
        </p:nvSpPr>
        <p:spPr bwMode="gray">
          <a:xfrm>
            <a:off x="764976" y="2708920"/>
            <a:ext cx="10515600" cy="1325563"/>
          </a:xfrm>
          <a:prstGeom prst="rect">
            <a:avLst/>
          </a:prstGeom>
        </p:spPr>
        <p:txBody>
          <a:bodyPr lIns="91436" tIns="45718" rIns="91436" bIns="45718" anchor="ctr"/>
          <a:lstStyle>
            <a:lvl1pPr algn="ctr">
              <a:defRPr sz="7800" b="1" i="0" spc="0">
                <a:solidFill>
                  <a:schemeClr val="bg1"/>
                </a:solidFill>
                <a:latin typeface="Roboto Medium" pitchFamily="2" charset="0"/>
                <a:ea typeface="Roboto Medium" pitchFamily="2" charset="0"/>
                <a:cs typeface="Roboto Medium" pitchFamily="2" charset="0"/>
              </a:defRPr>
            </a:lvl1pPr>
          </a:lstStyle>
          <a:p>
            <a:r>
              <a:rPr lang="en-US" dirty="0"/>
              <a:t>THANK YOU</a:t>
            </a:r>
            <a:endParaRPr lang="en-NZ" dirty="0"/>
          </a:p>
        </p:txBody>
      </p:sp>
      <p:pic>
        <p:nvPicPr>
          <p:cNvPr id="8" name="Picture 3" descr="C:\Users\Admin\Downloads\1-05.png"/>
          <p:cNvPicPr>
            <a:picLocks noChangeAspect="1" noChangeArrowheads="1"/>
          </p:cNvPicPr>
          <p:nvPr userDrawn="1"/>
        </p:nvPicPr>
        <p:blipFill>
          <a:blip r:embed="rId3"/>
          <a:srcRect/>
          <a:stretch>
            <a:fillRect/>
          </a:stretch>
        </p:blipFill>
        <p:spPr bwMode="auto">
          <a:xfrm>
            <a:off x="8890001" y="0"/>
            <a:ext cx="3064565" cy="1478280"/>
          </a:xfrm>
          <a:prstGeom prst="rect">
            <a:avLst/>
          </a:prstGeom>
          <a:noFill/>
        </p:spPr>
      </p:pic>
    </p:spTree>
    <p:extLst>
      <p:ext uri="{BB962C8B-B14F-4D97-AF65-F5344CB8AC3E}">
        <p14:creationId xmlns:p14="http://schemas.microsoft.com/office/powerpoint/2010/main" val="3459266439"/>
      </p:ext>
    </p:extLst>
  </p:cSld>
  <p:clrMapOvr>
    <a:masterClrMapping/>
  </p:clrMapOvr>
  <p:extLst>
    <p:ext uri="{DCECCB84-F9BA-43D5-87BE-67443E8EF086}">
      <p15:sldGuideLst xmlns:p15="http://schemas.microsoft.com/office/powerpoint/2012/main"/>
    </p:ext>
  </p:extLst>
</p:sldLayout>
</file>

<file path=ppt/slideLayouts/slideLayout36.xml><?xml version="1.0" encoding="utf-8"?>
<p:sldLayout xmlns:a="http://schemas.openxmlformats.org/drawingml/2006/main" xmlns:r="http://schemas.openxmlformats.org/officeDocument/2006/relationships" xmlns:p="http://schemas.openxmlformats.org/presentationml/2006/main" preserve="1" userDrawn="1">
  <p:cSld name="Thank You Custom Picture">
    <p:bg bwMode="gray">
      <p:bgPr>
        <a:solidFill>
          <a:schemeClr val="bg1"/>
        </a:solidFill>
        <a:effectLst/>
      </p:bgPr>
    </p:bg>
    <p:spTree>
      <p:nvGrpSpPr>
        <p:cNvPr id="1" name=""/>
        <p:cNvGrpSpPr/>
        <p:nvPr/>
      </p:nvGrpSpPr>
      <p:grpSpPr>
        <a:xfrm>
          <a:off x="0" y="0"/>
          <a:ext cx="0" cy="0"/>
          <a:chOff x="0" y="0"/>
          <a:chExt cx="0" cy="0"/>
        </a:xfrm>
      </p:grpSpPr>
      <p:sp>
        <p:nvSpPr>
          <p:cNvPr id="9" name="Title 1">
            <a:extLst>
              <a:ext uri="{FF2B5EF4-FFF2-40B4-BE49-F238E27FC236}">
                <a16:creationId xmlns:a16="http://schemas.microsoft.com/office/drawing/2014/main" id="{F49B44DA-46E8-CE45-AC10-AC35239D504E}"/>
              </a:ext>
            </a:extLst>
          </p:cNvPr>
          <p:cNvSpPr>
            <a:spLocks noGrp="1"/>
          </p:cNvSpPr>
          <p:nvPr>
            <p:ph type="title" hasCustomPrompt="1"/>
          </p:nvPr>
        </p:nvSpPr>
        <p:spPr bwMode="gray">
          <a:xfrm>
            <a:off x="764976" y="2708920"/>
            <a:ext cx="10515600" cy="1325563"/>
          </a:xfrm>
          <a:prstGeom prst="rect">
            <a:avLst/>
          </a:prstGeom>
        </p:spPr>
        <p:txBody>
          <a:bodyPr lIns="91436" tIns="45718" rIns="91436" bIns="45718" anchor="ctr"/>
          <a:lstStyle>
            <a:lvl1pPr algn="ctr">
              <a:defRPr sz="7800" b="1" i="0" spc="0">
                <a:solidFill>
                  <a:srgbClr val="FF6600"/>
                </a:solidFill>
                <a:latin typeface="Roboto Medium" pitchFamily="2" charset="0"/>
                <a:ea typeface="Roboto Medium" pitchFamily="2" charset="0"/>
                <a:cs typeface="Roboto Medium" pitchFamily="2" charset="0"/>
              </a:defRPr>
            </a:lvl1pPr>
          </a:lstStyle>
          <a:p>
            <a:r>
              <a:rPr lang="en-US" dirty="0"/>
              <a:t>THANK YOU</a:t>
            </a:r>
            <a:endParaRPr lang="en-NZ" dirty="0"/>
          </a:p>
        </p:txBody>
      </p:sp>
      <p:sp>
        <p:nvSpPr>
          <p:cNvPr id="7" name="Picture Placeholder 2">
            <a:extLst>
              <a:ext uri="{FF2B5EF4-FFF2-40B4-BE49-F238E27FC236}">
                <a16:creationId xmlns:a16="http://schemas.microsoft.com/office/drawing/2014/main" id="{D9D1C3BC-7BFF-1640-819B-5BED6BEC9B4F}"/>
              </a:ext>
            </a:extLst>
          </p:cNvPr>
          <p:cNvSpPr>
            <a:spLocks noGrp="1"/>
          </p:cNvSpPr>
          <p:nvPr>
            <p:ph type="pic" sz="quarter" idx="15" hasCustomPrompt="1"/>
          </p:nvPr>
        </p:nvSpPr>
        <p:spPr>
          <a:xfrm>
            <a:off x="0" y="0"/>
            <a:ext cx="12192000" cy="6858000"/>
          </a:xfrm>
          <a:prstGeom prst="rect">
            <a:avLst/>
          </a:prstGeom>
        </p:spPr>
        <p:txBody>
          <a:bodyPr/>
          <a:lstStyle>
            <a:lvl1pPr>
              <a:defRPr b="0" i="0" baseline="0">
                <a:latin typeface="Roboto Medium" pitchFamily="2" charset="0"/>
                <a:ea typeface="Roboto Medium" pitchFamily="2" charset="0"/>
              </a:defRPr>
            </a:lvl1pPr>
          </a:lstStyle>
          <a:p>
            <a:r>
              <a:rPr lang="en-US" dirty="0"/>
              <a:t>Click icon to add image</a:t>
            </a:r>
          </a:p>
        </p:txBody>
      </p:sp>
      <p:pic>
        <p:nvPicPr>
          <p:cNvPr id="8" name="Picture 7">
            <a:extLst>
              <a:ext uri="{FF2B5EF4-FFF2-40B4-BE49-F238E27FC236}">
                <a16:creationId xmlns:a16="http://schemas.microsoft.com/office/drawing/2014/main" id="{FF1A0E79-2BC7-C74E-A6C5-1646C3E49F5F}"/>
              </a:ext>
            </a:extLst>
          </p:cNvPr>
          <p:cNvPicPr>
            <a:picLocks noChangeAspect="1"/>
          </p:cNvPicPr>
          <p:nvPr userDrawn="1"/>
        </p:nvPicPr>
        <p:blipFill>
          <a:blip r:embed="rId2" cstate="print">
            <a:extLst>
              <a:ext uri="{28A0092B-C50C-407E-A947-70E740481C1C}">
                <a14:useLocalDpi xmlns:a14="http://schemas.microsoft.com/office/drawing/2010/main"/>
              </a:ext>
            </a:extLst>
          </a:blip>
          <a:stretch>
            <a:fillRect/>
          </a:stretch>
        </p:blipFill>
        <p:spPr>
          <a:xfrm>
            <a:off x="515352" y="6384910"/>
            <a:ext cx="812480" cy="142503"/>
          </a:xfrm>
          <a:prstGeom prst="rect">
            <a:avLst/>
          </a:prstGeom>
        </p:spPr>
      </p:pic>
      <p:pic>
        <p:nvPicPr>
          <p:cNvPr id="11" name="Picture 3" descr="C:\Users\Admin\Downloads\ilovepdf_pages-to-jpg (3)\RU_PPT Template-White Blank (1)_page-0001.jpg"/>
          <p:cNvPicPr>
            <a:picLocks noChangeAspect="1" noChangeArrowheads="1"/>
          </p:cNvPicPr>
          <p:nvPr userDrawn="1"/>
        </p:nvPicPr>
        <p:blipFill>
          <a:blip r:embed="rId3"/>
          <a:srcRect l="6250" t="83342" b="3324"/>
          <a:stretch>
            <a:fillRect/>
          </a:stretch>
        </p:blipFill>
        <p:spPr bwMode="auto">
          <a:xfrm>
            <a:off x="726141" y="5867400"/>
            <a:ext cx="11430000" cy="914400"/>
          </a:xfrm>
          <a:prstGeom prst="rect">
            <a:avLst/>
          </a:prstGeom>
          <a:noFill/>
        </p:spPr>
      </p:pic>
    </p:spTree>
    <p:extLst>
      <p:ext uri="{BB962C8B-B14F-4D97-AF65-F5344CB8AC3E}">
        <p14:creationId xmlns:p14="http://schemas.microsoft.com/office/powerpoint/2010/main" val="2170069622"/>
      </p:ext>
    </p:extLst>
  </p:cSld>
  <p:clrMapOvr>
    <a:masterClrMapping/>
  </p:clrMapOvr>
  <p:extLst>
    <p:ext uri="{DCECCB84-F9BA-43D5-87BE-67443E8EF086}">
      <p15:sldGuideLst xmlns:p15="http://schemas.microsoft.com/office/powerpoint/2012/main"/>
    </p:ext>
  </p:extLst>
</p:sldLayout>
</file>

<file path=ppt/slideMasters/_rels/slideMaster1.xml.rels><?xml version="1.0" encoding="UTF-8" standalone="yes"?>
<Relationships xmlns="http://schemas.openxmlformats.org/package/2006/relationships"><Relationship Id="rId3" Type="http://schemas.openxmlformats.org/officeDocument/2006/relationships/slideLayout" Target="../slideLayouts/slideLayout3.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theme" Target="../theme/theme1.xml"/><Relationship Id="rId5" Type="http://schemas.openxmlformats.org/officeDocument/2006/relationships/slideLayout" Target="../slideLayouts/slideLayout5.xml"/><Relationship Id="rId4" Type="http://schemas.openxmlformats.org/officeDocument/2006/relationships/slideLayout" Target="../slideLayouts/slideLayout4.xml"/></Relationships>
</file>

<file path=ppt/slideMasters/_rels/slideMaster2.xml.rels><?xml version="1.0" encoding="UTF-8" standalone="yes"?>
<Relationships xmlns="http://schemas.openxmlformats.org/package/2006/relationships"><Relationship Id="rId3" Type="http://schemas.openxmlformats.org/officeDocument/2006/relationships/slideLayout" Target="../slideLayouts/slideLayout8.xml"/><Relationship Id="rId2" Type="http://schemas.openxmlformats.org/officeDocument/2006/relationships/slideLayout" Target="../slideLayouts/slideLayout7.xml"/><Relationship Id="rId1" Type="http://schemas.openxmlformats.org/officeDocument/2006/relationships/slideLayout" Target="../slideLayouts/slideLayout6.xml"/><Relationship Id="rId5" Type="http://schemas.openxmlformats.org/officeDocument/2006/relationships/theme" Target="../theme/theme2.xml"/><Relationship Id="rId4" Type="http://schemas.openxmlformats.org/officeDocument/2006/relationships/slideLayout" Target="../slideLayouts/slideLayout9.xml"/></Relationships>
</file>

<file path=ppt/slideMasters/_rels/slideMaster3.xml.rels><?xml version="1.0" encoding="UTF-8" standalone="yes"?>
<Relationships xmlns="http://schemas.openxmlformats.org/package/2006/relationships"><Relationship Id="rId3" Type="http://schemas.openxmlformats.org/officeDocument/2006/relationships/slideLayout" Target="../slideLayouts/slideLayout12.xml"/><Relationship Id="rId2" Type="http://schemas.openxmlformats.org/officeDocument/2006/relationships/slideLayout" Target="../slideLayouts/slideLayout11.xml"/><Relationship Id="rId1" Type="http://schemas.openxmlformats.org/officeDocument/2006/relationships/slideLayout" Target="../slideLayouts/slideLayout10.xml"/><Relationship Id="rId4" Type="http://schemas.openxmlformats.org/officeDocument/2006/relationships/theme" Target="../theme/theme3.xml"/></Relationships>
</file>

<file path=ppt/slideMasters/_rels/slideMaster4.xml.rels><?xml version="1.0" encoding="UTF-8" standalone="yes"?>
<Relationships xmlns="http://schemas.openxmlformats.org/package/2006/relationships"><Relationship Id="rId3" Type="http://schemas.openxmlformats.org/officeDocument/2006/relationships/slideLayout" Target="../slideLayouts/slideLayout15.xml"/><Relationship Id="rId2" Type="http://schemas.openxmlformats.org/officeDocument/2006/relationships/slideLayout" Target="../slideLayouts/slideLayout14.xml"/><Relationship Id="rId1" Type="http://schemas.openxmlformats.org/officeDocument/2006/relationships/slideLayout" Target="../slideLayouts/slideLayout13.xml"/><Relationship Id="rId5" Type="http://schemas.openxmlformats.org/officeDocument/2006/relationships/theme" Target="../theme/theme4.xml"/><Relationship Id="rId4" Type="http://schemas.openxmlformats.org/officeDocument/2006/relationships/slideLayout" Target="../slideLayouts/slideLayout16.xml"/></Relationships>
</file>

<file path=ppt/slideMasters/_rels/slideMaster5.xml.rels><?xml version="1.0" encoding="UTF-8" standalone="yes"?>
<Relationships xmlns="http://schemas.openxmlformats.org/package/2006/relationships"><Relationship Id="rId3" Type="http://schemas.openxmlformats.org/officeDocument/2006/relationships/slideLayout" Target="../slideLayouts/slideLayout19.xml"/><Relationship Id="rId2" Type="http://schemas.openxmlformats.org/officeDocument/2006/relationships/slideLayout" Target="../slideLayouts/slideLayout18.xml"/><Relationship Id="rId1" Type="http://schemas.openxmlformats.org/officeDocument/2006/relationships/slideLayout" Target="../slideLayouts/slideLayout17.xml"/><Relationship Id="rId5" Type="http://schemas.openxmlformats.org/officeDocument/2006/relationships/theme" Target="../theme/theme5.xml"/><Relationship Id="rId4" Type="http://schemas.openxmlformats.org/officeDocument/2006/relationships/slideLayout" Target="../slideLayouts/slideLayout20.xml"/></Relationships>
</file>

<file path=ppt/slideMasters/_rels/slideMaster6.xml.rels><?xml version="1.0" encoding="UTF-8" standalone="yes"?>
<Relationships xmlns="http://schemas.openxmlformats.org/package/2006/relationships"><Relationship Id="rId3" Type="http://schemas.openxmlformats.org/officeDocument/2006/relationships/slideLayout" Target="../slideLayouts/slideLayout23.xml"/><Relationship Id="rId2" Type="http://schemas.openxmlformats.org/officeDocument/2006/relationships/slideLayout" Target="../slideLayouts/slideLayout22.xml"/><Relationship Id="rId1" Type="http://schemas.openxmlformats.org/officeDocument/2006/relationships/slideLayout" Target="../slideLayouts/slideLayout21.xml"/><Relationship Id="rId5" Type="http://schemas.openxmlformats.org/officeDocument/2006/relationships/theme" Target="../theme/theme6.xml"/><Relationship Id="rId4" Type="http://schemas.openxmlformats.org/officeDocument/2006/relationships/slideLayout" Target="../slideLayouts/slideLayout24.xml"/></Relationships>
</file>

<file path=ppt/slideMasters/_rels/slideMaster7.xml.rels><?xml version="1.0" encoding="UTF-8" standalone="yes"?>
<Relationships xmlns="http://schemas.openxmlformats.org/package/2006/relationships"><Relationship Id="rId3" Type="http://schemas.openxmlformats.org/officeDocument/2006/relationships/slideLayout" Target="../slideLayouts/slideLayout27.xml"/><Relationship Id="rId7" Type="http://schemas.openxmlformats.org/officeDocument/2006/relationships/theme" Target="../theme/theme7.xml"/><Relationship Id="rId2" Type="http://schemas.openxmlformats.org/officeDocument/2006/relationships/slideLayout" Target="../slideLayouts/slideLayout26.xml"/><Relationship Id="rId1" Type="http://schemas.openxmlformats.org/officeDocument/2006/relationships/slideLayout" Target="../slideLayouts/slideLayout25.xml"/><Relationship Id="rId6" Type="http://schemas.openxmlformats.org/officeDocument/2006/relationships/slideLayout" Target="../slideLayouts/slideLayout30.xml"/><Relationship Id="rId5" Type="http://schemas.openxmlformats.org/officeDocument/2006/relationships/slideLayout" Target="../slideLayouts/slideLayout29.xml"/><Relationship Id="rId4" Type="http://schemas.openxmlformats.org/officeDocument/2006/relationships/slideLayout" Target="../slideLayouts/slideLayout28.xml"/></Relationships>
</file>

<file path=ppt/slideMasters/_rels/slideMaster8.xml.rels><?xml version="1.0" encoding="UTF-8" standalone="yes"?>
<Relationships xmlns="http://schemas.openxmlformats.org/package/2006/relationships"><Relationship Id="rId3" Type="http://schemas.openxmlformats.org/officeDocument/2006/relationships/theme" Target="../theme/theme8.xml"/><Relationship Id="rId2" Type="http://schemas.openxmlformats.org/officeDocument/2006/relationships/slideLayout" Target="../slideLayouts/slideLayout32.xml"/><Relationship Id="rId1" Type="http://schemas.openxmlformats.org/officeDocument/2006/relationships/slideLayout" Target="../slideLayouts/slideLayout31.xml"/></Relationships>
</file>

<file path=ppt/slideMasters/_rels/slideMaster9.xml.rels><?xml version="1.0" encoding="UTF-8" standalone="yes"?>
<Relationships xmlns="http://schemas.openxmlformats.org/package/2006/relationships"><Relationship Id="rId3" Type="http://schemas.openxmlformats.org/officeDocument/2006/relationships/slideLayout" Target="../slideLayouts/slideLayout35.xml"/><Relationship Id="rId2" Type="http://schemas.openxmlformats.org/officeDocument/2006/relationships/slideLayout" Target="../slideLayouts/slideLayout34.xml"/><Relationship Id="rId1" Type="http://schemas.openxmlformats.org/officeDocument/2006/relationships/slideLayout" Target="../slideLayouts/slideLayout33.xml"/><Relationship Id="rId5" Type="http://schemas.openxmlformats.org/officeDocument/2006/relationships/theme" Target="../theme/theme9.xml"/><Relationship Id="rId4" Type="http://schemas.openxmlformats.org/officeDocument/2006/relationships/slideLayout" Target="../slideLayouts/slideLayout36.xml"/></Relationships>
</file>

<file path=ppt/slideMasters/slideMaster1.xml><?xml version="1.0" encoding="utf-8"?>
<p:sldMaster xmlns:a="http://schemas.openxmlformats.org/drawingml/2006/main" xmlns:r="http://schemas.openxmlformats.org/officeDocument/2006/relationships" xmlns:p="http://schemas.openxmlformats.org/presentationml/2006/main" preserve="1">
  <p:cSld>
    <p:bg>
      <p:bgRef idx="1001">
        <a:schemeClr val="bg1"/>
      </p:bgRef>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98807947"/>
      </p:ext>
    </p:extLst>
  </p:cSld>
  <p:clrMap bg1="lt1" tx1="dk1" bg2="lt2" tx2="dk2" accent1="accent1" accent2="accent2" accent3="accent3" accent4="accent4" accent5="accent5" accent6="accent6" hlink="hlink" folHlink="folHlink"/>
  <p:sldLayoutIdLst>
    <p:sldLayoutId id="2147483882" r:id="rId1"/>
    <p:sldLayoutId id="2147483886" r:id="rId2"/>
    <p:sldLayoutId id="2147484009" r:id="rId3"/>
    <p:sldLayoutId id="2147483883" r:id="rId4"/>
    <p:sldLayoutId id="2147483977" r:id="rId5"/>
  </p:sldLayoutIdLst>
  <p:hf hdr="0" ftr="0" dt="0"/>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Masters/slideMaster2.xml><?xml version="1.0" encoding="utf-8"?>
<p:sldMaster xmlns:a="http://schemas.openxmlformats.org/drawingml/2006/main" xmlns:r="http://schemas.openxmlformats.org/officeDocument/2006/relationships" xmlns:p="http://schemas.openxmlformats.org/presentationml/2006/main" preserve="1">
  <p:cSld>
    <p:bg>
      <p:bgRef idx="1001">
        <a:schemeClr val="bg1"/>
      </p:bgRef>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1289393109"/>
      </p:ext>
    </p:extLst>
  </p:cSld>
  <p:clrMap bg1="lt1" tx1="dk1" bg2="lt2" tx2="dk2" accent1="accent1" accent2="accent2" accent3="accent3" accent4="accent4" accent5="accent5" accent6="accent6" hlink="hlink" folHlink="folHlink"/>
  <p:sldLayoutIdLst>
    <p:sldLayoutId id="2147483919" r:id="rId1"/>
    <p:sldLayoutId id="2147483941" r:id="rId2"/>
    <p:sldLayoutId id="2147483943" r:id="rId3"/>
    <p:sldLayoutId id="2147483944" r:id="rId4"/>
  </p:sldLayoutIdLst>
  <p:hf hdr="0" ftr="0" dt="0"/>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Masters/slideMaster3.xml><?xml version="1.0" encoding="utf-8"?>
<p:sldMaster xmlns:a="http://schemas.openxmlformats.org/drawingml/2006/main" xmlns:r="http://schemas.openxmlformats.org/officeDocument/2006/relationships" xmlns:p="http://schemas.openxmlformats.org/presentationml/2006/main" preserve="1">
  <p:cSld>
    <p:bg>
      <p:bgRef idx="1001">
        <a:schemeClr val="bg1"/>
      </p:bgRef>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599687388"/>
      </p:ext>
    </p:extLst>
  </p:cSld>
  <p:clrMap bg1="lt1" tx1="dk1" bg2="lt2" tx2="dk2" accent1="accent1" accent2="accent2" accent3="accent3" accent4="accent4" accent5="accent5" accent6="accent6" hlink="hlink" folHlink="folHlink"/>
  <p:sldLayoutIdLst>
    <p:sldLayoutId id="2147483872" r:id="rId1"/>
    <p:sldLayoutId id="2147483873" r:id="rId2"/>
    <p:sldLayoutId id="2147483996" r:id="rId3"/>
  </p:sldLayoutIdLst>
  <p:hf hdr="0" ftr="0" dt="0"/>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Masters/slideMaster4.xml><?xml version="1.0" encoding="utf-8"?>
<p:sldMaster xmlns:a="http://schemas.openxmlformats.org/drawingml/2006/main" xmlns:r="http://schemas.openxmlformats.org/officeDocument/2006/relationships" xmlns:p="http://schemas.openxmlformats.org/presentationml/2006/main" preserve="1">
  <p:cSld>
    <p:bg>
      <p:bgRef idx="1001">
        <a:schemeClr val="bg1"/>
      </p:bgRef>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155033008"/>
      </p:ext>
    </p:extLst>
  </p:cSld>
  <p:clrMap bg1="lt1" tx1="dk1" bg2="lt2" tx2="dk2" accent1="accent1" accent2="accent2" accent3="accent3" accent4="accent4" accent5="accent5" accent6="accent6" hlink="hlink" folHlink="folHlink"/>
  <p:sldLayoutIdLst>
    <p:sldLayoutId id="2147483929" r:id="rId1"/>
    <p:sldLayoutId id="2147483930" r:id="rId2"/>
    <p:sldLayoutId id="2147483998" r:id="rId3"/>
    <p:sldLayoutId id="2147483999" r:id="rId4"/>
  </p:sldLayoutIdLst>
  <p:hf hdr="0" ftr="0" dt="0"/>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Masters/slideMaster5.xml><?xml version="1.0" encoding="utf-8"?>
<p:sldMaster xmlns:a="http://schemas.openxmlformats.org/drawingml/2006/main" xmlns:r="http://schemas.openxmlformats.org/officeDocument/2006/relationships" xmlns:p="http://schemas.openxmlformats.org/presentationml/2006/main" preserve="1">
  <p:cSld>
    <p:bg>
      <p:bgRef idx="1001">
        <a:schemeClr val="bg1"/>
      </p:bgRef>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1611736560"/>
      </p:ext>
    </p:extLst>
  </p:cSld>
  <p:clrMap bg1="lt1" tx1="dk1" bg2="lt2" tx2="dk2" accent1="accent1" accent2="accent2" accent3="accent3" accent4="accent4" accent5="accent5" accent6="accent6" hlink="hlink" folHlink="folHlink"/>
  <p:sldLayoutIdLst>
    <p:sldLayoutId id="2147483946" r:id="rId1"/>
    <p:sldLayoutId id="2147483947" r:id="rId2"/>
    <p:sldLayoutId id="2147484002" r:id="rId3"/>
    <p:sldLayoutId id="2147484003" r:id="rId4"/>
  </p:sldLayoutIdLst>
  <p:hf hdr="0" ftr="0" dt="0"/>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Masters/slideMaster6.xml><?xml version="1.0" encoding="utf-8"?>
<p:sldMaster xmlns:a="http://schemas.openxmlformats.org/drawingml/2006/main" xmlns:r="http://schemas.openxmlformats.org/officeDocument/2006/relationships" xmlns:p="http://schemas.openxmlformats.org/presentationml/2006/main" preserve="1">
  <p:cSld>
    <p:bg>
      <p:bgRef idx="1001">
        <a:schemeClr val="bg1"/>
      </p:bgRef>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4071615241"/>
      </p:ext>
    </p:extLst>
  </p:cSld>
  <p:clrMap bg1="lt1" tx1="dk1" bg2="lt2" tx2="dk2" accent1="accent1" accent2="accent2" accent3="accent3" accent4="accent4" accent5="accent5" accent6="accent6" hlink="hlink" folHlink="folHlink"/>
  <p:sldLayoutIdLst>
    <p:sldLayoutId id="2147483903" r:id="rId1"/>
    <p:sldLayoutId id="2147483910" r:id="rId2"/>
    <p:sldLayoutId id="2147483891" r:id="rId3"/>
    <p:sldLayoutId id="2147484000" r:id="rId4"/>
  </p:sldLayoutIdLst>
  <p:hf hdr="0" ftr="0" dt="0"/>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Masters/slideMaster7.xml><?xml version="1.0" encoding="utf-8"?>
<p:sldMaster xmlns:a="http://schemas.openxmlformats.org/drawingml/2006/main" xmlns:r="http://schemas.openxmlformats.org/officeDocument/2006/relationships" xmlns:p="http://schemas.openxmlformats.org/presentationml/2006/main" preserve="1">
  <p:cSld>
    <p:bg>
      <p:bgRef idx="1001">
        <a:schemeClr val="bg1"/>
      </p:bgRef>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3935027028"/>
      </p:ext>
    </p:extLst>
  </p:cSld>
  <p:clrMap bg1="lt1" tx1="dk1" bg2="lt2" tx2="dk2" accent1="accent1" accent2="accent2" accent3="accent3" accent4="accent4" accent5="accent5" accent6="accent6" hlink="hlink" folHlink="folHlink"/>
  <p:sldLayoutIdLst>
    <p:sldLayoutId id="2147483932" r:id="rId1"/>
    <p:sldLayoutId id="2147484001" r:id="rId2"/>
    <p:sldLayoutId id="2147483916" r:id="rId3"/>
    <p:sldLayoutId id="2147484004" r:id="rId4"/>
    <p:sldLayoutId id="2147483879" r:id="rId5"/>
    <p:sldLayoutId id="2147484005" r:id="rId6"/>
  </p:sldLayoutIdLst>
  <p:hf hdr="0" ftr="0" dt="0"/>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Masters/slideMaster8.xml><?xml version="1.0" encoding="utf-8"?>
<p:sldMaster xmlns:a="http://schemas.openxmlformats.org/drawingml/2006/main" xmlns:r="http://schemas.openxmlformats.org/officeDocument/2006/relationships" xmlns:p="http://schemas.openxmlformats.org/presentationml/2006/main" preserve="1">
  <p:cSld>
    <p:bg>
      <p:bgRef idx="1001">
        <a:schemeClr val="bg1"/>
      </p:bgRef>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472116322"/>
      </p:ext>
    </p:extLst>
  </p:cSld>
  <p:clrMap bg1="lt1" tx1="dk1" bg2="lt2" tx2="dk2" accent1="accent1" accent2="accent2" accent3="accent3" accent4="accent4" accent5="accent5" accent6="accent6" hlink="hlink" folHlink="folHlink"/>
  <p:sldLayoutIdLst>
    <p:sldLayoutId id="2147483935" r:id="rId1"/>
    <p:sldLayoutId id="2147483936" r:id="rId2"/>
  </p:sldLayoutIdLst>
  <p:hf hdr="0" ftr="0" dt="0"/>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Masters/slideMaster9.xml><?xml version="1.0" encoding="utf-8"?>
<p:sldMaster xmlns:a="http://schemas.openxmlformats.org/drawingml/2006/main" xmlns:r="http://schemas.openxmlformats.org/officeDocument/2006/relationships" xmlns:p="http://schemas.openxmlformats.org/presentationml/2006/main" preserve="1">
  <p:cSld>
    <p:bg>
      <p:bgRef idx="1001">
        <a:schemeClr val="bg1"/>
      </p:bgRef>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2816446998"/>
      </p:ext>
    </p:extLst>
  </p:cSld>
  <p:clrMap bg1="lt1" tx1="dk1" bg2="lt2" tx2="dk2" accent1="accent1" accent2="accent2" accent3="accent3" accent4="accent4" accent5="accent5" accent6="accent6" hlink="hlink" folHlink="folHlink"/>
  <p:sldLayoutIdLst>
    <p:sldLayoutId id="2147484007" r:id="rId1"/>
    <p:sldLayoutId id="2147484008" r:id="rId2"/>
    <p:sldLayoutId id="2147484006" r:id="rId3"/>
    <p:sldLayoutId id="2147483992" r:id="rId4"/>
  </p:sldLayoutIdLst>
  <p:hf hdr="0" ftr="0" dt="0"/>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xml.rels><?xml version="1.0" encoding="UTF-8" standalone="yes"?>
<Relationships xmlns="http://schemas.openxmlformats.org/package/2006/relationships"><Relationship Id="rId2" Type="http://schemas.openxmlformats.org/officeDocument/2006/relationships/image" Target="../media/image22.png"/><Relationship Id="rId1" Type="http://schemas.openxmlformats.org/officeDocument/2006/relationships/slideLayout" Target="../slideLayouts/slideLayout7.xml"/></Relationships>
</file>

<file path=ppt/slides/_rels/slide4.xml.rels><?xml version="1.0" encoding="UTF-8" standalone="yes"?>
<Relationships xmlns="http://schemas.openxmlformats.org/package/2006/relationships"><Relationship Id="rId3" Type="http://schemas.openxmlformats.org/officeDocument/2006/relationships/image" Target="../media/image24.png"/><Relationship Id="rId2" Type="http://schemas.openxmlformats.org/officeDocument/2006/relationships/image" Target="../media/image23.jpg"/><Relationship Id="rId1" Type="http://schemas.openxmlformats.org/officeDocument/2006/relationships/slideLayout" Target="../slideLayouts/slideLayout7.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0.xml.rels><?xml version="1.0" encoding="UTF-8" standalone="yes"?>
<Relationships xmlns="http://schemas.openxmlformats.org/package/2006/relationships"><Relationship Id="rId2" Type="http://schemas.openxmlformats.org/officeDocument/2006/relationships/image" Target="../media/image25.png"/><Relationship Id="rId1" Type="http://schemas.openxmlformats.org/officeDocument/2006/relationships/slideLayout" Target="../slideLayouts/slideLayout7.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4.xml.rels><?xml version="1.0" encoding="UTF-8" standalone="yes"?>
<Relationships xmlns="http://schemas.openxmlformats.org/package/2006/relationships"><Relationship Id="rId2" Type="http://schemas.openxmlformats.org/officeDocument/2006/relationships/hyperlink" Target="https://www.geeksforgeeks.org/what-is-sql/" TargetMode="External"/><Relationship Id="rId1" Type="http://schemas.openxmlformats.org/officeDocument/2006/relationships/slideLayout" Target="../slideLayouts/slideLayout7.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6.xml.rels><?xml version="1.0" encoding="UTF-8" standalone="yes"?>
<Relationships xmlns="http://schemas.openxmlformats.org/package/2006/relationships"><Relationship Id="rId2" Type="http://schemas.openxmlformats.org/officeDocument/2006/relationships/slideLayout" Target="../slideLayouts/slideLayout7.xml"/><Relationship Id="rId1" Type="http://schemas.openxmlformats.org/officeDocument/2006/relationships/themeOverride" Target="../theme/themeOverride1.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8.xml.rels><?xml version="1.0" encoding="UTF-8" standalone="yes"?>
<Relationships xmlns="http://schemas.openxmlformats.org/package/2006/relationships"><Relationship Id="rId2" Type="http://schemas.openxmlformats.org/officeDocument/2006/relationships/image" Target="../media/image26.png"/><Relationship Id="rId1" Type="http://schemas.openxmlformats.org/officeDocument/2006/relationships/slideLayout" Target="../slideLayouts/slideLayout7.xml"/></Relationships>
</file>

<file path=ppt/slides/_rels/slide29.xml.rels><?xml version="1.0" encoding="UTF-8" standalone="yes"?>
<Relationships xmlns="http://schemas.openxmlformats.org/package/2006/relationships"><Relationship Id="rId2" Type="http://schemas.openxmlformats.org/officeDocument/2006/relationships/image" Target="../media/image27.png"/><Relationship Id="rId1" Type="http://schemas.openxmlformats.org/officeDocument/2006/relationships/slideLayout" Target="../slideLayouts/slideLayout7.xml"/></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1.xml.rels><?xml version="1.0" encoding="UTF-8" standalone="yes"?>
<Relationships xmlns="http://schemas.openxmlformats.org/package/2006/relationships"><Relationship Id="rId2" Type="http://schemas.openxmlformats.org/officeDocument/2006/relationships/image" Target="../media/image28.png"/><Relationship Id="rId1" Type="http://schemas.openxmlformats.org/officeDocument/2006/relationships/slideLayout" Target="../slideLayouts/slideLayout7.xml"/></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4.xml.rels><?xml version="1.0" encoding="UTF-8" standalone="yes"?>
<Relationships xmlns="http://schemas.openxmlformats.org/package/2006/relationships"><Relationship Id="rId2" Type="http://schemas.openxmlformats.org/officeDocument/2006/relationships/image" Target="../media/image29.png"/><Relationship Id="rId1" Type="http://schemas.openxmlformats.org/officeDocument/2006/relationships/slideLayout" Target="../slideLayouts/slideLayout7.xml"/></Relationships>
</file>

<file path=ppt/slides/_rels/slide3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8.xml.rels><?xml version="1.0" encoding="UTF-8" standalone="yes"?>
<Relationships xmlns="http://schemas.openxmlformats.org/package/2006/relationships"><Relationship Id="rId2" Type="http://schemas.openxmlformats.org/officeDocument/2006/relationships/image" Target="../media/image30.jpeg"/><Relationship Id="rId1" Type="http://schemas.openxmlformats.org/officeDocument/2006/relationships/slideLayout" Target="../slideLayouts/slideLayout7.xml"/></Relationships>
</file>

<file path=ppt/slides/_rels/slide39.xml.rels><?xml version="1.0" encoding="UTF-8" standalone="yes"?>
<Relationships xmlns="http://schemas.openxmlformats.org/package/2006/relationships"><Relationship Id="rId3" Type="http://schemas.openxmlformats.org/officeDocument/2006/relationships/image" Target="../media/image31.jpeg"/><Relationship Id="rId2" Type="http://schemas.openxmlformats.org/officeDocument/2006/relationships/slideLayout" Target="../slideLayouts/slideLayout7.xml"/><Relationship Id="rId1" Type="http://schemas.openxmlformats.org/officeDocument/2006/relationships/themeOverride" Target="../theme/themeOverride2.xml"/></Relationships>
</file>

<file path=ppt/slides/_rels/slide40.xml.rels><?xml version="1.0" encoding="UTF-8" standalone="yes"?>
<Relationships xmlns="http://schemas.openxmlformats.org/package/2006/relationships"><Relationship Id="rId2" Type="http://schemas.openxmlformats.org/officeDocument/2006/relationships/image" Target="../media/image32.png"/><Relationship Id="rId1" Type="http://schemas.openxmlformats.org/officeDocument/2006/relationships/slideLayout" Target="../slideLayouts/slideLayout7.xml"/></Relationships>
</file>

<file path=ppt/slides/_rels/slide41.xml.rels><?xml version="1.0" encoding="UTF-8" standalone="yes"?>
<Relationships xmlns="http://schemas.openxmlformats.org/package/2006/relationships"><Relationship Id="rId2" Type="http://schemas.openxmlformats.org/officeDocument/2006/relationships/image" Target="../media/image33.png"/><Relationship Id="rId1" Type="http://schemas.openxmlformats.org/officeDocument/2006/relationships/slideLayout" Target="../slideLayouts/slideLayout7.xml"/></Relationships>
</file>

<file path=ppt/slides/_rels/slide42.xml.rels><?xml version="1.0" encoding="UTF-8" standalone="yes"?>
<Relationships xmlns="http://schemas.openxmlformats.org/package/2006/relationships"><Relationship Id="rId2" Type="http://schemas.openxmlformats.org/officeDocument/2006/relationships/image" Target="../media/image34.png"/><Relationship Id="rId1" Type="http://schemas.openxmlformats.org/officeDocument/2006/relationships/slideLayout" Target="../slideLayouts/slideLayout7.xml"/></Relationships>
</file>

<file path=ppt/slides/_rels/slide4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5.xml.rels><?xml version="1.0" encoding="UTF-8" standalone="yes"?>
<Relationships xmlns="http://schemas.openxmlformats.org/package/2006/relationships"><Relationship Id="rId3" Type="http://schemas.openxmlformats.org/officeDocument/2006/relationships/hyperlink" Target="https://www.geeksforgeeks.org/sql-drop-truncate/" TargetMode="External"/><Relationship Id="rId2" Type="http://schemas.openxmlformats.org/officeDocument/2006/relationships/hyperlink" Target="https://www.geeksforgeeks.org/sql-create/" TargetMode="External"/><Relationship Id="rId1" Type="http://schemas.openxmlformats.org/officeDocument/2006/relationships/slideLayout" Target="../slideLayouts/slideLayout7.xml"/><Relationship Id="rId6" Type="http://schemas.openxmlformats.org/officeDocument/2006/relationships/hyperlink" Target="https://www.geeksforgeeks.org/sql-alter-rename/" TargetMode="External"/><Relationship Id="rId5" Type="http://schemas.openxmlformats.org/officeDocument/2006/relationships/hyperlink" Target="https://www.geeksforgeeks.org/sql-comments/" TargetMode="External"/><Relationship Id="rId4" Type="http://schemas.openxmlformats.org/officeDocument/2006/relationships/hyperlink" Target="https://www.geeksforgeeks.org/sql-alter-add-drop-modify/" TargetMode="External"/></Relationships>
</file>

<file path=ppt/slides/_rels/slide4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3.xml.rels><?xml version="1.0" encoding="UTF-8" standalone="yes"?>
<Relationships xmlns="http://schemas.openxmlformats.org/package/2006/relationships"><Relationship Id="rId3" Type="http://schemas.openxmlformats.org/officeDocument/2006/relationships/hyperlink" Target="https://www.geeksforgeeks.org/sql-update-statement" TargetMode="External"/><Relationship Id="rId2" Type="http://schemas.openxmlformats.org/officeDocument/2006/relationships/hyperlink" Target="https://www.geeksforgeeks.org/sql-insert-statement" TargetMode="External"/><Relationship Id="rId1" Type="http://schemas.openxmlformats.org/officeDocument/2006/relationships/slideLayout" Target="../slideLayouts/slideLayout7.xml"/><Relationship Id="rId4" Type="http://schemas.openxmlformats.org/officeDocument/2006/relationships/hyperlink" Target="https://www.geeksforgeeks.org/sql-delete-statement" TargetMode="External"/></Relationships>
</file>

<file path=ppt/slides/_rels/slide54.xml.rels><?xml version="1.0" encoding="UTF-8" standalone="yes"?>
<Relationships xmlns="http://schemas.openxmlformats.org/package/2006/relationships"><Relationship Id="rId3" Type="http://schemas.openxmlformats.org/officeDocument/2006/relationships/hyperlink" Target="https://www.geeksforgeeks.org/sql-update-statement/" TargetMode="External"/><Relationship Id="rId2" Type="http://schemas.openxmlformats.org/officeDocument/2006/relationships/hyperlink" Target="https://www.geeksforgeeks.org/sql-insert-statement/" TargetMode="External"/><Relationship Id="rId1" Type="http://schemas.openxmlformats.org/officeDocument/2006/relationships/slideLayout" Target="../slideLayouts/slideLayout7.xml"/><Relationship Id="rId4" Type="http://schemas.openxmlformats.org/officeDocument/2006/relationships/hyperlink" Target="https://www.geeksforgeeks.org/sql-delete-statement/" TargetMode="External"/></Relationships>
</file>

<file path=ppt/slides/_rels/slide55.xml.rels><?xml version="1.0" encoding="UTF-8" standalone="yes"?>
<Relationships xmlns="http://schemas.openxmlformats.org/package/2006/relationships"><Relationship Id="rId3" Type="http://schemas.openxmlformats.org/officeDocument/2006/relationships/hyperlink" Target="https://www.geeksforgeeks.org/difference-between-grant-and-revoke/" TargetMode="External"/><Relationship Id="rId2" Type="http://schemas.openxmlformats.org/officeDocument/2006/relationships/hyperlink" Target="https://www.geeksforgeeks.org/mysql-grant-revoke-privileges/" TargetMode="External"/><Relationship Id="rId1" Type="http://schemas.openxmlformats.org/officeDocument/2006/relationships/slideLayout" Target="../slideLayouts/slideLayout7.xml"/></Relationships>
</file>

<file path=ppt/slides/_rels/slide5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7.xml.rels><?xml version="1.0" encoding="UTF-8" standalone="yes"?>
<Relationships xmlns="http://schemas.openxmlformats.org/package/2006/relationships"><Relationship Id="rId2" Type="http://schemas.openxmlformats.org/officeDocument/2006/relationships/image" Target="../media/image35.png"/><Relationship Id="rId1" Type="http://schemas.openxmlformats.org/officeDocument/2006/relationships/slideLayout" Target="../slideLayouts/slideLayout7.xml"/></Relationships>
</file>

<file path=ppt/slides/_rels/slide5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6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6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6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6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6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6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6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6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6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6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7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7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7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7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74.xml.rels><?xml version="1.0" encoding="UTF-8" standalone="yes"?>
<Relationships xmlns="http://schemas.openxmlformats.org/package/2006/relationships"><Relationship Id="rId2" Type="http://schemas.openxmlformats.org/officeDocument/2006/relationships/image" Target="../media/image36.jpeg"/><Relationship Id="rId1" Type="http://schemas.openxmlformats.org/officeDocument/2006/relationships/slideLayout" Target="../slideLayouts/slideLayout7.xml"/></Relationships>
</file>

<file path=ppt/slides/_rels/slide75.xml.rels><?xml version="1.0" encoding="UTF-8" standalone="yes"?>
<Relationships xmlns="http://schemas.openxmlformats.org/package/2006/relationships"><Relationship Id="rId2" Type="http://schemas.openxmlformats.org/officeDocument/2006/relationships/image" Target="../media/image37.jpeg"/><Relationship Id="rId1" Type="http://schemas.openxmlformats.org/officeDocument/2006/relationships/slideLayout" Target="../slideLayouts/slideLayout7.xml"/></Relationships>
</file>

<file path=ppt/slides/_rels/slide76.xml.rels><?xml version="1.0" encoding="UTF-8" standalone="yes"?>
<Relationships xmlns="http://schemas.openxmlformats.org/package/2006/relationships"><Relationship Id="rId3" Type="http://schemas.openxmlformats.org/officeDocument/2006/relationships/image" Target="../media/image38.jpeg"/><Relationship Id="rId2" Type="http://schemas.openxmlformats.org/officeDocument/2006/relationships/notesSlide" Target="../notesSlides/notesSlide1.xml"/><Relationship Id="rId1" Type="http://schemas.openxmlformats.org/officeDocument/2006/relationships/slideLayout" Target="../slideLayouts/slideLayout7.xml"/></Relationships>
</file>

<file path=ppt/slides/_rels/slide7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7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7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8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81.xml.rels><?xml version="1.0" encoding="UTF-8" standalone="yes"?>
<Relationships xmlns="http://schemas.openxmlformats.org/package/2006/relationships"><Relationship Id="rId2" Type="http://schemas.openxmlformats.org/officeDocument/2006/relationships/image" Target="../media/image39.jpeg"/><Relationship Id="rId1" Type="http://schemas.openxmlformats.org/officeDocument/2006/relationships/slideLayout" Target="../slideLayouts/slideLayout7.xml"/></Relationships>
</file>

<file path=ppt/slides/_rels/slide82.xml.rels><?xml version="1.0" encoding="UTF-8" standalone="yes"?>
<Relationships xmlns="http://schemas.openxmlformats.org/package/2006/relationships"><Relationship Id="rId2" Type="http://schemas.openxmlformats.org/officeDocument/2006/relationships/image" Target="../media/image40.png"/><Relationship Id="rId1" Type="http://schemas.openxmlformats.org/officeDocument/2006/relationships/slideLayout" Target="../slideLayouts/slideLayout7.xml"/></Relationships>
</file>

<file path=ppt/slides/_rels/slide8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8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8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8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8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8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8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9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9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9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9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94.xml.rels><?xml version="1.0" encoding="UTF-8" standalone="yes"?>
<Relationships xmlns="http://schemas.openxmlformats.org/package/2006/relationships"><Relationship Id="rId2" Type="http://schemas.openxmlformats.org/officeDocument/2006/relationships/image" Target="../media/image41.png"/><Relationship Id="rId1" Type="http://schemas.openxmlformats.org/officeDocument/2006/relationships/slideLayout" Target="../slideLayouts/slideLayout7.xml"/></Relationships>
</file>

<file path=ppt/slides/_rels/slide9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96.xml.rels><?xml version="1.0" encoding="UTF-8" standalone="yes"?>
<Relationships xmlns="http://schemas.openxmlformats.org/package/2006/relationships"><Relationship Id="rId2" Type="http://schemas.openxmlformats.org/officeDocument/2006/relationships/image" Target="../media/image42.jpeg"/><Relationship Id="rId1" Type="http://schemas.openxmlformats.org/officeDocument/2006/relationships/slideLayout" Target="../slideLayouts/slideLayout7.xml"/></Relationships>
</file>

<file path=ppt/slides/_rels/slide9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9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9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0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0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0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0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0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0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0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07.xml.rels><?xml version="1.0" encoding="UTF-8" standalone="yes"?>
<Relationships xmlns="http://schemas.openxmlformats.org/package/2006/relationships"><Relationship Id="rId2" Type="http://schemas.openxmlformats.org/officeDocument/2006/relationships/image" Target="../media/image43.jpg"/><Relationship Id="rId1" Type="http://schemas.openxmlformats.org/officeDocument/2006/relationships/slideLayout" Target="../slideLayouts/slideLayout7.xml"/></Relationships>
</file>

<file path=ppt/slides/_rels/slide10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0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1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1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12.xml.rels><?xml version="1.0" encoding="UTF-8" standalone="yes"?>
<Relationships xmlns="http://schemas.openxmlformats.org/package/2006/relationships"><Relationship Id="rId3" Type="http://schemas.openxmlformats.org/officeDocument/2006/relationships/image" Target="../media/image44.emf"/><Relationship Id="rId7" Type="http://schemas.openxmlformats.org/officeDocument/2006/relationships/image" Target="../media/image46.emf"/><Relationship Id="rId2" Type="http://schemas.openxmlformats.org/officeDocument/2006/relationships/oleObject" Target="../embeddings/oleObject1.bin"/><Relationship Id="rId1" Type="http://schemas.openxmlformats.org/officeDocument/2006/relationships/slideLayout" Target="../slideLayouts/slideLayout7.xml"/><Relationship Id="rId6" Type="http://schemas.openxmlformats.org/officeDocument/2006/relationships/oleObject" Target="../embeddings/oleObject3.bin"/><Relationship Id="rId5" Type="http://schemas.openxmlformats.org/officeDocument/2006/relationships/image" Target="../media/image45.emf"/><Relationship Id="rId4" Type="http://schemas.openxmlformats.org/officeDocument/2006/relationships/oleObject" Target="../embeddings/oleObject2.bin"/></Relationships>
</file>

<file path=ppt/slides/_rels/slide11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1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1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1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1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1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19.xml.rels><?xml version="1.0" encoding="UTF-8" standalone="yes"?>
<Relationships xmlns="http://schemas.openxmlformats.org/package/2006/relationships"><Relationship Id="rId2" Type="http://schemas.openxmlformats.org/officeDocument/2006/relationships/image" Target="../media/image47.png"/><Relationship Id="rId1" Type="http://schemas.openxmlformats.org/officeDocument/2006/relationships/slideLayout" Target="../slideLayouts/slideLayout7.xml"/></Relationships>
</file>

<file path=ppt/slides/_rels/slide120.xml.rels><?xml version="1.0" encoding="UTF-8" standalone="yes"?>
<Relationships xmlns="http://schemas.openxmlformats.org/package/2006/relationships"><Relationship Id="rId3" Type="http://schemas.openxmlformats.org/officeDocument/2006/relationships/image" Target="../media/image48.png"/><Relationship Id="rId2" Type="http://schemas.openxmlformats.org/officeDocument/2006/relationships/notesSlide" Target="../notesSlides/notesSlide2.xml"/><Relationship Id="rId1" Type="http://schemas.openxmlformats.org/officeDocument/2006/relationships/slideLayout" Target="../slideLayouts/slideLayout7.xml"/></Relationships>
</file>

<file path=ppt/slides/_rels/slide12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22.xml.rels><?xml version="1.0" encoding="UTF-8" standalone="yes"?>
<Relationships xmlns="http://schemas.openxmlformats.org/package/2006/relationships"><Relationship Id="rId2" Type="http://schemas.openxmlformats.org/officeDocument/2006/relationships/image" Target="../media/image49.png"/><Relationship Id="rId1" Type="http://schemas.openxmlformats.org/officeDocument/2006/relationships/slideLayout" Target="../slideLayouts/slideLayout7.xml"/></Relationships>
</file>

<file path=ppt/slides/_rels/slide12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2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2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2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27.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7.xml"/></Relationships>
</file>

<file path=ppt/slides/_rels/slide12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2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3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3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3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3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3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3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3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3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3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3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4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4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42.xml.rels><?xml version="1.0" encoding="UTF-8" standalone="yes"?>
<Relationships xmlns="http://schemas.openxmlformats.org/package/2006/relationships"><Relationship Id="rId2" Type="http://schemas.openxmlformats.org/officeDocument/2006/relationships/image" Target="../media/image50.png"/><Relationship Id="rId1" Type="http://schemas.openxmlformats.org/officeDocument/2006/relationships/slideLayout" Target="../slideLayouts/slideLayout7.xml"/></Relationships>
</file>

<file path=ppt/slides/_rels/slide143.xml.rels><?xml version="1.0" encoding="UTF-8" standalone="yes"?>
<Relationships xmlns="http://schemas.openxmlformats.org/package/2006/relationships"><Relationship Id="rId2" Type="http://schemas.openxmlformats.org/officeDocument/2006/relationships/image" Target="../media/image51.png"/><Relationship Id="rId1" Type="http://schemas.openxmlformats.org/officeDocument/2006/relationships/slideLayout" Target="../slideLayouts/slideLayout7.xml"/></Relationships>
</file>

<file path=ppt/slides/_rels/slide144.xml.rels><?xml version="1.0" encoding="UTF-8" standalone="yes"?>
<Relationships xmlns="http://schemas.openxmlformats.org/package/2006/relationships"><Relationship Id="rId2" Type="http://schemas.openxmlformats.org/officeDocument/2006/relationships/image" Target="../media/image52.png"/><Relationship Id="rId1" Type="http://schemas.openxmlformats.org/officeDocument/2006/relationships/slideLayout" Target="../slideLayouts/slideLayout7.xml"/></Relationships>
</file>

<file path=ppt/slides/_rels/slide145.xml.rels><?xml version="1.0" encoding="UTF-8" standalone="yes"?>
<Relationships xmlns="http://schemas.openxmlformats.org/package/2006/relationships"><Relationship Id="rId2" Type="http://schemas.openxmlformats.org/officeDocument/2006/relationships/image" Target="../media/image53.png"/><Relationship Id="rId1" Type="http://schemas.openxmlformats.org/officeDocument/2006/relationships/slideLayout" Target="../slideLayouts/slideLayout7.xml"/></Relationships>
</file>

<file path=ppt/slides/_rels/slide14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4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4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4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5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5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5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5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5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5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5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5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5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5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6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6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6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6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6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65.xml.rels><?xml version="1.0" encoding="UTF-8" standalone="yes"?>
<Relationships xmlns="http://schemas.openxmlformats.org/package/2006/relationships"><Relationship Id="rId3" Type="http://schemas.openxmlformats.org/officeDocument/2006/relationships/hyperlink" Target="https://www.geeksforgeeks.org/data-mining/" TargetMode="External"/><Relationship Id="rId2" Type="http://schemas.openxmlformats.org/officeDocument/2006/relationships/hyperlink" Target="https://www.geeksforgeeks.org/introduction-of-dbms-database-management-system-set-1/" TargetMode="External"/><Relationship Id="rId1" Type="http://schemas.openxmlformats.org/officeDocument/2006/relationships/slideLayout" Target="../slideLayouts/slideLayout7.xml"/><Relationship Id="rId4" Type="http://schemas.openxmlformats.org/officeDocument/2006/relationships/hyperlink" Target="https://www.geeksforgeeks.org/third-normal-form-3nf/" TargetMode="External"/></Relationships>
</file>

<file path=ppt/slides/_rels/slide166.xml.rels><?xml version="1.0" encoding="UTF-8" standalone="yes"?>
<Relationships xmlns="http://schemas.openxmlformats.org/package/2006/relationships"><Relationship Id="rId3" Type="http://schemas.openxmlformats.org/officeDocument/2006/relationships/hyperlink" Target="https://www.geeksforgeeks.org/on-line-transaction-processing-oltp-system-in-dbms/" TargetMode="External"/><Relationship Id="rId2" Type="http://schemas.openxmlformats.org/officeDocument/2006/relationships/hyperlink" Target="https://www.geeksforgeeks.org/olap-operations-in-dbms/" TargetMode="External"/><Relationship Id="rId1" Type="http://schemas.openxmlformats.org/officeDocument/2006/relationships/slideLayout" Target="../slideLayouts/slideLayout7.xml"/></Relationships>
</file>

<file path=ppt/slides/_rels/slide167.xml.rels><?xml version="1.0" encoding="UTF-8" standalone="yes"?>
<Relationships xmlns="http://schemas.openxmlformats.org/package/2006/relationships"><Relationship Id="rId2" Type="http://schemas.openxmlformats.org/officeDocument/2006/relationships/hyperlink" Target="https://www.geeksforgeeks.org/sql-ddl-dql-dml-dcl-tcl-commands/" TargetMode="External"/><Relationship Id="rId1" Type="http://schemas.openxmlformats.org/officeDocument/2006/relationships/slideLayout" Target="../slideLayouts/slideLayout7.xml"/></Relationships>
</file>

<file path=ppt/slides/_rels/slide168.xml.rels><?xml version="1.0" encoding="UTF-8" standalone="yes"?>
<Relationships xmlns="http://schemas.openxmlformats.org/package/2006/relationships"><Relationship Id="rId2" Type="http://schemas.openxmlformats.org/officeDocument/2006/relationships/image" Target="../media/image54.png"/><Relationship Id="rId1" Type="http://schemas.openxmlformats.org/officeDocument/2006/relationships/slideLayout" Target="../slideLayouts/slideLayout7.xml"/></Relationships>
</file>

<file path=ppt/slides/_rels/slide16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70.xml.rels><?xml version="1.0" encoding="UTF-8" standalone="yes"?>
<Relationships xmlns="http://schemas.openxmlformats.org/package/2006/relationships"><Relationship Id="rId2" Type="http://schemas.openxmlformats.org/officeDocument/2006/relationships/hyperlink" Target="https://www.geeksforgeeks.org/types-of-keys-in-relational-model-candidate-super-primary-alternate-and-foreign/" TargetMode="External"/><Relationship Id="rId1" Type="http://schemas.openxmlformats.org/officeDocument/2006/relationships/slideLayout" Target="../slideLayouts/slideLayout7.xml"/></Relationships>
</file>

<file path=ppt/slides/_rels/slide171.xml.rels><?xml version="1.0" encoding="UTF-8" standalone="yes"?>
<Relationships xmlns="http://schemas.openxmlformats.org/package/2006/relationships"><Relationship Id="rId2" Type="http://schemas.openxmlformats.org/officeDocument/2006/relationships/hyperlink" Target="https://www.geeksforgeeks.org/difference-between-primary-key-and-unique-key/" TargetMode="External"/><Relationship Id="rId1" Type="http://schemas.openxmlformats.org/officeDocument/2006/relationships/slideLayout" Target="../slideLayouts/slideLayout7.xml"/></Relationships>
</file>

<file path=ppt/slides/_rels/slide17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7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 Placeholder 2"/>
          <p:cNvSpPr>
            <a:spLocks noGrp="1"/>
          </p:cNvSpPr>
          <p:nvPr>
            <p:ph type="body" sz="quarter" idx="10"/>
          </p:nvPr>
        </p:nvSpPr>
        <p:spPr>
          <a:xfrm>
            <a:off x="1046572" y="5129788"/>
            <a:ext cx="11026092" cy="407987"/>
          </a:xfrm>
        </p:spPr>
        <p:txBody>
          <a:bodyPr/>
          <a:lstStyle/>
          <a:p>
            <a:pPr algn="ctr"/>
            <a:r>
              <a:rPr lang="en-US" sz="3200" b="1" dirty="0"/>
              <a:t>School of Computer Science and Applications</a:t>
            </a:r>
          </a:p>
          <a:p>
            <a:pPr algn="ctr"/>
            <a:r>
              <a:rPr lang="en-US" sz="3200" dirty="0"/>
              <a:t>I MCA-D</a:t>
            </a:r>
          </a:p>
          <a:p>
            <a:pPr algn="ctr"/>
            <a:endParaRPr lang="en-US" sz="3200" dirty="0"/>
          </a:p>
          <a:p>
            <a:pPr algn="ctr"/>
            <a:r>
              <a:rPr lang="en-US" sz="3200" b="1" dirty="0"/>
              <a:t>Faculty Name: Prof. Nagaraj C</a:t>
            </a:r>
          </a:p>
          <a:p>
            <a:endParaRPr lang="en-US" dirty="0"/>
          </a:p>
        </p:txBody>
      </p:sp>
      <p:sp>
        <p:nvSpPr>
          <p:cNvPr id="4" name="Title 1">
            <a:extLst>
              <a:ext uri="{FF2B5EF4-FFF2-40B4-BE49-F238E27FC236}">
                <a16:creationId xmlns:a16="http://schemas.microsoft.com/office/drawing/2014/main" id="{F4F7DBEF-CC82-2D36-B759-FBF662366833}"/>
              </a:ext>
            </a:extLst>
          </p:cNvPr>
          <p:cNvSpPr>
            <a:spLocks noGrp="1"/>
          </p:cNvSpPr>
          <p:nvPr>
            <p:ph type="title"/>
          </p:nvPr>
        </p:nvSpPr>
        <p:spPr>
          <a:xfrm>
            <a:off x="1061813" y="2564904"/>
            <a:ext cx="10221713" cy="1584176"/>
          </a:xfrm>
        </p:spPr>
        <p:txBody>
          <a:bodyPr/>
          <a:lstStyle/>
          <a:p>
            <a:pPr algn="ctr"/>
            <a:r>
              <a:rPr lang="en-IN" sz="3200" b="1" dirty="0"/>
              <a:t>RELATIONAL DATABASE MANAGEMENT SYSTEM </a:t>
            </a:r>
            <a:br>
              <a:rPr lang="en-IN" b="1" dirty="0"/>
            </a:br>
            <a:r>
              <a:rPr lang="en-IN" sz="3200" b="1" dirty="0"/>
              <a:t>Course Code:M23DE0103</a:t>
            </a:r>
            <a:endParaRPr lang="en-IN" b="1"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Number Placeholder 1"/>
          <p:cNvSpPr>
            <a:spLocks noGrp="1"/>
          </p:cNvSpPr>
          <p:nvPr>
            <p:ph type="sldNum" sz="quarter" idx="14"/>
          </p:nvPr>
        </p:nvSpPr>
        <p:spPr/>
        <p:txBody>
          <a:bodyPr/>
          <a:lstStyle/>
          <a:p>
            <a:fld id="{45A3C14A-F937-4231-B6F1-40B429FAFB2F}" type="slidenum">
              <a:rPr lang="en-NZ" smtClean="0"/>
              <a:pPr/>
              <a:t>2</a:t>
            </a:fld>
            <a:endParaRPr lang="en-NZ" dirty="0"/>
          </a:p>
        </p:txBody>
      </p:sp>
      <p:sp>
        <p:nvSpPr>
          <p:cNvPr id="3" name="Title 2"/>
          <p:cNvSpPr>
            <a:spLocks noGrp="1"/>
          </p:cNvSpPr>
          <p:nvPr>
            <p:ph type="title"/>
          </p:nvPr>
        </p:nvSpPr>
        <p:spPr>
          <a:xfrm>
            <a:off x="2207568" y="2348880"/>
            <a:ext cx="6787991" cy="1872208"/>
          </a:xfrm>
        </p:spPr>
        <p:txBody>
          <a:bodyPr/>
          <a:lstStyle/>
          <a:p>
            <a:pPr algn="ctr"/>
            <a:r>
              <a:rPr lang="en-US" sz="6000" b="1" dirty="0"/>
              <a:t>UNIT 1</a:t>
            </a:r>
          </a:p>
        </p:txBody>
      </p:sp>
    </p:spTree>
    <p:extLst>
      <p:ext uri="{BB962C8B-B14F-4D97-AF65-F5344CB8AC3E}">
        <p14:creationId xmlns:p14="http://schemas.microsoft.com/office/powerpoint/2010/main" val="4048036487"/>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 name="Picture 2"/>
          <p:cNvPicPr>
            <a:picLocks noChangeAspect="1"/>
          </p:cNvPicPr>
          <p:nvPr/>
        </p:nvPicPr>
        <p:blipFill>
          <a:blip r:embed="rId2"/>
          <a:stretch>
            <a:fillRect/>
          </a:stretch>
        </p:blipFill>
        <p:spPr>
          <a:xfrm>
            <a:off x="514403" y="764704"/>
            <a:ext cx="10575019" cy="4968552"/>
          </a:xfrm>
          <a:prstGeom prst="rect">
            <a:avLst/>
          </a:prstGeom>
        </p:spPr>
      </p:pic>
    </p:spTree>
    <p:extLst>
      <p:ext uri="{BB962C8B-B14F-4D97-AF65-F5344CB8AC3E}">
        <p14:creationId xmlns:p14="http://schemas.microsoft.com/office/powerpoint/2010/main" val="1408879860"/>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3"/>
          <p:cNvSpPr>
            <a:spLocks noGrp="1"/>
          </p:cNvSpPr>
          <p:nvPr>
            <p:ph type="title"/>
          </p:nvPr>
        </p:nvSpPr>
        <p:spPr>
          <a:xfrm>
            <a:off x="695401" y="395786"/>
            <a:ext cx="7559599" cy="838078"/>
          </a:xfrm>
        </p:spPr>
        <p:txBody>
          <a:bodyPr/>
          <a:lstStyle/>
          <a:p>
            <a:r>
              <a:rPr lang="en-IN" b="1" dirty="0"/>
              <a:t>Samples of database- overview</a:t>
            </a:r>
          </a:p>
        </p:txBody>
      </p:sp>
      <p:pic>
        <p:nvPicPr>
          <p:cNvPr id="6" name="Picture 5"/>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6985000" y="1311677"/>
            <a:ext cx="4577293" cy="4577293"/>
          </a:xfrm>
          <a:prstGeom prst="rect">
            <a:avLst/>
          </a:prstGeom>
        </p:spPr>
      </p:pic>
      <p:pic>
        <p:nvPicPr>
          <p:cNvPr id="7" name="Picture 6"/>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825500" y="1765548"/>
            <a:ext cx="5651500" cy="3891720"/>
          </a:xfrm>
          <a:prstGeom prst="rect">
            <a:avLst/>
          </a:prstGeom>
        </p:spPr>
      </p:pic>
      <p:sp>
        <p:nvSpPr>
          <p:cNvPr id="8" name="Rectangle 7"/>
          <p:cNvSpPr/>
          <p:nvPr/>
        </p:nvSpPr>
        <p:spPr>
          <a:xfrm>
            <a:off x="6985000" y="6529886"/>
            <a:ext cx="4889500" cy="553998"/>
          </a:xfrm>
          <a:prstGeom prst="rect">
            <a:avLst/>
          </a:prstGeom>
        </p:spPr>
        <p:txBody>
          <a:bodyPr wrap="square">
            <a:spAutoFit/>
          </a:bodyPr>
          <a:lstStyle/>
          <a:p>
            <a:r>
              <a:rPr lang="en-IN" sz="1500" dirty="0"/>
              <a:t>https://www.tutorialandexample.com/applications-of-dbms/</a:t>
            </a:r>
          </a:p>
        </p:txBody>
      </p:sp>
      <p:sp>
        <p:nvSpPr>
          <p:cNvPr id="9" name="Rectangle 8"/>
          <p:cNvSpPr/>
          <p:nvPr/>
        </p:nvSpPr>
        <p:spPr>
          <a:xfrm>
            <a:off x="1270000" y="5713189"/>
            <a:ext cx="6096000" cy="323165"/>
          </a:xfrm>
          <a:prstGeom prst="rect">
            <a:avLst/>
          </a:prstGeom>
        </p:spPr>
        <p:txBody>
          <a:bodyPr>
            <a:spAutoFit/>
          </a:bodyPr>
          <a:lstStyle/>
          <a:p>
            <a:r>
              <a:rPr lang="en-IN" sz="1500" dirty="0"/>
              <a:t>https://www.crazytutorialpoint.com/dbms-tutorial/dbms-application.php</a:t>
            </a:r>
          </a:p>
        </p:txBody>
      </p:sp>
    </p:spTree>
    <p:extLst>
      <p:ext uri="{BB962C8B-B14F-4D97-AF65-F5344CB8AC3E}">
        <p14:creationId xmlns:p14="http://schemas.microsoft.com/office/powerpoint/2010/main" val="662067452"/>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7"/>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6"/>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Number Placeholder 1"/>
          <p:cNvSpPr>
            <a:spLocks noGrp="1"/>
          </p:cNvSpPr>
          <p:nvPr>
            <p:ph type="sldNum" sz="quarter" idx="14"/>
          </p:nvPr>
        </p:nvSpPr>
        <p:spPr/>
        <p:txBody>
          <a:bodyPr/>
          <a:lstStyle/>
          <a:p>
            <a:fld id="{45A3C14A-F937-4231-B6F1-40B429FAFB2F}" type="slidenum">
              <a:rPr lang="en-NZ" smtClean="0"/>
              <a:pPr/>
              <a:t>5</a:t>
            </a:fld>
            <a:endParaRPr lang="en-NZ" dirty="0"/>
          </a:p>
        </p:txBody>
      </p:sp>
      <p:sp>
        <p:nvSpPr>
          <p:cNvPr id="3" name="Title 2"/>
          <p:cNvSpPr>
            <a:spLocks noGrp="1"/>
          </p:cNvSpPr>
          <p:nvPr>
            <p:ph type="title"/>
          </p:nvPr>
        </p:nvSpPr>
        <p:spPr>
          <a:xfrm>
            <a:off x="623392" y="54867"/>
            <a:ext cx="6211927" cy="838202"/>
          </a:xfrm>
        </p:spPr>
        <p:txBody>
          <a:bodyPr/>
          <a:lstStyle/>
          <a:p>
            <a:r>
              <a:rPr lang="en-US" b="1" dirty="0">
                <a:solidFill>
                  <a:srgbClr val="FF0000"/>
                </a:solidFill>
              </a:rPr>
              <a:t>definitions</a:t>
            </a:r>
          </a:p>
        </p:txBody>
      </p:sp>
      <p:sp>
        <p:nvSpPr>
          <p:cNvPr id="4" name="Text Placeholder 3"/>
          <p:cNvSpPr>
            <a:spLocks noGrp="1"/>
          </p:cNvSpPr>
          <p:nvPr>
            <p:ph type="body" sz="quarter" idx="17"/>
          </p:nvPr>
        </p:nvSpPr>
        <p:spPr>
          <a:xfrm>
            <a:off x="144366" y="764704"/>
            <a:ext cx="11903268" cy="4320480"/>
          </a:xfrm>
        </p:spPr>
        <p:txBody>
          <a:bodyPr/>
          <a:lstStyle/>
          <a:p>
            <a:pPr algn="just">
              <a:buFont typeface="Arial" panose="020B0604020202020204" pitchFamily="34" charset="0"/>
              <a:buChar char="•"/>
            </a:pPr>
            <a:r>
              <a:rPr lang="en-US" b="1" dirty="0">
                <a:solidFill>
                  <a:srgbClr val="FF0000"/>
                </a:solidFill>
              </a:rPr>
              <a:t>Data</a:t>
            </a:r>
            <a:r>
              <a:rPr lang="en-US" dirty="0">
                <a:solidFill>
                  <a:srgbClr val="FF0000"/>
                </a:solidFill>
              </a:rPr>
              <a:t>:</a:t>
            </a:r>
            <a:r>
              <a:rPr lang="en-US" dirty="0"/>
              <a:t> Raw facts or figures (e.g., numbers, text, or multimedia) that have no inherent meaning until processed or organized.</a:t>
            </a:r>
          </a:p>
          <a:p>
            <a:pPr algn="just">
              <a:buFont typeface="Arial" panose="020B0604020202020204" pitchFamily="34" charset="0"/>
              <a:buChar char="•"/>
            </a:pPr>
            <a:r>
              <a:rPr lang="en-US" b="1" dirty="0">
                <a:solidFill>
                  <a:srgbClr val="FF0000"/>
                </a:solidFill>
              </a:rPr>
              <a:t>Database</a:t>
            </a:r>
            <a:r>
              <a:rPr lang="en-US" dirty="0">
                <a:solidFill>
                  <a:srgbClr val="FF0000"/>
                </a:solidFill>
              </a:rPr>
              <a:t>:</a:t>
            </a:r>
            <a:r>
              <a:rPr lang="en-US" dirty="0"/>
              <a:t> A structured collection of data that allows for easy access, management, and updating. Example: Student records in a school.</a:t>
            </a:r>
          </a:p>
          <a:p>
            <a:pPr algn="just">
              <a:buFont typeface="Arial" panose="020B0604020202020204" pitchFamily="34" charset="0"/>
              <a:buChar char="•"/>
            </a:pPr>
            <a:r>
              <a:rPr lang="en-US" b="1" dirty="0">
                <a:solidFill>
                  <a:srgbClr val="FF0000"/>
                </a:solidFill>
              </a:rPr>
              <a:t>Database Systems</a:t>
            </a:r>
            <a:r>
              <a:rPr lang="en-US" dirty="0">
                <a:solidFill>
                  <a:srgbClr val="FF0000"/>
                </a:solidFill>
              </a:rPr>
              <a:t>: </a:t>
            </a:r>
            <a:r>
              <a:rPr lang="en-US" dirty="0"/>
              <a:t>Systems designed to define, store, retrieve, and manage data in databases.</a:t>
            </a:r>
          </a:p>
          <a:p>
            <a:pPr algn="just">
              <a:buFont typeface="Arial" panose="020B0604020202020204" pitchFamily="34" charset="0"/>
              <a:buChar char="•"/>
            </a:pPr>
            <a:r>
              <a:rPr lang="en-US" b="1" dirty="0">
                <a:solidFill>
                  <a:srgbClr val="FF0000"/>
                </a:solidFill>
              </a:rPr>
              <a:t>Database Management System (DBMS)</a:t>
            </a:r>
            <a:r>
              <a:rPr lang="en-US" dirty="0">
                <a:solidFill>
                  <a:srgbClr val="FF0000"/>
                </a:solidFill>
              </a:rPr>
              <a:t>: </a:t>
            </a:r>
            <a:r>
              <a:rPr lang="en-US" dirty="0"/>
              <a:t>Software that allows users and applications to interact with the database efficiently and securely.</a:t>
            </a:r>
          </a:p>
          <a:p>
            <a:pPr algn="just">
              <a:buFont typeface="Arial" panose="020B0604020202020204" pitchFamily="34" charset="0"/>
              <a:buChar char="•"/>
            </a:pPr>
            <a:r>
              <a:rPr lang="en-US" dirty="0">
                <a:solidFill>
                  <a:srgbClr val="FF0000"/>
                </a:solidFill>
              </a:rPr>
              <a:t>Database Catalog: </a:t>
            </a:r>
            <a:r>
              <a:rPr lang="en-US" dirty="0"/>
              <a:t>The catalog contains the information such as the structure of each file, the type and storage format of each data item and various constraints on the data.</a:t>
            </a:r>
          </a:p>
          <a:p>
            <a:pPr algn="just">
              <a:buFont typeface="Arial" panose="020B0604020202020204" pitchFamily="34" charset="0"/>
              <a:buChar char="•"/>
            </a:pPr>
            <a:r>
              <a:rPr lang="en-US" dirty="0">
                <a:solidFill>
                  <a:srgbClr val="FF0000"/>
                </a:solidFill>
              </a:rPr>
              <a:t>Metadata: </a:t>
            </a:r>
            <a:r>
              <a:rPr lang="en-US" b="1" dirty="0"/>
              <a:t>Metadata</a:t>
            </a:r>
            <a:r>
              <a:rPr lang="en-US" dirty="0"/>
              <a:t> in DBMS refers to "</a:t>
            </a:r>
            <a:r>
              <a:rPr lang="en-US" dirty="0">
                <a:solidFill>
                  <a:srgbClr val="FF0000"/>
                </a:solidFill>
              </a:rPr>
              <a:t>data about data." </a:t>
            </a:r>
            <a:r>
              <a:rPr lang="en-US" dirty="0"/>
              <a:t>It describes the structure, organization, and other properties of the data stored in a database.</a:t>
            </a:r>
          </a:p>
          <a:p>
            <a:endParaRPr lang="en-US" dirty="0"/>
          </a:p>
        </p:txBody>
      </p:sp>
    </p:spTree>
    <p:extLst>
      <p:ext uri="{BB962C8B-B14F-4D97-AF65-F5344CB8AC3E}">
        <p14:creationId xmlns:p14="http://schemas.microsoft.com/office/powerpoint/2010/main" val="2577226431"/>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 Placeholder 2"/>
          <p:cNvSpPr>
            <a:spLocks noGrp="1"/>
          </p:cNvSpPr>
          <p:nvPr>
            <p:ph type="body" sz="quarter" idx="17"/>
          </p:nvPr>
        </p:nvSpPr>
        <p:spPr>
          <a:xfrm>
            <a:off x="762000" y="1143000"/>
            <a:ext cx="11176000" cy="4254500"/>
          </a:xfrm>
        </p:spPr>
        <p:txBody>
          <a:bodyPr/>
          <a:lstStyle/>
          <a:p>
            <a:pPr marL="0" indent="0" algn="just">
              <a:buNone/>
            </a:pPr>
            <a:endParaRPr lang="en-IN" sz="3250" b="1" dirty="0"/>
          </a:p>
          <a:p>
            <a:pPr algn="just" fontAlgn="base">
              <a:lnSpc>
                <a:spcPct val="200000"/>
              </a:lnSpc>
              <a:spcBef>
                <a:spcPct val="20000"/>
              </a:spcBef>
              <a:spcAft>
                <a:spcPct val="0"/>
              </a:spcAft>
              <a:buFont typeface="Wingdings" panose="05000000000000000000" pitchFamily="2" charset="2"/>
              <a:buChar char="n"/>
            </a:pPr>
            <a:r>
              <a:rPr lang="en-IN" sz="2000" i="1" dirty="0">
                <a:solidFill>
                  <a:srgbClr val="C00000"/>
                </a:solidFill>
                <a:latin typeface="Arial"/>
                <a:ea typeface="+mn-ea"/>
                <a:cs typeface="+mn-cs"/>
              </a:rPr>
              <a:t>A database-management system (DBMS) is a collection of interrelated data and a  set of programs to access those data. </a:t>
            </a:r>
          </a:p>
          <a:p>
            <a:pPr algn="just" fontAlgn="base">
              <a:lnSpc>
                <a:spcPct val="200000"/>
              </a:lnSpc>
              <a:spcBef>
                <a:spcPct val="20000"/>
              </a:spcBef>
              <a:spcAft>
                <a:spcPct val="0"/>
              </a:spcAft>
              <a:buFont typeface="Wingdings" panose="05000000000000000000" pitchFamily="2" charset="2"/>
              <a:buChar char="n"/>
            </a:pPr>
            <a:r>
              <a:rPr lang="en-IN" sz="2000" dirty="0">
                <a:solidFill>
                  <a:srgbClr val="C00000"/>
                </a:solidFill>
                <a:latin typeface="Arial"/>
                <a:ea typeface="+mn-ea"/>
                <a:cs typeface="+mn-cs"/>
              </a:rPr>
              <a:t>Store and retrieve database information that is both convenient and efficient.</a:t>
            </a:r>
          </a:p>
          <a:p>
            <a:pPr algn="just" fontAlgn="base">
              <a:lnSpc>
                <a:spcPct val="200000"/>
              </a:lnSpc>
              <a:spcBef>
                <a:spcPct val="20000"/>
              </a:spcBef>
              <a:spcAft>
                <a:spcPct val="0"/>
              </a:spcAft>
              <a:buFont typeface="Wingdings" panose="05000000000000000000" pitchFamily="2" charset="2"/>
              <a:buChar char="n"/>
            </a:pPr>
            <a:r>
              <a:rPr lang="en-IN" sz="2000" dirty="0">
                <a:solidFill>
                  <a:srgbClr val="C00000"/>
                </a:solidFill>
                <a:latin typeface="Arial"/>
                <a:ea typeface="+mn-ea"/>
                <a:cs typeface="+mn-cs"/>
              </a:rPr>
              <a:t>Ensure the safety and restricting unauthorized access</a:t>
            </a:r>
            <a:r>
              <a:rPr lang="en-IN" sz="3250" dirty="0">
                <a:solidFill>
                  <a:srgbClr val="C00000"/>
                </a:solidFill>
              </a:rPr>
              <a:t>.</a:t>
            </a:r>
          </a:p>
        </p:txBody>
      </p:sp>
      <p:sp>
        <p:nvSpPr>
          <p:cNvPr id="4" name="Title 3"/>
          <p:cNvSpPr>
            <a:spLocks noGrp="1"/>
          </p:cNvSpPr>
          <p:nvPr>
            <p:ph type="title"/>
          </p:nvPr>
        </p:nvSpPr>
        <p:spPr>
          <a:xfrm>
            <a:off x="762000" y="317500"/>
            <a:ext cx="6731000" cy="1016000"/>
          </a:xfrm>
        </p:spPr>
        <p:txBody>
          <a:bodyPr>
            <a:normAutofit/>
          </a:bodyPr>
          <a:lstStyle/>
          <a:p>
            <a:r>
              <a:rPr lang="en-US" b="1" dirty="0">
                <a:solidFill>
                  <a:srgbClr val="FF0000"/>
                </a:solidFill>
              </a:rPr>
              <a:t>Definition</a:t>
            </a:r>
            <a:endParaRPr lang="en-IN" dirty="0">
              <a:solidFill>
                <a:srgbClr val="FF0000"/>
              </a:solidFill>
            </a:endParaRPr>
          </a:p>
        </p:txBody>
      </p:sp>
    </p:spTree>
    <p:extLst>
      <p:ext uri="{BB962C8B-B14F-4D97-AF65-F5344CB8AC3E}">
        <p14:creationId xmlns:p14="http://schemas.microsoft.com/office/powerpoint/2010/main" val="3240477565"/>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3">
                                            <p:txEl>
                                              <p:pRg st="1" end="1"/>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3">
                                            <p:txEl>
                                              <p:pRg st="2" end="2"/>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grpId="0" nodeType="clickEffect">
                                  <p:stCondLst>
                                    <p:cond delay="0"/>
                                  </p:stCondLst>
                                  <p:childTnLst>
                                    <p:set>
                                      <p:cBhvr>
                                        <p:cTn id="14" dur="1" fill="hold">
                                          <p:stCondLst>
                                            <p:cond delay="0"/>
                                          </p:stCondLst>
                                        </p:cTn>
                                        <p:tgtEl>
                                          <p:spTgt spid="3">
                                            <p:txEl>
                                              <p:pRg st="3" end="3"/>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build="p"/>
    </p:bldLst>
  </p:timing>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698500" y="381000"/>
            <a:ext cx="6211927" cy="838202"/>
          </a:xfrm>
        </p:spPr>
        <p:txBody>
          <a:bodyPr/>
          <a:lstStyle/>
          <a:p>
            <a:r>
              <a:rPr lang="en-US" b="1" dirty="0">
                <a:solidFill>
                  <a:srgbClr val="FF0000"/>
                </a:solidFill>
              </a:rPr>
              <a:t>DBMS - AN INTRODUCTION</a:t>
            </a:r>
            <a:endParaRPr lang="en-IN" dirty="0">
              <a:solidFill>
                <a:srgbClr val="FF0000"/>
              </a:solidFill>
            </a:endParaRPr>
          </a:p>
        </p:txBody>
      </p:sp>
      <p:sp>
        <p:nvSpPr>
          <p:cNvPr id="3" name="Text Placeholder 2"/>
          <p:cNvSpPr>
            <a:spLocks noGrp="1"/>
          </p:cNvSpPr>
          <p:nvPr>
            <p:ph type="body" sz="quarter" idx="17"/>
          </p:nvPr>
        </p:nvSpPr>
        <p:spPr>
          <a:xfrm>
            <a:off x="698500" y="1333500"/>
            <a:ext cx="10801201" cy="4320480"/>
          </a:xfrm>
        </p:spPr>
        <p:txBody>
          <a:bodyPr/>
          <a:lstStyle/>
          <a:p>
            <a:pPr lvl="0" algn="just" fontAlgn="base">
              <a:lnSpc>
                <a:spcPct val="200000"/>
              </a:lnSpc>
              <a:spcBef>
                <a:spcPct val="20000"/>
              </a:spcBef>
              <a:spcAft>
                <a:spcPct val="0"/>
              </a:spcAft>
              <a:buFont typeface="Wingdings" panose="05000000000000000000" pitchFamily="2" charset="2"/>
              <a:buChar char="n"/>
            </a:pPr>
            <a:r>
              <a:rPr lang="en-IN" sz="2000" b="1" dirty="0">
                <a:solidFill>
                  <a:srgbClr val="333399"/>
                </a:solidFill>
                <a:latin typeface="Arial"/>
                <a:ea typeface="+mn-ea"/>
                <a:cs typeface="+mn-cs"/>
              </a:rPr>
              <a:t>Program that helps to store, modify and extract the information from a database.</a:t>
            </a:r>
          </a:p>
          <a:p>
            <a:pPr lvl="0" algn="just" fontAlgn="base">
              <a:lnSpc>
                <a:spcPct val="200000"/>
              </a:lnSpc>
              <a:spcBef>
                <a:spcPct val="20000"/>
              </a:spcBef>
              <a:spcAft>
                <a:spcPct val="0"/>
              </a:spcAft>
              <a:buFont typeface="Wingdings" panose="05000000000000000000" pitchFamily="2" charset="2"/>
              <a:buChar char="n"/>
            </a:pPr>
            <a:r>
              <a:rPr lang="en-IN" sz="2000" b="1" dirty="0">
                <a:solidFill>
                  <a:srgbClr val="333399"/>
                </a:solidFill>
                <a:latin typeface="Arial"/>
                <a:ea typeface="+mn-ea"/>
                <a:cs typeface="+mn-cs"/>
              </a:rPr>
              <a:t>Computerized Record-Keeping System.</a:t>
            </a:r>
          </a:p>
          <a:p>
            <a:pPr lvl="0" algn="just" fontAlgn="base">
              <a:lnSpc>
                <a:spcPct val="200000"/>
              </a:lnSpc>
              <a:spcBef>
                <a:spcPct val="20000"/>
              </a:spcBef>
              <a:spcAft>
                <a:spcPct val="0"/>
              </a:spcAft>
              <a:buFont typeface="Wingdings" panose="05000000000000000000" pitchFamily="2" charset="2"/>
              <a:buChar char="n"/>
            </a:pPr>
            <a:r>
              <a:rPr lang="en-IN" sz="2000" b="1" dirty="0">
                <a:solidFill>
                  <a:srgbClr val="333399"/>
                </a:solidFill>
                <a:latin typeface="Arial"/>
                <a:ea typeface="+mn-ea"/>
                <a:cs typeface="+mn-cs"/>
              </a:rPr>
              <a:t>Process of defining, constructing, manipulating the database.</a:t>
            </a:r>
          </a:p>
          <a:p>
            <a:pPr lvl="0" algn="just" fontAlgn="base">
              <a:lnSpc>
                <a:spcPct val="200000"/>
              </a:lnSpc>
              <a:spcBef>
                <a:spcPct val="20000"/>
              </a:spcBef>
              <a:spcAft>
                <a:spcPct val="0"/>
              </a:spcAft>
              <a:buFont typeface="Wingdings" panose="05000000000000000000" pitchFamily="2" charset="2"/>
              <a:buChar char="n"/>
            </a:pPr>
            <a:r>
              <a:rPr lang="en-IN" sz="2000" b="1" dirty="0">
                <a:solidFill>
                  <a:srgbClr val="333399"/>
                </a:solidFill>
                <a:latin typeface="Arial"/>
                <a:ea typeface="+mn-ea"/>
                <a:cs typeface="+mn-cs"/>
              </a:rPr>
              <a:t>Handles huge amount of data.</a:t>
            </a:r>
          </a:p>
          <a:p>
            <a:pPr lvl="0" algn="just" fontAlgn="base">
              <a:lnSpc>
                <a:spcPct val="200000"/>
              </a:lnSpc>
              <a:spcBef>
                <a:spcPct val="20000"/>
              </a:spcBef>
              <a:spcAft>
                <a:spcPct val="0"/>
              </a:spcAft>
              <a:buFont typeface="Wingdings" panose="05000000000000000000" pitchFamily="2" charset="2"/>
              <a:buChar char="n"/>
            </a:pPr>
            <a:r>
              <a:rPr lang="en-IN" sz="2000" b="1" dirty="0">
                <a:solidFill>
                  <a:srgbClr val="333399"/>
                </a:solidFill>
                <a:latin typeface="Arial"/>
                <a:ea typeface="+mn-ea"/>
                <a:cs typeface="+mn-cs"/>
              </a:rPr>
              <a:t>Useful for providing a centralized view of data that can be accessed by multiple users from multiple locations.</a:t>
            </a:r>
          </a:p>
          <a:p>
            <a:pPr lvl="0" fontAlgn="base">
              <a:spcBef>
                <a:spcPct val="20000"/>
              </a:spcBef>
              <a:spcAft>
                <a:spcPct val="0"/>
              </a:spcAft>
              <a:buFont typeface="Wingdings" panose="05000000000000000000" pitchFamily="2" charset="2"/>
              <a:buChar char="n"/>
            </a:pPr>
            <a:endParaRPr lang="en-IN" sz="2000" b="1" dirty="0">
              <a:solidFill>
                <a:srgbClr val="333399"/>
              </a:solidFill>
              <a:latin typeface="Arial"/>
              <a:ea typeface="+mn-ea"/>
              <a:cs typeface="+mn-cs"/>
            </a:endParaRPr>
          </a:p>
        </p:txBody>
      </p:sp>
    </p:spTree>
    <p:extLst>
      <p:ext uri="{BB962C8B-B14F-4D97-AF65-F5344CB8AC3E}">
        <p14:creationId xmlns:p14="http://schemas.microsoft.com/office/powerpoint/2010/main" val="874473062"/>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3">
                                            <p:txEl>
                                              <p:pRg st="1" end="1"/>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grpId="0" nodeType="clickEffect">
                                  <p:stCondLst>
                                    <p:cond delay="0"/>
                                  </p:stCondLst>
                                  <p:childTnLst>
                                    <p:set>
                                      <p:cBhvr>
                                        <p:cTn id="14" dur="1" fill="hold">
                                          <p:stCondLst>
                                            <p:cond delay="0"/>
                                          </p:stCondLst>
                                        </p:cTn>
                                        <p:tgtEl>
                                          <p:spTgt spid="3">
                                            <p:txEl>
                                              <p:pRg st="2" end="2"/>
                                            </p:txEl>
                                          </p:spTgt>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grpId="0" nodeType="clickEffect">
                                  <p:stCondLst>
                                    <p:cond delay="0"/>
                                  </p:stCondLst>
                                  <p:childTnLst>
                                    <p:set>
                                      <p:cBhvr>
                                        <p:cTn id="18" dur="1" fill="hold">
                                          <p:stCondLst>
                                            <p:cond delay="0"/>
                                          </p:stCondLst>
                                        </p:cTn>
                                        <p:tgtEl>
                                          <p:spTgt spid="3">
                                            <p:txEl>
                                              <p:pRg st="3" end="3"/>
                                            </p:txEl>
                                          </p:spTgt>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grpId="0" nodeType="clickEffect">
                                  <p:stCondLst>
                                    <p:cond delay="0"/>
                                  </p:stCondLst>
                                  <p:childTnLst>
                                    <p:set>
                                      <p:cBhvr>
                                        <p:cTn id="22" dur="1" fill="hold">
                                          <p:stCondLst>
                                            <p:cond delay="0"/>
                                          </p:stCondLst>
                                        </p:cTn>
                                        <p:tgtEl>
                                          <p:spTgt spid="3">
                                            <p:txEl>
                                              <p:pRg st="4" end="4"/>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build="p"/>
    </p:bldLst>
  </p:timing>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482E111-AEAF-05DA-5961-99E3896F4A11}"/>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871CDC23-F120-BE41-9730-D3D627CA3565}"/>
              </a:ext>
            </a:extLst>
          </p:cNvPr>
          <p:cNvSpPr>
            <a:spLocks noGrp="1"/>
          </p:cNvSpPr>
          <p:nvPr>
            <p:ph type="title"/>
          </p:nvPr>
        </p:nvSpPr>
        <p:spPr>
          <a:xfrm>
            <a:off x="698500" y="381000"/>
            <a:ext cx="6211927" cy="838202"/>
          </a:xfrm>
        </p:spPr>
        <p:txBody>
          <a:bodyPr/>
          <a:lstStyle/>
          <a:p>
            <a:r>
              <a:rPr lang="en-US" b="1" dirty="0">
                <a:solidFill>
                  <a:srgbClr val="FF0000"/>
                </a:solidFill>
              </a:rPr>
              <a:t>FUNCTIONS OF DBMS</a:t>
            </a:r>
            <a:endParaRPr lang="en-IN" dirty="0">
              <a:solidFill>
                <a:srgbClr val="FF0000"/>
              </a:solidFill>
            </a:endParaRPr>
          </a:p>
        </p:txBody>
      </p:sp>
      <p:sp>
        <p:nvSpPr>
          <p:cNvPr id="3" name="Text Placeholder 2">
            <a:extLst>
              <a:ext uri="{FF2B5EF4-FFF2-40B4-BE49-F238E27FC236}">
                <a16:creationId xmlns:a16="http://schemas.microsoft.com/office/drawing/2014/main" id="{21099D49-DFD2-0CB5-9534-62726DFCE933}"/>
              </a:ext>
            </a:extLst>
          </p:cNvPr>
          <p:cNvSpPr>
            <a:spLocks noGrp="1"/>
          </p:cNvSpPr>
          <p:nvPr>
            <p:ph type="body" sz="quarter" idx="17"/>
          </p:nvPr>
        </p:nvSpPr>
        <p:spPr>
          <a:xfrm>
            <a:off x="698500" y="1333500"/>
            <a:ext cx="10801201" cy="4320480"/>
          </a:xfrm>
        </p:spPr>
        <p:txBody>
          <a:bodyPr/>
          <a:lstStyle/>
          <a:p>
            <a:pPr lvl="0" algn="just" fontAlgn="base">
              <a:lnSpc>
                <a:spcPct val="200000"/>
              </a:lnSpc>
              <a:spcBef>
                <a:spcPct val="20000"/>
              </a:spcBef>
              <a:spcAft>
                <a:spcPct val="0"/>
              </a:spcAft>
              <a:buFont typeface="Wingdings" panose="05000000000000000000" pitchFamily="2" charset="2"/>
              <a:buChar char="n"/>
            </a:pPr>
            <a:r>
              <a:rPr lang="en-IN" sz="2000" b="1" dirty="0">
                <a:solidFill>
                  <a:srgbClr val="333399"/>
                </a:solidFill>
                <a:latin typeface="Arial"/>
                <a:ea typeface="+mn-ea"/>
                <a:cs typeface="+mn-cs"/>
              </a:rPr>
              <a:t>Defining a database.</a:t>
            </a:r>
          </a:p>
          <a:p>
            <a:pPr lvl="0" algn="just" fontAlgn="base">
              <a:lnSpc>
                <a:spcPct val="200000"/>
              </a:lnSpc>
              <a:spcBef>
                <a:spcPct val="20000"/>
              </a:spcBef>
              <a:spcAft>
                <a:spcPct val="0"/>
              </a:spcAft>
              <a:buFont typeface="Wingdings" panose="05000000000000000000" pitchFamily="2" charset="2"/>
              <a:buChar char="n"/>
            </a:pPr>
            <a:r>
              <a:rPr lang="en-IN" sz="2000" b="1" dirty="0">
                <a:solidFill>
                  <a:srgbClr val="333399"/>
                </a:solidFill>
                <a:latin typeface="Arial"/>
                <a:ea typeface="+mn-ea"/>
                <a:cs typeface="+mn-cs"/>
              </a:rPr>
              <a:t>Constructing the database</a:t>
            </a:r>
          </a:p>
          <a:p>
            <a:pPr lvl="0" algn="just" fontAlgn="base">
              <a:lnSpc>
                <a:spcPct val="200000"/>
              </a:lnSpc>
              <a:spcBef>
                <a:spcPct val="20000"/>
              </a:spcBef>
              <a:spcAft>
                <a:spcPct val="0"/>
              </a:spcAft>
              <a:buFont typeface="Wingdings" panose="05000000000000000000" pitchFamily="2" charset="2"/>
              <a:buChar char="n"/>
            </a:pPr>
            <a:r>
              <a:rPr lang="en-IN" sz="2000" b="1" dirty="0">
                <a:solidFill>
                  <a:srgbClr val="333399"/>
                </a:solidFill>
                <a:latin typeface="Arial"/>
                <a:ea typeface="+mn-ea"/>
                <a:cs typeface="+mn-cs"/>
              </a:rPr>
              <a:t>Manipulating the database</a:t>
            </a:r>
          </a:p>
          <a:p>
            <a:pPr lvl="0" algn="just" fontAlgn="base">
              <a:lnSpc>
                <a:spcPct val="200000"/>
              </a:lnSpc>
              <a:spcBef>
                <a:spcPct val="20000"/>
              </a:spcBef>
              <a:spcAft>
                <a:spcPct val="0"/>
              </a:spcAft>
              <a:buFont typeface="Wingdings" panose="05000000000000000000" pitchFamily="2" charset="2"/>
              <a:buChar char="n"/>
            </a:pPr>
            <a:r>
              <a:rPr lang="en-IN" sz="2000" b="1" dirty="0">
                <a:solidFill>
                  <a:srgbClr val="333399"/>
                </a:solidFill>
                <a:latin typeface="Arial"/>
                <a:ea typeface="+mn-ea"/>
                <a:cs typeface="+mn-cs"/>
              </a:rPr>
              <a:t>Sharing databases among various users</a:t>
            </a:r>
          </a:p>
          <a:p>
            <a:pPr lvl="0" algn="just" fontAlgn="base">
              <a:lnSpc>
                <a:spcPct val="200000"/>
              </a:lnSpc>
              <a:spcBef>
                <a:spcPct val="20000"/>
              </a:spcBef>
              <a:spcAft>
                <a:spcPct val="0"/>
              </a:spcAft>
              <a:buFont typeface="Wingdings" panose="05000000000000000000" pitchFamily="2" charset="2"/>
              <a:buChar char="n"/>
            </a:pPr>
            <a:r>
              <a:rPr lang="en-IN" sz="2000" b="1" dirty="0">
                <a:solidFill>
                  <a:srgbClr val="333399"/>
                </a:solidFill>
                <a:latin typeface="Arial"/>
                <a:ea typeface="+mn-ea"/>
                <a:cs typeface="+mn-cs"/>
              </a:rPr>
              <a:t>Protecting the database</a:t>
            </a:r>
          </a:p>
          <a:p>
            <a:pPr lvl="0" algn="just" fontAlgn="base">
              <a:lnSpc>
                <a:spcPct val="200000"/>
              </a:lnSpc>
              <a:spcBef>
                <a:spcPct val="20000"/>
              </a:spcBef>
              <a:spcAft>
                <a:spcPct val="0"/>
              </a:spcAft>
              <a:buFont typeface="Wingdings" panose="05000000000000000000" pitchFamily="2" charset="2"/>
              <a:buChar char="n"/>
            </a:pPr>
            <a:r>
              <a:rPr lang="en-IN" sz="2000" b="1" dirty="0">
                <a:solidFill>
                  <a:srgbClr val="333399"/>
                </a:solidFill>
                <a:latin typeface="Arial"/>
                <a:ea typeface="+mn-ea"/>
                <a:cs typeface="+mn-cs"/>
              </a:rPr>
              <a:t>Maintenance of a database</a:t>
            </a:r>
          </a:p>
          <a:p>
            <a:pPr lvl="0" fontAlgn="base">
              <a:spcBef>
                <a:spcPct val="20000"/>
              </a:spcBef>
              <a:spcAft>
                <a:spcPct val="0"/>
              </a:spcAft>
              <a:buFont typeface="Wingdings" panose="05000000000000000000" pitchFamily="2" charset="2"/>
              <a:buChar char="n"/>
            </a:pPr>
            <a:endParaRPr lang="en-IN" sz="2000" b="1" dirty="0">
              <a:solidFill>
                <a:srgbClr val="333399"/>
              </a:solidFill>
              <a:latin typeface="Arial"/>
              <a:ea typeface="+mn-ea"/>
              <a:cs typeface="+mn-cs"/>
            </a:endParaRPr>
          </a:p>
        </p:txBody>
      </p:sp>
    </p:spTree>
    <p:extLst>
      <p:ext uri="{BB962C8B-B14F-4D97-AF65-F5344CB8AC3E}">
        <p14:creationId xmlns:p14="http://schemas.microsoft.com/office/powerpoint/2010/main" val="1968135020"/>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3">
                                            <p:txEl>
                                              <p:pRg st="1" end="1"/>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grpId="0" nodeType="clickEffect">
                                  <p:stCondLst>
                                    <p:cond delay="0"/>
                                  </p:stCondLst>
                                  <p:childTnLst>
                                    <p:set>
                                      <p:cBhvr>
                                        <p:cTn id="14" dur="1" fill="hold">
                                          <p:stCondLst>
                                            <p:cond delay="0"/>
                                          </p:stCondLst>
                                        </p:cTn>
                                        <p:tgtEl>
                                          <p:spTgt spid="3">
                                            <p:txEl>
                                              <p:pRg st="2" end="2"/>
                                            </p:txEl>
                                          </p:spTgt>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grpId="0" nodeType="clickEffect">
                                  <p:stCondLst>
                                    <p:cond delay="0"/>
                                  </p:stCondLst>
                                  <p:childTnLst>
                                    <p:set>
                                      <p:cBhvr>
                                        <p:cTn id="18" dur="1" fill="hold">
                                          <p:stCondLst>
                                            <p:cond delay="0"/>
                                          </p:stCondLst>
                                        </p:cTn>
                                        <p:tgtEl>
                                          <p:spTgt spid="3">
                                            <p:txEl>
                                              <p:pRg st="3" end="3"/>
                                            </p:txEl>
                                          </p:spTgt>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grpId="0" nodeType="clickEffect">
                                  <p:stCondLst>
                                    <p:cond delay="0"/>
                                  </p:stCondLst>
                                  <p:childTnLst>
                                    <p:set>
                                      <p:cBhvr>
                                        <p:cTn id="22" dur="1" fill="hold">
                                          <p:stCondLst>
                                            <p:cond delay="0"/>
                                          </p:stCondLst>
                                        </p:cTn>
                                        <p:tgtEl>
                                          <p:spTgt spid="3">
                                            <p:txEl>
                                              <p:pRg st="4" end="4"/>
                                            </p:txEl>
                                          </p:spTgt>
                                        </p:tgtEl>
                                        <p:attrNameLst>
                                          <p:attrName>style.visibility</p:attrName>
                                        </p:attrNameLst>
                                      </p:cBhvr>
                                      <p:to>
                                        <p:strVal val="visible"/>
                                      </p:to>
                                    </p:set>
                                  </p:childTnLst>
                                </p:cTn>
                              </p:par>
                            </p:childTnLst>
                          </p:cTn>
                        </p:par>
                      </p:childTnLst>
                    </p:cTn>
                  </p:par>
                  <p:par>
                    <p:cTn id="23" fill="hold">
                      <p:stCondLst>
                        <p:cond delay="indefinite"/>
                      </p:stCondLst>
                      <p:childTnLst>
                        <p:par>
                          <p:cTn id="24" fill="hold">
                            <p:stCondLst>
                              <p:cond delay="0"/>
                            </p:stCondLst>
                            <p:childTnLst>
                              <p:par>
                                <p:cTn id="25" presetID="1" presetClass="entr" presetSubtype="0" fill="hold" grpId="0" nodeType="clickEffect">
                                  <p:stCondLst>
                                    <p:cond delay="0"/>
                                  </p:stCondLst>
                                  <p:childTnLst>
                                    <p:set>
                                      <p:cBhvr>
                                        <p:cTn id="26" dur="1" fill="hold">
                                          <p:stCondLst>
                                            <p:cond delay="0"/>
                                          </p:stCondLst>
                                        </p:cTn>
                                        <p:tgtEl>
                                          <p:spTgt spid="3">
                                            <p:txEl>
                                              <p:pRg st="5" end="5"/>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build="p"/>
    </p:bldLst>
  </p:timing>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IN" b="1" dirty="0">
                <a:solidFill>
                  <a:srgbClr val="FF0000"/>
                </a:solidFill>
              </a:rPr>
              <a:t>Features of DBMS</a:t>
            </a:r>
          </a:p>
        </p:txBody>
      </p:sp>
      <p:sp>
        <p:nvSpPr>
          <p:cNvPr id="3" name="Text Placeholder 2"/>
          <p:cNvSpPr>
            <a:spLocks noGrp="1"/>
          </p:cNvSpPr>
          <p:nvPr>
            <p:ph type="body" sz="quarter" idx="17"/>
          </p:nvPr>
        </p:nvSpPr>
        <p:spPr>
          <a:xfrm>
            <a:off x="695401" y="1333500"/>
            <a:ext cx="10801201" cy="4760916"/>
          </a:xfrm>
        </p:spPr>
        <p:txBody>
          <a:bodyPr/>
          <a:lstStyle/>
          <a:p>
            <a:pPr lvl="0" algn="just" fontAlgn="base">
              <a:lnSpc>
                <a:spcPct val="150000"/>
              </a:lnSpc>
              <a:spcBef>
                <a:spcPct val="20000"/>
              </a:spcBef>
              <a:spcAft>
                <a:spcPct val="0"/>
              </a:spcAft>
              <a:buFont typeface="Wingdings" panose="05000000000000000000" pitchFamily="2" charset="2"/>
              <a:buChar char="n"/>
            </a:pPr>
            <a:r>
              <a:rPr lang="en-US" sz="2200" dirty="0">
                <a:solidFill>
                  <a:schemeClr val="accent1">
                    <a:lumMod val="50000"/>
                  </a:schemeClr>
                </a:solidFill>
              </a:rPr>
              <a:t>Reduces data redundancy.</a:t>
            </a:r>
          </a:p>
          <a:p>
            <a:pPr lvl="0" algn="just" fontAlgn="base">
              <a:lnSpc>
                <a:spcPct val="150000"/>
              </a:lnSpc>
              <a:spcBef>
                <a:spcPct val="20000"/>
              </a:spcBef>
              <a:spcAft>
                <a:spcPct val="0"/>
              </a:spcAft>
              <a:buFont typeface="Wingdings" panose="05000000000000000000" pitchFamily="2" charset="2"/>
              <a:buChar char="n"/>
            </a:pPr>
            <a:r>
              <a:rPr lang="en-US" sz="2200" dirty="0">
                <a:solidFill>
                  <a:schemeClr val="accent1">
                    <a:lumMod val="50000"/>
                  </a:schemeClr>
                </a:solidFill>
              </a:rPr>
              <a:t>Ensures data consistency and integrity.</a:t>
            </a:r>
          </a:p>
          <a:p>
            <a:pPr lvl="1" algn="just" fontAlgn="base">
              <a:lnSpc>
                <a:spcPct val="150000"/>
              </a:lnSpc>
              <a:spcBef>
                <a:spcPct val="20000"/>
              </a:spcBef>
              <a:spcAft>
                <a:spcPct val="0"/>
              </a:spcAft>
            </a:pPr>
            <a:r>
              <a:rPr lang="en-US" sz="1800" dirty="0"/>
              <a:t>Consistency helps ensure that data is accurate, up-to-date (Uniformity of the data across the system)</a:t>
            </a:r>
          </a:p>
          <a:p>
            <a:pPr lvl="1" algn="just" fontAlgn="base">
              <a:lnSpc>
                <a:spcPct val="150000"/>
              </a:lnSpc>
              <a:spcBef>
                <a:spcPct val="20000"/>
              </a:spcBef>
              <a:spcAft>
                <a:spcPct val="0"/>
              </a:spcAft>
            </a:pPr>
            <a:r>
              <a:rPr lang="en-US" sz="1800" dirty="0"/>
              <a:t>Integrity refers specifically to the accuracy, trustworthiness of data and maintain the information’s quality</a:t>
            </a:r>
            <a:endParaRPr lang="en-US" sz="1800" dirty="0">
              <a:solidFill>
                <a:schemeClr val="accent1">
                  <a:lumMod val="50000"/>
                </a:schemeClr>
              </a:solidFill>
            </a:endParaRPr>
          </a:p>
          <a:p>
            <a:pPr lvl="0" algn="just" fontAlgn="base">
              <a:lnSpc>
                <a:spcPct val="150000"/>
              </a:lnSpc>
              <a:spcBef>
                <a:spcPct val="20000"/>
              </a:spcBef>
              <a:spcAft>
                <a:spcPct val="0"/>
              </a:spcAft>
              <a:buFont typeface="Wingdings" panose="05000000000000000000" pitchFamily="2" charset="2"/>
              <a:buChar char="n"/>
            </a:pPr>
            <a:r>
              <a:rPr lang="en-US" sz="2200" dirty="0">
                <a:solidFill>
                  <a:schemeClr val="accent1">
                    <a:lumMod val="50000"/>
                  </a:schemeClr>
                </a:solidFill>
              </a:rPr>
              <a:t>Supports multiple users with access control.</a:t>
            </a:r>
          </a:p>
          <a:p>
            <a:pPr lvl="0" algn="just" fontAlgn="base">
              <a:lnSpc>
                <a:spcPct val="150000"/>
              </a:lnSpc>
              <a:spcBef>
                <a:spcPct val="20000"/>
              </a:spcBef>
              <a:spcAft>
                <a:spcPct val="0"/>
              </a:spcAft>
              <a:buFont typeface="Wingdings" panose="05000000000000000000" pitchFamily="2" charset="2"/>
              <a:buChar char="n"/>
            </a:pPr>
            <a:r>
              <a:rPr lang="en-US" sz="2200" dirty="0">
                <a:solidFill>
                  <a:schemeClr val="accent1">
                    <a:lumMod val="50000"/>
                  </a:schemeClr>
                </a:solidFill>
              </a:rPr>
              <a:t>Provides backup and recovery mechanisms.</a:t>
            </a:r>
          </a:p>
          <a:p>
            <a:pPr lvl="0" algn="just" fontAlgn="base">
              <a:lnSpc>
                <a:spcPct val="150000"/>
              </a:lnSpc>
              <a:spcBef>
                <a:spcPct val="20000"/>
              </a:spcBef>
              <a:spcAft>
                <a:spcPct val="0"/>
              </a:spcAft>
              <a:buFont typeface="Wingdings" panose="05000000000000000000" pitchFamily="2" charset="2"/>
              <a:buChar char="n"/>
            </a:pPr>
            <a:r>
              <a:rPr lang="en-US" sz="2200" dirty="0">
                <a:solidFill>
                  <a:schemeClr val="accent1">
                    <a:lumMod val="50000"/>
                  </a:schemeClr>
                </a:solidFill>
              </a:rPr>
              <a:t>Enhances data security.</a:t>
            </a:r>
          </a:p>
        </p:txBody>
      </p:sp>
    </p:spTree>
    <p:extLst>
      <p:ext uri="{BB962C8B-B14F-4D97-AF65-F5344CB8AC3E}">
        <p14:creationId xmlns:p14="http://schemas.microsoft.com/office/powerpoint/2010/main" val="3194232471"/>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3">
                                            <p:txEl>
                                              <p:pRg st="1" end="1"/>
                                            </p:txEl>
                                          </p:spTgt>
                                        </p:tgtEl>
                                        <p:attrNameLst>
                                          <p:attrName>style.visibility</p:attrName>
                                        </p:attrNameLst>
                                      </p:cBhvr>
                                      <p:to>
                                        <p:strVal val="visible"/>
                                      </p:to>
                                    </p:set>
                                  </p:childTnLst>
                                </p:cTn>
                              </p:par>
                              <p:par>
                                <p:cTn id="11" presetID="1" presetClass="entr" presetSubtype="0" fill="hold" grpId="0" nodeType="withEffect">
                                  <p:stCondLst>
                                    <p:cond delay="0"/>
                                  </p:stCondLst>
                                  <p:childTnLst>
                                    <p:set>
                                      <p:cBhvr>
                                        <p:cTn id="12" dur="1" fill="hold">
                                          <p:stCondLst>
                                            <p:cond delay="0"/>
                                          </p:stCondLst>
                                        </p:cTn>
                                        <p:tgtEl>
                                          <p:spTgt spid="3">
                                            <p:txEl>
                                              <p:pRg st="2" end="2"/>
                                            </p:txEl>
                                          </p:spTgt>
                                        </p:tgtEl>
                                        <p:attrNameLst>
                                          <p:attrName>style.visibility</p:attrName>
                                        </p:attrNameLst>
                                      </p:cBhvr>
                                      <p:to>
                                        <p:strVal val="visible"/>
                                      </p:to>
                                    </p:set>
                                  </p:childTnLst>
                                </p:cTn>
                              </p:par>
                              <p:par>
                                <p:cTn id="13" presetID="1" presetClass="entr" presetSubtype="0" fill="hold" grpId="0" nodeType="withEffect">
                                  <p:stCondLst>
                                    <p:cond delay="0"/>
                                  </p:stCondLst>
                                  <p:childTnLst>
                                    <p:set>
                                      <p:cBhvr>
                                        <p:cTn id="14" dur="1" fill="hold">
                                          <p:stCondLst>
                                            <p:cond delay="0"/>
                                          </p:stCondLst>
                                        </p:cTn>
                                        <p:tgtEl>
                                          <p:spTgt spid="3">
                                            <p:txEl>
                                              <p:pRg st="3" end="3"/>
                                            </p:txEl>
                                          </p:spTgt>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grpId="0" nodeType="clickEffect">
                                  <p:stCondLst>
                                    <p:cond delay="0"/>
                                  </p:stCondLst>
                                  <p:childTnLst>
                                    <p:set>
                                      <p:cBhvr>
                                        <p:cTn id="18" dur="1" fill="hold">
                                          <p:stCondLst>
                                            <p:cond delay="0"/>
                                          </p:stCondLst>
                                        </p:cTn>
                                        <p:tgtEl>
                                          <p:spTgt spid="3">
                                            <p:txEl>
                                              <p:pRg st="4" end="4"/>
                                            </p:txEl>
                                          </p:spTgt>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grpId="0" nodeType="clickEffect">
                                  <p:stCondLst>
                                    <p:cond delay="0"/>
                                  </p:stCondLst>
                                  <p:childTnLst>
                                    <p:set>
                                      <p:cBhvr>
                                        <p:cTn id="22" dur="1" fill="hold">
                                          <p:stCondLst>
                                            <p:cond delay="0"/>
                                          </p:stCondLst>
                                        </p:cTn>
                                        <p:tgtEl>
                                          <p:spTgt spid="3">
                                            <p:txEl>
                                              <p:pRg st="5" end="5"/>
                                            </p:txEl>
                                          </p:spTgt>
                                        </p:tgtEl>
                                        <p:attrNameLst>
                                          <p:attrName>style.visibility</p:attrName>
                                        </p:attrNameLst>
                                      </p:cBhvr>
                                      <p:to>
                                        <p:strVal val="visible"/>
                                      </p:to>
                                    </p:set>
                                  </p:childTnLst>
                                </p:cTn>
                              </p:par>
                            </p:childTnLst>
                          </p:cTn>
                        </p:par>
                      </p:childTnLst>
                    </p:cTn>
                  </p:par>
                  <p:par>
                    <p:cTn id="23" fill="hold">
                      <p:stCondLst>
                        <p:cond delay="indefinite"/>
                      </p:stCondLst>
                      <p:childTnLst>
                        <p:par>
                          <p:cTn id="24" fill="hold">
                            <p:stCondLst>
                              <p:cond delay="0"/>
                            </p:stCondLst>
                            <p:childTnLst>
                              <p:par>
                                <p:cTn id="25" presetID="1" presetClass="entr" presetSubtype="0" fill="hold" grpId="0" nodeType="clickEffect">
                                  <p:stCondLst>
                                    <p:cond delay="0"/>
                                  </p:stCondLst>
                                  <p:childTnLst>
                                    <p:set>
                                      <p:cBhvr>
                                        <p:cTn id="26" dur="1" fill="hold">
                                          <p:stCondLst>
                                            <p:cond delay="0"/>
                                          </p:stCondLst>
                                        </p:cTn>
                                        <p:tgtEl>
                                          <p:spTgt spid="3">
                                            <p:txEl>
                                              <p:pRg st="6" end="6"/>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build="p"/>
    </p:bldLst>
  </p:timing>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Number Placeholder 1"/>
          <p:cNvSpPr>
            <a:spLocks noGrp="1"/>
          </p:cNvSpPr>
          <p:nvPr>
            <p:ph type="sldNum" sz="quarter" idx="14"/>
          </p:nvPr>
        </p:nvSpPr>
        <p:spPr/>
        <p:txBody>
          <a:bodyPr/>
          <a:lstStyle/>
          <a:p>
            <a:fld id="{45A3C14A-F937-4231-B6F1-40B429FAFB2F}" type="slidenum">
              <a:rPr lang="en-NZ" smtClean="0"/>
              <a:pPr/>
              <a:t>10</a:t>
            </a:fld>
            <a:endParaRPr lang="en-NZ" dirty="0"/>
          </a:p>
        </p:txBody>
      </p:sp>
      <p:sp>
        <p:nvSpPr>
          <p:cNvPr id="3" name="Title 2"/>
          <p:cNvSpPr>
            <a:spLocks noGrp="1"/>
          </p:cNvSpPr>
          <p:nvPr>
            <p:ph type="title"/>
          </p:nvPr>
        </p:nvSpPr>
        <p:spPr>
          <a:xfrm>
            <a:off x="695400" y="395786"/>
            <a:ext cx="10225136" cy="838202"/>
          </a:xfrm>
        </p:spPr>
        <p:txBody>
          <a:bodyPr/>
          <a:lstStyle/>
          <a:p>
            <a:r>
              <a:rPr lang="en-US" altLang="en-US" b="1" dirty="0">
                <a:solidFill>
                  <a:srgbClr val="FF0000"/>
                </a:solidFill>
              </a:rPr>
              <a:t>Simplified database system environment</a:t>
            </a:r>
            <a:endParaRPr lang="en-US" b="1" dirty="0">
              <a:solidFill>
                <a:srgbClr val="FF0000"/>
              </a:solidFill>
            </a:endParaRPr>
          </a:p>
        </p:txBody>
      </p:sp>
      <p:pic>
        <p:nvPicPr>
          <p:cNvPr id="5" name="Picture 4" descr="fig01_01"/>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2783632" y="1484784"/>
            <a:ext cx="7001802" cy="4013802"/>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742403366"/>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Number Placeholder 1"/>
          <p:cNvSpPr>
            <a:spLocks noGrp="1"/>
          </p:cNvSpPr>
          <p:nvPr>
            <p:ph type="sldNum" sz="quarter" idx="14"/>
          </p:nvPr>
        </p:nvSpPr>
        <p:spPr/>
        <p:txBody>
          <a:bodyPr/>
          <a:lstStyle/>
          <a:p>
            <a:fld id="{45A3C14A-F937-4231-B6F1-40B429FAFB2F}" type="slidenum">
              <a:rPr lang="en-NZ" smtClean="0"/>
              <a:pPr/>
              <a:t>11</a:t>
            </a:fld>
            <a:endParaRPr lang="en-NZ" dirty="0"/>
          </a:p>
        </p:txBody>
      </p:sp>
      <p:sp>
        <p:nvSpPr>
          <p:cNvPr id="3" name="Title 2"/>
          <p:cNvSpPr>
            <a:spLocks noGrp="1"/>
          </p:cNvSpPr>
          <p:nvPr>
            <p:ph type="title"/>
          </p:nvPr>
        </p:nvSpPr>
        <p:spPr>
          <a:xfrm>
            <a:off x="695400" y="395786"/>
            <a:ext cx="9505056" cy="838202"/>
          </a:xfrm>
        </p:spPr>
        <p:txBody>
          <a:bodyPr/>
          <a:lstStyle/>
          <a:p>
            <a:r>
              <a:rPr lang="en-US" altLang="en-US" b="1">
                <a:solidFill>
                  <a:srgbClr val="FF0000"/>
                </a:solidFill>
              </a:rPr>
              <a:t>Simplified database system environment</a:t>
            </a:r>
            <a:endParaRPr lang="en-US"/>
          </a:p>
        </p:txBody>
      </p:sp>
      <p:sp>
        <p:nvSpPr>
          <p:cNvPr id="4" name="Text Placeholder 3"/>
          <p:cNvSpPr>
            <a:spLocks noGrp="1"/>
          </p:cNvSpPr>
          <p:nvPr>
            <p:ph type="body" sz="quarter" idx="17"/>
          </p:nvPr>
        </p:nvSpPr>
        <p:spPr>
          <a:xfrm>
            <a:off x="695400" y="1628800"/>
            <a:ext cx="10801201" cy="4465616"/>
          </a:xfrm>
        </p:spPr>
        <p:txBody>
          <a:bodyPr/>
          <a:lstStyle/>
          <a:p>
            <a:pPr algn="just">
              <a:buFont typeface="Arial" panose="020B0604020202020204" pitchFamily="34" charset="0"/>
              <a:buChar char="•"/>
            </a:pPr>
            <a:r>
              <a:rPr lang="en-US" sz="2000" dirty="0">
                <a:solidFill>
                  <a:srgbClr val="C00000"/>
                </a:solidFill>
                <a:latin typeface="Arial"/>
                <a:ea typeface="+mn-ea"/>
                <a:cs typeface="+mn-cs"/>
              </a:rPr>
              <a:t>A DBMS (database management system) is a collection of programs that enables users to create and maintain database. The DBMS is a common purpose software system that facilitates the process of constructing, defining, manipulating and sharing databases among various users as well as applications. </a:t>
            </a:r>
          </a:p>
          <a:p>
            <a:pPr algn="just">
              <a:buFont typeface="Arial" panose="020B0604020202020204" pitchFamily="34" charset="0"/>
              <a:buChar char="•"/>
            </a:pPr>
            <a:r>
              <a:rPr lang="en-US" sz="2000" dirty="0">
                <a:solidFill>
                  <a:srgbClr val="C00000"/>
                </a:solidFill>
                <a:latin typeface="Arial"/>
                <a:ea typeface="+mn-ea"/>
                <a:cs typeface="+mn-cs"/>
              </a:rPr>
              <a:t>Defining a database state the database involves specifying the constraints, data types and structures of the data to be stored in the database. </a:t>
            </a:r>
          </a:p>
          <a:p>
            <a:pPr algn="just">
              <a:buFont typeface="Arial" panose="020B0604020202020204" pitchFamily="34" charset="0"/>
              <a:buChar char="•"/>
            </a:pPr>
            <a:r>
              <a:rPr lang="en-US" sz="2000" dirty="0">
                <a:solidFill>
                  <a:srgbClr val="C00000"/>
                </a:solidFill>
                <a:latin typeface="Arial"/>
                <a:ea typeface="+mn-ea"/>
                <a:cs typeface="+mn-cs"/>
              </a:rPr>
              <a:t>The descriptive information is as well stored in the database in the form database catalogue or dictionary- it is called meta-data.</a:t>
            </a:r>
          </a:p>
          <a:p>
            <a:pPr algn="just">
              <a:buFont typeface="Arial" panose="020B0604020202020204" pitchFamily="34" charset="0"/>
              <a:buChar char="•"/>
            </a:pPr>
            <a:r>
              <a:rPr lang="en-US" sz="2000" dirty="0">
                <a:solidFill>
                  <a:srgbClr val="C00000"/>
                </a:solidFill>
                <a:latin typeface="Arial"/>
                <a:ea typeface="+mn-ea"/>
                <a:cs typeface="+mn-cs"/>
              </a:rPr>
              <a:t>Manipulating the data comprises the querying the database to retrieve the specific data.</a:t>
            </a:r>
          </a:p>
          <a:p>
            <a:pPr algn="just">
              <a:buFont typeface="Arial" panose="020B0604020202020204" pitchFamily="34" charset="0"/>
              <a:buChar char="•"/>
            </a:pPr>
            <a:r>
              <a:rPr lang="en-US" sz="2000" dirty="0">
                <a:solidFill>
                  <a:srgbClr val="C00000"/>
                </a:solidFill>
                <a:latin typeface="Arial"/>
                <a:ea typeface="+mn-ea"/>
                <a:cs typeface="+mn-cs"/>
              </a:rPr>
              <a:t>An application program accesses the database through transferring the quarries or requests for data to DBMS.</a:t>
            </a:r>
          </a:p>
          <a:p>
            <a:pPr algn="just">
              <a:buFont typeface="Arial" panose="020B0604020202020204" pitchFamily="34" charset="0"/>
              <a:buChar char="•"/>
            </a:pPr>
            <a:r>
              <a:rPr lang="en-US" sz="2000" dirty="0">
                <a:solidFill>
                  <a:srgbClr val="C00000"/>
                </a:solidFill>
                <a:latin typeface="Arial"/>
                <a:ea typeface="+mn-ea"/>
                <a:cs typeface="+mn-cs"/>
              </a:rPr>
              <a:t>The significant function provided by the DBMS includes protecting the database and maintain the database.</a:t>
            </a:r>
          </a:p>
          <a:p>
            <a:pPr algn="just"/>
            <a:endParaRPr lang="en-US" dirty="0"/>
          </a:p>
        </p:txBody>
      </p:sp>
    </p:spTree>
    <p:extLst>
      <p:ext uri="{BB962C8B-B14F-4D97-AF65-F5344CB8AC3E}">
        <p14:creationId xmlns:p14="http://schemas.microsoft.com/office/powerpoint/2010/main" val="3116278955"/>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Number Placeholder 1"/>
          <p:cNvSpPr>
            <a:spLocks noGrp="1"/>
          </p:cNvSpPr>
          <p:nvPr>
            <p:ph type="sldNum" sz="quarter" idx="14"/>
          </p:nvPr>
        </p:nvSpPr>
        <p:spPr/>
        <p:txBody>
          <a:bodyPr/>
          <a:lstStyle/>
          <a:p>
            <a:fld id="{45A3C14A-F937-4231-B6F1-40B429FAFB2F}" type="slidenum">
              <a:rPr lang="en-NZ" smtClean="0"/>
              <a:pPr/>
              <a:t>12</a:t>
            </a:fld>
            <a:endParaRPr lang="en-NZ" dirty="0"/>
          </a:p>
        </p:txBody>
      </p:sp>
      <p:sp>
        <p:nvSpPr>
          <p:cNvPr id="3" name="Title 2"/>
          <p:cNvSpPr>
            <a:spLocks noGrp="1"/>
          </p:cNvSpPr>
          <p:nvPr>
            <p:ph type="title"/>
          </p:nvPr>
        </p:nvSpPr>
        <p:spPr>
          <a:xfrm>
            <a:off x="695400" y="395786"/>
            <a:ext cx="10009112" cy="838202"/>
          </a:xfrm>
        </p:spPr>
        <p:txBody>
          <a:bodyPr/>
          <a:lstStyle/>
          <a:p>
            <a:r>
              <a:rPr lang="en-US" altLang="en-US" b="1" dirty="0">
                <a:solidFill>
                  <a:srgbClr val="FF0000"/>
                </a:solidFill>
              </a:rPr>
              <a:t>Main Characteristics of the Database Approach</a:t>
            </a:r>
            <a:endParaRPr lang="en-US" b="1" dirty="0">
              <a:solidFill>
                <a:srgbClr val="FF0000"/>
              </a:solidFill>
            </a:endParaRPr>
          </a:p>
        </p:txBody>
      </p:sp>
      <p:sp>
        <p:nvSpPr>
          <p:cNvPr id="4" name="Text Placeholder 3"/>
          <p:cNvSpPr>
            <a:spLocks noGrp="1"/>
          </p:cNvSpPr>
          <p:nvPr>
            <p:ph type="body" sz="quarter" idx="17"/>
          </p:nvPr>
        </p:nvSpPr>
        <p:spPr>
          <a:xfrm>
            <a:off x="695400" y="1412776"/>
            <a:ext cx="10801201" cy="4320480"/>
          </a:xfrm>
        </p:spPr>
        <p:txBody>
          <a:bodyPr/>
          <a:lstStyle/>
          <a:p>
            <a:r>
              <a:rPr lang="en-US" b="1" dirty="0">
                <a:solidFill>
                  <a:srgbClr val="FF0000"/>
                </a:solidFill>
              </a:rPr>
              <a:t>Self-Describing Nature of a Database System</a:t>
            </a:r>
          </a:p>
          <a:p>
            <a:pPr>
              <a:buFont typeface="Arial" panose="020B0604020202020204" pitchFamily="34" charset="0"/>
              <a:buChar char="•"/>
            </a:pPr>
            <a:r>
              <a:rPr lang="en-US" dirty="0">
                <a:solidFill>
                  <a:schemeClr val="tx1"/>
                </a:solidFill>
              </a:rPr>
              <a:t>A database system contains not only the data but also a description of its structure, known as metadata.</a:t>
            </a:r>
          </a:p>
          <a:p>
            <a:pPr>
              <a:buFont typeface="Arial" panose="020B0604020202020204" pitchFamily="34" charset="0"/>
              <a:buChar char="•"/>
            </a:pPr>
            <a:r>
              <a:rPr lang="en-US" b="1" dirty="0">
                <a:solidFill>
                  <a:schemeClr val="tx1"/>
                </a:solidFill>
              </a:rPr>
              <a:t>Metadata</a:t>
            </a:r>
            <a:r>
              <a:rPr lang="en-US" dirty="0">
                <a:solidFill>
                  <a:schemeClr val="tx1"/>
                </a:solidFill>
              </a:rPr>
              <a:t> is stored in the </a:t>
            </a:r>
            <a:r>
              <a:rPr lang="en-US" b="1" dirty="0">
                <a:solidFill>
                  <a:schemeClr val="tx1"/>
                </a:solidFill>
              </a:rPr>
              <a:t>data dictionary</a:t>
            </a:r>
            <a:r>
              <a:rPr lang="en-US" dirty="0">
                <a:solidFill>
                  <a:schemeClr val="tx1"/>
                </a:solidFill>
              </a:rPr>
              <a:t>, which defines:</a:t>
            </a:r>
          </a:p>
          <a:p>
            <a:pPr marL="742950" lvl="1" indent="-285750">
              <a:buFont typeface="Arial" panose="020B0604020202020204" pitchFamily="34" charset="0"/>
              <a:buChar char="•"/>
            </a:pPr>
            <a:r>
              <a:rPr lang="en-US" dirty="0">
                <a:solidFill>
                  <a:schemeClr val="tx1"/>
                </a:solidFill>
              </a:rPr>
              <a:t>The structure of data (e.g., table names, columns, data types).</a:t>
            </a:r>
          </a:p>
          <a:p>
            <a:pPr marL="742950" lvl="1" indent="-285750">
              <a:buFont typeface="Arial" panose="020B0604020202020204" pitchFamily="34" charset="0"/>
              <a:buChar char="•"/>
            </a:pPr>
            <a:r>
              <a:rPr lang="en-US" dirty="0">
                <a:solidFill>
                  <a:schemeClr val="tx1"/>
                </a:solidFill>
              </a:rPr>
              <a:t>Constraints (e.g., primary key, foreign key).</a:t>
            </a:r>
          </a:p>
          <a:p>
            <a:pPr marL="742950" lvl="1" indent="-285750">
              <a:buFont typeface="Arial" panose="020B0604020202020204" pitchFamily="34" charset="0"/>
              <a:buChar char="•"/>
            </a:pPr>
            <a:r>
              <a:rPr lang="en-US" dirty="0">
                <a:solidFill>
                  <a:schemeClr val="tx1"/>
                </a:solidFill>
              </a:rPr>
              <a:t>Relationships between data elements.</a:t>
            </a:r>
          </a:p>
          <a:p>
            <a:pPr>
              <a:buFont typeface="Arial" panose="020B0604020202020204" pitchFamily="34" charset="0"/>
              <a:buChar char="•"/>
            </a:pPr>
            <a:r>
              <a:rPr lang="en-US" dirty="0">
                <a:solidFill>
                  <a:schemeClr val="tx1"/>
                </a:solidFill>
              </a:rPr>
              <a:t>This self-describing nature makes the database system more flexible and reduces dependency on specific programs.</a:t>
            </a:r>
          </a:p>
          <a:p>
            <a:endParaRPr lang="en-US" sz="2000" b="1" dirty="0">
              <a:solidFill>
                <a:srgbClr val="333399"/>
              </a:solidFill>
              <a:latin typeface="Arial"/>
              <a:ea typeface="+mn-ea"/>
              <a:cs typeface="+mn-cs"/>
            </a:endParaRPr>
          </a:p>
        </p:txBody>
      </p:sp>
    </p:spTree>
    <p:extLst>
      <p:ext uri="{BB962C8B-B14F-4D97-AF65-F5344CB8AC3E}">
        <p14:creationId xmlns:p14="http://schemas.microsoft.com/office/powerpoint/2010/main" val="772383332"/>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6003CC7-1856-4F8A-151C-BB4A7CE00C19}"/>
            </a:ext>
          </a:extLst>
        </p:cNvPr>
        <p:cNvGrpSpPr/>
        <p:nvPr/>
      </p:nvGrpSpPr>
      <p:grpSpPr>
        <a:xfrm>
          <a:off x="0" y="0"/>
          <a:ext cx="0" cy="0"/>
          <a:chOff x="0" y="0"/>
          <a:chExt cx="0" cy="0"/>
        </a:xfrm>
      </p:grpSpPr>
      <p:sp>
        <p:nvSpPr>
          <p:cNvPr id="2" name="Slide Number Placeholder 1">
            <a:extLst>
              <a:ext uri="{FF2B5EF4-FFF2-40B4-BE49-F238E27FC236}">
                <a16:creationId xmlns:a16="http://schemas.microsoft.com/office/drawing/2014/main" id="{028F6807-4C24-ACF3-2789-A83D339E67FC}"/>
              </a:ext>
            </a:extLst>
          </p:cNvPr>
          <p:cNvSpPr>
            <a:spLocks noGrp="1"/>
          </p:cNvSpPr>
          <p:nvPr>
            <p:ph type="sldNum" sz="quarter" idx="14"/>
          </p:nvPr>
        </p:nvSpPr>
        <p:spPr/>
        <p:txBody>
          <a:bodyPr/>
          <a:lstStyle/>
          <a:p>
            <a:fld id="{45A3C14A-F937-4231-B6F1-40B429FAFB2F}" type="slidenum">
              <a:rPr lang="en-NZ" smtClean="0"/>
              <a:pPr/>
              <a:t>13</a:t>
            </a:fld>
            <a:endParaRPr lang="en-NZ" dirty="0"/>
          </a:p>
        </p:txBody>
      </p:sp>
      <p:sp>
        <p:nvSpPr>
          <p:cNvPr id="3" name="Title 2">
            <a:extLst>
              <a:ext uri="{FF2B5EF4-FFF2-40B4-BE49-F238E27FC236}">
                <a16:creationId xmlns:a16="http://schemas.microsoft.com/office/drawing/2014/main" id="{048DDD52-FFAE-3F25-F794-659E4EDE59FD}"/>
              </a:ext>
            </a:extLst>
          </p:cNvPr>
          <p:cNvSpPr>
            <a:spLocks noGrp="1"/>
          </p:cNvSpPr>
          <p:nvPr>
            <p:ph type="title"/>
          </p:nvPr>
        </p:nvSpPr>
        <p:spPr>
          <a:xfrm>
            <a:off x="695400" y="395786"/>
            <a:ext cx="10009112" cy="838202"/>
          </a:xfrm>
        </p:spPr>
        <p:txBody>
          <a:bodyPr/>
          <a:lstStyle/>
          <a:p>
            <a:r>
              <a:rPr lang="en-US" altLang="en-US" b="1" dirty="0">
                <a:solidFill>
                  <a:srgbClr val="FF0000"/>
                </a:solidFill>
              </a:rPr>
              <a:t>Main Characteristics of the Database Approach</a:t>
            </a:r>
            <a:endParaRPr lang="en-US" b="1" dirty="0">
              <a:solidFill>
                <a:srgbClr val="FF0000"/>
              </a:solidFill>
            </a:endParaRPr>
          </a:p>
        </p:txBody>
      </p:sp>
      <p:sp>
        <p:nvSpPr>
          <p:cNvPr id="4" name="Text Placeholder 3">
            <a:extLst>
              <a:ext uri="{FF2B5EF4-FFF2-40B4-BE49-F238E27FC236}">
                <a16:creationId xmlns:a16="http://schemas.microsoft.com/office/drawing/2014/main" id="{982684FF-EB75-F722-2575-B2C2A561E0D2}"/>
              </a:ext>
            </a:extLst>
          </p:cNvPr>
          <p:cNvSpPr>
            <a:spLocks noGrp="1"/>
          </p:cNvSpPr>
          <p:nvPr>
            <p:ph type="body" sz="quarter" idx="17"/>
          </p:nvPr>
        </p:nvSpPr>
        <p:spPr>
          <a:xfrm>
            <a:off x="695400" y="1412776"/>
            <a:ext cx="10801201" cy="4320480"/>
          </a:xfrm>
        </p:spPr>
        <p:txBody>
          <a:bodyPr/>
          <a:lstStyle/>
          <a:p>
            <a:pPr marL="0" indent="0">
              <a:buNone/>
            </a:pPr>
            <a:r>
              <a:rPr lang="en-US" b="1" dirty="0">
                <a:solidFill>
                  <a:srgbClr val="FF0000"/>
                </a:solidFill>
              </a:rPr>
              <a:t>2. Insulation Between Programs and Data (Data Abstraction)</a:t>
            </a:r>
          </a:p>
          <a:p>
            <a:pPr>
              <a:buFont typeface="Arial" panose="020B0604020202020204" pitchFamily="34" charset="0"/>
              <a:buChar char="•"/>
            </a:pPr>
            <a:r>
              <a:rPr lang="en-US" dirty="0">
                <a:solidFill>
                  <a:schemeClr val="tx1"/>
                </a:solidFill>
              </a:rPr>
              <a:t>The database approach separates the </a:t>
            </a:r>
            <a:r>
              <a:rPr lang="en-US" b="1" dirty="0">
                <a:solidFill>
                  <a:schemeClr val="tx1"/>
                </a:solidFill>
              </a:rPr>
              <a:t>data</a:t>
            </a:r>
            <a:r>
              <a:rPr lang="en-US" dirty="0">
                <a:solidFill>
                  <a:schemeClr val="tx1"/>
                </a:solidFill>
              </a:rPr>
              <a:t> from the </a:t>
            </a:r>
            <a:r>
              <a:rPr lang="en-US" b="1" dirty="0">
                <a:solidFill>
                  <a:schemeClr val="tx1"/>
                </a:solidFill>
              </a:rPr>
              <a:t>application programs</a:t>
            </a:r>
            <a:r>
              <a:rPr lang="en-US" dirty="0">
                <a:solidFill>
                  <a:schemeClr val="tx1"/>
                </a:solidFill>
              </a:rPr>
              <a:t> that use the data.</a:t>
            </a:r>
          </a:p>
          <a:p>
            <a:pPr>
              <a:buFont typeface="Arial" panose="020B0604020202020204" pitchFamily="34" charset="0"/>
              <a:buChar char="•"/>
            </a:pPr>
            <a:r>
              <a:rPr lang="en-US" dirty="0">
                <a:solidFill>
                  <a:schemeClr val="tx1"/>
                </a:solidFill>
              </a:rPr>
              <a:t>Changes in the database structure (e.g., adding a new column to a table) do not require changes to application programs.</a:t>
            </a:r>
          </a:p>
          <a:p>
            <a:pPr>
              <a:buFont typeface="Arial" panose="020B0604020202020204" pitchFamily="34" charset="0"/>
              <a:buChar char="•"/>
            </a:pPr>
            <a:r>
              <a:rPr lang="en-US" dirty="0">
                <a:solidFill>
                  <a:schemeClr val="tx1"/>
                </a:solidFill>
              </a:rPr>
              <a:t>This characteristic provides </a:t>
            </a:r>
            <a:r>
              <a:rPr lang="en-US" b="1" dirty="0">
                <a:solidFill>
                  <a:schemeClr val="tx1"/>
                </a:solidFill>
              </a:rPr>
              <a:t>data independence</a:t>
            </a:r>
            <a:r>
              <a:rPr lang="en-US" dirty="0">
                <a:solidFill>
                  <a:schemeClr val="tx1"/>
                </a:solidFill>
              </a:rPr>
              <a:t>:</a:t>
            </a:r>
          </a:p>
          <a:p>
            <a:pPr marL="742950" lvl="1" indent="-285750">
              <a:buFont typeface="Arial" panose="020B0604020202020204" pitchFamily="34" charset="0"/>
              <a:buChar char="•"/>
            </a:pPr>
            <a:r>
              <a:rPr lang="en-US" b="1" dirty="0">
                <a:solidFill>
                  <a:schemeClr val="tx1"/>
                </a:solidFill>
              </a:rPr>
              <a:t>Physical Data Independence</a:t>
            </a:r>
            <a:r>
              <a:rPr lang="en-US" dirty="0">
                <a:solidFill>
                  <a:schemeClr val="tx1"/>
                </a:solidFill>
              </a:rPr>
              <a:t>: Changes to physical storage structures do not affect conceptual schema.</a:t>
            </a:r>
          </a:p>
          <a:p>
            <a:pPr marL="742950" lvl="1" indent="-285750">
              <a:buFont typeface="Arial" panose="020B0604020202020204" pitchFamily="34" charset="0"/>
              <a:buChar char="•"/>
            </a:pPr>
            <a:r>
              <a:rPr lang="en-US" b="1" dirty="0">
                <a:solidFill>
                  <a:schemeClr val="tx1"/>
                </a:solidFill>
              </a:rPr>
              <a:t>Logical Data Independence</a:t>
            </a:r>
            <a:r>
              <a:rPr lang="en-US" dirty="0">
                <a:solidFill>
                  <a:schemeClr val="tx1"/>
                </a:solidFill>
              </a:rPr>
              <a:t>: Changes to the conceptual schema do not affect external schema (user views).</a:t>
            </a:r>
          </a:p>
          <a:p>
            <a:endParaRPr lang="en-US" sz="2000" b="1" dirty="0">
              <a:solidFill>
                <a:srgbClr val="333399"/>
              </a:solidFill>
              <a:latin typeface="Arial"/>
              <a:ea typeface="+mn-ea"/>
              <a:cs typeface="+mn-cs"/>
            </a:endParaRPr>
          </a:p>
        </p:txBody>
      </p:sp>
    </p:spTree>
    <p:extLst>
      <p:ext uri="{BB962C8B-B14F-4D97-AF65-F5344CB8AC3E}">
        <p14:creationId xmlns:p14="http://schemas.microsoft.com/office/powerpoint/2010/main" val="4128345548"/>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Number Placeholder 1"/>
          <p:cNvSpPr>
            <a:spLocks noGrp="1"/>
          </p:cNvSpPr>
          <p:nvPr>
            <p:ph type="sldNum" sz="quarter" idx="14"/>
          </p:nvPr>
        </p:nvSpPr>
        <p:spPr/>
        <p:txBody>
          <a:bodyPr/>
          <a:lstStyle/>
          <a:p>
            <a:fld id="{45A3C14A-F937-4231-B6F1-40B429FAFB2F}" type="slidenum">
              <a:rPr lang="en-NZ" smtClean="0"/>
              <a:pPr/>
              <a:t>14</a:t>
            </a:fld>
            <a:endParaRPr lang="en-NZ" dirty="0"/>
          </a:p>
        </p:txBody>
      </p:sp>
      <p:sp>
        <p:nvSpPr>
          <p:cNvPr id="3" name="Title 2"/>
          <p:cNvSpPr>
            <a:spLocks noGrp="1"/>
          </p:cNvSpPr>
          <p:nvPr>
            <p:ph type="title"/>
          </p:nvPr>
        </p:nvSpPr>
        <p:spPr>
          <a:xfrm>
            <a:off x="662158" y="404664"/>
            <a:ext cx="11050466" cy="838202"/>
          </a:xfrm>
        </p:spPr>
        <p:txBody>
          <a:bodyPr/>
          <a:lstStyle/>
          <a:p>
            <a:r>
              <a:rPr lang="en-US" altLang="en-US" b="1" dirty="0">
                <a:solidFill>
                  <a:srgbClr val="FF0000"/>
                </a:solidFill>
              </a:rPr>
              <a:t>Main Characteristics of the Database Approach</a:t>
            </a:r>
            <a:endParaRPr lang="en-US" dirty="0">
              <a:solidFill>
                <a:srgbClr val="FF0000"/>
              </a:solidFill>
            </a:endParaRPr>
          </a:p>
        </p:txBody>
      </p:sp>
      <p:sp>
        <p:nvSpPr>
          <p:cNvPr id="4" name="Text Placeholder 3"/>
          <p:cNvSpPr>
            <a:spLocks noGrp="1"/>
          </p:cNvSpPr>
          <p:nvPr>
            <p:ph type="body" sz="quarter" idx="17"/>
          </p:nvPr>
        </p:nvSpPr>
        <p:spPr/>
        <p:txBody>
          <a:bodyPr/>
          <a:lstStyle/>
          <a:p>
            <a:pPr marL="0" indent="0">
              <a:buNone/>
            </a:pPr>
            <a:r>
              <a:rPr lang="en-US" altLang="en-US" b="1" dirty="0">
                <a:solidFill>
                  <a:srgbClr val="48367D"/>
                </a:solidFill>
              </a:rPr>
              <a:t>3. Data Abstraction: </a:t>
            </a:r>
          </a:p>
          <a:p>
            <a:pPr lvl="1">
              <a:buFont typeface="Arial" panose="020B0604020202020204" pitchFamily="34" charset="0"/>
              <a:buChar char="•"/>
            </a:pPr>
            <a:r>
              <a:rPr lang="en-US" altLang="en-US" dirty="0">
                <a:solidFill>
                  <a:srgbClr val="C00000"/>
                </a:solidFill>
              </a:rPr>
              <a:t>A </a:t>
            </a:r>
            <a:r>
              <a:rPr lang="en-US" altLang="en-US" b="1" dirty="0">
                <a:solidFill>
                  <a:srgbClr val="C00000"/>
                </a:solidFill>
              </a:rPr>
              <a:t>data model</a:t>
            </a:r>
            <a:r>
              <a:rPr lang="en-US" altLang="en-US" dirty="0">
                <a:solidFill>
                  <a:srgbClr val="C00000"/>
                </a:solidFill>
              </a:rPr>
              <a:t> is used to hide storage details and present the users with a conceptual view  of the database.</a:t>
            </a:r>
          </a:p>
          <a:p>
            <a:pPr lvl="1">
              <a:buFont typeface="Arial" panose="020B0604020202020204" pitchFamily="34" charset="0"/>
              <a:buChar char="•"/>
            </a:pPr>
            <a:r>
              <a:rPr lang="en-US" altLang="en-US" dirty="0">
                <a:solidFill>
                  <a:srgbClr val="C00000"/>
                </a:solidFill>
              </a:rPr>
              <a:t>Programs refer to the data model constructs rather than data storage details</a:t>
            </a:r>
          </a:p>
          <a:p>
            <a:pPr marL="0" indent="0">
              <a:buNone/>
            </a:pPr>
            <a:r>
              <a:rPr lang="en-US" altLang="en-US" b="1" dirty="0">
                <a:solidFill>
                  <a:srgbClr val="48367D"/>
                </a:solidFill>
              </a:rPr>
              <a:t>4. Support of multiple views of the data:</a:t>
            </a:r>
          </a:p>
          <a:p>
            <a:pPr lvl="1">
              <a:buFont typeface="Arial" panose="020B0604020202020204" pitchFamily="34" charset="0"/>
              <a:buChar char="•"/>
            </a:pPr>
            <a:r>
              <a:rPr lang="en-US" altLang="en-US" dirty="0">
                <a:solidFill>
                  <a:srgbClr val="C00000"/>
                </a:solidFill>
              </a:rPr>
              <a:t>Each user may see a different view of the database, which describes </a:t>
            </a:r>
            <a:r>
              <a:rPr lang="en-US" altLang="en-US" b="1" dirty="0">
                <a:solidFill>
                  <a:srgbClr val="C00000"/>
                </a:solidFill>
              </a:rPr>
              <a:t>only</a:t>
            </a:r>
            <a:r>
              <a:rPr lang="en-US" altLang="en-US" dirty="0">
                <a:solidFill>
                  <a:srgbClr val="C00000"/>
                </a:solidFill>
              </a:rPr>
              <a:t> the data of interest to that user.</a:t>
            </a:r>
          </a:p>
          <a:p>
            <a:endParaRPr lang="en-US" dirty="0"/>
          </a:p>
        </p:txBody>
      </p:sp>
    </p:spTree>
    <p:extLst>
      <p:ext uri="{BB962C8B-B14F-4D97-AF65-F5344CB8AC3E}">
        <p14:creationId xmlns:p14="http://schemas.microsoft.com/office/powerpoint/2010/main" val="2125136196"/>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Number Placeholder 1"/>
          <p:cNvSpPr>
            <a:spLocks noGrp="1"/>
          </p:cNvSpPr>
          <p:nvPr>
            <p:ph type="sldNum" sz="quarter" idx="14"/>
          </p:nvPr>
        </p:nvSpPr>
        <p:spPr/>
        <p:txBody>
          <a:bodyPr/>
          <a:lstStyle/>
          <a:p>
            <a:fld id="{45A3C14A-F937-4231-B6F1-40B429FAFB2F}" type="slidenum">
              <a:rPr lang="en-NZ" smtClean="0"/>
              <a:pPr/>
              <a:t>15</a:t>
            </a:fld>
            <a:endParaRPr lang="en-NZ" dirty="0"/>
          </a:p>
        </p:txBody>
      </p:sp>
      <p:sp>
        <p:nvSpPr>
          <p:cNvPr id="3" name="Title 2"/>
          <p:cNvSpPr>
            <a:spLocks noGrp="1"/>
          </p:cNvSpPr>
          <p:nvPr>
            <p:ph type="title"/>
          </p:nvPr>
        </p:nvSpPr>
        <p:spPr>
          <a:xfrm>
            <a:off x="695400" y="395786"/>
            <a:ext cx="10081120" cy="838202"/>
          </a:xfrm>
        </p:spPr>
        <p:txBody>
          <a:bodyPr/>
          <a:lstStyle/>
          <a:p>
            <a:r>
              <a:rPr lang="en-US" altLang="en-US" b="1" dirty="0">
                <a:solidFill>
                  <a:srgbClr val="FF0000"/>
                </a:solidFill>
              </a:rPr>
              <a:t>Main Characteristics of the Database Approach</a:t>
            </a:r>
            <a:endParaRPr lang="en-US" b="1" dirty="0">
              <a:solidFill>
                <a:srgbClr val="FF0000"/>
              </a:solidFill>
            </a:endParaRPr>
          </a:p>
        </p:txBody>
      </p:sp>
      <p:sp>
        <p:nvSpPr>
          <p:cNvPr id="4" name="Text Placeholder 3"/>
          <p:cNvSpPr>
            <a:spLocks noGrp="1"/>
          </p:cNvSpPr>
          <p:nvPr>
            <p:ph type="body" sz="quarter" idx="17"/>
          </p:nvPr>
        </p:nvSpPr>
        <p:spPr>
          <a:xfrm>
            <a:off x="708123" y="1268760"/>
            <a:ext cx="10801201" cy="4320480"/>
          </a:xfrm>
        </p:spPr>
        <p:txBody>
          <a:bodyPr/>
          <a:lstStyle/>
          <a:p>
            <a:pPr marL="0" indent="0" algn="just">
              <a:buNone/>
            </a:pPr>
            <a:r>
              <a:rPr lang="en-US" altLang="en-US" b="1" dirty="0">
                <a:solidFill>
                  <a:srgbClr val="48367D"/>
                </a:solidFill>
              </a:rPr>
              <a:t>5. Sharing of data and multi-user transaction processing:</a:t>
            </a:r>
          </a:p>
          <a:p>
            <a:pPr lvl="1" algn="just">
              <a:buFont typeface="Arial" panose="020B0604020202020204" pitchFamily="34" charset="0"/>
              <a:buChar char="•"/>
            </a:pPr>
            <a:r>
              <a:rPr lang="en-US" b="0" i="0" dirty="0">
                <a:solidFill>
                  <a:schemeClr val="tx1"/>
                </a:solidFill>
                <a:effectLst/>
              </a:rPr>
              <a:t>A multi-user DBMS, as its name implies, must </a:t>
            </a:r>
            <a:r>
              <a:rPr lang="en-US" b="0" i="0" dirty="0">
                <a:solidFill>
                  <a:srgbClr val="FF0000"/>
                </a:solidFill>
                <a:effectLst/>
              </a:rPr>
              <a:t>allow multiple users to access the database </a:t>
            </a:r>
            <a:r>
              <a:rPr lang="en-US" b="0" i="0" dirty="0">
                <a:solidFill>
                  <a:schemeClr val="tx1"/>
                </a:solidFill>
                <a:effectLst/>
              </a:rPr>
              <a:t>at an equivalent time or concurrently. </a:t>
            </a:r>
            <a:endParaRPr lang="en-US" altLang="en-US" dirty="0">
              <a:solidFill>
                <a:schemeClr val="tx1"/>
              </a:solidFill>
            </a:endParaRPr>
          </a:p>
          <a:p>
            <a:pPr lvl="1" algn="just">
              <a:buFont typeface="Arial" panose="020B0604020202020204" pitchFamily="34" charset="0"/>
              <a:buChar char="•"/>
            </a:pPr>
            <a:r>
              <a:rPr lang="en-US" altLang="en-US" dirty="0">
                <a:solidFill>
                  <a:schemeClr val="tx1"/>
                </a:solidFill>
              </a:rPr>
              <a:t>Allowing a set of </a:t>
            </a:r>
            <a:r>
              <a:rPr lang="en-US" altLang="en-US" b="1" dirty="0">
                <a:solidFill>
                  <a:srgbClr val="FF0000"/>
                </a:solidFill>
              </a:rPr>
              <a:t>concurrent users</a:t>
            </a:r>
            <a:r>
              <a:rPr lang="en-US" altLang="en-US" dirty="0">
                <a:solidFill>
                  <a:srgbClr val="FF0000"/>
                </a:solidFill>
              </a:rPr>
              <a:t> </a:t>
            </a:r>
            <a:r>
              <a:rPr lang="en-US" altLang="en-US" dirty="0">
                <a:solidFill>
                  <a:schemeClr val="tx1"/>
                </a:solidFill>
              </a:rPr>
              <a:t>to retrieve from and to update the database(many users can access data at the same time)</a:t>
            </a:r>
          </a:p>
          <a:p>
            <a:pPr lvl="1" algn="just">
              <a:buFont typeface="Arial" panose="020B0604020202020204" pitchFamily="34" charset="0"/>
              <a:buChar char="•"/>
            </a:pPr>
            <a:r>
              <a:rPr lang="en-US" altLang="en-US" i="1" dirty="0">
                <a:solidFill>
                  <a:schemeClr val="tx1"/>
                </a:solidFill>
              </a:rPr>
              <a:t>Concurrency control</a:t>
            </a:r>
            <a:r>
              <a:rPr lang="en-US" altLang="en-US" dirty="0">
                <a:solidFill>
                  <a:schemeClr val="tx1"/>
                </a:solidFill>
              </a:rPr>
              <a:t> within the DBMS guarantees that each </a:t>
            </a:r>
            <a:r>
              <a:rPr lang="en-US" altLang="en-US" b="1" dirty="0">
                <a:solidFill>
                  <a:schemeClr val="tx1"/>
                </a:solidFill>
              </a:rPr>
              <a:t>transaction</a:t>
            </a:r>
            <a:r>
              <a:rPr lang="en-US" altLang="en-US" dirty="0">
                <a:solidFill>
                  <a:schemeClr val="tx1"/>
                </a:solidFill>
              </a:rPr>
              <a:t> is correctly executed or aborted</a:t>
            </a:r>
          </a:p>
          <a:p>
            <a:pPr lvl="1" algn="just">
              <a:buFont typeface="Arial" panose="020B0604020202020204" pitchFamily="34" charset="0"/>
              <a:buChar char="•"/>
            </a:pPr>
            <a:r>
              <a:rPr lang="en-US" altLang="en-US" i="1" dirty="0">
                <a:solidFill>
                  <a:schemeClr val="tx1"/>
                </a:solidFill>
              </a:rPr>
              <a:t>Recovery</a:t>
            </a:r>
            <a:r>
              <a:rPr lang="en-US" altLang="en-US" dirty="0">
                <a:solidFill>
                  <a:schemeClr val="tx1"/>
                </a:solidFill>
              </a:rPr>
              <a:t> subsystem ensures each completed transaction has its effect permanently recorded in the database</a:t>
            </a:r>
          </a:p>
          <a:p>
            <a:pPr lvl="1" algn="just">
              <a:buFont typeface="Arial" panose="020B0604020202020204" pitchFamily="34" charset="0"/>
              <a:buChar char="•"/>
            </a:pPr>
            <a:r>
              <a:rPr lang="en-US" altLang="en-US" b="1" dirty="0">
                <a:solidFill>
                  <a:schemeClr val="tx1"/>
                </a:solidFill>
              </a:rPr>
              <a:t>OLTP</a:t>
            </a:r>
            <a:r>
              <a:rPr lang="en-US" altLang="en-US" dirty="0">
                <a:solidFill>
                  <a:schemeClr val="tx1"/>
                </a:solidFill>
              </a:rPr>
              <a:t> (Online Transaction Processing) is a major part of database applications. This allows hundreds of concurrent transactions to execute per second.</a:t>
            </a:r>
          </a:p>
          <a:p>
            <a:endParaRPr lang="en-US" dirty="0">
              <a:solidFill>
                <a:srgbClr val="C00000"/>
              </a:solidFill>
            </a:endParaRPr>
          </a:p>
        </p:txBody>
      </p:sp>
    </p:spTree>
    <p:extLst>
      <p:ext uri="{BB962C8B-B14F-4D97-AF65-F5344CB8AC3E}">
        <p14:creationId xmlns:p14="http://schemas.microsoft.com/office/powerpoint/2010/main" val="1679960226"/>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Number Placeholder 1"/>
          <p:cNvSpPr>
            <a:spLocks noGrp="1"/>
          </p:cNvSpPr>
          <p:nvPr>
            <p:ph type="sldNum" sz="quarter" idx="14"/>
          </p:nvPr>
        </p:nvSpPr>
        <p:spPr/>
        <p:txBody>
          <a:bodyPr/>
          <a:lstStyle/>
          <a:p>
            <a:fld id="{45A3C14A-F937-4231-B6F1-40B429FAFB2F}" type="slidenum">
              <a:rPr lang="en-NZ" smtClean="0"/>
              <a:pPr/>
              <a:t>16</a:t>
            </a:fld>
            <a:endParaRPr lang="en-NZ" dirty="0"/>
          </a:p>
        </p:txBody>
      </p:sp>
      <p:sp>
        <p:nvSpPr>
          <p:cNvPr id="3" name="Title 2"/>
          <p:cNvSpPr>
            <a:spLocks noGrp="1"/>
          </p:cNvSpPr>
          <p:nvPr>
            <p:ph type="title"/>
          </p:nvPr>
        </p:nvSpPr>
        <p:spPr>
          <a:xfrm>
            <a:off x="191344" y="188640"/>
            <a:ext cx="10441160" cy="838202"/>
          </a:xfrm>
        </p:spPr>
        <p:txBody>
          <a:bodyPr/>
          <a:lstStyle/>
          <a:p>
            <a:r>
              <a:rPr lang="en-US" altLang="en-US" b="1" dirty="0">
                <a:solidFill>
                  <a:srgbClr val="FF0000"/>
                </a:solidFill>
              </a:rPr>
              <a:t>Advantages of Using the Database Approach</a:t>
            </a:r>
            <a:endParaRPr lang="en-US" b="1" dirty="0">
              <a:solidFill>
                <a:srgbClr val="FF0000"/>
              </a:solidFill>
            </a:endParaRPr>
          </a:p>
        </p:txBody>
      </p:sp>
      <p:sp>
        <p:nvSpPr>
          <p:cNvPr id="4" name="Text Placeholder 3"/>
          <p:cNvSpPr>
            <a:spLocks noGrp="1"/>
          </p:cNvSpPr>
          <p:nvPr>
            <p:ph type="body" sz="quarter" idx="17"/>
          </p:nvPr>
        </p:nvSpPr>
        <p:spPr>
          <a:xfrm>
            <a:off x="767408" y="764704"/>
            <a:ext cx="10801201" cy="4320480"/>
          </a:xfrm>
        </p:spPr>
        <p:txBody>
          <a:bodyPr/>
          <a:lstStyle/>
          <a:p>
            <a:pPr marL="342900" lvl="0" indent="-342900" fontAlgn="base">
              <a:lnSpc>
                <a:spcPct val="150000"/>
              </a:lnSpc>
              <a:spcBef>
                <a:spcPct val="20000"/>
              </a:spcBef>
              <a:spcAft>
                <a:spcPct val="0"/>
              </a:spcAft>
              <a:buClr>
                <a:srgbClr val="990033"/>
              </a:buClr>
              <a:buSzPct val="60000"/>
              <a:buFont typeface="Wingdings" panose="05000000000000000000" pitchFamily="2" charset="2"/>
              <a:buChar char="n"/>
            </a:pPr>
            <a:r>
              <a:rPr lang="en-US" altLang="en-US" dirty="0">
                <a:solidFill>
                  <a:srgbClr val="333399"/>
                </a:solidFill>
              </a:rPr>
              <a:t>Controlling redundancy in data storage and in development and maintenance efforts.</a:t>
            </a:r>
          </a:p>
          <a:p>
            <a:pPr marL="742950" lvl="1" indent="-285750" fontAlgn="base">
              <a:lnSpc>
                <a:spcPct val="150000"/>
              </a:lnSpc>
              <a:spcBef>
                <a:spcPct val="20000"/>
              </a:spcBef>
              <a:spcAft>
                <a:spcPct val="0"/>
              </a:spcAft>
              <a:buClr>
                <a:srgbClr val="333399"/>
              </a:buClr>
              <a:buSzPct val="55000"/>
              <a:buFont typeface="Wingdings" panose="05000000000000000000" pitchFamily="2" charset="2"/>
              <a:buChar char="n"/>
            </a:pPr>
            <a:r>
              <a:rPr lang="en-US" altLang="en-US" dirty="0">
                <a:solidFill>
                  <a:srgbClr val="800000"/>
                </a:solidFill>
              </a:rPr>
              <a:t>Sharing of data among multiple users.</a:t>
            </a:r>
          </a:p>
          <a:p>
            <a:pPr marL="342900" lvl="0" indent="-342900" fontAlgn="base">
              <a:lnSpc>
                <a:spcPct val="150000"/>
              </a:lnSpc>
              <a:spcBef>
                <a:spcPct val="20000"/>
              </a:spcBef>
              <a:spcAft>
                <a:spcPct val="0"/>
              </a:spcAft>
              <a:buClr>
                <a:srgbClr val="990033"/>
              </a:buClr>
              <a:buSzPct val="60000"/>
              <a:buFont typeface="Wingdings" panose="05000000000000000000" pitchFamily="2" charset="2"/>
              <a:buChar char="n"/>
            </a:pPr>
            <a:r>
              <a:rPr lang="en-US" altLang="en-US" dirty="0">
                <a:solidFill>
                  <a:srgbClr val="333399"/>
                </a:solidFill>
              </a:rPr>
              <a:t>Restricting unauthorized access to data.</a:t>
            </a:r>
          </a:p>
          <a:p>
            <a:pPr marL="342900" lvl="0" indent="-342900" fontAlgn="base">
              <a:lnSpc>
                <a:spcPct val="150000"/>
              </a:lnSpc>
              <a:spcBef>
                <a:spcPct val="20000"/>
              </a:spcBef>
              <a:spcAft>
                <a:spcPct val="0"/>
              </a:spcAft>
              <a:buClr>
                <a:srgbClr val="990033"/>
              </a:buClr>
              <a:buSzPct val="60000"/>
              <a:buFont typeface="Wingdings" panose="05000000000000000000" pitchFamily="2" charset="2"/>
              <a:buChar char="n"/>
            </a:pPr>
            <a:r>
              <a:rPr lang="en-US" altLang="en-US" dirty="0">
                <a:solidFill>
                  <a:srgbClr val="333399"/>
                </a:solidFill>
              </a:rPr>
              <a:t>Providing backup and recovery services.</a:t>
            </a:r>
          </a:p>
          <a:p>
            <a:pPr marL="342900" lvl="0" indent="-342900" fontAlgn="base">
              <a:lnSpc>
                <a:spcPct val="150000"/>
              </a:lnSpc>
              <a:spcBef>
                <a:spcPct val="20000"/>
              </a:spcBef>
              <a:spcAft>
                <a:spcPct val="0"/>
              </a:spcAft>
              <a:buClr>
                <a:srgbClr val="990033"/>
              </a:buClr>
              <a:buSzPct val="60000"/>
              <a:buFont typeface="Wingdings" panose="05000000000000000000" pitchFamily="2" charset="2"/>
              <a:buChar char="n"/>
            </a:pPr>
            <a:r>
              <a:rPr lang="en-US" altLang="en-US" dirty="0">
                <a:solidFill>
                  <a:srgbClr val="333399"/>
                </a:solidFill>
              </a:rPr>
              <a:t>Providing multiple interfaces to different classes of users(</a:t>
            </a:r>
            <a:r>
              <a:rPr lang="en-US" altLang="en-US" dirty="0" err="1">
                <a:solidFill>
                  <a:srgbClr val="333399"/>
                </a:solidFill>
              </a:rPr>
              <a:t>DBA,Developer,End</a:t>
            </a:r>
            <a:r>
              <a:rPr lang="en-US" altLang="en-US" dirty="0">
                <a:solidFill>
                  <a:srgbClr val="333399"/>
                </a:solidFill>
              </a:rPr>
              <a:t> </a:t>
            </a:r>
            <a:r>
              <a:rPr lang="en-US" altLang="en-US" dirty="0" err="1">
                <a:solidFill>
                  <a:srgbClr val="333399"/>
                </a:solidFill>
              </a:rPr>
              <a:t>Users,Data</a:t>
            </a:r>
            <a:r>
              <a:rPr lang="en-US" altLang="en-US" dirty="0">
                <a:solidFill>
                  <a:srgbClr val="333399"/>
                </a:solidFill>
              </a:rPr>
              <a:t> Analysts)</a:t>
            </a:r>
          </a:p>
          <a:p>
            <a:pPr marL="342900" lvl="0" indent="-342900" fontAlgn="base">
              <a:lnSpc>
                <a:spcPct val="150000"/>
              </a:lnSpc>
              <a:spcBef>
                <a:spcPct val="20000"/>
              </a:spcBef>
              <a:spcAft>
                <a:spcPct val="0"/>
              </a:spcAft>
              <a:buClr>
                <a:srgbClr val="990033"/>
              </a:buClr>
              <a:buSzPct val="60000"/>
              <a:buFont typeface="Wingdings" panose="05000000000000000000" pitchFamily="2" charset="2"/>
              <a:buChar char="n"/>
            </a:pPr>
            <a:r>
              <a:rPr lang="en-US" altLang="en-US" dirty="0">
                <a:solidFill>
                  <a:srgbClr val="333399"/>
                </a:solidFill>
              </a:rPr>
              <a:t>Representing complex relationships among data.</a:t>
            </a:r>
          </a:p>
          <a:p>
            <a:pPr marL="342900" lvl="0" indent="-342900" fontAlgn="base">
              <a:lnSpc>
                <a:spcPct val="150000"/>
              </a:lnSpc>
              <a:spcBef>
                <a:spcPct val="20000"/>
              </a:spcBef>
              <a:spcAft>
                <a:spcPct val="0"/>
              </a:spcAft>
              <a:buClr>
                <a:srgbClr val="990033"/>
              </a:buClr>
              <a:buSzPct val="60000"/>
              <a:buFont typeface="Wingdings" panose="05000000000000000000" pitchFamily="2" charset="2"/>
              <a:buChar char="n"/>
            </a:pPr>
            <a:r>
              <a:rPr lang="en-US" altLang="en-US" dirty="0">
                <a:solidFill>
                  <a:srgbClr val="333399"/>
                </a:solidFill>
              </a:rPr>
              <a:t>Enforcing integrity constraints on the database.</a:t>
            </a:r>
          </a:p>
          <a:p>
            <a:pPr marL="342900" lvl="0" indent="-342900" fontAlgn="base">
              <a:lnSpc>
                <a:spcPct val="100000"/>
              </a:lnSpc>
              <a:spcBef>
                <a:spcPct val="20000"/>
              </a:spcBef>
              <a:spcAft>
                <a:spcPct val="0"/>
              </a:spcAft>
              <a:buClr>
                <a:srgbClr val="990033"/>
              </a:buClr>
              <a:buSzPct val="60000"/>
              <a:buFont typeface="Wingdings" panose="05000000000000000000" pitchFamily="2" charset="2"/>
              <a:buChar char="n"/>
            </a:pPr>
            <a:endParaRPr lang="en-US" altLang="en-US" sz="2800" dirty="0">
              <a:solidFill>
                <a:srgbClr val="333399"/>
              </a:solidFill>
              <a:latin typeface="Arial"/>
              <a:ea typeface="+mn-ea"/>
              <a:cs typeface="+mn-cs"/>
            </a:endParaRPr>
          </a:p>
          <a:p>
            <a:endParaRPr lang="en-US" dirty="0"/>
          </a:p>
        </p:txBody>
      </p:sp>
    </p:spTree>
    <p:extLst>
      <p:ext uri="{BB962C8B-B14F-4D97-AF65-F5344CB8AC3E}">
        <p14:creationId xmlns:p14="http://schemas.microsoft.com/office/powerpoint/2010/main" val="1294563557"/>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C3F381A-B585-8B25-76F5-4A5AD57130DC}"/>
            </a:ext>
          </a:extLst>
        </p:cNvPr>
        <p:cNvGrpSpPr/>
        <p:nvPr/>
      </p:nvGrpSpPr>
      <p:grpSpPr>
        <a:xfrm>
          <a:off x="0" y="0"/>
          <a:ext cx="0" cy="0"/>
          <a:chOff x="0" y="0"/>
          <a:chExt cx="0" cy="0"/>
        </a:xfrm>
      </p:grpSpPr>
      <p:sp>
        <p:nvSpPr>
          <p:cNvPr id="2" name="Slide Number Placeholder 1">
            <a:extLst>
              <a:ext uri="{FF2B5EF4-FFF2-40B4-BE49-F238E27FC236}">
                <a16:creationId xmlns:a16="http://schemas.microsoft.com/office/drawing/2014/main" id="{67FA0009-8951-62FF-4232-10D12AC31F66}"/>
              </a:ext>
            </a:extLst>
          </p:cNvPr>
          <p:cNvSpPr>
            <a:spLocks noGrp="1"/>
          </p:cNvSpPr>
          <p:nvPr>
            <p:ph type="sldNum" sz="quarter" idx="14"/>
          </p:nvPr>
        </p:nvSpPr>
        <p:spPr/>
        <p:txBody>
          <a:bodyPr/>
          <a:lstStyle/>
          <a:p>
            <a:fld id="{45A3C14A-F937-4231-B6F1-40B429FAFB2F}" type="slidenum">
              <a:rPr lang="en-NZ" smtClean="0"/>
              <a:pPr/>
              <a:t>17</a:t>
            </a:fld>
            <a:endParaRPr lang="en-NZ" dirty="0"/>
          </a:p>
        </p:txBody>
      </p:sp>
      <p:sp>
        <p:nvSpPr>
          <p:cNvPr id="3" name="Title 2">
            <a:extLst>
              <a:ext uri="{FF2B5EF4-FFF2-40B4-BE49-F238E27FC236}">
                <a16:creationId xmlns:a16="http://schemas.microsoft.com/office/drawing/2014/main" id="{962B240C-EDE2-434F-FEB1-8080C31A7C5B}"/>
              </a:ext>
            </a:extLst>
          </p:cNvPr>
          <p:cNvSpPr>
            <a:spLocks noGrp="1"/>
          </p:cNvSpPr>
          <p:nvPr>
            <p:ph type="title"/>
          </p:nvPr>
        </p:nvSpPr>
        <p:spPr/>
        <p:txBody>
          <a:bodyPr/>
          <a:lstStyle/>
          <a:p>
            <a:r>
              <a:rPr lang="en-US" altLang="en-US" b="1" dirty="0">
                <a:solidFill>
                  <a:srgbClr val="FF0000"/>
                </a:solidFill>
              </a:rPr>
              <a:t>Database Users</a:t>
            </a:r>
            <a:endParaRPr lang="en-US" b="1" dirty="0">
              <a:solidFill>
                <a:srgbClr val="FF0000"/>
              </a:solidFill>
            </a:endParaRPr>
          </a:p>
        </p:txBody>
      </p:sp>
      <p:sp>
        <p:nvSpPr>
          <p:cNvPr id="4" name="Text Placeholder 3">
            <a:extLst>
              <a:ext uri="{FF2B5EF4-FFF2-40B4-BE49-F238E27FC236}">
                <a16:creationId xmlns:a16="http://schemas.microsoft.com/office/drawing/2014/main" id="{5FF4886A-EA10-0782-4174-41D7A4C1E3AC}"/>
              </a:ext>
            </a:extLst>
          </p:cNvPr>
          <p:cNvSpPr>
            <a:spLocks noGrp="1"/>
          </p:cNvSpPr>
          <p:nvPr>
            <p:ph type="body" sz="quarter" idx="17"/>
          </p:nvPr>
        </p:nvSpPr>
        <p:spPr>
          <a:xfrm>
            <a:off x="575894" y="1052736"/>
            <a:ext cx="10801201" cy="4896544"/>
          </a:xfrm>
        </p:spPr>
        <p:txBody>
          <a:bodyPr/>
          <a:lstStyle/>
          <a:p>
            <a:pPr marL="342900" lvl="0" indent="-342900" fontAlgn="base">
              <a:lnSpc>
                <a:spcPct val="100000"/>
              </a:lnSpc>
              <a:spcBef>
                <a:spcPct val="20000"/>
              </a:spcBef>
              <a:spcAft>
                <a:spcPct val="0"/>
              </a:spcAft>
              <a:buClr>
                <a:srgbClr val="990033"/>
              </a:buClr>
              <a:buSzPct val="60000"/>
              <a:buFont typeface="Wingdings" panose="05000000000000000000" pitchFamily="2" charset="2"/>
              <a:buChar char="n"/>
            </a:pPr>
            <a:r>
              <a:rPr lang="en-US" altLang="en-US" dirty="0">
                <a:solidFill>
                  <a:srgbClr val="333399"/>
                </a:solidFill>
              </a:rPr>
              <a:t>Users may be divided into</a:t>
            </a:r>
          </a:p>
          <a:p>
            <a:pPr marL="742950" lvl="1" indent="-285750" fontAlgn="base">
              <a:lnSpc>
                <a:spcPct val="100000"/>
              </a:lnSpc>
              <a:spcBef>
                <a:spcPct val="20000"/>
              </a:spcBef>
              <a:spcAft>
                <a:spcPct val="0"/>
              </a:spcAft>
              <a:buClr>
                <a:srgbClr val="333399"/>
              </a:buClr>
              <a:buSzPct val="55000"/>
              <a:buFont typeface="Wingdings" panose="05000000000000000000" pitchFamily="2" charset="2"/>
              <a:buChar char="n"/>
            </a:pPr>
            <a:r>
              <a:rPr lang="en-US" altLang="en-US" dirty="0">
                <a:solidFill>
                  <a:srgbClr val="800000"/>
                </a:solidFill>
              </a:rPr>
              <a:t>Those who actually use and control the database content, and those who design, develop and maintain database applications (</a:t>
            </a:r>
            <a:r>
              <a:rPr lang="en-US" altLang="en-US" dirty="0">
                <a:solidFill>
                  <a:srgbClr val="FF0000"/>
                </a:solidFill>
              </a:rPr>
              <a:t>called “Actors on the Scene”), </a:t>
            </a:r>
          </a:p>
          <a:p>
            <a:pPr marL="0" indent="0">
              <a:buNone/>
            </a:pPr>
            <a:endParaRPr lang="en-US" b="1" dirty="0"/>
          </a:p>
          <a:p>
            <a:pPr marL="0" indent="0">
              <a:buNone/>
            </a:pPr>
            <a:r>
              <a:rPr lang="en-US" b="1" dirty="0">
                <a:solidFill>
                  <a:schemeClr val="tx1"/>
                </a:solidFill>
              </a:rPr>
              <a:t>Database Administrators (DBAs)</a:t>
            </a:r>
            <a:r>
              <a:rPr lang="en-US" dirty="0">
                <a:solidFill>
                  <a:schemeClr val="tx1"/>
                </a:solidFill>
              </a:rPr>
              <a:t> are part of the </a:t>
            </a:r>
            <a:r>
              <a:rPr lang="en-US" b="1" dirty="0">
                <a:solidFill>
                  <a:schemeClr val="tx1"/>
                </a:solidFill>
              </a:rPr>
              <a:t>Actors on the Scene</a:t>
            </a:r>
            <a:r>
              <a:rPr lang="en-US" dirty="0">
                <a:solidFill>
                  <a:schemeClr val="tx1"/>
                </a:solidFill>
              </a:rPr>
              <a:t> because they directly interact with and manage the database content. They are responsible for tasks such as:</a:t>
            </a:r>
          </a:p>
          <a:p>
            <a:pPr>
              <a:buFont typeface="Arial" panose="020B0604020202020204" pitchFamily="34" charset="0"/>
              <a:buChar char="•"/>
            </a:pPr>
            <a:r>
              <a:rPr lang="en-US" dirty="0">
                <a:solidFill>
                  <a:schemeClr val="tx1"/>
                </a:solidFill>
              </a:rPr>
              <a:t>Controlling access to the database.</a:t>
            </a:r>
          </a:p>
          <a:p>
            <a:pPr>
              <a:buFont typeface="Arial" panose="020B0604020202020204" pitchFamily="34" charset="0"/>
              <a:buChar char="•"/>
            </a:pPr>
            <a:r>
              <a:rPr lang="en-US" dirty="0">
                <a:solidFill>
                  <a:schemeClr val="tx1"/>
                </a:solidFill>
              </a:rPr>
              <a:t>Ensuring data integrity and security.</a:t>
            </a:r>
          </a:p>
          <a:p>
            <a:pPr>
              <a:buFont typeface="Arial" panose="020B0604020202020204" pitchFamily="34" charset="0"/>
              <a:buChar char="•"/>
            </a:pPr>
            <a:r>
              <a:rPr lang="en-US" dirty="0">
                <a:solidFill>
                  <a:schemeClr val="tx1"/>
                </a:solidFill>
              </a:rPr>
              <a:t>Managing backups and recovery.</a:t>
            </a:r>
          </a:p>
          <a:p>
            <a:pPr>
              <a:buFont typeface="Arial" panose="020B0604020202020204" pitchFamily="34" charset="0"/>
              <a:buChar char="•"/>
            </a:pPr>
            <a:r>
              <a:rPr lang="en-US" dirty="0">
                <a:solidFill>
                  <a:schemeClr val="tx1"/>
                </a:solidFill>
              </a:rPr>
              <a:t>Optimizing database performance.</a:t>
            </a:r>
          </a:p>
          <a:p>
            <a:pPr marL="0" indent="0">
              <a:buNone/>
            </a:pPr>
            <a:endParaRPr lang="en-US" dirty="0"/>
          </a:p>
        </p:txBody>
      </p:sp>
    </p:spTree>
    <p:extLst>
      <p:ext uri="{BB962C8B-B14F-4D97-AF65-F5344CB8AC3E}">
        <p14:creationId xmlns:p14="http://schemas.microsoft.com/office/powerpoint/2010/main" val="405893702"/>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Number Placeholder 1"/>
          <p:cNvSpPr>
            <a:spLocks noGrp="1"/>
          </p:cNvSpPr>
          <p:nvPr>
            <p:ph type="sldNum" sz="quarter" idx="14"/>
          </p:nvPr>
        </p:nvSpPr>
        <p:spPr/>
        <p:txBody>
          <a:bodyPr/>
          <a:lstStyle/>
          <a:p>
            <a:fld id="{45A3C14A-F937-4231-B6F1-40B429FAFB2F}" type="slidenum">
              <a:rPr lang="en-NZ" smtClean="0"/>
              <a:pPr/>
              <a:t>18</a:t>
            </a:fld>
            <a:endParaRPr lang="en-NZ" dirty="0"/>
          </a:p>
        </p:txBody>
      </p:sp>
      <p:sp>
        <p:nvSpPr>
          <p:cNvPr id="3" name="Title 2"/>
          <p:cNvSpPr>
            <a:spLocks noGrp="1"/>
          </p:cNvSpPr>
          <p:nvPr>
            <p:ph type="title"/>
          </p:nvPr>
        </p:nvSpPr>
        <p:spPr>
          <a:xfrm>
            <a:off x="479376" y="205590"/>
            <a:ext cx="6211927" cy="838202"/>
          </a:xfrm>
        </p:spPr>
        <p:txBody>
          <a:bodyPr/>
          <a:lstStyle/>
          <a:p>
            <a:r>
              <a:rPr lang="en-US" altLang="en-US" b="1" dirty="0">
                <a:solidFill>
                  <a:srgbClr val="FF0000"/>
                </a:solidFill>
              </a:rPr>
              <a:t>Database Users</a:t>
            </a:r>
            <a:endParaRPr lang="en-US" b="1" dirty="0">
              <a:solidFill>
                <a:srgbClr val="FF0000"/>
              </a:solidFill>
            </a:endParaRPr>
          </a:p>
        </p:txBody>
      </p:sp>
      <p:sp>
        <p:nvSpPr>
          <p:cNvPr id="4" name="Text Placeholder 3"/>
          <p:cNvSpPr>
            <a:spLocks noGrp="1"/>
          </p:cNvSpPr>
          <p:nvPr>
            <p:ph type="body" sz="quarter" idx="17"/>
          </p:nvPr>
        </p:nvSpPr>
        <p:spPr>
          <a:xfrm>
            <a:off x="155340" y="882025"/>
            <a:ext cx="11881320" cy="5093950"/>
          </a:xfrm>
        </p:spPr>
        <p:txBody>
          <a:bodyPr/>
          <a:lstStyle/>
          <a:p>
            <a:pPr marL="342900" lvl="0" indent="-342900" fontAlgn="base">
              <a:lnSpc>
                <a:spcPct val="100000"/>
              </a:lnSpc>
              <a:spcBef>
                <a:spcPct val="20000"/>
              </a:spcBef>
              <a:spcAft>
                <a:spcPct val="0"/>
              </a:spcAft>
              <a:buClr>
                <a:srgbClr val="990033"/>
              </a:buClr>
              <a:buSzPct val="60000"/>
              <a:buFont typeface="Wingdings" panose="05000000000000000000" pitchFamily="2" charset="2"/>
              <a:buChar char="n"/>
            </a:pPr>
            <a:r>
              <a:rPr lang="en-US" altLang="en-US" sz="2800" dirty="0">
                <a:solidFill>
                  <a:srgbClr val="333399"/>
                </a:solidFill>
                <a:latin typeface="Arial"/>
                <a:ea typeface="+mn-ea"/>
                <a:cs typeface="+mn-cs"/>
              </a:rPr>
              <a:t>Users may be divided into</a:t>
            </a:r>
          </a:p>
          <a:p>
            <a:pPr marL="742950" lvl="1" indent="-285750" algn="just" fontAlgn="base">
              <a:lnSpc>
                <a:spcPct val="150000"/>
              </a:lnSpc>
              <a:spcBef>
                <a:spcPct val="20000"/>
              </a:spcBef>
              <a:spcAft>
                <a:spcPct val="0"/>
              </a:spcAft>
              <a:buClr>
                <a:srgbClr val="333399"/>
              </a:buClr>
              <a:buSzPct val="55000"/>
              <a:buFont typeface="Wingdings" panose="05000000000000000000" pitchFamily="2" charset="2"/>
              <a:buChar char="n"/>
            </a:pPr>
            <a:r>
              <a:rPr lang="en-US" sz="2000" b="1" dirty="0">
                <a:solidFill>
                  <a:srgbClr val="FF0000"/>
                </a:solidFill>
              </a:rPr>
              <a:t>Workers Behind the Scene</a:t>
            </a:r>
            <a:r>
              <a:rPr lang="en-US" sz="2000" dirty="0">
                <a:solidFill>
                  <a:srgbClr val="FF0000"/>
                </a:solidFill>
              </a:rPr>
              <a:t> </a:t>
            </a:r>
            <a:r>
              <a:rPr lang="en-US" sz="2000" dirty="0">
                <a:solidFill>
                  <a:schemeClr val="tx1"/>
                </a:solidFill>
              </a:rPr>
              <a:t>in a database refer to the technical personnel who design, develop, and maintain the database management system (DBMS) and its supporting infrastructure. These individuals work in the background to ensure the database system operates efficiently, and securely.</a:t>
            </a:r>
          </a:p>
          <a:p>
            <a:pPr marL="742950" lvl="1" indent="-285750" algn="just" fontAlgn="base">
              <a:lnSpc>
                <a:spcPct val="150000"/>
              </a:lnSpc>
              <a:spcBef>
                <a:spcPct val="20000"/>
              </a:spcBef>
              <a:spcAft>
                <a:spcPct val="0"/>
              </a:spcAft>
              <a:buClr>
                <a:srgbClr val="333399"/>
              </a:buClr>
              <a:buSzPct val="55000"/>
              <a:buFont typeface="Wingdings" panose="05000000000000000000" pitchFamily="2" charset="2"/>
              <a:buChar char="n"/>
            </a:pPr>
            <a:endParaRPr lang="en-US" sz="2000" dirty="0">
              <a:solidFill>
                <a:schemeClr val="tx1"/>
              </a:solidFill>
            </a:endParaRPr>
          </a:p>
          <a:p>
            <a:pPr marL="0" indent="0">
              <a:buNone/>
            </a:pPr>
            <a:r>
              <a:rPr lang="en-US" sz="1800" b="1" dirty="0">
                <a:solidFill>
                  <a:schemeClr val="tx1"/>
                </a:solidFill>
              </a:rPr>
              <a:t>1. System Administrators</a:t>
            </a:r>
          </a:p>
          <a:p>
            <a:pPr>
              <a:buFont typeface="Arial" panose="020B0604020202020204" pitchFamily="34" charset="0"/>
              <a:buChar char="•"/>
            </a:pPr>
            <a:r>
              <a:rPr lang="en-US" sz="1800" dirty="0">
                <a:solidFill>
                  <a:schemeClr val="tx1"/>
                </a:solidFill>
              </a:rPr>
              <a:t>They manage the hardware and operating systems that host the database.</a:t>
            </a:r>
          </a:p>
          <a:p>
            <a:pPr>
              <a:buFont typeface="Arial" panose="020B0604020202020204" pitchFamily="34" charset="0"/>
              <a:buChar char="•"/>
            </a:pPr>
            <a:r>
              <a:rPr lang="en-US" sz="1800" dirty="0">
                <a:solidFill>
                  <a:schemeClr val="tx1"/>
                </a:solidFill>
              </a:rPr>
              <a:t>Responsibilities include installing updates, monitoring server performance, and maintaining system uptime.</a:t>
            </a:r>
          </a:p>
          <a:p>
            <a:pPr marL="0" indent="0" algn="just">
              <a:lnSpc>
                <a:spcPct val="150000"/>
              </a:lnSpc>
              <a:buNone/>
            </a:pPr>
            <a:r>
              <a:rPr lang="en-US" sz="1800" b="1" dirty="0">
                <a:solidFill>
                  <a:schemeClr val="tx1"/>
                </a:solidFill>
              </a:rPr>
              <a:t>2.Computer System Operators</a:t>
            </a:r>
            <a:r>
              <a:rPr lang="en-US" sz="1800" dirty="0">
                <a:solidFill>
                  <a:schemeClr val="tx1"/>
                </a:solidFill>
              </a:rPr>
              <a:t>:</a:t>
            </a:r>
          </a:p>
          <a:p>
            <a:pPr marL="285750" indent="-285750" algn="just">
              <a:lnSpc>
                <a:spcPct val="150000"/>
              </a:lnSpc>
              <a:buFont typeface="Arial" panose="020B0604020202020204" pitchFamily="34" charset="0"/>
              <a:buChar char="•"/>
            </a:pPr>
            <a:r>
              <a:rPr lang="en-US" sz="1800" dirty="0">
                <a:solidFill>
                  <a:schemeClr val="tx1"/>
                </a:solidFill>
              </a:rPr>
              <a:t>They manage the day-to-day operations of the systems running the DBMS.</a:t>
            </a:r>
          </a:p>
          <a:p>
            <a:pPr>
              <a:buFont typeface="Arial" panose="020B0604020202020204" pitchFamily="34" charset="0"/>
              <a:buChar char="•"/>
            </a:pPr>
            <a:endParaRPr lang="en-US" sz="1800" dirty="0">
              <a:solidFill>
                <a:schemeClr val="tx1"/>
              </a:solidFill>
            </a:endParaRPr>
          </a:p>
          <a:p>
            <a:pPr marL="0" indent="0" algn="just">
              <a:lnSpc>
                <a:spcPct val="150000"/>
              </a:lnSpc>
              <a:buNone/>
            </a:pPr>
            <a:endParaRPr lang="en-US" sz="1800" dirty="0">
              <a:solidFill>
                <a:schemeClr val="tx1"/>
              </a:solidFill>
            </a:endParaRPr>
          </a:p>
          <a:p>
            <a:pPr marL="742950" lvl="1" indent="-285750" fontAlgn="base">
              <a:lnSpc>
                <a:spcPct val="100000"/>
              </a:lnSpc>
              <a:spcBef>
                <a:spcPct val="20000"/>
              </a:spcBef>
              <a:spcAft>
                <a:spcPct val="0"/>
              </a:spcAft>
              <a:buClr>
                <a:srgbClr val="333399"/>
              </a:buClr>
              <a:buSzPct val="55000"/>
              <a:buFont typeface="Wingdings" panose="05000000000000000000" pitchFamily="2" charset="2"/>
              <a:buChar char="n"/>
            </a:pPr>
            <a:endParaRPr lang="en-US" altLang="en-US" sz="2600" dirty="0">
              <a:solidFill>
                <a:srgbClr val="800000"/>
              </a:solidFill>
              <a:latin typeface="Arial"/>
              <a:ea typeface="+mn-ea"/>
              <a:cs typeface="+mn-cs"/>
            </a:endParaRPr>
          </a:p>
          <a:p>
            <a:pPr marL="0" indent="0">
              <a:buNone/>
            </a:pPr>
            <a:endParaRPr lang="en-US" dirty="0"/>
          </a:p>
        </p:txBody>
      </p:sp>
    </p:spTree>
    <p:extLst>
      <p:ext uri="{BB962C8B-B14F-4D97-AF65-F5344CB8AC3E}">
        <p14:creationId xmlns:p14="http://schemas.microsoft.com/office/powerpoint/2010/main" val="300070723"/>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Number Placeholder 1"/>
          <p:cNvSpPr>
            <a:spLocks noGrp="1"/>
          </p:cNvSpPr>
          <p:nvPr>
            <p:ph type="sldNum" sz="quarter" idx="14"/>
          </p:nvPr>
        </p:nvSpPr>
        <p:spPr/>
        <p:txBody>
          <a:bodyPr/>
          <a:lstStyle/>
          <a:p>
            <a:fld id="{45A3C14A-F937-4231-B6F1-40B429FAFB2F}" type="slidenum">
              <a:rPr lang="en-NZ" smtClean="0"/>
              <a:pPr/>
              <a:t>19</a:t>
            </a:fld>
            <a:endParaRPr lang="en-NZ" dirty="0"/>
          </a:p>
        </p:txBody>
      </p:sp>
      <p:sp>
        <p:nvSpPr>
          <p:cNvPr id="3" name="Title 2"/>
          <p:cNvSpPr>
            <a:spLocks noGrp="1"/>
          </p:cNvSpPr>
          <p:nvPr>
            <p:ph type="title"/>
          </p:nvPr>
        </p:nvSpPr>
        <p:spPr/>
        <p:txBody>
          <a:bodyPr/>
          <a:lstStyle/>
          <a:p>
            <a:r>
              <a:rPr lang="en-US" altLang="en-US" b="1" dirty="0">
                <a:solidFill>
                  <a:srgbClr val="FF0000"/>
                </a:solidFill>
              </a:rPr>
              <a:t>Database Users</a:t>
            </a:r>
            <a:endParaRPr lang="en-US" b="1" dirty="0">
              <a:solidFill>
                <a:srgbClr val="FF0000"/>
              </a:solidFill>
            </a:endParaRPr>
          </a:p>
        </p:txBody>
      </p:sp>
      <p:sp>
        <p:nvSpPr>
          <p:cNvPr id="4" name="Text Placeholder 3"/>
          <p:cNvSpPr>
            <a:spLocks noGrp="1"/>
          </p:cNvSpPr>
          <p:nvPr>
            <p:ph type="body" sz="quarter" idx="17"/>
          </p:nvPr>
        </p:nvSpPr>
        <p:spPr/>
        <p:txBody>
          <a:bodyPr/>
          <a:lstStyle/>
          <a:p>
            <a:pPr marL="342900" lvl="0" indent="-342900" algn="just" fontAlgn="base">
              <a:lnSpc>
                <a:spcPct val="100000"/>
              </a:lnSpc>
              <a:spcBef>
                <a:spcPct val="20000"/>
              </a:spcBef>
              <a:spcAft>
                <a:spcPct val="0"/>
              </a:spcAft>
              <a:buClr>
                <a:srgbClr val="990033"/>
              </a:buClr>
              <a:buSzPct val="60000"/>
              <a:buFont typeface="Wingdings" panose="05000000000000000000" pitchFamily="2" charset="2"/>
              <a:buChar char="n"/>
            </a:pPr>
            <a:r>
              <a:rPr lang="en-US" altLang="en-US" dirty="0">
                <a:solidFill>
                  <a:srgbClr val="333399"/>
                </a:solidFill>
              </a:rPr>
              <a:t>Actors on the scene</a:t>
            </a:r>
          </a:p>
          <a:p>
            <a:pPr marL="742950" lvl="1" indent="-285750" algn="just" fontAlgn="base">
              <a:lnSpc>
                <a:spcPct val="100000"/>
              </a:lnSpc>
              <a:spcBef>
                <a:spcPct val="20000"/>
              </a:spcBef>
              <a:spcAft>
                <a:spcPct val="0"/>
              </a:spcAft>
              <a:buClr>
                <a:srgbClr val="333399"/>
              </a:buClr>
              <a:buSzPct val="55000"/>
              <a:buFont typeface="Wingdings" panose="05000000000000000000" pitchFamily="2" charset="2"/>
              <a:buChar char="n"/>
            </a:pPr>
            <a:r>
              <a:rPr lang="en-US" altLang="en-US" b="1" dirty="0">
                <a:solidFill>
                  <a:srgbClr val="800000"/>
                </a:solidFill>
              </a:rPr>
              <a:t>Database administrators:</a:t>
            </a:r>
          </a:p>
          <a:p>
            <a:pPr marL="1143000" lvl="2" indent="-228600" algn="just" fontAlgn="base">
              <a:lnSpc>
                <a:spcPct val="100000"/>
              </a:lnSpc>
              <a:spcBef>
                <a:spcPct val="20000"/>
              </a:spcBef>
              <a:spcAft>
                <a:spcPct val="0"/>
              </a:spcAft>
              <a:buClr>
                <a:srgbClr val="990033"/>
              </a:buClr>
              <a:buSzPct val="50000"/>
              <a:buFont typeface="Wingdings" panose="05000000000000000000" pitchFamily="2" charset="2"/>
              <a:buChar char="n"/>
            </a:pPr>
            <a:r>
              <a:rPr lang="en-US" altLang="en-US" sz="2400" dirty="0">
                <a:solidFill>
                  <a:srgbClr val="333399"/>
                </a:solidFill>
                <a:latin typeface="Roboto Medium" panose="02000000000000000000" pitchFamily="2" charset="0"/>
                <a:ea typeface="Roboto Medium" panose="02000000000000000000" pitchFamily="2" charset="0"/>
                <a:cs typeface="Roboto Medium" panose="02000000000000000000" pitchFamily="2" charset="0"/>
              </a:rPr>
              <a:t>Responsible for authorizing access to the database, for coordinating and monitoring its use, acquiring software and hardware resources, controlling its use and monitoring efficiency of operations.</a:t>
            </a:r>
          </a:p>
          <a:p>
            <a:pPr marL="742950" lvl="1" indent="-285750" algn="just" fontAlgn="base">
              <a:lnSpc>
                <a:spcPct val="100000"/>
              </a:lnSpc>
              <a:spcBef>
                <a:spcPct val="20000"/>
              </a:spcBef>
              <a:spcAft>
                <a:spcPct val="0"/>
              </a:spcAft>
              <a:buClr>
                <a:srgbClr val="333399"/>
              </a:buClr>
              <a:buSzPct val="55000"/>
              <a:buFont typeface="Wingdings" panose="05000000000000000000" pitchFamily="2" charset="2"/>
              <a:buChar char="n"/>
            </a:pPr>
            <a:r>
              <a:rPr lang="en-US" altLang="en-US" b="1" dirty="0">
                <a:solidFill>
                  <a:srgbClr val="800000"/>
                </a:solidFill>
              </a:rPr>
              <a:t>Database Designers:</a:t>
            </a:r>
          </a:p>
          <a:p>
            <a:pPr marL="1143000" lvl="2" indent="-228600" algn="just" fontAlgn="base">
              <a:lnSpc>
                <a:spcPct val="100000"/>
              </a:lnSpc>
              <a:spcBef>
                <a:spcPct val="20000"/>
              </a:spcBef>
              <a:spcAft>
                <a:spcPct val="0"/>
              </a:spcAft>
              <a:buClr>
                <a:srgbClr val="990033"/>
              </a:buClr>
              <a:buSzPct val="50000"/>
              <a:buFont typeface="Wingdings" panose="05000000000000000000" pitchFamily="2" charset="2"/>
              <a:buChar char="n"/>
            </a:pPr>
            <a:r>
              <a:rPr lang="en-US" altLang="en-US" sz="2400" dirty="0">
                <a:solidFill>
                  <a:srgbClr val="333399"/>
                </a:solidFill>
                <a:latin typeface="Roboto Medium" panose="02000000000000000000" pitchFamily="2" charset="0"/>
                <a:ea typeface="Roboto Medium" panose="02000000000000000000" pitchFamily="2" charset="0"/>
                <a:cs typeface="Roboto Medium" panose="02000000000000000000" pitchFamily="2" charset="0"/>
              </a:rPr>
              <a:t>Responsible to define the content, the structure, the constraints, and functions or transactions against the database. They must communicate with the </a:t>
            </a:r>
            <a:r>
              <a:rPr lang="en-US" altLang="en-US" sz="2400" dirty="0">
                <a:solidFill>
                  <a:srgbClr val="FF0000"/>
                </a:solidFill>
                <a:latin typeface="Roboto Medium" panose="02000000000000000000" pitchFamily="2" charset="0"/>
                <a:ea typeface="Roboto Medium" panose="02000000000000000000" pitchFamily="2" charset="0"/>
                <a:cs typeface="Roboto Medium" panose="02000000000000000000" pitchFamily="2" charset="0"/>
              </a:rPr>
              <a:t>end-users </a:t>
            </a:r>
            <a:r>
              <a:rPr lang="en-US" altLang="en-US" sz="2400" dirty="0">
                <a:solidFill>
                  <a:srgbClr val="333399"/>
                </a:solidFill>
                <a:latin typeface="Roboto Medium" panose="02000000000000000000" pitchFamily="2" charset="0"/>
                <a:ea typeface="Roboto Medium" panose="02000000000000000000" pitchFamily="2" charset="0"/>
                <a:cs typeface="Roboto Medium" panose="02000000000000000000" pitchFamily="2" charset="0"/>
              </a:rPr>
              <a:t>and understand their needs.</a:t>
            </a:r>
          </a:p>
          <a:p>
            <a:endParaRPr lang="en-US" dirty="0"/>
          </a:p>
        </p:txBody>
      </p:sp>
    </p:spTree>
    <p:extLst>
      <p:ext uri="{BB962C8B-B14F-4D97-AF65-F5344CB8AC3E}">
        <p14:creationId xmlns:p14="http://schemas.microsoft.com/office/powerpoint/2010/main" val="3284296269"/>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Number Placeholder 1"/>
          <p:cNvSpPr>
            <a:spLocks noGrp="1"/>
          </p:cNvSpPr>
          <p:nvPr>
            <p:ph type="sldNum" sz="quarter" idx="14"/>
          </p:nvPr>
        </p:nvSpPr>
        <p:spPr/>
        <p:txBody>
          <a:bodyPr/>
          <a:lstStyle/>
          <a:p>
            <a:fld id="{45A3C14A-F937-4231-B6F1-40B429FAFB2F}" type="slidenum">
              <a:rPr lang="en-NZ" smtClean="0"/>
              <a:pPr/>
              <a:t>20</a:t>
            </a:fld>
            <a:endParaRPr lang="en-NZ" dirty="0"/>
          </a:p>
        </p:txBody>
      </p:sp>
      <p:sp>
        <p:nvSpPr>
          <p:cNvPr id="3" name="Title 2"/>
          <p:cNvSpPr>
            <a:spLocks noGrp="1"/>
          </p:cNvSpPr>
          <p:nvPr>
            <p:ph type="title"/>
          </p:nvPr>
        </p:nvSpPr>
        <p:spPr/>
        <p:txBody>
          <a:bodyPr/>
          <a:lstStyle/>
          <a:p>
            <a:r>
              <a:rPr lang="en-US" altLang="en-US" b="1" dirty="0">
                <a:solidFill>
                  <a:srgbClr val="FF0000"/>
                </a:solidFill>
              </a:rPr>
              <a:t>Database Users</a:t>
            </a:r>
            <a:endParaRPr lang="en-US" dirty="0"/>
          </a:p>
        </p:txBody>
      </p:sp>
      <p:sp>
        <p:nvSpPr>
          <p:cNvPr id="4" name="Text Placeholder 3"/>
          <p:cNvSpPr>
            <a:spLocks noGrp="1"/>
          </p:cNvSpPr>
          <p:nvPr>
            <p:ph type="body" sz="quarter" idx="17"/>
          </p:nvPr>
        </p:nvSpPr>
        <p:spPr/>
        <p:txBody>
          <a:bodyPr/>
          <a:lstStyle/>
          <a:p>
            <a:pPr marL="342900" lvl="0" indent="-342900" fontAlgn="base">
              <a:spcBef>
                <a:spcPct val="20000"/>
              </a:spcBef>
              <a:spcAft>
                <a:spcPct val="0"/>
              </a:spcAft>
              <a:buClr>
                <a:srgbClr val="990033"/>
              </a:buClr>
              <a:buSzPct val="60000"/>
              <a:buFont typeface="Wingdings" panose="05000000000000000000" pitchFamily="2" charset="2"/>
              <a:buChar char="n"/>
            </a:pPr>
            <a:r>
              <a:rPr lang="en-US" altLang="en-US" b="1" dirty="0">
                <a:solidFill>
                  <a:srgbClr val="800000"/>
                </a:solidFill>
              </a:rPr>
              <a:t>End-users: </a:t>
            </a:r>
            <a:r>
              <a:rPr lang="en-US" altLang="en-US" dirty="0">
                <a:solidFill>
                  <a:srgbClr val="800000"/>
                </a:solidFill>
              </a:rPr>
              <a:t>They use the data for queries, reports and some of them update the database content. End-users can be categorized into:</a:t>
            </a:r>
          </a:p>
          <a:p>
            <a:pPr marL="1143000" lvl="2" indent="-228600" fontAlgn="base">
              <a:lnSpc>
                <a:spcPct val="200000"/>
              </a:lnSpc>
              <a:spcBef>
                <a:spcPct val="20000"/>
              </a:spcBef>
              <a:spcAft>
                <a:spcPct val="0"/>
              </a:spcAft>
              <a:buClr>
                <a:srgbClr val="990033"/>
              </a:buClr>
              <a:buSzPct val="50000"/>
              <a:buFont typeface="Wingdings" panose="05000000000000000000" pitchFamily="2" charset="2"/>
              <a:buChar char="n"/>
            </a:pPr>
            <a:r>
              <a:rPr lang="en-US" altLang="en-US" sz="2400" b="1" dirty="0">
                <a:solidFill>
                  <a:schemeClr val="accent1">
                    <a:lumMod val="75000"/>
                  </a:schemeClr>
                </a:solidFill>
                <a:latin typeface="Roboto Medium" panose="02000000000000000000" pitchFamily="2" charset="0"/>
                <a:ea typeface="Roboto Medium" panose="02000000000000000000" pitchFamily="2" charset="0"/>
                <a:cs typeface="Roboto Medium" panose="02000000000000000000" pitchFamily="2" charset="0"/>
              </a:rPr>
              <a:t>Casual</a:t>
            </a:r>
            <a:r>
              <a:rPr lang="en-US" altLang="en-US" sz="2400" dirty="0">
                <a:solidFill>
                  <a:schemeClr val="accent1">
                    <a:lumMod val="75000"/>
                  </a:schemeClr>
                </a:solidFill>
                <a:latin typeface="Roboto Medium" panose="02000000000000000000" pitchFamily="2" charset="0"/>
                <a:ea typeface="Roboto Medium" panose="02000000000000000000" pitchFamily="2" charset="0"/>
                <a:cs typeface="Roboto Medium" panose="02000000000000000000" pitchFamily="2" charset="0"/>
              </a:rPr>
              <a:t>: access database occasionally when needed</a:t>
            </a:r>
          </a:p>
          <a:p>
            <a:pPr marL="1143000" lvl="2" indent="-228600" fontAlgn="base">
              <a:lnSpc>
                <a:spcPct val="200000"/>
              </a:lnSpc>
              <a:spcBef>
                <a:spcPct val="20000"/>
              </a:spcBef>
              <a:spcAft>
                <a:spcPct val="0"/>
              </a:spcAft>
              <a:buClr>
                <a:srgbClr val="990033"/>
              </a:buClr>
              <a:buSzPct val="50000"/>
              <a:buFont typeface="Wingdings" panose="05000000000000000000" pitchFamily="2" charset="2"/>
              <a:buChar char="n"/>
            </a:pPr>
            <a:r>
              <a:rPr lang="en-US" altLang="en-US" sz="2400" b="1" dirty="0">
                <a:solidFill>
                  <a:schemeClr val="accent1">
                    <a:lumMod val="75000"/>
                  </a:schemeClr>
                </a:solidFill>
                <a:latin typeface="Roboto Medium" panose="02000000000000000000" pitchFamily="2" charset="0"/>
                <a:ea typeface="Roboto Medium" panose="02000000000000000000" pitchFamily="2" charset="0"/>
                <a:cs typeface="Roboto Medium" panose="02000000000000000000" pitchFamily="2" charset="0"/>
              </a:rPr>
              <a:t>Naïve Users</a:t>
            </a:r>
          </a:p>
          <a:p>
            <a:pPr marL="1143000" lvl="2" indent="-228600" fontAlgn="base">
              <a:lnSpc>
                <a:spcPct val="200000"/>
              </a:lnSpc>
              <a:spcBef>
                <a:spcPct val="20000"/>
              </a:spcBef>
              <a:spcAft>
                <a:spcPct val="0"/>
              </a:spcAft>
              <a:buClr>
                <a:srgbClr val="990033"/>
              </a:buClr>
              <a:buSzPct val="50000"/>
              <a:buFont typeface="Wingdings" panose="05000000000000000000" pitchFamily="2" charset="2"/>
              <a:buChar char="n"/>
            </a:pPr>
            <a:r>
              <a:rPr lang="en-US" sz="2400" b="1" dirty="0">
                <a:solidFill>
                  <a:schemeClr val="accent1">
                    <a:lumMod val="75000"/>
                  </a:schemeClr>
                </a:solidFill>
                <a:latin typeface="Roboto Medium" panose="02000000000000000000" pitchFamily="2" charset="0"/>
                <a:ea typeface="Roboto Medium" panose="02000000000000000000" pitchFamily="2" charset="0"/>
                <a:cs typeface="Roboto Medium" panose="02000000000000000000" pitchFamily="2" charset="0"/>
              </a:rPr>
              <a:t>Sophisticated Users</a:t>
            </a:r>
          </a:p>
          <a:p>
            <a:pPr marL="1143000" lvl="2" indent="-228600" fontAlgn="base">
              <a:lnSpc>
                <a:spcPct val="200000"/>
              </a:lnSpc>
              <a:spcBef>
                <a:spcPct val="20000"/>
              </a:spcBef>
              <a:spcAft>
                <a:spcPct val="0"/>
              </a:spcAft>
              <a:buClr>
                <a:srgbClr val="990033"/>
              </a:buClr>
              <a:buSzPct val="50000"/>
              <a:buFont typeface="Wingdings" panose="05000000000000000000" pitchFamily="2" charset="2"/>
              <a:buChar char="n"/>
            </a:pPr>
            <a:r>
              <a:rPr lang="en-US" sz="2400" b="1" dirty="0">
                <a:solidFill>
                  <a:schemeClr val="accent1">
                    <a:lumMod val="75000"/>
                  </a:schemeClr>
                </a:solidFill>
                <a:latin typeface="Roboto Medium" panose="02000000000000000000" pitchFamily="2" charset="0"/>
                <a:ea typeface="Roboto Medium" panose="02000000000000000000" pitchFamily="2" charset="0"/>
                <a:cs typeface="Roboto Medium" panose="02000000000000000000" pitchFamily="2" charset="0"/>
              </a:rPr>
              <a:t>Stand-Alone Users</a:t>
            </a:r>
            <a:endParaRPr lang="en-US" sz="2400" dirty="0">
              <a:solidFill>
                <a:schemeClr val="accent1">
                  <a:lumMod val="75000"/>
                </a:schemeClr>
              </a:solidFill>
              <a:latin typeface="Roboto Medium" panose="02000000000000000000" pitchFamily="2" charset="0"/>
              <a:ea typeface="Roboto Medium" panose="02000000000000000000" pitchFamily="2" charset="0"/>
              <a:cs typeface="Roboto Medium" panose="02000000000000000000" pitchFamily="2" charset="0"/>
            </a:endParaRPr>
          </a:p>
          <a:p>
            <a:pPr marL="1143000" lvl="2" indent="-228600" fontAlgn="base">
              <a:spcBef>
                <a:spcPct val="20000"/>
              </a:spcBef>
              <a:spcAft>
                <a:spcPct val="0"/>
              </a:spcAft>
              <a:buClr>
                <a:srgbClr val="990033"/>
              </a:buClr>
              <a:buSzPct val="50000"/>
              <a:buFont typeface="Wingdings" panose="05000000000000000000" pitchFamily="2" charset="2"/>
              <a:buChar char="n"/>
            </a:pPr>
            <a:endParaRPr lang="en-US" altLang="en-US" sz="2400" b="1" dirty="0">
              <a:solidFill>
                <a:srgbClr val="333399"/>
              </a:solidFill>
              <a:latin typeface="Arial"/>
            </a:endParaRPr>
          </a:p>
          <a:p>
            <a:pPr marL="1143000" lvl="2" indent="-228600" fontAlgn="base">
              <a:spcBef>
                <a:spcPct val="20000"/>
              </a:spcBef>
              <a:spcAft>
                <a:spcPct val="0"/>
              </a:spcAft>
              <a:buClr>
                <a:srgbClr val="990033"/>
              </a:buClr>
              <a:buSzPct val="50000"/>
              <a:buFont typeface="Wingdings" panose="05000000000000000000" pitchFamily="2" charset="2"/>
              <a:buChar char="n"/>
            </a:pPr>
            <a:endParaRPr lang="en-US" dirty="0"/>
          </a:p>
        </p:txBody>
      </p:sp>
    </p:spTree>
    <p:extLst>
      <p:ext uri="{BB962C8B-B14F-4D97-AF65-F5344CB8AC3E}">
        <p14:creationId xmlns:p14="http://schemas.microsoft.com/office/powerpoint/2010/main" val="3374809543"/>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4FC1855-A29D-34F9-AC95-CCAC382A2BED}"/>
            </a:ext>
          </a:extLst>
        </p:cNvPr>
        <p:cNvGrpSpPr/>
        <p:nvPr/>
      </p:nvGrpSpPr>
      <p:grpSpPr>
        <a:xfrm>
          <a:off x="0" y="0"/>
          <a:ext cx="0" cy="0"/>
          <a:chOff x="0" y="0"/>
          <a:chExt cx="0" cy="0"/>
        </a:xfrm>
      </p:grpSpPr>
      <p:sp>
        <p:nvSpPr>
          <p:cNvPr id="2" name="Slide Number Placeholder 1">
            <a:extLst>
              <a:ext uri="{FF2B5EF4-FFF2-40B4-BE49-F238E27FC236}">
                <a16:creationId xmlns:a16="http://schemas.microsoft.com/office/drawing/2014/main" id="{085363FF-3590-D998-1BB6-E01C52F05DC4}"/>
              </a:ext>
            </a:extLst>
          </p:cNvPr>
          <p:cNvSpPr>
            <a:spLocks noGrp="1"/>
          </p:cNvSpPr>
          <p:nvPr>
            <p:ph type="sldNum" sz="quarter" idx="14"/>
          </p:nvPr>
        </p:nvSpPr>
        <p:spPr/>
        <p:txBody>
          <a:bodyPr/>
          <a:lstStyle/>
          <a:p>
            <a:fld id="{45A3C14A-F937-4231-B6F1-40B429FAFB2F}" type="slidenum">
              <a:rPr lang="en-NZ" smtClean="0"/>
              <a:pPr/>
              <a:t>21</a:t>
            </a:fld>
            <a:endParaRPr lang="en-NZ" dirty="0"/>
          </a:p>
        </p:txBody>
      </p:sp>
      <p:sp>
        <p:nvSpPr>
          <p:cNvPr id="3" name="Title 2">
            <a:extLst>
              <a:ext uri="{FF2B5EF4-FFF2-40B4-BE49-F238E27FC236}">
                <a16:creationId xmlns:a16="http://schemas.microsoft.com/office/drawing/2014/main" id="{8AB282D8-DA21-C034-70F5-AE0B952EB064}"/>
              </a:ext>
            </a:extLst>
          </p:cNvPr>
          <p:cNvSpPr>
            <a:spLocks noGrp="1"/>
          </p:cNvSpPr>
          <p:nvPr>
            <p:ph type="title"/>
          </p:nvPr>
        </p:nvSpPr>
        <p:spPr/>
        <p:txBody>
          <a:bodyPr/>
          <a:lstStyle/>
          <a:p>
            <a:r>
              <a:rPr lang="en-US" altLang="en-US" b="1" dirty="0">
                <a:solidFill>
                  <a:srgbClr val="FF0000"/>
                </a:solidFill>
              </a:rPr>
              <a:t>Database Users</a:t>
            </a:r>
            <a:endParaRPr lang="en-US" dirty="0"/>
          </a:p>
        </p:txBody>
      </p:sp>
      <p:sp>
        <p:nvSpPr>
          <p:cNvPr id="4" name="Text Placeholder 3">
            <a:extLst>
              <a:ext uri="{FF2B5EF4-FFF2-40B4-BE49-F238E27FC236}">
                <a16:creationId xmlns:a16="http://schemas.microsoft.com/office/drawing/2014/main" id="{D04A011C-C5C2-1A4F-AF17-DFB4D2D378A8}"/>
              </a:ext>
            </a:extLst>
          </p:cNvPr>
          <p:cNvSpPr>
            <a:spLocks noGrp="1"/>
          </p:cNvSpPr>
          <p:nvPr>
            <p:ph type="body" sz="quarter" idx="17"/>
          </p:nvPr>
        </p:nvSpPr>
        <p:spPr/>
        <p:txBody>
          <a:bodyPr/>
          <a:lstStyle/>
          <a:p>
            <a:pPr marL="0" indent="0">
              <a:buNone/>
            </a:pPr>
            <a:r>
              <a:rPr lang="en-US" dirty="0">
                <a:solidFill>
                  <a:schemeClr val="tx1"/>
                </a:solidFill>
              </a:rPr>
              <a:t>Different types of </a:t>
            </a:r>
            <a:r>
              <a:rPr lang="en-US" b="1" dirty="0">
                <a:solidFill>
                  <a:srgbClr val="FF0000"/>
                </a:solidFill>
              </a:rPr>
              <a:t>Actors on the Scene</a:t>
            </a:r>
            <a:r>
              <a:rPr lang="en-US" dirty="0">
                <a:solidFill>
                  <a:schemeClr val="tx1"/>
                </a:solidFill>
              </a:rPr>
              <a:t> who interact with the database in unique ways:</a:t>
            </a:r>
          </a:p>
          <a:p>
            <a:pPr>
              <a:buFont typeface="+mj-lt"/>
              <a:buAutoNum type="arabicPeriod"/>
            </a:pPr>
            <a:r>
              <a:rPr lang="en-US" b="1" dirty="0">
                <a:solidFill>
                  <a:srgbClr val="FF0000"/>
                </a:solidFill>
              </a:rPr>
              <a:t>Casual Users</a:t>
            </a:r>
            <a:r>
              <a:rPr lang="en-US" dirty="0">
                <a:solidFill>
                  <a:srgbClr val="FF0000"/>
                </a:solidFill>
              </a:rPr>
              <a:t>:</a:t>
            </a:r>
          </a:p>
          <a:p>
            <a:pPr marL="742950" lvl="1" indent="-285750">
              <a:buFont typeface="+mj-lt"/>
              <a:buAutoNum type="arabicPeriod"/>
            </a:pPr>
            <a:r>
              <a:rPr lang="en-US" dirty="0">
                <a:solidFill>
                  <a:schemeClr val="tx1"/>
                </a:solidFill>
              </a:rPr>
              <a:t>These users </a:t>
            </a:r>
            <a:r>
              <a:rPr lang="en-US" dirty="0">
                <a:solidFill>
                  <a:srgbClr val="FF0000"/>
                </a:solidFill>
              </a:rPr>
              <a:t>access the database occasionally </a:t>
            </a:r>
            <a:r>
              <a:rPr lang="en-US" dirty="0">
                <a:solidFill>
                  <a:schemeClr val="tx1"/>
                </a:solidFill>
              </a:rPr>
              <a:t>and might use query languages (like SQL) to retrieve information.</a:t>
            </a:r>
          </a:p>
          <a:p>
            <a:pPr marL="742950" lvl="1" indent="-285750">
              <a:buFont typeface="+mj-lt"/>
              <a:buAutoNum type="arabicPeriod"/>
            </a:pPr>
            <a:r>
              <a:rPr lang="en-US" dirty="0">
                <a:solidFill>
                  <a:schemeClr val="tx1"/>
                </a:solidFill>
              </a:rPr>
              <a:t>They do not interact with the database regularly or in a highly technical way.</a:t>
            </a:r>
          </a:p>
          <a:p>
            <a:pPr marL="742950" lvl="1" indent="-285750">
              <a:buFont typeface="+mj-lt"/>
              <a:buAutoNum type="arabicPeriod"/>
            </a:pPr>
            <a:r>
              <a:rPr lang="en-US" dirty="0">
                <a:solidFill>
                  <a:schemeClr val="tx1"/>
                </a:solidFill>
              </a:rPr>
              <a:t>Example: A manager generating a report using predefined queries.</a:t>
            </a:r>
          </a:p>
        </p:txBody>
      </p:sp>
    </p:spTree>
    <p:extLst>
      <p:ext uri="{BB962C8B-B14F-4D97-AF65-F5344CB8AC3E}">
        <p14:creationId xmlns:p14="http://schemas.microsoft.com/office/powerpoint/2010/main" val="2650358680"/>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D40207E-C002-D8AE-1DF7-7C1862FFE354}"/>
            </a:ext>
          </a:extLst>
        </p:cNvPr>
        <p:cNvGrpSpPr/>
        <p:nvPr/>
      </p:nvGrpSpPr>
      <p:grpSpPr>
        <a:xfrm>
          <a:off x="0" y="0"/>
          <a:ext cx="0" cy="0"/>
          <a:chOff x="0" y="0"/>
          <a:chExt cx="0" cy="0"/>
        </a:xfrm>
      </p:grpSpPr>
      <p:sp>
        <p:nvSpPr>
          <p:cNvPr id="2" name="Slide Number Placeholder 1">
            <a:extLst>
              <a:ext uri="{FF2B5EF4-FFF2-40B4-BE49-F238E27FC236}">
                <a16:creationId xmlns:a16="http://schemas.microsoft.com/office/drawing/2014/main" id="{9783EF96-0518-3790-3AA3-C15DAF18D7F7}"/>
              </a:ext>
            </a:extLst>
          </p:cNvPr>
          <p:cNvSpPr>
            <a:spLocks noGrp="1"/>
          </p:cNvSpPr>
          <p:nvPr>
            <p:ph type="sldNum" sz="quarter" idx="14"/>
          </p:nvPr>
        </p:nvSpPr>
        <p:spPr/>
        <p:txBody>
          <a:bodyPr/>
          <a:lstStyle/>
          <a:p>
            <a:fld id="{45A3C14A-F937-4231-B6F1-40B429FAFB2F}" type="slidenum">
              <a:rPr lang="en-NZ" smtClean="0"/>
              <a:pPr/>
              <a:t>22</a:t>
            </a:fld>
            <a:endParaRPr lang="en-NZ" dirty="0"/>
          </a:p>
        </p:txBody>
      </p:sp>
      <p:sp>
        <p:nvSpPr>
          <p:cNvPr id="3" name="Title 2">
            <a:extLst>
              <a:ext uri="{FF2B5EF4-FFF2-40B4-BE49-F238E27FC236}">
                <a16:creationId xmlns:a16="http://schemas.microsoft.com/office/drawing/2014/main" id="{CD7943C9-BBAE-BB79-B348-90183EC33A42}"/>
              </a:ext>
            </a:extLst>
          </p:cNvPr>
          <p:cNvSpPr>
            <a:spLocks noGrp="1"/>
          </p:cNvSpPr>
          <p:nvPr>
            <p:ph type="title"/>
          </p:nvPr>
        </p:nvSpPr>
        <p:spPr/>
        <p:txBody>
          <a:bodyPr/>
          <a:lstStyle/>
          <a:p>
            <a:r>
              <a:rPr lang="en-US" altLang="en-US" b="1" dirty="0">
                <a:solidFill>
                  <a:srgbClr val="FF0000"/>
                </a:solidFill>
              </a:rPr>
              <a:t>Database Users</a:t>
            </a:r>
            <a:endParaRPr lang="en-US" dirty="0"/>
          </a:p>
        </p:txBody>
      </p:sp>
      <p:sp>
        <p:nvSpPr>
          <p:cNvPr id="4" name="Text Placeholder 3">
            <a:extLst>
              <a:ext uri="{FF2B5EF4-FFF2-40B4-BE49-F238E27FC236}">
                <a16:creationId xmlns:a16="http://schemas.microsoft.com/office/drawing/2014/main" id="{1D543F81-ADEB-EA26-74EB-332CB9727E23}"/>
              </a:ext>
            </a:extLst>
          </p:cNvPr>
          <p:cNvSpPr>
            <a:spLocks noGrp="1"/>
          </p:cNvSpPr>
          <p:nvPr>
            <p:ph type="body" sz="quarter" idx="17"/>
          </p:nvPr>
        </p:nvSpPr>
        <p:spPr>
          <a:xfrm>
            <a:off x="695400" y="1268760"/>
            <a:ext cx="10801201" cy="4320480"/>
          </a:xfrm>
        </p:spPr>
        <p:txBody>
          <a:bodyPr/>
          <a:lstStyle/>
          <a:p>
            <a:pPr marL="0" indent="0" algn="just">
              <a:buNone/>
            </a:pPr>
            <a:r>
              <a:rPr lang="en-US" sz="2000" b="1" dirty="0">
                <a:solidFill>
                  <a:srgbClr val="FF0000"/>
                </a:solidFill>
              </a:rPr>
              <a:t>2. Naive Users</a:t>
            </a:r>
            <a:r>
              <a:rPr lang="en-US" sz="2000" dirty="0">
                <a:solidFill>
                  <a:srgbClr val="FF0000"/>
                </a:solidFill>
              </a:rPr>
              <a:t>:</a:t>
            </a:r>
          </a:p>
          <a:p>
            <a:pPr algn="just">
              <a:buFont typeface="Arial" panose="020B0604020202020204" pitchFamily="34" charset="0"/>
              <a:buChar char="•"/>
            </a:pPr>
            <a:r>
              <a:rPr lang="en-US" sz="2000" dirty="0">
                <a:solidFill>
                  <a:schemeClr val="tx1"/>
                </a:solidFill>
              </a:rPr>
              <a:t>These users interact with the database through application interfaces, </a:t>
            </a:r>
            <a:r>
              <a:rPr lang="en-US" sz="2000" dirty="0">
                <a:solidFill>
                  <a:srgbClr val="FF0000"/>
                </a:solidFill>
              </a:rPr>
              <a:t>without understanding the underlying database structure </a:t>
            </a:r>
            <a:r>
              <a:rPr lang="en-US" sz="2000" dirty="0">
                <a:solidFill>
                  <a:schemeClr val="tx1"/>
                </a:solidFill>
              </a:rPr>
              <a:t>or query languages.</a:t>
            </a:r>
          </a:p>
          <a:p>
            <a:pPr algn="just">
              <a:buFont typeface="Arial" panose="020B0604020202020204" pitchFamily="34" charset="0"/>
              <a:buChar char="•"/>
            </a:pPr>
            <a:r>
              <a:rPr lang="en-US" sz="2000" dirty="0">
                <a:solidFill>
                  <a:schemeClr val="tx1"/>
                </a:solidFill>
              </a:rPr>
              <a:t>They rely on simple forms or GUIs for tasks like data entry or information retrieval.</a:t>
            </a:r>
          </a:p>
          <a:p>
            <a:pPr algn="just">
              <a:buFont typeface="Arial" panose="020B0604020202020204" pitchFamily="34" charset="0"/>
              <a:buChar char="•"/>
            </a:pPr>
            <a:r>
              <a:rPr lang="en-US" sz="2000" dirty="0">
                <a:solidFill>
                  <a:schemeClr val="tx1"/>
                </a:solidFill>
              </a:rPr>
              <a:t>Example: A clerk entering customer information into a web-based form.</a:t>
            </a:r>
          </a:p>
          <a:p>
            <a:pPr marL="0" indent="0" algn="just">
              <a:buNone/>
            </a:pPr>
            <a:r>
              <a:rPr lang="en-US" sz="2000" b="1" dirty="0">
                <a:solidFill>
                  <a:srgbClr val="FF0000"/>
                </a:solidFill>
              </a:rPr>
              <a:t>3.Sophisticated Users</a:t>
            </a:r>
            <a:r>
              <a:rPr lang="en-US" sz="2000" dirty="0">
                <a:solidFill>
                  <a:srgbClr val="FF0000"/>
                </a:solidFill>
              </a:rPr>
              <a:t>:</a:t>
            </a:r>
          </a:p>
          <a:p>
            <a:pPr algn="just">
              <a:buFont typeface="Arial" panose="020B0604020202020204" pitchFamily="34" charset="0"/>
              <a:buChar char="•"/>
            </a:pPr>
            <a:r>
              <a:rPr lang="en-US" sz="2000" dirty="0">
                <a:solidFill>
                  <a:schemeClr val="tx1"/>
                </a:solidFill>
              </a:rPr>
              <a:t>These are advanced users </a:t>
            </a:r>
            <a:r>
              <a:rPr lang="en-US" sz="2000" dirty="0">
                <a:solidFill>
                  <a:srgbClr val="FF0000"/>
                </a:solidFill>
              </a:rPr>
              <a:t>who write their own queries </a:t>
            </a:r>
            <a:r>
              <a:rPr lang="en-US" sz="2000" dirty="0">
                <a:solidFill>
                  <a:schemeClr val="tx1"/>
                </a:solidFill>
              </a:rPr>
              <a:t>or scripts to interact with the database.</a:t>
            </a:r>
          </a:p>
          <a:p>
            <a:pPr algn="just">
              <a:buFont typeface="Arial" panose="020B0604020202020204" pitchFamily="34" charset="0"/>
              <a:buChar char="•"/>
            </a:pPr>
            <a:r>
              <a:rPr lang="en-US" sz="2000" dirty="0">
                <a:solidFill>
                  <a:schemeClr val="tx1"/>
                </a:solidFill>
              </a:rPr>
              <a:t>They have a good understanding of the database's structure and capabilities.</a:t>
            </a:r>
          </a:p>
          <a:p>
            <a:pPr algn="just">
              <a:buFont typeface="Arial" panose="020B0604020202020204" pitchFamily="34" charset="0"/>
              <a:buChar char="•"/>
            </a:pPr>
            <a:r>
              <a:rPr lang="en-US" sz="2000" dirty="0">
                <a:solidFill>
                  <a:schemeClr val="tx1"/>
                </a:solidFill>
              </a:rPr>
              <a:t>Example: Data analysts or scientists performing complex data queries and analysis.</a:t>
            </a:r>
          </a:p>
          <a:p>
            <a:pPr algn="just">
              <a:buFont typeface="Arial" panose="020B0604020202020204" pitchFamily="34" charset="0"/>
              <a:buChar char="•"/>
            </a:pPr>
            <a:endParaRPr lang="en-US" sz="2000" dirty="0">
              <a:solidFill>
                <a:schemeClr val="tx1"/>
              </a:solidFill>
            </a:endParaRPr>
          </a:p>
        </p:txBody>
      </p:sp>
    </p:spTree>
    <p:extLst>
      <p:ext uri="{BB962C8B-B14F-4D97-AF65-F5344CB8AC3E}">
        <p14:creationId xmlns:p14="http://schemas.microsoft.com/office/powerpoint/2010/main" val="1531331791"/>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F1626B6-801A-C631-04B1-3BEB61CFA40D}"/>
            </a:ext>
          </a:extLst>
        </p:cNvPr>
        <p:cNvGrpSpPr/>
        <p:nvPr/>
      </p:nvGrpSpPr>
      <p:grpSpPr>
        <a:xfrm>
          <a:off x="0" y="0"/>
          <a:ext cx="0" cy="0"/>
          <a:chOff x="0" y="0"/>
          <a:chExt cx="0" cy="0"/>
        </a:xfrm>
      </p:grpSpPr>
      <p:sp>
        <p:nvSpPr>
          <p:cNvPr id="2" name="Slide Number Placeholder 1">
            <a:extLst>
              <a:ext uri="{FF2B5EF4-FFF2-40B4-BE49-F238E27FC236}">
                <a16:creationId xmlns:a16="http://schemas.microsoft.com/office/drawing/2014/main" id="{9DF39FBC-30BF-E8D2-8D5F-A39377A1B702}"/>
              </a:ext>
            </a:extLst>
          </p:cNvPr>
          <p:cNvSpPr>
            <a:spLocks noGrp="1"/>
          </p:cNvSpPr>
          <p:nvPr>
            <p:ph type="sldNum" sz="quarter" idx="14"/>
          </p:nvPr>
        </p:nvSpPr>
        <p:spPr/>
        <p:txBody>
          <a:bodyPr/>
          <a:lstStyle/>
          <a:p>
            <a:fld id="{45A3C14A-F937-4231-B6F1-40B429FAFB2F}" type="slidenum">
              <a:rPr lang="en-NZ" smtClean="0"/>
              <a:pPr/>
              <a:t>23</a:t>
            </a:fld>
            <a:endParaRPr lang="en-NZ" dirty="0"/>
          </a:p>
        </p:txBody>
      </p:sp>
      <p:sp>
        <p:nvSpPr>
          <p:cNvPr id="3" name="Title 2">
            <a:extLst>
              <a:ext uri="{FF2B5EF4-FFF2-40B4-BE49-F238E27FC236}">
                <a16:creationId xmlns:a16="http://schemas.microsoft.com/office/drawing/2014/main" id="{97B22495-84FF-5A0E-A7C8-2410A6B9BB46}"/>
              </a:ext>
            </a:extLst>
          </p:cNvPr>
          <p:cNvSpPr>
            <a:spLocks noGrp="1"/>
          </p:cNvSpPr>
          <p:nvPr>
            <p:ph type="title"/>
          </p:nvPr>
        </p:nvSpPr>
        <p:spPr/>
        <p:txBody>
          <a:bodyPr/>
          <a:lstStyle/>
          <a:p>
            <a:r>
              <a:rPr lang="en-US" altLang="en-US" b="1" dirty="0">
                <a:solidFill>
                  <a:srgbClr val="FF0000"/>
                </a:solidFill>
              </a:rPr>
              <a:t>Database Users</a:t>
            </a:r>
            <a:endParaRPr lang="en-US" dirty="0"/>
          </a:p>
        </p:txBody>
      </p:sp>
      <p:sp>
        <p:nvSpPr>
          <p:cNvPr id="4" name="Text Placeholder 3">
            <a:extLst>
              <a:ext uri="{FF2B5EF4-FFF2-40B4-BE49-F238E27FC236}">
                <a16:creationId xmlns:a16="http://schemas.microsoft.com/office/drawing/2014/main" id="{EBDE5C83-4AC4-F1B4-109D-C513BD0672B5}"/>
              </a:ext>
            </a:extLst>
          </p:cNvPr>
          <p:cNvSpPr>
            <a:spLocks noGrp="1"/>
          </p:cNvSpPr>
          <p:nvPr>
            <p:ph type="body" sz="quarter" idx="17"/>
          </p:nvPr>
        </p:nvSpPr>
        <p:spPr/>
        <p:txBody>
          <a:bodyPr/>
          <a:lstStyle/>
          <a:p>
            <a:pPr marL="0" indent="0">
              <a:buNone/>
            </a:pPr>
            <a:r>
              <a:rPr lang="en-US" sz="2000" b="1" dirty="0">
                <a:solidFill>
                  <a:srgbClr val="FF0000"/>
                </a:solidFill>
              </a:rPr>
              <a:t>4. Stand-Alone Users</a:t>
            </a:r>
            <a:r>
              <a:rPr lang="en-US" sz="2000" dirty="0">
                <a:solidFill>
                  <a:srgbClr val="FF0000"/>
                </a:solidFill>
              </a:rPr>
              <a:t>:</a:t>
            </a:r>
          </a:p>
          <a:p>
            <a:pPr>
              <a:buFont typeface="Arial" panose="020B0604020202020204" pitchFamily="34" charset="0"/>
              <a:buChar char="•"/>
            </a:pPr>
            <a:r>
              <a:rPr lang="en-US" sz="2000" dirty="0">
                <a:solidFill>
                  <a:schemeClr val="tx1"/>
                </a:solidFill>
              </a:rPr>
              <a:t>These are users </a:t>
            </a:r>
            <a:r>
              <a:rPr lang="en-US" sz="2000" dirty="0">
                <a:solidFill>
                  <a:srgbClr val="FF0000"/>
                </a:solidFill>
              </a:rPr>
              <a:t>who create and manage their own databases </a:t>
            </a:r>
            <a:r>
              <a:rPr lang="en-US" sz="2000" dirty="0">
                <a:solidFill>
                  <a:schemeClr val="tx1"/>
                </a:solidFill>
              </a:rPr>
              <a:t>for personal or small-scale use.</a:t>
            </a:r>
          </a:p>
          <a:p>
            <a:pPr>
              <a:buFont typeface="Arial" panose="020B0604020202020204" pitchFamily="34" charset="0"/>
              <a:buChar char="•"/>
            </a:pPr>
            <a:r>
              <a:rPr lang="en-US" sz="2000" dirty="0">
                <a:solidFill>
                  <a:schemeClr val="tx1"/>
                </a:solidFill>
              </a:rPr>
              <a:t>They often use desktop tools or lightweight DBMS solutions.</a:t>
            </a:r>
          </a:p>
          <a:p>
            <a:pPr>
              <a:buFont typeface="Arial" panose="020B0604020202020204" pitchFamily="34" charset="0"/>
              <a:buChar char="•"/>
            </a:pPr>
            <a:r>
              <a:rPr lang="en-US" sz="2000" dirty="0">
                <a:solidFill>
                  <a:schemeClr val="tx1"/>
                </a:solidFill>
              </a:rPr>
              <a:t>Example: A researcher using a personal SQLite database for a project.</a:t>
            </a:r>
          </a:p>
        </p:txBody>
      </p:sp>
    </p:spTree>
    <p:extLst>
      <p:ext uri="{BB962C8B-B14F-4D97-AF65-F5344CB8AC3E}">
        <p14:creationId xmlns:p14="http://schemas.microsoft.com/office/powerpoint/2010/main" val="1226317497"/>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Number Placeholder 1"/>
          <p:cNvSpPr>
            <a:spLocks noGrp="1"/>
          </p:cNvSpPr>
          <p:nvPr>
            <p:ph type="sldNum" sz="quarter" idx="14"/>
          </p:nvPr>
        </p:nvSpPr>
        <p:spPr/>
        <p:txBody>
          <a:bodyPr/>
          <a:lstStyle/>
          <a:p>
            <a:fld id="{45A3C14A-F937-4231-B6F1-40B429FAFB2F}" type="slidenum">
              <a:rPr lang="en-NZ" smtClean="0"/>
              <a:pPr/>
              <a:t>24</a:t>
            </a:fld>
            <a:endParaRPr lang="en-NZ" dirty="0"/>
          </a:p>
        </p:txBody>
      </p:sp>
      <p:sp>
        <p:nvSpPr>
          <p:cNvPr id="3" name="Title 2"/>
          <p:cNvSpPr>
            <a:spLocks noGrp="1"/>
          </p:cNvSpPr>
          <p:nvPr>
            <p:ph type="title"/>
          </p:nvPr>
        </p:nvSpPr>
        <p:spPr>
          <a:xfrm>
            <a:off x="1631504" y="131886"/>
            <a:ext cx="10153128" cy="838202"/>
          </a:xfrm>
        </p:spPr>
        <p:txBody>
          <a:bodyPr/>
          <a:lstStyle/>
          <a:p>
            <a:r>
              <a:rPr lang="en-US" b="1" dirty="0">
                <a:solidFill>
                  <a:srgbClr val="FF0000"/>
                </a:solidFill>
              </a:rPr>
              <a:t>Difference between File System and DBMS</a:t>
            </a:r>
            <a:br>
              <a:rPr lang="en-US" b="1" dirty="0">
                <a:solidFill>
                  <a:srgbClr val="FF0000"/>
                </a:solidFill>
              </a:rPr>
            </a:br>
            <a:endParaRPr lang="en-US" dirty="0">
              <a:solidFill>
                <a:srgbClr val="FF0000"/>
              </a:solidFill>
            </a:endParaRPr>
          </a:p>
        </p:txBody>
      </p:sp>
      <p:sp>
        <p:nvSpPr>
          <p:cNvPr id="4" name="Text Placeholder 3"/>
          <p:cNvSpPr>
            <a:spLocks noGrp="1"/>
          </p:cNvSpPr>
          <p:nvPr>
            <p:ph type="body" sz="quarter" idx="17"/>
          </p:nvPr>
        </p:nvSpPr>
        <p:spPr>
          <a:xfrm>
            <a:off x="-925288" y="970088"/>
            <a:ext cx="12745416" cy="4787300"/>
          </a:xfrm>
        </p:spPr>
        <p:txBody>
          <a:bodyPr/>
          <a:lstStyle/>
          <a:p>
            <a:pPr marL="1600200" lvl="3" indent="-228600" algn="just" fontAlgn="base">
              <a:lnSpc>
                <a:spcPct val="100000"/>
              </a:lnSpc>
              <a:spcBef>
                <a:spcPct val="20000"/>
              </a:spcBef>
              <a:spcAft>
                <a:spcPct val="0"/>
              </a:spcAft>
              <a:buClr>
                <a:srgbClr val="333399"/>
              </a:buClr>
              <a:buSzPct val="55000"/>
              <a:buFont typeface="Wingdings" panose="05000000000000000000" pitchFamily="2" charset="2"/>
              <a:buChar char="n"/>
            </a:pPr>
            <a:r>
              <a:rPr lang="en-US" sz="2300" dirty="0">
                <a:solidFill>
                  <a:srgbClr val="800000"/>
                </a:solidFill>
                <a:latin typeface="Arial"/>
              </a:rPr>
              <a:t>The file system is basically a way of arranging the files in a storage medium like a hard disk. The file system organizes the files and helps in the retrieval of files when they are required. File systems consist of different files which are grouped into directories. The directories further contain other folders and files. The file system performs basic operations like management, file naming, giving access rules, etc. </a:t>
            </a:r>
          </a:p>
          <a:p>
            <a:pPr marL="1600200" lvl="3" indent="-228600" algn="just" fontAlgn="base">
              <a:lnSpc>
                <a:spcPct val="100000"/>
              </a:lnSpc>
              <a:spcBef>
                <a:spcPct val="20000"/>
              </a:spcBef>
              <a:spcAft>
                <a:spcPct val="0"/>
              </a:spcAft>
              <a:buClr>
                <a:srgbClr val="333399"/>
              </a:buClr>
              <a:buSzPct val="55000"/>
              <a:buFont typeface="Wingdings" panose="05000000000000000000" pitchFamily="2" charset="2"/>
              <a:buChar char="n"/>
            </a:pPr>
            <a:endParaRPr lang="en-US" sz="2300" dirty="0">
              <a:solidFill>
                <a:srgbClr val="800000"/>
              </a:solidFill>
              <a:latin typeface="Arial"/>
            </a:endParaRPr>
          </a:p>
          <a:p>
            <a:pPr marL="1600200" lvl="3" indent="-228600" algn="just" fontAlgn="base">
              <a:lnSpc>
                <a:spcPct val="100000"/>
              </a:lnSpc>
              <a:spcBef>
                <a:spcPct val="20000"/>
              </a:spcBef>
              <a:spcAft>
                <a:spcPct val="0"/>
              </a:spcAft>
              <a:buClr>
                <a:srgbClr val="333399"/>
              </a:buClr>
              <a:buSzPct val="55000"/>
              <a:buFont typeface="Wingdings" panose="05000000000000000000" pitchFamily="2" charset="2"/>
              <a:buChar char="n"/>
            </a:pPr>
            <a:r>
              <a:rPr lang="en-US" sz="2300" dirty="0">
                <a:solidFill>
                  <a:srgbClr val="800000"/>
                </a:solidFill>
                <a:latin typeface="Arial"/>
              </a:rPr>
              <a:t>Database Management System is basically software that manages the collection of related data. It is used for storing data and retrieving the data effectively when it is needed. It also provides proper security measures for protecting the data from unauthorized access. In Database Management System the data can be fetched by </a:t>
            </a:r>
            <a:r>
              <a:rPr lang="en-US" sz="2300" dirty="0">
                <a:solidFill>
                  <a:srgbClr val="800000"/>
                </a:solidFill>
                <a:latin typeface="Arial"/>
                <a:hlinkClick r:id="rId2"/>
              </a:rPr>
              <a:t>SQL </a:t>
            </a:r>
            <a:r>
              <a:rPr lang="en-US" sz="2300" dirty="0">
                <a:solidFill>
                  <a:srgbClr val="800000"/>
                </a:solidFill>
                <a:latin typeface="Arial"/>
              </a:rPr>
              <a:t>queries and relational algebra. It also provides mechanisms for data recovery and data backup</a:t>
            </a:r>
          </a:p>
        </p:txBody>
      </p:sp>
    </p:spTree>
    <p:extLst>
      <p:ext uri="{BB962C8B-B14F-4D97-AF65-F5344CB8AC3E}">
        <p14:creationId xmlns:p14="http://schemas.microsoft.com/office/powerpoint/2010/main" val="2483853176"/>
      </p:ext>
    </p:extLst>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Number Placeholder 1"/>
          <p:cNvSpPr>
            <a:spLocks noGrp="1"/>
          </p:cNvSpPr>
          <p:nvPr>
            <p:ph type="sldNum" sz="quarter" idx="14"/>
          </p:nvPr>
        </p:nvSpPr>
        <p:spPr/>
        <p:txBody>
          <a:bodyPr/>
          <a:lstStyle/>
          <a:p>
            <a:fld id="{45A3C14A-F937-4231-B6F1-40B429FAFB2F}" type="slidenum">
              <a:rPr lang="en-NZ" smtClean="0"/>
              <a:pPr/>
              <a:t>25</a:t>
            </a:fld>
            <a:endParaRPr lang="en-NZ" dirty="0"/>
          </a:p>
        </p:txBody>
      </p:sp>
      <p:sp>
        <p:nvSpPr>
          <p:cNvPr id="3" name="Title 2"/>
          <p:cNvSpPr>
            <a:spLocks noGrp="1"/>
          </p:cNvSpPr>
          <p:nvPr>
            <p:ph type="title"/>
          </p:nvPr>
        </p:nvSpPr>
        <p:spPr>
          <a:xfrm>
            <a:off x="695400" y="355125"/>
            <a:ext cx="9145016" cy="838202"/>
          </a:xfrm>
        </p:spPr>
        <p:txBody>
          <a:bodyPr/>
          <a:lstStyle/>
          <a:p>
            <a:r>
              <a:rPr lang="en-US" b="1" dirty="0">
                <a:solidFill>
                  <a:srgbClr val="FF0000"/>
                </a:solidFill>
              </a:rPr>
              <a:t>Difference between File System and DBMS</a:t>
            </a:r>
            <a:br>
              <a:rPr lang="en-US" b="1" dirty="0">
                <a:solidFill>
                  <a:srgbClr val="FF0000"/>
                </a:solidFill>
              </a:rPr>
            </a:br>
            <a:endParaRPr lang="en-US" dirty="0">
              <a:solidFill>
                <a:srgbClr val="FF0000"/>
              </a:solidFill>
            </a:endParaRPr>
          </a:p>
        </p:txBody>
      </p:sp>
      <p:graphicFrame>
        <p:nvGraphicFramePr>
          <p:cNvPr id="6" name="Table 5"/>
          <p:cNvGraphicFramePr>
            <a:graphicFrameLocks noGrp="1"/>
          </p:cNvGraphicFramePr>
          <p:nvPr>
            <p:extLst>
              <p:ext uri="{D42A27DB-BD31-4B8C-83A1-F6EECF244321}">
                <p14:modId xmlns:p14="http://schemas.microsoft.com/office/powerpoint/2010/main" val="3315356978"/>
              </p:ext>
            </p:extLst>
          </p:nvPr>
        </p:nvGraphicFramePr>
        <p:xfrm>
          <a:off x="479377" y="980727"/>
          <a:ext cx="10887771" cy="4940849"/>
        </p:xfrm>
        <a:graphic>
          <a:graphicData uri="http://schemas.openxmlformats.org/drawingml/2006/table">
            <a:tbl>
              <a:tblPr/>
              <a:tblGrid>
                <a:gridCol w="2073861">
                  <a:extLst>
                    <a:ext uri="{9D8B030D-6E8A-4147-A177-3AD203B41FA5}">
                      <a16:colId xmlns:a16="http://schemas.microsoft.com/office/drawing/2014/main" val="3224081345"/>
                    </a:ext>
                  </a:extLst>
                </a:gridCol>
                <a:gridCol w="4406955">
                  <a:extLst>
                    <a:ext uri="{9D8B030D-6E8A-4147-A177-3AD203B41FA5}">
                      <a16:colId xmlns:a16="http://schemas.microsoft.com/office/drawing/2014/main" val="1844291666"/>
                    </a:ext>
                  </a:extLst>
                </a:gridCol>
                <a:gridCol w="4406955">
                  <a:extLst>
                    <a:ext uri="{9D8B030D-6E8A-4147-A177-3AD203B41FA5}">
                      <a16:colId xmlns:a16="http://schemas.microsoft.com/office/drawing/2014/main" val="151833813"/>
                    </a:ext>
                  </a:extLst>
                </a:gridCol>
              </a:tblGrid>
              <a:tr h="503423">
                <a:tc>
                  <a:txBody>
                    <a:bodyPr/>
                    <a:lstStyle/>
                    <a:p>
                      <a:pPr algn="ctr" defTabSz="914400" rtl="0" eaLnBrk="1" fontAlgn="base" latinLnBrk="0" hangingPunct="1"/>
                      <a:r>
                        <a:rPr lang="en-US" sz="2000" b="1" kern="1200" dirty="0">
                          <a:solidFill>
                            <a:srgbClr val="333399"/>
                          </a:solidFill>
                          <a:latin typeface="Arial"/>
                          <a:ea typeface="+mn-ea"/>
                          <a:cs typeface="+mn-cs"/>
                        </a:rPr>
                        <a:t>Basics</a:t>
                      </a:r>
                    </a:p>
                  </a:txBody>
                  <a:tcPr marL="37610" marR="37610" marT="94024" marB="94024" anchor="ctr">
                    <a:lnL w="2858" cap="flat" cmpd="sng" algn="ctr">
                      <a:solidFill>
                        <a:srgbClr val="DFDFDF"/>
                      </a:solidFill>
                      <a:prstDash val="solid"/>
                      <a:round/>
                      <a:headEnd type="none" w="med" len="med"/>
                      <a:tailEnd type="none" w="med" len="med"/>
                    </a:lnL>
                    <a:lnR w="2858" cap="flat" cmpd="sng" algn="ctr">
                      <a:solidFill>
                        <a:srgbClr val="DFDFDF"/>
                      </a:solidFill>
                      <a:prstDash val="solid"/>
                      <a:round/>
                      <a:headEnd type="none" w="med" len="med"/>
                      <a:tailEnd type="none" w="med" len="med"/>
                    </a:lnR>
                    <a:lnT w="2858" cap="flat" cmpd="sng" algn="ctr">
                      <a:solidFill>
                        <a:srgbClr val="DFDFDF"/>
                      </a:solidFill>
                      <a:prstDash val="solid"/>
                      <a:round/>
                      <a:headEnd type="none" w="med" len="med"/>
                      <a:tailEnd type="none" w="med" len="med"/>
                    </a:lnT>
                    <a:lnB w="2858" cap="flat" cmpd="sng" algn="ctr">
                      <a:solidFill>
                        <a:srgbClr val="DFDFDF"/>
                      </a:solidFill>
                      <a:prstDash val="solid"/>
                      <a:round/>
                      <a:headEnd type="none" w="med" len="med"/>
                      <a:tailEnd type="none" w="med" len="med"/>
                    </a:lnB>
                    <a:solidFill>
                      <a:srgbClr val="FFFFFF"/>
                    </a:solidFill>
                  </a:tcPr>
                </a:tc>
                <a:tc>
                  <a:txBody>
                    <a:bodyPr/>
                    <a:lstStyle/>
                    <a:p>
                      <a:pPr algn="l" defTabSz="914400" rtl="0" eaLnBrk="1" fontAlgn="base" latinLnBrk="0" hangingPunct="1"/>
                      <a:r>
                        <a:rPr lang="en-US" sz="2000" b="1" kern="1200" dirty="0">
                          <a:solidFill>
                            <a:srgbClr val="333399"/>
                          </a:solidFill>
                          <a:latin typeface="Arial"/>
                          <a:ea typeface="+mn-ea"/>
                          <a:cs typeface="+mn-cs"/>
                        </a:rPr>
                        <a:t>File System</a:t>
                      </a:r>
                    </a:p>
                  </a:txBody>
                  <a:tcPr marL="94024" marR="94024" marT="94024" marB="94024" anchor="ctr">
                    <a:lnL w="2858" cap="flat" cmpd="sng" algn="ctr">
                      <a:solidFill>
                        <a:srgbClr val="DFDFDF"/>
                      </a:solidFill>
                      <a:prstDash val="solid"/>
                      <a:round/>
                      <a:headEnd type="none" w="med" len="med"/>
                      <a:tailEnd type="none" w="med" len="med"/>
                    </a:lnL>
                    <a:lnR w="2858" cap="flat" cmpd="sng" algn="ctr">
                      <a:solidFill>
                        <a:srgbClr val="DFDFDF"/>
                      </a:solidFill>
                      <a:prstDash val="solid"/>
                      <a:round/>
                      <a:headEnd type="none" w="med" len="med"/>
                      <a:tailEnd type="none" w="med" len="med"/>
                    </a:lnR>
                    <a:lnT w="2858" cap="flat" cmpd="sng" algn="ctr">
                      <a:solidFill>
                        <a:srgbClr val="DFDFDF"/>
                      </a:solidFill>
                      <a:prstDash val="solid"/>
                      <a:round/>
                      <a:headEnd type="none" w="med" len="med"/>
                      <a:tailEnd type="none" w="med" len="med"/>
                    </a:lnT>
                    <a:lnB w="2858" cap="flat" cmpd="sng" algn="ctr">
                      <a:solidFill>
                        <a:srgbClr val="DFDFDF"/>
                      </a:solidFill>
                      <a:prstDash val="solid"/>
                      <a:round/>
                      <a:headEnd type="none" w="med" len="med"/>
                      <a:tailEnd type="none" w="med" len="med"/>
                    </a:lnB>
                    <a:solidFill>
                      <a:srgbClr val="FFFFFF"/>
                    </a:solidFill>
                  </a:tcPr>
                </a:tc>
                <a:tc>
                  <a:txBody>
                    <a:bodyPr/>
                    <a:lstStyle/>
                    <a:p>
                      <a:pPr algn="l" defTabSz="914400" rtl="0" eaLnBrk="1" fontAlgn="base" latinLnBrk="0" hangingPunct="1"/>
                      <a:r>
                        <a:rPr lang="en-US" sz="2000" b="1" kern="1200" dirty="0">
                          <a:solidFill>
                            <a:srgbClr val="333399"/>
                          </a:solidFill>
                          <a:latin typeface="Arial"/>
                          <a:ea typeface="+mn-ea"/>
                          <a:cs typeface="+mn-cs"/>
                        </a:rPr>
                        <a:t>DBMS</a:t>
                      </a:r>
                    </a:p>
                  </a:txBody>
                  <a:tcPr marL="94024" marR="94024" marT="94024" marB="94024" anchor="ctr">
                    <a:lnL w="2858" cap="flat" cmpd="sng" algn="ctr">
                      <a:solidFill>
                        <a:srgbClr val="DFDFDF"/>
                      </a:solidFill>
                      <a:prstDash val="solid"/>
                      <a:round/>
                      <a:headEnd type="none" w="med" len="med"/>
                      <a:tailEnd type="none" w="med" len="med"/>
                    </a:lnL>
                    <a:lnR w="2858" cap="flat" cmpd="sng" algn="ctr">
                      <a:solidFill>
                        <a:srgbClr val="DFDFDF"/>
                      </a:solidFill>
                      <a:prstDash val="solid"/>
                      <a:round/>
                      <a:headEnd type="none" w="med" len="med"/>
                      <a:tailEnd type="none" w="med" len="med"/>
                    </a:lnR>
                    <a:lnT w="2858" cap="flat" cmpd="sng" algn="ctr">
                      <a:solidFill>
                        <a:srgbClr val="DFDFDF"/>
                      </a:solidFill>
                      <a:prstDash val="solid"/>
                      <a:round/>
                      <a:headEnd type="none" w="med" len="med"/>
                      <a:tailEnd type="none" w="med" len="med"/>
                    </a:lnT>
                    <a:lnB w="2858" cap="flat" cmpd="sng" algn="ctr">
                      <a:solidFill>
                        <a:srgbClr val="DFDFDF"/>
                      </a:solidFill>
                      <a:prstDash val="solid"/>
                      <a:round/>
                      <a:headEnd type="none" w="med" len="med"/>
                      <a:tailEnd type="none" w="med" len="med"/>
                    </a:lnB>
                    <a:solidFill>
                      <a:srgbClr val="FFFFFF"/>
                    </a:solidFill>
                  </a:tcPr>
                </a:tc>
                <a:extLst>
                  <a:ext uri="{0D108BD9-81ED-4DB2-BD59-A6C34878D82A}">
                    <a16:rowId xmlns:a16="http://schemas.microsoft.com/office/drawing/2014/main" val="941242588"/>
                  </a:ext>
                </a:extLst>
              </a:tr>
              <a:tr h="627214">
                <a:tc>
                  <a:txBody>
                    <a:bodyPr/>
                    <a:lstStyle/>
                    <a:p>
                      <a:pPr algn="l" defTabSz="914400" rtl="0" eaLnBrk="1" fontAlgn="base" latinLnBrk="0" hangingPunct="1"/>
                      <a:r>
                        <a:rPr lang="en-US" sz="2000" b="1" kern="1200" dirty="0">
                          <a:solidFill>
                            <a:srgbClr val="333399"/>
                          </a:solidFill>
                          <a:latin typeface="Arial"/>
                          <a:ea typeface="+mn-ea"/>
                          <a:cs typeface="+mn-cs"/>
                        </a:rPr>
                        <a:t>Structure</a:t>
                      </a:r>
                    </a:p>
                  </a:txBody>
                  <a:tcPr marL="37610" marR="37610" marT="68308" marB="68308" anchor="ctr">
                    <a:lnL w="2858" cap="flat" cmpd="sng" algn="ctr">
                      <a:solidFill>
                        <a:srgbClr val="DFDFDF"/>
                      </a:solidFill>
                      <a:prstDash val="solid"/>
                      <a:round/>
                      <a:headEnd type="none" w="med" len="med"/>
                      <a:tailEnd type="none" w="med" len="med"/>
                    </a:lnL>
                    <a:lnR w="2858" cap="flat" cmpd="sng" algn="ctr">
                      <a:solidFill>
                        <a:srgbClr val="DFDFDF"/>
                      </a:solidFill>
                      <a:prstDash val="solid"/>
                      <a:round/>
                      <a:headEnd type="none" w="med" len="med"/>
                      <a:tailEnd type="none" w="med" len="med"/>
                    </a:lnR>
                    <a:lnT w="2858" cap="flat" cmpd="sng" algn="ctr">
                      <a:solidFill>
                        <a:srgbClr val="DFDFDF"/>
                      </a:solidFill>
                      <a:prstDash val="solid"/>
                      <a:round/>
                      <a:headEnd type="none" w="med" len="med"/>
                      <a:tailEnd type="none" w="med" len="med"/>
                    </a:lnT>
                    <a:lnB w="2858" cap="flat" cmpd="sng" algn="ctr">
                      <a:solidFill>
                        <a:srgbClr val="DFDFDF"/>
                      </a:solidFill>
                      <a:prstDash val="solid"/>
                      <a:round/>
                      <a:headEnd type="none" w="med" len="med"/>
                      <a:tailEnd type="none" w="med" len="med"/>
                    </a:lnB>
                    <a:solidFill>
                      <a:srgbClr val="FFFFFF"/>
                    </a:solidFill>
                  </a:tcPr>
                </a:tc>
                <a:tc>
                  <a:txBody>
                    <a:bodyPr/>
                    <a:lstStyle/>
                    <a:p>
                      <a:pPr algn="l" defTabSz="914400" rtl="0" eaLnBrk="1" fontAlgn="base" latinLnBrk="0" hangingPunct="1"/>
                      <a:r>
                        <a:rPr lang="en-US" sz="1400" b="1" kern="1200" dirty="0">
                          <a:solidFill>
                            <a:srgbClr val="C00000"/>
                          </a:solidFill>
                          <a:latin typeface="Arial"/>
                          <a:ea typeface="+mn-ea"/>
                          <a:cs typeface="+mn-cs"/>
                        </a:rPr>
                        <a:t>The file system is a way of arranging the files in a storage medium within a computer.</a:t>
                      </a:r>
                    </a:p>
                  </a:txBody>
                  <a:tcPr marL="94024" marR="94024" marT="131634" marB="131634" anchor="ctr">
                    <a:lnL w="2858" cap="flat" cmpd="sng" algn="ctr">
                      <a:solidFill>
                        <a:srgbClr val="DFDFDF"/>
                      </a:solidFill>
                      <a:prstDash val="solid"/>
                      <a:round/>
                      <a:headEnd type="none" w="med" len="med"/>
                      <a:tailEnd type="none" w="med" len="med"/>
                    </a:lnL>
                    <a:lnR w="2858" cap="flat" cmpd="sng" algn="ctr">
                      <a:solidFill>
                        <a:srgbClr val="DFDFDF"/>
                      </a:solidFill>
                      <a:prstDash val="solid"/>
                      <a:round/>
                      <a:headEnd type="none" w="med" len="med"/>
                      <a:tailEnd type="none" w="med" len="med"/>
                    </a:lnR>
                    <a:lnT w="2858" cap="flat" cmpd="sng" algn="ctr">
                      <a:solidFill>
                        <a:srgbClr val="DFDFDF"/>
                      </a:solidFill>
                      <a:prstDash val="solid"/>
                      <a:round/>
                      <a:headEnd type="none" w="med" len="med"/>
                      <a:tailEnd type="none" w="med" len="med"/>
                    </a:lnT>
                    <a:lnB w="2858" cap="flat" cmpd="sng" algn="ctr">
                      <a:solidFill>
                        <a:srgbClr val="DFDFDF"/>
                      </a:solidFill>
                      <a:prstDash val="solid"/>
                      <a:round/>
                      <a:headEnd type="none" w="med" len="med"/>
                      <a:tailEnd type="none" w="med" len="med"/>
                    </a:lnB>
                    <a:solidFill>
                      <a:srgbClr val="FFFFFF"/>
                    </a:solidFill>
                  </a:tcPr>
                </a:tc>
                <a:tc>
                  <a:txBody>
                    <a:bodyPr/>
                    <a:lstStyle/>
                    <a:p>
                      <a:pPr algn="l" defTabSz="914400" rtl="0" eaLnBrk="1" fontAlgn="base" latinLnBrk="0" hangingPunct="1"/>
                      <a:r>
                        <a:rPr lang="en-US" sz="1400" b="1" kern="1200">
                          <a:solidFill>
                            <a:srgbClr val="C00000"/>
                          </a:solidFill>
                          <a:latin typeface="Arial"/>
                          <a:ea typeface="+mn-ea"/>
                          <a:cs typeface="+mn-cs"/>
                        </a:rPr>
                        <a:t>DBMS is software for managing the database.</a:t>
                      </a:r>
                    </a:p>
                  </a:txBody>
                  <a:tcPr marL="94024" marR="94024" marT="131634" marB="131634" anchor="ctr">
                    <a:lnL w="2858" cap="flat" cmpd="sng" algn="ctr">
                      <a:solidFill>
                        <a:srgbClr val="DFDFDF"/>
                      </a:solidFill>
                      <a:prstDash val="solid"/>
                      <a:round/>
                      <a:headEnd type="none" w="med" len="med"/>
                      <a:tailEnd type="none" w="med" len="med"/>
                    </a:lnL>
                    <a:lnR w="2858" cap="flat" cmpd="sng" algn="ctr">
                      <a:solidFill>
                        <a:srgbClr val="DFDFDF"/>
                      </a:solidFill>
                      <a:prstDash val="solid"/>
                      <a:round/>
                      <a:headEnd type="none" w="med" len="med"/>
                      <a:tailEnd type="none" w="med" len="med"/>
                    </a:lnR>
                    <a:lnT w="2858" cap="flat" cmpd="sng" algn="ctr">
                      <a:solidFill>
                        <a:srgbClr val="DFDFDF"/>
                      </a:solidFill>
                      <a:prstDash val="solid"/>
                      <a:round/>
                      <a:headEnd type="none" w="med" len="med"/>
                      <a:tailEnd type="none" w="med" len="med"/>
                    </a:lnT>
                    <a:lnB w="2858" cap="flat" cmpd="sng" algn="ctr">
                      <a:solidFill>
                        <a:srgbClr val="DFDFDF"/>
                      </a:solidFill>
                      <a:prstDash val="solid"/>
                      <a:round/>
                      <a:headEnd type="none" w="med" len="med"/>
                      <a:tailEnd type="none" w="med" len="med"/>
                    </a:lnB>
                    <a:solidFill>
                      <a:srgbClr val="FFFFFF"/>
                    </a:solidFill>
                  </a:tcPr>
                </a:tc>
                <a:extLst>
                  <a:ext uri="{0D108BD9-81ED-4DB2-BD59-A6C34878D82A}">
                    <a16:rowId xmlns:a16="http://schemas.microsoft.com/office/drawing/2014/main" val="3348699864"/>
                  </a:ext>
                </a:extLst>
              </a:tr>
              <a:tr h="789154">
                <a:tc>
                  <a:txBody>
                    <a:bodyPr/>
                    <a:lstStyle/>
                    <a:p>
                      <a:pPr algn="l" defTabSz="914400" rtl="0" eaLnBrk="1" fontAlgn="base" latinLnBrk="0" hangingPunct="1"/>
                      <a:r>
                        <a:rPr lang="en-US" sz="2000" b="1" kern="1200" dirty="0">
                          <a:solidFill>
                            <a:srgbClr val="333399"/>
                          </a:solidFill>
                          <a:latin typeface="Arial"/>
                          <a:ea typeface="+mn-ea"/>
                          <a:cs typeface="+mn-cs"/>
                        </a:rPr>
                        <a:t>Data Redundancy</a:t>
                      </a:r>
                    </a:p>
                  </a:txBody>
                  <a:tcPr marL="37610" marR="37610" marT="68308" marB="68308" anchor="ctr">
                    <a:lnL w="2858" cap="flat" cmpd="sng" algn="ctr">
                      <a:solidFill>
                        <a:srgbClr val="DFDFDF"/>
                      </a:solidFill>
                      <a:prstDash val="solid"/>
                      <a:round/>
                      <a:headEnd type="none" w="med" len="med"/>
                      <a:tailEnd type="none" w="med" len="med"/>
                    </a:lnL>
                    <a:lnR w="2858" cap="flat" cmpd="sng" algn="ctr">
                      <a:solidFill>
                        <a:srgbClr val="DFDFDF"/>
                      </a:solidFill>
                      <a:prstDash val="solid"/>
                      <a:round/>
                      <a:headEnd type="none" w="med" len="med"/>
                      <a:tailEnd type="none" w="med" len="med"/>
                    </a:lnR>
                    <a:lnT w="2858" cap="flat" cmpd="sng" algn="ctr">
                      <a:solidFill>
                        <a:srgbClr val="DFDFDF"/>
                      </a:solidFill>
                      <a:prstDash val="solid"/>
                      <a:round/>
                      <a:headEnd type="none" w="med" len="med"/>
                      <a:tailEnd type="none" w="med" len="med"/>
                    </a:lnT>
                    <a:lnB w="2858" cap="flat" cmpd="sng" algn="ctr">
                      <a:solidFill>
                        <a:srgbClr val="DFDFDF"/>
                      </a:solidFill>
                      <a:prstDash val="solid"/>
                      <a:round/>
                      <a:headEnd type="none" w="med" len="med"/>
                      <a:tailEnd type="none" w="med" len="med"/>
                    </a:lnB>
                    <a:solidFill>
                      <a:srgbClr val="FFFFFF"/>
                    </a:solidFill>
                  </a:tcPr>
                </a:tc>
                <a:tc>
                  <a:txBody>
                    <a:bodyPr/>
                    <a:lstStyle/>
                    <a:p>
                      <a:pPr algn="l" defTabSz="914400" rtl="0" eaLnBrk="1" fontAlgn="base" latinLnBrk="0" hangingPunct="1"/>
                      <a:r>
                        <a:rPr lang="en-US" sz="1400" b="1" kern="1200" dirty="0">
                          <a:solidFill>
                            <a:srgbClr val="C00000"/>
                          </a:solidFill>
                          <a:latin typeface="Arial"/>
                          <a:ea typeface="+mn-ea"/>
                          <a:cs typeface="+mn-cs"/>
                        </a:rPr>
                        <a:t>Redundant data can be present in a file system.</a:t>
                      </a:r>
                    </a:p>
                  </a:txBody>
                  <a:tcPr marL="94024" marR="94024" marT="131634" marB="131634" anchor="ctr">
                    <a:lnL w="2858" cap="flat" cmpd="sng" algn="ctr">
                      <a:solidFill>
                        <a:srgbClr val="DFDFDF"/>
                      </a:solidFill>
                      <a:prstDash val="solid"/>
                      <a:round/>
                      <a:headEnd type="none" w="med" len="med"/>
                      <a:tailEnd type="none" w="med" len="med"/>
                    </a:lnL>
                    <a:lnR w="2858" cap="flat" cmpd="sng" algn="ctr">
                      <a:solidFill>
                        <a:srgbClr val="DFDFDF"/>
                      </a:solidFill>
                      <a:prstDash val="solid"/>
                      <a:round/>
                      <a:headEnd type="none" w="med" len="med"/>
                      <a:tailEnd type="none" w="med" len="med"/>
                    </a:lnR>
                    <a:lnT w="2858" cap="flat" cmpd="sng" algn="ctr">
                      <a:solidFill>
                        <a:srgbClr val="DFDFDF"/>
                      </a:solidFill>
                      <a:prstDash val="solid"/>
                      <a:round/>
                      <a:headEnd type="none" w="med" len="med"/>
                      <a:tailEnd type="none" w="med" len="med"/>
                    </a:lnT>
                    <a:lnB w="2858" cap="flat" cmpd="sng" algn="ctr">
                      <a:solidFill>
                        <a:srgbClr val="DFDFDF"/>
                      </a:solidFill>
                      <a:prstDash val="solid"/>
                      <a:round/>
                      <a:headEnd type="none" w="med" len="med"/>
                      <a:tailEnd type="none" w="med" len="med"/>
                    </a:lnB>
                    <a:solidFill>
                      <a:srgbClr val="FFFFFF"/>
                    </a:solidFill>
                  </a:tcPr>
                </a:tc>
                <a:tc>
                  <a:txBody>
                    <a:bodyPr/>
                    <a:lstStyle/>
                    <a:p>
                      <a:pPr algn="l" defTabSz="914400" rtl="0" eaLnBrk="1" fontAlgn="base" latinLnBrk="0" hangingPunct="1"/>
                      <a:r>
                        <a:rPr lang="en-US" sz="1400" b="1" kern="1200">
                          <a:solidFill>
                            <a:srgbClr val="C00000"/>
                          </a:solidFill>
                          <a:latin typeface="Arial"/>
                          <a:ea typeface="+mn-ea"/>
                          <a:cs typeface="+mn-cs"/>
                        </a:rPr>
                        <a:t>In DBMS there is no redundant data.</a:t>
                      </a:r>
                    </a:p>
                  </a:txBody>
                  <a:tcPr marL="94024" marR="94024" marT="131634" marB="131634" anchor="ctr">
                    <a:lnL w="2858" cap="flat" cmpd="sng" algn="ctr">
                      <a:solidFill>
                        <a:srgbClr val="DFDFDF"/>
                      </a:solidFill>
                      <a:prstDash val="solid"/>
                      <a:round/>
                      <a:headEnd type="none" w="med" len="med"/>
                      <a:tailEnd type="none" w="med" len="med"/>
                    </a:lnL>
                    <a:lnR w="2858" cap="flat" cmpd="sng" algn="ctr">
                      <a:solidFill>
                        <a:srgbClr val="DFDFDF"/>
                      </a:solidFill>
                      <a:prstDash val="solid"/>
                      <a:round/>
                      <a:headEnd type="none" w="med" len="med"/>
                      <a:tailEnd type="none" w="med" len="med"/>
                    </a:lnR>
                    <a:lnT w="2858" cap="flat" cmpd="sng" algn="ctr">
                      <a:solidFill>
                        <a:srgbClr val="DFDFDF"/>
                      </a:solidFill>
                      <a:prstDash val="solid"/>
                      <a:round/>
                      <a:headEnd type="none" w="med" len="med"/>
                      <a:tailEnd type="none" w="med" len="med"/>
                    </a:lnT>
                    <a:lnB w="2858" cap="flat" cmpd="sng" algn="ctr">
                      <a:solidFill>
                        <a:srgbClr val="DFDFDF"/>
                      </a:solidFill>
                      <a:prstDash val="solid"/>
                      <a:round/>
                      <a:headEnd type="none" w="med" len="med"/>
                      <a:tailEnd type="none" w="med" len="med"/>
                    </a:lnB>
                    <a:solidFill>
                      <a:srgbClr val="FFFFFF"/>
                    </a:solidFill>
                  </a:tcPr>
                </a:tc>
                <a:extLst>
                  <a:ext uri="{0D108BD9-81ED-4DB2-BD59-A6C34878D82A}">
                    <a16:rowId xmlns:a16="http://schemas.microsoft.com/office/drawing/2014/main" val="2032213792"/>
                  </a:ext>
                </a:extLst>
              </a:tr>
              <a:tr h="789154">
                <a:tc>
                  <a:txBody>
                    <a:bodyPr/>
                    <a:lstStyle/>
                    <a:p>
                      <a:pPr algn="l" defTabSz="914400" rtl="0" eaLnBrk="1" fontAlgn="base" latinLnBrk="0" hangingPunct="1"/>
                      <a:r>
                        <a:rPr lang="en-US" sz="2000" b="1" kern="1200" dirty="0">
                          <a:solidFill>
                            <a:srgbClr val="333399"/>
                          </a:solidFill>
                          <a:latin typeface="Arial"/>
                          <a:ea typeface="+mn-ea"/>
                          <a:cs typeface="+mn-cs"/>
                        </a:rPr>
                        <a:t>Backup-and Recovery</a:t>
                      </a:r>
                    </a:p>
                  </a:txBody>
                  <a:tcPr marL="37610" marR="37610" marT="68308" marB="68308" anchor="ctr">
                    <a:lnL w="2858" cap="flat" cmpd="sng" algn="ctr">
                      <a:solidFill>
                        <a:srgbClr val="DFDFDF"/>
                      </a:solidFill>
                      <a:prstDash val="solid"/>
                      <a:round/>
                      <a:headEnd type="none" w="med" len="med"/>
                      <a:tailEnd type="none" w="med" len="med"/>
                    </a:lnL>
                    <a:lnR w="2858" cap="flat" cmpd="sng" algn="ctr">
                      <a:solidFill>
                        <a:srgbClr val="DFDFDF"/>
                      </a:solidFill>
                      <a:prstDash val="solid"/>
                      <a:round/>
                      <a:headEnd type="none" w="med" len="med"/>
                      <a:tailEnd type="none" w="med" len="med"/>
                    </a:lnR>
                    <a:lnT w="2858" cap="flat" cmpd="sng" algn="ctr">
                      <a:solidFill>
                        <a:srgbClr val="DFDFDF"/>
                      </a:solidFill>
                      <a:prstDash val="solid"/>
                      <a:round/>
                      <a:headEnd type="none" w="med" len="med"/>
                      <a:tailEnd type="none" w="med" len="med"/>
                    </a:lnT>
                    <a:lnB w="2858" cap="flat" cmpd="sng" algn="ctr">
                      <a:solidFill>
                        <a:srgbClr val="DFDFDF"/>
                      </a:solidFill>
                      <a:prstDash val="solid"/>
                      <a:round/>
                      <a:headEnd type="none" w="med" len="med"/>
                      <a:tailEnd type="none" w="med" len="med"/>
                    </a:lnB>
                    <a:solidFill>
                      <a:srgbClr val="FFFFFF"/>
                    </a:solidFill>
                  </a:tcPr>
                </a:tc>
                <a:tc>
                  <a:txBody>
                    <a:bodyPr/>
                    <a:lstStyle/>
                    <a:p>
                      <a:pPr algn="l" defTabSz="914400" rtl="0" eaLnBrk="1" fontAlgn="base" latinLnBrk="0" hangingPunct="1"/>
                      <a:r>
                        <a:rPr lang="en-US" sz="1400" b="1" kern="1200" dirty="0">
                          <a:solidFill>
                            <a:srgbClr val="C00000"/>
                          </a:solidFill>
                          <a:latin typeface="Arial"/>
                          <a:ea typeface="+mn-ea"/>
                          <a:cs typeface="+mn-cs"/>
                        </a:rPr>
                        <a:t>It doesn’t provide Inbuilt mechanism for backup and recovery of data if it is lost.</a:t>
                      </a:r>
                    </a:p>
                  </a:txBody>
                  <a:tcPr marL="94024" marR="94024" marT="131634" marB="131634" anchor="ctr">
                    <a:lnL w="2858" cap="flat" cmpd="sng" algn="ctr">
                      <a:solidFill>
                        <a:srgbClr val="DFDFDF"/>
                      </a:solidFill>
                      <a:prstDash val="solid"/>
                      <a:round/>
                      <a:headEnd type="none" w="med" len="med"/>
                      <a:tailEnd type="none" w="med" len="med"/>
                    </a:lnL>
                    <a:lnR w="2858" cap="flat" cmpd="sng" algn="ctr">
                      <a:solidFill>
                        <a:srgbClr val="DFDFDF"/>
                      </a:solidFill>
                      <a:prstDash val="solid"/>
                      <a:round/>
                      <a:headEnd type="none" w="med" len="med"/>
                      <a:tailEnd type="none" w="med" len="med"/>
                    </a:lnR>
                    <a:lnT w="2858" cap="flat" cmpd="sng" algn="ctr">
                      <a:solidFill>
                        <a:srgbClr val="DFDFDF"/>
                      </a:solidFill>
                      <a:prstDash val="solid"/>
                      <a:round/>
                      <a:headEnd type="none" w="med" len="med"/>
                      <a:tailEnd type="none" w="med" len="med"/>
                    </a:lnT>
                    <a:lnB w="2858" cap="flat" cmpd="sng" algn="ctr">
                      <a:solidFill>
                        <a:srgbClr val="DFDFDF"/>
                      </a:solidFill>
                      <a:prstDash val="solid"/>
                      <a:round/>
                      <a:headEnd type="none" w="med" len="med"/>
                      <a:tailEnd type="none" w="med" len="med"/>
                    </a:lnB>
                    <a:solidFill>
                      <a:srgbClr val="FFFFFF"/>
                    </a:solidFill>
                  </a:tcPr>
                </a:tc>
                <a:tc>
                  <a:txBody>
                    <a:bodyPr/>
                    <a:lstStyle/>
                    <a:p>
                      <a:pPr algn="l" defTabSz="914400" rtl="0" eaLnBrk="1" fontAlgn="base" latinLnBrk="0" hangingPunct="1"/>
                      <a:r>
                        <a:rPr lang="en-US" sz="1400" b="1" kern="1200">
                          <a:solidFill>
                            <a:srgbClr val="C00000"/>
                          </a:solidFill>
                          <a:latin typeface="Arial"/>
                          <a:ea typeface="+mn-ea"/>
                          <a:cs typeface="+mn-cs"/>
                        </a:rPr>
                        <a:t>It provides in house tools for backup and recovery of data even if it is lost.</a:t>
                      </a:r>
                    </a:p>
                  </a:txBody>
                  <a:tcPr marL="94024" marR="94024" marT="131634" marB="131634" anchor="ctr">
                    <a:lnL w="2858" cap="flat" cmpd="sng" algn="ctr">
                      <a:solidFill>
                        <a:srgbClr val="DFDFDF"/>
                      </a:solidFill>
                      <a:prstDash val="solid"/>
                      <a:round/>
                      <a:headEnd type="none" w="med" len="med"/>
                      <a:tailEnd type="none" w="med" len="med"/>
                    </a:lnL>
                    <a:lnR w="2858" cap="flat" cmpd="sng" algn="ctr">
                      <a:solidFill>
                        <a:srgbClr val="DFDFDF"/>
                      </a:solidFill>
                      <a:prstDash val="solid"/>
                      <a:round/>
                      <a:headEnd type="none" w="med" len="med"/>
                      <a:tailEnd type="none" w="med" len="med"/>
                    </a:lnR>
                    <a:lnT w="2858" cap="flat" cmpd="sng" algn="ctr">
                      <a:solidFill>
                        <a:srgbClr val="DFDFDF"/>
                      </a:solidFill>
                      <a:prstDash val="solid"/>
                      <a:round/>
                      <a:headEnd type="none" w="med" len="med"/>
                      <a:tailEnd type="none" w="med" len="med"/>
                    </a:lnT>
                    <a:lnB w="2858" cap="flat" cmpd="sng" algn="ctr">
                      <a:solidFill>
                        <a:srgbClr val="DFDFDF"/>
                      </a:solidFill>
                      <a:prstDash val="solid"/>
                      <a:round/>
                      <a:headEnd type="none" w="med" len="med"/>
                      <a:tailEnd type="none" w="med" len="med"/>
                    </a:lnB>
                    <a:solidFill>
                      <a:srgbClr val="FFFFFF"/>
                    </a:solidFill>
                  </a:tcPr>
                </a:tc>
                <a:extLst>
                  <a:ext uri="{0D108BD9-81ED-4DB2-BD59-A6C34878D82A}">
                    <a16:rowId xmlns:a16="http://schemas.microsoft.com/office/drawing/2014/main" val="4074979156"/>
                  </a:ext>
                </a:extLst>
              </a:tr>
              <a:tr h="789154">
                <a:tc>
                  <a:txBody>
                    <a:bodyPr/>
                    <a:lstStyle/>
                    <a:p>
                      <a:pPr algn="l" defTabSz="914400" rtl="0" eaLnBrk="1" fontAlgn="base" latinLnBrk="0" hangingPunct="1"/>
                      <a:r>
                        <a:rPr lang="en-US" sz="2000" b="1" kern="1200" dirty="0">
                          <a:solidFill>
                            <a:srgbClr val="333399"/>
                          </a:solidFill>
                          <a:latin typeface="Arial"/>
                          <a:ea typeface="+mn-ea"/>
                          <a:cs typeface="+mn-cs"/>
                        </a:rPr>
                        <a:t>Query processing</a:t>
                      </a:r>
                    </a:p>
                  </a:txBody>
                  <a:tcPr marL="37610" marR="37610" marT="68308" marB="68308" anchor="ctr">
                    <a:lnL w="2858" cap="flat" cmpd="sng" algn="ctr">
                      <a:solidFill>
                        <a:srgbClr val="DFDFDF"/>
                      </a:solidFill>
                      <a:prstDash val="solid"/>
                      <a:round/>
                      <a:headEnd type="none" w="med" len="med"/>
                      <a:tailEnd type="none" w="med" len="med"/>
                    </a:lnL>
                    <a:lnR w="2858" cap="flat" cmpd="sng" algn="ctr">
                      <a:solidFill>
                        <a:srgbClr val="DFDFDF"/>
                      </a:solidFill>
                      <a:prstDash val="solid"/>
                      <a:round/>
                      <a:headEnd type="none" w="med" len="med"/>
                      <a:tailEnd type="none" w="med" len="med"/>
                    </a:lnR>
                    <a:lnT w="2858" cap="flat" cmpd="sng" algn="ctr">
                      <a:solidFill>
                        <a:srgbClr val="DFDFDF"/>
                      </a:solidFill>
                      <a:prstDash val="solid"/>
                      <a:round/>
                      <a:headEnd type="none" w="med" len="med"/>
                      <a:tailEnd type="none" w="med" len="med"/>
                    </a:lnT>
                    <a:lnB w="2858" cap="flat" cmpd="sng" algn="ctr">
                      <a:solidFill>
                        <a:srgbClr val="DFDFDF"/>
                      </a:solidFill>
                      <a:prstDash val="solid"/>
                      <a:round/>
                      <a:headEnd type="none" w="med" len="med"/>
                      <a:tailEnd type="none" w="med" len="med"/>
                    </a:lnB>
                    <a:solidFill>
                      <a:srgbClr val="FFFFFF"/>
                    </a:solidFill>
                  </a:tcPr>
                </a:tc>
                <a:tc>
                  <a:txBody>
                    <a:bodyPr/>
                    <a:lstStyle/>
                    <a:p>
                      <a:pPr algn="l" defTabSz="914400" rtl="0" eaLnBrk="1" fontAlgn="base" latinLnBrk="0" hangingPunct="1"/>
                      <a:r>
                        <a:rPr lang="en-US" sz="1400" b="1" kern="1200" dirty="0">
                          <a:solidFill>
                            <a:srgbClr val="C00000"/>
                          </a:solidFill>
                          <a:latin typeface="Arial"/>
                          <a:ea typeface="+mn-ea"/>
                          <a:cs typeface="+mn-cs"/>
                        </a:rPr>
                        <a:t>There is no efficient query processing in the file system.</a:t>
                      </a:r>
                    </a:p>
                  </a:txBody>
                  <a:tcPr marL="94024" marR="94024" marT="131634" marB="131634" anchor="ctr">
                    <a:lnL w="2858" cap="flat" cmpd="sng" algn="ctr">
                      <a:solidFill>
                        <a:srgbClr val="DFDFDF"/>
                      </a:solidFill>
                      <a:prstDash val="solid"/>
                      <a:round/>
                      <a:headEnd type="none" w="med" len="med"/>
                      <a:tailEnd type="none" w="med" len="med"/>
                    </a:lnL>
                    <a:lnR w="2858" cap="flat" cmpd="sng" algn="ctr">
                      <a:solidFill>
                        <a:srgbClr val="DFDFDF"/>
                      </a:solidFill>
                      <a:prstDash val="solid"/>
                      <a:round/>
                      <a:headEnd type="none" w="med" len="med"/>
                      <a:tailEnd type="none" w="med" len="med"/>
                    </a:lnR>
                    <a:lnT w="2858" cap="flat" cmpd="sng" algn="ctr">
                      <a:solidFill>
                        <a:srgbClr val="DFDFDF"/>
                      </a:solidFill>
                      <a:prstDash val="solid"/>
                      <a:round/>
                      <a:headEnd type="none" w="med" len="med"/>
                      <a:tailEnd type="none" w="med" len="med"/>
                    </a:lnT>
                    <a:lnB w="2858" cap="flat" cmpd="sng" algn="ctr">
                      <a:solidFill>
                        <a:srgbClr val="DFDFDF"/>
                      </a:solidFill>
                      <a:prstDash val="solid"/>
                      <a:round/>
                      <a:headEnd type="none" w="med" len="med"/>
                      <a:tailEnd type="none" w="med" len="med"/>
                    </a:lnB>
                    <a:solidFill>
                      <a:srgbClr val="FFFFFF"/>
                    </a:solidFill>
                  </a:tcPr>
                </a:tc>
                <a:tc>
                  <a:txBody>
                    <a:bodyPr/>
                    <a:lstStyle/>
                    <a:p>
                      <a:pPr algn="l" defTabSz="914400" rtl="0" eaLnBrk="1" fontAlgn="base" latinLnBrk="0" hangingPunct="1"/>
                      <a:r>
                        <a:rPr lang="en-US" sz="1400" b="1" kern="1200" dirty="0">
                          <a:solidFill>
                            <a:srgbClr val="C00000"/>
                          </a:solidFill>
                          <a:latin typeface="Arial"/>
                          <a:ea typeface="+mn-ea"/>
                          <a:cs typeface="+mn-cs"/>
                        </a:rPr>
                        <a:t>Efficient query processing is there in DBMS.</a:t>
                      </a:r>
                    </a:p>
                  </a:txBody>
                  <a:tcPr marL="94024" marR="94024" marT="131634" marB="131634" anchor="ctr">
                    <a:lnL w="2858" cap="flat" cmpd="sng" algn="ctr">
                      <a:solidFill>
                        <a:srgbClr val="DFDFDF"/>
                      </a:solidFill>
                      <a:prstDash val="solid"/>
                      <a:round/>
                      <a:headEnd type="none" w="med" len="med"/>
                      <a:tailEnd type="none" w="med" len="med"/>
                    </a:lnL>
                    <a:lnR w="2858" cap="flat" cmpd="sng" algn="ctr">
                      <a:solidFill>
                        <a:srgbClr val="DFDFDF"/>
                      </a:solidFill>
                      <a:prstDash val="solid"/>
                      <a:round/>
                      <a:headEnd type="none" w="med" len="med"/>
                      <a:tailEnd type="none" w="med" len="med"/>
                    </a:lnR>
                    <a:lnT w="2858" cap="flat" cmpd="sng" algn="ctr">
                      <a:solidFill>
                        <a:srgbClr val="DFDFDF"/>
                      </a:solidFill>
                      <a:prstDash val="solid"/>
                      <a:round/>
                      <a:headEnd type="none" w="med" len="med"/>
                      <a:tailEnd type="none" w="med" len="med"/>
                    </a:lnT>
                    <a:lnB w="2858" cap="flat" cmpd="sng" algn="ctr">
                      <a:solidFill>
                        <a:srgbClr val="DFDFDF"/>
                      </a:solidFill>
                      <a:prstDash val="solid"/>
                      <a:round/>
                      <a:headEnd type="none" w="med" len="med"/>
                      <a:tailEnd type="none" w="med" len="med"/>
                    </a:lnB>
                    <a:solidFill>
                      <a:srgbClr val="FFFFFF"/>
                    </a:solidFill>
                  </a:tcPr>
                </a:tc>
                <a:extLst>
                  <a:ext uri="{0D108BD9-81ED-4DB2-BD59-A6C34878D82A}">
                    <a16:rowId xmlns:a16="http://schemas.microsoft.com/office/drawing/2014/main" val="2617690705"/>
                  </a:ext>
                </a:extLst>
              </a:tr>
              <a:tr h="627214">
                <a:tc>
                  <a:txBody>
                    <a:bodyPr/>
                    <a:lstStyle/>
                    <a:p>
                      <a:pPr algn="l" defTabSz="914400" rtl="0" eaLnBrk="1" fontAlgn="base" latinLnBrk="0" hangingPunct="1"/>
                      <a:r>
                        <a:rPr lang="en-US" sz="2000" b="1" kern="1200" dirty="0">
                          <a:solidFill>
                            <a:srgbClr val="333399"/>
                          </a:solidFill>
                          <a:latin typeface="Arial"/>
                          <a:ea typeface="+mn-ea"/>
                          <a:cs typeface="+mn-cs"/>
                        </a:rPr>
                        <a:t>Consistency</a:t>
                      </a:r>
                    </a:p>
                  </a:txBody>
                  <a:tcPr marL="37610" marR="37610" marT="68308" marB="68308" anchor="ctr">
                    <a:lnL w="2858" cap="flat" cmpd="sng" algn="ctr">
                      <a:solidFill>
                        <a:srgbClr val="DFDFDF"/>
                      </a:solidFill>
                      <a:prstDash val="solid"/>
                      <a:round/>
                      <a:headEnd type="none" w="med" len="med"/>
                      <a:tailEnd type="none" w="med" len="med"/>
                    </a:lnL>
                    <a:lnR w="2858" cap="flat" cmpd="sng" algn="ctr">
                      <a:solidFill>
                        <a:srgbClr val="DFDFDF"/>
                      </a:solidFill>
                      <a:prstDash val="solid"/>
                      <a:round/>
                      <a:headEnd type="none" w="med" len="med"/>
                      <a:tailEnd type="none" w="med" len="med"/>
                    </a:lnR>
                    <a:lnT w="2858" cap="flat" cmpd="sng" algn="ctr">
                      <a:solidFill>
                        <a:srgbClr val="DFDFDF"/>
                      </a:solidFill>
                      <a:prstDash val="solid"/>
                      <a:round/>
                      <a:headEnd type="none" w="med" len="med"/>
                      <a:tailEnd type="none" w="med" len="med"/>
                    </a:lnT>
                    <a:lnB w="2858" cap="flat" cmpd="sng" algn="ctr">
                      <a:solidFill>
                        <a:srgbClr val="DFDFDF"/>
                      </a:solidFill>
                      <a:prstDash val="solid"/>
                      <a:round/>
                      <a:headEnd type="none" w="med" len="med"/>
                      <a:tailEnd type="none" w="med" len="med"/>
                    </a:lnB>
                    <a:solidFill>
                      <a:srgbClr val="FFFFFF"/>
                    </a:solidFill>
                  </a:tcPr>
                </a:tc>
                <a:tc>
                  <a:txBody>
                    <a:bodyPr/>
                    <a:lstStyle/>
                    <a:p>
                      <a:pPr algn="l" defTabSz="914400" rtl="0" eaLnBrk="1" fontAlgn="base" latinLnBrk="0" hangingPunct="1"/>
                      <a:r>
                        <a:rPr lang="en-US" sz="1400" b="1" kern="1200" dirty="0">
                          <a:solidFill>
                            <a:srgbClr val="C00000"/>
                          </a:solidFill>
                          <a:latin typeface="Arial"/>
                          <a:ea typeface="+mn-ea"/>
                          <a:cs typeface="+mn-cs"/>
                        </a:rPr>
                        <a:t>There is less data consistency in the file system.</a:t>
                      </a:r>
                    </a:p>
                  </a:txBody>
                  <a:tcPr marL="94024" marR="94024" marT="131634" marB="131634" anchor="ctr">
                    <a:lnL w="2858" cap="flat" cmpd="sng" algn="ctr">
                      <a:solidFill>
                        <a:srgbClr val="DFDFDF"/>
                      </a:solidFill>
                      <a:prstDash val="solid"/>
                      <a:round/>
                      <a:headEnd type="none" w="med" len="med"/>
                      <a:tailEnd type="none" w="med" len="med"/>
                    </a:lnL>
                    <a:lnR w="2858" cap="flat" cmpd="sng" algn="ctr">
                      <a:solidFill>
                        <a:srgbClr val="DFDFDF"/>
                      </a:solidFill>
                      <a:prstDash val="solid"/>
                      <a:round/>
                      <a:headEnd type="none" w="med" len="med"/>
                      <a:tailEnd type="none" w="med" len="med"/>
                    </a:lnR>
                    <a:lnT w="2858" cap="flat" cmpd="sng" algn="ctr">
                      <a:solidFill>
                        <a:srgbClr val="DFDFDF"/>
                      </a:solidFill>
                      <a:prstDash val="solid"/>
                      <a:round/>
                      <a:headEnd type="none" w="med" len="med"/>
                      <a:tailEnd type="none" w="med" len="med"/>
                    </a:lnT>
                    <a:lnB w="2858" cap="flat" cmpd="sng" algn="ctr">
                      <a:solidFill>
                        <a:srgbClr val="DFDFDF"/>
                      </a:solidFill>
                      <a:prstDash val="solid"/>
                      <a:round/>
                      <a:headEnd type="none" w="med" len="med"/>
                      <a:tailEnd type="none" w="med" len="med"/>
                    </a:lnB>
                    <a:solidFill>
                      <a:srgbClr val="FFFFFF"/>
                    </a:solidFill>
                  </a:tcPr>
                </a:tc>
                <a:tc>
                  <a:txBody>
                    <a:bodyPr/>
                    <a:lstStyle/>
                    <a:p>
                      <a:pPr algn="l" defTabSz="914400" rtl="0" eaLnBrk="1" fontAlgn="base" latinLnBrk="0" hangingPunct="1"/>
                      <a:r>
                        <a:rPr lang="en-US" sz="1400" b="1" kern="1200" dirty="0">
                          <a:solidFill>
                            <a:srgbClr val="C00000"/>
                          </a:solidFill>
                          <a:latin typeface="Arial"/>
                          <a:ea typeface="+mn-ea"/>
                          <a:cs typeface="+mn-cs"/>
                        </a:rPr>
                        <a:t>There is more data consistency because of the process of normalization.</a:t>
                      </a:r>
                    </a:p>
                  </a:txBody>
                  <a:tcPr marL="94024" marR="94024" marT="131634" marB="131634" anchor="ctr">
                    <a:lnL w="2858" cap="flat" cmpd="sng" algn="ctr">
                      <a:solidFill>
                        <a:srgbClr val="DFDFDF"/>
                      </a:solidFill>
                      <a:prstDash val="solid"/>
                      <a:round/>
                      <a:headEnd type="none" w="med" len="med"/>
                      <a:tailEnd type="none" w="med" len="med"/>
                    </a:lnL>
                    <a:lnR w="2858" cap="flat" cmpd="sng" algn="ctr">
                      <a:solidFill>
                        <a:srgbClr val="DFDFDF"/>
                      </a:solidFill>
                      <a:prstDash val="solid"/>
                      <a:round/>
                      <a:headEnd type="none" w="med" len="med"/>
                      <a:tailEnd type="none" w="med" len="med"/>
                    </a:lnR>
                    <a:lnT w="2858" cap="flat" cmpd="sng" algn="ctr">
                      <a:solidFill>
                        <a:srgbClr val="DFDFDF"/>
                      </a:solidFill>
                      <a:prstDash val="solid"/>
                      <a:round/>
                      <a:headEnd type="none" w="med" len="med"/>
                      <a:tailEnd type="none" w="med" len="med"/>
                    </a:lnT>
                    <a:lnB w="2858" cap="flat" cmpd="sng" algn="ctr">
                      <a:solidFill>
                        <a:srgbClr val="DFDFDF"/>
                      </a:solidFill>
                      <a:prstDash val="solid"/>
                      <a:round/>
                      <a:headEnd type="none" w="med" len="med"/>
                      <a:tailEnd type="none" w="med" len="med"/>
                    </a:lnB>
                    <a:solidFill>
                      <a:srgbClr val="FFFFFF"/>
                    </a:solidFill>
                  </a:tcPr>
                </a:tc>
                <a:extLst>
                  <a:ext uri="{0D108BD9-81ED-4DB2-BD59-A6C34878D82A}">
                    <a16:rowId xmlns:a16="http://schemas.microsoft.com/office/drawing/2014/main" val="365363619"/>
                  </a:ext>
                </a:extLst>
              </a:tr>
              <a:tr h="627214">
                <a:tc>
                  <a:txBody>
                    <a:bodyPr/>
                    <a:lstStyle/>
                    <a:p>
                      <a:pPr algn="l" defTabSz="914400" rtl="0" eaLnBrk="1" fontAlgn="base" latinLnBrk="0" hangingPunct="1"/>
                      <a:r>
                        <a:rPr lang="en-US" sz="2000" b="1" kern="1200" dirty="0">
                          <a:solidFill>
                            <a:srgbClr val="333399"/>
                          </a:solidFill>
                          <a:latin typeface="Arial"/>
                          <a:ea typeface="+mn-ea"/>
                          <a:cs typeface="+mn-cs"/>
                        </a:rPr>
                        <a:t>Complexity</a:t>
                      </a:r>
                    </a:p>
                  </a:txBody>
                  <a:tcPr marL="37610" marR="37610" marT="68308" marB="68308" anchor="ctr">
                    <a:lnL w="2858" cap="flat" cmpd="sng" algn="ctr">
                      <a:solidFill>
                        <a:srgbClr val="DFDFDF"/>
                      </a:solidFill>
                      <a:prstDash val="solid"/>
                      <a:round/>
                      <a:headEnd type="none" w="med" len="med"/>
                      <a:tailEnd type="none" w="med" len="med"/>
                    </a:lnL>
                    <a:lnR w="2858" cap="flat" cmpd="sng" algn="ctr">
                      <a:solidFill>
                        <a:srgbClr val="DFDFDF"/>
                      </a:solidFill>
                      <a:prstDash val="solid"/>
                      <a:round/>
                      <a:headEnd type="none" w="med" len="med"/>
                      <a:tailEnd type="none" w="med" len="med"/>
                    </a:lnR>
                    <a:lnT w="2858" cap="flat" cmpd="sng" algn="ctr">
                      <a:solidFill>
                        <a:srgbClr val="DFDFDF"/>
                      </a:solidFill>
                      <a:prstDash val="solid"/>
                      <a:round/>
                      <a:headEnd type="none" w="med" len="med"/>
                      <a:tailEnd type="none" w="med" len="med"/>
                    </a:lnT>
                    <a:lnB w="2858" cap="flat" cmpd="sng" algn="ctr">
                      <a:solidFill>
                        <a:srgbClr val="DFDFDF"/>
                      </a:solidFill>
                      <a:prstDash val="solid"/>
                      <a:round/>
                      <a:headEnd type="none" w="med" len="med"/>
                      <a:tailEnd type="none" w="med" len="med"/>
                    </a:lnB>
                    <a:solidFill>
                      <a:srgbClr val="FFFFFF"/>
                    </a:solidFill>
                  </a:tcPr>
                </a:tc>
                <a:tc>
                  <a:txBody>
                    <a:bodyPr/>
                    <a:lstStyle/>
                    <a:p>
                      <a:pPr algn="l" defTabSz="914400" rtl="0" eaLnBrk="1" fontAlgn="base" latinLnBrk="0" hangingPunct="1"/>
                      <a:r>
                        <a:rPr lang="en-US" sz="1400" b="1" kern="1200">
                          <a:solidFill>
                            <a:srgbClr val="C00000"/>
                          </a:solidFill>
                          <a:latin typeface="Arial"/>
                          <a:ea typeface="+mn-ea"/>
                          <a:cs typeface="+mn-cs"/>
                        </a:rPr>
                        <a:t>It is less complex as compared to DBMS.</a:t>
                      </a:r>
                    </a:p>
                  </a:txBody>
                  <a:tcPr marL="94024" marR="94024" marT="131634" marB="131634" anchor="ctr">
                    <a:lnL w="2858" cap="flat" cmpd="sng" algn="ctr">
                      <a:solidFill>
                        <a:srgbClr val="DFDFDF"/>
                      </a:solidFill>
                      <a:prstDash val="solid"/>
                      <a:round/>
                      <a:headEnd type="none" w="med" len="med"/>
                      <a:tailEnd type="none" w="med" len="med"/>
                    </a:lnL>
                    <a:lnR w="2858" cap="flat" cmpd="sng" algn="ctr">
                      <a:solidFill>
                        <a:srgbClr val="DFDFDF"/>
                      </a:solidFill>
                      <a:prstDash val="solid"/>
                      <a:round/>
                      <a:headEnd type="none" w="med" len="med"/>
                      <a:tailEnd type="none" w="med" len="med"/>
                    </a:lnR>
                    <a:lnT w="2858" cap="flat" cmpd="sng" algn="ctr">
                      <a:solidFill>
                        <a:srgbClr val="DFDFDF"/>
                      </a:solidFill>
                      <a:prstDash val="solid"/>
                      <a:round/>
                      <a:headEnd type="none" w="med" len="med"/>
                      <a:tailEnd type="none" w="med" len="med"/>
                    </a:lnT>
                    <a:lnB w="2858" cap="flat" cmpd="sng" algn="ctr">
                      <a:solidFill>
                        <a:srgbClr val="DFDFDF"/>
                      </a:solidFill>
                      <a:prstDash val="solid"/>
                      <a:round/>
                      <a:headEnd type="none" w="med" len="med"/>
                      <a:tailEnd type="none" w="med" len="med"/>
                    </a:lnB>
                    <a:solidFill>
                      <a:srgbClr val="FFFFFF"/>
                    </a:solidFill>
                  </a:tcPr>
                </a:tc>
                <a:tc>
                  <a:txBody>
                    <a:bodyPr/>
                    <a:lstStyle/>
                    <a:p>
                      <a:pPr algn="l" defTabSz="914400" rtl="0" eaLnBrk="1" fontAlgn="base" latinLnBrk="0" hangingPunct="1"/>
                      <a:r>
                        <a:rPr lang="en-US" sz="1400" b="1" kern="1200" dirty="0">
                          <a:solidFill>
                            <a:srgbClr val="C00000"/>
                          </a:solidFill>
                          <a:latin typeface="Arial"/>
                          <a:ea typeface="+mn-ea"/>
                          <a:cs typeface="+mn-cs"/>
                        </a:rPr>
                        <a:t>It has more complexity in handling as compared to the file system.</a:t>
                      </a:r>
                    </a:p>
                  </a:txBody>
                  <a:tcPr marL="94024" marR="94024" marT="131634" marB="131634" anchor="ctr">
                    <a:lnL w="2858" cap="flat" cmpd="sng" algn="ctr">
                      <a:solidFill>
                        <a:srgbClr val="DFDFDF"/>
                      </a:solidFill>
                      <a:prstDash val="solid"/>
                      <a:round/>
                      <a:headEnd type="none" w="med" len="med"/>
                      <a:tailEnd type="none" w="med" len="med"/>
                    </a:lnL>
                    <a:lnR w="2858" cap="flat" cmpd="sng" algn="ctr">
                      <a:solidFill>
                        <a:srgbClr val="DFDFDF"/>
                      </a:solidFill>
                      <a:prstDash val="solid"/>
                      <a:round/>
                      <a:headEnd type="none" w="med" len="med"/>
                      <a:tailEnd type="none" w="med" len="med"/>
                    </a:lnR>
                    <a:lnT w="2858" cap="flat" cmpd="sng" algn="ctr">
                      <a:solidFill>
                        <a:srgbClr val="DFDFDF"/>
                      </a:solidFill>
                      <a:prstDash val="solid"/>
                      <a:round/>
                      <a:headEnd type="none" w="med" len="med"/>
                      <a:tailEnd type="none" w="med" len="med"/>
                    </a:lnT>
                    <a:lnB w="2858" cap="flat" cmpd="sng" algn="ctr">
                      <a:solidFill>
                        <a:srgbClr val="DFDFDF"/>
                      </a:solidFill>
                      <a:prstDash val="solid"/>
                      <a:round/>
                      <a:headEnd type="none" w="med" len="med"/>
                      <a:tailEnd type="none" w="med" len="med"/>
                    </a:lnB>
                    <a:solidFill>
                      <a:srgbClr val="FFFFFF"/>
                    </a:solidFill>
                  </a:tcPr>
                </a:tc>
                <a:extLst>
                  <a:ext uri="{0D108BD9-81ED-4DB2-BD59-A6C34878D82A}">
                    <a16:rowId xmlns:a16="http://schemas.microsoft.com/office/drawing/2014/main" val="1694777422"/>
                  </a:ext>
                </a:extLst>
              </a:tr>
            </a:tbl>
          </a:graphicData>
        </a:graphic>
      </p:graphicFrame>
    </p:spTree>
    <p:extLst>
      <p:ext uri="{BB962C8B-B14F-4D97-AF65-F5344CB8AC3E}">
        <p14:creationId xmlns:p14="http://schemas.microsoft.com/office/powerpoint/2010/main" val="3391907281"/>
      </p:ext>
    </p:extLst>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2" name="Slide Number Placeholder 1"/>
          <p:cNvSpPr>
            <a:spLocks noGrp="1"/>
          </p:cNvSpPr>
          <p:nvPr>
            <p:ph type="sldNum" sz="quarter" idx="14"/>
          </p:nvPr>
        </p:nvSpPr>
        <p:spPr/>
        <p:txBody>
          <a:bodyPr/>
          <a:lstStyle/>
          <a:p>
            <a:fld id="{45A3C14A-F937-4231-B6F1-40B429FAFB2F}" type="slidenum">
              <a:rPr lang="en-NZ" smtClean="0"/>
              <a:pPr/>
              <a:t>26</a:t>
            </a:fld>
            <a:endParaRPr lang="en-NZ" dirty="0"/>
          </a:p>
        </p:txBody>
      </p:sp>
      <p:sp>
        <p:nvSpPr>
          <p:cNvPr id="3" name="Title 2"/>
          <p:cNvSpPr>
            <a:spLocks noGrp="1"/>
          </p:cNvSpPr>
          <p:nvPr>
            <p:ph type="title"/>
          </p:nvPr>
        </p:nvSpPr>
        <p:spPr>
          <a:xfrm>
            <a:off x="695400" y="395786"/>
            <a:ext cx="9145016" cy="838202"/>
          </a:xfrm>
        </p:spPr>
        <p:txBody>
          <a:bodyPr/>
          <a:lstStyle/>
          <a:p>
            <a:r>
              <a:rPr lang="en-US" b="1" dirty="0">
                <a:solidFill>
                  <a:srgbClr val="FF0000"/>
                </a:solidFill>
              </a:rPr>
              <a:t>Difference between File System and DBMS</a:t>
            </a:r>
            <a:endParaRPr lang="en-US" dirty="0">
              <a:solidFill>
                <a:srgbClr val="FF0000"/>
              </a:solidFill>
            </a:endParaRPr>
          </a:p>
        </p:txBody>
      </p:sp>
      <p:graphicFrame>
        <p:nvGraphicFramePr>
          <p:cNvPr id="5" name="Table 4"/>
          <p:cNvGraphicFramePr>
            <a:graphicFrameLocks noGrp="1"/>
          </p:cNvGraphicFramePr>
          <p:nvPr/>
        </p:nvGraphicFramePr>
        <p:xfrm>
          <a:off x="838200" y="3429175"/>
          <a:ext cx="10515599" cy="1104900"/>
        </p:xfrm>
        <a:graphic>
          <a:graphicData uri="http://schemas.openxmlformats.org/drawingml/2006/table">
            <a:tbl>
              <a:tblPr/>
              <a:tblGrid>
                <a:gridCol w="2002971">
                  <a:extLst>
                    <a:ext uri="{9D8B030D-6E8A-4147-A177-3AD203B41FA5}">
                      <a16:colId xmlns:a16="http://schemas.microsoft.com/office/drawing/2014/main" val="3815257725"/>
                    </a:ext>
                  </a:extLst>
                </a:gridCol>
                <a:gridCol w="4256314">
                  <a:extLst>
                    <a:ext uri="{9D8B030D-6E8A-4147-A177-3AD203B41FA5}">
                      <a16:colId xmlns:a16="http://schemas.microsoft.com/office/drawing/2014/main" val="3999388669"/>
                    </a:ext>
                  </a:extLst>
                </a:gridCol>
                <a:gridCol w="4256314">
                  <a:extLst>
                    <a:ext uri="{9D8B030D-6E8A-4147-A177-3AD203B41FA5}">
                      <a16:colId xmlns:a16="http://schemas.microsoft.com/office/drawing/2014/main" val="929430604"/>
                    </a:ext>
                  </a:extLst>
                </a:gridCol>
              </a:tblGrid>
              <a:tr h="0">
                <a:tc>
                  <a:txBody>
                    <a:bodyPr/>
                    <a:lstStyle/>
                    <a:p>
                      <a:pPr algn="just" rtl="0" fontAlgn="base"/>
                      <a:r>
                        <a:rPr lang="en-US" b="1">
                          <a:effectLst/>
                        </a:rPr>
                        <a:t>Security Constraints</a:t>
                      </a:r>
                    </a:p>
                  </a:txBody>
                  <a:tcPr marL="38100" marR="38100" marT="69199" marB="69199" anchor="ctr">
                    <a:lnL w="2858" cap="flat" cmpd="sng" algn="ctr">
                      <a:solidFill>
                        <a:srgbClr val="DFDFDF"/>
                      </a:solidFill>
                      <a:prstDash val="solid"/>
                      <a:round/>
                      <a:headEnd type="none" w="med" len="med"/>
                      <a:tailEnd type="none" w="med" len="med"/>
                    </a:lnL>
                    <a:lnR w="2858" cap="flat" cmpd="sng" algn="ctr">
                      <a:solidFill>
                        <a:srgbClr val="DFDFDF"/>
                      </a:solidFill>
                      <a:prstDash val="solid"/>
                      <a:round/>
                      <a:headEnd type="none" w="med" len="med"/>
                      <a:tailEnd type="none" w="med" len="med"/>
                    </a:lnR>
                    <a:lnT w="2858" cap="flat" cmpd="sng" algn="ctr">
                      <a:solidFill>
                        <a:srgbClr val="DFDFDF"/>
                      </a:solidFill>
                      <a:prstDash val="solid"/>
                      <a:round/>
                      <a:headEnd type="none" w="med" len="med"/>
                      <a:tailEnd type="none" w="med" len="med"/>
                    </a:lnT>
                    <a:lnB w="2858" cap="flat" cmpd="sng" algn="ctr">
                      <a:solidFill>
                        <a:srgbClr val="DFDFDF"/>
                      </a:solidFill>
                      <a:prstDash val="solid"/>
                      <a:round/>
                      <a:headEnd type="none" w="med" len="med"/>
                      <a:tailEnd type="none" w="med" len="med"/>
                    </a:lnB>
                    <a:solidFill>
                      <a:srgbClr val="FFFFFF"/>
                    </a:solidFill>
                  </a:tcPr>
                </a:tc>
                <a:tc>
                  <a:txBody>
                    <a:bodyPr/>
                    <a:lstStyle/>
                    <a:p>
                      <a:pPr algn="just" rtl="0" fontAlgn="base"/>
                      <a:r>
                        <a:rPr lang="en-US" sz="1250" b="0">
                          <a:effectLst/>
                        </a:rPr>
                        <a:t>File systems provide less security in comparison to DBMS.</a:t>
                      </a:r>
                    </a:p>
                  </a:txBody>
                  <a:tcPr marL="95250" marR="95250" marT="133350" marB="133350" anchor="ctr">
                    <a:lnL w="2858" cap="flat" cmpd="sng" algn="ctr">
                      <a:solidFill>
                        <a:srgbClr val="DFDFDF"/>
                      </a:solidFill>
                      <a:prstDash val="solid"/>
                      <a:round/>
                      <a:headEnd type="none" w="med" len="med"/>
                      <a:tailEnd type="none" w="med" len="med"/>
                    </a:lnL>
                    <a:lnR w="2858" cap="flat" cmpd="sng" algn="ctr">
                      <a:solidFill>
                        <a:srgbClr val="DFDFDF"/>
                      </a:solidFill>
                      <a:prstDash val="solid"/>
                      <a:round/>
                      <a:headEnd type="none" w="med" len="med"/>
                      <a:tailEnd type="none" w="med" len="med"/>
                    </a:lnR>
                    <a:lnT w="2858" cap="flat" cmpd="sng" algn="ctr">
                      <a:solidFill>
                        <a:srgbClr val="DFDFDF"/>
                      </a:solidFill>
                      <a:prstDash val="solid"/>
                      <a:round/>
                      <a:headEnd type="none" w="med" len="med"/>
                      <a:tailEnd type="none" w="med" len="med"/>
                    </a:lnT>
                    <a:lnB w="2858" cap="flat" cmpd="sng" algn="ctr">
                      <a:solidFill>
                        <a:srgbClr val="DFDFDF"/>
                      </a:solidFill>
                      <a:prstDash val="solid"/>
                      <a:round/>
                      <a:headEnd type="none" w="med" len="med"/>
                      <a:tailEnd type="none" w="med" len="med"/>
                    </a:lnB>
                    <a:solidFill>
                      <a:srgbClr val="FFFFFF"/>
                    </a:solidFill>
                  </a:tcPr>
                </a:tc>
                <a:tc>
                  <a:txBody>
                    <a:bodyPr/>
                    <a:lstStyle/>
                    <a:p>
                      <a:pPr algn="just" rtl="0" fontAlgn="base"/>
                      <a:r>
                        <a:rPr lang="en-US" sz="1250" b="0" dirty="0">
                          <a:effectLst/>
                        </a:rPr>
                        <a:t>DBMS has more security mechanisms as compared to file systems.</a:t>
                      </a:r>
                    </a:p>
                  </a:txBody>
                  <a:tcPr marL="95250" marR="95250" marT="133350" marB="133350" anchor="ctr">
                    <a:lnL w="2858" cap="flat" cmpd="sng" algn="ctr">
                      <a:solidFill>
                        <a:srgbClr val="DFDFDF"/>
                      </a:solidFill>
                      <a:prstDash val="solid"/>
                      <a:round/>
                      <a:headEnd type="none" w="med" len="med"/>
                      <a:tailEnd type="none" w="med" len="med"/>
                    </a:lnL>
                    <a:lnR w="2858" cap="flat" cmpd="sng" algn="ctr">
                      <a:solidFill>
                        <a:srgbClr val="DFDFDF"/>
                      </a:solidFill>
                      <a:prstDash val="solid"/>
                      <a:round/>
                      <a:headEnd type="none" w="med" len="med"/>
                      <a:tailEnd type="none" w="med" len="med"/>
                    </a:lnR>
                    <a:lnT w="2858" cap="flat" cmpd="sng" algn="ctr">
                      <a:solidFill>
                        <a:srgbClr val="DFDFDF"/>
                      </a:solidFill>
                      <a:prstDash val="solid"/>
                      <a:round/>
                      <a:headEnd type="none" w="med" len="med"/>
                      <a:tailEnd type="none" w="med" len="med"/>
                    </a:lnT>
                    <a:lnB w="2858" cap="flat" cmpd="sng" algn="ctr">
                      <a:solidFill>
                        <a:srgbClr val="DFDFDF"/>
                      </a:solidFill>
                      <a:prstDash val="solid"/>
                      <a:round/>
                      <a:headEnd type="none" w="med" len="med"/>
                      <a:tailEnd type="none" w="med" len="med"/>
                    </a:lnB>
                    <a:solidFill>
                      <a:srgbClr val="FFFFFF"/>
                    </a:solidFill>
                  </a:tcPr>
                </a:tc>
                <a:extLst>
                  <a:ext uri="{0D108BD9-81ED-4DB2-BD59-A6C34878D82A}">
                    <a16:rowId xmlns:a16="http://schemas.microsoft.com/office/drawing/2014/main" val="3461208405"/>
                  </a:ext>
                </a:extLst>
              </a:tr>
              <a:tr h="0">
                <a:tc>
                  <a:txBody>
                    <a:bodyPr/>
                    <a:lstStyle/>
                    <a:p>
                      <a:pPr algn="just" rtl="0" fontAlgn="base"/>
                      <a:r>
                        <a:rPr lang="en-US" b="1" dirty="0">
                          <a:effectLst/>
                        </a:rPr>
                        <a:t>Cost</a:t>
                      </a:r>
                    </a:p>
                  </a:txBody>
                  <a:tcPr marL="38100" marR="38100" marT="69199" marB="69199" anchor="ctr">
                    <a:lnL w="2858" cap="flat" cmpd="sng" algn="ctr">
                      <a:solidFill>
                        <a:srgbClr val="DFDFDF"/>
                      </a:solidFill>
                      <a:prstDash val="solid"/>
                      <a:round/>
                      <a:headEnd type="none" w="med" len="med"/>
                      <a:tailEnd type="none" w="med" len="med"/>
                    </a:lnL>
                    <a:lnR w="2858" cap="flat" cmpd="sng" algn="ctr">
                      <a:solidFill>
                        <a:srgbClr val="DFDFDF"/>
                      </a:solidFill>
                      <a:prstDash val="solid"/>
                      <a:round/>
                      <a:headEnd type="none" w="med" len="med"/>
                      <a:tailEnd type="none" w="med" len="med"/>
                    </a:lnR>
                    <a:lnT w="2858" cap="flat" cmpd="sng" algn="ctr">
                      <a:solidFill>
                        <a:srgbClr val="DFDFDF"/>
                      </a:solidFill>
                      <a:prstDash val="solid"/>
                      <a:round/>
                      <a:headEnd type="none" w="med" len="med"/>
                      <a:tailEnd type="none" w="med" len="med"/>
                    </a:lnT>
                    <a:lnB w="2858" cap="flat" cmpd="sng" algn="ctr">
                      <a:solidFill>
                        <a:srgbClr val="DFDFDF"/>
                      </a:solidFill>
                      <a:prstDash val="solid"/>
                      <a:round/>
                      <a:headEnd type="none" w="med" len="med"/>
                      <a:tailEnd type="none" w="med" len="med"/>
                    </a:lnB>
                    <a:solidFill>
                      <a:srgbClr val="FFFFFF"/>
                    </a:solidFill>
                  </a:tcPr>
                </a:tc>
                <a:tc>
                  <a:txBody>
                    <a:bodyPr/>
                    <a:lstStyle/>
                    <a:p>
                      <a:pPr algn="just" rtl="0" fontAlgn="base"/>
                      <a:r>
                        <a:rPr lang="en-US" sz="1250" b="0" dirty="0">
                          <a:effectLst/>
                        </a:rPr>
                        <a:t>It is less expensive than DBMS.</a:t>
                      </a:r>
                    </a:p>
                  </a:txBody>
                  <a:tcPr marL="95250" marR="95250" marT="133350" marB="133350" anchor="ctr">
                    <a:lnL w="2858" cap="flat" cmpd="sng" algn="ctr">
                      <a:solidFill>
                        <a:srgbClr val="DFDFDF"/>
                      </a:solidFill>
                      <a:prstDash val="solid"/>
                      <a:round/>
                      <a:headEnd type="none" w="med" len="med"/>
                      <a:tailEnd type="none" w="med" len="med"/>
                    </a:lnL>
                    <a:lnR w="2858" cap="flat" cmpd="sng" algn="ctr">
                      <a:solidFill>
                        <a:srgbClr val="DFDFDF"/>
                      </a:solidFill>
                      <a:prstDash val="solid"/>
                      <a:round/>
                      <a:headEnd type="none" w="med" len="med"/>
                      <a:tailEnd type="none" w="med" len="med"/>
                    </a:lnR>
                    <a:lnT w="2858" cap="flat" cmpd="sng" algn="ctr">
                      <a:solidFill>
                        <a:srgbClr val="DFDFDF"/>
                      </a:solidFill>
                      <a:prstDash val="solid"/>
                      <a:round/>
                      <a:headEnd type="none" w="med" len="med"/>
                      <a:tailEnd type="none" w="med" len="med"/>
                    </a:lnT>
                    <a:lnB w="2858" cap="flat" cmpd="sng" algn="ctr">
                      <a:solidFill>
                        <a:srgbClr val="DFDFDF"/>
                      </a:solidFill>
                      <a:prstDash val="solid"/>
                      <a:round/>
                      <a:headEnd type="none" w="med" len="med"/>
                      <a:tailEnd type="none" w="med" len="med"/>
                    </a:lnB>
                    <a:solidFill>
                      <a:srgbClr val="FFFFFF"/>
                    </a:solidFill>
                  </a:tcPr>
                </a:tc>
                <a:tc>
                  <a:txBody>
                    <a:bodyPr/>
                    <a:lstStyle/>
                    <a:p>
                      <a:pPr algn="just" rtl="0" fontAlgn="base"/>
                      <a:r>
                        <a:rPr lang="en-US" sz="1250" b="0" dirty="0">
                          <a:effectLst/>
                        </a:rPr>
                        <a:t>It has a comparatively higher cost than a file system.</a:t>
                      </a:r>
                    </a:p>
                  </a:txBody>
                  <a:tcPr marL="95250" marR="95250" marT="133350" marB="133350" anchor="ctr">
                    <a:lnL w="2858" cap="flat" cmpd="sng" algn="ctr">
                      <a:solidFill>
                        <a:srgbClr val="DFDFDF"/>
                      </a:solidFill>
                      <a:prstDash val="solid"/>
                      <a:round/>
                      <a:headEnd type="none" w="med" len="med"/>
                      <a:tailEnd type="none" w="med" len="med"/>
                    </a:lnL>
                    <a:lnR w="2858" cap="flat" cmpd="sng" algn="ctr">
                      <a:solidFill>
                        <a:srgbClr val="DFDFDF"/>
                      </a:solidFill>
                      <a:prstDash val="solid"/>
                      <a:round/>
                      <a:headEnd type="none" w="med" len="med"/>
                      <a:tailEnd type="none" w="med" len="med"/>
                    </a:lnR>
                    <a:lnT w="2858" cap="flat" cmpd="sng" algn="ctr">
                      <a:solidFill>
                        <a:srgbClr val="DFDFDF"/>
                      </a:solidFill>
                      <a:prstDash val="solid"/>
                      <a:round/>
                      <a:headEnd type="none" w="med" len="med"/>
                      <a:tailEnd type="none" w="med" len="med"/>
                    </a:lnT>
                    <a:lnB w="2858" cap="flat" cmpd="sng" algn="ctr">
                      <a:solidFill>
                        <a:srgbClr val="DFDFDF"/>
                      </a:solidFill>
                      <a:prstDash val="solid"/>
                      <a:round/>
                      <a:headEnd type="none" w="med" len="med"/>
                      <a:tailEnd type="none" w="med" len="med"/>
                    </a:lnB>
                    <a:solidFill>
                      <a:srgbClr val="FFFFFF"/>
                    </a:solidFill>
                  </a:tcPr>
                </a:tc>
                <a:extLst>
                  <a:ext uri="{0D108BD9-81ED-4DB2-BD59-A6C34878D82A}">
                    <a16:rowId xmlns:a16="http://schemas.microsoft.com/office/drawing/2014/main" val="113698331"/>
                  </a:ext>
                </a:extLst>
              </a:tr>
            </a:tbl>
          </a:graphicData>
        </a:graphic>
      </p:graphicFrame>
      <p:graphicFrame>
        <p:nvGraphicFramePr>
          <p:cNvPr id="6" name="Table 5"/>
          <p:cNvGraphicFramePr>
            <a:graphicFrameLocks noGrp="1"/>
          </p:cNvGraphicFramePr>
          <p:nvPr>
            <p:extLst>
              <p:ext uri="{D42A27DB-BD31-4B8C-83A1-F6EECF244321}">
                <p14:modId xmlns:p14="http://schemas.microsoft.com/office/powerpoint/2010/main" val="2708825621"/>
              </p:ext>
            </p:extLst>
          </p:nvPr>
        </p:nvGraphicFramePr>
        <p:xfrm>
          <a:off x="838200" y="1484784"/>
          <a:ext cx="10515599" cy="4611218"/>
        </p:xfrm>
        <a:graphic>
          <a:graphicData uri="http://schemas.openxmlformats.org/drawingml/2006/table">
            <a:tbl>
              <a:tblPr/>
              <a:tblGrid>
                <a:gridCol w="2002971">
                  <a:extLst>
                    <a:ext uri="{9D8B030D-6E8A-4147-A177-3AD203B41FA5}">
                      <a16:colId xmlns:a16="http://schemas.microsoft.com/office/drawing/2014/main" val="1362436532"/>
                    </a:ext>
                  </a:extLst>
                </a:gridCol>
                <a:gridCol w="4256314">
                  <a:extLst>
                    <a:ext uri="{9D8B030D-6E8A-4147-A177-3AD203B41FA5}">
                      <a16:colId xmlns:a16="http://schemas.microsoft.com/office/drawing/2014/main" val="13037211"/>
                    </a:ext>
                  </a:extLst>
                </a:gridCol>
                <a:gridCol w="4256314">
                  <a:extLst>
                    <a:ext uri="{9D8B030D-6E8A-4147-A177-3AD203B41FA5}">
                      <a16:colId xmlns:a16="http://schemas.microsoft.com/office/drawing/2014/main" val="2936136130"/>
                    </a:ext>
                  </a:extLst>
                </a:gridCol>
              </a:tblGrid>
              <a:tr h="742788">
                <a:tc>
                  <a:txBody>
                    <a:bodyPr/>
                    <a:lstStyle/>
                    <a:p>
                      <a:pPr algn="just" rtl="0" fontAlgn="base"/>
                      <a:r>
                        <a:rPr lang="en-US" b="1" dirty="0">
                          <a:solidFill>
                            <a:srgbClr val="48367D"/>
                          </a:solidFill>
                          <a:effectLst/>
                        </a:rPr>
                        <a:t>Security Constraints</a:t>
                      </a:r>
                    </a:p>
                  </a:txBody>
                  <a:tcPr marL="38100" marR="38100" marT="69199" marB="69199" anchor="ctr">
                    <a:lnL w="2858" cap="flat" cmpd="sng" algn="ctr">
                      <a:solidFill>
                        <a:srgbClr val="DFDFDF"/>
                      </a:solidFill>
                      <a:prstDash val="solid"/>
                      <a:round/>
                      <a:headEnd type="none" w="med" len="med"/>
                      <a:tailEnd type="none" w="med" len="med"/>
                    </a:lnL>
                    <a:lnR w="2858" cap="flat" cmpd="sng" algn="ctr">
                      <a:solidFill>
                        <a:srgbClr val="DFDFDF"/>
                      </a:solidFill>
                      <a:prstDash val="solid"/>
                      <a:round/>
                      <a:headEnd type="none" w="med" len="med"/>
                      <a:tailEnd type="none" w="med" len="med"/>
                    </a:lnR>
                    <a:lnT w="2858" cap="flat" cmpd="sng" algn="ctr">
                      <a:solidFill>
                        <a:srgbClr val="DFDFDF"/>
                      </a:solidFill>
                      <a:prstDash val="solid"/>
                      <a:round/>
                      <a:headEnd type="none" w="med" len="med"/>
                      <a:tailEnd type="none" w="med" len="med"/>
                    </a:lnT>
                    <a:lnB w="2858" cap="flat" cmpd="sng" algn="ctr">
                      <a:solidFill>
                        <a:srgbClr val="DFDFDF"/>
                      </a:solidFill>
                      <a:prstDash val="solid"/>
                      <a:round/>
                      <a:headEnd type="none" w="med" len="med"/>
                      <a:tailEnd type="none" w="med" len="med"/>
                    </a:lnB>
                    <a:solidFill>
                      <a:srgbClr val="FFFFFF"/>
                    </a:solidFill>
                  </a:tcPr>
                </a:tc>
                <a:tc>
                  <a:txBody>
                    <a:bodyPr/>
                    <a:lstStyle/>
                    <a:p>
                      <a:pPr algn="just" rtl="0" fontAlgn="base"/>
                      <a:r>
                        <a:rPr lang="en-US" sz="1400" b="0" dirty="0">
                          <a:solidFill>
                            <a:srgbClr val="C00000"/>
                          </a:solidFill>
                          <a:effectLst/>
                        </a:rPr>
                        <a:t>File systems provide less security in comparison to DBMS.</a:t>
                      </a:r>
                    </a:p>
                  </a:txBody>
                  <a:tcPr marL="95250" marR="95250" marT="133350" marB="133350" anchor="ctr">
                    <a:lnL w="2858" cap="flat" cmpd="sng" algn="ctr">
                      <a:solidFill>
                        <a:srgbClr val="DFDFDF"/>
                      </a:solidFill>
                      <a:prstDash val="solid"/>
                      <a:round/>
                      <a:headEnd type="none" w="med" len="med"/>
                      <a:tailEnd type="none" w="med" len="med"/>
                    </a:lnL>
                    <a:lnR w="2858" cap="flat" cmpd="sng" algn="ctr">
                      <a:solidFill>
                        <a:srgbClr val="DFDFDF"/>
                      </a:solidFill>
                      <a:prstDash val="solid"/>
                      <a:round/>
                      <a:headEnd type="none" w="med" len="med"/>
                      <a:tailEnd type="none" w="med" len="med"/>
                    </a:lnR>
                    <a:lnT w="2858" cap="flat" cmpd="sng" algn="ctr">
                      <a:solidFill>
                        <a:srgbClr val="DFDFDF"/>
                      </a:solidFill>
                      <a:prstDash val="solid"/>
                      <a:round/>
                      <a:headEnd type="none" w="med" len="med"/>
                      <a:tailEnd type="none" w="med" len="med"/>
                    </a:lnT>
                    <a:lnB w="2858" cap="flat" cmpd="sng" algn="ctr">
                      <a:solidFill>
                        <a:srgbClr val="DFDFDF"/>
                      </a:solidFill>
                      <a:prstDash val="solid"/>
                      <a:round/>
                      <a:headEnd type="none" w="med" len="med"/>
                      <a:tailEnd type="none" w="med" len="med"/>
                    </a:lnB>
                    <a:solidFill>
                      <a:srgbClr val="FFFFFF"/>
                    </a:solidFill>
                  </a:tcPr>
                </a:tc>
                <a:tc>
                  <a:txBody>
                    <a:bodyPr/>
                    <a:lstStyle/>
                    <a:p>
                      <a:pPr algn="just" rtl="0" fontAlgn="base"/>
                      <a:r>
                        <a:rPr lang="en-US" sz="1400" b="0">
                          <a:solidFill>
                            <a:srgbClr val="C00000"/>
                          </a:solidFill>
                          <a:effectLst/>
                        </a:rPr>
                        <a:t>DBMS has more security mechanisms as compared to file systems.</a:t>
                      </a:r>
                    </a:p>
                  </a:txBody>
                  <a:tcPr marL="95250" marR="95250" marT="133350" marB="133350" anchor="ctr">
                    <a:lnL w="2858" cap="flat" cmpd="sng" algn="ctr">
                      <a:solidFill>
                        <a:srgbClr val="DFDFDF"/>
                      </a:solidFill>
                      <a:prstDash val="solid"/>
                      <a:round/>
                      <a:headEnd type="none" w="med" len="med"/>
                      <a:tailEnd type="none" w="med" len="med"/>
                    </a:lnL>
                    <a:lnR w="2858" cap="flat" cmpd="sng" algn="ctr">
                      <a:solidFill>
                        <a:srgbClr val="DFDFDF"/>
                      </a:solidFill>
                      <a:prstDash val="solid"/>
                      <a:round/>
                      <a:headEnd type="none" w="med" len="med"/>
                      <a:tailEnd type="none" w="med" len="med"/>
                    </a:lnR>
                    <a:lnT w="2858" cap="flat" cmpd="sng" algn="ctr">
                      <a:solidFill>
                        <a:srgbClr val="DFDFDF"/>
                      </a:solidFill>
                      <a:prstDash val="solid"/>
                      <a:round/>
                      <a:headEnd type="none" w="med" len="med"/>
                      <a:tailEnd type="none" w="med" len="med"/>
                    </a:lnT>
                    <a:lnB w="2858" cap="flat" cmpd="sng" algn="ctr">
                      <a:solidFill>
                        <a:srgbClr val="DFDFDF"/>
                      </a:solidFill>
                      <a:prstDash val="solid"/>
                      <a:round/>
                      <a:headEnd type="none" w="med" len="med"/>
                      <a:tailEnd type="none" w="med" len="med"/>
                    </a:lnB>
                    <a:solidFill>
                      <a:srgbClr val="FFFFFF"/>
                    </a:solidFill>
                  </a:tcPr>
                </a:tc>
                <a:extLst>
                  <a:ext uri="{0D108BD9-81ED-4DB2-BD59-A6C34878D82A}">
                    <a16:rowId xmlns:a16="http://schemas.microsoft.com/office/drawing/2014/main" val="3015242536"/>
                  </a:ext>
                </a:extLst>
              </a:tr>
              <a:tr h="514238">
                <a:tc>
                  <a:txBody>
                    <a:bodyPr/>
                    <a:lstStyle/>
                    <a:p>
                      <a:pPr algn="just" rtl="0" fontAlgn="base"/>
                      <a:r>
                        <a:rPr lang="en-US" b="1" dirty="0">
                          <a:solidFill>
                            <a:srgbClr val="48367D"/>
                          </a:solidFill>
                          <a:effectLst/>
                        </a:rPr>
                        <a:t>Cost</a:t>
                      </a:r>
                    </a:p>
                  </a:txBody>
                  <a:tcPr marL="38100" marR="38100" marT="69199" marB="69199" anchor="ctr">
                    <a:lnL w="2858" cap="flat" cmpd="sng" algn="ctr">
                      <a:solidFill>
                        <a:srgbClr val="DFDFDF"/>
                      </a:solidFill>
                      <a:prstDash val="solid"/>
                      <a:round/>
                      <a:headEnd type="none" w="med" len="med"/>
                      <a:tailEnd type="none" w="med" len="med"/>
                    </a:lnL>
                    <a:lnR w="2858" cap="flat" cmpd="sng" algn="ctr">
                      <a:solidFill>
                        <a:srgbClr val="DFDFDF"/>
                      </a:solidFill>
                      <a:prstDash val="solid"/>
                      <a:round/>
                      <a:headEnd type="none" w="med" len="med"/>
                      <a:tailEnd type="none" w="med" len="med"/>
                    </a:lnR>
                    <a:lnT w="2858" cap="flat" cmpd="sng" algn="ctr">
                      <a:solidFill>
                        <a:srgbClr val="DFDFDF"/>
                      </a:solidFill>
                      <a:prstDash val="solid"/>
                      <a:round/>
                      <a:headEnd type="none" w="med" len="med"/>
                      <a:tailEnd type="none" w="med" len="med"/>
                    </a:lnT>
                    <a:lnB w="2858" cap="flat" cmpd="sng" algn="ctr">
                      <a:solidFill>
                        <a:srgbClr val="DFDFDF"/>
                      </a:solidFill>
                      <a:prstDash val="solid"/>
                      <a:round/>
                      <a:headEnd type="none" w="med" len="med"/>
                      <a:tailEnd type="none" w="med" len="med"/>
                    </a:lnB>
                    <a:solidFill>
                      <a:srgbClr val="FFFFFF"/>
                    </a:solidFill>
                  </a:tcPr>
                </a:tc>
                <a:tc>
                  <a:txBody>
                    <a:bodyPr/>
                    <a:lstStyle/>
                    <a:p>
                      <a:pPr algn="just" rtl="0" fontAlgn="base"/>
                      <a:r>
                        <a:rPr lang="en-US" sz="1400" b="0" dirty="0">
                          <a:solidFill>
                            <a:srgbClr val="C00000"/>
                          </a:solidFill>
                          <a:effectLst/>
                        </a:rPr>
                        <a:t>It is less expensive than DBMS.</a:t>
                      </a:r>
                    </a:p>
                  </a:txBody>
                  <a:tcPr marL="95250" marR="95250" marT="133350" marB="133350" anchor="ctr">
                    <a:lnL w="2858" cap="flat" cmpd="sng" algn="ctr">
                      <a:solidFill>
                        <a:srgbClr val="DFDFDF"/>
                      </a:solidFill>
                      <a:prstDash val="solid"/>
                      <a:round/>
                      <a:headEnd type="none" w="med" len="med"/>
                      <a:tailEnd type="none" w="med" len="med"/>
                    </a:lnL>
                    <a:lnR w="2858" cap="flat" cmpd="sng" algn="ctr">
                      <a:solidFill>
                        <a:srgbClr val="DFDFDF"/>
                      </a:solidFill>
                      <a:prstDash val="solid"/>
                      <a:round/>
                      <a:headEnd type="none" w="med" len="med"/>
                      <a:tailEnd type="none" w="med" len="med"/>
                    </a:lnR>
                    <a:lnT w="2858" cap="flat" cmpd="sng" algn="ctr">
                      <a:solidFill>
                        <a:srgbClr val="DFDFDF"/>
                      </a:solidFill>
                      <a:prstDash val="solid"/>
                      <a:round/>
                      <a:headEnd type="none" w="med" len="med"/>
                      <a:tailEnd type="none" w="med" len="med"/>
                    </a:lnT>
                    <a:lnB w="2858" cap="flat" cmpd="sng" algn="ctr">
                      <a:solidFill>
                        <a:srgbClr val="DFDFDF"/>
                      </a:solidFill>
                      <a:prstDash val="solid"/>
                      <a:round/>
                      <a:headEnd type="none" w="med" len="med"/>
                      <a:tailEnd type="none" w="med" len="med"/>
                    </a:lnB>
                    <a:solidFill>
                      <a:srgbClr val="FFFFFF"/>
                    </a:solidFill>
                  </a:tcPr>
                </a:tc>
                <a:tc>
                  <a:txBody>
                    <a:bodyPr/>
                    <a:lstStyle/>
                    <a:p>
                      <a:pPr algn="just" rtl="0" fontAlgn="base"/>
                      <a:r>
                        <a:rPr lang="en-US" sz="1400" b="0">
                          <a:solidFill>
                            <a:srgbClr val="C00000"/>
                          </a:solidFill>
                          <a:effectLst/>
                        </a:rPr>
                        <a:t>It has a comparatively higher cost than a file system.</a:t>
                      </a:r>
                    </a:p>
                  </a:txBody>
                  <a:tcPr marL="95250" marR="95250" marT="133350" marB="133350" anchor="ctr">
                    <a:lnL w="2858" cap="flat" cmpd="sng" algn="ctr">
                      <a:solidFill>
                        <a:srgbClr val="DFDFDF"/>
                      </a:solidFill>
                      <a:prstDash val="solid"/>
                      <a:round/>
                      <a:headEnd type="none" w="med" len="med"/>
                      <a:tailEnd type="none" w="med" len="med"/>
                    </a:lnL>
                    <a:lnR w="2858" cap="flat" cmpd="sng" algn="ctr">
                      <a:solidFill>
                        <a:srgbClr val="DFDFDF"/>
                      </a:solidFill>
                      <a:prstDash val="solid"/>
                      <a:round/>
                      <a:headEnd type="none" w="med" len="med"/>
                      <a:tailEnd type="none" w="med" len="med"/>
                    </a:lnR>
                    <a:lnT w="2858" cap="flat" cmpd="sng" algn="ctr">
                      <a:solidFill>
                        <a:srgbClr val="DFDFDF"/>
                      </a:solidFill>
                      <a:prstDash val="solid"/>
                      <a:round/>
                      <a:headEnd type="none" w="med" len="med"/>
                      <a:tailEnd type="none" w="med" len="med"/>
                    </a:lnT>
                    <a:lnB w="2858" cap="flat" cmpd="sng" algn="ctr">
                      <a:solidFill>
                        <a:srgbClr val="DFDFDF"/>
                      </a:solidFill>
                      <a:prstDash val="solid"/>
                      <a:round/>
                      <a:headEnd type="none" w="med" len="med"/>
                      <a:tailEnd type="none" w="med" len="med"/>
                    </a:lnB>
                    <a:solidFill>
                      <a:srgbClr val="FFFFFF"/>
                    </a:solidFill>
                  </a:tcPr>
                </a:tc>
                <a:extLst>
                  <a:ext uri="{0D108BD9-81ED-4DB2-BD59-A6C34878D82A}">
                    <a16:rowId xmlns:a16="http://schemas.microsoft.com/office/drawing/2014/main" val="1230641424"/>
                  </a:ext>
                </a:extLst>
              </a:tr>
              <a:tr h="840140">
                <a:tc>
                  <a:txBody>
                    <a:bodyPr/>
                    <a:lstStyle/>
                    <a:p>
                      <a:pPr algn="just" rtl="0" fontAlgn="base"/>
                      <a:r>
                        <a:rPr lang="en-US" b="1" dirty="0">
                          <a:solidFill>
                            <a:srgbClr val="48367D"/>
                          </a:solidFill>
                          <a:effectLst/>
                        </a:rPr>
                        <a:t>Data Independence</a:t>
                      </a:r>
                    </a:p>
                  </a:txBody>
                  <a:tcPr marL="38100" marR="38100" marT="69199" marB="69199" anchor="ctr">
                    <a:lnL w="2858" cap="flat" cmpd="sng" algn="ctr">
                      <a:solidFill>
                        <a:srgbClr val="DFDFDF"/>
                      </a:solidFill>
                      <a:prstDash val="solid"/>
                      <a:round/>
                      <a:headEnd type="none" w="med" len="med"/>
                      <a:tailEnd type="none" w="med" len="med"/>
                    </a:lnL>
                    <a:lnR w="2858" cap="flat" cmpd="sng" algn="ctr">
                      <a:solidFill>
                        <a:srgbClr val="DFDFDF"/>
                      </a:solidFill>
                      <a:prstDash val="solid"/>
                      <a:round/>
                      <a:headEnd type="none" w="med" len="med"/>
                      <a:tailEnd type="none" w="med" len="med"/>
                    </a:lnR>
                    <a:lnT w="2858" cap="flat" cmpd="sng" algn="ctr">
                      <a:solidFill>
                        <a:srgbClr val="DFDFDF"/>
                      </a:solidFill>
                      <a:prstDash val="solid"/>
                      <a:round/>
                      <a:headEnd type="none" w="med" len="med"/>
                      <a:tailEnd type="none" w="med" len="med"/>
                    </a:lnT>
                    <a:lnB w="2858" cap="flat" cmpd="sng" algn="ctr">
                      <a:solidFill>
                        <a:srgbClr val="DFDFDF"/>
                      </a:solidFill>
                      <a:prstDash val="solid"/>
                      <a:round/>
                      <a:headEnd type="none" w="med" len="med"/>
                      <a:tailEnd type="none" w="med" len="med"/>
                    </a:lnB>
                    <a:solidFill>
                      <a:srgbClr val="FFFFFF"/>
                    </a:solidFill>
                  </a:tcPr>
                </a:tc>
                <a:tc>
                  <a:txBody>
                    <a:bodyPr/>
                    <a:lstStyle/>
                    <a:p>
                      <a:pPr algn="just" rtl="0" fontAlgn="base"/>
                      <a:r>
                        <a:rPr lang="en-US" sz="1400" b="0" dirty="0">
                          <a:solidFill>
                            <a:srgbClr val="C00000"/>
                          </a:solidFill>
                          <a:effectLst/>
                        </a:rPr>
                        <a:t>There is no data independence.</a:t>
                      </a:r>
                    </a:p>
                  </a:txBody>
                  <a:tcPr marL="95250" marR="95250" marT="133350" marB="133350" anchor="ctr">
                    <a:lnL w="2858" cap="flat" cmpd="sng" algn="ctr">
                      <a:solidFill>
                        <a:srgbClr val="DFDFDF"/>
                      </a:solidFill>
                      <a:prstDash val="solid"/>
                      <a:round/>
                      <a:headEnd type="none" w="med" len="med"/>
                      <a:tailEnd type="none" w="med" len="med"/>
                    </a:lnL>
                    <a:lnR w="2858" cap="flat" cmpd="sng" algn="ctr">
                      <a:solidFill>
                        <a:srgbClr val="DFDFDF"/>
                      </a:solidFill>
                      <a:prstDash val="solid"/>
                      <a:round/>
                      <a:headEnd type="none" w="med" len="med"/>
                      <a:tailEnd type="none" w="med" len="med"/>
                    </a:lnR>
                    <a:lnT w="2858" cap="flat" cmpd="sng" algn="ctr">
                      <a:solidFill>
                        <a:srgbClr val="DFDFDF"/>
                      </a:solidFill>
                      <a:prstDash val="solid"/>
                      <a:round/>
                      <a:headEnd type="none" w="med" len="med"/>
                      <a:tailEnd type="none" w="med" len="med"/>
                    </a:lnT>
                    <a:lnB w="2858" cap="flat" cmpd="sng" algn="ctr">
                      <a:solidFill>
                        <a:srgbClr val="DFDFDF"/>
                      </a:solidFill>
                      <a:prstDash val="solid"/>
                      <a:round/>
                      <a:headEnd type="none" w="med" len="med"/>
                      <a:tailEnd type="none" w="med" len="med"/>
                    </a:lnB>
                    <a:solidFill>
                      <a:srgbClr val="FFFFFF"/>
                    </a:solidFill>
                  </a:tcPr>
                </a:tc>
                <a:tc>
                  <a:txBody>
                    <a:bodyPr/>
                    <a:lstStyle/>
                    <a:p>
                      <a:pPr algn="just" rtl="0" fontAlgn="base"/>
                      <a:r>
                        <a:rPr lang="en-US" sz="1400" b="0" dirty="0">
                          <a:solidFill>
                            <a:srgbClr val="C00000"/>
                          </a:solidFill>
                          <a:effectLst/>
                        </a:rPr>
                        <a:t>In DBMS data independence exists, </a:t>
                      </a:r>
                    </a:p>
                  </a:txBody>
                  <a:tcPr marL="95250" marR="95250" marT="133350" marB="133350" anchor="ctr">
                    <a:lnL w="2858" cap="flat" cmpd="sng" algn="ctr">
                      <a:solidFill>
                        <a:srgbClr val="DFDFDF"/>
                      </a:solidFill>
                      <a:prstDash val="solid"/>
                      <a:round/>
                      <a:headEnd type="none" w="med" len="med"/>
                      <a:tailEnd type="none" w="med" len="med"/>
                    </a:lnL>
                    <a:lnR w="2858" cap="flat" cmpd="sng" algn="ctr">
                      <a:solidFill>
                        <a:srgbClr val="DFDFDF"/>
                      </a:solidFill>
                      <a:prstDash val="solid"/>
                      <a:round/>
                      <a:headEnd type="none" w="med" len="med"/>
                      <a:tailEnd type="none" w="med" len="med"/>
                    </a:lnR>
                    <a:lnT w="2858" cap="flat" cmpd="sng" algn="ctr">
                      <a:solidFill>
                        <a:srgbClr val="DFDFDF"/>
                      </a:solidFill>
                      <a:prstDash val="solid"/>
                      <a:round/>
                      <a:headEnd type="none" w="med" len="med"/>
                      <a:tailEnd type="none" w="med" len="med"/>
                    </a:lnT>
                    <a:lnB w="2858" cap="flat" cmpd="sng" algn="ctr">
                      <a:solidFill>
                        <a:srgbClr val="DFDFDF"/>
                      </a:solidFill>
                      <a:prstDash val="solid"/>
                      <a:round/>
                      <a:headEnd type="none" w="med" len="med"/>
                      <a:tailEnd type="none" w="med" len="med"/>
                    </a:lnB>
                    <a:solidFill>
                      <a:srgbClr val="FFFFFF"/>
                    </a:solidFill>
                  </a:tcPr>
                </a:tc>
                <a:extLst>
                  <a:ext uri="{0D108BD9-81ED-4DB2-BD59-A6C34878D82A}">
                    <a16:rowId xmlns:a16="http://schemas.microsoft.com/office/drawing/2014/main" val="3352771178"/>
                  </a:ext>
                </a:extLst>
              </a:tr>
              <a:tr h="514238">
                <a:tc>
                  <a:txBody>
                    <a:bodyPr/>
                    <a:lstStyle/>
                    <a:p>
                      <a:pPr algn="just" rtl="0" fontAlgn="base"/>
                      <a:r>
                        <a:rPr lang="en-US" b="1" dirty="0">
                          <a:solidFill>
                            <a:srgbClr val="48367D"/>
                          </a:solidFill>
                          <a:effectLst/>
                        </a:rPr>
                        <a:t>User Access</a:t>
                      </a:r>
                    </a:p>
                  </a:txBody>
                  <a:tcPr marL="38100" marR="38100" marT="69199" marB="69199" anchor="ctr">
                    <a:lnL w="2858" cap="flat" cmpd="sng" algn="ctr">
                      <a:solidFill>
                        <a:srgbClr val="DFDFDF"/>
                      </a:solidFill>
                      <a:prstDash val="solid"/>
                      <a:round/>
                      <a:headEnd type="none" w="med" len="med"/>
                      <a:tailEnd type="none" w="med" len="med"/>
                    </a:lnL>
                    <a:lnR w="2858" cap="flat" cmpd="sng" algn="ctr">
                      <a:solidFill>
                        <a:srgbClr val="DFDFDF"/>
                      </a:solidFill>
                      <a:prstDash val="solid"/>
                      <a:round/>
                      <a:headEnd type="none" w="med" len="med"/>
                      <a:tailEnd type="none" w="med" len="med"/>
                    </a:lnR>
                    <a:lnT w="2858" cap="flat" cmpd="sng" algn="ctr">
                      <a:solidFill>
                        <a:srgbClr val="DFDFDF"/>
                      </a:solidFill>
                      <a:prstDash val="solid"/>
                      <a:round/>
                      <a:headEnd type="none" w="med" len="med"/>
                      <a:tailEnd type="none" w="med" len="med"/>
                    </a:lnT>
                    <a:lnB w="2858" cap="flat" cmpd="sng" algn="ctr">
                      <a:solidFill>
                        <a:srgbClr val="DFDFDF"/>
                      </a:solidFill>
                      <a:prstDash val="solid"/>
                      <a:round/>
                      <a:headEnd type="none" w="med" len="med"/>
                      <a:tailEnd type="none" w="med" len="med"/>
                    </a:lnB>
                    <a:solidFill>
                      <a:srgbClr val="FFFFFF"/>
                    </a:solidFill>
                  </a:tcPr>
                </a:tc>
                <a:tc>
                  <a:txBody>
                    <a:bodyPr/>
                    <a:lstStyle/>
                    <a:p>
                      <a:pPr algn="just" rtl="0" fontAlgn="base"/>
                      <a:r>
                        <a:rPr lang="en-US" sz="1400" b="0">
                          <a:solidFill>
                            <a:srgbClr val="C00000"/>
                          </a:solidFill>
                          <a:effectLst/>
                        </a:rPr>
                        <a:t>Only one user can access data at a time.</a:t>
                      </a:r>
                    </a:p>
                  </a:txBody>
                  <a:tcPr marL="95250" marR="95250" marT="133350" marB="133350" anchor="ctr">
                    <a:lnL w="2858" cap="flat" cmpd="sng" algn="ctr">
                      <a:solidFill>
                        <a:srgbClr val="DFDFDF"/>
                      </a:solidFill>
                      <a:prstDash val="solid"/>
                      <a:round/>
                      <a:headEnd type="none" w="med" len="med"/>
                      <a:tailEnd type="none" w="med" len="med"/>
                    </a:lnL>
                    <a:lnR w="2858" cap="flat" cmpd="sng" algn="ctr">
                      <a:solidFill>
                        <a:srgbClr val="DFDFDF"/>
                      </a:solidFill>
                      <a:prstDash val="solid"/>
                      <a:round/>
                      <a:headEnd type="none" w="med" len="med"/>
                      <a:tailEnd type="none" w="med" len="med"/>
                    </a:lnR>
                    <a:lnT w="2858" cap="flat" cmpd="sng" algn="ctr">
                      <a:solidFill>
                        <a:srgbClr val="DFDFDF"/>
                      </a:solidFill>
                      <a:prstDash val="solid"/>
                      <a:round/>
                      <a:headEnd type="none" w="med" len="med"/>
                      <a:tailEnd type="none" w="med" len="med"/>
                    </a:lnT>
                    <a:lnB w="2858" cap="flat" cmpd="sng" algn="ctr">
                      <a:solidFill>
                        <a:srgbClr val="DFDFDF"/>
                      </a:solidFill>
                      <a:prstDash val="solid"/>
                      <a:round/>
                      <a:headEnd type="none" w="med" len="med"/>
                      <a:tailEnd type="none" w="med" len="med"/>
                    </a:lnB>
                    <a:solidFill>
                      <a:srgbClr val="FFFFFF"/>
                    </a:solidFill>
                  </a:tcPr>
                </a:tc>
                <a:tc>
                  <a:txBody>
                    <a:bodyPr/>
                    <a:lstStyle/>
                    <a:p>
                      <a:pPr algn="just" rtl="0" fontAlgn="base"/>
                      <a:r>
                        <a:rPr lang="en-US" sz="1400" b="0" dirty="0">
                          <a:solidFill>
                            <a:srgbClr val="C00000"/>
                          </a:solidFill>
                          <a:effectLst/>
                        </a:rPr>
                        <a:t>Multiple users can access data at a time.</a:t>
                      </a:r>
                    </a:p>
                  </a:txBody>
                  <a:tcPr marL="95250" marR="95250" marT="133350" marB="133350" anchor="ctr">
                    <a:lnL w="2858" cap="flat" cmpd="sng" algn="ctr">
                      <a:solidFill>
                        <a:srgbClr val="DFDFDF"/>
                      </a:solidFill>
                      <a:prstDash val="solid"/>
                      <a:round/>
                      <a:headEnd type="none" w="med" len="med"/>
                      <a:tailEnd type="none" w="med" len="med"/>
                    </a:lnL>
                    <a:lnR w="2858" cap="flat" cmpd="sng" algn="ctr">
                      <a:solidFill>
                        <a:srgbClr val="DFDFDF"/>
                      </a:solidFill>
                      <a:prstDash val="solid"/>
                      <a:round/>
                      <a:headEnd type="none" w="med" len="med"/>
                      <a:tailEnd type="none" w="med" len="med"/>
                    </a:lnR>
                    <a:lnT w="2858" cap="flat" cmpd="sng" algn="ctr">
                      <a:solidFill>
                        <a:srgbClr val="DFDFDF"/>
                      </a:solidFill>
                      <a:prstDash val="solid"/>
                      <a:round/>
                      <a:headEnd type="none" w="med" len="med"/>
                      <a:tailEnd type="none" w="med" len="med"/>
                    </a:lnT>
                    <a:lnB w="2858" cap="flat" cmpd="sng" algn="ctr">
                      <a:solidFill>
                        <a:srgbClr val="DFDFDF"/>
                      </a:solidFill>
                      <a:prstDash val="solid"/>
                      <a:round/>
                      <a:headEnd type="none" w="med" len="med"/>
                      <a:tailEnd type="none" w="med" len="med"/>
                    </a:lnB>
                    <a:solidFill>
                      <a:srgbClr val="FFFFFF"/>
                    </a:solidFill>
                  </a:tcPr>
                </a:tc>
                <a:extLst>
                  <a:ext uri="{0D108BD9-81ED-4DB2-BD59-A6C34878D82A}">
                    <a16:rowId xmlns:a16="http://schemas.microsoft.com/office/drawing/2014/main" val="4173590028"/>
                  </a:ext>
                </a:extLst>
              </a:tr>
              <a:tr h="742788">
                <a:tc>
                  <a:txBody>
                    <a:bodyPr/>
                    <a:lstStyle/>
                    <a:p>
                      <a:pPr algn="just" rtl="0" fontAlgn="base"/>
                      <a:r>
                        <a:rPr lang="en-US" b="1" dirty="0">
                          <a:solidFill>
                            <a:srgbClr val="48367D"/>
                          </a:solidFill>
                          <a:effectLst/>
                        </a:rPr>
                        <a:t>Sharing </a:t>
                      </a:r>
                    </a:p>
                  </a:txBody>
                  <a:tcPr marL="38100" marR="38100" marT="69199" marB="69199" anchor="ctr">
                    <a:lnL w="2858" cap="flat" cmpd="sng" algn="ctr">
                      <a:solidFill>
                        <a:srgbClr val="DFDFDF"/>
                      </a:solidFill>
                      <a:prstDash val="solid"/>
                      <a:round/>
                      <a:headEnd type="none" w="med" len="med"/>
                      <a:tailEnd type="none" w="med" len="med"/>
                    </a:lnL>
                    <a:lnR w="2858" cap="flat" cmpd="sng" algn="ctr">
                      <a:solidFill>
                        <a:srgbClr val="DFDFDF"/>
                      </a:solidFill>
                      <a:prstDash val="solid"/>
                      <a:round/>
                      <a:headEnd type="none" w="med" len="med"/>
                      <a:tailEnd type="none" w="med" len="med"/>
                    </a:lnR>
                    <a:lnT w="2858" cap="flat" cmpd="sng" algn="ctr">
                      <a:solidFill>
                        <a:srgbClr val="DFDFDF"/>
                      </a:solidFill>
                      <a:prstDash val="solid"/>
                      <a:round/>
                      <a:headEnd type="none" w="med" len="med"/>
                      <a:tailEnd type="none" w="med" len="med"/>
                    </a:lnT>
                    <a:lnB w="2858" cap="flat" cmpd="sng" algn="ctr">
                      <a:solidFill>
                        <a:srgbClr val="DFDFDF"/>
                      </a:solidFill>
                      <a:prstDash val="solid"/>
                      <a:round/>
                      <a:headEnd type="none" w="med" len="med"/>
                      <a:tailEnd type="none" w="med" len="med"/>
                    </a:lnB>
                    <a:solidFill>
                      <a:srgbClr val="FFFFFF"/>
                    </a:solidFill>
                  </a:tcPr>
                </a:tc>
                <a:tc>
                  <a:txBody>
                    <a:bodyPr/>
                    <a:lstStyle/>
                    <a:p>
                      <a:pPr algn="just" rtl="0" fontAlgn="base"/>
                      <a:r>
                        <a:rPr lang="en-US" sz="1400" b="0" dirty="0">
                          <a:solidFill>
                            <a:srgbClr val="C00000"/>
                          </a:solidFill>
                          <a:effectLst/>
                        </a:rPr>
                        <a:t>Data is distributed in many files. So, it is not easy to share data.</a:t>
                      </a:r>
                    </a:p>
                  </a:txBody>
                  <a:tcPr marL="95250" marR="95250" marT="133350" marB="133350" anchor="ctr">
                    <a:lnL w="2858" cap="flat" cmpd="sng" algn="ctr">
                      <a:solidFill>
                        <a:srgbClr val="DFDFDF"/>
                      </a:solidFill>
                      <a:prstDash val="solid"/>
                      <a:round/>
                      <a:headEnd type="none" w="med" len="med"/>
                      <a:tailEnd type="none" w="med" len="med"/>
                    </a:lnL>
                    <a:lnR w="2858" cap="flat" cmpd="sng" algn="ctr">
                      <a:solidFill>
                        <a:srgbClr val="DFDFDF"/>
                      </a:solidFill>
                      <a:prstDash val="solid"/>
                      <a:round/>
                      <a:headEnd type="none" w="med" len="med"/>
                      <a:tailEnd type="none" w="med" len="med"/>
                    </a:lnR>
                    <a:lnT w="2858" cap="flat" cmpd="sng" algn="ctr">
                      <a:solidFill>
                        <a:srgbClr val="DFDFDF"/>
                      </a:solidFill>
                      <a:prstDash val="solid"/>
                      <a:round/>
                      <a:headEnd type="none" w="med" len="med"/>
                      <a:tailEnd type="none" w="med" len="med"/>
                    </a:lnT>
                    <a:lnB w="2858" cap="flat" cmpd="sng" algn="ctr">
                      <a:solidFill>
                        <a:srgbClr val="DFDFDF"/>
                      </a:solidFill>
                      <a:prstDash val="solid"/>
                      <a:round/>
                      <a:headEnd type="none" w="med" len="med"/>
                      <a:tailEnd type="none" w="med" len="med"/>
                    </a:lnB>
                    <a:solidFill>
                      <a:srgbClr val="FFFFFF"/>
                    </a:solidFill>
                  </a:tcPr>
                </a:tc>
                <a:tc>
                  <a:txBody>
                    <a:bodyPr/>
                    <a:lstStyle/>
                    <a:p>
                      <a:pPr algn="just" rtl="0" fontAlgn="base"/>
                      <a:r>
                        <a:rPr lang="en-US" sz="1400" b="0" dirty="0">
                          <a:solidFill>
                            <a:srgbClr val="C00000"/>
                          </a:solidFill>
                          <a:effectLst/>
                        </a:rPr>
                        <a:t>Due to centralized nature data sharing is easy</a:t>
                      </a:r>
                    </a:p>
                  </a:txBody>
                  <a:tcPr marL="95250" marR="95250" marT="133350" marB="133350" anchor="ctr">
                    <a:lnL w="2858" cap="flat" cmpd="sng" algn="ctr">
                      <a:solidFill>
                        <a:srgbClr val="DFDFDF"/>
                      </a:solidFill>
                      <a:prstDash val="solid"/>
                      <a:round/>
                      <a:headEnd type="none" w="med" len="med"/>
                      <a:tailEnd type="none" w="med" len="med"/>
                    </a:lnL>
                    <a:lnR w="2858" cap="flat" cmpd="sng" algn="ctr">
                      <a:solidFill>
                        <a:srgbClr val="DFDFDF"/>
                      </a:solidFill>
                      <a:prstDash val="solid"/>
                      <a:round/>
                      <a:headEnd type="none" w="med" len="med"/>
                      <a:tailEnd type="none" w="med" len="med"/>
                    </a:lnR>
                    <a:lnT w="2858" cap="flat" cmpd="sng" algn="ctr">
                      <a:solidFill>
                        <a:srgbClr val="DFDFDF"/>
                      </a:solidFill>
                      <a:prstDash val="solid"/>
                      <a:round/>
                      <a:headEnd type="none" w="med" len="med"/>
                      <a:tailEnd type="none" w="med" len="med"/>
                    </a:lnT>
                    <a:lnB w="2858" cap="flat" cmpd="sng" algn="ctr">
                      <a:solidFill>
                        <a:srgbClr val="DFDFDF"/>
                      </a:solidFill>
                      <a:prstDash val="solid"/>
                      <a:round/>
                      <a:headEnd type="none" w="med" len="med"/>
                      <a:tailEnd type="none" w="med" len="med"/>
                    </a:lnB>
                    <a:solidFill>
                      <a:srgbClr val="FFFFFF"/>
                    </a:solidFill>
                  </a:tcPr>
                </a:tc>
                <a:extLst>
                  <a:ext uri="{0D108BD9-81ED-4DB2-BD59-A6C34878D82A}">
                    <a16:rowId xmlns:a16="http://schemas.microsoft.com/office/drawing/2014/main" val="3484784530"/>
                  </a:ext>
                </a:extLst>
              </a:tr>
              <a:tr h="514238">
                <a:tc>
                  <a:txBody>
                    <a:bodyPr/>
                    <a:lstStyle/>
                    <a:p>
                      <a:pPr algn="just" rtl="0" fontAlgn="base"/>
                      <a:r>
                        <a:rPr lang="en-US" b="1" dirty="0">
                          <a:solidFill>
                            <a:srgbClr val="48367D"/>
                          </a:solidFill>
                          <a:effectLst/>
                        </a:rPr>
                        <a:t>Data Abstraction</a:t>
                      </a:r>
                    </a:p>
                  </a:txBody>
                  <a:tcPr marL="38100" marR="38100" marT="69199" marB="69199" anchor="ctr">
                    <a:lnL w="2858" cap="flat" cmpd="sng" algn="ctr">
                      <a:solidFill>
                        <a:srgbClr val="DFDFDF"/>
                      </a:solidFill>
                      <a:prstDash val="solid"/>
                      <a:round/>
                      <a:headEnd type="none" w="med" len="med"/>
                      <a:tailEnd type="none" w="med" len="med"/>
                    </a:lnL>
                    <a:lnR w="2858" cap="flat" cmpd="sng" algn="ctr">
                      <a:solidFill>
                        <a:srgbClr val="DFDFDF"/>
                      </a:solidFill>
                      <a:prstDash val="solid"/>
                      <a:round/>
                      <a:headEnd type="none" w="med" len="med"/>
                      <a:tailEnd type="none" w="med" len="med"/>
                    </a:lnR>
                    <a:lnT w="2858" cap="flat" cmpd="sng" algn="ctr">
                      <a:solidFill>
                        <a:srgbClr val="DFDFDF"/>
                      </a:solidFill>
                      <a:prstDash val="solid"/>
                      <a:round/>
                      <a:headEnd type="none" w="med" len="med"/>
                      <a:tailEnd type="none" w="med" len="med"/>
                    </a:lnT>
                    <a:lnB w="2858" cap="flat" cmpd="sng" algn="ctr">
                      <a:solidFill>
                        <a:srgbClr val="DFDFDF"/>
                      </a:solidFill>
                      <a:prstDash val="solid"/>
                      <a:round/>
                      <a:headEnd type="none" w="med" len="med"/>
                      <a:tailEnd type="none" w="med" len="med"/>
                    </a:lnB>
                    <a:solidFill>
                      <a:srgbClr val="FFFFFF"/>
                    </a:solidFill>
                  </a:tcPr>
                </a:tc>
                <a:tc>
                  <a:txBody>
                    <a:bodyPr/>
                    <a:lstStyle/>
                    <a:p>
                      <a:pPr algn="just" rtl="0" fontAlgn="base"/>
                      <a:r>
                        <a:rPr lang="en-US" sz="1400" b="0" dirty="0">
                          <a:solidFill>
                            <a:srgbClr val="C00000"/>
                          </a:solidFill>
                          <a:effectLst/>
                        </a:rPr>
                        <a:t>It give details of storage and representation of data</a:t>
                      </a:r>
                    </a:p>
                  </a:txBody>
                  <a:tcPr marL="95250" marR="95250" marT="133350" marB="133350" anchor="ctr">
                    <a:lnL w="2858" cap="flat" cmpd="sng" algn="ctr">
                      <a:solidFill>
                        <a:srgbClr val="DFDFDF"/>
                      </a:solidFill>
                      <a:prstDash val="solid"/>
                      <a:round/>
                      <a:headEnd type="none" w="med" len="med"/>
                      <a:tailEnd type="none" w="med" len="med"/>
                    </a:lnL>
                    <a:lnR w="2858" cap="flat" cmpd="sng" algn="ctr">
                      <a:solidFill>
                        <a:srgbClr val="DFDFDF"/>
                      </a:solidFill>
                      <a:prstDash val="solid"/>
                      <a:round/>
                      <a:headEnd type="none" w="med" len="med"/>
                      <a:tailEnd type="none" w="med" len="med"/>
                    </a:lnR>
                    <a:lnT w="2858" cap="flat" cmpd="sng" algn="ctr">
                      <a:solidFill>
                        <a:srgbClr val="DFDFDF"/>
                      </a:solidFill>
                      <a:prstDash val="solid"/>
                      <a:round/>
                      <a:headEnd type="none" w="med" len="med"/>
                      <a:tailEnd type="none" w="med" len="med"/>
                    </a:lnT>
                    <a:lnB w="2858" cap="flat" cmpd="sng" algn="ctr">
                      <a:solidFill>
                        <a:srgbClr val="DFDFDF"/>
                      </a:solidFill>
                      <a:prstDash val="solid"/>
                      <a:round/>
                      <a:headEnd type="none" w="med" len="med"/>
                      <a:tailEnd type="none" w="med" len="med"/>
                    </a:lnB>
                    <a:solidFill>
                      <a:srgbClr val="FFFFFF"/>
                    </a:solidFill>
                  </a:tcPr>
                </a:tc>
                <a:tc>
                  <a:txBody>
                    <a:bodyPr/>
                    <a:lstStyle/>
                    <a:p>
                      <a:pPr algn="just" rtl="0" fontAlgn="base"/>
                      <a:r>
                        <a:rPr lang="en-US" sz="1400" b="0" dirty="0">
                          <a:solidFill>
                            <a:srgbClr val="C00000"/>
                          </a:solidFill>
                          <a:effectLst/>
                        </a:rPr>
                        <a:t>It hides the internal details of Database</a:t>
                      </a:r>
                    </a:p>
                  </a:txBody>
                  <a:tcPr marL="95250" marR="95250" marT="133350" marB="133350" anchor="ctr">
                    <a:lnL w="2858" cap="flat" cmpd="sng" algn="ctr">
                      <a:solidFill>
                        <a:srgbClr val="DFDFDF"/>
                      </a:solidFill>
                      <a:prstDash val="solid"/>
                      <a:round/>
                      <a:headEnd type="none" w="med" len="med"/>
                      <a:tailEnd type="none" w="med" len="med"/>
                    </a:lnL>
                    <a:lnR w="2858" cap="flat" cmpd="sng" algn="ctr">
                      <a:solidFill>
                        <a:srgbClr val="DFDFDF"/>
                      </a:solidFill>
                      <a:prstDash val="solid"/>
                      <a:round/>
                      <a:headEnd type="none" w="med" len="med"/>
                      <a:tailEnd type="none" w="med" len="med"/>
                    </a:lnR>
                    <a:lnT w="2858" cap="flat" cmpd="sng" algn="ctr">
                      <a:solidFill>
                        <a:srgbClr val="DFDFDF"/>
                      </a:solidFill>
                      <a:prstDash val="solid"/>
                      <a:round/>
                      <a:headEnd type="none" w="med" len="med"/>
                      <a:tailEnd type="none" w="med" len="med"/>
                    </a:lnT>
                    <a:lnB w="2858" cap="flat" cmpd="sng" algn="ctr">
                      <a:solidFill>
                        <a:srgbClr val="DFDFDF"/>
                      </a:solidFill>
                      <a:prstDash val="solid"/>
                      <a:round/>
                      <a:headEnd type="none" w="med" len="med"/>
                      <a:tailEnd type="none" w="med" len="med"/>
                    </a:lnB>
                    <a:solidFill>
                      <a:srgbClr val="FFFFFF"/>
                    </a:solidFill>
                  </a:tcPr>
                </a:tc>
                <a:extLst>
                  <a:ext uri="{0D108BD9-81ED-4DB2-BD59-A6C34878D82A}">
                    <a16:rowId xmlns:a16="http://schemas.microsoft.com/office/drawing/2014/main" val="1065022497"/>
                  </a:ext>
                </a:extLst>
              </a:tr>
              <a:tr h="742788">
                <a:tc>
                  <a:txBody>
                    <a:bodyPr/>
                    <a:lstStyle/>
                    <a:p>
                      <a:pPr algn="l" fontAlgn="base"/>
                      <a:r>
                        <a:rPr lang="en-US" b="1" dirty="0">
                          <a:solidFill>
                            <a:srgbClr val="48367D"/>
                          </a:solidFill>
                          <a:effectLst/>
                        </a:rPr>
                        <a:t>Attribute</a:t>
                      </a:r>
                      <a:r>
                        <a:rPr lang="en-US" b="1" i="1" dirty="0">
                          <a:solidFill>
                            <a:srgbClr val="48367D"/>
                          </a:solidFill>
                          <a:effectLst/>
                        </a:rPr>
                        <a:t>s</a:t>
                      </a:r>
                      <a:endParaRPr lang="en-US" b="1" dirty="0">
                        <a:solidFill>
                          <a:srgbClr val="48367D"/>
                        </a:solidFill>
                        <a:effectLst/>
                      </a:endParaRPr>
                    </a:p>
                  </a:txBody>
                  <a:tcPr marL="38100" marR="38100" marT="69199" marB="69199" anchor="ctr">
                    <a:lnL w="2858" cap="flat" cmpd="sng" algn="ctr">
                      <a:solidFill>
                        <a:srgbClr val="DFDFDF"/>
                      </a:solidFill>
                      <a:prstDash val="solid"/>
                      <a:round/>
                      <a:headEnd type="none" w="med" len="med"/>
                      <a:tailEnd type="none" w="med" len="med"/>
                    </a:lnL>
                    <a:lnR w="2858" cap="flat" cmpd="sng" algn="ctr">
                      <a:solidFill>
                        <a:srgbClr val="DFDFDF"/>
                      </a:solidFill>
                      <a:prstDash val="solid"/>
                      <a:round/>
                      <a:headEnd type="none" w="med" len="med"/>
                      <a:tailEnd type="none" w="med" len="med"/>
                    </a:lnR>
                    <a:lnT w="2858" cap="flat" cmpd="sng" algn="ctr">
                      <a:solidFill>
                        <a:srgbClr val="DFDFDF"/>
                      </a:solidFill>
                      <a:prstDash val="solid"/>
                      <a:round/>
                      <a:headEnd type="none" w="med" len="med"/>
                      <a:tailEnd type="none" w="med" len="med"/>
                    </a:lnT>
                    <a:lnB w="2858" cap="flat" cmpd="sng" algn="ctr">
                      <a:solidFill>
                        <a:srgbClr val="DFDFDF"/>
                      </a:solidFill>
                      <a:prstDash val="solid"/>
                      <a:round/>
                      <a:headEnd type="none" w="med" len="med"/>
                      <a:tailEnd type="none" w="med" len="med"/>
                    </a:lnB>
                    <a:solidFill>
                      <a:srgbClr val="FFFFFF"/>
                    </a:solidFill>
                  </a:tcPr>
                </a:tc>
                <a:tc>
                  <a:txBody>
                    <a:bodyPr/>
                    <a:lstStyle/>
                    <a:p>
                      <a:pPr algn="ctr" fontAlgn="ctr"/>
                      <a:r>
                        <a:rPr lang="en-US" sz="1400" b="0" dirty="0">
                          <a:solidFill>
                            <a:srgbClr val="C00000"/>
                          </a:solidFill>
                          <a:effectLst/>
                        </a:rPr>
                        <a:t>To access data in a file , user requires attributes such as</a:t>
                      </a:r>
                      <a:r>
                        <a:rPr lang="en-US" sz="1400" b="0" baseline="0" dirty="0">
                          <a:solidFill>
                            <a:srgbClr val="C00000"/>
                          </a:solidFill>
                          <a:effectLst/>
                        </a:rPr>
                        <a:t> </a:t>
                      </a:r>
                      <a:r>
                        <a:rPr lang="en-US" sz="1400" b="0" dirty="0">
                          <a:solidFill>
                            <a:srgbClr val="C00000"/>
                          </a:solidFill>
                          <a:effectLst/>
                        </a:rPr>
                        <a:t>file name, file location.</a:t>
                      </a:r>
                    </a:p>
                  </a:txBody>
                  <a:tcPr marL="95250" marR="95250" marT="133350" marB="133350" anchor="ctr">
                    <a:lnL w="2858" cap="flat" cmpd="sng" algn="ctr">
                      <a:solidFill>
                        <a:srgbClr val="DFDFDF"/>
                      </a:solidFill>
                      <a:prstDash val="solid"/>
                      <a:round/>
                      <a:headEnd type="none" w="med" len="med"/>
                      <a:tailEnd type="none" w="med" len="med"/>
                    </a:lnL>
                    <a:lnR w="2858" cap="flat" cmpd="sng" algn="ctr">
                      <a:solidFill>
                        <a:srgbClr val="DFDFDF"/>
                      </a:solidFill>
                      <a:prstDash val="solid"/>
                      <a:round/>
                      <a:headEnd type="none" w="med" len="med"/>
                      <a:tailEnd type="none" w="med" len="med"/>
                    </a:lnR>
                    <a:lnT w="2858" cap="flat" cmpd="sng" algn="ctr">
                      <a:solidFill>
                        <a:srgbClr val="DFDFDF"/>
                      </a:solidFill>
                      <a:prstDash val="solid"/>
                      <a:round/>
                      <a:headEnd type="none" w="med" len="med"/>
                      <a:tailEnd type="none" w="med" len="med"/>
                    </a:lnT>
                    <a:lnB w="2858" cap="flat" cmpd="sng" algn="ctr">
                      <a:solidFill>
                        <a:srgbClr val="DFDFDF"/>
                      </a:solidFill>
                      <a:prstDash val="solid"/>
                      <a:round/>
                      <a:headEnd type="none" w="med" len="med"/>
                      <a:tailEnd type="none" w="med" len="med"/>
                    </a:lnB>
                    <a:solidFill>
                      <a:srgbClr val="FFFFFF"/>
                    </a:solidFill>
                  </a:tcPr>
                </a:tc>
                <a:tc>
                  <a:txBody>
                    <a:bodyPr/>
                    <a:lstStyle/>
                    <a:p>
                      <a:pPr algn="ctr" fontAlgn="ctr"/>
                      <a:r>
                        <a:rPr lang="en-US" sz="1400" b="0" dirty="0">
                          <a:solidFill>
                            <a:srgbClr val="C00000"/>
                          </a:solidFill>
                          <a:effectLst/>
                        </a:rPr>
                        <a:t>No such attributes are required.</a:t>
                      </a:r>
                    </a:p>
                  </a:txBody>
                  <a:tcPr marL="95250" marR="95250" marT="133350" marB="133350" anchor="ctr">
                    <a:lnL w="2858" cap="flat" cmpd="sng" algn="ctr">
                      <a:solidFill>
                        <a:srgbClr val="DFDFDF"/>
                      </a:solidFill>
                      <a:prstDash val="solid"/>
                      <a:round/>
                      <a:headEnd type="none" w="med" len="med"/>
                      <a:tailEnd type="none" w="med" len="med"/>
                    </a:lnL>
                    <a:lnR w="2858" cap="flat" cmpd="sng" algn="ctr">
                      <a:solidFill>
                        <a:srgbClr val="DFDFDF"/>
                      </a:solidFill>
                      <a:prstDash val="solid"/>
                      <a:round/>
                      <a:headEnd type="none" w="med" len="med"/>
                      <a:tailEnd type="none" w="med" len="med"/>
                    </a:lnR>
                    <a:lnT w="2858" cap="flat" cmpd="sng" algn="ctr">
                      <a:solidFill>
                        <a:srgbClr val="DFDFDF"/>
                      </a:solidFill>
                      <a:prstDash val="solid"/>
                      <a:round/>
                      <a:headEnd type="none" w="med" len="med"/>
                      <a:tailEnd type="none" w="med" len="med"/>
                    </a:lnT>
                    <a:lnB w="2858" cap="flat" cmpd="sng" algn="ctr">
                      <a:solidFill>
                        <a:srgbClr val="DFDFDF"/>
                      </a:solidFill>
                      <a:prstDash val="solid"/>
                      <a:round/>
                      <a:headEnd type="none" w="med" len="med"/>
                      <a:tailEnd type="none" w="med" len="med"/>
                    </a:lnB>
                    <a:solidFill>
                      <a:srgbClr val="FFFFFF"/>
                    </a:solidFill>
                  </a:tcPr>
                </a:tc>
                <a:extLst>
                  <a:ext uri="{0D108BD9-81ED-4DB2-BD59-A6C34878D82A}">
                    <a16:rowId xmlns:a16="http://schemas.microsoft.com/office/drawing/2014/main" val="1396498185"/>
                  </a:ext>
                </a:extLst>
              </a:tr>
            </a:tbl>
          </a:graphicData>
        </a:graphic>
      </p:graphicFrame>
      <p:graphicFrame>
        <p:nvGraphicFramePr>
          <p:cNvPr id="4" name="Table 3"/>
          <p:cNvGraphicFramePr>
            <a:graphicFrameLocks noGrp="1"/>
          </p:cNvGraphicFramePr>
          <p:nvPr>
            <p:extLst>
              <p:ext uri="{D42A27DB-BD31-4B8C-83A1-F6EECF244321}">
                <p14:modId xmlns:p14="http://schemas.microsoft.com/office/powerpoint/2010/main" val="1633576141"/>
              </p:ext>
            </p:extLst>
          </p:nvPr>
        </p:nvGraphicFramePr>
        <p:xfrm>
          <a:off x="838200" y="1022416"/>
          <a:ext cx="10515599" cy="462368"/>
        </p:xfrm>
        <a:graphic>
          <a:graphicData uri="http://schemas.openxmlformats.org/drawingml/2006/table">
            <a:tbl>
              <a:tblPr/>
              <a:tblGrid>
                <a:gridCol w="2002971">
                  <a:extLst>
                    <a:ext uri="{9D8B030D-6E8A-4147-A177-3AD203B41FA5}">
                      <a16:colId xmlns:a16="http://schemas.microsoft.com/office/drawing/2014/main" val="1365197020"/>
                    </a:ext>
                  </a:extLst>
                </a:gridCol>
                <a:gridCol w="4256314">
                  <a:extLst>
                    <a:ext uri="{9D8B030D-6E8A-4147-A177-3AD203B41FA5}">
                      <a16:colId xmlns:a16="http://schemas.microsoft.com/office/drawing/2014/main" val="3365591246"/>
                    </a:ext>
                  </a:extLst>
                </a:gridCol>
                <a:gridCol w="4256314">
                  <a:extLst>
                    <a:ext uri="{9D8B030D-6E8A-4147-A177-3AD203B41FA5}">
                      <a16:colId xmlns:a16="http://schemas.microsoft.com/office/drawing/2014/main" val="3567356156"/>
                    </a:ext>
                  </a:extLst>
                </a:gridCol>
              </a:tblGrid>
              <a:tr h="432064">
                <a:tc>
                  <a:txBody>
                    <a:bodyPr/>
                    <a:lstStyle/>
                    <a:p>
                      <a:pPr algn="ctr" rtl="0" fontAlgn="base"/>
                      <a:r>
                        <a:rPr lang="en-US" sz="1800" b="1" dirty="0">
                          <a:solidFill>
                            <a:srgbClr val="48367D"/>
                          </a:solidFill>
                          <a:effectLst/>
                        </a:rPr>
                        <a:t>Basics</a:t>
                      </a:r>
                    </a:p>
                  </a:txBody>
                  <a:tcPr marL="37610" marR="37610" marT="94024" marB="94024" anchor="ctr">
                    <a:lnL w="2858" cap="flat" cmpd="sng" algn="ctr">
                      <a:solidFill>
                        <a:srgbClr val="DFDFDF"/>
                      </a:solidFill>
                      <a:prstDash val="solid"/>
                      <a:round/>
                      <a:headEnd type="none" w="med" len="med"/>
                      <a:tailEnd type="none" w="med" len="med"/>
                    </a:lnL>
                    <a:lnR w="2858" cap="flat" cmpd="sng" algn="ctr">
                      <a:solidFill>
                        <a:srgbClr val="DFDFDF"/>
                      </a:solidFill>
                      <a:prstDash val="solid"/>
                      <a:round/>
                      <a:headEnd type="none" w="med" len="med"/>
                      <a:tailEnd type="none" w="med" len="med"/>
                    </a:lnR>
                    <a:lnT w="2858" cap="flat" cmpd="sng" algn="ctr">
                      <a:solidFill>
                        <a:srgbClr val="DFDFDF"/>
                      </a:solidFill>
                      <a:prstDash val="solid"/>
                      <a:round/>
                      <a:headEnd type="none" w="med" len="med"/>
                      <a:tailEnd type="none" w="med" len="med"/>
                    </a:lnT>
                    <a:lnB w="2858" cap="flat" cmpd="sng" algn="ctr">
                      <a:solidFill>
                        <a:srgbClr val="DFDFDF"/>
                      </a:solidFill>
                      <a:prstDash val="solid"/>
                      <a:round/>
                      <a:headEnd type="none" w="med" len="med"/>
                      <a:tailEnd type="none" w="med" len="med"/>
                    </a:lnB>
                    <a:solidFill>
                      <a:srgbClr val="FFFFFF"/>
                    </a:solidFill>
                  </a:tcPr>
                </a:tc>
                <a:tc>
                  <a:txBody>
                    <a:bodyPr/>
                    <a:lstStyle/>
                    <a:p>
                      <a:pPr algn="ctr" rtl="0" fontAlgn="base"/>
                      <a:r>
                        <a:rPr lang="en-US" sz="1800" b="1" dirty="0">
                          <a:solidFill>
                            <a:srgbClr val="48367D"/>
                          </a:solidFill>
                          <a:effectLst/>
                        </a:rPr>
                        <a:t>File System</a:t>
                      </a:r>
                    </a:p>
                  </a:txBody>
                  <a:tcPr marL="94024" marR="94024" marT="94024" marB="94024" anchor="ctr">
                    <a:lnL w="2858" cap="flat" cmpd="sng" algn="ctr">
                      <a:solidFill>
                        <a:srgbClr val="DFDFDF"/>
                      </a:solidFill>
                      <a:prstDash val="solid"/>
                      <a:round/>
                      <a:headEnd type="none" w="med" len="med"/>
                      <a:tailEnd type="none" w="med" len="med"/>
                    </a:lnL>
                    <a:lnR w="2858" cap="flat" cmpd="sng" algn="ctr">
                      <a:solidFill>
                        <a:srgbClr val="DFDFDF"/>
                      </a:solidFill>
                      <a:prstDash val="solid"/>
                      <a:round/>
                      <a:headEnd type="none" w="med" len="med"/>
                      <a:tailEnd type="none" w="med" len="med"/>
                    </a:lnR>
                    <a:lnT w="2858" cap="flat" cmpd="sng" algn="ctr">
                      <a:solidFill>
                        <a:srgbClr val="DFDFDF"/>
                      </a:solidFill>
                      <a:prstDash val="solid"/>
                      <a:round/>
                      <a:headEnd type="none" w="med" len="med"/>
                      <a:tailEnd type="none" w="med" len="med"/>
                    </a:lnT>
                    <a:lnB w="2858" cap="flat" cmpd="sng" algn="ctr">
                      <a:solidFill>
                        <a:srgbClr val="DFDFDF"/>
                      </a:solidFill>
                      <a:prstDash val="solid"/>
                      <a:round/>
                      <a:headEnd type="none" w="med" len="med"/>
                      <a:tailEnd type="none" w="med" len="med"/>
                    </a:lnB>
                    <a:solidFill>
                      <a:srgbClr val="FFFFFF"/>
                    </a:solidFill>
                  </a:tcPr>
                </a:tc>
                <a:tc>
                  <a:txBody>
                    <a:bodyPr/>
                    <a:lstStyle/>
                    <a:p>
                      <a:pPr algn="ctr" rtl="0" fontAlgn="base"/>
                      <a:r>
                        <a:rPr lang="en-US" sz="1800" b="1" dirty="0">
                          <a:solidFill>
                            <a:srgbClr val="48367D"/>
                          </a:solidFill>
                          <a:effectLst/>
                        </a:rPr>
                        <a:t>DBMS</a:t>
                      </a:r>
                    </a:p>
                  </a:txBody>
                  <a:tcPr marL="94024" marR="94024" marT="94024" marB="94024" anchor="ctr">
                    <a:lnL w="2858" cap="flat" cmpd="sng" algn="ctr">
                      <a:solidFill>
                        <a:srgbClr val="DFDFDF"/>
                      </a:solidFill>
                      <a:prstDash val="solid"/>
                      <a:round/>
                      <a:headEnd type="none" w="med" len="med"/>
                      <a:tailEnd type="none" w="med" len="med"/>
                    </a:lnL>
                    <a:lnR w="2858" cap="flat" cmpd="sng" algn="ctr">
                      <a:solidFill>
                        <a:srgbClr val="DFDFDF"/>
                      </a:solidFill>
                      <a:prstDash val="solid"/>
                      <a:round/>
                      <a:headEnd type="none" w="med" len="med"/>
                      <a:tailEnd type="none" w="med" len="med"/>
                    </a:lnR>
                    <a:lnT w="2858" cap="flat" cmpd="sng" algn="ctr">
                      <a:solidFill>
                        <a:srgbClr val="DFDFDF"/>
                      </a:solidFill>
                      <a:prstDash val="solid"/>
                      <a:round/>
                      <a:headEnd type="none" w="med" len="med"/>
                      <a:tailEnd type="none" w="med" len="med"/>
                    </a:lnT>
                    <a:lnB w="2858" cap="flat" cmpd="sng" algn="ctr">
                      <a:solidFill>
                        <a:srgbClr val="DFDFDF"/>
                      </a:solidFill>
                      <a:prstDash val="solid"/>
                      <a:round/>
                      <a:headEnd type="none" w="med" len="med"/>
                      <a:tailEnd type="none" w="med" len="med"/>
                    </a:lnB>
                    <a:solidFill>
                      <a:srgbClr val="FFFFFF"/>
                    </a:solidFill>
                  </a:tcPr>
                </a:tc>
                <a:extLst>
                  <a:ext uri="{0D108BD9-81ED-4DB2-BD59-A6C34878D82A}">
                    <a16:rowId xmlns:a16="http://schemas.microsoft.com/office/drawing/2014/main" val="2423748766"/>
                  </a:ext>
                </a:extLst>
              </a:tr>
            </a:tbl>
          </a:graphicData>
        </a:graphic>
      </p:graphicFrame>
    </p:spTree>
    <p:extLst>
      <p:ext uri="{BB962C8B-B14F-4D97-AF65-F5344CB8AC3E}">
        <p14:creationId xmlns:p14="http://schemas.microsoft.com/office/powerpoint/2010/main" val="4035606013"/>
      </p:ext>
    </p:extLst>
  </p:cSld>
  <p:clrMapOvr>
    <a:overrideClrMapping bg1="lt1" tx1="dk1" bg2="lt2" tx2="dk2" accent1="accent1" accent2="accent2" accent3="accent3" accent4="accent4" accent5="accent5" accent6="accent6" hlink="hlink" folHlink="folHlink"/>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Number Placeholder 1"/>
          <p:cNvSpPr>
            <a:spLocks noGrp="1"/>
          </p:cNvSpPr>
          <p:nvPr>
            <p:ph type="sldNum" sz="quarter" idx="14"/>
          </p:nvPr>
        </p:nvSpPr>
        <p:spPr/>
        <p:txBody>
          <a:bodyPr/>
          <a:lstStyle/>
          <a:p>
            <a:fld id="{45A3C14A-F937-4231-B6F1-40B429FAFB2F}" type="slidenum">
              <a:rPr lang="en-NZ" smtClean="0"/>
              <a:pPr/>
              <a:t>27</a:t>
            </a:fld>
            <a:endParaRPr lang="en-NZ" dirty="0"/>
          </a:p>
        </p:txBody>
      </p:sp>
      <p:sp>
        <p:nvSpPr>
          <p:cNvPr id="3" name="Title 2"/>
          <p:cNvSpPr>
            <a:spLocks noGrp="1"/>
          </p:cNvSpPr>
          <p:nvPr>
            <p:ph type="title"/>
          </p:nvPr>
        </p:nvSpPr>
        <p:spPr>
          <a:xfrm>
            <a:off x="695400" y="395786"/>
            <a:ext cx="7848872" cy="838202"/>
          </a:xfrm>
        </p:spPr>
        <p:txBody>
          <a:bodyPr/>
          <a:lstStyle/>
          <a:p>
            <a:r>
              <a:rPr lang="en-US" b="1" dirty="0">
                <a:solidFill>
                  <a:srgbClr val="FF0000"/>
                </a:solidFill>
              </a:rPr>
              <a:t> DATABASE APPLICATIONS</a:t>
            </a:r>
            <a:br>
              <a:rPr lang="en-US" b="1" dirty="0">
                <a:solidFill>
                  <a:srgbClr val="FF0000"/>
                </a:solidFill>
              </a:rPr>
            </a:br>
            <a:endParaRPr lang="en-US" b="1" dirty="0">
              <a:solidFill>
                <a:srgbClr val="FF0000"/>
              </a:solidFill>
            </a:endParaRPr>
          </a:p>
        </p:txBody>
      </p:sp>
      <p:sp>
        <p:nvSpPr>
          <p:cNvPr id="4" name="Text Placeholder 3"/>
          <p:cNvSpPr>
            <a:spLocks noGrp="1"/>
          </p:cNvSpPr>
          <p:nvPr>
            <p:ph type="body" sz="quarter" idx="17"/>
          </p:nvPr>
        </p:nvSpPr>
        <p:spPr>
          <a:xfrm>
            <a:off x="47328" y="1242317"/>
            <a:ext cx="5568572" cy="4681640"/>
          </a:xfrm>
        </p:spPr>
        <p:txBody>
          <a:bodyPr/>
          <a:lstStyle/>
          <a:p>
            <a:pPr marL="0" indent="0" algn="just">
              <a:buNone/>
            </a:pPr>
            <a:r>
              <a:rPr lang="en-US" sz="2400" b="1" dirty="0">
                <a:solidFill>
                  <a:srgbClr val="FF0000"/>
                </a:solidFill>
              </a:rPr>
              <a:t>Traditional DATABASE APPLICATIONS</a:t>
            </a:r>
            <a:endParaRPr lang="en-US" sz="2000" dirty="0">
              <a:solidFill>
                <a:srgbClr val="C00000"/>
              </a:solidFill>
              <a:latin typeface="Arial"/>
              <a:ea typeface="+mn-ea"/>
              <a:cs typeface="+mn-cs"/>
            </a:endParaRPr>
          </a:p>
          <a:p>
            <a:pPr marL="342900" indent="-342900" algn="just">
              <a:buFont typeface="Arial" panose="020B0604020202020204" pitchFamily="34" charset="0"/>
              <a:buChar char="•"/>
            </a:pPr>
            <a:r>
              <a:rPr lang="en-US" sz="2000" dirty="0">
                <a:solidFill>
                  <a:schemeClr val="accent6">
                    <a:lumMod val="50000"/>
                  </a:schemeClr>
                </a:solidFill>
                <a:latin typeface="Arial"/>
                <a:ea typeface="+mn-ea"/>
                <a:cs typeface="+mn-cs"/>
              </a:rPr>
              <a:t>Banking</a:t>
            </a:r>
          </a:p>
          <a:p>
            <a:pPr marL="342900" indent="-342900" algn="just">
              <a:buFont typeface="Arial" panose="020B0604020202020204" pitchFamily="34" charset="0"/>
              <a:buChar char="•"/>
            </a:pPr>
            <a:r>
              <a:rPr lang="en-US" sz="2000" dirty="0">
                <a:solidFill>
                  <a:schemeClr val="accent6">
                    <a:lumMod val="50000"/>
                  </a:schemeClr>
                </a:solidFill>
                <a:latin typeface="Arial"/>
                <a:ea typeface="+mn-ea"/>
                <a:cs typeface="+mn-cs"/>
              </a:rPr>
              <a:t>Inventory management system</a:t>
            </a:r>
          </a:p>
          <a:p>
            <a:pPr marL="342900" indent="-342900" algn="just">
              <a:buFont typeface="Arial" panose="020B0604020202020204" pitchFamily="34" charset="0"/>
              <a:buChar char="•"/>
            </a:pPr>
            <a:r>
              <a:rPr lang="en-US" sz="2000" dirty="0">
                <a:solidFill>
                  <a:schemeClr val="accent6">
                    <a:lumMod val="50000"/>
                  </a:schemeClr>
                </a:solidFill>
                <a:latin typeface="Arial"/>
                <a:ea typeface="+mn-ea"/>
                <a:cs typeface="+mn-cs"/>
              </a:rPr>
              <a:t>Airline Reservation system</a:t>
            </a:r>
          </a:p>
          <a:p>
            <a:pPr marL="342900" indent="-342900" algn="just">
              <a:buFont typeface="Arial" panose="020B0604020202020204" pitchFamily="34" charset="0"/>
              <a:buChar char="•"/>
            </a:pPr>
            <a:r>
              <a:rPr lang="en-US" sz="2000" dirty="0">
                <a:solidFill>
                  <a:schemeClr val="accent6">
                    <a:lumMod val="50000"/>
                  </a:schemeClr>
                </a:solidFill>
                <a:latin typeface="Arial"/>
                <a:ea typeface="+mn-ea"/>
                <a:cs typeface="+mn-cs"/>
              </a:rPr>
              <a:t>Library Management System</a:t>
            </a:r>
          </a:p>
          <a:p>
            <a:pPr marL="342900" indent="-342900" algn="just">
              <a:buFont typeface="Arial" panose="020B0604020202020204" pitchFamily="34" charset="0"/>
              <a:buChar char="•"/>
            </a:pPr>
            <a:r>
              <a:rPr lang="en-US" sz="2000" dirty="0">
                <a:solidFill>
                  <a:schemeClr val="accent6">
                    <a:lumMod val="50000"/>
                  </a:schemeClr>
                </a:solidFill>
                <a:latin typeface="Arial"/>
                <a:ea typeface="+mn-ea"/>
                <a:cs typeface="+mn-cs"/>
              </a:rPr>
              <a:t>Hospital Management system</a:t>
            </a:r>
          </a:p>
          <a:p>
            <a:pPr algn="just">
              <a:buFont typeface="Arial" panose="020B0604020202020204" pitchFamily="34" charset="0"/>
              <a:buChar char="•"/>
            </a:pPr>
            <a:endParaRPr lang="en-US" dirty="0"/>
          </a:p>
          <a:p>
            <a:pPr algn="just">
              <a:buFont typeface="Arial" panose="020B0604020202020204" pitchFamily="34" charset="0"/>
              <a:buChar char="•"/>
            </a:pPr>
            <a:endParaRPr lang="en-US" dirty="0"/>
          </a:p>
        </p:txBody>
      </p:sp>
      <p:sp>
        <p:nvSpPr>
          <p:cNvPr id="6" name="Text Placeholder 3">
            <a:extLst>
              <a:ext uri="{FF2B5EF4-FFF2-40B4-BE49-F238E27FC236}">
                <a16:creationId xmlns:a16="http://schemas.microsoft.com/office/drawing/2014/main" id="{BF5EB2C1-2836-351F-8887-68E586E14A0F}"/>
              </a:ext>
            </a:extLst>
          </p:cNvPr>
          <p:cNvSpPr txBox="1">
            <a:spLocks/>
          </p:cNvSpPr>
          <p:nvPr/>
        </p:nvSpPr>
        <p:spPr>
          <a:xfrm>
            <a:off x="5951984" y="1242317"/>
            <a:ext cx="5568572" cy="4681640"/>
          </a:xfrm>
          <a:prstGeom prst="rect">
            <a:avLst/>
          </a:prstGeom>
        </p:spPr>
        <p:txBody>
          <a:bodyPr/>
          <a:lstStyle>
            <a:lvl1pPr marL="457200" indent="-457200" algn="l" defTabSz="914400" rtl="0" eaLnBrk="1" latinLnBrk="0" hangingPunct="1">
              <a:lnSpc>
                <a:spcPct val="90000"/>
              </a:lnSpc>
              <a:spcBef>
                <a:spcPts val="0"/>
              </a:spcBef>
              <a:spcAft>
                <a:spcPts val="1400"/>
              </a:spcAft>
              <a:buFont typeface="+mj-lt"/>
              <a:buAutoNum type="arabicPeriod"/>
              <a:defRPr sz="2400" kern="1200">
                <a:solidFill>
                  <a:schemeClr val="tx1">
                    <a:lumMod val="50000"/>
                    <a:lumOff val="50000"/>
                  </a:schemeClr>
                </a:solidFill>
                <a:latin typeface="Roboto Medium" pitchFamily="2" charset="0"/>
                <a:ea typeface="Roboto Medium" pitchFamily="2" charset="0"/>
                <a:cs typeface="Roboto Medium" pitchFamily="2" charset="0"/>
              </a:defRPr>
            </a:lvl1pPr>
            <a:lvl2pPr marL="700088" indent="-457200" algn="l" defTabSz="914400" rtl="0" eaLnBrk="1" latinLnBrk="0" hangingPunct="1">
              <a:lnSpc>
                <a:spcPct val="90000"/>
              </a:lnSpc>
              <a:spcBef>
                <a:spcPts val="0"/>
              </a:spcBef>
              <a:spcAft>
                <a:spcPts val="1400"/>
              </a:spcAft>
              <a:buFont typeface="+mj-lt"/>
              <a:buAutoNum type="arabicPeriod"/>
              <a:tabLst/>
              <a:defRPr sz="2400" kern="1200">
                <a:solidFill>
                  <a:schemeClr val="tx1">
                    <a:lumMod val="50000"/>
                    <a:lumOff val="50000"/>
                  </a:schemeClr>
                </a:solidFill>
                <a:latin typeface="Roboto Medium" pitchFamily="2" charset="0"/>
                <a:ea typeface="Roboto Medium" pitchFamily="2" charset="0"/>
                <a:cs typeface="Roboto Medium" pitchFamily="2" charset="0"/>
              </a:defRPr>
            </a:lvl2pPr>
            <a:lvl3pPr marL="593725" indent="0" algn="l" defTabSz="914400" rtl="0" eaLnBrk="1" latinLnBrk="0" hangingPunct="1">
              <a:lnSpc>
                <a:spcPct val="90000"/>
              </a:lnSpc>
              <a:spcBef>
                <a:spcPts val="0"/>
              </a:spcBef>
              <a:spcAft>
                <a:spcPts val="1400"/>
              </a:spcAft>
              <a:buFont typeface="Arial" panose="020B0604020202020204" pitchFamily="34" charset="0"/>
              <a:buNone/>
              <a:tabLst/>
              <a:defRPr sz="2000" kern="1200">
                <a:solidFill>
                  <a:schemeClr val="bg1"/>
                </a:solidFill>
                <a:latin typeface="+mn-lt"/>
                <a:ea typeface="+mn-ea"/>
                <a:cs typeface="+mn-cs"/>
              </a:defRPr>
            </a:lvl3pPr>
            <a:lvl4pPr marL="890588" indent="0" algn="l" defTabSz="914400" rtl="0" eaLnBrk="1" latinLnBrk="0" hangingPunct="1">
              <a:lnSpc>
                <a:spcPct val="90000"/>
              </a:lnSpc>
              <a:spcBef>
                <a:spcPts val="0"/>
              </a:spcBef>
              <a:spcAft>
                <a:spcPts val="1400"/>
              </a:spcAft>
              <a:buFont typeface="Arial" panose="020B0604020202020204" pitchFamily="34" charset="0"/>
              <a:buNone/>
              <a:tabLst/>
              <a:defRPr sz="1800" kern="1200">
                <a:solidFill>
                  <a:schemeClr val="bg1"/>
                </a:solidFill>
                <a:latin typeface="+mn-lt"/>
                <a:ea typeface="+mn-ea"/>
                <a:cs typeface="+mn-cs"/>
              </a:defRPr>
            </a:lvl4pPr>
            <a:lvl5pPr marL="1093787" indent="0" algn="l" defTabSz="914400" rtl="0" eaLnBrk="1" latinLnBrk="0" hangingPunct="1">
              <a:lnSpc>
                <a:spcPct val="90000"/>
              </a:lnSpc>
              <a:spcBef>
                <a:spcPts val="0"/>
              </a:spcBef>
              <a:spcAft>
                <a:spcPts val="1400"/>
              </a:spcAft>
              <a:buFont typeface="Arial" panose="020B0604020202020204" pitchFamily="34" charset="0"/>
              <a:buNone/>
              <a:tabLst/>
              <a:defRPr sz="1800" kern="1200">
                <a:solidFill>
                  <a:schemeClr val="bg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lgn="just">
              <a:buFont typeface="+mj-lt"/>
              <a:buNone/>
            </a:pPr>
            <a:r>
              <a:rPr lang="en-US" b="1" dirty="0">
                <a:solidFill>
                  <a:srgbClr val="FF0000"/>
                </a:solidFill>
              </a:rPr>
              <a:t>Advanced DATABASE APPLICATIONS</a:t>
            </a:r>
            <a:endParaRPr lang="en-US" sz="2000" dirty="0">
              <a:solidFill>
                <a:srgbClr val="C00000"/>
              </a:solidFill>
              <a:latin typeface="Arial"/>
              <a:ea typeface="+mn-ea"/>
              <a:cs typeface="+mn-cs"/>
            </a:endParaRPr>
          </a:p>
          <a:p>
            <a:pPr marL="342900" indent="-342900" algn="just">
              <a:buFont typeface="Arial" panose="020B0604020202020204" pitchFamily="34" charset="0"/>
              <a:buChar char="•"/>
            </a:pPr>
            <a:r>
              <a:rPr lang="en-US" sz="2000" dirty="0">
                <a:solidFill>
                  <a:schemeClr val="accent6">
                    <a:lumMod val="50000"/>
                  </a:schemeClr>
                </a:solidFill>
                <a:latin typeface="Arial"/>
                <a:ea typeface="+mn-ea"/>
                <a:cs typeface="+mn-cs"/>
              </a:rPr>
              <a:t>Multimedia Databases</a:t>
            </a:r>
          </a:p>
          <a:p>
            <a:pPr marL="342900" indent="-342900" algn="just">
              <a:buFont typeface="Arial" panose="020B0604020202020204" pitchFamily="34" charset="0"/>
              <a:buChar char="•"/>
            </a:pPr>
            <a:r>
              <a:rPr lang="en-US" sz="2000" dirty="0">
                <a:solidFill>
                  <a:schemeClr val="accent6">
                    <a:lumMod val="50000"/>
                  </a:schemeClr>
                </a:solidFill>
                <a:latin typeface="Arial"/>
                <a:ea typeface="+mn-ea"/>
                <a:cs typeface="+mn-cs"/>
              </a:rPr>
              <a:t>Geographic information system</a:t>
            </a:r>
          </a:p>
          <a:p>
            <a:pPr marL="342900" indent="-342900" algn="just">
              <a:buFont typeface="Arial" panose="020B0604020202020204" pitchFamily="34" charset="0"/>
              <a:buChar char="•"/>
            </a:pPr>
            <a:r>
              <a:rPr lang="en-US" sz="2000" dirty="0">
                <a:solidFill>
                  <a:schemeClr val="accent6">
                    <a:lumMod val="50000"/>
                  </a:schemeClr>
                </a:solidFill>
                <a:latin typeface="Arial"/>
                <a:ea typeface="+mn-ea"/>
                <a:cs typeface="+mn-cs"/>
              </a:rPr>
              <a:t>Data warehouses and OLAP(Online Analytical Processing)</a:t>
            </a:r>
          </a:p>
          <a:p>
            <a:pPr marL="342900" indent="-342900" algn="just">
              <a:buFont typeface="Arial" panose="020B0604020202020204" pitchFamily="34" charset="0"/>
              <a:buChar char="•"/>
            </a:pPr>
            <a:r>
              <a:rPr lang="en-US" sz="2000" dirty="0">
                <a:solidFill>
                  <a:schemeClr val="accent6">
                    <a:lumMod val="50000"/>
                  </a:schemeClr>
                </a:solidFill>
                <a:latin typeface="Arial"/>
                <a:ea typeface="+mn-ea"/>
                <a:cs typeface="+mn-cs"/>
              </a:rPr>
              <a:t>Mobile </a:t>
            </a:r>
            <a:r>
              <a:rPr lang="en-US" sz="2000" dirty="0" err="1">
                <a:solidFill>
                  <a:schemeClr val="accent6">
                    <a:lumMod val="50000"/>
                  </a:schemeClr>
                </a:solidFill>
                <a:latin typeface="Arial"/>
                <a:ea typeface="+mn-ea"/>
                <a:cs typeface="+mn-cs"/>
              </a:rPr>
              <a:t>Databses</a:t>
            </a:r>
            <a:endParaRPr lang="en-US" sz="2000" dirty="0">
              <a:solidFill>
                <a:schemeClr val="accent6">
                  <a:lumMod val="50000"/>
                </a:schemeClr>
              </a:solidFill>
              <a:latin typeface="Arial"/>
              <a:ea typeface="+mn-ea"/>
              <a:cs typeface="+mn-cs"/>
            </a:endParaRPr>
          </a:p>
          <a:p>
            <a:pPr marL="342900" indent="-342900" algn="just">
              <a:buFont typeface="Arial" panose="020B0604020202020204" pitchFamily="34" charset="0"/>
              <a:buChar char="•"/>
            </a:pPr>
            <a:r>
              <a:rPr lang="en-US" sz="2000" dirty="0">
                <a:solidFill>
                  <a:schemeClr val="accent6">
                    <a:lumMod val="50000"/>
                  </a:schemeClr>
                </a:solidFill>
                <a:latin typeface="Arial"/>
                <a:ea typeface="+mn-ea"/>
                <a:cs typeface="+mn-cs"/>
              </a:rPr>
              <a:t>Web Databases</a:t>
            </a:r>
          </a:p>
          <a:p>
            <a:pPr algn="just">
              <a:buFont typeface="Arial" panose="020B0604020202020204" pitchFamily="34" charset="0"/>
              <a:buChar char="•"/>
            </a:pPr>
            <a:endParaRPr lang="en-US" dirty="0"/>
          </a:p>
          <a:p>
            <a:pPr algn="just">
              <a:buFont typeface="Arial" panose="020B0604020202020204" pitchFamily="34" charset="0"/>
              <a:buChar char="•"/>
            </a:pPr>
            <a:endParaRPr lang="en-US" dirty="0"/>
          </a:p>
        </p:txBody>
      </p:sp>
    </p:spTree>
    <p:extLst>
      <p:ext uri="{BB962C8B-B14F-4D97-AF65-F5344CB8AC3E}">
        <p14:creationId xmlns:p14="http://schemas.microsoft.com/office/powerpoint/2010/main" val="2990686752"/>
      </p:ext>
    </p:extLst>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5D9A832-75ED-CC30-1173-45593F04C4E0}"/>
            </a:ext>
          </a:extLst>
        </p:cNvPr>
        <p:cNvGrpSpPr/>
        <p:nvPr/>
      </p:nvGrpSpPr>
      <p:grpSpPr>
        <a:xfrm>
          <a:off x="0" y="0"/>
          <a:ext cx="0" cy="0"/>
          <a:chOff x="0" y="0"/>
          <a:chExt cx="0" cy="0"/>
        </a:xfrm>
      </p:grpSpPr>
      <p:sp>
        <p:nvSpPr>
          <p:cNvPr id="2" name="Slide Number Placeholder 1">
            <a:extLst>
              <a:ext uri="{FF2B5EF4-FFF2-40B4-BE49-F238E27FC236}">
                <a16:creationId xmlns:a16="http://schemas.microsoft.com/office/drawing/2014/main" id="{266964B2-E1FA-46AC-1BA9-498E80B7D342}"/>
              </a:ext>
            </a:extLst>
          </p:cNvPr>
          <p:cNvSpPr>
            <a:spLocks noGrp="1"/>
          </p:cNvSpPr>
          <p:nvPr>
            <p:ph type="sldNum" sz="quarter" idx="14"/>
          </p:nvPr>
        </p:nvSpPr>
        <p:spPr/>
        <p:txBody>
          <a:bodyPr/>
          <a:lstStyle/>
          <a:p>
            <a:fld id="{45A3C14A-F937-4231-B6F1-40B429FAFB2F}" type="slidenum">
              <a:rPr lang="en-NZ" smtClean="0"/>
              <a:pPr/>
              <a:t>28</a:t>
            </a:fld>
            <a:endParaRPr lang="en-NZ" dirty="0"/>
          </a:p>
        </p:txBody>
      </p:sp>
      <p:sp>
        <p:nvSpPr>
          <p:cNvPr id="3" name="Title 2">
            <a:extLst>
              <a:ext uri="{FF2B5EF4-FFF2-40B4-BE49-F238E27FC236}">
                <a16:creationId xmlns:a16="http://schemas.microsoft.com/office/drawing/2014/main" id="{BEAD62A7-FE0D-DFF1-E79B-EA891B817392}"/>
              </a:ext>
            </a:extLst>
          </p:cNvPr>
          <p:cNvSpPr>
            <a:spLocks noGrp="1"/>
          </p:cNvSpPr>
          <p:nvPr>
            <p:ph type="title"/>
          </p:nvPr>
        </p:nvSpPr>
        <p:spPr/>
        <p:txBody>
          <a:bodyPr/>
          <a:lstStyle/>
          <a:p>
            <a:r>
              <a:rPr lang="en-US" b="1" dirty="0">
                <a:solidFill>
                  <a:srgbClr val="FF0000"/>
                </a:solidFill>
              </a:rPr>
              <a:t>DBMS Architecture</a:t>
            </a:r>
            <a:br>
              <a:rPr lang="en-US" b="1" dirty="0">
                <a:solidFill>
                  <a:srgbClr val="FF0000"/>
                </a:solidFill>
              </a:rPr>
            </a:br>
            <a:endParaRPr lang="en-US" b="1" dirty="0">
              <a:solidFill>
                <a:srgbClr val="FF0000"/>
              </a:solidFill>
            </a:endParaRPr>
          </a:p>
        </p:txBody>
      </p:sp>
      <p:sp>
        <p:nvSpPr>
          <p:cNvPr id="4" name="Text Placeholder 3">
            <a:extLst>
              <a:ext uri="{FF2B5EF4-FFF2-40B4-BE49-F238E27FC236}">
                <a16:creationId xmlns:a16="http://schemas.microsoft.com/office/drawing/2014/main" id="{9DB94616-6331-D5D3-8EF8-DE5374EB9F91}"/>
              </a:ext>
            </a:extLst>
          </p:cNvPr>
          <p:cNvSpPr>
            <a:spLocks noGrp="1"/>
          </p:cNvSpPr>
          <p:nvPr>
            <p:ph type="body" sz="quarter" idx="17"/>
          </p:nvPr>
        </p:nvSpPr>
        <p:spPr>
          <a:xfrm>
            <a:off x="695401" y="1412776"/>
            <a:ext cx="5568572" cy="4681640"/>
          </a:xfrm>
        </p:spPr>
        <p:txBody>
          <a:bodyPr/>
          <a:lstStyle/>
          <a:p>
            <a:pPr marL="342900" indent="-342900" algn="just">
              <a:buFont typeface="Arial" panose="020B0604020202020204" pitchFamily="34" charset="0"/>
              <a:buChar char="•"/>
            </a:pPr>
            <a:r>
              <a:rPr lang="en-US" sz="2000" dirty="0">
                <a:solidFill>
                  <a:srgbClr val="C00000"/>
                </a:solidFill>
                <a:latin typeface="Arial"/>
                <a:ea typeface="+mn-ea"/>
                <a:cs typeface="+mn-cs"/>
              </a:rPr>
              <a:t>DBMS architecture depends upon how users are connected to the database to get their request done. The client/server architecture consists of many PCs and a workstation which are connected via the network.</a:t>
            </a:r>
          </a:p>
          <a:p>
            <a:pPr algn="just">
              <a:buFont typeface="Arial" panose="020B0604020202020204" pitchFamily="34" charset="0"/>
              <a:buChar char="•"/>
            </a:pPr>
            <a:endParaRPr lang="en-US" dirty="0"/>
          </a:p>
          <a:p>
            <a:pPr algn="just">
              <a:buFont typeface="Arial" panose="020B0604020202020204" pitchFamily="34" charset="0"/>
              <a:buChar char="•"/>
            </a:pPr>
            <a:endParaRPr lang="en-US" dirty="0"/>
          </a:p>
        </p:txBody>
      </p:sp>
      <p:pic>
        <p:nvPicPr>
          <p:cNvPr id="5" name="Picture 2" descr="DBMS Architecture">
            <a:extLst>
              <a:ext uri="{FF2B5EF4-FFF2-40B4-BE49-F238E27FC236}">
                <a16:creationId xmlns:a16="http://schemas.microsoft.com/office/drawing/2014/main" id="{67C47FCA-8732-E239-26EF-DA4F21B381F1}"/>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5663952" y="2782048"/>
            <a:ext cx="5401300" cy="3312368"/>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3589343404"/>
      </p:ext>
    </p:extLst>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Number Placeholder 1"/>
          <p:cNvSpPr>
            <a:spLocks noGrp="1"/>
          </p:cNvSpPr>
          <p:nvPr>
            <p:ph type="sldNum" sz="quarter" idx="14"/>
          </p:nvPr>
        </p:nvSpPr>
        <p:spPr/>
        <p:txBody>
          <a:bodyPr/>
          <a:lstStyle/>
          <a:p>
            <a:fld id="{45A3C14A-F937-4231-B6F1-40B429FAFB2F}" type="slidenum">
              <a:rPr lang="en-NZ" smtClean="0"/>
              <a:pPr/>
              <a:t>29</a:t>
            </a:fld>
            <a:endParaRPr lang="en-NZ" dirty="0"/>
          </a:p>
        </p:txBody>
      </p:sp>
      <p:sp>
        <p:nvSpPr>
          <p:cNvPr id="3" name="Title 2"/>
          <p:cNvSpPr>
            <a:spLocks noGrp="1"/>
          </p:cNvSpPr>
          <p:nvPr>
            <p:ph type="title"/>
          </p:nvPr>
        </p:nvSpPr>
        <p:spPr/>
        <p:txBody>
          <a:bodyPr/>
          <a:lstStyle/>
          <a:p>
            <a:r>
              <a:rPr lang="en-US" b="1" dirty="0">
                <a:solidFill>
                  <a:srgbClr val="FF0000"/>
                </a:solidFill>
              </a:rPr>
              <a:t>1-Tier Architecture</a:t>
            </a:r>
            <a:br>
              <a:rPr lang="en-US" b="1" dirty="0">
                <a:solidFill>
                  <a:srgbClr val="FF0000"/>
                </a:solidFill>
              </a:rPr>
            </a:br>
            <a:endParaRPr lang="en-US" b="1" dirty="0">
              <a:solidFill>
                <a:srgbClr val="FF0000"/>
              </a:solidFill>
            </a:endParaRPr>
          </a:p>
        </p:txBody>
      </p:sp>
      <p:sp>
        <p:nvSpPr>
          <p:cNvPr id="4" name="Text Placeholder 3"/>
          <p:cNvSpPr>
            <a:spLocks noGrp="1"/>
          </p:cNvSpPr>
          <p:nvPr>
            <p:ph type="body" sz="quarter" idx="17"/>
          </p:nvPr>
        </p:nvSpPr>
        <p:spPr>
          <a:xfrm>
            <a:off x="695400" y="963388"/>
            <a:ext cx="10671745" cy="5132611"/>
          </a:xfrm>
        </p:spPr>
        <p:txBody>
          <a:bodyPr/>
          <a:lstStyle/>
          <a:p>
            <a:pPr algn="just">
              <a:buFont typeface="Arial" panose="020B0604020202020204" pitchFamily="34" charset="0"/>
              <a:buChar char="•"/>
            </a:pPr>
            <a:r>
              <a:rPr lang="en-US" sz="1800" dirty="0">
                <a:solidFill>
                  <a:srgbClr val="C00000"/>
                </a:solidFill>
                <a:latin typeface="Arial"/>
                <a:ea typeface="+mn-ea"/>
                <a:cs typeface="+mn-cs"/>
              </a:rPr>
              <a:t>In this architecture, the database is directly available to the user. It means the user can directly sit on the DBMS and uses it.</a:t>
            </a:r>
          </a:p>
          <a:p>
            <a:pPr algn="just">
              <a:buFont typeface="Arial" panose="020B0604020202020204" pitchFamily="34" charset="0"/>
              <a:buChar char="•"/>
            </a:pPr>
            <a:r>
              <a:rPr lang="en-US" sz="1800" dirty="0">
                <a:solidFill>
                  <a:srgbClr val="C00000"/>
                </a:solidFill>
                <a:latin typeface="Arial"/>
                <a:ea typeface="+mn-ea"/>
                <a:cs typeface="+mn-cs"/>
              </a:rPr>
              <a:t>Any changes done here will directly be done on the database itself. It doesn't provide a handy tool for end users.</a:t>
            </a:r>
          </a:p>
          <a:p>
            <a:pPr algn="just">
              <a:buFont typeface="Arial" panose="020B0604020202020204" pitchFamily="34" charset="0"/>
              <a:buChar char="•"/>
            </a:pPr>
            <a:r>
              <a:rPr lang="en-US" sz="1800" b="1" dirty="0">
                <a:solidFill>
                  <a:srgbClr val="C00000"/>
                </a:solidFill>
                <a:latin typeface="Arial"/>
                <a:ea typeface="+mn-ea"/>
                <a:cs typeface="+mn-cs"/>
              </a:rPr>
              <a:t>Advantages</a:t>
            </a:r>
          </a:p>
          <a:p>
            <a:pPr lvl="2" algn="just" fontAlgn="base"/>
            <a:r>
              <a:rPr lang="en-US" sz="1800" b="1" dirty="0">
                <a:solidFill>
                  <a:srgbClr val="C00000"/>
                </a:solidFill>
                <a:latin typeface="Arial"/>
                <a:ea typeface="+mn-ea"/>
                <a:cs typeface="+mn-cs"/>
              </a:rPr>
              <a:t>Simple Architecture:</a:t>
            </a:r>
            <a:r>
              <a:rPr lang="en-US" sz="1800" dirty="0">
                <a:solidFill>
                  <a:srgbClr val="C00000"/>
                </a:solidFill>
                <a:latin typeface="Arial"/>
                <a:ea typeface="+mn-ea"/>
                <a:cs typeface="+mn-cs"/>
              </a:rPr>
              <a:t> 1-Tier Architecture is the most simple architecture to set up, as only a single machine is required to maintain it.</a:t>
            </a:r>
          </a:p>
          <a:p>
            <a:pPr lvl="2" algn="just" fontAlgn="base"/>
            <a:r>
              <a:rPr lang="en-US" sz="1800" b="1" dirty="0">
                <a:solidFill>
                  <a:srgbClr val="C00000"/>
                </a:solidFill>
                <a:latin typeface="Arial"/>
                <a:ea typeface="+mn-ea"/>
                <a:cs typeface="+mn-cs"/>
              </a:rPr>
              <a:t>Cost-Effective:</a:t>
            </a:r>
            <a:r>
              <a:rPr lang="en-US" sz="1800" dirty="0">
                <a:solidFill>
                  <a:srgbClr val="C00000"/>
                </a:solidFill>
                <a:latin typeface="Arial"/>
                <a:ea typeface="+mn-ea"/>
                <a:cs typeface="+mn-cs"/>
              </a:rPr>
              <a:t> No additional hardware is required for implementing 1-Tier Architecture, which makes it cost-effective.</a:t>
            </a:r>
          </a:p>
          <a:p>
            <a:pPr lvl="2" algn="just" fontAlgn="base"/>
            <a:r>
              <a:rPr lang="en-US" sz="1800" b="1" dirty="0">
                <a:solidFill>
                  <a:srgbClr val="C00000"/>
                </a:solidFill>
                <a:latin typeface="Arial"/>
                <a:ea typeface="+mn-ea"/>
                <a:cs typeface="+mn-cs"/>
              </a:rPr>
              <a:t>Easy to Implement:</a:t>
            </a:r>
            <a:r>
              <a:rPr lang="en-US" sz="1800" dirty="0">
                <a:solidFill>
                  <a:srgbClr val="C00000"/>
                </a:solidFill>
                <a:latin typeface="Arial"/>
                <a:ea typeface="+mn-ea"/>
                <a:cs typeface="+mn-cs"/>
              </a:rPr>
              <a:t> 1-Tier Architecture can be easily deployed, and hence it is mostly used in small projects</a:t>
            </a:r>
            <a:r>
              <a:rPr lang="en-US" sz="1600" dirty="0">
                <a:solidFill>
                  <a:srgbClr val="C00000"/>
                </a:solidFill>
                <a:latin typeface="Arial"/>
                <a:ea typeface="+mn-ea"/>
                <a:cs typeface="+mn-cs"/>
              </a:rPr>
              <a:t>. </a:t>
            </a:r>
          </a:p>
          <a:p>
            <a:pPr algn="just">
              <a:buFont typeface="Arial" panose="020B0604020202020204" pitchFamily="34" charset="0"/>
              <a:buChar char="•"/>
            </a:pPr>
            <a:endParaRPr lang="en-US" sz="2000" dirty="0">
              <a:solidFill>
                <a:srgbClr val="C00000"/>
              </a:solidFill>
              <a:latin typeface="Arial"/>
              <a:ea typeface="+mn-ea"/>
              <a:cs typeface="+mn-cs"/>
            </a:endParaRPr>
          </a:p>
          <a:p>
            <a:pPr algn="just"/>
            <a:endParaRPr lang="en-US" dirty="0"/>
          </a:p>
        </p:txBody>
      </p:sp>
      <p:sp>
        <p:nvSpPr>
          <p:cNvPr id="5" name="AutoShape 2" descr="DBMS 1-Tier Architecture"/>
          <p:cNvSpPr>
            <a:spLocks noChangeAspect="1" noChangeArrowheads="1"/>
          </p:cNvSpPr>
          <p:nvPr/>
        </p:nvSpPr>
        <p:spPr bwMode="auto">
          <a:xfrm>
            <a:off x="155575" y="-144463"/>
            <a:ext cx="304800" cy="304801"/>
          </a:xfrm>
          <a:prstGeom prst="rect">
            <a:avLst/>
          </a:prstGeom>
          <a:noFill/>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en-US"/>
          </a:p>
        </p:txBody>
      </p:sp>
      <p:pic>
        <p:nvPicPr>
          <p:cNvPr id="6" name="Picture 5"/>
          <p:cNvPicPr>
            <a:picLocks noChangeAspect="1"/>
          </p:cNvPicPr>
          <p:nvPr/>
        </p:nvPicPr>
        <p:blipFill>
          <a:blip r:embed="rId2"/>
          <a:stretch>
            <a:fillRect/>
          </a:stretch>
        </p:blipFill>
        <p:spPr>
          <a:xfrm>
            <a:off x="3935760" y="4673364"/>
            <a:ext cx="4468836" cy="1422635"/>
          </a:xfrm>
          <a:prstGeom prst="rect">
            <a:avLst/>
          </a:prstGeom>
        </p:spPr>
      </p:pic>
    </p:spTree>
    <p:extLst>
      <p:ext uri="{BB962C8B-B14F-4D97-AF65-F5344CB8AC3E}">
        <p14:creationId xmlns:p14="http://schemas.microsoft.com/office/powerpoint/2010/main" val="3704620425"/>
      </p:ext>
    </p:extLst>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29ED8E0-3F60-68CD-4B75-7B81F834BA99}"/>
            </a:ext>
          </a:extLst>
        </p:cNvPr>
        <p:cNvGrpSpPr/>
        <p:nvPr/>
      </p:nvGrpSpPr>
      <p:grpSpPr>
        <a:xfrm>
          <a:off x="0" y="0"/>
          <a:ext cx="0" cy="0"/>
          <a:chOff x="0" y="0"/>
          <a:chExt cx="0" cy="0"/>
        </a:xfrm>
      </p:grpSpPr>
      <p:sp>
        <p:nvSpPr>
          <p:cNvPr id="2" name="Slide Number Placeholder 1">
            <a:extLst>
              <a:ext uri="{FF2B5EF4-FFF2-40B4-BE49-F238E27FC236}">
                <a16:creationId xmlns:a16="http://schemas.microsoft.com/office/drawing/2014/main" id="{BA6AFFF2-E90F-421F-4864-3EA2049081DC}"/>
              </a:ext>
            </a:extLst>
          </p:cNvPr>
          <p:cNvSpPr>
            <a:spLocks noGrp="1"/>
          </p:cNvSpPr>
          <p:nvPr>
            <p:ph type="sldNum" sz="quarter" idx="14"/>
          </p:nvPr>
        </p:nvSpPr>
        <p:spPr/>
        <p:txBody>
          <a:bodyPr/>
          <a:lstStyle/>
          <a:p>
            <a:fld id="{45A3C14A-F937-4231-B6F1-40B429FAFB2F}" type="slidenum">
              <a:rPr lang="en-NZ" smtClean="0"/>
              <a:pPr/>
              <a:t>30</a:t>
            </a:fld>
            <a:endParaRPr lang="en-NZ" dirty="0"/>
          </a:p>
        </p:txBody>
      </p:sp>
      <p:sp>
        <p:nvSpPr>
          <p:cNvPr id="3" name="Title 2">
            <a:extLst>
              <a:ext uri="{FF2B5EF4-FFF2-40B4-BE49-F238E27FC236}">
                <a16:creationId xmlns:a16="http://schemas.microsoft.com/office/drawing/2014/main" id="{B74FA734-7BCC-CF21-506A-A40C47033D29}"/>
              </a:ext>
            </a:extLst>
          </p:cNvPr>
          <p:cNvSpPr>
            <a:spLocks noGrp="1"/>
          </p:cNvSpPr>
          <p:nvPr>
            <p:ph type="title"/>
          </p:nvPr>
        </p:nvSpPr>
        <p:spPr>
          <a:xfrm>
            <a:off x="697181" y="160338"/>
            <a:ext cx="6211927" cy="838202"/>
          </a:xfrm>
        </p:spPr>
        <p:txBody>
          <a:bodyPr/>
          <a:lstStyle/>
          <a:p>
            <a:r>
              <a:rPr lang="en-US" b="1" dirty="0">
                <a:solidFill>
                  <a:srgbClr val="FF0000"/>
                </a:solidFill>
              </a:rPr>
              <a:t>1-Tier Architecture</a:t>
            </a:r>
            <a:br>
              <a:rPr lang="en-US" b="1" dirty="0">
                <a:solidFill>
                  <a:srgbClr val="FF0000"/>
                </a:solidFill>
              </a:rPr>
            </a:br>
            <a:endParaRPr lang="en-US" b="1" dirty="0">
              <a:solidFill>
                <a:srgbClr val="FF0000"/>
              </a:solidFill>
            </a:endParaRPr>
          </a:p>
        </p:txBody>
      </p:sp>
      <p:sp>
        <p:nvSpPr>
          <p:cNvPr id="4" name="Text Placeholder 3">
            <a:extLst>
              <a:ext uri="{FF2B5EF4-FFF2-40B4-BE49-F238E27FC236}">
                <a16:creationId xmlns:a16="http://schemas.microsoft.com/office/drawing/2014/main" id="{A20FB809-5531-9F84-CA93-570D7008DC7A}"/>
              </a:ext>
            </a:extLst>
          </p:cNvPr>
          <p:cNvSpPr>
            <a:spLocks noGrp="1"/>
          </p:cNvSpPr>
          <p:nvPr>
            <p:ph type="body" sz="quarter" idx="17"/>
          </p:nvPr>
        </p:nvSpPr>
        <p:spPr>
          <a:xfrm>
            <a:off x="460375" y="635870"/>
            <a:ext cx="11731625" cy="5132611"/>
          </a:xfrm>
        </p:spPr>
        <p:txBody>
          <a:bodyPr/>
          <a:lstStyle/>
          <a:p>
            <a:pPr marL="0" indent="0" algn="just">
              <a:buNone/>
            </a:pPr>
            <a:r>
              <a:rPr lang="en-US" sz="2000" b="1" dirty="0">
                <a:solidFill>
                  <a:schemeClr val="accent2">
                    <a:lumMod val="60000"/>
                    <a:lumOff val="40000"/>
                  </a:schemeClr>
                </a:solidFill>
              </a:rPr>
              <a:t>Characteristics:</a:t>
            </a:r>
          </a:p>
          <a:p>
            <a:pPr algn="just">
              <a:buFont typeface="Arial" panose="020B0604020202020204" pitchFamily="34" charset="0"/>
              <a:buChar char="•"/>
            </a:pPr>
            <a:r>
              <a:rPr lang="en-US" sz="2000" b="1" dirty="0">
                <a:solidFill>
                  <a:schemeClr val="tx1"/>
                </a:solidFill>
              </a:rPr>
              <a:t>Single-layer setup</a:t>
            </a:r>
            <a:r>
              <a:rPr lang="en-US" sz="2000" dirty="0">
                <a:solidFill>
                  <a:schemeClr val="tx1"/>
                </a:solidFill>
              </a:rPr>
              <a:t>: User and database reside on the same machine.</a:t>
            </a:r>
          </a:p>
          <a:p>
            <a:pPr algn="just">
              <a:buFont typeface="Arial" panose="020B0604020202020204" pitchFamily="34" charset="0"/>
              <a:buChar char="•"/>
            </a:pPr>
            <a:r>
              <a:rPr lang="en-US" sz="2000" dirty="0">
                <a:solidFill>
                  <a:schemeClr val="tx1"/>
                </a:solidFill>
              </a:rPr>
              <a:t>Suitable for standalone systems and individual users.</a:t>
            </a:r>
          </a:p>
          <a:p>
            <a:pPr algn="just">
              <a:buFont typeface="Arial" panose="020B0604020202020204" pitchFamily="34" charset="0"/>
              <a:buChar char="•"/>
            </a:pPr>
            <a:r>
              <a:rPr lang="en-US" sz="2000" dirty="0">
                <a:solidFill>
                  <a:schemeClr val="tx1"/>
                </a:solidFill>
              </a:rPr>
              <a:t>No network is involved.</a:t>
            </a:r>
          </a:p>
          <a:p>
            <a:pPr algn="just">
              <a:buFont typeface="Arial" panose="020B0604020202020204" pitchFamily="34" charset="0"/>
              <a:buChar char="•"/>
            </a:pPr>
            <a:r>
              <a:rPr lang="en-US" sz="2000" dirty="0">
                <a:solidFill>
                  <a:schemeClr val="tx1"/>
                </a:solidFill>
              </a:rPr>
              <a:t>Low security as the database can be directly accessed by the user.</a:t>
            </a:r>
          </a:p>
          <a:p>
            <a:pPr marL="0" indent="0" algn="just">
              <a:buNone/>
            </a:pPr>
            <a:r>
              <a:rPr lang="en-US" sz="2000" b="1" dirty="0">
                <a:solidFill>
                  <a:schemeClr val="accent2">
                    <a:lumMod val="60000"/>
                    <a:lumOff val="40000"/>
                  </a:schemeClr>
                </a:solidFill>
              </a:rPr>
              <a:t>Real-Time Examples:</a:t>
            </a:r>
          </a:p>
          <a:p>
            <a:pPr algn="just">
              <a:buFont typeface="+mj-lt"/>
              <a:buAutoNum type="arabicPeriod"/>
            </a:pPr>
            <a:r>
              <a:rPr lang="en-US" sz="2000" b="1" dirty="0">
                <a:solidFill>
                  <a:schemeClr val="tx1"/>
                </a:solidFill>
              </a:rPr>
              <a:t>Microsoft Access</a:t>
            </a:r>
            <a:r>
              <a:rPr lang="en-US" sz="2000" dirty="0">
                <a:solidFill>
                  <a:schemeClr val="tx1"/>
                </a:solidFill>
              </a:rPr>
              <a:t>: A simple database where the data and application logic exist on the same computer.</a:t>
            </a:r>
          </a:p>
          <a:p>
            <a:pPr algn="just">
              <a:buFont typeface="+mj-lt"/>
              <a:buAutoNum type="arabicPeriod"/>
            </a:pPr>
            <a:r>
              <a:rPr lang="en-US" sz="2000" b="1" dirty="0">
                <a:solidFill>
                  <a:schemeClr val="tx1"/>
                </a:solidFill>
              </a:rPr>
              <a:t>SQLite</a:t>
            </a:r>
            <a:r>
              <a:rPr lang="en-US" sz="2000" dirty="0">
                <a:solidFill>
                  <a:schemeClr val="tx1"/>
                </a:solidFill>
              </a:rPr>
              <a:t>: Commonly used in mobile or embedded devices where the database and the application run on the same device.</a:t>
            </a:r>
          </a:p>
          <a:p>
            <a:pPr marL="0" indent="0" algn="just">
              <a:buNone/>
            </a:pPr>
            <a:r>
              <a:rPr lang="en-US" sz="2000" dirty="0">
                <a:solidFill>
                  <a:srgbClr val="FF0000"/>
                </a:solidFill>
              </a:rPr>
              <a:t>Scenario: </a:t>
            </a:r>
            <a:r>
              <a:rPr lang="en-US" sz="2000" dirty="0">
                <a:solidFill>
                  <a:schemeClr val="tx1"/>
                </a:solidFill>
              </a:rPr>
              <a:t>You have a grocery list stored in an Excel file.</a:t>
            </a:r>
          </a:p>
          <a:p>
            <a:pPr marL="0" indent="0" algn="just">
              <a:buNone/>
            </a:pPr>
            <a:r>
              <a:rPr lang="en-US" sz="2000" dirty="0">
                <a:solidFill>
                  <a:srgbClr val="FF0000"/>
                </a:solidFill>
              </a:rPr>
              <a:t>How it works: </a:t>
            </a:r>
            <a:r>
              <a:rPr lang="en-US" sz="2000" dirty="0">
                <a:solidFill>
                  <a:schemeClr val="tx1"/>
                </a:solidFill>
              </a:rPr>
              <a:t>You open the file and directly edit or read the data yourself.</a:t>
            </a:r>
          </a:p>
          <a:p>
            <a:pPr algn="just">
              <a:buFont typeface="+mj-lt"/>
              <a:buAutoNum type="arabicPeriod"/>
            </a:pPr>
            <a:endParaRPr lang="en-US" dirty="0">
              <a:solidFill>
                <a:schemeClr val="tx1"/>
              </a:solidFill>
            </a:endParaRPr>
          </a:p>
        </p:txBody>
      </p:sp>
      <p:sp>
        <p:nvSpPr>
          <p:cNvPr id="5" name="AutoShape 2" descr="DBMS 1-Tier Architecture">
            <a:extLst>
              <a:ext uri="{FF2B5EF4-FFF2-40B4-BE49-F238E27FC236}">
                <a16:creationId xmlns:a16="http://schemas.microsoft.com/office/drawing/2014/main" id="{153A485F-1186-EA36-4D8E-FDB2E3F73B6C}"/>
              </a:ext>
            </a:extLst>
          </p:cNvPr>
          <p:cNvSpPr>
            <a:spLocks noChangeAspect="1" noChangeArrowheads="1"/>
          </p:cNvSpPr>
          <p:nvPr/>
        </p:nvSpPr>
        <p:spPr bwMode="auto">
          <a:xfrm>
            <a:off x="155575" y="-144463"/>
            <a:ext cx="304800" cy="304801"/>
          </a:xfrm>
          <a:prstGeom prst="rect">
            <a:avLst/>
          </a:prstGeom>
          <a:noFill/>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en-US"/>
          </a:p>
        </p:txBody>
      </p:sp>
    </p:spTree>
    <p:extLst>
      <p:ext uri="{BB962C8B-B14F-4D97-AF65-F5344CB8AC3E}">
        <p14:creationId xmlns:p14="http://schemas.microsoft.com/office/powerpoint/2010/main" val="1146094687"/>
      </p:ext>
    </p:extLst>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Number Placeholder 1"/>
          <p:cNvSpPr>
            <a:spLocks noGrp="1"/>
          </p:cNvSpPr>
          <p:nvPr>
            <p:ph type="sldNum" sz="quarter" idx="14"/>
          </p:nvPr>
        </p:nvSpPr>
        <p:spPr/>
        <p:txBody>
          <a:bodyPr/>
          <a:lstStyle/>
          <a:p>
            <a:fld id="{45A3C14A-F937-4231-B6F1-40B429FAFB2F}" type="slidenum">
              <a:rPr lang="en-NZ" smtClean="0"/>
              <a:pPr/>
              <a:t>31</a:t>
            </a:fld>
            <a:endParaRPr lang="en-NZ" dirty="0"/>
          </a:p>
        </p:txBody>
      </p:sp>
      <p:sp>
        <p:nvSpPr>
          <p:cNvPr id="3" name="Title 2"/>
          <p:cNvSpPr>
            <a:spLocks noGrp="1"/>
          </p:cNvSpPr>
          <p:nvPr>
            <p:ph type="title"/>
          </p:nvPr>
        </p:nvSpPr>
        <p:spPr/>
        <p:txBody>
          <a:bodyPr/>
          <a:lstStyle/>
          <a:p>
            <a:r>
              <a:rPr lang="en-US" b="1" dirty="0">
                <a:solidFill>
                  <a:srgbClr val="FF0000"/>
                </a:solidFill>
              </a:rPr>
              <a:t>2-Tier Architecture</a:t>
            </a:r>
            <a:br>
              <a:rPr lang="en-US" b="1" dirty="0">
                <a:solidFill>
                  <a:srgbClr val="FF0000"/>
                </a:solidFill>
              </a:rPr>
            </a:br>
            <a:endParaRPr lang="en-US" b="1" dirty="0">
              <a:solidFill>
                <a:srgbClr val="FF0000"/>
              </a:solidFill>
            </a:endParaRPr>
          </a:p>
        </p:txBody>
      </p:sp>
      <p:sp>
        <p:nvSpPr>
          <p:cNvPr id="4" name="Text Placeholder 3"/>
          <p:cNvSpPr>
            <a:spLocks noGrp="1"/>
          </p:cNvSpPr>
          <p:nvPr>
            <p:ph type="body" sz="quarter" idx="17"/>
          </p:nvPr>
        </p:nvSpPr>
        <p:spPr>
          <a:xfrm>
            <a:off x="695400" y="1340768"/>
            <a:ext cx="6768751" cy="4753648"/>
          </a:xfrm>
        </p:spPr>
        <p:txBody>
          <a:bodyPr/>
          <a:lstStyle/>
          <a:p>
            <a:pPr algn="just">
              <a:buFont typeface="Arial" panose="020B0604020202020204" pitchFamily="34" charset="0"/>
              <a:buChar char="•"/>
            </a:pPr>
            <a:r>
              <a:rPr lang="en-US" sz="2000" dirty="0">
                <a:solidFill>
                  <a:srgbClr val="C00000"/>
                </a:solidFill>
                <a:latin typeface="Arial"/>
                <a:ea typeface="+mn-ea"/>
                <a:cs typeface="+mn-cs"/>
              </a:rPr>
              <a:t>The 2-Tier architecture is same as basic client-server. In the two-tier architecture, applications on the client end can directly communicate with the database at the server side. For this interaction, API's like: ODBC, JDBC are used.</a:t>
            </a:r>
          </a:p>
          <a:p>
            <a:pPr algn="just">
              <a:buFont typeface="Arial" panose="020B0604020202020204" pitchFamily="34" charset="0"/>
              <a:buChar char="•"/>
            </a:pPr>
            <a:r>
              <a:rPr lang="en-US" sz="2000" dirty="0">
                <a:solidFill>
                  <a:srgbClr val="C00000"/>
                </a:solidFill>
                <a:latin typeface="Arial"/>
                <a:ea typeface="+mn-ea"/>
                <a:cs typeface="+mn-cs"/>
              </a:rPr>
              <a:t>The user interfaces and application programs are run on the client-side.</a:t>
            </a:r>
          </a:p>
          <a:p>
            <a:pPr algn="just">
              <a:buFont typeface="Arial" panose="020B0604020202020204" pitchFamily="34" charset="0"/>
              <a:buChar char="•"/>
            </a:pPr>
            <a:r>
              <a:rPr lang="en-US" sz="2000" dirty="0">
                <a:solidFill>
                  <a:srgbClr val="C00000"/>
                </a:solidFill>
                <a:latin typeface="Arial"/>
                <a:ea typeface="+mn-ea"/>
                <a:cs typeface="+mn-cs"/>
              </a:rPr>
              <a:t>The server side is responsible to provide the functionalities like: query processing and transaction management.</a:t>
            </a:r>
          </a:p>
          <a:p>
            <a:pPr algn="just">
              <a:buFont typeface="Arial" panose="020B0604020202020204" pitchFamily="34" charset="0"/>
              <a:buChar char="•"/>
            </a:pPr>
            <a:r>
              <a:rPr lang="en-US" sz="2000" dirty="0">
                <a:solidFill>
                  <a:srgbClr val="C00000"/>
                </a:solidFill>
                <a:latin typeface="Arial"/>
                <a:ea typeface="+mn-ea"/>
                <a:cs typeface="+mn-cs"/>
              </a:rPr>
              <a:t>To communicate with the DBMS, client-side application establishes a connection with the server side.</a:t>
            </a:r>
          </a:p>
          <a:p>
            <a:endParaRPr lang="en-US" dirty="0"/>
          </a:p>
        </p:txBody>
      </p:sp>
      <p:pic>
        <p:nvPicPr>
          <p:cNvPr id="6146" name="Picture 2" descr="DBMS Architecture"/>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7902898" y="1233988"/>
            <a:ext cx="3762375" cy="4016574"/>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614947493"/>
      </p:ext>
    </p:extLst>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34CD2C4-761A-82B5-83D4-4CDBC7C26CF1}"/>
            </a:ext>
          </a:extLst>
        </p:cNvPr>
        <p:cNvGrpSpPr/>
        <p:nvPr/>
      </p:nvGrpSpPr>
      <p:grpSpPr>
        <a:xfrm>
          <a:off x="0" y="0"/>
          <a:ext cx="0" cy="0"/>
          <a:chOff x="0" y="0"/>
          <a:chExt cx="0" cy="0"/>
        </a:xfrm>
      </p:grpSpPr>
      <p:sp>
        <p:nvSpPr>
          <p:cNvPr id="2" name="Slide Number Placeholder 1">
            <a:extLst>
              <a:ext uri="{FF2B5EF4-FFF2-40B4-BE49-F238E27FC236}">
                <a16:creationId xmlns:a16="http://schemas.microsoft.com/office/drawing/2014/main" id="{7D66B28E-1421-1F24-978D-E77FE8CCFD27}"/>
              </a:ext>
            </a:extLst>
          </p:cNvPr>
          <p:cNvSpPr>
            <a:spLocks noGrp="1"/>
          </p:cNvSpPr>
          <p:nvPr>
            <p:ph type="sldNum" sz="quarter" idx="14"/>
          </p:nvPr>
        </p:nvSpPr>
        <p:spPr/>
        <p:txBody>
          <a:bodyPr/>
          <a:lstStyle/>
          <a:p>
            <a:fld id="{45A3C14A-F937-4231-B6F1-40B429FAFB2F}" type="slidenum">
              <a:rPr lang="en-NZ" smtClean="0"/>
              <a:pPr/>
              <a:t>32</a:t>
            </a:fld>
            <a:endParaRPr lang="en-NZ" dirty="0"/>
          </a:p>
        </p:txBody>
      </p:sp>
      <p:sp>
        <p:nvSpPr>
          <p:cNvPr id="3" name="Title 2">
            <a:extLst>
              <a:ext uri="{FF2B5EF4-FFF2-40B4-BE49-F238E27FC236}">
                <a16:creationId xmlns:a16="http://schemas.microsoft.com/office/drawing/2014/main" id="{98691330-BCFF-B94C-4564-1A0C49A18058}"/>
              </a:ext>
            </a:extLst>
          </p:cNvPr>
          <p:cNvSpPr>
            <a:spLocks noGrp="1"/>
          </p:cNvSpPr>
          <p:nvPr>
            <p:ph type="title"/>
          </p:nvPr>
        </p:nvSpPr>
        <p:spPr/>
        <p:txBody>
          <a:bodyPr/>
          <a:lstStyle/>
          <a:p>
            <a:r>
              <a:rPr lang="en-US" b="1" dirty="0">
                <a:solidFill>
                  <a:srgbClr val="FF0000"/>
                </a:solidFill>
              </a:rPr>
              <a:t>2-Tier Architecture</a:t>
            </a:r>
            <a:br>
              <a:rPr lang="en-US" b="1" dirty="0">
                <a:solidFill>
                  <a:srgbClr val="FF0000"/>
                </a:solidFill>
              </a:rPr>
            </a:br>
            <a:endParaRPr lang="en-US" b="1" dirty="0">
              <a:solidFill>
                <a:srgbClr val="FF0000"/>
              </a:solidFill>
            </a:endParaRPr>
          </a:p>
        </p:txBody>
      </p:sp>
      <p:sp>
        <p:nvSpPr>
          <p:cNvPr id="4" name="Text Placeholder 3">
            <a:extLst>
              <a:ext uri="{FF2B5EF4-FFF2-40B4-BE49-F238E27FC236}">
                <a16:creationId xmlns:a16="http://schemas.microsoft.com/office/drawing/2014/main" id="{4D89C62A-C7A1-3D73-DBD3-AEF396B12233}"/>
              </a:ext>
            </a:extLst>
          </p:cNvPr>
          <p:cNvSpPr>
            <a:spLocks noGrp="1"/>
          </p:cNvSpPr>
          <p:nvPr>
            <p:ph type="body" sz="quarter" idx="17"/>
          </p:nvPr>
        </p:nvSpPr>
        <p:spPr>
          <a:xfrm>
            <a:off x="695400" y="963388"/>
            <a:ext cx="10671745" cy="5132611"/>
          </a:xfrm>
        </p:spPr>
        <p:txBody>
          <a:bodyPr/>
          <a:lstStyle/>
          <a:p>
            <a:pPr marL="0" indent="0">
              <a:buNone/>
            </a:pPr>
            <a:r>
              <a:rPr lang="en-US" b="1" dirty="0">
                <a:solidFill>
                  <a:schemeClr val="accent2">
                    <a:lumMod val="60000"/>
                    <a:lumOff val="40000"/>
                  </a:schemeClr>
                </a:solidFill>
              </a:rPr>
              <a:t>Characteristics:</a:t>
            </a:r>
          </a:p>
          <a:p>
            <a:pPr>
              <a:buFont typeface="Arial" panose="020B0604020202020204" pitchFamily="34" charset="0"/>
              <a:buChar char="•"/>
            </a:pPr>
            <a:r>
              <a:rPr lang="en-US" b="1" dirty="0">
                <a:solidFill>
                  <a:schemeClr val="tx1"/>
                </a:solidFill>
              </a:rPr>
              <a:t>Client-Server model</a:t>
            </a:r>
            <a:r>
              <a:rPr lang="en-US" dirty="0">
                <a:solidFill>
                  <a:schemeClr val="tx1"/>
                </a:solidFill>
              </a:rPr>
              <a:t>: The client handles the user interface and application logic, while the server manages the database.</a:t>
            </a:r>
          </a:p>
          <a:p>
            <a:pPr>
              <a:buFont typeface="Arial" panose="020B0604020202020204" pitchFamily="34" charset="0"/>
              <a:buChar char="•"/>
            </a:pPr>
            <a:r>
              <a:rPr lang="en-US" dirty="0">
                <a:solidFill>
                  <a:schemeClr val="tx1"/>
                </a:solidFill>
              </a:rPr>
              <a:t>Network is required for communication between client and server.</a:t>
            </a:r>
          </a:p>
          <a:p>
            <a:pPr marL="0" indent="0">
              <a:buNone/>
            </a:pPr>
            <a:r>
              <a:rPr lang="en-US" b="1" dirty="0">
                <a:solidFill>
                  <a:schemeClr val="accent2">
                    <a:lumMod val="60000"/>
                    <a:lumOff val="40000"/>
                  </a:schemeClr>
                </a:solidFill>
              </a:rPr>
              <a:t>Communication Process:</a:t>
            </a:r>
          </a:p>
          <a:p>
            <a:pPr>
              <a:buFont typeface="Arial" panose="020B0604020202020204" pitchFamily="34" charset="0"/>
              <a:buChar char="•"/>
            </a:pPr>
            <a:r>
              <a:rPr lang="en-US" dirty="0">
                <a:solidFill>
                  <a:schemeClr val="tx1"/>
                </a:solidFill>
              </a:rPr>
              <a:t>The client sends a request (SQL query) to the server.</a:t>
            </a:r>
          </a:p>
          <a:p>
            <a:pPr>
              <a:buFont typeface="Arial" panose="020B0604020202020204" pitchFamily="34" charset="0"/>
              <a:buChar char="•"/>
            </a:pPr>
            <a:r>
              <a:rPr lang="en-US" dirty="0">
                <a:solidFill>
                  <a:schemeClr val="tx1"/>
                </a:solidFill>
              </a:rPr>
              <a:t>The server processes the query and sends the results back.</a:t>
            </a:r>
          </a:p>
          <a:p>
            <a:pPr marL="0" indent="0">
              <a:buNone/>
            </a:pPr>
            <a:r>
              <a:rPr lang="en-US" b="1" dirty="0">
                <a:solidFill>
                  <a:schemeClr val="accent2">
                    <a:lumMod val="60000"/>
                    <a:lumOff val="40000"/>
                  </a:schemeClr>
                </a:solidFill>
              </a:rPr>
              <a:t>Real-Time Examples:</a:t>
            </a:r>
          </a:p>
          <a:p>
            <a:pPr>
              <a:buFont typeface="+mj-lt"/>
              <a:buAutoNum type="arabicPeriod"/>
            </a:pPr>
            <a:r>
              <a:rPr lang="en-US" b="1" dirty="0">
                <a:solidFill>
                  <a:srgbClr val="FF0000"/>
                </a:solidFill>
              </a:rPr>
              <a:t>Online Banking Systems</a:t>
            </a:r>
            <a:r>
              <a:rPr lang="en-US" dirty="0">
                <a:solidFill>
                  <a:srgbClr val="FF0000"/>
                </a:solidFill>
              </a:rPr>
              <a:t>:</a:t>
            </a:r>
          </a:p>
          <a:p>
            <a:pPr marL="742950" lvl="1" indent="-285750">
              <a:buFont typeface="+mj-lt"/>
              <a:buAutoNum type="arabicPeriod"/>
            </a:pPr>
            <a:r>
              <a:rPr lang="en-US" dirty="0">
                <a:solidFill>
                  <a:schemeClr val="tx1"/>
                </a:solidFill>
              </a:rPr>
              <a:t>The client (user's browser or app) interacts with the server to fetch account details or perform transactions.</a:t>
            </a:r>
          </a:p>
          <a:p>
            <a:pPr marL="0" indent="0">
              <a:buNone/>
            </a:pPr>
            <a:endParaRPr lang="en-US" dirty="0">
              <a:solidFill>
                <a:schemeClr val="tx1"/>
              </a:solidFill>
            </a:endParaRPr>
          </a:p>
          <a:p>
            <a:pPr algn="just">
              <a:buFont typeface="Arial" panose="020B0604020202020204" pitchFamily="34" charset="0"/>
              <a:buChar char="•"/>
            </a:pPr>
            <a:endParaRPr lang="en-US" dirty="0"/>
          </a:p>
        </p:txBody>
      </p:sp>
      <p:sp>
        <p:nvSpPr>
          <p:cNvPr id="5" name="AutoShape 2" descr="DBMS 1-Tier Architecture">
            <a:extLst>
              <a:ext uri="{FF2B5EF4-FFF2-40B4-BE49-F238E27FC236}">
                <a16:creationId xmlns:a16="http://schemas.microsoft.com/office/drawing/2014/main" id="{8A672768-6448-EF85-4E5E-A9B287E48EE9}"/>
              </a:ext>
            </a:extLst>
          </p:cNvPr>
          <p:cNvSpPr>
            <a:spLocks noChangeAspect="1" noChangeArrowheads="1"/>
          </p:cNvSpPr>
          <p:nvPr/>
        </p:nvSpPr>
        <p:spPr bwMode="auto">
          <a:xfrm>
            <a:off x="155575" y="-144463"/>
            <a:ext cx="304800" cy="304801"/>
          </a:xfrm>
          <a:prstGeom prst="rect">
            <a:avLst/>
          </a:prstGeom>
          <a:noFill/>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en-US"/>
          </a:p>
        </p:txBody>
      </p:sp>
    </p:spTree>
    <p:extLst>
      <p:ext uri="{BB962C8B-B14F-4D97-AF65-F5344CB8AC3E}">
        <p14:creationId xmlns:p14="http://schemas.microsoft.com/office/powerpoint/2010/main" val="2993886722"/>
      </p:ext>
    </p:extLst>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24B8AAC-2B28-3A2B-C9EC-72A4D0A5F818}"/>
            </a:ext>
          </a:extLst>
        </p:cNvPr>
        <p:cNvGrpSpPr/>
        <p:nvPr/>
      </p:nvGrpSpPr>
      <p:grpSpPr>
        <a:xfrm>
          <a:off x="0" y="0"/>
          <a:ext cx="0" cy="0"/>
          <a:chOff x="0" y="0"/>
          <a:chExt cx="0" cy="0"/>
        </a:xfrm>
      </p:grpSpPr>
      <p:sp>
        <p:nvSpPr>
          <p:cNvPr id="2" name="Slide Number Placeholder 1">
            <a:extLst>
              <a:ext uri="{FF2B5EF4-FFF2-40B4-BE49-F238E27FC236}">
                <a16:creationId xmlns:a16="http://schemas.microsoft.com/office/drawing/2014/main" id="{F8138300-961A-61CA-314E-35AF033FA2D0}"/>
              </a:ext>
            </a:extLst>
          </p:cNvPr>
          <p:cNvSpPr>
            <a:spLocks noGrp="1"/>
          </p:cNvSpPr>
          <p:nvPr>
            <p:ph type="sldNum" sz="quarter" idx="14"/>
          </p:nvPr>
        </p:nvSpPr>
        <p:spPr/>
        <p:txBody>
          <a:bodyPr/>
          <a:lstStyle/>
          <a:p>
            <a:fld id="{45A3C14A-F937-4231-B6F1-40B429FAFB2F}" type="slidenum">
              <a:rPr lang="en-NZ" smtClean="0"/>
              <a:pPr/>
              <a:t>33</a:t>
            </a:fld>
            <a:endParaRPr lang="en-NZ" dirty="0"/>
          </a:p>
        </p:txBody>
      </p:sp>
      <p:sp>
        <p:nvSpPr>
          <p:cNvPr id="3" name="Title 2">
            <a:extLst>
              <a:ext uri="{FF2B5EF4-FFF2-40B4-BE49-F238E27FC236}">
                <a16:creationId xmlns:a16="http://schemas.microsoft.com/office/drawing/2014/main" id="{5869C089-3C32-9F78-AA74-0CA37050B733}"/>
              </a:ext>
            </a:extLst>
          </p:cNvPr>
          <p:cNvSpPr>
            <a:spLocks noGrp="1"/>
          </p:cNvSpPr>
          <p:nvPr>
            <p:ph type="title"/>
          </p:nvPr>
        </p:nvSpPr>
        <p:spPr/>
        <p:txBody>
          <a:bodyPr/>
          <a:lstStyle/>
          <a:p>
            <a:r>
              <a:rPr lang="en-US" b="1" dirty="0">
                <a:solidFill>
                  <a:srgbClr val="FF0000"/>
                </a:solidFill>
              </a:rPr>
              <a:t>2-Tier Architecture</a:t>
            </a:r>
            <a:br>
              <a:rPr lang="en-US" b="1" dirty="0">
                <a:solidFill>
                  <a:srgbClr val="FF0000"/>
                </a:solidFill>
              </a:rPr>
            </a:br>
            <a:endParaRPr lang="en-US" b="1" dirty="0">
              <a:solidFill>
                <a:srgbClr val="FF0000"/>
              </a:solidFill>
            </a:endParaRPr>
          </a:p>
        </p:txBody>
      </p:sp>
      <p:sp>
        <p:nvSpPr>
          <p:cNvPr id="4" name="Text Placeholder 3">
            <a:extLst>
              <a:ext uri="{FF2B5EF4-FFF2-40B4-BE49-F238E27FC236}">
                <a16:creationId xmlns:a16="http://schemas.microsoft.com/office/drawing/2014/main" id="{64CC66D5-E096-A38D-D619-56C267F321A3}"/>
              </a:ext>
            </a:extLst>
          </p:cNvPr>
          <p:cNvSpPr>
            <a:spLocks noGrp="1"/>
          </p:cNvSpPr>
          <p:nvPr>
            <p:ph type="body" sz="quarter" idx="17"/>
          </p:nvPr>
        </p:nvSpPr>
        <p:spPr>
          <a:xfrm>
            <a:off x="695400" y="963388"/>
            <a:ext cx="10671745" cy="5132611"/>
          </a:xfrm>
        </p:spPr>
        <p:txBody>
          <a:bodyPr/>
          <a:lstStyle/>
          <a:p>
            <a:pPr marL="0" indent="0">
              <a:buNone/>
            </a:pPr>
            <a:r>
              <a:rPr lang="en-US" b="1" dirty="0">
                <a:solidFill>
                  <a:schemeClr val="accent2">
                    <a:lumMod val="60000"/>
                    <a:lumOff val="40000"/>
                  </a:schemeClr>
                </a:solidFill>
              </a:rPr>
              <a:t>Real-Time Examples:</a:t>
            </a:r>
          </a:p>
          <a:p>
            <a:pPr marL="0" indent="0">
              <a:buNone/>
            </a:pPr>
            <a:r>
              <a:rPr lang="en-US" b="1" dirty="0">
                <a:solidFill>
                  <a:srgbClr val="FF0000"/>
                </a:solidFill>
              </a:rPr>
              <a:t>2.Example</a:t>
            </a:r>
            <a:r>
              <a:rPr lang="en-US" dirty="0">
                <a:solidFill>
                  <a:srgbClr val="FF0000"/>
                </a:solidFill>
              </a:rPr>
              <a:t>: </a:t>
            </a:r>
            <a:r>
              <a:rPr lang="en-US" b="1" dirty="0">
                <a:solidFill>
                  <a:srgbClr val="FF0000"/>
                </a:solidFill>
              </a:rPr>
              <a:t>ATM Machine</a:t>
            </a:r>
            <a:endParaRPr lang="en-US" dirty="0">
              <a:solidFill>
                <a:srgbClr val="FF0000"/>
              </a:solidFill>
            </a:endParaRPr>
          </a:p>
          <a:p>
            <a:pPr algn="just">
              <a:buFont typeface="Arial" panose="020B0604020202020204" pitchFamily="34" charset="0"/>
              <a:buChar char="•"/>
            </a:pPr>
            <a:r>
              <a:rPr lang="en-US" b="1" dirty="0">
                <a:solidFill>
                  <a:schemeClr val="tx1"/>
                </a:solidFill>
              </a:rPr>
              <a:t>Scenario</a:t>
            </a:r>
            <a:r>
              <a:rPr lang="en-US" dirty="0">
                <a:solidFill>
                  <a:schemeClr val="tx1"/>
                </a:solidFill>
              </a:rPr>
              <a:t>: You go to an ATM to withdraw money.</a:t>
            </a:r>
          </a:p>
          <a:p>
            <a:pPr marL="0" indent="0" algn="just">
              <a:buNone/>
            </a:pPr>
            <a:r>
              <a:rPr lang="en-US" b="1" dirty="0">
                <a:solidFill>
                  <a:srgbClr val="FF0000"/>
                </a:solidFill>
              </a:rPr>
              <a:t>How it works</a:t>
            </a:r>
            <a:r>
              <a:rPr lang="en-US" dirty="0">
                <a:solidFill>
                  <a:srgbClr val="FF0000"/>
                </a:solidFill>
              </a:rPr>
              <a:t>:</a:t>
            </a:r>
          </a:p>
          <a:p>
            <a:pPr marL="742950" lvl="1" indent="-285750" algn="just">
              <a:buFont typeface="Arial" panose="020B0604020202020204" pitchFamily="34" charset="0"/>
              <a:buChar char="•"/>
            </a:pPr>
            <a:r>
              <a:rPr lang="en-US" dirty="0">
                <a:solidFill>
                  <a:schemeClr val="tx1"/>
                </a:solidFill>
              </a:rPr>
              <a:t>The </a:t>
            </a:r>
            <a:r>
              <a:rPr lang="en-US" b="1" dirty="0">
                <a:solidFill>
                  <a:schemeClr val="tx1"/>
                </a:solidFill>
              </a:rPr>
              <a:t>ATM machine (Client)</a:t>
            </a:r>
            <a:r>
              <a:rPr lang="en-US" dirty="0">
                <a:solidFill>
                  <a:schemeClr val="tx1"/>
                </a:solidFill>
              </a:rPr>
              <a:t> is the interface where you input your request (e.g., withdrawing $100).</a:t>
            </a:r>
          </a:p>
          <a:p>
            <a:pPr marL="742950" lvl="1" indent="-285750" algn="just">
              <a:buFont typeface="Arial" panose="020B0604020202020204" pitchFamily="34" charset="0"/>
              <a:buChar char="•"/>
            </a:pPr>
            <a:r>
              <a:rPr lang="en-US" dirty="0">
                <a:solidFill>
                  <a:schemeClr val="tx1"/>
                </a:solidFill>
              </a:rPr>
              <a:t>The ATM communicates directly with the </a:t>
            </a:r>
            <a:r>
              <a:rPr lang="en-US" b="1" dirty="0">
                <a:solidFill>
                  <a:schemeClr val="tx1"/>
                </a:solidFill>
              </a:rPr>
              <a:t>bank's database (Server)</a:t>
            </a:r>
            <a:r>
              <a:rPr lang="en-US" dirty="0">
                <a:solidFill>
                  <a:schemeClr val="tx1"/>
                </a:solidFill>
              </a:rPr>
              <a:t> to check your account balance and approve/deny the transaction.</a:t>
            </a:r>
          </a:p>
          <a:p>
            <a:pPr algn="just">
              <a:buFont typeface="Arial" panose="020B0604020202020204" pitchFamily="34" charset="0"/>
              <a:buChar char="•"/>
            </a:pPr>
            <a:endParaRPr lang="en-US" dirty="0"/>
          </a:p>
        </p:txBody>
      </p:sp>
      <p:sp>
        <p:nvSpPr>
          <p:cNvPr id="5" name="AutoShape 2" descr="DBMS 1-Tier Architecture">
            <a:extLst>
              <a:ext uri="{FF2B5EF4-FFF2-40B4-BE49-F238E27FC236}">
                <a16:creationId xmlns:a16="http://schemas.microsoft.com/office/drawing/2014/main" id="{4617BE4A-C948-FE99-AFD6-923F18A18831}"/>
              </a:ext>
            </a:extLst>
          </p:cNvPr>
          <p:cNvSpPr>
            <a:spLocks noChangeAspect="1" noChangeArrowheads="1"/>
          </p:cNvSpPr>
          <p:nvPr/>
        </p:nvSpPr>
        <p:spPr bwMode="auto">
          <a:xfrm>
            <a:off x="155575" y="-144463"/>
            <a:ext cx="304800" cy="304801"/>
          </a:xfrm>
          <a:prstGeom prst="rect">
            <a:avLst/>
          </a:prstGeom>
          <a:noFill/>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en-US"/>
          </a:p>
        </p:txBody>
      </p:sp>
    </p:spTree>
    <p:extLst>
      <p:ext uri="{BB962C8B-B14F-4D97-AF65-F5344CB8AC3E}">
        <p14:creationId xmlns:p14="http://schemas.microsoft.com/office/powerpoint/2010/main" val="2936110315"/>
      </p:ext>
    </p:extLst>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Number Placeholder 1"/>
          <p:cNvSpPr>
            <a:spLocks noGrp="1"/>
          </p:cNvSpPr>
          <p:nvPr>
            <p:ph type="sldNum" sz="quarter" idx="14"/>
          </p:nvPr>
        </p:nvSpPr>
        <p:spPr/>
        <p:txBody>
          <a:bodyPr/>
          <a:lstStyle/>
          <a:p>
            <a:fld id="{45A3C14A-F937-4231-B6F1-40B429FAFB2F}" type="slidenum">
              <a:rPr lang="en-NZ" smtClean="0"/>
              <a:pPr/>
              <a:t>34</a:t>
            </a:fld>
            <a:endParaRPr lang="en-NZ" dirty="0"/>
          </a:p>
        </p:txBody>
      </p:sp>
      <p:sp>
        <p:nvSpPr>
          <p:cNvPr id="3" name="Title 2"/>
          <p:cNvSpPr>
            <a:spLocks noGrp="1"/>
          </p:cNvSpPr>
          <p:nvPr>
            <p:ph type="title"/>
          </p:nvPr>
        </p:nvSpPr>
        <p:spPr/>
        <p:txBody>
          <a:bodyPr/>
          <a:lstStyle/>
          <a:p>
            <a:r>
              <a:rPr lang="en-US" b="1" dirty="0">
                <a:solidFill>
                  <a:srgbClr val="FF0000"/>
                </a:solidFill>
              </a:rPr>
              <a:t>3-Tier Architecture</a:t>
            </a:r>
            <a:br>
              <a:rPr lang="en-US" b="1" dirty="0">
                <a:solidFill>
                  <a:srgbClr val="FF0000"/>
                </a:solidFill>
              </a:rPr>
            </a:br>
            <a:endParaRPr lang="en-US" b="1" dirty="0">
              <a:solidFill>
                <a:srgbClr val="FF0000"/>
              </a:solidFill>
            </a:endParaRPr>
          </a:p>
        </p:txBody>
      </p:sp>
      <p:sp>
        <p:nvSpPr>
          <p:cNvPr id="4" name="Text Placeholder 3"/>
          <p:cNvSpPr>
            <a:spLocks noGrp="1"/>
          </p:cNvSpPr>
          <p:nvPr>
            <p:ph type="body" sz="quarter" idx="17"/>
          </p:nvPr>
        </p:nvSpPr>
        <p:spPr>
          <a:xfrm>
            <a:off x="695400" y="1556792"/>
            <a:ext cx="6984775" cy="4537623"/>
          </a:xfrm>
        </p:spPr>
        <p:txBody>
          <a:bodyPr/>
          <a:lstStyle/>
          <a:p>
            <a:pPr>
              <a:buFont typeface="Arial" panose="020B0604020202020204" pitchFamily="34" charset="0"/>
              <a:buChar char="•"/>
            </a:pPr>
            <a:r>
              <a:rPr lang="en-US" sz="1800" dirty="0">
                <a:solidFill>
                  <a:srgbClr val="C00000"/>
                </a:solidFill>
              </a:rPr>
              <a:t>The 3-Tier architecture contains another layer between the client and server. In this architecture, client can't directly communicate with the server.</a:t>
            </a:r>
          </a:p>
          <a:p>
            <a:pPr algn="just">
              <a:buFont typeface="Arial" panose="020B0604020202020204" pitchFamily="34" charset="0"/>
              <a:buChar char="•"/>
            </a:pPr>
            <a:r>
              <a:rPr lang="en-US" sz="1800" dirty="0">
                <a:solidFill>
                  <a:srgbClr val="C00000"/>
                </a:solidFill>
              </a:rPr>
              <a:t>The application on the client-end interacts with an application server which further communicates with the database system.</a:t>
            </a:r>
          </a:p>
          <a:p>
            <a:pPr algn="just">
              <a:buFont typeface="Arial" panose="020B0604020202020204" pitchFamily="34" charset="0"/>
              <a:buChar char="•"/>
            </a:pPr>
            <a:r>
              <a:rPr lang="en-US" sz="1800" dirty="0">
                <a:solidFill>
                  <a:srgbClr val="C00000"/>
                </a:solidFill>
              </a:rPr>
              <a:t>The 3-Tier architecture is used in case of large web application.</a:t>
            </a:r>
          </a:p>
          <a:p>
            <a:pPr fontAlgn="base">
              <a:buFont typeface="Arial" panose="020B0604020202020204" pitchFamily="34" charset="0"/>
              <a:buChar char="•"/>
            </a:pPr>
            <a:r>
              <a:rPr lang="en-US" sz="1800" dirty="0">
                <a:solidFill>
                  <a:srgbClr val="C00000"/>
                </a:solidFill>
              </a:rPr>
              <a:t>Data Integrity: 3-Tier Architecture maintains Data Integrity. Since there is a middle layer between the client and the server, data corruption can be avoided/removed.</a:t>
            </a:r>
          </a:p>
          <a:p>
            <a:pPr fontAlgn="base">
              <a:buFont typeface="Arial" panose="020B0604020202020204" pitchFamily="34" charset="0"/>
              <a:buChar char="•"/>
            </a:pPr>
            <a:r>
              <a:rPr lang="en-US" sz="1800" dirty="0">
                <a:solidFill>
                  <a:srgbClr val="C00000"/>
                </a:solidFill>
              </a:rPr>
              <a:t>Security: 3-Tier Architecture Improves Security. This type of model prevents direct interaction of the client with the server thereby reducing access to unauthorized data.</a:t>
            </a:r>
          </a:p>
          <a:p>
            <a:pPr algn="just">
              <a:buFont typeface="Arial" panose="020B0604020202020204" pitchFamily="34" charset="0"/>
              <a:buChar char="•"/>
            </a:pPr>
            <a:endParaRPr lang="en-US" sz="1800" dirty="0">
              <a:solidFill>
                <a:srgbClr val="C00000"/>
              </a:solidFill>
            </a:endParaRPr>
          </a:p>
          <a:p>
            <a:endParaRPr lang="en-US" sz="1800" dirty="0"/>
          </a:p>
        </p:txBody>
      </p:sp>
      <p:pic>
        <p:nvPicPr>
          <p:cNvPr id="7170" name="Picture 2" descr="DBMS Architecture"/>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7902898" y="1844402"/>
            <a:ext cx="3762375" cy="3962401"/>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2936235808"/>
      </p:ext>
    </p:extLst>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46DFFA6-3085-63D9-373C-2B7A600AF054}"/>
            </a:ext>
          </a:extLst>
        </p:cNvPr>
        <p:cNvGrpSpPr/>
        <p:nvPr/>
      </p:nvGrpSpPr>
      <p:grpSpPr>
        <a:xfrm>
          <a:off x="0" y="0"/>
          <a:ext cx="0" cy="0"/>
          <a:chOff x="0" y="0"/>
          <a:chExt cx="0" cy="0"/>
        </a:xfrm>
      </p:grpSpPr>
      <p:sp>
        <p:nvSpPr>
          <p:cNvPr id="2" name="Slide Number Placeholder 1">
            <a:extLst>
              <a:ext uri="{FF2B5EF4-FFF2-40B4-BE49-F238E27FC236}">
                <a16:creationId xmlns:a16="http://schemas.microsoft.com/office/drawing/2014/main" id="{127F17AC-7A49-37E6-1B08-39D5404DE0C0}"/>
              </a:ext>
            </a:extLst>
          </p:cNvPr>
          <p:cNvSpPr>
            <a:spLocks noGrp="1"/>
          </p:cNvSpPr>
          <p:nvPr>
            <p:ph type="sldNum" sz="quarter" idx="14"/>
          </p:nvPr>
        </p:nvSpPr>
        <p:spPr/>
        <p:txBody>
          <a:bodyPr/>
          <a:lstStyle/>
          <a:p>
            <a:fld id="{45A3C14A-F937-4231-B6F1-40B429FAFB2F}" type="slidenum">
              <a:rPr lang="en-NZ" smtClean="0"/>
              <a:pPr/>
              <a:t>35</a:t>
            </a:fld>
            <a:endParaRPr lang="en-NZ" dirty="0"/>
          </a:p>
        </p:txBody>
      </p:sp>
      <p:sp>
        <p:nvSpPr>
          <p:cNvPr id="3" name="Title 2">
            <a:extLst>
              <a:ext uri="{FF2B5EF4-FFF2-40B4-BE49-F238E27FC236}">
                <a16:creationId xmlns:a16="http://schemas.microsoft.com/office/drawing/2014/main" id="{86817793-502D-74CC-23F0-7786B1C466A3}"/>
              </a:ext>
            </a:extLst>
          </p:cNvPr>
          <p:cNvSpPr>
            <a:spLocks noGrp="1"/>
          </p:cNvSpPr>
          <p:nvPr>
            <p:ph type="title"/>
          </p:nvPr>
        </p:nvSpPr>
        <p:spPr/>
        <p:txBody>
          <a:bodyPr/>
          <a:lstStyle/>
          <a:p>
            <a:r>
              <a:rPr lang="en-US" b="1" dirty="0">
                <a:solidFill>
                  <a:srgbClr val="FF0000"/>
                </a:solidFill>
              </a:rPr>
              <a:t>3-Tier Architecture</a:t>
            </a:r>
            <a:br>
              <a:rPr lang="en-US" b="1" dirty="0">
                <a:solidFill>
                  <a:srgbClr val="FF0000"/>
                </a:solidFill>
              </a:rPr>
            </a:br>
            <a:endParaRPr lang="en-US" b="1" dirty="0">
              <a:solidFill>
                <a:srgbClr val="FF0000"/>
              </a:solidFill>
            </a:endParaRPr>
          </a:p>
        </p:txBody>
      </p:sp>
      <p:sp>
        <p:nvSpPr>
          <p:cNvPr id="4" name="Text Placeholder 3">
            <a:extLst>
              <a:ext uri="{FF2B5EF4-FFF2-40B4-BE49-F238E27FC236}">
                <a16:creationId xmlns:a16="http://schemas.microsoft.com/office/drawing/2014/main" id="{A5C8F1F0-60B7-B272-AB2C-220A18AC865C}"/>
              </a:ext>
            </a:extLst>
          </p:cNvPr>
          <p:cNvSpPr>
            <a:spLocks noGrp="1"/>
          </p:cNvSpPr>
          <p:nvPr>
            <p:ph type="body" sz="quarter" idx="17"/>
          </p:nvPr>
        </p:nvSpPr>
        <p:spPr>
          <a:xfrm>
            <a:off x="695400" y="963388"/>
            <a:ext cx="10671745" cy="5132611"/>
          </a:xfrm>
        </p:spPr>
        <p:txBody>
          <a:bodyPr/>
          <a:lstStyle/>
          <a:p>
            <a:pPr marL="0" indent="0">
              <a:buNone/>
            </a:pPr>
            <a:r>
              <a:rPr lang="en-US" dirty="0">
                <a:solidFill>
                  <a:srgbClr val="FF0000"/>
                </a:solidFill>
              </a:rPr>
              <a:t>In 3-Tier architecture, the system is divided into three layers:</a:t>
            </a:r>
          </a:p>
          <a:p>
            <a:pPr>
              <a:buFont typeface="+mj-lt"/>
              <a:buAutoNum type="arabicPeriod"/>
            </a:pPr>
            <a:r>
              <a:rPr lang="en-US" b="1" dirty="0">
                <a:solidFill>
                  <a:schemeClr val="tx1"/>
                </a:solidFill>
              </a:rPr>
              <a:t>Presentation Layer</a:t>
            </a:r>
            <a:r>
              <a:rPr lang="en-US" dirty="0">
                <a:solidFill>
                  <a:schemeClr val="tx1"/>
                </a:solidFill>
              </a:rPr>
              <a:t> (User Interface),</a:t>
            </a:r>
          </a:p>
          <a:p>
            <a:pPr>
              <a:buFont typeface="+mj-lt"/>
              <a:buAutoNum type="arabicPeriod"/>
            </a:pPr>
            <a:r>
              <a:rPr lang="en-US" b="1" dirty="0">
                <a:solidFill>
                  <a:schemeClr val="tx1"/>
                </a:solidFill>
              </a:rPr>
              <a:t>Application Layer</a:t>
            </a:r>
            <a:r>
              <a:rPr lang="en-US" dirty="0">
                <a:solidFill>
                  <a:schemeClr val="tx1"/>
                </a:solidFill>
              </a:rPr>
              <a:t> (Business Logic),</a:t>
            </a:r>
          </a:p>
          <a:p>
            <a:pPr>
              <a:buFont typeface="+mj-lt"/>
              <a:buAutoNum type="arabicPeriod"/>
            </a:pPr>
            <a:r>
              <a:rPr lang="en-US" b="1" dirty="0">
                <a:solidFill>
                  <a:schemeClr val="tx1"/>
                </a:solidFill>
              </a:rPr>
              <a:t>Database Layer</a:t>
            </a:r>
            <a:r>
              <a:rPr lang="en-US" dirty="0">
                <a:solidFill>
                  <a:schemeClr val="tx1"/>
                </a:solidFill>
              </a:rPr>
              <a:t> (Data Storage).</a:t>
            </a:r>
          </a:p>
          <a:p>
            <a:pPr marL="0" indent="0">
              <a:buNone/>
            </a:pPr>
            <a:r>
              <a:rPr lang="en-US" b="1" dirty="0">
                <a:solidFill>
                  <a:srgbClr val="FF0000"/>
                </a:solidFill>
              </a:rPr>
              <a:t>Characteristics:</a:t>
            </a:r>
          </a:p>
          <a:p>
            <a:pPr>
              <a:buFont typeface="Arial" panose="020B0604020202020204" pitchFamily="34" charset="0"/>
              <a:buChar char="•"/>
            </a:pPr>
            <a:r>
              <a:rPr lang="en-US" dirty="0">
                <a:solidFill>
                  <a:schemeClr val="tx1"/>
                </a:solidFill>
              </a:rPr>
              <a:t>The client interacts with the application server, which in turn communicates with the database.</a:t>
            </a:r>
          </a:p>
          <a:p>
            <a:pPr>
              <a:buFont typeface="Arial" panose="020B0604020202020204" pitchFamily="34" charset="0"/>
              <a:buChar char="•"/>
            </a:pPr>
            <a:r>
              <a:rPr lang="en-US" dirty="0">
                <a:solidFill>
                  <a:schemeClr val="tx1"/>
                </a:solidFill>
              </a:rPr>
              <a:t>Layers are independent, making the system modular and scalable.</a:t>
            </a:r>
          </a:p>
          <a:p>
            <a:pPr>
              <a:buFont typeface="Arial" panose="020B0604020202020204" pitchFamily="34" charset="0"/>
              <a:buChar char="•"/>
            </a:pPr>
            <a:r>
              <a:rPr lang="en-US" dirty="0">
                <a:solidFill>
                  <a:schemeClr val="tx1"/>
                </a:solidFill>
              </a:rPr>
              <a:t>Best suited for enterprise-level applications.</a:t>
            </a:r>
          </a:p>
        </p:txBody>
      </p:sp>
      <p:sp>
        <p:nvSpPr>
          <p:cNvPr id="5" name="AutoShape 2" descr="DBMS 1-Tier Architecture">
            <a:extLst>
              <a:ext uri="{FF2B5EF4-FFF2-40B4-BE49-F238E27FC236}">
                <a16:creationId xmlns:a16="http://schemas.microsoft.com/office/drawing/2014/main" id="{D9E4A083-32A8-E6DB-593B-119B73FB9E42}"/>
              </a:ext>
            </a:extLst>
          </p:cNvPr>
          <p:cNvSpPr>
            <a:spLocks noChangeAspect="1" noChangeArrowheads="1"/>
          </p:cNvSpPr>
          <p:nvPr/>
        </p:nvSpPr>
        <p:spPr bwMode="auto">
          <a:xfrm>
            <a:off x="155575" y="-144463"/>
            <a:ext cx="304800" cy="304801"/>
          </a:xfrm>
          <a:prstGeom prst="rect">
            <a:avLst/>
          </a:prstGeom>
          <a:noFill/>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en-US"/>
          </a:p>
        </p:txBody>
      </p:sp>
    </p:spTree>
    <p:extLst>
      <p:ext uri="{BB962C8B-B14F-4D97-AF65-F5344CB8AC3E}">
        <p14:creationId xmlns:p14="http://schemas.microsoft.com/office/powerpoint/2010/main" val="2974603005"/>
      </p:ext>
    </p:extLst>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6737449-5A47-FAA1-2DCD-AD2157F7FE15}"/>
            </a:ext>
          </a:extLst>
        </p:cNvPr>
        <p:cNvGrpSpPr/>
        <p:nvPr/>
      </p:nvGrpSpPr>
      <p:grpSpPr>
        <a:xfrm>
          <a:off x="0" y="0"/>
          <a:ext cx="0" cy="0"/>
          <a:chOff x="0" y="0"/>
          <a:chExt cx="0" cy="0"/>
        </a:xfrm>
      </p:grpSpPr>
      <p:sp>
        <p:nvSpPr>
          <p:cNvPr id="2" name="Slide Number Placeholder 1">
            <a:extLst>
              <a:ext uri="{FF2B5EF4-FFF2-40B4-BE49-F238E27FC236}">
                <a16:creationId xmlns:a16="http://schemas.microsoft.com/office/drawing/2014/main" id="{C105D396-30C5-EBA5-EAFB-4904C3403E62}"/>
              </a:ext>
            </a:extLst>
          </p:cNvPr>
          <p:cNvSpPr>
            <a:spLocks noGrp="1"/>
          </p:cNvSpPr>
          <p:nvPr>
            <p:ph type="sldNum" sz="quarter" idx="14"/>
          </p:nvPr>
        </p:nvSpPr>
        <p:spPr/>
        <p:txBody>
          <a:bodyPr/>
          <a:lstStyle/>
          <a:p>
            <a:fld id="{45A3C14A-F937-4231-B6F1-40B429FAFB2F}" type="slidenum">
              <a:rPr lang="en-NZ" smtClean="0"/>
              <a:pPr/>
              <a:t>36</a:t>
            </a:fld>
            <a:endParaRPr lang="en-NZ" dirty="0"/>
          </a:p>
        </p:txBody>
      </p:sp>
      <p:sp>
        <p:nvSpPr>
          <p:cNvPr id="3" name="Title 2">
            <a:extLst>
              <a:ext uri="{FF2B5EF4-FFF2-40B4-BE49-F238E27FC236}">
                <a16:creationId xmlns:a16="http://schemas.microsoft.com/office/drawing/2014/main" id="{A1650E00-2872-475A-6B07-405F7C8A1F63}"/>
              </a:ext>
            </a:extLst>
          </p:cNvPr>
          <p:cNvSpPr>
            <a:spLocks noGrp="1"/>
          </p:cNvSpPr>
          <p:nvPr>
            <p:ph type="title"/>
          </p:nvPr>
        </p:nvSpPr>
        <p:spPr/>
        <p:txBody>
          <a:bodyPr/>
          <a:lstStyle/>
          <a:p>
            <a:r>
              <a:rPr lang="en-US" b="1" dirty="0">
                <a:solidFill>
                  <a:srgbClr val="FF0000"/>
                </a:solidFill>
              </a:rPr>
              <a:t>3-Tier Architecture</a:t>
            </a:r>
            <a:br>
              <a:rPr lang="en-US" b="1" dirty="0">
                <a:solidFill>
                  <a:srgbClr val="FF0000"/>
                </a:solidFill>
              </a:rPr>
            </a:br>
            <a:endParaRPr lang="en-US" b="1" dirty="0">
              <a:solidFill>
                <a:srgbClr val="FF0000"/>
              </a:solidFill>
            </a:endParaRPr>
          </a:p>
        </p:txBody>
      </p:sp>
      <p:sp>
        <p:nvSpPr>
          <p:cNvPr id="4" name="Text Placeholder 3">
            <a:extLst>
              <a:ext uri="{FF2B5EF4-FFF2-40B4-BE49-F238E27FC236}">
                <a16:creationId xmlns:a16="http://schemas.microsoft.com/office/drawing/2014/main" id="{C77B497C-C8D6-ABB4-F695-15BABFBA89BA}"/>
              </a:ext>
            </a:extLst>
          </p:cNvPr>
          <p:cNvSpPr>
            <a:spLocks noGrp="1"/>
          </p:cNvSpPr>
          <p:nvPr>
            <p:ph type="body" sz="quarter" idx="17"/>
          </p:nvPr>
        </p:nvSpPr>
        <p:spPr>
          <a:xfrm>
            <a:off x="695400" y="963389"/>
            <a:ext cx="10671745" cy="5132611"/>
          </a:xfrm>
        </p:spPr>
        <p:txBody>
          <a:bodyPr/>
          <a:lstStyle/>
          <a:p>
            <a:pPr marL="0" indent="0">
              <a:buNone/>
            </a:pPr>
            <a:r>
              <a:rPr lang="en-US" sz="2000" b="1" dirty="0">
                <a:solidFill>
                  <a:srgbClr val="FF0000"/>
                </a:solidFill>
              </a:rPr>
              <a:t>Real-Time Examples:</a:t>
            </a:r>
          </a:p>
          <a:p>
            <a:pPr marL="0" indent="0">
              <a:buNone/>
            </a:pPr>
            <a:r>
              <a:rPr lang="en-US" sz="2000" b="1" dirty="0">
                <a:solidFill>
                  <a:schemeClr val="tx1"/>
                </a:solidFill>
              </a:rPr>
              <a:t>E-Commerce Platforms</a:t>
            </a:r>
            <a:r>
              <a:rPr lang="en-US" sz="2000" dirty="0">
                <a:solidFill>
                  <a:schemeClr val="tx1"/>
                </a:solidFill>
              </a:rPr>
              <a:t>:</a:t>
            </a:r>
          </a:p>
          <a:p>
            <a:pPr marL="742950" lvl="1" indent="-285750">
              <a:buFont typeface="+mj-lt"/>
              <a:buAutoNum type="arabicPeriod"/>
            </a:pPr>
            <a:r>
              <a:rPr lang="en-US" sz="2000" dirty="0">
                <a:solidFill>
                  <a:srgbClr val="FF0000"/>
                </a:solidFill>
              </a:rPr>
              <a:t>Amazon or Flipkart where:</a:t>
            </a:r>
          </a:p>
          <a:p>
            <a:pPr marL="1143000" lvl="2" indent="-228600">
              <a:buFont typeface="+mj-lt"/>
              <a:buAutoNum type="arabicPeriod"/>
            </a:pPr>
            <a:r>
              <a:rPr lang="en-US" dirty="0">
                <a:solidFill>
                  <a:schemeClr val="tx1"/>
                </a:solidFill>
              </a:rPr>
              <a:t>The </a:t>
            </a:r>
            <a:r>
              <a:rPr lang="en-US" b="1" dirty="0">
                <a:solidFill>
                  <a:srgbClr val="FF0000"/>
                </a:solidFill>
              </a:rPr>
              <a:t>Presentation Layer</a:t>
            </a:r>
            <a:r>
              <a:rPr lang="en-US" dirty="0">
                <a:solidFill>
                  <a:srgbClr val="FF0000"/>
                </a:solidFill>
              </a:rPr>
              <a:t> </a:t>
            </a:r>
            <a:r>
              <a:rPr lang="en-US" dirty="0">
                <a:solidFill>
                  <a:schemeClr val="tx1"/>
                </a:solidFill>
              </a:rPr>
              <a:t>is the user interface (website/app).</a:t>
            </a:r>
          </a:p>
          <a:p>
            <a:pPr marL="1143000" lvl="2" indent="-228600">
              <a:buFont typeface="+mj-lt"/>
              <a:buAutoNum type="arabicPeriod"/>
            </a:pPr>
            <a:r>
              <a:rPr lang="en-US" dirty="0">
                <a:solidFill>
                  <a:schemeClr val="tx1"/>
                </a:solidFill>
              </a:rPr>
              <a:t>The </a:t>
            </a:r>
            <a:r>
              <a:rPr lang="en-US" b="1" dirty="0">
                <a:solidFill>
                  <a:srgbClr val="FF0000"/>
                </a:solidFill>
              </a:rPr>
              <a:t>Application Layer</a:t>
            </a:r>
            <a:r>
              <a:rPr lang="en-US" dirty="0">
                <a:solidFill>
                  <a:srgbClr val="FF0000"/>
                </a:solidFill>
              </a:rPr>
              <a:t> </a:t>
            </a:r>
            <a:r>
              <a:rPr lang="en-US" dirty="0">
                <a:solidFill>
                  <a:schemeClr val="tx1"/>
                </a:solidFill>
              </a:rPr>
              <a:t>processes business logic (e.g., calculating discounts, managing orders).</a:t>
            </a:r>
          </a:p>
          <a:p>
            <a:pPr marL="1143000" lvl="2" indent="-228600">
              <a:buFont typeface="+mj-lt"/>
              <a:buAutoNum type="arabicPeriod"/>
            </a:pPr>
            <a:r>
              <a:rPr lang="en-US" dirty="0">
                <a:solidFill>
                  <a:schemeClr val="tx1"/>
                </a:solidFill>
              </a:rPr>
              <a:t>The </a:t>
            </a:r>
            <a:r>
              <a:rPr lang="en-US" b="1" dirty="0">
                <a:solidFill>
                  <a:srgbClr val="FF0000"/>
                </a:solidFill>
              </a:rPr>
              <a:t>Database Layer</a:t>
            </a:r>
            <a:r>
              <a:rPr lang="en-US" dirty="0">
                <a:solidFill>
                  <a:srgbClr val="FF0000"/>
                </a:solidFill>
              </a:rPr>
              <a:t> </a:t>
            </a:r>
            <a:r>
              <a:rPr lang="en-US" dirty="0">
                <a:solidFill>
                  <a:schemeClr val="tx1"/>
                </a:solidFill>
              </a:rPr>
              <a:t>stores user information, product data, and transaction records.</a:t>
            </a:r>
          </a:p>
          <a:p>
            <a:pPr marL="0" indent="0">
              <a:buNone/>
            </a:pPr>
            <a:r>
              <a:rPr lang="en-US" sz="2000" b="1" dirty="0">
                <a:solidFill>
                  <a:schemeClr val="tx1"/>
                </a:solidFill>
              </a:rPr>
              <a:t>Online Food Delivery</a:t>
            </a:r>
            <a:r>
              <a:rPr lang="en-US" sz="2000" dirty="0">
                <a:solidFill>
                  <a:schemeClr val="tx1"/>
                </a:solidFill>
              </a:rPr>
              <a:t>:</a:t>
            </a:r>
          </a:p>
          <a:p>
            <a:pPr marL="742950" lvl="1" indent="-285750">
              <a:buFont typeface="+mj-lt"/>
              <a:buAutoNum type="arabicPeriod"/>
            </a:pPr>
            <a:r>
              <a:rPr lang="en-US" sz="2000" dirty="0">
                <a:solidFill>
                  <a:srgbClr val="FF0000"/>
                </a:solidFill>
              </a:rPr>
              <a:t>Apps like Swiggy:</a:t>
            </a:r>
          </a:p>
          <a:p>
            <a:pPr marL="1143000" lvl="2" indent="-228600">
              <a:buFont typeface="+mj-lt"/>
              <a:buAutoNum type="arabicPeriod"/>
            </a:pPr>
            <a:r>
              <a:rPr lang="en-US" b="1" dirty="0">
                <a:solidFill>
                  <a:srgbClr val="FF0000"/>
                </a:solidFill>
              </a:rPr>
              <a:t>Presentation Layer</a:t>
            </a:r>
            <a:r>
              <a:rPr lang="en-US" dirty="0">
                <a:solidFill>
                  <a:schemeClr val="tx1"/>
                </a:solidFill>
              </a:rPr>
              <a:t>: User selects food items and places an order.</a:t>
            </a:r>
          </a:p>
          <a:p>
            <a:pPr marL="1143000" lvl="2" indent="-228600">
              <a:buFont typeface="+mj-lt"/>
              <a:buAutoNum type="arabicPeriod"/>
            </a:pPr>
            <a:r>
              <a:rPr lang="en-US" b="1" dirty="0">
                <a:solidFill>
                  <a:srgbClr val="FF0000"/>
                </a:solidFill>
              </a:rPr>
              <a:t>Application Layer</a:t>
            </a:r>
            <a:r>
              <a:rPr lang="en-US" dirty="0">
                <a:solidFill>
                  <a:schemeClr val="tx1"/>
                </a:solidFill>
              </a:rPr>
              <a:t>: Matches restaurants, calculates delivery times, etc.</a:t>
            </a:r>
          </a:p>
          <a:p>
            <a:pPr marL="1143000" lvl="2" indent="-228600">
              <a:buFont typeface="+mj-lt"/>
              <a:buAutoNum type="arabicPeriod"/>
            </a:pPr>
            <a:r>
              <a:rPr lang="en-US" b="1" dirty="0">
                <a:solidFill>
                  <a:srgbClr val="FF0000"/>
                </a:solidFill>
              </a:rPr>
              <a:t>Database Layer</a:t>
            </a:r>
            <a:r>
              <a:rPr lang="en-US" dirty="0">
                <a:solidFill>
                  <a:schemeClr val="tx1"/>
                </a:solidFill>
              </a:rPr>
              <a:t>: Stores menu items, user addresses, order history.</a:t>
            </a:r>
          </a:p>
        </p:txBody>
      </p:sp>
      <p:sp>
        <p:nvSpPr>
          <p:cNvPr id="5" name="AutoShape 2" descr="DBMS 1-Tier Architecture">
            <a:extLst>
              <a:ext uri="{FF2B5EF4-FFF2-40B4-BE49-F238E27FC236}">
                <a16:creationId xmlns:a16="http://schemas.microsoft.com/office/drawing/2014/main" id="{E639D573-A015-663A-FBE8-0DF9F204101B}"/>
              </a:ext>
            </a:extLst>
          </p:cNvPr>
          <p:cNvSpPr>
            <a:spLocks noChangeAspect="1" noChangeArrowheads="1"/>
          </p:cNvSpPr>
          <p:nvPr/>
        </p:nvSpPr>
        <p:spPr bwMode="auto">
          <a:xfrm>
            <a:off x="155575" y="-144463"/>
            <a:ext cx="304800" cy="304801"/>
          </a:xfrm>
          <a:prstGeom prst="rect">
            <a:avLst/>
          </a:prstGeom>
          <a:noFill/>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en-US"/>
          </a:p>
        </p:txBody>
      </p:sp>
    </p:spTree>
    <p:extLst>
      <p:ext uri="{BB962C8B-B14F-4D97-AF65-F5344CB8AC3E}">
        <p14:creationId xmlns:p14="http://schemas.microsoft.com/office/powerpoint/2010/main" val="2699779540"/>
      </p:ext>
    </p:extLst>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D1EE8A9-8745-F0D7-78DB-36CF39D86BC5}"/>
            </a:ext>
          </a:extLst>
        </p:cNvPr>
        <p:cNvGrpSpPr/>
        <p:nvPr/>
      </p:nvGrpSpPr>
      <p:grpSpPr>
        <a:xfrm>
          <a:off x="0" y="0"/>
          <a:ext cx="0" cy="0"/>
          <a:chOff x="0" y="0"/>
          <a:chExt cx="0" cy="0"/>
        </a:xfrm>
      </p:grpSpPr>
      <p:sp>
        <p:nvSpPr>
          <p:cNvPr id="2" name="Slide Number Placeholder 1">
            <a:extLst>
              <a:ext uri="{FF2B5EF4-FFF2-40B4-BE49-F238E27FC236}">
                <a16:creationId xmlns:a16="http://schemas.microsoft.com/office/drawing/2014/main" id="{FF61D739-AB13-0A81-1CE4-358FC0A04E5A}"/>
              </a:ext>
            </a:extLst>
          </p:cNvPr>
          <p:cNvSpPr>
            <a:spLocks noGrp="1"/>
          </p:cNvSpPr>
          <p:nvPr>
            <p:ph type="sldNum" sz="quarter" idx="14"/>
          </p:nvPr>
        </p:nvSpPr>
        <p:spPr/>
        <p:txBody>
          <a:bodyPr/>
          <a:lstStyle/>
          <a:p>
            <a:fld id="{45A3C14A-F937-4231-B6F1-40B429FAFB2F}" type="slidenum">
              <a:rPr lang="en-NZ" smtClean="0"/>
              <a:pPr/>
              <a:t>37</a:t>
            </a:fld>
            <a:endParaRPr lang="en-NZ" dirty="0"/>
          </a:p>
        </p:txBody>
      </p:sp>
      <p:sp>
        <p:nvSpPr>
          <p:cNvPr id="3" name="Title 2">
            <a:extLst>
              <a:ext uri="{FF2B5EF4-FFF2-40B4-BE49-F238E27FC236}">
                <a16:creationId xmlns:a16="http://schemas.microsoft.com/office/drawing/2014/main" id="{9BEE8729-CDD8-A434-7295-3568645B5E48}"/>
              </a:ext>
            </a:extLst>
          </p:cNvPr>
          <p:cNvSpPr>
            <a:spLocks noGrp="1"/>
          </p:cNvSpPr>
          <p:nvPr>
            <p:ph type="title"/>
          </p:nvPr>
        </p:nvSpPr>
        <p:spPr>
          <a:xfrm>
            <a:off x="695400" y="395786"/>
            <a:ext cx="8496944" cy="838202"/>
          </a:xfrm>
        </p:spPr>
        <p:txBody>
          <a:bodyPr/>
          <a:lstStyle/>
          <a:p>
            <a:r>
              <a:rPr lang="en-IN" dirty="0">
                <a:solidFill>
                  <a:srgbClr val="FF0000"/>
                </a:solidFill>
              </a:rPr>
              <a:t>Key Differences Between Architectures:</a:t>
            </a:r>
            <a:br>
              <a:rPr lang="en-US" b="1" dirty="0">
                <a:solidFill>
                  <a:srgbClr val="FF0000"/>
                </a:solidFill>
              </a:rPr>
            </a:br>
            <a:endParaRPr lang="en-US" b="1" dirty="0">
              <a:solidFill>
                <a:srgbClr val="FF0000"/>
              </a:solidFill>
            </a:endParaRPr>
          </a:p>
        </p:txBody>
      </p:sp>
      <p:sp>
        <p:nvSpPr>
          <p:cNvPr id="4" name="Text Placeholder 3">
            <a:extLst>
              <a:ext uri="{FF2B5EF4-FFF2-40B4-BE49-F238E27FC236}">
                <a16:creationId xmlns:a16="http://schemas.microsoft.com/office/drawing/2014/main" id="{0EFB8C67-11A6-683C-3234-2DFB71A74713}"/>
              </a:ext>
            </a:extLst>
          </p:cNvPr>
          <p:cNvSpPr>
            <a:spLocks noGrp="1"/>
          </p:cNvSpPr>
          <p:nvPr>
            <p:ph type="body" sz="quarter" idx="17"/>
          </p:nvPr>
        </p:nvSpPr>
        <p:spPr>
          <a:xfrm>
            <a:off x="695400" y="963389"/>
            <a:ext cx="10671745" cy="5132611"/>
          </a:xfrm>
        </p:spPr>
        <p:txBody>
          <a:bodyPr/>
          <a:lstStyle/>
          <a:p>
            <a:pPr marL="0" indent="0">
              <a:buNone/>
            </a:pPr>
            <a:endParaRPr lang="en-US" sz="2000" b="1" dirty="0">
              <a:solidFill>
                <a:srgbClr val="FF0000"/>
              </a:solidFill>
            </a:endParaRPr>
          </a:p>
        </p:txBody>
      </p:sp>
      <p:sp>
        <p:nvSpPr>
          <p:cNvPr id="5" name="AutoShape 2" descr="DBMS 1-Tier Architecture">
            <a:extLst>
              <a:ext uri="{FF2B5EF4-FFF2-40B4-BE49-F238E27FC236}">
                <a16:creationId xmlns:a16="http://schemas.microsoft.com/office/drawing/2014/main" id="{7A1A342A-21C4-07E9-84EC-ACC97D3DB008}"/>
              </a:ext>
            </a:extLst>
          </p:cNvPr>
          <p:cNvSpPr>
            <a:spLocks noChangeAspect="1" noChangeArrowheads="1"/>
          </p:cNvSpPr>
          <p:nvPr/>
        </p:nvSpPr>
        <p:spPr bwMode="auto">
          <a:xfrm>
            <a:off x="155575" y="-144463"/>
            <a:ext cx="304800" cy="304801"/>
          </a:xfrm>
          <a:prstGeom prst="rect">
            <a:avLst/>
          </a:prstGeom>
          <a:noFill/>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en-US"/>
          </a:p>
        </p:txBody>
      </p:sp>
      <p:graphicFrame>
        <p:nvGraphicFramePr>
          <p:cNvPr id="7" name="Table 6">
            <a:extLst>
              <a:ext uri="{FF2B5EF4-FFF2-40B4-BE49-F238E27FC236}">
                <a16:creationId xmlns:a16="http://schemas.microsoft.com/office/drawing/2014/main" id="{15885684-ADE5-5450-5281-CFCC1CD233E7}"/>
              </a:ext>
            </a:extLst>
          </p:cNvPr>
          <p:cNvGraphicFramePr>
            <a:graphicFrameLocks noGrp="1"/>
          </p:cNvGraphicFramePr>
          <p:nvPr>
            <p:extLst>
              <p:ext uri="{D42A27DB-BD31-4B8C-83A1-F6EECF244321}">
                <p14:modId xmlns:p14="http://schemas.microsoft.com/office/powerpoint/2010/main" val="1460908594"/>
              </p:ext>
            </p:extLst>
          </p:nvPr>
        </p:nvGraphicFramePr>
        <p:xfrm>
          <a:off x="695398" y="933053"/>
          <a:ext cx="11017224" cy="4797822"/>
        </p:xfrm>
        <a:graphic>
          <a:graphicData uri="http://schemas.openxmlformats.org/drawingml/2006/table">
            <a:tbl>
              <a:tblPr>
                <a:tableStyleId>{5C22544A-7EE6-4342-B048-85BDC9FD1C3A}</a:tableStyleId>
              </a:tblPr>
              <a:tblGrid>
                <a:gridCol w="2023099">
                  <a:extLst>
                    <a:ext uri="{9D8B030D-6E8A-4147-A177-3AD203B41FA5}">
                      <a16:colId xmlns:a16="http://schemas.microsoft.com/office/drawing/2014/main" val="2869229761"/>
                    </a:ext>
                  </a:extLst>
                </a:gridCol>
                <a:gridCol w="2034661">
                  <a:extLst>
                    <a:ext uri="{9D8B030D-6E8A-4147-A177-3AD203B41FA5}">
                      <a16:colId xmlns:a16="http://schemas.microsoft.com/office/drawing/2014/main" val="2218651843"/>
                    </a:ext>
                  </a:extLst>
                </a:gridCol>
                <a:gridCol w="2936386">
                  <a:extLst>
                    <a:ext uri="{9D8B030D-6E8A-4147-A177-3AD203B41FA5}">
                      <a16:colId xmlns:a16="http://schemas.microsoft.com/office/drawing/2014/main" val="2110894772"/>
                    </a:ext>
                  </a:extLst>
                </a:gridCol>
                <a:gridCol w="4023078">
                  <a:extLst>
                    <a:ext uri="{9D8B030D-6E8A-4147-A177-3AD203B41FA5}">
                      <a16:colId xmlns:a16="http://schemas.microsoft.com/office/drawing/2014/main" val="645804519"/>
                    </a:ext>
                  </a:extLst>
                </a:gridCol>
              </a:tblGrid>
              <a:tr h="804078">
                <a:tc>
                  <a:txBody>
                    <a:bodyPr/>
                    <a:lstStyle/>
                    <a:p>
                      <a:pPr algn="ctr" fontAlgn="ctr"/>
                      <a:r>
                        <a:rPr lang="en-IN" sz="2100" u="none" strike="noStrike">
                          <a:effectLst/>
                        </a:rPr>
                        <a:t>Feature</a:t>
                      </a:r>
                      <a:endParaRPr lang="en-IN" sz="2100" b="1" i="0" u="none" strike="noStrike">
                        <a:solidFill>
                          <a:srgbClr val="FF0000"/>
                        </a:solidFill>
                        <a:effectLst/>
                        <a:latin typeface="Aptos Narrow" panose="020B0004020202020204" pitchFamily="34" charset="0"/>
                      </a:endParaRPr>
                    </a:p>
                  </a:txBody>
                  <a:tcPr marL="5517" marR="5517" marT="5517" marB="0" anchor="ctr"/>
                </a:tc>
                <a:tc>
                  <a:txBody>
                    <a:bodyPr/>
                    <a:lstStyle/>
                    <a:p>
                      <a:pPr algn="ctr" fontAlgn="ctr"/>
                      <a:r>
                        <a:rPr lang="en-IN" sz="2100" u="none" strike="noStrike">
                          <a:effectLst/>
                        </a:rPr>
                        <a:t>1-Tier</a:t>
                      </a:r>
                      <a:endParaRPr lang="en-IN" sz="2100" b="1" i="0" u="none" strike="noStrike">
                        <a:solidFill>
                          <a:srgbClr val="FF0000"/>
                        </a:solidFill>
                        <a:effectLst/>
                        <a:latin typeface="Aptos Narrow" panose="020B0004020202020204" pitchFamily="34" charset="0"/>
                      </a:endParaRPr>
                    </a:p>
                  </a:txBody>
                  <a:tcPr marL="5517" marR="5517" marT="5517" marB="0" anchor="ctr"/>
                </a:tc>
                <a:tc>
                  <a:txBody>
                    <a:bodyPr/>
                    <a:lstStyle/>
                    <a:p>
                      <a:pPr algn="ctr" fontAlgn="ctr"/>
                      <a:r>
                        <a:rPr lang="en-IN" sz="2100" u="none" strike="noStrike">
                          <a:effectLst/>
                        </a:rPr>
                        <a:t>2-Tier</a:t>
                      </a:r>
                      <a:endParaRPr lang="en-IN" sz="2100" b="1" i="0" u="none" strike="noStrike">
                        <a:solidFill>
                          <a:srgbClr val="FF0000"/>
                        </a:solidFill>
                        <a:effectLst/>
                        <a:latin typeface="Aptos Narrow" panose="020B0004020202020204" pitchFamily="34" charset="0"/>
                      </a:endParaRPr>
                    </a:p>
                  </a:txBody>
                  <a:tcPr marL="5517" marR="5517" marT="5517" marB="0" anchor="ctr"/>
                </a:tc>
                <a:tc>
                  <a:txBody>
                    <a:bodyPr/>
                    <a:lstStyle/>
                    <a:p>
                      <a:pPr algn="ctr" fontAlgn="ctr"/>
                      <a:r>
                        <a:rPr lang="en-IN" sz="2100" u="none" strike="noStrike">
                          <a:effectLst/>
                        </a:rPr>
                        <a:t>3-Tier</a:t>
                      </a:r>
                      <a:endParaRPr lang="en-IN" sz="2100" b="1" i="0" u="none" strike="noStrike">
                        <a:solidFill>
                          <a:srgbClr val="FF0000"/>
                        </a:solidFill>
                        <a:effectLst/>
                        <a:latin typeface="Aptos Narrow" panose="020B0004020202020204" pitchFamily="34" charset="0"/>
                      </a:endParaRPr>
                    </a:p>
                  </a:txBody>
                  <a:tcPr marL="5517" marR="5517" marT="5517" marB="0" anchor="ctr"/>
                </a:tc>
                <a:extLst>
                  <a:ext uri="{0D108BD9-81ED-4DB2-BD59-A6C34878D82A}">
                    <a16:rowId xmlns:a16="http://schemas.microsoft.com/office/drawing/2014/main" val="3136250608"/>
                  </a:ext>
                </a:extLst>
              </a:tr>
              <a:tr h="1063169">
                <a:tc>
                  <a:txBody>
                    <a:bodyPr/>
                    <a:lstStyle/>
                    <a:p>
                      <a:pPr algn="l" fontAlgn="ctr"/>
                      <a:r>
                        <a:rPr lang="en-IN" sz="2100" u="none" strike="noStrike">
                          <a:effectLst/>
                        </a:rPr>
                        <a:t>Layers</a:t>
                      </a:r>
                      <a:endParaRPr lang="en-IN" sz="2100" b="1" i="0" u="none" strike="noStrike">
                        <a:solidFill>
                          <a:srgbClr val="FF0000"/>
                        </a:solidFill>
                        <a:effectLst/>
                        <a:latin typeface="Aptos Narrow" panose="020B0004020202020204" pitchFamily="34" charset="0"/>
                      </a:endParaRPr>
                    </a:p>
                  </a:txBody>
                  <a:tcPr marL="5517" marR="5517" marT="5517" marB="0" anchor="ctr"/>
                </a:tc>
                <a:tc>
                  <a:txBody>
                    <a:bodyPr/>
                    <a:lstStyle/>
                    <a:p>
                      <a:pPr algn="l" fontAlgn="ctr"/>
                      <a:r>
                        <a:rPr lang="en-IN" sz="2100" u="none" strike="noStrike">
                          <a:effectLst/>
                        </a:rPr>
                        <a:t>Single layer</a:t>
                      </a:r>
                      <a:endParaRPr lang="en-IN" sz="2100" b="1" i="0" u="none" strike="noStrike">
                        <a:solidFill>
                          <a:srgbClr val="000000"/>
                        </a:solidFill>
                        <a:effectLst/>
                        <a:latin typeface="Aptos Narrow" panose="020B0004020202020204" pitchFamily="34" charset="0"/>
                      </a:endParaRPr>
                    </a:p>
                  </a:txBody>
                  <a:tcPr marL="5517" marR="5517" marT="5517" marB="0" anchor="ctr"/>
                </a:tc>
                <a:tc>
                  <a:txBody>
                    <a:bodyPr/>
                    <a:lstStyle/>
                    <a:p>
                      <a:pPr algn="l" fontAlgn="ctr"/>
                      <a:r>
                        <a:rPr lang="en-IN" sz="2100" u="none" strike="noStrike">
                          <a:effectLst/>
                        </a:rPr>
                        <a:t>Client and Server</a:t>
                      </a:r>
                      <a:endParaRPr lang="en-IN" sz="2100" b="1" i="0" u="none" strike="noStrike">
                        <a:solidFill>
                          <a:srgbClr val="000000"/>
                        </a:solidFill>
                        <a:effectLst/>
                        <a:latin typeface="Aptos Narrow" panose="020B0004020202020204" pitchFamily="34" charset="0"/>
                      </a:endParaRPr>
                    </a:p>
                  </a:txBody>
                  <a:tcPr marL="5517" marR="5517" marT="5517" marB="0" anchor="ctr"/>
                </a:tc>
                <a:tc>
                  <a:txBody>
                    <a:bodyPr/>
                    <a:lstStyle/>
                    <a:p>
                      <a:pPr algn="l" fontAlgn="ctr"/>
                      <a:r>
                        <a:rPr lang="en-IN" sz="2100" u="none" strike="noStrike">
                          <a:effectLst/>
                        </a:rPr>
                        <a:t>Presentation, Application, Database</a:t>
                      </a:r>
                      <a:endParaRPr lang="en-IN" sz="2100" b="1" i="0" u="none" strike="noStrike">
                        <a:solidFill>
                          <a:srgbClr val="000000"/>
                        </a:solidFill>
                        <a:effectLst/>
                        <a:latin typeface="Aptos Narrow" panose="020B0004020202020204" pitchFamily="34" charset="0"/>
                      </a:endParaRPr>
                    </a:p>
                  </a:txBody>
                  <a:tcPr marL="5517" marR="5517" marT="5517" marB="0" anchor="ctr"/>
                </a:tc>
                <a:extLst>
                  <a:ext uri="{0D108BD9-81ED-4DB2-BD59-A6C34878D82A}">
                    <a16:rowId xmlns:a16="http://schemas.microsoft.com/office/drawing/2014/main" val="3901416799"/>
                  </a:ext>
                </a:extLst>
              </a:tr>
              <a:tr h="1045457">
                <a:tc>
                  <a:txBody>
                    <a:bodyPr/>
                    <a:lstStyle/>
                    <a:p>
                      <a:pPr algn="l" fontAlgn="ctr"/>
                      <a:r>
                        <a:rPr lang="en-IN" sz="2100" u="none" strike="noStrike">
                          <a:effectLst/>
                        </a:rPr>
                        <a:t>Communication</a:t>
                      </a:r>
                      <a:endParaRPr lang="en-IN" sz="2100" b="1" i="0" u="none" strike="noStrike">
                        <a:solidFill>
                          <a:srgbClr val="FF0000"/>
                        </a:solidFill>
                        <a:effectLst/>
                        <a:latin typeface="Aptos Narrow" panose="020B0004020202020204" pitchFamily="34" charset="0"/>
                      </a:endParaRPr>
                    </a:p>
                  </a:txBody>
                  <a:tcPr marL="5517" marR="5517" marT="5517" marB="0" anchor="ctr"/>
                </a:tc>
                <a:tc>
                  <a:txBody>
                    <a:bodyPr/>
                    <a:lstStyle/>
                    <a:p>
                      <a:pPr algn="l" fontAlgn="ctr"/>
                      <a:r>
                        <a:rPr lang="en-IN" sz="2100" u="none" strike="noStrike">
                          <a:effectLst/>
                        </a:rPr>
                        <a:t>Direct</a:t>
                      </a:r>
                      <a:endParaRPr lang="en-IN" sz="2100" b="1" i="0" u="none" strike="noStrike">
                        <a:solidFill>
                          <a:srgbClr val="000000"/>
                        </a:solidFill>
                        <a:effectLst/>
                        <a:latin typeface="Aptos Narrow" panose="020B0004020202020204" pitchFamily="34" charset="0"/>
                      </a:endParaRPr>
                    </a:p>
                  </a:txBody>
                  <a:tcPr marL="5517" marR="5517" marT="5517" marB="0" anchor="ctr"/>
                </a:tc>
                <a:tc>
                  <a:txBody>
                    <a:bodyPr/>
                    <a:lstStyle/>
                    <a:p>
                      <a:pPr algn="l" fontAlgn="ctr"/>
                      <a:r>
                        <a:rPr lang="en-IN" sz="2100" u="none" strike="noStrike">
                          <a:effectLst/>
                        </a:rPr>
                        <a:t>Client communicates with DB</a:t>
                      </a:r>
                      <a:endParaRPr lang="en-IN" sz="2100" b="1" i="0" u="none" strike="noStrike">
                        <a:solidFill>
                          <a:srgbClr val="000000"/>
                        </a:solidFill>
                        <a:effectLst/>
                        <a:latin typeface="Aptos Narrow" panose="020B0004020202020204" pitchFamily="34" charset="0"/>
                      </a:endParaRPr>
                    </a:p>
                  </a:txBody>
                  <a:tcPr marL="5517" marR="5517" marT="5517" marB="0" anchor="ctr"/>
                </a:tc>
                <a:tc>
                  <a:txBody>
                    <a:bodyPr/>
                    <a:lstStyle/>
                    <a:p>
                      <a:pPr algn="l" fontAlgn="ctr"/>
                      <a:r>
                        <a:rPr lang="en-IN" sz="2100" u="none" strike="noStrike">
                          <a:effectLst/>
                        </a:rPr>
                        <a:t>Client → App Server → DB Server</a:t>
                      </a:r>
                      <a:endParaRPr lang="en-IN" sz="2100" b="1" i="0" u="none" strike="noStrike">
                        <a:solidFill>
                          <a:srgbClr val="000000"/>
                        </a:solidFill>
                        <a:effectLst/>
                        <a:latin typeface="Aptos Narrow" panose="020B0004020202020204" pitchFamily="34" charset="0"/>
                      </a:endParaRPr>
                    </a:p>
                  </a:txBody>
                  <a:tcPr marL="5517" marR="5517" marT="5517" marB="0" anchor="ctr"/>
                </a:tc>
                <a:extLst>
                  <a:ext uri="{0D108BD9-81ED-4DB2-BD59-A6C34878D82A}">
                    <a16:rowId xmlns:a16="http://schemas.microsoft.com/office/drawing/2014/main" val="370272319"/>
                  </a:ext>
                </a:extLst>
              </a:tr>
              <a:tr h="1081040">
                <a:tc>
                  <a:txBody>
                    <a:bodyPr/>
                    <a:lstStyle/>
                    <a:p>
                      <a:pPr algn="l" fontAlgn="ctr"/>
                      <a:r>
                        <a:rPr lang="en-IN" sz="2100" u="none" strike="noStrike">
                          <a:effectLst/>
                        </a:rPr>
                        <a:t>Examples</a:t>
                      </a:r>
                      <a:endParaRPr lang="en-IN" sz="2100" b="1" i="0" u="none" strike="noStrike">
                        <a:solidFill>
                          <a:srgbClr val="FF0000"/>
                        </a:solidFill>
                        <a:effectLst/>
                        <a:latin typeface="Aptos Narrow" panose="020B0004020202020204" pitchFamily="34" charset="0"/>
                      </a:endParaRPr>
                    </a:p>
                  </a:txBody>
                  <a:tcPr marL="5517" marR="5517" marT="5517" marB="0" anchor="ctr"/>
                </a:tc>
                <a:tc>
                  <a:txBody>
                    <a:bodyPr/>
                    <a:lstStyle/>
                    <a:p>
                      <a:pPr algn="l" fontAlgn="ctr"/>
                      <a:r>
                        <a:rPr lang="en-IN" sz="2100" u="none" strike="noStrike">
                          <a:effectLst/>
                        </a:rPr>
                        <a:t>SQLite, MS Access</a:t>
                      </a:r>
                      <a:endParaRPr lang="en-IN" sz="2100" b="1" i="0" u="none" strike="noStrike">
                        <a:solidFill>
                          <a:srgbClr val="000000"/>
                        </a:solidFill>
                        <a:effectLst/>
                        <a:latin typeface="Aptos Narrow" panose="020B0004020202020204" pitchFamily="34" charset="0"/>
                      </a:endParaRPr>
                    </a:p>
                  </a:txBody>
                  <a:tcPr marL="5517" marR="5517" marT="5517" marB="0" anchor="ctr"/>
                </a:tc>
                <a:tc>
                  <a:txBody>
                    <a:bodyPr/>
                    <a:lstStyle/>
                    <a:p>
                      <a:pPr algn="l" fontAlgn="ctr"/>
                      <a:r>
                        <a:rPr lang="en-IN" sz="2100" u="none" strike="noStrike">
                          <a:effectLst/>
                        </a:rPr>
                        <a:t>Online Banking, Tally ERP</a:t>
                      </a:r>
                      <a:endParaRPr lang="en-IN" sz="2100" b="1" i="0" u="none" strike="noStrike">
                        <a:solidFill>
                          <a:srgbClr val="000000"/>
                        </a:solidFill>
                        <a:effectLst/>
                        <a:latin typeface="Aptos Narrow" panose="020B0004020202020204" pitchFamily="34" charset="0"/>
                      </a:endParaRPr>
                    </a:p>
                  </a:txBody>
                  <a:tcPr marL="5517" marR="5517" marT="5517" marB="0" anchor="ctr"/>
                </a:tc>
                <a:tc>
                  <a:txBody>
                    <a:bodyPr/>
                    <a:lstStyle/>
                    <a:p>
                      <a:pPr algn="l" fontAlgn="ctr"/>
                      <a:r>
                        <a:rPr lang="en-IN" sz="2100" u="none" strike="noStrike">
                          <a:effectLst/>
                        </a:rPr>
                        <a:t>Amazon, Swiggy, Salesforce</a:t>
                      </a:r>
                      <a:endParaRPr lang="en-IN" sz="2100" b="1" i="0" u="none" strike="noStrike">
                        <a:solidFill>
                          <a:srgbClr val="000000"/>
                        </a:solidFill>
                        <a:effectLst/>
                        <a:latin typeface="Aptos Narrow" panose="020B0004020202020204" pitchFamily="34" charset="0"/>
                      </a:endParaRPr>
                    </a:p>
                  </a:txBody>
                  <a:tcPr marL="5517" marR="5517" marT="5517" marB="0" anchor="ctr"/>
                </a:tc>
                <a:extLst>
                  <a:ext uri="{0D108BD9-81ED-4DB2-BD59-A6C34878D82A}">
                    <a16:rowId xmlns:a16="http://schemas.microsoft.com/office/drawing/2014/main" val="1189701746"/>
                  </a:ext>
                </a:extLst>
              </a:tr>
              <a:tr h="804078">
                <a:tc>
                  <a:txBody>
                    <a:bodyPr/>
                    <a:lstStyle/>
                    <a:p>
                      <a:pPr algn="l" fontAlgn="ctr"/>
                      <a:r>
                        <a:rPr lang="en-IN" sz="2100" u="none" strike="noStrike">
                          <a:effectLst/>
                        </a:rPr>
                        <a:t>Security</a:t>
                      </a:r>
                      <a:endParaRPr lang="en-IN" sz="2100" b="1" i="0" u="none" strike="noStrike">
                        <a:solidFill>
                          <a:srgbClr val="FF0000"/>
                        </a:solidFill>
                        <a:effectLst/>
                        <a:latin typeface="Aptos Narrow" panose="020B0004020202020204" pitchFamily="34" charset="0"/>
                      </a:endParaRPr>
                    </a:p>
                  </a:txBody>
                  <a:tcPr marL="5517" marR="5517" marT="5517" marB="0" anchor="ctr"/>
                </a:tc>
                <a:tc>
                  <a:txBody>
                    <a:bodyPr/>
                    <a:lstStyle/>
                    <a:p>
                      <a:pPr algn="l" fontAlgn="ctr"/>
                      <a:r>
                        <a:rPr lang="en-IN" sz="2100" u="none" strike="noStrike">
                          <a:effectLst/>
                        </a:rPr>
                        <a:t>Low</a:t>
                      </a:r>
                      <a:endParaRPr lang="en-IN" sz="2100" b="1" i="0" u="none" strike="noStrike">
                        <a:solidFill>
                          <a:srgbClr val="000000"/>
                        </a:solidFill>
                        <a:effectLst/>
                        <a:latin typeface="Aptos Narrow" panose="020B0004020202020204" pitchFamily="34" charset="0"/>
                      </a:endParaRPr>
                    </a:p>
                  </a:txBody>
                  <a:tcPr marL="5517" marR="5517" marT="5517" marB="0" anchor="ctr"/>
                </a:tc>
                <a:tc>
                  <a:txBody>
                    <a:bodyPr/>
                    <a:lstStyle/>
                    <a:p>
                      <a:pPr algn="l" fontAlgn="ctr"/>
                      <a:r>
                        <a:rPr lang="en-IN" sz="2100" u="none" strike="noStrike">
                          <a:effectLst/>
                        </a:rPr>
                        <a:t>Moderate</a:t>
                      </a:r>
                      <a:endParaRPr lang="en-IN" sz="2100" b="1" i="0" u="none" strike="noStrike">
                        <a:solidFill>
                          <a:srgbClr val="000000"/>
                        </a:solidFill>
                        <a:effectLst/>
                        <a:latin typeface="Aptos Narrow" panose="020B0004020202020204" pitchFamily="34" charset="0"/>
                      </a:endParaRPr>
                    </a:p>
                  </a:txBody>
                  <a:tcPr marL="5517" marR="5517" marT="5517" marB="0" anchor="ctr"/>
                </a:tc>
                <a:tc>
                  <a:txBody>
                    <a:bodyPr/>
                    <a:lstStyle/>
                    <a:p>
                      <a:pPr algn="l" fontAlgn="ctr"/>
                      <a:r>
                        <a:rPr lang="en-IN" sz="2100" u="none" strike="noStrike" dirty="0">
                          <a:effectLst/>
                        </a:rPr>
                        <a:t>High</a:t>
                      </a:r>
                      <a:endParaRPr lang="en-IN" sz="2100" b="1" i="0" u="none" strike="noStrike" dirty="0">
                        <a:solidFill>
                          <a:srgbClr val="000000"/>
                        </a:solidFill>
                        <a:effectLst/>
                        <a:latin typeface="Aptos Narrow" panose="020B0004020202020204" pitchFamily="34" charset="0"/>
                      </a:endParaRPr>
                    </a:p>
                  </a:txBody>
                  <a:tcPr marL="5517" marR="5517" marT="5517" marB="0" anchor="ctr"/>
                </a:tc>
                <a:extLst>
                  <a:ext uri="{0D108BD9-81ED-4DB2-BD59-A6C34878D82A}">
                    <a16:rowId xmlns:a16="http://schemas.microsoft.com/office/drawing/2014/main" val="3733536654"/>
                  </a:ext>
                </a:extLst>
              </a:tr>
            </a:tbl>
          </a:graphicData>
        </a:graphic>
      </p:graphicFrame>
    </p:spTree>
    <p:extLst>
      <p:ext uri="{BB962C8B-B14F-4D97-AF65-F5344CB8AC3E}">
        <p14:creationId xmlns:p14="http://schemas.microsoft.com/office/powerpoint/2010/main" val="1574817425"/>
      </p:ext>
    </p:extLst>
  </p:cSld>
  <p:clrMapOvr>
    <a:masterClrMapping/>
  </p:clrMapOvr>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Number Placeholder 1"/>
          <p:cNvSpPr>
            <a:spLocks noGrp="1"/>
          </p:cNvSpPr>
          <p:nvPr>
            <p:ph type="sldNum" sz="quarter" idx="14"/>
          </p:nvPr>
        </p:nvSpPr>
        <p:spPr/>
        <p:txBody>
          <a:bodyPr/>
          <a:lstStyle/>
          <a:p>
            <a:fld id="{45A3C14A-F937-4231-B6F1-40B429FAFB2F}" type="slidenum">
              <a:rPr lang="en-NZ" smtClean="0"/>
              <a:pPr/>
              <a:t>38</a:t>
            </a:fld>
            <a:endParaRPr lang="en-NZ" dirty="0"/>
          </a:p>
        </p:txBody>
      </p:sp>
      <p:sp>
        <p:nvSpPr>
          <p:cNvPr id="3" name="Title 2"/>
          <p:cNvSpPr>
            <a:spLocks noGrp="1"/>
          </p:cNvSpPr>
          <p:nvPr>
            <p:ph type="title"/>
          </p:nvPr>
        </p:nvSpPr>
        <p:spPr/>
        <p:txBody>
          <a:bodyPr/>
          <a:lstStyle/>
          <a:p>
            <a:r>
              <a:rPr lang="en-US" b="1" dirty="0">
                <a:solidFill>
                  <a:srgbClr val="FF0000"/>
                </a:solidFill>
              </a:rPr>
              <a:t>Interfaces in DBMS</a:t>
            </a:r>
            <a:br>
              <a:rPr lang="en-US" b="1" dirty="0">
                <a:solidFill>
                  <a:srgbClr val="FF0000"/>
                </a:solidFill>
              </a:rPr>
            </a:br>
            <a:endParaRPr lang="en-US" dirty="0">
              <a:solidFill>
                <a:srgbClr val="FF0000"/>
              </a:solidFill>
            </a:endParaRPr>
          </a:p>
        </p:txBody>
      </p:sp>
      <p:sp>
        <p:nvSpPr>
          <p:cNvPr id="4" name="Text Placeholder 3"/>
          <p:cNvSpPr>
            <a:spLocks noGrp="1"/>
          </p:cNvSpPr>
          <p:nvPr>
            <p:ph type="body" sz="quarter" idx="17"/>
          </p:nvPr>
        </p:nvSpPr>
        <p:spPr>
          <a:xfrm>
            <a:off x="551384" y="1772816"/>
            <a:ext cx="5760640" cy="3721480"/>
          </a:xfrm>
        </p:spPr>
        <p:txBody>
          <a:bodyPr/>
          <a:lstStyle/>
          <a:p>
            <a:pPr algn="just">
              <a:buFont typeface="Arial" panose="020B0604020202020204" pitchFamily="34" charset="0"/>
              <a:buChar char="•"/>
            </a:pPr>
            <a:r>
              <a:rPr lang="en-US" sz="2000" dirty="0">
                <a:solidFill>
                  <a:srgbClr val="C00000"/>
                </a:solidFill>
              </a:rPr>
              <a:t>An interface is a program that allows users to input queries into a database without writing the code in the query language. An interface can be used to manipulate the database for adding, deleting, updating, or viewing the data.</a:t>
            </a:r>
          </a:p>
          <a:p>
            <a:pPr>
              <a:buFont typeface="Arial" panose="020B0604020202020204" pitchFamily="34" charset="0"/>
              <a:buChar char="•"/>
            </a:pPr>
            <a:r>
              <a:rPr lang="en-US" sz="2000" dirty="0">
                <a:solidFill>
                  <a:srgbClr val="C00000"/>
                </a:solidFill>
              </a:rPr>
              <a:t>A user interface or UI is a process of interaction of the user with the computer, website, app or any other screen. </a:t>
            </a:r>
          </a:p>
          <a:p>
            <a:pPr marL="0" indent="0">
              <a:buNone/>
            </a:pPr>
            <a:r>
              <a:rPr lang="en-US" sz="2800" dirty="0"/>
              <a:t>	</a:t>
            </a:r>
          </a:p>
          <a:p>
            <a:pPr marL="0" indent="0">
              <a:buNone/>
            </a:pPr>
            <a:endParaRPr lang="en-US" sz="2800" dirty="0"/>
          </a:p>
        </p:txBody>
      </p:sp>
      <p:pic>
        <p:nvPicPr>
          <p:cNvPr id="2050" name="Picture 2" descr="https://www.itrelease.com/wp-content/uploads/2022/01/Types-of-user-interface.jpg"/>
          <p:cNvPicPr>
            <a:picLocks noChangeAspect="1" noChangeArrowheads="1"/>
          </p:cNvPicPr>
          <p:nvPr/>
        </p:nvPicPr>
        <p:blipFill rotWithShape="1">
          <a:blip r:embed="rId2">
            <a:extLst>
              <a:ext uri="{28A0092B-C50C-407E-A947-70E740481C1C}">
                <a14:useLocalDpi xmlns:a14="http://schemas.microsoft.com/office/drawing/2010/main" val="0"/>
              </a:ext>
            </a:extLst>
          </a:blip>
          <a:srcRect t="24811"/>
          <a:stretch/>
        </p:blipFill>
        <p:spPr bwMode="auto">
          <a:xfrm>
            <a:off x="6659547" y="1772816"/>
            <a:ext cx="5040560" cy="3721480"/>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2241617186"/>
      </p:ext>
    </p:extLst>
  </p:cSld>
  <p:clrMapOvr>
    <a:masterClrMapping/>
  </p:clrMapOvr>
</p:sld>
</file>

<file path=ppt/slides/slide39.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2" name="Slide Number Placeholder 1"/>
          <p:cNvSpPr>
            <a:spLocks noGrp="1"/>
          </p:cNvSpPr>
          <p:nvPr>
            <p:ph type="sldNum" sz="quarter" idx="14"/>
          </p:nvPr>
        </p:nvSpPr>
        <p:spPr/>
        <p:txBody>
          <a:bodyPr/>
          <a:lstStyle/>
          <a:p>
            <a:fld id="{45A3C14A-F937-4231-B6F1-40B429FAFB2F}" type="slidenum">
              <a:rPr lang="en-NZ" smtClean="0"/>
              <a:pPr/>
              <a:t>39</a:t>
            </a:fld>
            <a:endParaRPr lang="en-NZ" dirty="0"/>
          </a:p>
        </p:txBody>
      </p:sp>
      <p:sp>
        <p:nvSpPr>
          <p:cNvPr id="3" name="Title 2"/>
          <p:cNvSpPr>
            <a:spLocks noGrp="1"/>
          </p:cNvSpPr>
          <p:nvPr>
            <p:ph type="title"/>
          </p:nvPr>
        </p:nvSpPr>
        <p:spPr>
          <a:xfrm>
            <a:off x="695400" y="395786"/>
            <a:ext cx="7200800" cy="838202"/>
          </a:xfrm>
        </p:spPr>
        <p:txBody>
          <a:bodyPr/>
          <a:lstStyle/>
          <a:p>
            <a:r>
              <a:rPr lang="en-US" b="1" dirty="0">
                <a:solidFill>
                  <a:srgbClr val="FF0000"/>
                </a:solidFill>
              </a:rPr>
              <a:t>Interfaces in DBMS-Types</a:t>
            </a:r>
            <a:br>
              <a:rPr lang="en-US" b="1" dirty="0">
                <a:solidFill>
                  <a:srgbClr val="FF0000"/>
                </a:solidFill>
              </a:rPr>
            </a:br>
            <a:endParaRPr lang="en-US" dirty="0">
              <a:solidFill>
                <a:srgbClr val="FF0000"/>
              </a:solidFill>
            </a:endParaRPr>
          </a:p>
        </p:txBody>
      </p:sp>
      <p:sp>
        <p:nvSpPr>
          <p:cNvPr id="4" name="Text Placeholder 3"/>
          <p:cNvSpPr>
            <a:spLocks noGrp="1"/>
          </p:cNvSpPr>
          <p:nvPr>
            <p:ph type="body" sz="quarter" idx="17"/>
          </p:nvPr>
        </p:nvSpPr>
        <p:spPr>
          <a:xfrm>
            <a:off x="191344" y="1412775"/>
            <a:ext cx="5904656" cy="6007205"/>
          </a:xfrm>
        </p:spPr>
        <p:txBody>
          <a:bodyPr/>
          <a:lstStyle/>
          <a:p>
            <a:pPr algn="just">
              <a:buFont typeface="Arial" panose="020B0604020202020204" pitchFamily="34" charset="0"/>
              <a:buChar char="•"/>
            </a:pPr>
            <a:r>
              <a:rPr lang="en-US" sz="2000" b="1" dirty="0">
                <a:solidFill>
                  <a:srgbClr val="0070C0"/>
                </a:solidFill>
                <a:latin typeface="Arial"/>
                <a:ea typeface="+mn-ea"/>
                <a:cs typeface="+mn-cs"/>
              </a:rPr>
              <a:t>Menu-Based Interfaces</a:t>
            </a:r>
          </a:p>
          <a:p>
            <a:pPr marL="742950" lvl="1" indent="-285750" algn="just" fontAlgn="base">
              <a:spcBef>
                <a:spcPct val="20000"/>
              </a:spcBef>
              <a:spcAft>
                <a:spcPct val="0"/>
              </a:spcAft>
              <a:buClr>
                <a:srgbClr val="333399"/>
              </a:buClr>
              <a:buSzPct val="55000"/>
              <a:buFont typeface="Wingdings" panose="05000000000000000000" pitchFamily="2" charset="2"/>
              <a:buChar char="n"/>
            </a:pPr>
            <a:r>
              <a:rPr lang="en-US" sz="2000" dirty="0">
                <a:solidFill>
                  <a:srgbClr val="800000"/>
                </a:solidFill>
                <a:latin typeface="Arial"/>
                <a:ea typeface="+mn-ea"/>
                <a:cs typeface="+mn-cs"/>
              </a:rPr>
              <a:t>These interfaces present the user with lists of options (called menus) that lead the user through the formation of a request. The basic advantage of using menus is that </a:t>
            </a:r>
            <a:r>
              <a:rPr lang="en-US" sz="2000" b="1" dirty="0">
                <a:solidFill>
                  <a:srgbClr val="FF0000"/>
                </a:solidFill>
                <a:latin typeface="Arial"/>
                <a:ea typeface="+mn-ea"/>
                <a:cs typeface="+mn-cs"/>
              </a:rPr>
              <a:t>they remove the tension of remembering specific commands and syntax of any query language.</a:t>
            </a:r>
            <a:r>
              <a:rPr lang="en-US" sz="2000" b="1" dirty="0">
                <a:solidFill>
                  <a:srgbClr val="800000"/>
                </a:solidFill>
                <a:latin typeface="Arial"/>
                <a:ea typeface="+mn-ea"/>
                <a:cs typeface="+mn-cs"/>
              </a:rPr>
              <a:t> </a:t>
            </a:r>
            <a:r>
              <a:rPr lang="en-US" sz="2000" dirty="0">
                <a:solidFill>
                  <a:srgbClr val="800000"/>
                </a:solidFill>
                <a:latin typeface="Arial"/>
                <a:ea typeface="+mn-ea"/>
                <a:cs typeface="+mn-cs"/>
              </a:rPr>
              <a:t>The query is basically composed step by step by collecting or picking options from a menu that is shown by the system. Pull-down menus are a very popular technique in Web-based interfaces. They are also often used in browsing interfaces which allow a user to look through the contents of a database in an exploratory and unstructured manner. </a:t>
            </a:r>
          </a:p>
          <a:p>
            <a:pPr marL="742950" lvl="1" indent="-285750" algn="just" fontAlgn="base">
              <a:spcBef>
                <a:spcPct val="20000"/>
              </a:spcBef>
              <a:spcAft>
                <a:spcPct val="0"/>
              </a:spcAft>
              <a:buClr>
                <a:srgbClr val="333399"/>
              </a:buClr>
              <a:buSzPct val="55000"/>
              <a:buFont typeface="Wingdings" panose="05000000000000000000" pitchFamily="2" charset="2"/>
              <a:buChar char="n"/>
            </a:pPr>
            <a:endParaRPr lang="en-US" sz="2000" dirty="0">
              <a:solidFill>
                <a:srgbClr val="800000"/>
              </a:solidFill>
              <a:latin typeface="Arial"/>
              <a:ea typeface="+mn-ea"/>
              <a:cs typeface="+mn-cs"/>
            </a:endParaRPr>
          </a:p>
        </p:txBody>
      </p:sp>
      <p:pic>
        <p:nvPicPr>
          <p:cNvPr id="3074" name="Picture 2" descr="Menu-Driven Interface: Definition &amp; Examples - Video &amp; Lesson Transcript |  Study.com"/>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6456041" y="2060848"/>
            <a:ext cx="4911106" cy="3240360"/>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1869881277"/>
      </p:ext>
    </p:extLst>
  </p:cSld>
  <p:clrMapOvr>
    <a:overrideClrMapping bg1="lt1" tx1="dk1" bg2="lt2" tx2="dk2" accent1="accent1" accent2="accent2" accent3="accent3" accent4="accent4" accent5="accent5" accent6="accent6" hlink="hlink" folHlink="folHlink"/>
  </p:clrMapOvr>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Number Placeholder 1"/>
          <p:cNvSpPr>
            <a:spLocks noGrp="1"/>
          </p:cNvSpPr>
          <p:nvPr>
            <p:ph type="sldNum" sz="quarter" idx="14"/>
          </p:nvPr>
        </p:nvSpPr>
        <p:spPr/>
        <p:txBody>
          <a:bodyPr/>
          <a:lstStyle/>
          <a:p>
            <a:fld id="{45A3C14A-F937-4231-B6F1-40B429FAFB2F}" type="slidenum">
              <a:rPr lang="en-NZ" smtClean="0"/>
              <a:pPr/>
              <a:t>40</a:t>
            </a:fld>
            <a:endParaRPr lang="en-NZ" dirty="0"/>
          </a:p>
        </p:txBody>
      </p:sp>
      <p:sp>
        <p:nvSpPr>
          <p:cNvPr id="3" name="Title 2"/>
          <p:cNvSpPr>
            <a:spLocks noGrp="1"/>
          </p:cNvSpPr>
          <p:nvPr>
            <p:ph type="title"/>
          </p:nvPr>
        </p:nvSpPr>
        <p:spPr/>
        <p:txBody>
          <a:bodyPr/>
          <a:lstStyle/>
          <a:p>
            <a:r>
              <a:rPr lang="en-US" b="1" dirty="0">
                <a:solidFill>
                  <a:srgbClr val="FF0000"/>
                </a:solidFill>
              </a:rPr>
              <a:t>Interfaces in DBMS-Types</a:t>
            </a:r>
          </a:p>
        </p:txBody>
      </p:sp>
      <p:sp>
        <p:nvSpPr>
          <p:cNvPr id="4" name="Text Placeholder 3"/>
          <p:cNvSpPr>
            <a:spLocks noGrp="1"/>
          </p:cNvSpPr>
          <p:nvPr>
            <p:ph type="body" sz="quarter" idx="17"/>
          </p:nvPr>
        </p:nvSpPr>
        <p:spPr>
          <a:xfrm>
            <a:off x="695401" y="1340768"/>
            <a:ext cx="6552728" cy="4753648"/>
          </a:xfrm>
        </p:spPr>
        <p:txBody>
          <a:bodyPr/>
          <a:lstStyle/>
          <a:p>
            <a:pPr marL="0" indent="0" algn="just" fontAlgn="base">
              <a:buNone/>
            </a:pPr>
            <a:r>
              <a:rPr lang="en-US" sz="2000" b="1" dirty="0">
                <a:solidFill>
                  <a:srgbClr val="0070C0"/>
                </a:solidFill>
                <a:latin typeface="Arial"/>
                <a:ea typeface="+mn-ea"/>
                <a:cs typeface="+mn-cs"/>
              </a:rPr>
              <a:t>2. Forms-Based Interfaces</a:t>
            </a:r>
          </a:p>
          <a:p>
            <a:pPr marL="0" indent="0" algn="just" fontAlgn="base">
              <a:buNone/>
            </a:pPr>
            <a:r>
              <a:rPr lang="en-US" sz="2000" dirty="0">
                <a:solidFill>
                  <a:srgbClr val="C00000"/>
                </a:solidFill>
                <a:latin typeface="Arial"/>
                <a:ea typeface="+mn-ea"/>
                <a:cs typeface="+mn-cs"/>
              </a:rPr>
              <a:t>A forms-based interface displays a form to each user. Users can fill out all of the form entries to insert new data, or they can fill out only certain entries, in which case the DBMS will redeem the same type of data for other remaining entries. These types of forms are usually designed or created and programmed for users that have no expertise in operating systems. Many DBMS’s have form specification languages which are special languages that help specify such forms. </a:t>
            </a:r>
          </a:p>
          <a:p>
            <a:endParaRPr lang="en-US" dirty="0">
              <a:solidFill>
                <a:srgbClr val="C00000"/>
              </a:solidFill>
            </a:endParaRPr>
          </a:p>
        </p:txBody>
      </p:sp>
      <p:pic>
        <p:nvPicPr>
          <p:cNvPr id="4098" name="Picture 2" descr="Outline Interface types and describe any five of them."/>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7531496" y="1628800"/>
            <a:ext cx="4133777" cy="3384376"/>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1436472060"/>
      </p:ext>
    </p:extLst>
  </p:cSld>
  <p:clrMapOvr>
    <a:masterClrMapping/>
  </p:clrMapOvr>
</p:sld>
</file>

<file path=ppt/slides/slide4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Number Placeholder 1"/>
          <p:cNvSpPr>
            <a:spLocks noGrp="1"/>
          </p:cNvSpPr>
          <p:nvPr>
            <p:ph type="sldNum" sz="quarter" idx="14"/>
          </p:nvPr>
        </p:nvSpPr>
        <p:spPr/>
        <p:txBody>
          <a:bodyPr/>
          <a:lstStyle/>
          <a:p>
            <a:fld id="{45A3C14A-F937-4231-B6F1-40B429FAFB2F}" type="slidenum">
              <a:rPr lang="en-NZ" smtClean="0"/>
              <a:pPr/>
              <a:t>41</a:t>
            </a:fld>
            <a:endParaRPr lang="en-NZ" dirty="0"/>
          </a:p>
        </p:txBody>
      </p:sp>
      <p:sp>
        <p:nvSpPr>
          <p:cNvPr id="3" name="Title 2"/>
          <p:cNvSpPr>
            <a:spLocks noGrp="1"/>
          </p:cNvSpPr>
          <p:nvPr>
            <p:ph type="title"/>
          </p:nvPr>
        </p:nvSpPr>
        <p:spPr/>
        <p:txBody>
          <a:bodyPr/>
          <a:lstStyle/>
          <a:p>
            <a:r>
              <a:rPr lang="en-US" b="1" dirty="0">
                <a:solidFill>
                  <a:srgbClr val="FF0000"/>
                </a:solidFill>
              </a:rPr>
              <a:t>Interfaces in DBMS-Types</a:t>
            </a:r>
          </a:p>
        </p:txBody>
      </p:sp>
      <p:sp>
        <p:nvSpPr>
          <p:cNvPr id="4" name="Text Placeholder 3"/>
          <p:cNvSpPr>
            <a:spLocks noGrp="1"/>
          </p:cNvSpPr>
          <p:nvPr>
            <p:ph type="body" sz="quarter" idx="17"/>
          </p:nvPr>
        </p:nvSpPr>
        <p:spPr>
          <a:xfrm>
            <a:off x="695401" y="1233988"/>
            <a:ext cx="6624735" cy="4860428"/>
          </a:xfrm>
        </p:spPr>
        <p:txBody>
          <a:bodyPr/>
          <a:lstStyle/>
          <a:p>
            <a:pPr marL="0" indent="0">
              <a:buFont typeface="+mj-lt"/>
              <a:buNone/>
            </a:pPr>
            <a:r>
              <a:rPr lang="en-US" b="1" dirty="0">
                <a:solidFill>
                  <a:srgbClr val="0070C0"/>
                </a:solidFill>
                <a:latin typeface="Times New Roman" panose="02020603050405020304" pitchFamily="18" charset="0"/>
                <a:cs typeface="Times New Roman" panose="02020603050405020304" pitchFamily="18" charset="0"/>
              </a:rPr>
              <a:t>3. </a:t>
            </a:r>
            <a:r>
              <a:rPr lang="en-US" sz="2000" b="1" dirty="0">
                <a:solidFill>
                  <a:srgbClr val="0070C0"/>
                </a:solidFill>
                <a:latin typeface="Arial"/>
                <a:ea typeface="+mn-ea"/>
                <a:cs typeface="+mn-cs"/>
              </a:rPr>
              <a:t>Natural Language Interface</a:t>
            </a:r>
          </a:p>
          <a:p>
            <a:pPr marL="0" indent="0" algn="just">
              <a:buFont typeface="+mj-lt"/>
              <a:buNone/>
            </a:pPr>
            <a:br>
              <a:rPr lang="en-US" sz="2000" b="1" dirty="0">
                <a:solidFill>
                  <a:srgbClr val="C00000"/>
                </a:solidFill>
                <a:latin typeface="Arial"/>
                <a:ea typeface="+mn-ea"/>
                <a:cs typeface="+mn-cs"/>
              </a:rPr>
            </a:br>
            <a:r>
              <a:rPr lang="en-US" sz="2000" dirty="0">
                <a:solidFill>
                  <a:srgbClr val="C00000"/>
                </a:solidFill>
                <a:latin typeface="Arial"/>
                <a:ea typeface="+mn-ea"/>
                <a:cs typeface="+mn-cs"/>
              </a:rPr>
              <a:t>A natural language interface contains its unique schema more like the high−level conceptual schema. It also has a </a:t>
            </a:r>
            <a:r>
              <a:rPr lang="en-US" sz="2000" b="1" dirty="0">
                <a:solidFill>
                  <a:srgbClr val="C00000"/>
                </a:solidFill>
                <a:latin typeface="Arial"/>
                <a:ea typeface="+mn-ea"/>
                <a:cs typeface="+mn-cs"/>
              </a:rPr>
              <a:t>directory of important words</a:t>
            </a:r>
            <a:r>
              <a:rPr lang="en-US" sz="2000" dirty="0">
                <a:solidFill>
                  <a:srgbClr val="C00000"/>
                </a:solidFill>
                <a:latin typeface="Arial"/>
                <a:ea typeface="+mn-ea"/>
                <a:cs typeface="+mn-cs"/>
              </a:rPr>
              <a:t>. It generates a query based on the interpretation of important words in the input by the user and if the interpretation is successful, then it displays the result to the user.</a:t>
            </a:r>
          </a:p>
          <a:p>
            <a:pPr marL="0" indent="0" algn="just">
              <a:buFont typeface="+mj-lt"/>
              <a:buNone/>
            </a:pPr>
            <a:r>
              <a:rPr lang="en-US" sz="2000" b="1" dirty="0">
                <a:solidFill>
                  <a:srgbClr val="C00000"/>
                </a:solidFill>
                <a:latin typeface="Arial"/>
                <a:ea typeface="+mn-ea"/>
                <a:cs typeface="+mn-cs"/>
              </a:rPr>
              <a:t>Example: </a:t>
            </a:r>
            <a:r>
              <a:rPr lang="en-US" sz="2000" dirty="0">
                <a:solidFill>
                  <a:srgbClr val="C00000"/>
                </a:solidFill>
                <a:latin typeface="Arial"/>
                <a:ea typeface="+mn-ea"/>
                <a:cs typeface="+mn-cs"/>
              </a:rPr>
              <a:t>A user googled the fastest car in India, and now the natural language interface will look for the important words </a:t>
            </a:r>
            <a:r>
              <a:rPr lang="en-US" sz="2000" dirty="0" err="1">
                <a:solidFill>
                  <a:srgbClr val="C00000"/>
                </a:solidFill>
                <a:latin typeface="Arial"/>
                <a:ea typeface="+mn-ea"/>
                <a:cs typeface="+mn-cs"/>
              </a:rPr>
              <a:t>i</a:t>
            </a:r>
            <a:r>
              <a:rPr lang="en-US" sz="2000" dirty="0">
                <a:solidFill>
                  <a:srgbClr val="C00000"/>
                </a:solidFill>
                <a:latin typeface="Arial"/>
                <a:ea typeface="+mn-ea"/>
                <a:cs typeface="+mn-cs"/>
              </a:rPr>
              <a:t>. e. fastest, car, India, and show the result accordingly.</a:t>
            </a:r>
          </a:p>
          <a:p>
            <a:endParaRPr lang="en-US" dirty="0"/>
          </a:p>
        </p:txBody>
      </p:sp>
      <p:pic>
        <p:nvPicPr>
          <p:cNvPr id="5122" name="Picture 2" descr="Voice User Interface Definition &amp; Meaning in Stock Market with Example"/>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7608168" y="1233988"/>
            <a:ext cx="3960440" cy="4643284"/>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3562889960"/>
      </p:ext>
    </p:extLst>
  </p:cSld>
  <p:clrMapOvr>
    <a:masterClrMapping/>
  </p:clrMapOvr>
</p:sld>
</file>

<file path=ppt/slides/slide4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Number Placeholder 1"/>
          <p:cNvSpPr>
            <a:spLocks noGrp="1"/>
          </p:cNvSpPr>
          <p:nvPr>
            <p:ph type="sldNum" sz="quarter" idx="14"/>
          </p:nvPr>
        </p:nvSpPr>
        <p:spPr/>
        <p:txBody>
          <a:bodyPr/>
          <a:lstStyle/>
          <a:p>
            <a:fld id="{45A3C14A-F937-4231-B6F1-40B429FAFB2F}" type="slidenum">
              <a:rPr lang="en-NZ" smtClean="0"/>
              <a:pPr/>
              <a:t>42</a:t>
            </a:fld>
            <a:endParaRPr lang="en-NZ" dirty="0"/>
          </a:p>
        </p:txBody>
      </p:sp>
      <p:sp>
        <p:nvSpPr>
          <p:cNvPr id="3" name="Title 2"/>
          <p:cNvSpPr>
            <a:spLocks noGrp="1"/>
          </p:cNvSpPr>
          <p:nvPr>
            <p:ph type="title"/>
          </p:nvPr>
        </p:nvSpPr>
        <p:spPr/>
        <p:txBody>
          <a:bodyPr/>
          <a:lstStyle/>
          <a:p>
            <a:r>
              <a:rPr lang="en-US" b="1" dirty="0">
                <a:solidFill>
                  <a:srgbClr val="FF0000"/>
                </a:solidFill>
              </a:rPr>
              <a:t>Interfaces in DBMS-Types</a:t>
            </a:r>
            <a:endParaRPr lang="en-US" dirty="0">
              <a:solidFill>
                <a:srgbClr val="FF0000"/>
              </a:solidFill>
            </a:endParaRPr>
          </a:p>
        </p:txBody>
      </p:sp>
      <p:sp>
        <p:nvSpPr>
          <p:cNvPr id="4" name="Text Placeholder 3"/>
          <p:cNvSpPr>
            <a:spLocks noGrp="1"/>
          </p:cNvSpPr>
          <p:nvPr>
            <p:ph type="body" sz="quarter" idx="17"/>
          </p:nvPr>
        </p:nvSpPr>
        <p:spPr>
          <a:xfrm>
            <a:off x="695400" y="1773936"/>
            <a:ext cx="6211927" cy="4320480"/>
          </a:xfrm>
        </p:spPr>
        <p:txBody>
          <a:bodyPr/>
          <a:lstStyle/>
          <a:p>
            <a:pPr marL="0" indent="0">
              <a:buNone/>
            </a:pPr>
            <a:r>
              <a:rPr lang="en-US" sz="2000" b="1" dirty="0">
                <a:solidFill>
                  <a:srgbClr val="0070C0"/>
                </a:solidFill>
                <a:latin typeface="Arial"/>
                <a:ea typeface="+mn-ea"/>
                <a:cs typeface="+mn-cs"/>
              </a:rPr>
              <a:t>4. Command-line interface (CLI)</a:t>
            </a:r>
          </a:p>
          <a:p>
            <a:pPr marL="0" indent="0" algn="just">
              <a:buNone/>
            </a:pPr>
            <a:r>
              <a:rPr lang="en-US" sz="2000" dirty="0">
                <a:solidFill>
                  <a:srgbClr val="C00000"/>
                </a:solidFill>
                <a:latin typeface="Arial"/>
                <a:ea typeface="+mn-ea"/>
                <a:cs typeface="+mn-cs"/>
              </a:rPr>
              <a:t>Almost every database vendor has its own Command-Line Interface (CLI) tool. The following list shows you a couple of examples.</a:t>
            </a:r>
          </a:p>
          <a:p>
            <a:pPr marL="0" lvl="0" indent="0">
              <a:buNone/>
            </a:pPr>
            <a:r>
              <a:rPr lang="en-US" altLang="en-US" sz="2000" dirty="0">
                <a:solidFill>
                  <a:srgbClr val="C00000"/>
                </a:solidFill>
                <a:latin typeface="Arial"/>
                <a:ea typeface="+mn-ea"/>
                <a:cs typeface="+mn-cs"/>
              </a:rPr>
              <a:t>Oracle: </a:t>
            </a:r>
            <a:r>
              <a:rPr lang="en-US" altLang="en-US" sz="2000" dirty="0" err="1">
                <a:solidFill>
                  <a:srgbClr val="C00000"/>
                </a:solidFill>
                <a:latin typeface="Arial"/>
                <a:ea typeface="+mn-ea"/>
                <a:cs typeface="+mn-cs"/>
              </a:rPr>
              <a:t>sqlplus</a:t>
            </a:r>
            <a:r>
              <a:rPr lang="en-US" altLang="en-US" sz="2000" dirty="0">
                <a:solidFill>
                  <a:srgbClr val="C00000"/>
                </a:solidFill>
                <a:latin typeface="Arial"/>
                <a:ea typeface="+mn-ea"/>
                <a:cs typeface="+mn-cs"/>
              </a:rPr>
              <a:t> (SQL Command Line for SQL*Plus)</a:t>
            </a:r>
          </a:p>
          <a:p>
            <a:pPr marL="0" indent="0">
              <a:buNone/>
            </a:pPr>
            <a:r>
              <a:rPr lang="en-US" altLang="en-US" sz="2000" dirty="0">
                <a:solidFill>
                  <a:srgbClr val="C00000"/>
                </a:solidFill>
                <a:latin typeface="Arial"/>
                <a:ea typeface="+mn-ea"/>
                <a:cs typeface="+mn-cs"/>
              </a:rPr>
              <a:t>MySQL: </a:t>
            </a:r>
            <a:r>
              <a:rPr lang="en-US" altLang="en-US" sz="2000" dirty="0" err="1">
                <a:solidFill>
                  <a:srgbClr val="C00000"/>
                </a:solidFill>
                <a:latin typeface="Arial"/>
                <a:ea typeface="+mn-ea"/>
                <a:cs typeface="+mn-cs"/>
              </a:rPr>
              <a:t>mysql</a:t>
            </a:r>
            <a:endParaRPr lang="en-US" altLang="en-US" sz="2000" dirty="0">
              <a:solidFill>
                <a:srgbClr val="C00000"/>
              </a:solidFill>
              <a:latin typeface="Arial"/>
              <a:ea typeface="+mn-ea"/>
              <a:cs typeface="+mn-cs"/>
            </a:endParaRPr>
          </a:p>
          <a:p>
            <a:pPr marL="0" lvl="0" indent="0">
              <a:buNone/>
            </a:pPr>
            <a:r>
              <a:rPr lang="en-US" altLang="en-US" sz="2000" dirty="0">
                <a:solidFill>
                  <a:srgbClr val="C00000"/>
                </a:solidFill>
                <a:latin typeface="Arial"/>
                <a:ea typeface="+mn-ea"/>
                <a:cs typeface="+mn-cs"/>
              </a:rPr>
              <a:t>Microsoft SQL Server: </a:t>
            </a:r>
            <a:r>
              <a:rPr lang="en-US" altLang="en-US" sz="2000" dirty="0" err="1">
                <a:solidFill>
                  <a:srgbClr val="C00000"/>
                </a:solidFill>
                <a:latin typeface="Arial"/>
                <a:ea typeface="+mn-ea"/>
                <a:cs typeface="+mn-cs"/>
              </a:rPr>
              <a:t>sqlcmd</a:t>
            </a:r>
            <a:endParaRPr lang="en-US" altLang="en-US" sz="2000" dirty="0">
              <a:solidFill>
                <a:srgbClr val="C00000"/>
              </a:solidFill>
              <a:latin typeface="Arial"/>
              <a:ea typeface="+mn-ea"/>
              <a:cs typeface="+mn-cs"/>
            </a:endParaRPr>
          </a:p>
          <a:p>
            <a:pPr marL="0" indent="0">
              <a:buNone/>
            </a:pPr>
            <a:endParaRPr lang="en-US" altLang="en-US" dirty="0">
              <a:solidFill>
                <a:srgbClr val="19191C"/>
              </a:solidFill>
              <a:latin typeface="JetBrains Sans"/>
            </a:endParaRPr>
          </a:p>
          <a:p>
            <a:pPr marL="0" lvl="0" indent="0">
              <a:buNone/>
            </a:pPr>
            <a:endParaRPr lang="en-US" altLang="en-US" dirty="0">
              <a:solidFill>
                <a:srgbClr val="19191C"/>
              </a:solidFill>
              <a:latin typeface="JetBrains Sans"/>
            </a:endParaRPr>
          </a:p>
          <a:p>
            <a:pPr marL="0" indent="0">
              <a:buNone/>
            </a:pPr>
            <a:endParaRPr lang="en-US" dirty="0"/>
          </a:p>
          <a:p>
            <a:pPr marL="0" indent="0">
              <a:buNone/>
            </a:pPr>
            <a:endParaRPr lang="en-US" b="1" dirty="0">
              <a:solidFill>
                <a:schemeClr val="tx1">
                  <a:lumMod val="85000"/>
                  <a:lumOff val="15000"/>
                </a:schemeClr>
              </a:solidFill>
              <a:latin typeface="Times New Roman" panose="02020603050405020304" pitchFamily="18" charset="0"/>
              <a:cs typeface="Times New Roman" panose="02020603050405020304" pitchFamily="18" charset="0"/>
            </a:endParaRPr>
          </a:p>
        </p:txBody>
      </p:sp>
      <p:sp>
        <p:nvSpPr>
          <p:cNvPr id="5" name="AutoShape 2" descr="How To Use MySQL From The Command Line [With Examples]"/>
          <p:cNvSpPr>
            <a:spLocks noChangeAspect="1" noChangeArrowheads="1"/>
          </p:cNvSpPr>
          <p:nvPr/>
        </p:nvSpPr>
        <p:spPr bwMode="auto">
          <a:xfrm>
            <a:off x="155575" y="-144463"/>
            <a:ext cx="304800" cy="304801"/>
          </a:xfrm>
          <a:prstGeom prst="rect">
            <a:avLst/>
          </a:prstGeom>
          <a:noFill/>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en-US"/>
          </a:p>
        </p:txBody>
      </p:sp>
      <p:pic>
        <p:nvPicPr>
          <p:cNvPr id="6148" name="Picture 4" descr="Creating a Database Using MySQL Command-Line Client"/>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7272301" y="1556792"/>
            <a:ext cx="4457700" cy="3438526"/>
          </a:xfrm>
          <a:prstGeom prst="rect">
            <a:avLst/>
          </a:prstGeom>
          <a:noFill/>
          <a:extLst>
            <a:ext uri="{909E8E84-426E-40DD-AFC4-6F175D3DCCD1}">
              <a14:hiddenFill xmlns:a14="http://schemas.microsoft.com/office/drawing/2010/main">
                <a:solidFill>
                  <a:srgbClr val="FFFFFF"/>
                </a:solidFill>
              </a14:hiddenFill>
            </a:ext>
          </a:extLst>
        </p:spPr>
      </p:pic>
      <p:sp>
        <p:nvSpPr>
          <p:cNvPr id="13" name="Rectangle 10"/>
          <p:cNvSpPr>
            <a:spLocks noChangeArrowheads="1"/>
          </p:cNvSpPr>
          <p:nvPr/>
        </p:nvSpPr>
        <p:spPr bwMode="auto">
          <a:xfrm>
            <a:off x="0" y="-276999"/>
            <a:ext cx="65" cy="553998"/>
          </a:xfrm>
          <a:prstGeom prst="rect">
            <a:avLst/>
          </a:prstGeom>
          <a:solidFill>
            <a:srgbClr val="FFFFFF"/>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0" tIns="0" rIns="0" bIns="0" numCol="1" anchor="ctr" anchorCtr="0" compatLnSpc="1">
            <a:prstTxWarp prst="textNoShape">
              <a:avLst/>
            </a:prstTxWarp>
            <a:spAutoFit/>
          </a:bodyPr>
          <a:lstStyle/>
          <a:p>
            <a:pPr marL="0" marR="0" lvl="0" indent="0" algn="l" defTabSz="914400" rtl="0" eaLnBrk="0" fontAlgn="base" latinLnBrk="0" hangingPunct="0">
              <a:lnSpc>
                <a:spcPct val="100000"/>
              </a:lnSpc>
              <a:spcBef>
                <a:spcPct val="0"/>
              </a:spcBef>
              <a:spcAft>
                <a:spcPct val="0"/>
              </a:spcAft>
              <a:buClrTx/>
              <a:buSzTx/>
              <a:buFontTx/>
              <a:buNone/>
              <a:tabLst/>
            </a:pPr>
            <a:endParaRPr kumimoji="0" lang="en-US" altLang="en-US" sz="1800" b="0" i="0" u="none" strike="noStrike" cap="none" normalizeH="0" baseline="0" dirty="0">
              <a:ln>
                <a:noFill/>
              </a:ln>
              <a:solidFill>
                <a:schemeClr val="tx1"/>
              </a:solidFill>
              <a:effectLst/>
              <a:latin typeface="Arial" panose="020B0604020202020204" pitchFamily="34" charset="0"/>
            </a:endParaRPr>
          </a:p>
          <a:p>
            <a:pPr marL="0" marR="0" lvl="0" indent="0" algn="l" defTabSz="914400" rtl="0" eaLnBrk="0" fontAlgn="base" latinLnBrk="0" hangingPunct="0">
              <a:lnSpc>
                <a:spcPct val="100000"/>
              </a:lnSpc>
              <a:spcBef>
                <a:spcPct val="0"/>
              </a:spcBef>
              <a:spcAft>
                <a:spcPct val="0"/>
              </a:spcAft>
              <a:buClrTx/>
              <a:buSzTx/>
              <a:buFontTx/>
              <a:buNone/>
              <a:tabLst/>
            </a:pPr>
            <a:endParaRPr kumimoji="0" lang="en-US" altLang="en-US" sz="1800" b="0" i="0" u="none" strike="noStrike" cap="none" normalizeH="0" baseline="0" dirty="0">
              <a:ln>
                <a:noFill/>
              </a:ln>
              <a:solidFill>
                <a:schemeClr val="tx1"/>
              </a:solidFill>
              <a:effectLst/>
              <a:latin typeface="Arial" panose="020B0604020202020204" pitchFamily="34" charset="0"/>
            </a:endParaRPr>
          </a:p>
        </p:txBody>
      </p:sp>
    </p:spTree>
    <p:extLst>
      <p:ext uri="{BB962C8B-B14F-4D97-AF65-F5344CB8AC3E}">
        <p14:creationId xmlns:p14="http://schemas.microsoft.com/office/powerpoint/2010/main" val="3721387759"/>
      </p:ext>
    </p:extLst>
  </p:cSld>
  <p:clrMapOvr>
    <a:masterClrMapping/>
  </p:clrMapOvr>
</p:sld>
</file>

<file path=ppt/slides/slide4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IN" b="1" dirty="0">
                <a:solidFill>
                  <a:srgbClr val="FF0000"/>
                </a:solidFill>
              </a:rPr>
              <a:t>database languages</a:t>
            </a:r>
            <a:endParaRPr lang="en-IN" dirty="0">
              <a:solidFill>
                <a:srgbClr val="FF0000"/>
              </a:solidFill>
            </a:endParaRPr>
          </a:p>
        </p:txBody>
      </p:sp>
      <p:sp>
        <p:nvSpPr>
          <p:cNvPr id="3" name="Text Placeholder 2"/>
          <p:cNvSpPr>
            <a:spLocks noGrp="1"/>
          </p:cNvSpPr>
          <p:nvPr>
            <p:ph type="body" sz="quarter" idx="17"/>
          </p:nvPr>
        </p:nvSpPr>
        <p:spPr>
          <a:xfrm>
            <a:off x="847065" y="1714501"/>
            <a:ext cx="5908599" cy="2036064"/>
          </a:xfrm>
        </p:spPr>
        <p:txBody>
          <a:bodyPr/>
          <a:lstStyle/>
          <a:p>
            <a:pPr fontAlgn="base">
              <a:spcBef>
                <a:spcPct val="20000"/>
              </a:spcBef>
              <a:spcAft>
                <a:spcPct val="0"/>
              </a:spcAft>
              <a:buFont typeface="Wingdings" panose="05000000000000000000" pitchFamily="2" charset="2"/>
              <a:buChar char="n"/>
            </a:pPr>
            <a:r>
              <a:rPr lang="en-IN" sz="2000" b="1" dirty="0">
                <a:solidFill>
                  <a:srgbClr val="333399"/>
                </a:solidFill>
                <a:latin typeface="Arial"/>
                <a:ea typeface="+mn-ea"/>
                <a:cs typeface="+mn-cs"/>
              </a:rPr>
              <a:t>Data Definition Language  (DDL).</a:t>
            </a:r>
          </a:p>
          <a:p>
            <a:pPr fontAlgn="base">
              <a:spcBef>
                <a:spcPct val="20000"/>
              </a:spcBef>
              <a:spcAft>
                <a:spcPct val="0"/>
              </a:spcAft>
              <a:buFont typeface="Wingdings" panose="05000000000000000000" pitchFamily="2" charset="2"/>
              <a:buChar char="n"/>
            </a:pPr>
            <a:r>
              <a:rPr lang="en-IN" sz="2000" b="1" dirty="0">
                <a:solidFill>
                  <a:srgbClr val="333399"/>
                </a:solidFill>
                <a:latin typeface="Arial"/>
                <a:ea typeface="+mn-ea"/>
                <a:cs typeface="+mn-cs"/>
              </a:rPr>
              <a:t>Data Manipulation Language. (DML).</a:t>
            </a:r>
          </a:p>
          <a:p>
            <a:pPr fontAlgn="base">
              <a:spcBef>
                <a:spcPct val="20000"/>
              </a:spcBef>
              <a:spcAft>
                <a:spcPct val="0"/>
              </a:spcAft>
              <a:buFont typeface="Wingdings" panose="05000000000000000000" pitchFamily="2" charset="2"/>
              <a:buChar char="n"/>
            </a:pPr>
            <a:r>
              <a:rPr lang="en-IN" sz="2000" b="1" dirty="0">
                <a:solidFill>
                  <a:srgbClr val="333399"/>
                </a:solidFill>
                <a:latin typeface="Arial"/>
                <a:ea typeface="+mn-ea"/>
                <a:cs typeface="+mn-cs"/>
              </a:rPr>
              <a:t> Data Control Language. (DCL).</a:t>
            </a:r>
          </a:p>
          <a:p>
            <a:pPr fontAlgn="base">
              <a:spcBef>
                <a:spcPct val="20000"/>
              </a:spcBef>
              <a:spcAft>
                <a:spcPct val="0"/>
              </a:spcAft>
              <a:buFont typeface="Wingdings" panose="05000000000000000000" pitchFamily="2" charset="2"/>
              <a:buChar char="n"/>
            </a:pPr>
            <a:r>
              <a:rPr lang="en-IN" sz="2000" b="1" dirty="0">
                <a:solidFill>
                  <a:srgbClr val="333399"/>
                </a:solidFill>
                <a:latin typeface="Arial"/>
                <a:ea typeface="+mn-ea"/>
                <a:cs typeface="+mn-cs"/>
              </a:rPr>
              <a:t>DQL – Data Query Language</a:t>
            </a:r>
          </a:p>
          <a:p>
            <a:pPr fontAlgn="base">
              <a:spcBef>
                <a:spcPct val="20000"/>
              </a:spcBef>
              <a:spcAft>
                <a:spcPct val="0"/>
              </a:spcAft>
              <a:buFont typeface="Wingdings" panose="05000000000000000000" pitchFamily="2" charset="2"/>
              <a:buChar char="n"/>
            </a:pPr>
            <a:r>
              <a:rPr lang="en-IN" sz="2000" b="1" dirty="0">
                <a:solidFill>
                  <a:srgbClr val="333399"/>
                </a:solidFill>
                <a:latin typeface="Arial"/>
                <a:ea typeface="+mn-ea"/>
                <a:cs typeface="+mn-cs"/>
              </a:rPr>
              <a:t>Transaction Control Language (TCL).</a:t>
            </a:r>
          </a:p>
          <a:p>
            <a:pPr fontAlgn="base">
              <a:spcBef>
                <a:spcPct val="20000"/>
              </a:spcBef>
              <a:spcAft>
                <a:spcPct val="0"/>
              </a:spcAft>
              <a:buFont typeface="Wingdings" panose="05000000000000000000" pitchFamily="2" charset="2"/>
              <a:buChar char="n"/>
            </a:pPr>
            <a:endParaRPr lang="en-IN" sz="2000" b="1" dirty="0">
              <a:solidFill>
                <a:srgbClr val="333399"/>
              </a:solidFill>
              <a:latin typeface="Arial"/>
              <a:ea typeface="+mn-ea"/>
              <a:cs typeface="+mn-cs"/>
            </a:endParaRPr>
          </a:p>
        </p:txBody>
      </p:sp>
    </p:spTree>
    <p:extLst>
      <p:ext uri="{BB962C8B-B14F-4D97-AF65-F5344CB8AC3E}">
        <p14:creationId xmlns:p14="http://schemas.microsoft.com/office/powerpoint/2010/main" val="3668885641"/>
      </p:ext>
    </p:extLst>
  </p:cSld>
  <p:clrMapOvr>
    <a:masterClrMapping/>
  </p:clrMapOvr>
</p:sld>
</file>

<file path=ppt/slides/slide4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983432" y="1510678"/>
            <a:ext cx="8625408" cy="838202"/>
          </a:xfrm>
        </p:spPr>
        <p:txBody>
          <a:bodyPr/>
          <a:lstStyle/>
          <a:p>
            <a:r>
              <a:rPr lang="en-IN" b="1" dirty="0">
                <a:solidFill>
                  <a:srgbClr val="002060"/>
                </a:solidFill>
              </a:rPr>
              <a:t>1. Data-Definition Language (DDL):</a:t>
            </a:r>
            <a:endParaRPr lang="en-IN" dirty="0">
              <a:solidFill>
                <a:srgbClr val="002060"/>
              </a:solidFill>
            </a:endParaRPr>
          </a:p>
        </p:txBody>
      </p:sp>
      <p:sp>
        <p:nvSpPr>
          <p:cNvPr id="3" name="Text Placeholder 2"/>
          <p:cNvSpPr>
            <a:spLocks noGrp="1"/>
          </p:cNvSpPr>
          <p:nvPr>
            <p:ph type="body" sz="quarter" idx="17"/>
          </p:nvPr>
        </p:nvSpPr>
        <p:spPr>
          <a:xfrm>
            <a:off x="983432" y="2348880"/>
            <a:ext cx="10353602" cy="4068064"/>
          </a:xfrm>
        </p:spPr>
        <p:txBody>
          <a:bodyPr/>
          <a:lstStyle/>
          <a:p>
            <a:pPr>
              <a:buFont typeface="Arial" panose="020B0604020202020204" pitchFamily="34" charset="0"/>
              <a:buChar char="•"/>
            </a:pPr>
            <a:r>
              <a:rPr lang="en-IN" dirty="0">
                <a:solidFill>
                  <a:srgbClr val="C00000"/>
                </a:solidFill>
                <a:latin typeface="urw-din"/>
              </a:rPr>
              <a:t>To  specify a database schema by a set of definitions.</a:t>
            </a:r>
          </a:p>
          <a:p>
            <a:pPr>
              <a:buFont typeface="Arial" panose="020B0604020202020204" pitchFamily="34" charset="0"/>
              <a:buChar char="•"/>
            </a:pPr>
            <a:r>
              <a:rPr lang="en-IN" b="0" i="0" dirty="0">
                <a:solidFill>
                  <a:srgbClr val="C00000"/>
                </a:solidFill>
                <a:effectLst/>
                <a:latin typeface="urw-din"/>
              </a:rPr>
              <a:t>Data Definition Language actually consists of the SQL commands that can be used to define the database schema. It simply deals with </a:t>
            </a:r>
            <a:r>
              <a:rPr lang="en-IN" b="0" i="1" dirty="0">
                <a:solidFill>
                  <a:srgbClr val="C00000"/>
                </a:solidFill>
                <a:effectLst/>
                <a:latin typeface="urw-din"/>
              </a:rPr>
              <a:t>descriptions of the database </a:t>
            </a:r>
            <a:r>
              <a:rPr lang="en-IN" b="0" i="0" dirty="0">
                <a:solidFill>
                  <a:srgbClr val="C00000"/>
                </a:solidFill>
                <a:effectLst/>
                <a:latin typeface="urw-din"/>
              </a:rPr>
              <a:t>schema and is used to create and modify the structure of database objects in the database.</a:t>
            </a:r>
          </a:p>
          <a:p>
            <a:pPr>
              <a:buFont typeface="Arial" panose="020B0604020202020204" pitchFamily="34" charset="0"/>
              <a:buChar char="•"/>
            </a:pPr>
            <a:endParaRPr lang="en-IN" dirty="0">
              <a:solidFill>
                <a:srgbClr val="C00000"/>
              </a:solidFill>
            </a:endParaRPr>
          </a:p>
        </p:txBody>
      </p:sp>
      <p:sp>
        <p:nvSpPr>
          <p:cNvPr id="4" name="Title 1"/>
          <p:cNvSpPr txBox="1">
            <a:spLocks/>
          </p:cNvSpPr>
          <p:nvPr/>
        </p:nvSpPr>
        <p:spPr bwMode="gray">
          <a:xfrm>
            <a:off x="767408" y="302766"/>
            <a:ext cx="6211927" cy="838202"/>
          </a:xfrm>
          <a:prstGeom prst="rect">
            <a:avLst/>
          </a:prstGeom>
        </p:spPr>
        <p:txBody>
          <a:bodyPr lIns="91440" tIns="45720" rIns="91440" bIns="45720" anchor="ctr" anchorCtr="0">
            <a:noAutofit/>
          </a:bodyPr>
          <a:lstStyle>
            <a:lvl1pPr algn="l" defTabSz="914400" rtl="0" eaLnBrk="1" latinLnBrk="0" hangingPunct="1">
              <a:spcBef>
                <a:spcPct val="0"/>
              </a:spcBef>
              <a:buNone/>
              <a:defRPr sz="3400" kern="1200" cap="all" spc="0" baseline="0">
                <a:solidFill>
                  <a:schemeClr val="tx1"/>
                </a:solidFill>
                <a:latin typeface="Roboto Medium" pitchFamily="2" charset="0"/>
                <a:ea typeface="Roboto Medium" pitchFamily="2" charset="0"/>
                <a:cs typeface="Roboto Medium" pitchFamily="2" charset="0"/>
              </a:defRPr>
            </a:lvl1pPr>
          </a:lstStyle>
          <a:p>
            <a:r>
              <a:rPr lang="en-IN" sz="2833" b="1" dirty="0">
                <a:solidFill>
                  <a:srgbClr val="FF0000"/>
                </a:solidFill>
              </a:rPr>
              <a:t>database languages</a:t>
            </a:r>
            <a:endParaRPr lang="en-IN" sz="2833" dirty="0">
              <a:solidFill>
                <a:srgbClr val="FF0000"/>
              </a:solidFill>
            </a:endParaRPr>
          </a:p>
        </p:txBody>
      </p:sp>
    </p:spTree>
    <p:extLst>
      <p:ext uri="{BB962C8B-B14F-4D97-AF65-F5344CB8AC3E}">
        <p14:creationId xmlns:p14="http://schemas.microsoft.com/office/powerpoint/2010/main" val="713805600"/>
      </p:ext>
    </p:extLst>
  </p:cSld>
  <p:clrMapOvr>
    <a:masterClrMapping/>
  </p:clrMapOvr>
</p:sld>
</file>

<file path=ppt/slides/slide4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1143000" y="1140968"/>
            <a:ext cx="7905328" cy="838202"/>
          </a:xfrm>
        </p:spPr>
        <p:txBody>
          <a:bodyPr/>
          <a:lstStyle/>
          <a:p>
            <a:r>
              <a:rPr lang="en-IN" b="1" dirty="0">
                <a:solidFill>
                  <a:srgbClr val="002060"/>
                </a:solidFill>
              </a:rPr>
              <a:t>Data-Definition Language (DDL):</a:t>
            </a:r>
            <a:endParaRPr lang="en-IN" dirty="0">
              <a:solidFill>
                <a:srgbClr val="002060"/>
              </a:solidFill>
            </a:endParaRPr>
          </a:p>
        </p:txBody>
      </p:sp>
      <p:sp>
        <p:nvSpPr>
          <p:cNvPr id="3" name="Text Placeholder 2"/>
          <p:cNvSpPr>
            <a:spLocks noGrp="1"/>
          </p:cNvSpPr>
          <p:nvPr>
            <p:ph type="body" sz="quarter" idx="17"/>
          </p:nvPr>
        </p:nvSpPr>
        <p:spPr>
          <a:xfrm>
            <a:off x="1143000" y="1772816"/>
            <a:ext cx="10353602" cy="4068064"/>
          </a:xfrm>
        </p:spPr>
        <p:txBody>
          <a:bodyPr/>
          <a:lstStyle/>
          <a:p>
            <a:pPr marL="0" indent="0">
              <a:buNone/>
            </a:pPr>
            <a:r>
              <a:rPr lang="en-IN" b="0" i="0" dirty="0">
                <a:solidFill>
                  <a:srgbClr val="273239"/>
                </a:solidFill>
                <a:effectLst/>
                <a:latin typeface="urw-din"/>
              </a:rPr>
              <a:t>List of DDL commands: </a:t>
            </a:r>
            <a:endParaRPr lang="en-IN" dirty="0">
              <a:solidFill>
                <a:srgbClr val="273239"/>
              </a:solidFill>
              <a:latin typeface="urw-din"/>
            </a:endParaRPr>
          </a:p>
          <a:p>
            <a:pPr marL="0" indent="0" algn="just" fontAlgn="base">
              <a:buNone/>
            </a:pPr>
            <a:r>
              <a:rPr lang="en-IN" sz="2000" dirty="0">
                <a:solidFill>
                  <a:srgbClr val="C00000"/>
                </a:solidFill>
                <a:latin typeface="Times New Roman" panose="02020603050405020304" pitchFamily="18" charset="0"/>
                <a:cs typeface="Times New Roman" panose="02020603050405020304" pitchFamily="18" charset="0"/>
                <a:hlinkClick r:id="rId2"/>
              </a:rPr>
              <a:t>CREATE</a:t>
            </a:r>
            <a:r>
              <a:rPr lang="en-IN" sz="2000" dirty="0">
                <a:solidFill>
                  <a:srgbClr val="C00000"/>
                </a:solidFill>
                <a:latin typeface="Times New Roman" panose="02020603050405020304" pitchFamily="18" charset="0"/>
                <a:cs typeface="Times New Roman" panose="02020603050405020304" pitchFamily="18" charset="0"/>
              </a:rPr>
              <a:t>: This command is used to create the database or its objects (like table, index, function, views).</a:t>
            </a:r>
          </a:p>
          <a:p>
            <a:pPr marL="0" indent="0" algn="just" fontAlgn="base">
              <a:buNone/>
            </a:pPr>
            <a:r>
              <a:rPr lang="en-IN" sz="2000" dirty="0">
                <a:solidFill>
                  <a:srgbClr val="C00000"/>
                </a:solidFill>
                <a:latin typeface="Times New Roman" panose="02020603050405020304" pitchFamily="18" charset="0"/>
                <a:cs typeface="Times New Roman" panose="02020603050405020304" pitchFamily="18" charset="0"/>
                <a:hlinkClick r:id="rId3"/>
              </a:rPr>
              <a:t>DROP</a:t>
            </a:r>
            <a:r>
              <a:rPr lang="en-IN" sz="2000" dirty="0">
                <a:solidFill>
                  <a:srgbClr val="C00000"/>
                </a:solidFill>
                <a:latin typeface="Times New Roman" panose="02020603050405020304" pitchFamily="18" charset="0"/>
                <a:cs typeface="Times New Roman" panose="02020603050405020304" pitchFamily="18" charset="0"/>
              </a:rPr>
              <a:t>: This command is used to delete/drop objects from the database.</a:t>
            </a:r>
          </a:p>
          <a:p>
            <a:pPr marL="0" indent="0" algn="just" fontAlgn="base">
              <a:buNone/>
            </a:pPr>
            <a:r>
              <a:rPr lang="en-IN" sz="2000" dirty="0">
                <a:solidFill>
                  <a:srgbClr val="C00000"/>
                </a:solidFill>
                <a:latin typeface="Times New Roman" panose="02020603050405020304" pitchFamily="18" charset="0"/>
                <a:cs typeface="Times New Roman" panose="02020603050405020304" pitchFamily="18" charset="0"/>
                <a:hlinkClick r:id="rId4"/>
              </a:rPr>
              <a:t>ALTER</a:t>
            </a:r>
            <a:r>
              <a:rPr lang="en-IN" sz="2000" dirty="0">
                <a:solidFill>
                  <a:srgbClr val="C00000"/>
                </a:solidFill>
                <a:latin typeface="Times New Roman" panose="02020603050405020304" pitchFamily="18" charset="0"/>
                <a:cs typeface="Times New Roman" panose="02020603050405020304" pitchFamily="18" charset="0"/>
              </a:rPr>
              <a:t>: This is used to alter the structure of the database.</a:t>
            </a:r>
          </a:p>
          <a:p>
            <a:pPr marL="0" indent="0" algn="just" fontAlgn="base">
              <a:buNone/>
            </a:pPr>
            <a:r>
              <a:rPr lang="en-IN" sz="2000" dirty="0">
                <a:solidFill>
                  <a:srgbClr val="C00000"/>
                </a:solidFill>
                <a:latin typeface="Times New Roman" panose="02020603050405020304" pitchFamily="18" charset="0"/>
                <a:cs typeface="Times New Roman" panose="02020603050405020304" pitchFamily="18" charset="0"/>
                <a:hlinkClick r:id="rId3"/>
              </a:rPr>
              <a:t>TRUNCATE</a:t>
            </a:r>
            <a:r>
              <a:rPr lang="en-IN" sz="2000" dirty="0">
                <a:solidFill>
                  <a:srgbClr val="C00000"/>
                </a:solidFill>
                <a:latin typeface="Times New Roman" panose="02020603050405020304" pitchFamily="18" charset="0"/>
                <a:cs typeface="Times New Roman" panose="02020603050405020304" pitchFamily="18" charset="0"/>
              </a:rPr>
              <a:t>: This is used to remove all records from a table, including all spaces allocated for the records are removed.</a:t>
            </a:r>
          </a:p>
          <a:p>
            <a:pPr marL="0" indent="0" algn="just" fontAlgn="base">
              <a:buNone/>
            </a:pPr>
            <a:r>
              <a:rPr lang="en-IN" sz="2000" dirty="0">
                <a:solidFill>
                  <a:srgbClr val="C00000"/>
                </a:solidFill>
                <a:latin typeface="Times New Roman" panose="02020603050405020304" pitchFamily="18" charset="0"/>
                <a:cs typeface="Times New Roman" panose="02020603050405020304" pitchFamily="18" charset="0"/>
                <a:hlinkClick r:id="rId5"/>
              </a:rPr>
              <a:t>COMMENT</a:t>
            </a:r>
            <a:r>
              <a:rPr lang="en-IN" sz="2000" dirty="0">
                <a:solidFill>
                  <a:srgbClr val="C00000"/>
                </a:solidFill>
                <a:latin typeface="Times New Roman" panose="02020603050405020304" pitchFamily="18" charset="0"/>
                <a:cs typeface="Times New Roman" panose="02020603050405020304" pitchFamily="18" charset="0"/>
              </a:rPr>
              <a:t>: This is used to add comments to the data dictionary.</a:t>
            </a:r>
          </a:p>
          <a:p>
            <a:pPr marL="0" indent="0" algn="just" fontAlgn="base">
              <a:buNone/>
            </a:pPr>
            <a:r>
              <a:rPr lang="en-IN" sz="2000" dirty="0">
                <a:solidFill>
                  <a:srgbClr val="C00000"/>
                </a:solidFill>
                <a:latin typeface="Times New Roman" panose="02020603050405020304" pitchFamily="18" charset="0"/>
                <a:cs typeface="Times New Roman" panose="02020603050405020304" pitchFamily="18" charset="0"/>
                <a:hlinkClick r:id="rId6"/>
              </a:rPr>
              <a:t>RENAME</a:t>
            </a:r>
            <a:r>
              <a:rPr lang="en-IN" sz="2000" dirty="0">
                <a:solidFill>
                  <a:srgbClr val="C00000"/>
                </a:solidFill>
                <a:latin typeface="Times New Roman" panose="02020603050405020304" pitchFamily="18" charset="0"/>
                <a:cs typeface="Times New Roman" panose="02020603050405020304" pitchFamily="18" charset="0"/>
              </a:rPr>
              <a:t>: This is used to rename an object existing in the database.</a:t>
            </a:r>
          </a:p>
          <a:p>
            <a:pPr>
              <a:buFont typeface="Arial" panose="020B0604020202020204" pitchFamily="34" charset="0"/>
              <a:buChar char="•"/>
            </a:pPr>
            <a:endParaRPr lang="en-IN" dirty="0">
              <a:solidFill>
                <a:srgbClr val="C00000"/>
              </a:solidFill>
            </a:endParaRPr>
          </a:p>
        </p:txBody>
      </p:sp>
      <p:sp>
        <p:nvSpPr>
          <p:cNvPr id="4" name="Title 1"/>
          <p:cNvSpPr txBox="1">
            <a:spLocks/>
          </p:cNvSpPr>
          <p:nvPr/>
        </p:nvSpPr>
        <p:spPr bwMode="gray">
          <a:xfrm>
            <a:off x="762000" y="444500"/>
            <a:ext cx="6211927" cy="838202"/>
          </a:xfrm>
          <a:prstGeom prst="rect">
            <a:avLst/>
          </a:prstGeom>
        </p:spPr>
        <p:txBody>
          <a:bodyPr lIns="91440" tIns="45720" rIns="91440" bIns="45720" anchor="ctr" anchorCtr="0">
            <a:noAutofit/>
          </a:bodyPr>
          <a:lstStyle>
            <a:lvl1pPr algn="l" defTabSz="914400" rtl="0" eaLnBrk="1" latinLnBrk="0" hangingPunct="1">
              <a:spcBef>
                <a:spcPct val="0"/>
              </a:spcBef>
              <a:buNone/>
              <a:defRPr sz="3400" kern="1200" cap="all" spc="0" baseline="0">
                <a:solidFill>
                  <a:schemeClr val="tx1"/>
                </a:solidFill>
                <a:latin typeface="Roboto Medium" pitchFamily="2" charset="0"/>
                <a:ea typeface="Roboto Medium" pitchFamily="2" charset="0"/>
                <a:cs typeface="Roboto Medium" pitchFamily="2" charset="0"/>
              </a:defRPr>
            </a:lvl1pPr>
          </a:lstStyle>
          <a:p>
            <a:r>
              <a:rPr lang="en-IN" sz="2833" b="1" dirty="0">
                <a:solidFill>
                  <a:srgbClr val="FF0000"/>
                </a:solidFill>
              </a:rPr>
              <a:t>database languages</a:t>
            </a:r>
            <a:endParaRPr lang="en-IN" sz="2833" dirty="0">
              <a:solidFill>
                <a:srgbClr val="FF0000"/>
              </a:solidFill>
            </a:endParaRPr>
          </a:p>
        </p:txBody>
      </p:sp>
    </p:spTree>
    <p:extLst>
      <p:ext uri="{BB962C8B-B14F-4D97-AF65-F5344CB8AC3E}">
        <p14:creationId xmlns:p14="http://schemas.microsoft.com/office/powerpoint/2010/main" val="1364739526"/>
      </p:ext>
    </p:extLst>
  </p:cSld>
  <p:clrMapOvr>
    <a:masterClrMapping/>
  </p:clrMapOvr>
</p:sld>
</file>

<file path=ppt/slides/slide4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842CED6-DFA9-D55C-4A36-5488E4C4C7A1}"/>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74343DDD-44C6-AF2B-7A34-D50F2D6FC960}"/>
              </a:ext>
            </a:extLst>
          </p:cNvPr>
          <p:cNvSpPr>
            <a:spLocks noGrp="1"/>
          </p:cNvSpPr>
          <p:nvPr>
            <p:ph type="title"/>
          </p:nvPr>
        </p:nvSpPr>
        <p:spPr>
          <a:xfrm>
            <a:off x="1143000" y="1140968"/>
            <a:ext cx="7905328" cy="838202"/>
          </a:xfrm>
        </p:spPr>
        <p:txBody>
          <a:bodyPr/>
          <a:lstStyle/>
          <a:p>
            <a:r>
              <a:rPr lang="en-IN" b="1" dirty="0">
                <a:solidFill>
                  <a:srgbClr val="002060"/>
                </a:solidFill>
              </a:rPr>
              <a:t>Data-Definition Language (DDL):</a:t>
            </a:r>
            <a:endParaRPr lang="en-IN" dirty="0">
              <a:solidFill>
                <a:srgbClr val="002060"/>
              </a:solidFill>
            </a:endParaRPr>
          </a:p>
        </p:txBody>
      </p:sp>
      <p:sp>
        <p:nvSpPr>
          <p:cNvPr id="3" name="Text Placeholder 2">
            <a:extLst>
              <a:ext uri="{FF2B5EF4-FFF2-40B4-BE49-F238E27FC236}">
                <a16:creationId xmlns:a16="http://schemas.microsoft.com/office/drawing/2014/main" id="{12037A4E-4B04-6BF9-43F8-796E08F38D11}"/>
              </a:ext>
            </a:extLst>
          </p:cNvPr>
          <p:cNvSpPr>
            <a:spLocks noGrp="1"/>
          </p:cNvSpPr>
          <p:nvPr>
            <p:ph type="body" sz="quarter" idx="17"/>
          </p:nvPr>
        </p:nvSpPr>
        <p:spPr>
          <a:xfrm>
            <a:off x="1143000" y="1772816"/>
            <a:ext cx="10353602" cy="4068064"/>
          </a:xfrm>
        </p:spPr>
        <p:txBody>
          <a:bodyPr/>
          <a:lstStyle/>
          <a:p>
            <a:pPr marL="0" indent="0">
              <a:buNone/>
            </a:pPr>
            <a:r>
              <a:rPr lang="en-IN" b="0" i="0" dirty="0">
                <a:solidFill>
                  <a:srgbClr val="273239"/>
                </a:solidFill>
                <a:effectLst/>
                <a:latin typeface="urw-din"/>
              </a:rPr>
              <a:t>List of DDL commands:</a:t>
            </a:r>
          </a:p>
          <a:p>
            <a:pPr marL="0" indent="0">
              <a:buNone/>
            </a:pPr>
            <a:r>
              <a:rPr lang="en-IN" b="0" i="0" dirty="0">
                <a:solidFill>
                  <a:srgbClr val="273239"/>
                </a:solidFill>
                <a:effectLst/>
                <a:latin typeface="urw-din"/>
              </a:rPr>
              <a:t>CREATE TABLE </a:t>
            </a:r>
            <a:r>
              <a:rPr lang="en-IN" b="0" i="0" dirty="0" err="1">
                <a:solidFill>
                  <a:srgbClr val="273239"/>
                </a:solidFill>
                <a:effectLst/>
                <a:latin typeface="urw-din"/>
              </a:rPr>
              <a:t>table_name</a:t>
            </a:r>
            <a:r>
              <a:rPr lang="en-IN" b="0" i="0" dirty="0">
                <a:solidFill>
                  <a:srgbClr val="273239"/>
                </a:solidFill>
                <a:effectLst/>
                <a:latin typeface="urw-din"/>
              </a:rPr>
              <a:t> (</a:t>
            </a:r>
          </a:p>
          <a:p>
            <a:pPr marL="0" indent="0">
              <a:buNone/>
            </a:pPr>
            <a:r>
              <a:rPr lang="en-IN" b="0" i="0" dirty="0">
                <a:solidFill>
                  <a:srgbClr val="273239"/>
                </a:solidFill>
                <a:effectLst/>
                <a:latin typeface="urw-din"/>
              </a:rPr>
              <a:t>    column1 datatype [constraint],</a:t>
            </a:r>
          </a:p>
          <a:p>
            <a:pPr marL="0" indent="0">
              <a:buNone/>
            </a:pPr>
            <a:r>
              <a:rPr lang="en-IN" b="0" i="0" dirty="0">
                <a:solidFill>
                  <a:srgbClr val="273239"/>
                </a:solidFill>
                <a:effectLst/>
                <a:latin typeface="urw-din"/>
              </a:rPr>
              <a:t>    column2 datatype [constraint],</a:t>
            </a:r>
          </a:p>
          <a:p>
            <a:pPr marL="0" indent="0">
              <a:buNone/>
            </a:pPr>
            <a:r>
              <a:rPr lang="en-IN" b="0" i="0" dirty="0">
                <a:solidFill>
                  <a:srgbClr val="273239"/>
                </a:solidFill>
                <a:effectLst/>
                <a:latin typeface="urw-din"/>
              </a:rPr>
              <a:t>    ...</a:t>
            </a:r>
          </a:p>
          <a:p>
            <a:pPr marL="0" indent="0">
              <a:buNone/>
            </a:pPr>
            <a:r>
              <a:rPr lang="en-IN" b="0" i="0" dirty="0">
                <a:solidFill>
                  <a:srgbClr val="273239"/>
                </a:solidFill>
                <a:effectLst/>
                <a:latin typeface="urw-din"/>
              </a:rPr>
              <a:t>    </a:t>
            </a:r>
            <a:r>
              <a:rPr lang="en-IN" b="0" i="0" dirty="0" err="1">
                <a:solidFill>
                  <a:srgbClr val="273239"/>
                </a:solidFill>
                <a:effectLst/>
                <a:latin typeface="urw-din"/>
              </a:rPr>
              <a:t>columnN</a:t>
            </a:r>
            <a:r>
              <a:rPr lang="en-IN" b="0" i="0" dirty="0">
                <a:solidFill>
                  <a:srgbClr val="273239"/>
                </a:solidFill>
                <a:effectLst/>
                <a:latin typeface="urw-din"/>
              </a:rPr>
              <a:t> datatype [constraint]</a:t>
            </a:r>
          </a:p>
          <a:p>
            <a:pPr marL="0" indent="0">
              <a:buNone/>
            </a:pPr>
            <a:r>
              <a:rPr lang="en-IN" b="0" i="0" dirty="0">
                <a:solidFill>
                  <a:srgbClr val="273239"/>
                </a:solidFill>
                <a:effectLst/>
                <a:latin typeface="urw-din"/>
              </a:rPr>
              <a:t>);</a:t>
            </a:r>
          </a:p>
          <a:p>
            <a:pPr marL="0" indent="0">
              <a:buNone/>
            </a:pPr>
            <a:r>
              <a:rPr lang="en-IN" b="0" i="0" dirty="0">
                <a:solidFill>
                  <a:srgbClr val="273239"/>
                </a:solidFill>
                <a:effectLst/>
                <a:latin typeface="urw-din"/>
              </a:rPr>
              <a:t> </a:t>
            </a:r>
            <a:endParaRPr lang="en-IN" dirty="0">
              <a:solidFill>
                <a:srgbClr val="273239"/>
              </a:solidFill>
              <a:latin typeface="urw-din"/>
            </a:endParaRPr>
          </a:p>
          <a:p>
            <a:pPr>
              <a:buFont typeface="Arial" panose="020B0604020202020204" pitchFamily="34" charset="0"/>
              <a:buChar char="•"/>
            </a:pPr>
            <a:endParaRPr lang="en-IN" dirty="0">
              <a:solidFill>
                <a:srgbClr val="C00000"/>
              </a:solidFill>
            </a:endParaRPr>
          </a:p>
        </p:txBody>
      </p:sp>
      <p:sp>
        <p:nvSpPr>
          <p:cNvPr id="4" name="Title 1">
            <a:extLst>
              <a:ext uri="{FF2B5EF4-FFF2-40B4-BE49-F238E27FC236}">
                <a16:creationId xmlns:a16="http://schemas.microsoft.com/office/drawing/2014/main" id="{E2650A23-93B2-0440-7871-234773FD8E01}"/>
              </a:ext>
            </a:extLst>
          </p:cNvPr>
          <p:cNvSpPr txBox="1">
            <a:spLocks/>
          </p:cNvSpPr>
          <p:nvPr/>
        </p:nvSpPr>
        <p:spPr bwMode="gray">
          <a:xfrm>
            <a:off x="762000" y="444500"/>
            <a:ext cx="6211927" cy="838202"/>
          </a:xfrm>
          <a:prstGeom prst="rect">
            <a:avLst/>
          </a:prstGeom>
        </p:spPr>
        <p:txBody>
          <a:bodyPr lIns="91440" tIns="45720" rIns="91440" bIns="45720" anchor="ctr" anchorCtr="0">
            <a:noAutofit/>
          </a:bodyPr>
          <a:lstStyle>
            <a:lvl1pPr algn="l" defTabSz="914400" rtl="0" eaLnBrk="1" latinLnBrk="0" hangingPunct="1">
              <a:spcBef>
                <a:spcPct val="0"/>
              </a:spcBef>
              <a:buNone/>
              <a:defRPr sz="3400" kern="1200" cap="all" spc="0" baseline="0">
                <a:solidFill>
                  <a:schemeClr val="tx1"/>
                </a:solidFill>
                <a:latin typeface="Roboto Medium" pitchFamily="2" charset="0"/>
                <a:ea typeface="Roboto Medium" pitchFamily="2" charset="0"/>
                <a:cs typeface="Roboto Medium" pitchFamily="2" charset="0"/>
              </a:defRPr>
            </a:lvl1pPr>
          </a:lstStyle>
          <a:p>
            <a:r>
              <a:rPr lang="en-IN" sz="2833" b="1" dirty="0">
                <a:solidFill>
                  <a:srgbClr val="FF0000"/>
                </a:solidFill>
              </a:rPr>
              <a:t>database languages</a:t>
            </a:r>
            <a:endParaRPr lang="en-IN" sz="2833" dirty="0">
              <a:solidFill>
                <a:srgbClr val="FF0000"/>
              </a:solidFill>
            </a:endParaRPr>
          </a:p>
        </p:txBody>
      </p:sp>
    </p:spTree>
    <p:extLst>
      <p:ext uri="{BB962C8B-B14F-4D97-AF65-F5344CB8AC3E}">
        <p14:creationId xmlns:p14="http://schemas.microsoft.com/office/powerpoint/2010/main" val="2805411868"/>
      </p:ext>
    </p:extLst>
  </p:cSld>
  <p:clrMapOvr>
    <a:masterClrMapping/>
  </p:clrMapOvr>
</p:sld>
</file>

<file path=ppt/slides/slide4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27EBEC9-A0E7-754B-EA5E-2717798A6321}"/>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8649C887-C6BE-3744-172D-D13370F8B9F5}"/>
              </a:ext>
            </a:extLst>
          </p:cNvPr>
          <p:cNvSpPr>
            <a:spLocks noGrp="1"/>
          </p:cNvSpPr>
          <p:nvPr>
            <p:ph type="title"/>
          </p:nvPr>
        </p:nvSpPr>
        <p:spPr>
          <a:xfrm>
            <a:off x="1143000" y="1140968"/>
            <a:ext cx="7905328" cy="838202"/>
          </a:xfrm>
        </p:spPr>
        <p:txBody>
          <a:bodyPr/>
          <a:lstStyle/>
          <a:p>
            <a:r>
              <a:rPr lang="en-IN" b="1" dirty="0">
                <a:solidFill>
                  <a:srgbClr val="002060"/>
                </a:solidFill>
              </a:rPr>
              <a:t>Data-Definition Language (DDL):</a:t>
            </a:r>
            <a:endParaRPr lang="en-IN" dirty="0">
              <a:solidFill>
                <a:srgbClr val="002060"/>
              </a:solidFill>
            </a:endParaRPr>
          </a:p>
        </p:txBody>
      </p:sp>
      <p:sp>
        <p:nvSpPr>
          <p:cNvPr id="3" name="Text Placeholder 2">
            <a:extLst>
              <a:ext uri="{FF2B5EF4-FFF2-40B4-BE49-F238E27FC236}">
                <a16:creationId xmlns:a16="http://schemas.microsoft.com/office/drawing/2014/main" id="{E3A0CF0D-F53F-DE7E-374E-30F58D2E9101}"/>
              </a:ext>
            </a:extLst>
          </p:cNvPr>
          <p:cNvSpPr>
            <a:spLocks noGrp="1"/>
          </p:cNvSpPr>
          <p:nvPr>
            <p:ph type="body" sz="quarter" idx="17"/>
          </p:nvPr>
        </p:nvSpPr>
        <p:spPr>
          <a:xfrm>
            <a:off x="1143000" y="1772816"/>
            <a:ext cx="10353602" cy="4068064"/>
          </a:xfrm>
        </p:spPr>
        <p:txBody>
          <a:bodyPr/>
          <a:lstStyle/>
          <a:p>
            <a:pPr marL="0" indent="0">
              <a:buNone/>
            </a:pPr>
            <a:r>
              <a:rPr lang="en-IN" b="0" i="0" dirty="0">
                <a:solidFill>
                  <a:srgbClr val="273239"/>
                </a:solidFill>
                <a:effectLst/>
                <a:latin typeface="urw-din"/>
              </a:rPr>
              <a:t>List of DDL commands:</a:t>
            </a:r>
          </a:p>
          <a:p>
            <a:pPr marL="0" indent="0">
              <a:buNone/>
            </a:pPr>
            <a:r>
              <a:rPr lang="en-US" b="0" i="0" dirty="0">
                <a:solidFill>
                  <a:srgbClr val="273239"/>
                </a:solidFill>
                <a:effectLst/>
                <a:latin typeface="urw-din"/>
              </a:rPr>
              <a:t>CREATE TABLE EMPLOYEES (</a:t>
            </a:r>
          </a:p>
          <a:p>
            <a:pPr marL="0" indent="0">
              <a:buNone/>
            </a:pPr>
            <a:r>
              <a:rPr lang="en-US" b="0" i="0" dirty="0">
                <a:solidFill>
                  <a:srgbClr val="273239"/>
                </a:solidFill>
                <a:effectLst/>
                <a:latin typeface="urw-din"/>
              </a:rPr>
              <a:t>    EMP_ID NUMBER(5) PRIMARY KEY,</a:t>
            </a:r>
          </a:p>
          <a:p>
            <a:pPr marL="0" indent="0">
              <a:buNone/>
            </a:pPr>
            <a:r>
              <a:rPr lang="en-US" b="0" i="0" dirty="0">
                <a:solidFill>
                  <a:srgbClr val="273239"/>
                </a:solidFill>
                <a:effectLst/>
                <a:latin typeface="urw-din"/>
              </a:rPr>
              <a:t>    FIRST_NAME VARCHAR2(50) NOT NULL,</a:t>
            </a:r>
          </a:p>
          <a:p>
            <a:pPr marL="0" indent="0">
              <a:buNone/>
            </a:pPr>
            <a:r>
              <a:rPr lang="en-US" b="0" i="0" dirty="0">
                <a:solidFill>
                  <a:srgbClr val="273239"/>
                </a:solidFill>
                <a:effectLst/>
                <a:latin typeface="urw-din"/>
              </a:rPr>
              <a:t>    LAST_NAME VARCHAR2(50) NOT NULL,</a:t>
            </a:r>
          </a:p>
          <a:p>
            <a:pPr marL="0" indent="0">
              <a:buNone/>
            </a:pPr>
            <a:r>
              <a:rPr lang="en-US" b="0" i="0" dirty="0">
                <a:solidFill>
                  <a:srgbClr val="273239"/>
                </a:solidFill>
                <a:effectLst/>
                <a:latin typeface="urw-din"/>
              </a:rPr>
              <a:t>    EMAIL VARCHAR2(100) UNIQUE,</a:t>
            </a:r>
          </a:p>
          <a:p>
            <a:pPr marL="0" indent="0">
              <a:buNone/>
            </a:pPr>
            <a:r>
              <a:rPr lang="en-US" b="0" i="0" dirty="0">
                <a:solidFill>
                  <a:srgbClr val="273239"/>
                </a:solidFill>
                <a:effectLst/>
                <a:latin typeface="urw-din"/>
              </a:rPr>
              <a:t>    HIRE_DATE DATE NOT NULL,</a:t>
            </a:r>
          </a:p>
          <a:p>
            <a:pPr marL="0" indent="0">
              <a:buNone/>
            </a:pPr>
            <a:r>
              <a:rPr lang="en-US" b="0" i="0" dirty="0">
                <a:solidFill>
                  <a:srgbClr val="273239"/>
                </a:solidFill>
                <a:effectLst/>
                <a:latin typeface="urw-din"/>
              </a:rPr>
              <a:t>    SALARY NUMBER(10, 2)</a:t>
            </a:r>
          </a:p>
          <a:p>
            <a:pPr marL="0" indent="0">
              <a:buNone/>
            </a:pPr>
            <a:r>
              <a:rPr lang="en-US" b="0" i="0" dirty="0">
                <a:solidFill>
                  <a:srgbClr val="273239"/>
                </a:solidFill>
                <a:effectLst/>
                <a:latin typeface="urw-din"/>
              </a:rPr>
              <a:t>);</a:t>
            </a:r>
          </a:p>
          <a:p>
            <a:pPr marL="0" indent="0">
              <a:buNone/>
            </a:pPr>
            <a:r>
              <a:rPr lang="en-IN" b="0" i="0" dirty="0">
                <a:solidFill>
                  <a:srgbClr val="273239"/>
                </a:solidFill>
                <a:effectLst/>
                <a:latin typeface="urw-din"/>
              </a:rPr>
              <a:t> </a:t>
            </a:r>
            <a:endParaRPr lang="en-IN" dirty="0">
              <a:solidFill>
                <a:srgbClr val="273239"/>
              </a:solidFill>
              <a:latin typeface="urw-din"/>
            </a:endParaRPr>
          </a:p>
          <a:p>
            <a:pPr>
              <a:buFont typeface="Arial" panose="020B0604020202020204" pitchFamily="34" charset="0"/>
              <a:buChar char="•"/>
            </a:pPr>
            <a:endParaRPr lang="en-IN" dirty="0">
              <a:solidFill>
                <a:srgbClr val="C00000"/>
              </a:solidFill>
            </a:endParaRPr>
          </a:p>
        </p:txBody>
      </p:sp>
      <p:sp>
        <p:nvSpPr>
          <p:cNvPr id="4" name="Title 1">
            <a:extLst>
              <a:ext uri="{FF2B5EF4-FFF2-40B4-BE49-F238E27FC236}">
                <a16:creationId xmlns:a16="http://schemas.microsoft.com/office/drawing/2014/main" id="{FACDBCB4-B653-A482-E8EF-8B5175976AFC}"/>
              </a:ext>
            </a:extLst>
          </p:cNvPr>
          <p:cNvSpPr txBox="1">
            <a:spLocks/>
          </p:cNvSpPr>
          <p:nvPr/>
        </p:nvSpPr>
        <p:spPr bwMode="gray">
          <a:xfrm>
            <a:off x="762000" y="444500"/>
            <a:ext cx="6211927" cy="838202"/>
          </a:xfrm>
          <a:prstGeom prst="rect">
            <a:avLst/>
          </a:prstGeom>
        </p:spPr>
        <p:txBody>
          <a:bodyPr lIns="91440" tIns="45720" rIns="91440" bIns="45720" anchor="ctr" anchorCtr="0">
            <a:noAutofit/>
          </a:bodyPr>
          <a:lstStyle>
            <a:lvl1pPr algn="l" defTabSz="914400" rtl="0" eaLnBrk="1" latinLnBrk="0" hangingPunct="1">
              <a:spcBef>
                <a:spcPct val="0"/>
              </a:spcBef>
              <a:buNone/>
              <a:defRPr sz="3400" kern="1200" cap="all" spc="0" baseline="0">
                <a:solidFill>
                  <a:schemeClr val="tx1"/>
                </a:solidFill>
                <a:latin typeface="Roboto Medium" pitchFamily="2" charset="0"/>
                <a:ea typeface="Roboto Medium" pitchFamily="2" charset="0"/>
                <a:cs typeface="Roboto Medium" pitchFamily="2" charset="0"/>
              </a:defRPr>
            </a:lvl1pPr>
          </a:lstStyle>
          <a:p>
            <a:r>
              <a:rPr lang="en-IN" sz="2833" b="1" dirty="0">
                <a:solidFill>
                  <a:srgbClr val="FF0000"/>
                </a:solidFill>
              </a:rPr>
              <a:t>database languages</a:t>
            </a:r>
            <a:endParaRPr lang="en-IN" sz="2833" dirty="0">
              <a:solidFill>
                <a:srgbClr val="FF0000"/>
              </a:solidFill>
            </a:endParaRPr>
          </a:p>
        </p:txBody>
      </p:sp>
    </p:spTree>
    <p:extLst>
      <p:ext uri="{BB962C8B-B14F-4D97-AF65-F5344CB8AC3E}">
        <p14:creationId xmlns:p14="http://schemas.microsoft.com/office/powerpoint/2010/main" val="1582046585"/>
      </p:ext>
    </p:extLst>
  </p:cSld>
  <p:clrMapOvr>
    <a:masterClrMapping/>
  </p:clrMapOvr>
</p:sld>
</file>

<file path=ppt/slides/slide4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43B2509-A666-D8E0-FB28-74BE9ED1692F}"/>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6576AB25-DF23-CE2B-4207-9E425DC62FE3}"/>
              </a:ext>
            </a:extLst>
          </p:cNvPr>
          <p:cNvSpPr>
            <a:spLocks noGrp="1"/>
          </p:cNvSpPr>
          <p:nvPr>
            <p:ph type="title"/>
          </p:nvPr>
        </p:nvSpPr>
        <p:spPr>
          <a:xfrm>
            <a:off x="1143000" y="1140968"/>
            <a:ext cx="7905328" cy="838202"/>
          </a:xfrm>
        </p:spPr>
        <p:txBody>
          <a:bodyPr/>
          <a:lstStyle/>
          <a:p>
            <a:r>
              <a:rPr lang="en-IN" b="1" dirty="0">
                <a:solidFill>
                  <a:srgbClr val="002060"/>
                </a:solidFill>
              </a:rPr>
              <a:t>Data-Definition Language (DDL):</a:t>
            </a:r>
            <a:endParaRPr lang="en-IN" dirty="0">
              <a:solidFill>
                <a:srgbClr val="002060"/>
              </a:solidFill>
            </a:endParaRPr>
          </a:p>
        </p:txBody>
      </p:sp>
      <p:sp>
        <p:nvSpPr>
          <p:cNvPr id="3" name="Text Placeholder 2">
            <a:extLst>
              <a:ext uri="{FF2B5EF4-FFF2-40B4-BE49-F238E27FC236}">
                <a16:creationId xmlns:a16="http://schemas.microsoft.com/office/drawing/2014/main" id="{75519FE9-9FAE-6E88-6F6D-4CB8A6C4C6A6}"/>
              </a:ext>
            </a:extLst>
          </p:cNvPr>
          <p:cNvSpPr>
            <a:spLocks noGrp="1"/>
          </p:cNvSpPr>
          <p:nvPr>
            <p:ph type="body" sz="quarter" idx="17"/>
          </p:nvPr>
        </p:nvSpPr>
        <p:spPr>
          <a:xfrm>
            <a:off x="1143000" y="1772816"/>
            <a:ext cx="10353602" cy="4068064"/>
          </a:xfrm>
        </p:spPr>
        <p:txBody>
          <a:bodyPr/>
          <a:lstStyle/>
          <a:p>
            <a:pPr marL="0" indent="0">
              <a:buNone/>
            </a:pPr>
            <a:r>
              <a:rPr lang="en-IN" b="0" i="0" dirty="0">
                <a:solidFill>
                  <a:srgbClr val="273239"/>
                </a:solidFill>
                <a:effectLst/>
                <a:latin typeface="urw-din"/>
              </a:rPr>
              <a:t>Examples of DDL commands: </a:t>
            </a:r>
          </a:p>
          <a:p>
            <a:pPr marL="0" indent="0">
              <a:buNone/>
            </a:pPr>
            <a:r>
              <a:rPr lang="en-US" dirty="0">
                <a:solidFill>
                  <a:srgbClr val="273239"/>
                </a:solidFill>
                <a:latin typeface="urw-din"/>
              </a:rPr>
              <a:t>ALTER TABLE EMPLOYEES </a:t>
            </a:r>
            <a:r>
              <a:rPr lang="en-US" b="1" dirty="0">
                <a:solidFill>
                  <a:srgbClr val="273239"/>
                </a:solidFill>
                <a:latin typeface="urw-din"/>
              </a:rPr>
              <a:t>ADD</a:t>
            </a:r>
            <a:r>
              <a:rPr lang="en-US" dirty="0">
                <a:solidFill>
                  <a:srgbClr val="273239"/>
                </a:solidFill>
                <a:latin typeface="urw-din"/>
              </a:rPr>
              <a:t> DEPARTMENT_ID NUMBER(5);</a:t>
            </a:r>
          </a:p>
          <a:p>
            <a:pPr marL="0" indent="0">
              <a:buNone/>
            </a:pPr>
            <a:r>
              <a:rPr lang="en-US" dirty="0">
                <a:solidFill>
                  <a:srgbClr val="273239"/>
                </a:solidFill>
                <a:latin typeface="urw-din"/>
              </a:rPr>
              <a:t>ALTER TABLE employees </a:t>
            </a:r>
            <a:r>
              <a:rPr lang="en-US" b="1" dirty="0">
                <a:solidFill>
                  <a:srgbClr val="273239"/>
                </a:solidFill>
                <a:latin typeface="urw-din"/>
              </a:rPr>
              <a:t>DROP COLUMN </a:t>
            </a:r>
            <a:r>
              <a:rPr lang="en-US" dirty="0">
                <a:solidFill>
                  <a:srgbClr val="273239"/>
                </a:solidFill>
                <a:latin typeface="urw-din"/>
              </a:rPr>
              <a:t>email;</a:t>
            </a:r>
          </a:p>
          <a:p>
            <a:pPr marL="0" indent="0">
              <a:buNone/>
            </a:pPr>
            <a:r>
              <a:rPr lang="en-US" dirty="0">
                <a:solidFill>
                  <a:srgbClr val="273239"/>
                </a:solidFill>
                <a:latin typeface="urw-din"/>
              </a:rPr>
              <a:t>ALTER TABLE employees </a:t>
            </a:r>
            <a:r>
              <a:rPr lang="en-US" b="1" dirty="0">
                <a:solidFill>
                  <a:srgbClr val="273239"/>
                </a:solidFill>
                <a:latin typeface="urw-din"/>
              </a:rPr>
              <a:t>MODIFY</a:t>
            </a:r>
            <a:r>
              <a:rPr lang="en-US" dirty="0">
                <a:solidFill>
                  <a:srgbClr val="273239"/>
                </a:solidFill>
                <a:latin typeface="urw-din"/>
              </a:rPr>
              <a:t> (salary NUMBER(12,2));</a:t>
            </a:r>
          </a:p>
          <a:p>
            <a:pPr marL="0" indent="0">
              <a:buNone/>
            </a:pPr>
            <a:r>
              <a:rPr lang="en-US" dirty="0">
                <a:solidFill>
                  <a:srgbClr val="273239"/>
                </a:solidFill>
                <a:latin typeface="urw-din"/>
              </a:rPr>
              <a:t>ALTER TABLE employees MODIFY (</a:t>
            </a:r>
            <a:r>
              <a:rPr lang="en-US" dirty="0" err="1">
                <a:solidFill>
                  <a:srgbClr val="273239"/>
                </a:solidFill>
                <a:latin typeface="urw-din"/>
              </a:rPr>
              <a:t>phone_number</a:t>
            </a:r>
            <a:r>
              <a:rPr lang="en-US" dirty="0">
                <a:solidFill>
                  <a:srgbClr val="273239"/>
                </a:solidFill>
                <a:latin typeface="urw-din"/>
              </a:rPr>
              <a:t> VARCHAR2(20));</a:t>
            </a:r>
          </a:p>
          <a:p>
            <a:pPr marL="0" indent="0">
              <a:buNone/>
            </a:pPr>
            <a:r>
              <a:rPr lang="en-US" dirty="0">
                <a:solidFill>
                  <a:srgbClr val="273239"/>
                </a:solidFill>
                <a:latin typeface="urw-din"/>
              </a:rPr>
              <a:t>ALTER TABLE </a:t>
            </a:r>
            <a:r>
              <a:rPr lang="en-US" dirty="0" err="1">
                <a:solidFill>
                  <a:srgbClr val="273239"/>
                </a:solidFill>
                <a:latin typeface="urw-din"/>
              </a:rPr>
              <a:t>table_name</a:t>
            </a:r>
            <a:r>
              <a:rPr lang="en-US" dirty="0">
                <a:solidFill>
                  <a:srgbClr val="273239"/>
                </a:solidFill>
                <a:latin typeface="urw-din"/>
              </a:rPr>
              <a:t> </a:t>
            </a:r>
            <a:r>
              <a:rPr lang="en-US" b="1" dirty="0">
                <a:solidFill>
                  <a:srgbClr val="273239"/>
                </a:solidFill>
                <a:latin typeface="urw-din"/>
              </a:rPr>
              <a:t>RENAME COLUMN </a:t>
            </a:r>
            <a:r>
              <a:rPr lang="en-US" dirty="0" err="1">
                <a:solidFill>
                  <a:srgbClr val="273239"/>
                </a:solidFill>
                <a:latin typeface="urw-din"/>
              </a:rPr>
              <a:t>old_column_name</a:t>
            </a:r>
            <a:r>
              <a:rPr lang="en-US" dirty="0">
                <a:solidFill>
                  <a:srgbClr val="273239"/>
                </a:solidFill>
                <a:latin typeface="urw-din"/>
              </a:rPr>
              <a:t> TO </a:t>
            </a:r>
            <a:r>
              <a:rPr lang="en-US" dirty="0" err="1">
                <a:solidFill>
                  <a:srgbClr val="273239"/>
                </a:solidFill>
                <a:latin typeface="urw-din"/>
              </a:rPr>
              <a:t>new_column_name</a:t>
            </a:r>
            <a:r>
              <a:rPr lang="en-US" dirty="0">
                <a:solidFill>
                  <a:srgbClr val="273239"/>
                </a:solidFill>
                <a:latin typeface="urw-din"/>
              </a:rPr>
              <a:t>;</a:t>
            </a:r>
          </a:p>
          <a:p>
            <a:pPr marL="0" indent="0">
              <a:buNone/>
            </a:pPr>
            <a:r>
              <a:rPr lang="en-IN" dirty="0">
                <a:solidFill>
                  <a:srgbClr val="273239"/>
                </a:solidFill>
                <a:latin typeface="urw-din"/>
              </a:rPr>
              <a:t>TRUNCATE TABLE employees;</a:t>
            </a:r>
          </a:p>
          <a:p>
            <a:pPr>
              <a:buFont typeface="Arial" panose="020B0604020202020204" pitchFamily="34" charset="0"/>
              <a:buChar char="•"/>
            </a:pPr>
            <a:endParaRPr lang="en-IN" dirty="0">
              <a:solidFill>
                <a:srgbClr val="C00000"/>
              </a:solidFill>
            </a:endParaRPr>
          </a:p>
        </p:txBody>
      </p:sp>
      <p:sp>
        <p:nvSpPr>
          <p:cNvPr id="4" name="Title 1">
            <a:extLst>
              <a:ext uri="{FF2B5EF4-FFF2-40B4-BE49-F238E27FC236}">
                <a16:creationId xmlns:a16="http://schemas.microsoft.com/office/drawing/2014/main" id="{AD216879-FD68-D687-136A-A108C135267A}"/>
              </a:ext>
            </a:extLst>
          </p:cNvPr>
          <p:cNvSpPr txBox="1">
            <a:spLocks/>
          </p:cNvSpPr>
          <p:nvPr/>
        </p:nvSpPr>
        <p:spPr bwMode="gray">
          <a:xfrm>
            <a:off x="762000" y="444500"/>
            <a:ext cx="6211927" cy="838202"/>
          </a:xfrm>
          <a:prstGeom prst="rect">
            <a:avLst/>
          </a:prstGeom>
        </p:spPr>
        <p:txBody>
          <a:bodyPr lIns="91440" tIns="45720" rIns="91440" bIns="45720" anchor="ctr" anchorCtr="0">
            <a:noAutofit/>
          </a:bodyPr>
          <a:lstStyle>
            <a:lvl1pPr algn="l" defTabSz="914400" rtl="0" eaLnBrk="1" latinLnBrk="0" hangingPunct="1">
              <a:spcBef>
                <a:spcPct val="0"/>
              </a:spcBef>
              <a:buNone/>
              <a:defRPr sz="3400" kern="1200" cap="all" spc="0" baseline="0">
                <a:solidFill>
                  <a:schemeClr val="tx1"/>
                </a:solidFill>
                <a:latin typeface="Roboto Medium" pitchFamily="2" charset="0"/>
                <a:ea typeface="Roboto Medium" pitchFamily="2" charset="0"/>
                <a:cs typeface="Roboto Medium" pitchFamily="2" charset="0"/>
              </a:defRPr>
            </a:lvl1pPr>
          </a:lstStyle>
          <a:p>
            <a:r>
              <a:rPr lang="en-IN" sz="2833" b="1" dirty="0">
                <a:solidFill>
                  <a:srgbClr val="FF0000"/>
                </a:solidFill>
              </a:rPr>
              <a:t>database languages</a:t>
            </a:r>
            <a:endParaRPr lang="en-IN" sz="2833" dirty="0">
              <a:solidFill>
                <a:srgbClr val="FF0000"/>
              </a:solidFill>
            </a:endParaRPr>
          </a:p>
        </p:txBody>
      </p:sp>
    </p:spTree>
    <p:extLst>
      <p:ext uri="{BB962C8B-B14F-4D97-AF65-F5344CB8AC3E}">
        <p14:creationId xmlns:p14="http://schemas.microsoft.com/office/powerpoint/2010/main" val="602413604"/>
      </p:ext>
    </p:extLst>
  </p:cSld>
  <p:clrMapOvr>
    <a:masterClrMapping/>
  </p:clrMapOvr>
</p:sld>
</file>

<file path=ppt/slides/slide4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83D5120-D14B-8E91-655C-151B24734A6A}"/>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0750D3F8-FD00-743B-F346-4D7705A7F217}"/>
              </a:ext>
            </a:extLst>
          </p:cNvPr>
          <p:cNvSpPr>
            <a:spLocks noGrp="1"/>
          </p:cNvSpPr>
          <p:nvPr>
            <p:ph type="title"/>
          </p:nvPr>
        </p:nvSpPr>
        <p:spPr>
          <a:xfrm>
            <a:off x="619347" y="764704"/>
            <a:ext cx="7905328" cy="838202"/>
          </a:xfrm>
        </p:spPr>
        <p:txBody>
          <a:bodyPr/>
          <a:lstStyle/>
          <a:p>
            <a:r>
              <a:rPr lang="en-IN" b="1" dirty="0">
                <a:solidFill>
                  <a:srgbClr val="002060"/>
                </a:solidFill>
              </a:rPr>
              <a:t>Data-Definition Language (DDL):</a:t>
            </a:r>
            <a:endParaRPr lang="en-IN" dirty="0">
              <a:solidFill>
                <a:srgbClr val="002060"/>
              </a:solidFill>
            </a:endParaRPr>
          </a:p>
        </p:txBody>
      </p:sp>
      <p:sp>
        <p:nvSpPr>
          <p:cNvPr id="3" name="Text Placeholder 2">
            <a:extLst>
              <a:ext uri="{FF2B5EF4-FFF2-40B4-BE49-F238E27FC236}">
                <a16:creationId xmlns:a16="http://schemas.microsoft.com/office/drawing/2014/main" id="{15790601-39C7-B7AB-8119-AAE99E327E0D}"/>
              </a:ext>
            </a:extLst>
          </p:cNvPr>
          <p:cNvSpPr>
            <a:spLocks noGrp="1"/>
          </p:cNvSpPr>
          <p:nvPr>
            <p:ph type="body" sz="quarter" idx="17"/>
          </p:nvPr>
        </p:nvSpPr>
        <p:spPr>
          <a:xfrm>
            <a:off x="632070" y="1394968"/>
            <a:ext cx="11001672" cy="4068064"/>
          </a:xfrm>
        </p:spPr>
        <p:txBody>
          <a:bodyPr/>
          <a:lstStyle/>
          <a:p>
            <a:pPr marL="0" indent="0">
              <a:buNone/>
            </a:pPr>
            <a:r>
              <a:rPr lang="en-IN" b="0" i="0" dirty="0">
                <a:solidFill>
                  <a:srgbClr val="273239"/>
                </a:solidFill>
                <a:effectLst/>
                <a:latin typeface="urw-din"/>
              </a:rPr>
              <a:t>List of DDL commands: </a:t>
            </a:r>
          </a:p>
          <a:p>
            <a:pPr marL="0" indent="0">
              <a:buNone/>
            </a:pPr>
            <a:r>
              <a:rPr lang="en-US" dirty="0">
                <a:solidFill>
                  <a:srgbClr val="273239"/>
                </a:solidFill>
                <a:latin typeface="urw-din"/>
              </a:rPr>
              <a:t>In Oracle, you can add comments to a database table or its columns using the COMMENT ON statement. These comments are useful for documentation purposes and can help describe the purpose or meaning of tables and columns.</a:t>
            </a:r>
            <a:endParaRPr lang="en-IN" dirty="0">
              <a:solidFill>
                <a:srgbClr val="273239"/>
              </a:solidFill>
              <a:latin typeface="urw-din"/>
            </a:endParaRPr>
          </a:p>
          <a:p>
            <a:pPr marL="0" indent="0">
              <a:buNone/>
            </a:pPr>
            <a:r>
              <a:rPr lang="en-US" dirty="0">
                <a:solidFill>
                  <a:srgbClr val="C00000"/>
                </a:solidFill>
              </a:rPr>
              <a:t>Syntax:</a:t>
            </a:r>
          </a:p>
          <a:p>
            <a:pPr>
              <a:buFont typeface="Arial" panose="020B0604020202020204" pitchFamily="34" charset="0"/>
              <a:buChar char="•"/>
            </a:pPr>
            <a:r>
              <a:rPr lang="en-US" dirty="0">
                <a:solidFill>
                  <a:srgbClr val="C00000"/>
                </a:solidFill>
              </a:rPr>
              <a:t>To comment on a table:</a:t>
            </a:r>
          </a:p>
          <a:p>
            <a:pPr marL="0" indent="0">
              <a:buNone/>
            </a:pPr>
            <a:r>
              <a:rPr lang="en-US" dirty="0">
                <a:solidFill>
                  <a:srgbClr val="C00000"/>
                </a:solidFill>
              </a:rPr>
              <a:t>COMMENT ON TABLE </a:t>
            </a:r>
            <a:r>
              <a:rPr lang="en-US" dirty="0" err="1">
                <a:solidFill>
                  <a:srgbClr val="C00000"/>
                </a:solidFill>
              </a:rPr>
              <a:t>table_name</a:t>
            </a:r>
            <a:r>
              <a:rPr lang="en-US" dirty="0">
                <a:solidFill>
                  <a:srgbClr val="C00000"/>
                </a:solidFill>
              </a:rPr>
              <a:t>  IS 'Your comment here';</a:t>
            </a:r>
          </a:p>
          <a:p>
            <a:pPr>
              <a:buFont typeface="Arial" panose="020B0604020202020204" pitchFamily="34" charset="0"/>
              <a:buChar char="•"/>
            </a:pPr>
            <a:r>
              <a:rPr lang="en-US" dirty="0">
                <a:solidFill>
                  <a:srgbClr val="C00000"/>
                </a:solidFill>
              </a:rPr>
              <a:t>To comment on a column:</a:t>
            </a:r>
          </a:p>
          <a:p>
            <a:pPr marL="0" indent="0">
              <a:buNone/>
            </a:pPr>
            <a:r>
              <a:rPr lang="en-US" dirty="0">
                <a:solidFill>
                  <a:srgbClr val="C00000"/>
                </a:solidFill>
              </a:rPr>
              <a:t>COMMENT ON COLUMN </a:t>
            </a:r>
            <a:r>
              <a:rPr lang="en-US" dirty="0" err="1">
                <a:solidFill>
                  <a:srgbClr val="C00000"/>
                </a:solidFill>
              </a:rPr>
              <a:t>table_name.column_name</a:t>
            </a:r>
            <a:r>
              <a:rPr lang="en-US" dirty="0">
                <a:solidFill>
                  <a:srgbClr val="C00000"/>
                </a:solidFill>
              </a:rPr>
              <a:t>  IS 'Your comment here';</a:t>
            </a:r>
            <a:endParaRPr lang="en-IN" dirty="0">
              <a:solidFill>
                <a:srgbClr val="C00000"/>
              </a:solidFill>
            </a:endParaRPr>
          </a:p>
        </p:txBody>
      </p:sp>
      <p:sp>
        <p:nvSpPr>
          <p:cNvPr id="4" name="Title 1">
            <a:extLst>
              <a:ext uri="{FF2B5EF4-FFF2-40B4-BE49-F238E27FC236}">
                <a16:creationId xmlns:a16="http://schemas.microsoft.com/office/drawing/2014/main" id="{AE70B33B-B80B-73D7-07C4-79554272D761}"/>
              </a:ext>
            </a:extLst>
          </p:cNvPr>
          <p:cNvSpPr txBox="1">
            <a:spLocks/>
          </p:cNvSpPr>
          <p:nvPr/>
        </p:nvSpPr>
        <p:spPr bwMode="gray">
          <a:xfrm>
            <a:off x="623392" y="0"/>
            <a:ext cx="6211927" cy="838202"/>
          </a:xfrm>
          <a:prstGeom prst="rect">
            <a:avLst/>
          </a:prstGeom>
        </p:spPr>
        <p:txBody>
          <a:bodyPr lIns="91440" tIns="45720" rIns="91440" bIns="45720" anchor="ctr" anchorCtr="0">
            <a:noAutofit/>
          </a:bodyPr>
          <a:lstStyle>
            <a:lvl1pPr algn="l" defTabSz="914400" rtl="0" eaLnBrk="1" latinLnBrk="0" hangingPunct="1">
              <a:spcBef>
                <a:spcPct val="0"/>
              </a:spcBef>
              <a:buNone/>
              <a:defRPr sz="3400" kern="1200" cap="all" spc="0" baseline="0">
                <a:solidFill>
                  <a:schemeClr val="tx1"/>
                </a:solidFill>
                <a:latin typeface="Roboto Medium" pitchFamily="2" charset="0"/>
                <a:ea typeface="Roboto Medium" pitchFamily="2" charset="0"/>
                <a:cs typeface="Roboto Medium" pitchFamily="2" charset="0"/>
              </a:defRPr>
            </a:lvl1pPr>
          </a:lstStyle>
          <a:p>
            <a:r>
              <a:rPr lang="en-IN" sz="2833" b="1" dirty="0">
                <a:solidFill>
                  <a:srgbClr val="FF0000"/>
                </a:solidFill>
              </a:rPr>
              <a:t>database languages</a:t>
            </a:r>
            <a:endParaRPr lang="en-IN" sz="2833" dirty="0">
              <a:solidFill>
                <a:srgbClr val="FF0000"/>
              </a:solidFill>
            </a:endParaRPr>
          </a:p>
        </p:txBody>
      </p:sp>
    </p:spTree>
    <p:extLst>
      <p:ext uri="{BB962C8B-B14F-4D97-AF65-F5344CB8AC3E}">
        <p14:creationId xmlns:p14="http://schemas.microsoft.com/office/powerpoint/2010/main" val="5121374"/>
      </p:ext>
    </p:extLst>
  </p:cSld>
  <p:clrMapOvr>
    <a:masterClrMapping/>
  </p:clrMapOvr>
</p:sld>
</file>

<file path=ppt/slides/slide5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2F16B79-70B7-2577-D658-9C2D473C9A7C}"/>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C15FBA2F-5325-E7F4-DA12-25E8498B77F6}"/>
              </a:ext>
            </a:extLst>
          </p:cNvPr>
          <p:cNvSpPr>
            <a:spLocks noGrp="1"/>
          </p:cNvSpPr>
          <p:nvPr>
            <p:ph type="title"/>
          </p:nvPr>
        </p:nvSpPr>
        <p:spPr>
          <a:xfrm>
            <a:off x="619347" y="764704"/>
            <a:ext cx="7905328" cy="838202"/>
          </a:xfrm>
        </p:spPr>
        <p:txBody>
          <a:bodyPr/>
          <a:lstStyle/>
          <a:p>
            <a:r>
              <a:rPr lang="en-IN" b="1" dirty="0">
                <a:solidFill>
                  <a:srgbClr val="002060"/>
                </a:solidFill>
              </a:rPr>
              <a:t>Data-Definition Language (DDL):</a:t>
            </a:r>
            <a:endParaRPr lang="en-IN" dirty="0">
              <a:solidFill>
                <a:srgbClr val="002060"/>
              </a:solidFill>
            </a:endParaRPr>
          </a:p>
        </p:txBody>
      </p:sp>
      <p:sp>
        <p:nvSpPr>
          <p:cNvPr id="3" name="Text Placeholder 2">
            <a:extLst>
              <a:ext uri="{FF2B5EF4-FFF2-40B4-BE49-F238E27FC236}">
                <a16:creationId xmlns:a16="http://schemas.microsoft.com/office/drawing/2014/main" id="{B2AE6A97-B814-4C43-B616-8C7068D87500}"/>
              </a:ext>
            </a:extLst>
          </p:cNvPr>
          <p:cNvSpPr>
            <a:spLocks noGrp="1"/>
          </p:cNvSpPr>
          <p:nvPr>
            <p:ph type="body" sz="quarter" idx="17"/>
          </p:nvPr>
        </p:nvSpPr>
        <p:spPr>
          <a:xfrm>
            <a:off x="632070" y="1394968"/>
            <a:ext cx="11001672" cy="4068064"/>
          </a:xfrm>
        </p:spPr>
        <p:txBody>
          <a:bodyPr/>
          <a:lstStyle/>
          <a:p>
            <a:pPr marL="0" indent="0">
              <a:buNone/>
            </a:pPr>
            <a:r>
              <a:rPr lang="en-US" b="0" i="0" dirty="0">
                <a:solidFill>
                  <a:srgbClr val="FF0000"/>
                </a:solidFill>
                <a:effectLst/>
                <a:latin typeface="urw-din"/>
              </a:rPr>
              <a:t>Examples:</a:t>
            </a:r>
          </a:p>
          <a:p>
            <a:pPr marL="0" indent="0">
              <a:buNone/>
            </a:pPr>
            <a:r>
              <a:rPr lang="en-US" b="0" i="0" dirty="0">
                <a:solidFill>
                  <a:srgbClr val="FF0000"/>
                </a:solidFill>
                <a:effectLst/>
                <a:latin typeface="urw-din"/>
              </a:rPr>
              <a:t>Add a comment to a table:</a:t>
            </a:r>
          </a:p>
          <a:p>
            <a:pPr marL="0" indent="0">
              <a:buNone/>
            </a:pPr>
            <a:r>
              <a:rPr lang="en-US" b="0" i="0" dirty="0">
                <a:solidFill>
                  <a:srgbClr val="273239"/>
                </a:solidFill>
                <a:effectLst/>
                <a:latin typeface="urw-din"/>
              </a:rPr>
              <a:t>COMMENT ON TABLE EMPLOYEES IS 'This table stores employee details.';</a:t>
            </a:r>
          </a:p>
          <a:p>
            <a:pPr marL="0" indent="0">
              <a:buNone/>
            </a:pPr>
            <a:r>
              <a:rPr lang="en-US" b="0" i="0" dirty="0">
                <a:solidFill>
                  <a:srgbClr val="FF0000"/>
                </a:solidFill>
                <a:effectLst/>
                <a:latin typeface="urw-din"/>
              </a:rPr>
              <a:t>Add a comment to a column:</a:t>
            </a:r>
          </a:p>
          <a:p>
            <a:pPr marL="0" indent="0">
              <a:buNone/>
            </a:pPr>
            <a:r>
              <a:rPr lang="en-US" b="0" i="0" dirty="0">
                <a:solidFill>
                  <a:srgbClr val="273239"/>
                </a:solidFill>
                <a:effectLst/>
                <a:latin typeface="urw-din"/>
              </a:rPr>
              <a:t>COMMENT ON COLUMN EMPLOYEES.EMP_ID IS 'Primary key representing the employee ID.';</a:t>
            </a:r>
          </a:p>
          <a:p>
            <a:pPr marL="0" indent="0">
              <a:buNone/>
            </a:pPr>
            <a:r>
              <a:rPr lang="en-US" b="0" i="0" dirty="0">
                <a:solidFill>
                  <a:srgbClr val="FF0000"/>
                </a:solidFill>
                <a:effectLst/>
                <a:latin typeface="urw-din"/>
              </a:rPr>
              <a:t>Remove a comment:</a:t>
            </a:r>
          </a:p>
          <a:p>
            <a:pPr marL="0" indent="0">
              <a:buNone/>
            </a:pPr>
            <a:r>
              <a:rPr lang="en-US" b="0" i="0" dirty="0">
                <a:solidFill>
                  <a:srgbClr val="273239"/>
                </a:solidFill>
                <a:effectLst/>
                <a:latin typeface="urw-din"/>
              </a:rPr>
              <a:t>COMMENT ON COLUMN EMPLOYEES.EMP_ID IS NULL;</a:t>
            </a:r>
            <a:endParaRPr lang="en-IN" dirty="0">
              <a:solidFill>
                <a:srgbClr val="C00000"/>
              </a:solidFill>
            </a:endParaRPr>
          </a:p>
        </p:txBody>
      </p:sp>
      <p:sp>
        <p:nvSpPr>
          <p:cNvPr id="4" name="Title 1">
            <a:extLst>
              <a:ext uri="{FF2B5EF4-FFF2-40B4-BE49-F238E27FC236}">
                <a16:creationId xmlns:a16="http://schemas.microsoft.com/office/drawing/2014/main" id="{3A4D3DB6-B526-3AD1-0929-3629D26F6F72}"/>
              </a:ext>
            </a:extLst>
          </p:cNvPr>
          <p:cNvSpPr txBox="1">
            <a:spLocks/>
          </p:cNvSpPr>
          <p:nvPr/>
        </p:nvSpPr>
        <p:spPr bwMode="gray">
          <a:xfrm>
            <a:off x="623392" y="0"/>
            <a:ext cx="6211927" cy="838202"/>
          </a:xfrm>
          <a:prstGeom prst="rect">
            <a:avLst/>
          </a:prstGeom>
        </p:spPr>
        <p:txBody>
          <a:bodyPr lIns="91440" tIns="45720" rIns="91440" bIns="45720" anchor="ctr" anchorCtr="0">
            <a:noAutofit/>
          </a:bodyPr>
          <a:lstStyle>
            <a:lvl1pPr algn="l" defTabSz="914400" rtl="0" eaLnBrk="1" latinLnBrk="0" hangingPunct="1">
              <a:spcBef>
                <a:spcPct val="0"/>
              </a:spcBef>
              <a:buNone/>
              <a:defRPr sz="3400" kern="1200" cap="all" spc="0" baseline="0">
                <a:solidFill>
                  <a:schemeClr val="tx1"/>
                </a:solidFill>
                <a:latin typeface="Roboto Medium" pitchFamily="2" charset="0"/>
                <a:ea typeface="Roboto Medium" pitchFamily="2" charset="0"/>
                <a:cs typeface="Roboto Medium" pitchFamily="2" charset="0"/>
              </a:defRPr>
            </a:lvl1pPr>
          </a:lstStyle>
          <a:p>
            <a:r>
              <a:rPr lang="en-IN" sz="2833" b="1" dirty="0">
                <a:solidFill>
                  <a:srgbClr val="FF0000"/>
                </a:solidFill>
              </a:rPr>
              <a:t>database languages</a:t>
            </a:r>
            <a:endParaRPr lang="en-IN" sz="2833" dirty="0">
              <a:solidFill>
                <a:srgbClr val="FF0000"/>
              </a:solidFill>
            </a:endParaRPr>
          </a:p>
        </p:txBody>
      </p:sp>
    </p:spTree>
    <p:extLst>
      <p:ext uri="{BB962C8B-B14F-4D97-AF65-F5344CB8AC3E}">
        <p14:creationId xmlns:p14="http://schemas.microsoft.com/office/powerpoint/2010/main" val="1649463508"/>
      </p:ext>
    </p:extLst>
  </p:cSld>
  <p:clrMapOvr>
    <a:masterClrMapping/>
  </p:clrMapOvr>
</p:sld>
</file>

<file path=ppt/slides/slide5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B24C252-1E25-E04D-FC19-359EF2D628D2}"/>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D92E6E59-D079-3B69-C74B-8DB97339CF57}"/>
              </a:ext>
            </a:extLst>
          </p:cNvPr>
          <p:cNvSpPr>
            <a:spLocks noGrp="1"/>
          </p:cNvSpPr>
          <p:nvPr>
            <p:ph type="title"/>
          </p:nvPr>
        </p:nvSpPr>
        <p:spPr>
          <a:xfrm>
            <a:off x="619347" y="764704"/>
            <a:ext cx="7905328" cy="838202"/>
          </a:xfrm>
        </p:spPr>
        <p:txBody>
          <a:bodyPr/>
          <a:lstStyle/>
          <a:p>
            <a:r>
              <a:rPr lang="en-IN" b="1" dirty="0">
                <a:solidFill>
                  <a:srgbClr val="002060"/>
                </a:solidFill>
              </a:rPr>
              <a:t>Data-Definition Language (DDL):</a:t>
            </a:r>
            <a:endParaRPr lang="en-IN" dirty="0">
              <a:solidFill>
                <a:srgbClr val="002060"/>
              </a:solidFill>
            </a:endParaRPr>
          </a:p>
        </p:txBody>
      </p:sp>
      <p:sp>
        <p:nvSpPr>
          <p:cNvPr id="3" name="Text Placeholder 2">
            <a:extLst>
              <a:ext uri="{FF2B5EF4-FFF2-40B4-BE49-F238E27FC236}">
                <a16:creationId xmlns:a16="http://schemas.microsoft.com/office/drawing/2014/main" id="{86BEA359-128F-0E3F-C778-9DA30AEBA8E4}"/>
              </a:ext>
            </a:extLst>
          </p:cNvPr>
          <p:cNvSpPr>
            <a:spLocks noGrp="1"/>
          </p:cNvSpPr>
          <p:nvPr>
            <p:ph type="body" sz="quarter" idx="17"/>
          </p:nvPr>
        </p:nvSpPr>
        <p:spPr>
          <a:xfrm>
            <a:off x="632070" y="1394968"/>
            <a:ext cx="11001672" cy="4068064"/>
          </a:xfrm>
        </p:spPr>
        <p:txBody>
          <a:bodyPr/>
          <a:lstStyle/>
          <a:p>
            <a:pPr marL="0" indent="0">
              <a:buNone/>
            </a:pPr>
            <a:r>
              <a:rPr lang="en-US" b="0" i="0" dirty="0">
                <a:solidFill>
                  <a:srgbClr val="FF0000"/>
                </a:solidFill>
                <a:effectLst/>
                <a:latin typeface="urw-din"/>
              </a:rPr>
              <a:t>Examples:</a:t>
            </a:r>
          </a:p>
          <a:p>
            <a:pPr marL="0" indent="0">
              <a:buNone/>
            </a:pPr>
            <a:r>
              <a:rPr lang="en-US" b="0" i="0" dirty="0">
                <a:solidFill>
                  <a:srgbClr val="FF0000"/>
                </a:solidFill>
                <a:effectLst/>
                <a:latin typeface="urw-din"/>
              </a:rPr>
              <a:t>Viewing Comments:</a:t>
            </a:r>
          </a:p>
          <a:p>
            <a:pPr marL="0" indent="0">
              <a:buNone/>
            </a:pPr>
            <a:r>
              <a:rPr lang="en-US" b="0" i="0" dirty="0">
                <a:solidFill>
                  <a:schemeClr val="tx1"/>
                </a:solidFill>
                <a:effectLst/>
                <a:latin typeface="urw-din"/>
              </a:rPr>
              <a:t>You can retrieve table and column comments using the following system views:</a:t>
            </a:r>
          </a:p>
          <a:p>
            <a:pPr marL="0" indent="0">
              <a:buNone/>
            </a:pPr>
            <a:r>
              <a:rPr lang="en-US" b="0" i="0" dirty="0">
                <a:solidFill>
                  <a:srgbClr val="FF0000"/>
                </a:solidFill>
                <a:effectLst/>
                <a:latin typeface="urw-din"/>
              </a:rPr>
              <a:t>For table comments:</a:t>
            </a:r>
          </a:p>
          <a:p>
            <a:pPr marL="0" indent="0">
              <a:buNone/>
            </a:pPr>
            <a:r>
              <a:rPr lang="en-US" b="0" i="0" dirty="0">
                <a:solidFill>
                  <a:schemeClr val="tx1"/>
                </a:solidFill>
                <a:effectLst/>
                <a:latin typeface="urw-din"/>
              </a:rPr>
              <a:t>SELECT * FROM USER_TAB_COMMENTS WHERE TABLE_NAME = 'EMPLOYEES';</a:t>
            </a:r>
          </a:p>
          <a:p>
            <a:pPr marL="0" indent="0">
              <a:buNone/>
            </a:pPr>
            <a:r>
              <a:rPr lang="en-US" b="0" i="0" dirty="0">
                <a:solidFill>
                  <a:srgbClr val="FF0000"/>
                </a:solidFill>
                <a:effectLst/>
                <a:latin typeface="urw-din"/>
              </a:rPr>
              <a:t>For column comments:</a:t>
            </a:r>
          </a:p>
          <a:p>
            <a:pPr marL="0" indent="0">
              <a:buNone/>
            </a:pPr>
            <a:r>
              <a:rPr lang="en-US" b="0" i="0" dirty="0">
                <a:solidFill>
                  <a:schemeClr val="tx1"/>
                </a:solidFill>
                <a:effectLst/>
                <a:latin typeface="urw-din"/>
              </a:rPr>
              <a:t>SELECT * FROM USER_COL_COMMENTS WHERE TABLE_NAME = 'EMPLOYEES';</a:t>
            </a:r>
            <a:endParaRPr lang="en-IN" dirty="0">
              <a:solidFill>
                <a:schemeClr val="tx1"/>
              </a:solidFill>
            </a:endParaRPr>
          </a:p>
        </p:txBody>
      </p:sp>
      <p:sp>
        <p:nvSpPr>
          <p:cNvPr id="4" name="Title 1">
            <a:extLst>
              <a:ext uri="{FF2B5EF4-FFF2-40B4-BE49-F238E27FC236}">
                <a16:creationId xmlns:a16="http://schemas.microsoft.com/office/drawing/2014/main" id="{9AB8DABC-82BF-8CAA-C9E6-53E62A9E0AFD}"/>
              </a:ext>
            </a:extLst>
          </p:cNvPr>
          <p:cNvSpPr txBox="1">
            <a:spLocks/>
          </p:cNvSpPr>
          <p:nvPr/>
        </p:nvSpPr>
        <p:spPr bwMode="gray">
          <a:xfrm>
            <a:off x="623392" y="0"/>
            <a:ext cx="6211927" cy="838202"/>
          </a:xfrm>
          <a:prstGeom prst="rect">
            <a:avLst/>
          </a:prstGeom>
        </p:spPr>
        <p:txBody>
          <a:bodyPr lIns="91440" tIns="45720" rIns="91440" bIns="45720" anchor="ctr" anchorCtr="0">
            <a:noAutofit/>
          </a:bodyPr>
          <a:lstStyle>
            <a:lvl1pPr algn="l" defTabSz="914400" rtl="0" eaLnBrk="1" latinLnBrk="0" hangingPunct="1">
              <a:spcBef>
                <a:spcPct val="0"/>
              </a:spcBef>
              <a:buNone/>
              <a:defRPr sz="3400" kern="1200" cap="all" spc="0" baseline="0">
                <a:solidFill>
                  <a:schemeClr val="tx1"/>
                </a:solidFill>
                <a:latin typeface="Roboto Medium" pitchFamily="2" charset="0"/>
                <a:ea typeface="Roboto Medium" pitchFamily="2" charset="0"/>
                <a:cs typeface="Roboto Medium" pitchFamily="2" charset="0"/>
              </a:defRPr>
            </a:lvl1pPr>
          </a:lstStyle>
          <a:p>
            <a:r>
              <a:rPr lang="en-IN" sz="2833" b="1" dirty="0">
                <a:solidFill>
                  <a:srgbClr val="FF0000"/>
                </a:solidFill>
              </a:rPr>
              <a:t>database languages</a:t>
            </a:r>
            <a:endParaRPr lang="en-IN" sz="2833" dirty="0">
              <a:solidFill>
                <a:srgbClr val="FF0000"/>
              </a:solidFill>
            </a:endParaRPr>
          </a:p>
        </p:txBody>
      </p:sp>
    </p:spTree>
    <p:extLst>
      <p:ext uri="{BB962C8B-B14F-4D97-AF65-F5344CB8AC3E}">
        <p14:creationId xmlns:p14="http://schemas.microsoft.com/office/powerpoint/2010/main" val="103703742"/>
      </p:ext>
    </p:extLst>
  </p:cSld>
  <p:clrMapOvr>
    <a:masterClrMapping/>
  </p:clrMapOvr>
</p:sld>
</file>

<file path=ppt/slides/slide5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1270000" y="1304676"/>
            <a:ext cx="9002464" cy="838202"/>
          </a:xfrm>
        </p:spPr>
        <p:txBody>
          <a:bodyPr/>
          <a:lstStyle/>
          <a:p>
            <a:r>
              <a:rPr lang="en-IN" b="1" dirty="0">
                <a:solidFill>
                  <a:srgbClr val="002060"/>
                </a:solidFill>
              </a:rPr>
              <a:t>2. DML (Data Manipulation Language)</a:t>
            </a:r>
          </a:p>
        </p:txBody>
      </p:sp>
      <p:sp>
        <p:nvSpPr>
          <p:cNvPr id="3" name="Text Placeholder 2"/>
          <p:cNvSpPr>
            <a:spLocks noGrp="1"/>
          </p:cNvSpPr>
          <p:nvPr>
            <p:ph type="body" sz="quarter" idx="17"/>
          </p:nvPr>
        </p:nvSpPr>
        <p:spPr>
          <a:xfrm>
            <a:off x="1270000" y="2348880"/>
            <a:ext cx="9823415" cy="2667000"/>
          </a:xfrm>
        </p:spPr>
        <p:txBody>
          <a:bodyPr/>
          <a:lstStyle/>
          <a:p>
            <a:pPr marL="342900" indent="-342900" algn="just" fontAlgn="base">
              <a:buFont typeface="Arial" panose="020B0604020202020204" pitchFamily="34" charset="0"/>
              <a:buChar char="•"/>
            </a:pPr>
            <a:r>
              <a:rPr lang="en-IN" sz="2000" dirty="0">
                <a:solidFill>
                  <a:srgbClr val="C00000"/>
                </a:solidFill>
                <a:latin typeface="Times New Roman" panose="02020603050405020304" pitchFamily="18" charset="0"/>
                <a:cs typeface="Times New Roman" panose="02020603050405020304" pitchFamily="18" charset="0"/>
              </a:rPr>
              <a:t>The SQL commands that deals with the manipulation of data present in the database belong to DML or Data Manipulation Language and this includes most of the SQL statements. It is the component of the SQL statement that controls access to data and to the database. </a:t>
            </a:r>
          </a:p>
          <a:p>
            <a:pPr marL="342900" indent="-342900" algn="just" fontAlgn="base">
              <a:buFont typeface="Arial" panose="020B0604020202020204" pitchFamily="34" charset="0"/>
              <a:buChar char="•"/>
            </a:pPr>
            <a:r>
              <a:rPr lang="en-IN" sz="2000" dirty="0">
                <a:solidFill>
                  <a:srgbClr val="C00000"/>
                </a:solidFill>
                <a:latin typeface="Times New Roman" panose="02020603050405020304" pitchFamily="18" charset="0"/>
                <a:cs typeface="Times New Roman" panose="02020603050405020304" pitchFamily="18" charset="0"/>
              </a:rPr>
              <a:t>Retrieval of information stored in the database.</a:t>
            </a:r>
          </a:p>
          <a:p>
            <a:pPr marL="342900" indent="-342900" algn="just" fontAlgn="base">
              <a:buFont typeface="Arial" panose="020B0604020202020204" pitchFamily="34" charset="0"/>
              <a:buChar char="•"/>
            </a:pPr>
            <a:r>
              <a:rPr lang="en-IN" sz="2000" dirty="0">
                <a:solidFill>
                  <a:srgbClr val="C00000"/>
                </a:solidFill>
                <a:latin typeface="Times New Roman" panose="02020603050405020304" pitchFamily="18" charset="0"/>
                <a:cs typeface="Times New Roman" panose="02020603050405020304" pitchFamily="18" charset="0"/>
              </a:rPr>
              <a:t>Insertion of new information into the database.</a:t>
            </a:r>
          </a:p>
          <a:p>
            <a:pPr marL="342900" indent="-342900" algn="just" fontAlgn="base">
              <a:buFont typeface="Arial" panose="020B0604020202020204" pitchFamily="34" charset="0"/>
              <a:buChar char="•"/>
            </a:pPr>
            <a:r>
              <a:rPr lang="en-IN" sz="2000" dirty="0">
                <a:solidFill>
                  <a:srgbClr val="C00000"/>
                </a:solidFill>
                <a:latin typeface="Times New Roman" panose="02020603050405020304" pitchFamily="18" charset="0"/>
                <a:cs typeface="Times New Roman" panose="02020603050405020304" pitchFamily="18" charset="0"/>
              </a:rPr>
              <a:t>Deletion of information from the database.</a:t>
            </a:r>
          </a:p>
          <a:p>
            <a:pPr marL="342900" indent="-342900" algn="just" fontAlgn="base">
              <a:buFont typeface="Arial" panose="020B0604020202020204" pitchFamily="34" charset="0"/>
              <a:buChar char="•"/>
            </a:pPr>
            <a:r>
              <a:rPr lang="en-IN" sz="2000" dirty="0">
                <a:solidFill>
                  <a:srgbClr val="C00000"/>
                </a:solidFill>
                <a:latin typeface="Times New Roman" panose="02020603050405020304" pitchFamily="18" charset="0"/>
                <a:cs typeface="Times New Roman" panose="02020603050405020304" pitchFamily="18" charset="0"/>
              </a:rPr>
              <a:t>Modification of information stored in the database.</a:t>
            </a:r>
          </a:p>
        </p:txBody>
      </p:sp>
      <p:sp>
        <p:nvSpPr>
          <p:cNvPr id="4" name="Title 1"/>
          <p:cNvSpPr txBox="1">
            <a:spLocks/>
          </p:cNvSpPr>
          <p:nvPr/>
        </p:nvSpPr>
        <p:spPr bwMode="gray">
          <a:xfrm>
            <a:off x="889001" y="466474"/>
            <a:ext cx="6211927" cy="838202"/>
          </a:xfrm>
          <a:prstGeom prst="rect">
            <a:avLst/>
          </a:prstGeom>
        </p:spPr>
        <p:txBody>
          <a:bodyPr lIns="91440" tIns="45720" rIns="91440" bIns="45720" anchor="ctr" anchorCtr="0">
            <a:noAutofit/>
          </a:bodyPr>
          <a:lstStyle>
            <a:lvl1pPr algn="l" defTabSz="914400" rtl="0" eaLnBrk="1" latinLnBrk="0" hangingPunct="1">
              <a:spcBef>
                <a:spcPct val="0"/>
              </a:spcBef>
              <a:buNone/>
              <a:defRPr sz="3400" kern="1200" cap="all" spc="0" baseline="0">
                <a:solidFill>
                  <a:schemeClr val="tx1"/>
                </a:solidFill>
                <a:latin typeface="Roboto Medium" pitchFamily="2" charset="0"/>
                <a:ea typeface="Roboto Medium" pitchFamily="2" charset="0"/>
                <a:cs typeface="Roboto Medium" pitchFamily="2" charset="0"/>
              </a:defRPr>
            </a:lvl1pPr>
          </a:lstStyle>
          <a:p>
            <a:r>
              <a:rPr lang="en-IN" sz="2833" b="1" dirty="0">
                <a:solidFill>
                  <a:srgbClr val="FF0000"/>
                </a:solidFill>
              </a:rPr>
              <a:t>database languages</a:t>
            </a:r>
            <a:endParaRPr lang="en-IN" sz="2833" dirty="0">
              <a:solidFill>
                <a:srgbClr val="FF0000"/>
              </a:solidFill>
            </a:endParaRPr>
          </a:p>
        </p:txBody>
      </p:sp>
    </p:spTree>
    <p:extLst>
      <p:ext uri="{BB962C8B-B14F-4D97-AF65-F5344CB8AC3E}">
        <p14:creationId xmlns:p14="http://schemas.microsoft.com/office/powerpoint/2010/main" val="655991738"/>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2"/>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3">
                                            <p:txEl>
                                              <p:pRg st="0" end="0"/>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grpId="0" nodeType="clickEffect">
                                  <p:stCondLst>
                                    <p:cond delay="0"/>
                                  </p:stCondLst>
                                  <p:childTnLst>
                                    <p:set>
                                      <p:cBhvr>
                                        <p:cTn id="14" dur="1" fill="hold">
                                          <p:stCondLst>
                                            <p:cond delay="0"/>
                                          </p:stCondLst>
                                        </p:cTn>
                                        <p:tgtEl>
                                          <p:spTgt spid="3">
                                            <p:txEl>
                                              <p:pRg st="1" end="1"/>
                                            </p:txEl>
                                          </p:spTgt>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grpId="0" nodeType="clickEffect">
                                  <p:stCondLst>
                                    <p:cond delay="0"/>
                                  </p:stCondLst>
                                  <p:childTnLst>
                                    <p:set>
                                      <p:cBhvr>
                                        <p:cTn id="18" dur="1" fill="hold">
                                          <p:stCondLst>
                                            <p:cond delay="0"/>
                                          </p:stCondLst>
                                        </p:cTn>
                                        <p:tgtEl>
                                          <p:spTgt spid="3">
                                            <p:txEl>
                                              <p:pRg st="2" end="2"/>
                                            </p:txEl>
                                          </p:spTgt>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grpId="0" nodeType="clickEffect">
                                  <p:stCondLst>
                                    <p:cond delay="0"/>
                                  </p:stCondLst>
                                  <p:childTnLst>
                                    <p:set>
                                      <p:cBhvr>
                                        <p:cTn id="22" dur="1" fill="hold">
                                          <p:stCondLst>
                                            <p:cond delay="0"/>
                                          </p:stCondLst>
                                        </p:cTn>
                                        <p:tgtEl>
                                          <p:spTgt spid="3">
                                            <p:txEl>
                                              <p:pRg st="3" end="3"/>
                                            </p:txEl>
                                          </p:spTgt>
                                        </p:tgtEl>
                                        <p:attrNameLst>
                                          <p:attrName>style.visibility</p:attrName>
                                        </p:attrNameLst>
                                      </p:cBhvr>
                                      <p:to>
                                        <p:strVal val="visible"/>
                                      </p:to>
                                    </p:set>
                                  </p:childTnLst>
                                </p:cTn>
                              </p:par>
                            </p:childTnLst>
                          </p:cTn>
                        </p:par>
                      </p:childTnLst>
                    </p:cTn>
                  </p:par>
                  <p:par>
                    <p:cTn id="23" fill="hold">
                      <p:stCondLst>
                        <p:cond delay="indefinite"/>
                      </p:stCondLst>
                      <p:childTnLst>
                        <p:par>
                          <p:cTn id="24" fill="hold">
                            <p:stCondLst>
                              <p:cond delay="0"/>
                            </p:stCondLst>
                            <p:childTnLst>
                              <p:par>
                                <p:cTn id="25" presetID="1" presetClass="entr" presetSubtype="0" fill="hold" grpId="0" nodeType="clickEffect">
                                  <p:stCondLst>
                                    <p:cond delay="0"/>
                                  </p:stCondLst>
                                  <p:childTnLst>
                                    <p:set>
                                      <p:cBhvr>
                                        <p:cTn id="26" dur="1" fill="hold">
                                          <p:stCondLst>
                                            <p:cond delay="0"/>
                                          </p:stCondLst>
                                        </p:cTn>
                                        <p:tgtEl>
                                          <p:spTgt spid="3">
                                            <p:txEl>
                                              <p:pRg st="4" end="4"/>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p:bldP spid="3" grpId="0" build="p"/>
    </p:bldLst>
  </p:timing>
</p:sld>
</file>

<file path=ppt/slides/slide5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F9C72D3-126C-A37C-64B1-6218AE9F7D6A}"/>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0B09695A-1946-E449-7F43-BA18743AB92A}"/>
              </a:ext>
            </a:extLst>
          </p:cNvPr>
          <p:cNvSpPr>
            <a:spLocks noGrp="1"/>
          </p:cNvSpPr>
          <p:nvPr>
            <p:ph type="title"/>
          </p:nvPr>
        </p:nvSpPr>
        <p:spPr>
          <a:xfrm>
            <a:off x="1270000" y="1304676"/>
            <a:ext cx="9002464" cy="838202"/>
          </a:xfrm>
        </p:spPr>
        <p:txBody>
          <a:bodyPr/>
          <a:lstStyle/>
          <a:p>
            <a:r>
              <a:rPr lang="en-IN" b="1" dirty="0">
                <a:solidFill>
                  <a:srgbClr val="002060"/>
                </a:solidFill>
              </a:rPr>
              <a:t>2. DML (Data Manipulation Language)</a:t>
            </a:r>
          </a:p>
        </p:txBody>
      </p:sp>
      <p:sp>
        <p:nvSpPr>
          <p:cNvPr id="3" name="Text Placeholder 2">
            <a:extLst>
              <a:ext uri="{FF2B5EF4-FFF2-40B4-BE49-F238E27FC236}">
                <a16:creationId xmlns:a16="http://schemas.microsoft.com/office/drawing/2014/main" id="{6A128E9A-5FD3-0650-3B48-2A9F149FEBD5}"/>
              </a:ext>
            </a:extLst>
          </p:cNvPr>
          <p:cNvSpPr>
            <a:spLocks noGrp="1"/>
          </p:cNvSpPr>
          <p:nvPr>
            <p:ph type="body" sz="quarter" idx="17"/>
          </p:nvPr>
        </p:nvSpPr>
        <p:spPr>
          <a:xfrm>
            <a:off x="1270000" y="2348880"/>
            <a:ext cx="9823415" cy="2667000"/>
          </a:xfrm>
        </p:spPr>
        <p:txBody>
          <a:bodyPr/>
          <a:lstStyle/>
          <a:p>
            <a:pPr marL="342900" indent="-342900" algn="just" fontAlgn="base">
              <a:buFont typeface="Arial" panose="020B0604020202020204" pitchFamily="34" charset="0"/>
              <a:buChar char="•"/>
            </a:pPr>
            <a:endParaRPr lang="en-IN" sz="2000" dirty="0">
              <a:solidFill>
                <a:srgbClr val="C00000"/>
              </a:solidFill>
              <a:latin typeface="Times New Roman" panose="02020603050405020304" pitchFamily="18" charset="0"/>
              <a:cs typeface="Times New Roman" panose="02020603050405020304" pitchFamily="18" charset="0"/>
            </a:endParaRPr>
          </a:p>
        </p:txBody>
      </p:sp>
      <p:sp>
        <p:nvSpPr>
          <p:cNvPr id="4" name="Title 1">
            <a:extLst>
              <a:ext uri="{FF2B5EF4-FFF2-40B4-BE49-F238E27FC236}">
                <a16:creationId xmlns:a16="http://schemas.microsoft.com/office/drawing/2014/main" id="{612B0FC0-C772-8F54-DAED-7DFF4F33EA08}"/>
              </a:ext>
            </a:extLst>
          </p:cNvPr>
          <p:cNvSpPr txBox="1">
            <a:spLocks/>
          </p:cNvSpPr>
          <p:nvPr/>
        </p:nvSpPr>
        <p:spPr bwMode="gray">
          <a:xfrm>
            <a:off x="889001" y="466474"/>
            <a:ext cx="6211927" cy="838202"/>
          </a:xfrm>
          <a:prstGeom prst="rect">
            <a:avLst/>
          </a:prstGeom>
        </p:spPr>
        <p:txBody>
          <a:bodyPr lIns="91440" tIns="45720" rIns="91440" bIns="45720" anchor="ctr" anchorCtr="0">
            <a:noAutofit/>
          </a:bodyPr>
          <a:lstStyle>
            <a:lvl1pPr algn="l" defTabSz="914400" rtl="0" eaLnBrk="1" latinLnBrk="0" hangingPunct="1">
              <a:spcBef>
                <a:spcPct val="0"/>
              </a:spcBef>
              <a:buNone/>
              <a:defRPr sz="3400" kern="1200" cap="all" spc="0" baseline="0">
                <a:solidFill>
                  <a:schemeClr val="tx1"/>
                </a:solidFill>
                <a:latin typeface="Roboto Medium" pitchFamily="2" charset="0"/>
                <a:ea typeface="Roboto Medium" pitchFamily="2" charset="0"/>
                <a:cs typeface="Roboto Medium" pitchFamily="2" charset="0"/>
              </a:defRPr>
            </a:lvl1pPr>
          </a:lstStyle>
          <a:p>
            <a:r>
              <a:rPr lang="en-IN" sz="2833" b="1" dirty="0">
                <a:solidFill>
                  <a:srgbClr val="FF0000"/>
                </a:solidFill>
              </a:rPr>
              <a:t>database languages</a:t>
            </a:r>
            <a:endParaRPr lang="en-IN" sz="2833" dirty="0">
              <a:solidFill>
                <a:srgbClr val="FF0000"/>
              </a:solidFill>
            </a:endParaRPr>
          </a:p>
        </p:txBody>
      </p:sp>
      <p:graphicFrame>
        <p:nvGraphicFramePr>
          <p:cNvPr id="5" name="Table 4">
            <a:extLst>
              <a:ext uri="{FF2B5EF4-FFF2-40B4-BE49-F238E27FC236}">
                <a16:creationId xmlns:a16="http://schemas.microsoft.com/office/drawing/2014/main" id="{F062FD6F-F1BB-EF2F-ECC9-9EAF47973E32}"/>
              </a:ext>
            </a:extLst>
          </p:cNvPr>
          <p:cNvGraphicFramePr>
            <a:graphicFrameLocks noGrp="1"/>
          </p:cNvGraphicFramePr>
          <p:nvPr>
            <p:extLst>
              <p:ext uri="{D42A27DB-BD31-4B8C-83A1-F6EECF244321}">
                <p14:modId xmlns:p14="http://schemas.microsoft.com/office/powerpoint/2010/main" val="2299109370"/>
              </p:ext>
            </p:extLst>
          </p:nvPr>
        </p:nvGraphicFramePr>
        <p:xfrm>
          <a:off x="838200" y="2247424"/>
          <a:ext cx="10515600" cy="3305900"/>
        </p:xfrm>
        <a:graphic>
          <a:graphicData uri="http://schemas.openxmlformats.org/drawingml/2006/table">
            <a:tbl>
              <a:tblPr/>
              <a:tblGrid>
                <a:gridCol w="3505200">
                  <a:extLst>
                    <a:ext uri="{9D8B030D-6E8A-4147-A177-3AD203B41FA5}">
                      <a16:colId xmlns:a16="http://schemas.microsoft.com/office/drawing/2014/main" val="3582092712"/>
                    </a:ext>
                  </a:extLst>
                </a:gridCol>
                <a:gridCol w="3505200">
                  <a:extLst>
                    <a:ext uri="{9D8B030D-6E8A-4147-A177-3AD203B41FA5}">
                      <a16:colId xmlns:a16="http://schemas.microsoft.com/office/drawing/2014/main" val="3902905662"/>
                    </a:ext>
                  </a:extLst>
                </a:gridCol>
                <a:gridCol w="3505200">
                  <a:extLst>
                    <a:ext uri="{9D8B030D-6E8A-4147-A177-3AD203B41FA5}">
                      <a16:colId xmlns:a16="http://schemas.microsoft.com/office/drawing/2014/main" val="749924803"/>
                    </a:ext>
                  </a:extLst>
                </a:gridCol>
              </a:tblGrid>
              <a:tr h="616121">
                <a:tc>
                  <a:txBody>
                    <a:bodyPr/>
                    <a:lstStyle/>
                    <a:p>
                      <a:pPr algn="ctr" fontAlgn="base"/>
                      <a:r>
                        <a:rPr lang="en-IN" sz="1400" b="1">
                          <a:effectLst/>
                        </a:rPr>
                        <a:t>Command</a:t>
                      </a:r>
                    </a:p>
                  </a:txBody>
                  <a:tcPr marL="38100" marR="38100" marT="63500" marB="63500" anchor="ctr">
                    <a:lnL w="1905" cap="flat" cmpd="sng" algn="ctr">
                      <a:solidFill>
                        <a:srgbClr val="DFDFDF"/>
                      </a:solidFill>
                      <a:prstDash val="solid"/>
                      <a:round/>
                      <a:headEnd type="none" w="med" len="med"/>
                      <a:tailEnd type="none" w="med" len="med"/>
                    </a:lnL>
                    <a:lnR w="1905" cap="flat" cmpd="sng" algn="ctr">
                      <a:solidFill>
                        <a:srgbClr val="DFDFDF"/>
                      </a:solidFill>
                      <a:prstDash val="solid"/>
                      <a:round/>
                      <a:headEnd type="none" w="med" len="med"/>
                      <a:tailEnd type="none" w="med" len="med"/>
                    </a:lnR>
                    <a:lnT w="1905" cap="flat" cmpd="sng" algn="ctr">
                      <a:solidFill>
                        <a:srgbClr val="DFDFDF"/>
                      </a:solidFill>
                      <a:prstDash val="solid"/>
                      <a:round/>
                      <a:headEnd type="none" w="med" len="med"/>
                      <a:tailEnd type="none" w="med" len="med"/>
                    </a:lnT>
                    <a:lnB w="1905" cap="flat" cmpd="sng" algn="ctr">
                      <a:solidFill>
                        <a:srgbClr val="DFDFDF"/>
                      </a:solidFill>
                      <a:prstDash val="solid"/>
                      <a:round/>
                      <a:headEnd type="none" w="med" len="med"/>
                      <a:tailEnd type="none" w="med" len="med"/>
                    </a:lnB>
                    <a:solidFill>
                      <a:srgbClr val="FFFFFF"/>
                    </a:solidFill>
                  </a:tcPr>
                </a:tc>
                <a:tc>
                  <a:txBody>
                    <a:bodyPr/>
                    <a:lstStyle/>
                    <a:p>
                      <a:pPr algn="ctr" fontAlgn="base"/>
                      <a:r>
                        <a:rPr lang="en-IN" sz="1400" b="1">
                          <a:effectLst/>
                        </a:rPr>
                        <a:t>Description</a:t>
                      </a:r>
                    </a:p>
                  </a:txBody>
                  <a:tcPr marL="63500" marR="63500" marT="63500" marB="63500" anchor="ctr">
                    <a:lnL w="1905" cap="flat" cmpd="sng" algn="ctr">
                      <a:solidFill>
                        <a:srgbClr val="DFDFDF"/>
                      </a:solidFill>
                      <a:prstDash val="solid"/>
                      <a:round/>
                      <a:headEnd type="none" w="med" len="med"/>
                      <a:tailEnd type="none" w="med" len="med"/>
                    </a:lnL>
                    <a:lnR w="1905" cap="flat" cmpd="sng" algn="ctr">
                      <a:solidFill>
                        <a:srgbClr val="DFDFDF"/>
                      </a:solidFill>
                      <a:prstDash val="solid"/>
                      <a:round/>
                      <a:headEnd type="none" w="med" len="med"/>
                      <a:tailEnd type="none" w="med" len="med"/>
                    </a:lnR>
                    <a:lnT w="1905" cap="flat" cmpd="sng" algn="ctr">
                      <a:solidFill>
                        <a:srgbClr val="DFDFDF"/>
                      </a:solidFill>
                      <a:prstDash val="solid"/>
                      <a:round/>
                      <a:headEnd type="none" w="med" len="med"/>
                      <a:tailEnd type="none" w="med" len="med"/>
                    </a:lnT>
                    <a:lnB w="1905" cap="flat" cmpd="sng" algn="ctr">
                      <a:solidFill>
                        <a:srgbClr val="DFDFDF"/>
                      </a:solidFill>
                      <a:prstDash val="solid"/>
                      <a:round/>
                      <a:headEnd type="none" w="med" len="med"/>
                      <a:tailEnd type="none" w="med" len="med"/>
                    </a:lnB>
                    <a:solidFill>
                      <a:srgbClr val="FFFFFF"/>
                    </a:solidFill>
                  </a:tcPr>
                </a:tc>
                <a:tc>
                  <a:txBody>
                    <a:bodyPr/>
                    <a:lstStyle/>
                    <a:p>
                      <a:pPr algn="ctr" fontAlgn="base"/>
                      <a:r>
                        <a:rPr lang="en-IN" sz="1400" b="1">
                          <a:effectLst/>
                        </a:rPr>
                        <a:t>Syntax</a:t>
                      </a:r>
                    </a:p>
                  </a:txBody>
                  <a:tcPr marL="63500" marR="63500" marT="63500" marB="63500" anchor="ctr">
                    <a:lnL w="1905" cap="flat" cmpd="sng" algn="ctr">
                      <a:solidFill>
                        <a:srgbClr val="DFDFDF"/>
                      </a:solidFill>
                      <a:prstDash val="solid"/>
                      <a:round/>
                      <a:headEnd type="none" w="med" len="med"/>
                      <a:tailEnd type="none" w="med" len="med"/>
                    </a:lnL>
                    <a:lnR w="1905" cap="flat" cmpd="sng" algn="ctr">
                      <a:solidFill>
                        <a:srgbClr val="DFDFDF"/>
                      </a:solidFill>
                      <a:prstDash val="solid"/>
                      <a:round/>
                      <a:headEnd type="none" w="med" len="med"/>
                      <a:tailEnd type="none" w="med" len="med"/>
                    </a:lnR>
                    <a:lnT w="1905" cap="flat" cmpd="sng" algn="ctr">
                      <a:solidFill>
                        <a:srgbClr val="DFDFDF"/>
                      </a:solidFill>
                      <a:prstDash val="solid"/>
                      <a:round/>
                      <a:headEnd type="none" w="med" len="med"/>
                      <a:tailEnd type="none" w="med" len="med"/>
                    </a:lnT>
                    <a:lnB w="1905" cap="flat" cmpd="sng" algn="ctr">
                      <a:solidFill>
                        <a:srgbClr val="DFDFDF"/>
                      </a:solidFill>
                      <a:prstDash val="solid"/>
                      <a:round/>
                      <a:headEnd type="none" w="med" len="med"/>
                      <a:tailEnd type="none" w="med" len="med"/>
                    </a:lnB>
                    <a:solidFill>
                      <a:srgbClr val="FFFFFF"/>
                    </a:solidFill>
                  </a:tcPr>
                </a:tc>
                <a:extLst>
                  <a:ext uri="{0D108BD9-81ED-4DB2-BD59-A6C34878D82A}">
                    <a16:rowId xmlns:a16="http://schemas.microsoft.com/office/drawing/2014/main" val="3415459199"/>
                  </a:ext>
                </a:extLst>
              </a:tr>
              <a:tr h="1011541">
                <a:tc>
                  <a:txBody>
                    <a:bodyPr/>
                    <a:lstStyle/>
                    <a:p>
                      <a:pPr algn="ctr" fontAlgn="ctr"/>
                      <a:r>
                        <a:rPr lang="en-IN" sz="1250" b="0" u="sng">
                          <a:effectLst/>
                          <a:hlinkClick r:id="rId2"/>
                        </a:rPr>
                        <a:t>INSERT</a:t>
                      </a:r>
                      <a:endParaRPr lang="en-IN" sz="1250" b="0">
                        <a:effectLst/>
                      </a:endParaRPr>
                    </a:p>
                  </a:txBody>
                  <a:tcPr marL="63500" marR="63500" marT="88900" marB="88900" anchor="ctr">
                    <a:lnL w="1905" cap="flat" cmpd="sng" algn="ctr">
                      <a:solidFill>
                        <a:srgbClr val="DFDFDF"/>
                      </a:solidFill>
                      <a:prstDash val="solid"/>
                      <a:round/>
                      <a:headEnd type="none" w="med" len="med"/>
                      <a:tailEnd type="none" w="med" len="med"/>
                    </a:lnL>
                    <a:lnR w="1905" cap="flat" cmpd="sng" algn="ctr">
                      <a:solidFill>
                        <a:srgbClr val="DFDFDF"/>
                      </a:solidFill>
                      <a:prstDash val="solid"/>
                      <a:round/>
                      <a:headEnd type="none" w="med" len="med"/>
                      <a:tailEnd type="none" w="med" len="med"/>
                    </a:lnR>
                    <a:lnT w="1905" cap="flat" cmpd="sng" algn="ctr">
                      <a:solidFill>
                        <a:srgbClr val="DFDFDF"/>
                      </a:solidFill>
                      <a:prstDash val="solid"/>
                      <a:round/>
                      <a:headEnd type="none" w="med" len="med"/>
                      <a:tailEnd type="none" w="med" len="med"/>
                    </a:lnT>
                    <a:lnB w="1905" cap="flat" cmpd="sng" algn="ctr">
                      <a:solidFill>
                        <a:srgbClr val="DFDFDF"/>
                      </a:solidFill>
                      <a:prstDash val="solid"/>
                      <a:round/>
                      <a:headEnd type="none" w="med" len="med"/>
                      <a:tailEnd type="none" w="med" len="med"/>
                    </a:lnB>
                    <a:solidFill>
                      <a:srgbClr val="FFFFFF"/>
                    </a:solidFill>
                  </a:tcPr>
                </a:tc>
                <a:tc>
                  <a:txBody>
                    <a:bodyPr/>
                    <a:lstStyle/>
                    <a:p>
                      <a:pPr algn="ctr" fontAlgn="ctr"/>
                      <a:r>
                        <a:rPr lang="en-US" sz="1250" b="0">
                          <a:effectLst/>
                        </a:rPr>
                        <a:t>Insert data into a table</a:t>
                      </a:r>
                    </a:p>
                  </a:txBody>
                  <a:tcPr marL="63500" marR="63500" marT="88900" marB="88900" anchor="ctr">
                    <a:lnL w="1905" cap="flat" cmpd="sng" algn="ctr">
                      <a:solidFill>
                        <a:srgbClr val="DFDFDF"/>
                      </a:solidFill>
                      <a:prstDash val="solid"/>
                      <a:round/>
                      <a:headEnd type="none" w="med" len="med"/>
                      <a:tailEnd type="none" w="med" len="med"/>
                    </a:lnL>
                    <a:lnR w="1905" cap="flat" cmpd="sng" algn="ctr">
                      <a:solidFill>
                        <a:srgbClr val="DFDFDF"/>
                      </a:solidFill>
                      <a:prstDash val="solid"/>
                      <a:round/>
                      <a:headEnd type="none" w="med" len="med"/>
                      <a:tailEnd type="none" w="med" len="med"/>
                    </a:lnR>
                    <a:lnT w="1905" cap="flat" cmpd="sng" algn="ctr">
                      <a:solidFill>
                        <a:srgbClr val="DFDFDF"/>
                      </a:solidFill>
                      <a:prstDash val="solid"/>
                      <a:round/>
                      <a:headEnd type="none" w="med" len="med"/>
                      <a:tailEnd type="none" w="med" len="med"/>
                    </a:lnT>
                    <a:lnB w="1905" cap="flat" cmpd="sng" algn="ctr">
                      <a:solidFill>
                        <a:srgbClr val="DFDFDF"/>
                      </a:solidFill>
                      <a:prstDash val="solid"/>
                      <a:round/>
                      <a:headEnd type="none" w="med" len="med"/>
                      <a:tailEnd type="none" w="med" len="med"/>
                    </a:lnB>
                    <a:solidFill>
                      <a:srgbClr val="FFFFFF"/>
                    </a:solidFill>
                  </a:tcPr>
                </a:tc>
                <a:tc>
                  <a:txBody>
                    <a:bodyPr/>
                    <a:lstStyle/>
                    <a:p>
                      <a:pPr algn="ctr" fontAlgn="ctr"/>
                      <a:r>
                        <a:rPr lang="en-US" sz="1250" b="1">
                          <a:effectLst/>
                        </a:rPr>
                        <a:t>INSERT </a:t>
                      </a:r>
                      <a:r>
                        <a:rPr lang="en-US" sz="1250" b="0">
                          <a:effectLst/>
                        </a:rPr>
                        <a:t>INTO table_name (column1, column2, ...) VALUES (value1, value2, ...);</a:t>
                      </a:r>
                    </a:p>
                  </a:txBody>
                  <a:tcPr marL="63500" marR="63500" marT="88900" marB="88900" anchor="ctr">
                    <a:lnL w="1905" cap="flat" cmpd="sng" algn="ctr">
                      <a:solidFill>
                        <a:srgbClr val="DFDFDF"/>
                      </a:solidFill>
                      <a:prstDash val="solid"/>
                      <a:round/>
                      <a:headEnd type="none" w="med" len="med"/>
                      <a:tailEnd type="none" w="med" len="med"/>
                    </a:lnL>
                    <a:lnR w="1905" cap="flat" cmpd="sng" algn="ctr">
                      <a:solidFill>
                        <a:srgbClr val="DFDFDF"/>
                      </a:solidFill>
                      <a:prstDash val="solid"/>
                      <a:round/>
                      <a:headEnd type="none" w="med" len="med"/>
                      <a:tailEnd type="none" w="med" len="med"/>
                    </a:lnR>
                    <a:lnT w="1905" cap="flat" cmpd="sng" algn="ctr">
                      <a:solidFill>
                        <a:srgbClr val="DFDFDF"/>
                      </a:solidFill>
                      <a:prstDash val="solid"/>
                      <a:round/>
                      <a:headEnd type="none" w="med" len="med"/>
                      <a:tailEnd type="none" w="med" len="med"/>
                    </a:lnT>
                    <a:lnB w="1905" cap="flat" cmpd="sng" algn="ctr">
                      <a:solidFill>
                        <a:srgbClr val="DFDFDF"/>
                      </a:solidFill>
                      <a:prstDash val="solid"/>
                      <a:round/>
                      <a:headEnd type="none" w="med" len="med"/>
                      <a:tailEnd type="none" w="med" len="med"/>
                    </a:lnB>
                    <a:solidFill>
                      <a:srgbClr val="FFFFFF"/>
                    </a:solidFill>
                  </a:tcPr>
                </a:tc>
                <a:extLst>
                  <a:ext uri="{0D108BD9-81ED-4DB2-BD59-A6C34878D82A}">
                    <a16:rowId xmlns:a16="http://schemas.microsoft.com/office/drawing/2014/main" val="4008945871"/>
                  </a:ext>
                </a:extLst>
              </a:tr>
              <a:tr h="1011541">
                <a:tc>
                  <a:txBody>
                    <a:bodyPr/>
                    <a:lstStyle/>
                    <a:p>
                      <a:pPr algn="ctr" fontAlgn="ctr"/>
                      <a:r>
                        <a:rPr lang="en-IN" sz="1250" b="0" u="sng">
                          <a:effectLst/>
                          <a:hlinkClick r:id="rId3"/>
                        </a:rPr>
                        <a:t>UPDATE</a:t>
                      </a:r>
                      <a:endParaRPr lang="en-IN" sz="1250" b="0">
                        <a:effectLst/>
                      </a:endParaRPr>
                    </a:p>
                  </a:txBody>
                  <a:tcPr marL="63500" marR="63500" marT="88900" marB="88900" anchor="ctr">
                    <a:lnL w="1905" cap="flat" cmpd="sng" algn="ctr">
                      <a:solidFill>
                        <a:srgbClr val="DFDFDF"/>
                      </a:solidFill>
                      <a:prstDash val="solid"/>
                      <a:round/>
                      <a:headEnd type="none" w="med" len="med"/>
                      <a:tailEnd type="none" w="med" len="med"/>
                    </a:lnL>
                    <a:lnR w="1905" cap="flat" cmpd="sng" algn="ctr">
                      <a:solidFill>
                        <a:srgbClr val="DFDFDF"/>
                      </a:solidFill>
                      <a:prstDash val="solid"/>
                      <a:round/>
                      <a:headEnd type="none" w="med" len="med"/>
                      <a:tailEnd type="none" w="med" len="med"/>
                    </a:lnR>
                    <a:lnT w="1905" cap="flat" cmpd="sng" algn="ctr">
                      <a:solidFill>
                        <a:srgbClr val="DFDFDF"/>
                      </a:solidFill>
                      <a:prstDash val="solid"/>
                      <a:round/>
                      <a:headEnd type="none" w="med" len="med"/>
                      <a:tailEnd type="none" w="med" len="med"/>
                    </a:lnT>
                    <a:lnB w="1905" cap="flat" cmpd="sng" algn="ctr">
                      <a:solidFill>
                        <a:srgbClr val="DFDFDF"/>
                      </a:solidFill>
                      <a:prstDash val="solid"/>
                      <a:round/>
                      <a:headEnd type="none" w="med" len="med"/>
                      <a:tailEnd type="none" w="med" len="med"/>
                    </a:lnB>
                    <a:solidFill>
                      <a:srgbClr val="FFFFFF"/>
                    </a:solidFill>
                  </a:tcPr>
                </a:tc>
                <a:tc>
                  <a:txBody>
                    <a:bodyPr/>
                    <a:lstStyle/>
                    <a:p>
                      <a:pPr algn="ctr" fontAlgn="ctr"/>
                      <a:r>
                        <a:rPr lang="en-US" sz="1250" b="0">
                          <a:effectLst/>
                        </a:rPr>
                        <a:t>Update existing data within a table</a:t>
                      </a:r>
                    </a:p>
                  </a:txBody>
                  <a:tcPr marL="63500" marR="63500" marT="88900" marB="88900" anchor="ctr">
                    <a:lnL w="1905" cap="flat" cmpd="sng" algn="ctr">
                      <a:solidFill>
                        <a:srgbClr val="DFDFDF"/>
                      </a:solidFill>
                      <a:prstDash val="solid"/>
                      <a:round/>
                      <a:headEnd type="none" w="med" len="med"/>
                      <a:tailEnd type="none" w="med" len="med"/>
                    </a:lnL>
                    <a:lnR w="1905" cap="flat" cmpd="sng" algn="ctr">
                      <a:solidFill>
                        <a:srgbClr val="DFDFDF"/>
                      </a:solidFill>
                      <a:prstDash val="solid"/>
                      <a:round/>
                      <a:headEnd type="none" w="med" len="med"/>
                      <a:tailEnd type="none" w="med" len="med"/>
                    </a:lnR>
                    <a:lnT w="1905" cap="flat" cmpd="sng" algn="ctr">
                      <a:solidFill>
                        <a:srgbClr val="DFDFDF"/>
                      </a:solidFill>
                      <a:prstDash val="solid"/>
                      <a:round/>
                      <a:headEnd type="none" w="med" len="med"/>
                      <a:tailEnd type="none" w="med" len="med"/>
                    </a:lnT>
                    <a:lnB w="1905" cap="flat" cmpd="sng" algn="ctr">
                      <a:solidFill>
                        <a:srgbClr val="DFDFDF"/>
                      </a:solidFill>
                      <a:prstDash val="solid"/>
                      <a:round/>
                      <a:headEnd type="none" w="med" len="med"/>
                      <a:tailEnd type="none" w="med" len="med"/>
                    </a:lnB>
                    <a:solidFill>
                      <a:srgbClr val="FFFFFF"/>
                    </a:solidFill>
                  </a:tcPr>
                </a:tc>
                <a:tc>
                  <a:txBody>
                    <a:bodyPr/>
                    <a:lstStyle/>
                    <a:p>
                      <a:pPr algn="ctr" fontAlgn="ctr"/>
                      <a:r>
                        <a:rPr lang="en-US" sz="1250" b="1">
                          <a:effectLst/>
                        </a:rPr>
                        <a:t>UPDATE</a:t>
                      </a:r>
                      <a:r>
                        <a:rPr lang="en-US" sz="1250" b="0">
                          <a:effectLst/>
                        </a:rPr>
                        <a:t> table_name SET column1 = value1, column2 = value2 WHERE condition;</a:t>
                      </a:r>
                    </a:p>
                  </a:txBody>
                  <a:tcPr marL="63500" marR="63500" marT="88900" marB="88900" anchor="ctr">
                    <a:lnL w="1905" cap="flat" cmpd="sng" algn="ctr">
                      <a:solidFill>
                        <a:srgbClr val="DFDFDF"/>
                      </a:solidFill>
                      <a:prstDash val="solid"/>
                      <a:round/>
                      <a:headEnd type="none" w="med" len="med"/>
                      <a:tailEnd type="none" w="med" len="med"/>
                    </a:lnL>
                    <a:lnR w="1905" cap="flat" cmpd="sng" algn="ctr">
                      <a:solidFill>
                        <a:srgbClr val="DFDFDF"/>
                      </a:solidFill>
                      <a:prstDash val="solid"/>
                      <a:round/>
                      <a:headEnd type="none" w="med" len="med"/>
                      <a:tailEnd type="none" w="med" len="med"/>
                    </a:lnR>
                    <a:lnT w="1905" cap="flat" cmpd="sng" algn="ctr">
                      <a:solidFill>
                        <a:srgbClr val="DFDFDF"/>
                      </a:solidFill>
                      <a:prstDash val="solid"/>
                      <a:round/>
                      <a:headEnd type="none" w="med" len="med"/>
                      <a:tailEnd type="none" w="med" len="med"/>
                    </a:lnT>
                    <a:lnB w="1905" cap="flat" cmpd="sng" algn="ctr">
                      <a:solidFill>
                        <a:srgbClr val="DFDFDF"/>
                      </a:solidFill>
                      <a:prstDash val="solid"/>
                      <a:round/>
                      <a:headEnd type="none" w="med" len="med"/>
                      <a:tailEnd type="none" w="med" len="med"/>
                    </a:lnB>
                    <a:solidFill>
                      <a:srgbClr val="FFFFFF"/>
                    </a:solidFill>
                  </a:tcPr>
                </a:tc>
                <a:extLst>
                  <a:ext uri="{0D108BD9-81ED-4DB2-BD59-A6C34878D82A}">
                    <a16:rowId xmlns:a16="http://schemas.microsoft.com/office/drawing/2014/main" val="3172403941"/>
                  </a:ext>
                </a:extLst>
              </a:tr>
              <a:tr h="666697">
                <a:tc>
                  <a:txBody>
                    <a:bodyPr/>
                    <a:lstStyle/>
                    <a:p>
                      <a:pPr algn="ctr" fontAlgn="ctr"/>
                      <a:r>
                        <a:rPr lang="en-IN" sz="1250" b="0" u="sng">
                          <a:effectLst/>
                          <a:hlinkClick r:id="rId4"/>
                        </a:rPr>
                        <a:t>DELETE</a:t>
                      </a:r>
                      <a:endParaRPr lang="en-IN" sz="1250" b="0">
                        <a:effectLst/>
                      </a:endParaRPr>
                    </a:p>
                  </a:txBody>
                  <a:tcPr marL="63500" marR="63500" marT="88900" marB="88900" anchor="ctr">
                    <a:lnL w="1905" cap="flat" cmpd="sng" algn="ctr">
                      <a:solidFill>
                        <a:srgbClr val="DFDFDF"/>
                      </a:solidFill>
                      <a:prstDash val="solid"/>
                      <a:round/>
                      <a:headEnd type="none" w="med" len="med"/>
                      <a:tailEnd type="none" w="med" len="med"/>
                    </a:lnL>
                    <a:lnR w="1905" cap="flat" cmpd="sng" algn="ctr">
                      <a:solidFill>
                        <a:srgbClr val="DFDFDF"/>
                      </a:solidFill>
                      <a:prstDash val="solid"/>
                      <a:round/>
                      <a:headEnd type="none" w="med" len="med"/>
                      <a:tailEnd type="none" w="med" len="med"/>
                    </a:lnR>
                    <a:lnT w="1905" cap="flat" cmpd="sng" algn="ctr">
                      <a:solidFill>
                        <a:srgbClr val="DFDFDF"/>
                      </a:solidFill>
                      <a:prstDash val="solid"/>
                      <a:round/>
                      <a:headEnd type="none" w="med" len="med"/>
                      <a:tailEnd type="none" w="med" len="med"/>
                    </a:lnT>
                    <a:lnB w="1905" cap="flat" cmpd="sng" algn="ctr">
                      <a:solidFill>
                        <a:srgbClr val="DFDFDF"/>
                      </a:solidFill>
                      <a:prstDash val="solid"/>
                      <a:round/>
                      <a:headEnd type="none" w="med" len="med"/>
                      <a:tailEnd type="none" w="med" len="med"/>
                    </a:lnB>
                    <a:solidFill>
                      <a:srgbClr val="FFFFFF"/>
                    </a:solidFill>
                  </a:tcPr>
                </a:tc>
                <a:tc>
                  <a:txBody>
                    <a:bodyPr/>
                    <a:lstStyle/>
                    <a:p>
                      <a:pPr algn="ctr" fontAlgn="ctr"/>
                      <a:r>
                        <a:rPr lang="en-US" sz="1250" b="0">
                          <a:effectLst/>
                        </a:rPr>
                        <a:t>Delete records from a database table</a:t>
                      </a:r>
                    </a:p>
                  </a:txBody>
                  <a:tcPr marL="63500" marR="63500" marT="88900" marB="88900" anchor="ctr">
                    <a:lnL w="1905" cap="flat" cmpd="sng" algn="ctr">
                      <a:solidFill>
                        <a:srgbClr val="DFDFDF"/>
                      </a:solidFill>
                      <a:prstDash val="solid"/>
                      <a:round/>
                      <a:headEnd type="none" w="med" len="med"/>
                      <a:tailEnd type="none" w="med" len="med"/>
                    </a:lnL>
                    <a:lnR w="1905" cap="flat" cmpd="sng" algn="ctr">
                      <a:solidFill>
                        <a:srgbClr val="DFDFDF"/>
                      </a:solidFill>
                      <a:prstDash val="solid"/>
                      <a:round/>
                      <a:headEnd type="none" w="med" len="med"/>
                      <a:tailEnd type="none" w="med" len="med"/>
                    </a:lnR>
                    <a:lnT w="1905" cap="flat" cmpd="sng" algn="ctr">
                      <a:solidFill>
                        <a:srgbClr val="DFDFDF"/>
                      </a:solidFill>
                      <a:prstDash val="solid"/>
                      <a:round/>
                      <a:headEnd type="none" w="med" len="med"/>
                      <a:tailEnd type="none" w="med" len="med"/>
                    </a:lnT>
                    <a:lnB w="1905" cap="flat" cmpd="sng" algn="ctr">
                      <a:solidFill>
                        <a:srgbClr val="DFDFDF"/>
                      </a:solidFill>
                      <a:prstDash val="solid"/>
                      <a:round/>
                      <a:headEnd type="none" w="med" len="med"/>
                      <a:tailEnd type="none" w="med" len="med"/>
                    </a:lnB>
                    <a:solidFill>
                      <a:srgbClr val="FFFFFF"/>
                    </a:solidFill>
                  </a:tcPr>
                </a:tc>
                <a:tc>
                  <a:txBody>
                    <a:bodyPr/>
                    <a:lstStyle/>
                    <a:p>
                      <a:pPr algn="ctr" fontAlgn="ctr"/>
                      <a:r>
                        <a:rPr lang="en-US" sz="1250" b="1" dirty="0">
                          <a:effectLst/>
                        </a:rPr>
                        <a:t>DELETE</a:t>
                      </a:r>
                      <a:r>
                        <a:rPr lang="en-US" sz="1250" b="0" dirty="0">
                          <a:effectLst/>
                        </a:rPr>
                        <a:t> FROM </a:t>
                      </a:r>
                      <a:r>
                        <a:rPr lang="en-US" sz="1250" b="0" dirty="0" err="1">
                          <a:effectLst/>
                        </a:rPr>
                        <a:t>table_name</a:t>
                      </a:r>
                      <a:r>
                        <a:rPr lang="en-US" sz="1250" b="0" dirty="0">
                          <a:effectLst/>
                        </a:rPr>
                        <a:t> WHERE condition;</a:t>
                      </a:r>
                    </a:p>
                  </a:txBody>
                  <a:tcPr marL="63500" marR="63500" marT="88900" marB="88900" anchor="ctr">
                    <a:lnL w="1905" cap="flat" cmpd="sng" algn="ctr">
                      <a:solidFill>
                        <a:srgbClr val="DFDFDF"/>
                      </a:solidFill>
                      <a:prstDash val="solid"/>
                      <a:round/>
                      <a:headEnd type="none" w="med" len="med"/>
                      <a:tailEnd type="none" w="med" len="med"/>
                    </a:lnL>
                    <a:lnR w="1905" cap="flat" cmpd="sng" algn="ctr">
                      <a:solidFill>
                        <a:srgbClr val="DFDFDF"/>
                      </a:solidFill>
                      <a:prstDash val="solid"/>
                      <a:round/>
                      <a:headEnd type="none" w="med" len="med"/>
                      <a:tailEnd type="none" w="med" len="med"/>
                    </a:lnR>
                    <a:lnT w="1905" cap="flat" cmpd="sng" algn="ctr">
                      <a:solidFill>
                        <a:srgbClr val="DFDFDF"/>
                      </a:solidFill>
                      <a:prstDash val="solid"/>
                      <a:round/>
                      <a:headEnd type="none" w="med" len="med"/>
                      <a:tailEnd type="none" w="med" len="med"/>
                    </a:lnT>
                    <a:lnB w="1905" cap="flat" cmpd="sng" algn="ctr">
                      <a:solidFill>
                        <a:srgbClr val="DFDFDF"/>
                      </a:solidFill>
                      <a:prstDash val="solid"/>
                      <a:round/>
                      <a:headEnd type="none" w="med" len="med"/>
                      <a:tailEnd type="none" w="med" len="med"/>
                    </a:lnB>
                    <a:solidFill>
                      <a:srgbClr val="FFFFFF"/>
                    </a:solidFill>
                  </a:tcPr>
                </a:tc>
                <a:extLst>
                  <a:ext uri="{0D108BD9-81ED-4DB2-BD59-A6C34878D82A}">
                    <a16:rowId xmlns:a16="http://schemas.microsoft.com/office/drawing/2014/main" val="2668508439"/>
                  </a:ext>
                </a:extLst>
              </a:tr>
            </a:tbl>
          </a:graphicData>
        </a:graphic>
      </p:graphicFrame>
    </p:spTree>
    <p:extLst>
      <p:ext uri="{BB962C8B-B14F-4D97-AF65-F5344CB8AC3E}">
        <p14:creationId xmlns:p14="http://schemas.microsoft.com/office/powerpoint/2010/main" val="3692144330"/>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2"/>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nodePh="1">
                                  <p:stCondLst>
                                    <p:cond delay="0"/>
                                  </p:stCondLst>
                                  <p:endCondLst>
                                    <p:cond evt="begin" delay="0">
                                      <p:tn val="9"/>
                                    </p:cond>
                                  </p:endCondLst>
                                  <p:childTnLst>
                                    <p:set>
                                      <p:cBhvr>
                                        <p:cTn id="10" dur="1" fill="hold">
                                          <p:stCondLst>
                                            <p:cond delay="0"/>
                                          </p:stCondLst>
                                        </p:cTn>
                                        <p:tgtEl>
                                          <p:spTgt spid="3">
                                            <p:txEl>
                                              <p:pRg st="0" end="0"/>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p:bldP spid="3" grpId="0" build="p"/>
    </p:bldLst>
  </p:timing>
</p:sld>
</file>

<file path=ppt/slides/slide5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1270000" y="1304676"/>
            <a:ext cx="6211927" cy="838202"/>
          </a:xfrm>
        </p:spPr>
        <p:txBody>
          <a:bodyPr/>
          <a:lstStyle/>
          <a:p>
            <a:r>
              <a:rPr lang="en-IN" b="1" dirty="0">
                <a:solidFill>
                  <a:srgbClr val="002060"/>
                </a:solidFill>
              </a:rPr>
              <a:t>Data manipulation language</a:t>
            </a:r>
          </a:p>
        </p:txBody>
      </p:sp>
      <p:sp>
        <p:nvSpPr>
          <p:cNvPr id="3" name="Text Placeholder 2"/>
          <p:cNvSpPr>
            <a:spLocks noGrp="1"/>
          </p:cNvSpPr>
          <p:nvPr>
            <p:ph type="body" sz="quarter" idx="17"/>
          </p:nvPr>
        </p:nvSpPr>
        <p:spPr>
          <a:xfrm>
            <a:off x="1487488" y="2348880"/>
            <a:ext cx="9823415" cy="2667000"/>
          </a:xfrm>
        </p:spPr>
        <p:txBody>
          <a:bodyPr/>
          <a:lstStyle/>
          <a:p>
            <a:pPr marL="0" indent="0" algn="just" fontAlgn="base">
              <a:buNone/>
            </a:pPr>
            <a:r>
              <a:rPr lang="en-IN" sz="2000" dirty="0">
                <a:solidFill>
                  <a:srgbClr val="C00000"/>
                </a:solidFill>
                <a:latin typeface="Times New Roman" panose="02020603050405020304" pitchFamily="18" charset="0"/>
                <a:cs typeface="Times New Roman" panose="02020603050405020304" pitchFamily="18" charset="0"/>
              </a:rPr>
              <a:t>List of DML commands: </a:t>
            </a:r>
          </a:p>
          <a:p>
            <a:pPr marL="342900" indent="-342900" algn="just" fontAlgn="base">
              <a:buFont typeface="Arial" panose="020B0604020202020204" pitchFamily="34" charset="0"/>
              <a:buChar char="•"/>
            </a:pPr>
            <a:r>
              <a:rPr lang="en-US" sz="2000" dirty="0">
                <a:solidFill>
                  <a:srgbClr val="C00000"/>
                </a:solidFill>
                <a:latin typeface="Times New Roman" panose="02020603050405020304" pitchFamily="18" charset="0"/>
                <a:cs typeface="Times New Roman" panose="02020603050405020304" pitchFamily="18" charset="0"/>
              </a:rPr>
              <a:t>Select: It is used to retrieve data from a database.</a:t>
            </a:r>
            <a:endParaRPr lang="en-IN" sz="2000" dirty="0">
              <a:solidFill>
                <a:srgbClr val="C00000"/>
              </a:solidFill>
              <a:latin typeface="Times New Roman" panose="02020603050405020304" pitchFamily="18" charset="0"/>
              <a:cs typeface="Times New Roman" panose="02020603050405020304" pitchFamily="18" charset="0"/>
              <a:hlinkClick r:id="rId2"/>
            </a:endParaRPr>
          </a:p>
          <a:p>
            <a:pPr marL="342900" indent="-342900" algn="just" fontAlgn="base">
              <a:buFont typeface="Arial" panose="020B0604020202020204" pitchFamily="34" charset="0"/>
              <a:buChar char="•"/>
            </a:pPr>
            <a:r>
              <a:rPr lang="en-IN" sz="2000" dirty="0">
                <a:solidFill>
                  <a:srgbClr val="C00000"/>
                </a:solidFill>
                <a:latin typeface="Times New Roman" panose="02020603050405020304" pitchFamily="18" charset="0"/>
                <a:cs typeface="Times New Roman" panose="02020603050405020304" pitchFamily="18" charset="0"/>
                <a:hlinkClick r:id="rId2"/>
              </a:rPr>
              <a:t>INSERT</a:t>
            </a:r>
            <a:r>
              <a:rPr lang="en-IN" sz="2000" dirty="0">
                <a:solidFill>
                  <a:srgbClr val="C00000"/>
                </a:solidFill>
                <a:latin typeface="Times New Roman" panose="02020603050405020304" pitchFamily="18" charset="0"/>
                <a:cs typeface="Times New Roman" panose="02020603050405020304" pitchFamily="18" charset="0"/>
              </a:rPr>
              <a:t> : It is used to insert data into a table.</a:t>
            </a:r>
          </a:p>
          <a:p>
            <a:pPr marL="342900" indent="-342900" algn="just" fontAlgn="base">
              <a:buFont typeface="Arial" panose="020B0604020202020204" pitchFamily="34" charset="0"/>
              <a:buChar char="•"/>
            </a:pPr>
            <a:r>
              <a:rPr lang="en-IN" sz="2000" dirty="0">
                <a:solidFill>
                  <a:srgbClr val="C00000"/>
                </a:solidFill>
                <a:latin typeface="Times New Roman" panose="02020603050405020304" pitchFamily="18" charset="0"/>
                <a:cs typeface="Times New Roman" panose="02020603050405020304" pitchFamily="18" charset="0"/>
                <a:hlinkClick r:id="rId3"/>
              </a:rPr>
              <a:t>UPDATE</a:t>
            </a:r>
            <a:r>
              <a:rPr lang="en-IN" sz="2000" dirty="0">
                <a:solidFill>
                  <a:srgbClr val="C00000"/>
                </a:solidFill>
                <a:latin typeface="Times New Roman" panose="02020603050405020304" pitchFamily="18" charset="0"/>
                <a:cs typeface="Times New Roman" panose="02020603050405020304" pitchFamily="18" charset="0"/>
              </a:rPr>
              <a:t>: It is used to update existing data within a table.</a:t>
            </a:r>
          </a:p>
          <a:p>
            <a:pPr marL="342900" indent="-342900" algn="just" fontAlgn="base">
              <a:buFont typeface="Arial" panose="020B0604020202020204" pitchFamily="34" charset="0"/>
              <a:buChar char="•"/>
            </a:pPr>
            <a:r>
              <a:rPr lang="en-IN" sz="2000" dirty="0">
                <a:solidFill>
                  <a:srgbClr val="C00000"/>
                </a:solidFill>
                <a:latin typeface="Times New Roman" panose="02020603050405020304" pitchFamily="18" charset="0"/>
                <a:cs typeface="Times New Roman" panose="02020603050405020304" pitchFamily="18" charset="0"/>
                <a:hlinkClick r:id="rId4"/>
              </a:rPr>
              <a:t>DELETE</a:t>
            </a:r>
            <a:r>
              <a:rPr lang="en-IN" sz="2000" dirty="0">
                <a:solidFill>
                  <a:srgbClr val="C00000"/>
                </a:solidFill>
                <a:latin typeface="Times New Roman" panose="02020603050405020304" pitchFamily="18" charset="0"/>
                <a:cs typeface="Times New Roman" panose="02020603050405020304" pitchFamily="18" charset="0"/>
              </a:rPr>
              <a:t> : It is used to delete records from a database table.</a:t>
            </a:r>
          </a:p>
          <a:p>
            <a:pPr fontAlgn="base"/>
            <a:endParaRPr lang="en-IN" dirty="0"/>
          </a:p>
        </p:txBody>
      </p:sp>
      <p:sp>
        <p:nvSpPr>
          <p:cNvPr id="4" name="Title 1"/>
          <p:cNvSpPr txBox="1">
            <a:spLocks/>
          </p:cNvSpPr>
          <p:nvPr/>
        </p:nvSpPr>
        <p:spPr bwMode="gray">
          <a:xfrm>
            <a:off x="889001" y="466474"/>
            <a:ext cx="6211927" cy="838202"/>
          </a:xfrm>
          <a:prstGeom prst="rect">
            <a:avLst/>
          </a:prstGeom>
        </p:spPr>
        <p:txBody>
          <a:bodyPr lIns="91440" tIns="45720" rIns="91440" bIns="45720" anchor="ctr" anchorCtr="0">
            <a:noAutofit/>
          </a:bodyPr>
          <a:lstStyle>
            <a:lvl1pPr algn="l" defTabSz="914400" rtl="0" eaLnBrk="1" latinLnBrk="0" hangingPunct="1">
              <a:spcBef>
                <a:spcPct val="0"/>
              </a:spcBef>
              <a:buNone/>
              <a:defRPr sz="3400" kern="1200" cap="all" spc="0" baseline="0">
                <a:solidFill>
                  <a:schemeClr val="tx1"/>
                </a:solidFill>
                <a:latin typeface="Roboto Medium" pitchFamily="2" charset="0"/>
                <a:ea typeface="Roboto Medium" pitchFamily="2" charset="0"/>
                <a:cs typeface="Roboto Medium" pitchFamily="2" charset="0"/>
              </a:defRPr>
            </a:lvl1pPr>
          </a:lstStyle>
          <a:p>
            <a:r>
              <a:rPr lang="en-IN" sz="2833" b="1" dirty="0">
                <a:solidFill>
                  <a:srgbClr val="FF0000"/>
                </a:solidFill>
              </a:rPr>
              <a:t>database languages</a:t>
            </a:r>
            <a:endParaRPr lang="en-IN" sz="2833" dirty="0">
              <a:solidFill>
                <a:srgbClr val="FF0000"/>
              </a:solidFill>
            </a:endParaRPr>
          </a:p>
        </p:txBody>
      </p:sp>
    </p:spTree>
    <p:extLst>
      <p:ext uri="{BB962C8B-B14F-4D97-AF65-F5344CB8AC3E}">
        <p14:creationId xmlns:p14="http://schemas.microsoft.com/office/powerpoint/2010/main" val="489247935"/>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2"/>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3">
                                            <p:txEl>
                                              <p:pRg st="0" end="0"/>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grpId="0" nodeType="clickEffect">
                                  <p:stCondLst>
                                    <p:cond delay="0"/>
                                  </p:stCondLst>
                                  <p:childTnLst>
                                    <p:set>
                                      <p:cBhvr>
                                        <p:cTn id="14" dur="1" fill="hold">
                                          <p:stCondLst>
                                            <p:cond delay="0"/>
                                          </p:stCondLst>
                                        </p:cTn>
                                        <p:tgtEl>
                                          <p:spTgt spid="3">
                                            <p:txEl>
                                              <p:pRg st="1" end="1"/>
                                            </p:txEl>
                                          </p:spTgt>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grpId="0" nodeType="clickEffect">
                                  <p:stCondLst>
                                    <p:cond delay="0"/>
                                  </p:stCondLst>
                                  <p:childTnLst>
                                    <p:set>
                                      <p:cBhvr>
                                        <p:cTn id="18" dur="1" fill="hold">
                                          <p:stCondLst>
                                            <p:cond delay="0"/>
                                          </p:stCondLst>
                                        </p:cTn>
                                        <p:tgtEl>
                                          <p:spTgt spid="3">
                                            <p:txEl>
                                              <p:pRg st="2" end="2"/>
                                            </p:txEl>
                                          </p:spTgt>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grpId="0" nodeType="clickEffect">
                                  <p:stCondLst>
                                    <p:cond delay="0"/>
                                  </p:stCondLst>
                                  <p:childTnLst>
                                    <p:set>
                                      <p:cBhvr>
                                        <p:cTn id="22" dur="1" fill="hold">
                                          <p:stCondLst>
                                            <p:cond delay="0"/>
                                          </p:stCondLst>
                                        </p:cTn>
                                        <p:tgtEl>
                                          <p:spTgt spid="3">
                                            <p:txEl>
                                              <p:pRg st="3" end="3"/>
                                            </p:txEl>
                                          </p:spTgt>
                                        </p:tgtEl>
                                        <p:attrNameLst>
                                          <p:attrName>style.visibility</p:attrName>
                                        </p:attrNameLst>
                                      </p:cBhvr>
                                      <p:to>
                                        <p:strVal val="visible"/>
                                      </p:to>
                                    </p:set>
                                  </p:childTnLst>
                                </p:cTn>
                              </p:par>
                            </p:childTnLst>
                          </p:cTn>
                        </p:par>
                      </p:childTnLst>
                    </p:cTn>
                  </p:par>
                  <p:par>
                    <p:cTn id="23" fill="hold">
                      <p:stCondLst>
                        <p:cond delay="indefinite"/>
                      </p:stCondLst>
                      <p:childTnLst>
                        <p:par>
                          <p:cTn id="24" fill="hold">
                            <p:stCondLst>
                              <p:cond delay="0"/>
                            </p:stCondLst>
                            <p:childTnLst>
                              <p:par>
                                <p:cTn id="25" presetID="1" presetClass="entr" presetSubtype="0" fill="hold" grpId="0" nodeType="clickEffect">
                                  <p:stCondLst>
                                    <p:cond delay="0"/>
                                  </p:stCondLst>
                                  <p:childTnLst>
                                    <p:set>
                                      <p:cBhvr>
                                        <p:cTn id="26" dur="1" fill="hold">
                                          <p:stCondLst>
                                            <p:cond delay="0"/>
                                          </p:stCondLst>
                                        </p:cTn>
                                        <p:tgtEl>
                                          <p:spTgt spid="3">
                                            <p:txEl>
                                              <p:pRg st="4" end="4"/>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p:bldP spid="3" grpId="0" build="p"/>
    </p:bldLst>
  </p:timing>
</p:sld>
</file>

<file path=ppt/slides/slide5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ext Placeholder 4"/>
          <p:cNvSpPr>
            <a:spLocks noGrp="1"/>
          </p:cNvSpPr>
          <p:nvPr>
            <p:ph type="body" sz="quarter" idx="17"/>
          </p:nvPr>
        </p:nvSpPr>
        <p:spPr>
          <a:xfrm>
            <a:off x="695401" y="1397000"/>
            <a:ext cx="11305255" cy="4320480"/>
          </a:xfrm>
        </p:spPr>
        <p:txBody>
          <a:bodyPr/>
          <a:lstStyle/>
          <a:p>
            <a:pPr marL="0" indent="0" fontAlgn="base">
              <a:spcBef>
                <a:spcPct val="0"/>
              </a:spcBef>
              <a:buNone/>
            </a:pPr>
            <a:r>
              <a:rPr lang="en-IN" sz="2800" b="1" cap="all" dirty="0">
                <a:solidFill>
                  <a:srgbClr val="002060"/>
                </a:solidFill>
              </a:rPr>
              <a:t>Data control language</a:t>
            </a:r>
          </a:p>
          <a:p>
            <a:pPr fontAlgn="base">
              <a:buFont typeface="Arial" panose="020B0604020202020204" pitchFamily="34" charset="0"/>
              <a:buChar char="•"/>
            </a:pPr>
            <a:r>
              <a:rPr lang="en-IN" sz="2000" dirty="0">
                <a:solidFill>
                  <a:srgbClr val="C00000"/>
                </a:solidFill>
                <a:latin typeface="Times New Roman" panose="02020603050405020304" pitchFamily="18" charset="0"/>
                <a:cs typeface="Times New Roman" panose="02020603050405020304" pitchFamily="18" charset="0"/>
              </a:rPr>
              <a:t>To control the objects.</a:t>
            </a:r>
          </a:p>
          <a:p>
            <a:pPr fontAlgn="base">
              <a:buFont typeface="Arial" panose="020B0604020202020204" pitchFamily="34" charset="0"/>
              <a:buChar char="•"/>
            </a:pPr>
            <a:r>
              <a:rPr lang="en-IN" sz="2000" dirty="0">
                <a:solidFill>
                  <a:srgbClr val="C00000"/>
                </a:solidFill>
                <a:latin typeface="Times New Roman" panose="02020603050405020304" pitchFamily="18" charset="0"/>
                <a:cs typeface="Times New Roman" panose="02020603050405020304" pitchFamily="18" charset="0"/>
              </a:rPr>
              <a:t>To grant and revoking privileges on objects.</a:t>
            </a:r>
          </a:p>
          <a:p>
            <a:pPr marL="0" indent="0" fontAlgn="base">
              <a:buNone/>
            </a:pPr>
            <a:r>
              <a:rPr lang="en-IN" sz="2000" b="1" dirty="0">
                <a:solidFill>
                  <a:srgbClr val="002060"/>
                </a:solidFill>
                <a:latin typeface="Times New Roman" panose="02020603050405020304" pitchFamily="18" charset="0"/>
                <a:cs typeface="Times New Roman" panose="02020603050405020304" pitchFamily="18" charset="0"/>
              </a:rPr>
              <a:t>List of  DCL commands: </a:t>
            </a:r>
          </a:p>
          <a:p>
            <a:pPr fontAlgn="base"/>
            <a:r>
              <a:rPr lang="en-IN" sz="2000" dirty="0">
                <a:solidFill>
                  <a:srgbClr val="C00000"/>
                </a:solidFill>
                <a:latin typeface="Times New Roman" panose="02020603050405020304" pitchFamily="18" charset="0"/>
                <a:cs typeface="Times New Roman" panose="02020603050405020304" pitchFamily="18" charset="0"/>
                <a:hlinkClick r:id="rId2"/>
              </a:rPr>
              <a:t>GRANT: </a:t>
            </a:r>
            <a:r>
              <a:rPr lang="en-IN" sz="2000" dirty="0">
                <a:solidFill>
                  <a:srgbClr val="C00000"/>
                </a:solidFill>
                <a:latin typeface="Times New Roman" panose="02020603050405020304" pitchFamily="18" charset="0"/>
                <a:cs typeface="Times New Roman" panose="02020603050405020304" pitchFamily="18" charset="0"/>
              </a:rPr>
              <a:t>This command gives users access privileges to the database.</a:t>
            </a:r>
          </a:p>
          <a:p>
            <a:pPr fontAlgn="base"/>
            <a:r>
              <a:rPr lang="en-IN" sz="2000" dirty="0">
                <a:solidFill>
                  <a:srgbClr val="C00000"/>
                </a:solidFill>
                <a:latin typeface="Times New Roman" panose="02020603050405020304" pitchFamily="18" charset="0"/>
                <a:cs typeface="Times New Roman" panose="02020603050405020304" pitchFamily="18" charset="0"/>
                <a:hlinkClick r:id="rId3"/>
              </a:rPr>
              <a:t>REVOKE:</a:t>
            </a:r>
            <a:r>
              <a:rPr lang="en-IN" sz="2000" dirty="0">
                <a:solidFill>
                  <a:srgbClr val="C00000"/>
                </a:solidFill>
                <a:latin typeface="Times New Roman" panose="02020603050405020304" pitchFamily="18" charset="0"/>
                <a:cs typeface="Times New Roman" panose="02020603050405020304" pitchFamily="18" charset="0"/>
              </a:rPr>
              <a:t> This command withdraws the user’s access privileges given by using the GRANT command.</a:t>
            </a:r>
          </a:p>
        </p:txBody>
      </p:sp>
      <p:sp>
        <p:nvSpPr>
          <p:cNvPr id="6" name="Title 1"/>
          <p:cNvSpPr txBox="1">
            <a:spLocks noGrp="1"/>
          </p:cNvSpPr>
          <p:nvPr>
            <p:ph type="title"/>
          </p:nvPr>
        </p:nvSpPr>
        <p:spPr bwMode="gray">
          <a:prstGeom prst="rect">
            <a:avLst/>
          </a:prstGeom>
        </p:spPr>
        <p:txBody>
          <a:bodyPr lIns="91440" tIns="45720" rIns="91440" bIns="45720" anchor="ctr" anchorCtr="0">
            <a:noAutofit/>
          </a:bodyPr>
          <a:lstStyle>
            <a:lvl1pPr algn="l" defTabSz="914400" rtl="0" eaLnBrk="1" latinLnBrk="0" hangingPunct="1">
              <a:spcBef>
                <a:spcPct val="0"/>
              </a:spcBef>
              <a:buNone/>
              <a:defRPr sz="3400" kern="1200" cap="all" spc="0" baseline="0">
                <a:solidFill>
                  <a:schemeClr val="tx1"/>
                </a:solidFill>
                <a:latin typeface="Roboto Medium" pitchFamily="2" charset="0"/>
                <a:ea typeface="Roboto Medium" pitchFamily="2" charset="0"/>
                <a:cs typeface="Roboto Medium" pitchFamily="2" charset="0"/>
              </a:defRPr>
            </a:lvl1pPr>
          </a:lstStyle>
          <a:p>
            <a:r>
              <a:rPr lang="en-IN" sz="2667" b="1" dirty="0">
                <a:solidFill>
                  <a:srgbClr val="FF0000"/>
                </a:solidFill>
              </a:rPr>
              <a:t>database languages</a:t>
            </a:r>
          </a:p>
        </p:txBody>
      </p:sp>
    </p:spTree>
    <p:extLst>
      <p:ext uri="{BB962C8B-B14F-4D97-AF65-F5344CB8AC3E}">
        <p14:creationId xmlns:p14="http://schemas.microsoft.com/office/powerpoint/2010/main" val="1401266049"/>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5">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5">
                                            <p:txEl>
                                              <p:pRg st="1" end="1"/>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grpId="0" nodeType="clickEffect">
                                  <p:stCondLst>
                                    <p:cond delay="0"/>
                                  </p:stCondLst>
                                  <p:childTnLst>
                                    <p:set>
                                      <p:cBhvr>
                                        <p:cTn id="14" dur="1" fill="hold">
                                          <p:stCondLst>
                                            <p:cond delay="0"/>
                                          </p:stCondLst>
                                        </p:cTn>
                                        <p:tgtEl>
                                          <p:spTgt spid="5">
                                            <p:txEl>
                                              <p:pRg st="2" end="2"/>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 grpId="0" build="p"/>
    </p:bldLst>
  </p:timing>
</p:sld>
</file>

<file path=ppt/slides/slide5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ext Placeholder 4"/>
          <p:cNvSpPr>
            <a:spLocks noGrp="1"/>
          </p:cNvSpPr>
          <p:nvPr>
            <p:ph type="body" sz="quarter" idx="17"/>
          </p:nvPr>
        </p:nvSpPr>
        <p:spPr>
          <a:xfrm>
            <a:off x="695401" y="1397000"/>
            <a:ext cx="11305255" cy="4768304"/>
          </a:xfrm>
        </p:spPr>
        <p:txBody>
          <a:bodyPr/>
          <a:lstStyle/>
          <a:p>
            <a:pPr marL="0" indent="0" fontAlgn="base">
              <a:spcBef>
                <a:spcPct val="0"/>
              </a:spcBef>
              <a:buNone/>
            </a:pPr>
            <a:r>
              <a:rPr lang="en-IN" sz="2800" b="1" cap="all" dirty="0">
                <a:solidFill>
                  <a:srgbClr val="002060"/>
                </a:solidFill>
              </a:rPr>
              <a:t>4. TCL (Transaction Control Language)</a:t>
            </a:r>
          </a:p>
          <a:p>
            <a:pPr marL="342900" indent="-342900" algn="just" fontAlgn="base">
              <a:buFont typeface="Arial" panose="020B0604020202020204" pitchFamily="34" charset="0"/>
              <a:buChar char="•"/>
            </a:pPr>
            <a:r>
              <a:rPr lang="en-US" sz="2000" dirty="0">
                <a:solidFill>
                  <a:schemeClr val="tx1"/>
                </a:solidFill>
                <a:latin typeface="Times New Roman" panose="02020603050405020304" pitchFamily="18" charset="0"/>
                <a:cs typeface="Times New Roman" panose="02020603050405020304" pitchFamily="18" charset="0"/>
              </a:rPr>
              <a:t>TCL is used to run the changes made by the DML statement. </a:t>
            </a:r>
          </a:p>
          <a:p>
            <a:pPr marL="342900" indent="-342900" algn="just" fontAlgn="base">
              <a:buFont typeface="Arial" panose="020B0604020202020204" pitchFamily="34" charset="0"/>
              <a:buChar char="•"/>
            </a:pPr>
            <a:r>
              <a:rPr lang="en-US" sz="2000" dirty="0">
                <a:solidFill>
                  <a:schemeClr val="tx1"/>
                </a:solidFill>
                <a:latin typeface="Times New Roman" panose="02020603050405020304" pitchFamily="18" charset="0"/>
                <a:cs typeface="Times New Roman" panose="02020603050405020304" pitchFamily="18" charset="0"/>
              </a:rPr>
              <a:t>Here are some tasks that come under TCL:</a:t>
            </a:r>
          </a:p>
          <a:p>
            <a:pPr marL="342900" lvl="1" indent="-342900" algn="just" fontAlgn="base">
              <a:buFont typeface="Arial" panose="020B0604020202020204" pitchFamily="34" charset="0"/>
              <a:buChar char="•"/>
            </a:pPr>
            <a:r>
              <a:rPr lang="en-US" sz="2000" dirty="0">
                <a:solidFill>
                  <a:srgbClr val="FF0000"/>
                </a:solidFill>
                <a:latin typeface="Times New Roman" panose="02020603050405020304" pitchFamily="18" charset="0"/>
                <a:cs typeface="Times New Roman" panose="02020603050405020304" pitchFamily="18" charset="0"/>
              </a:rPr>
              <a:t>Commit:</a:t>
            </a:r>
            <a:r>
              <a:rPr lang="en-US" sz="2000" dirty="0">
                <a:solidFill>
                  <a:schemeClr val="tx1"/>
                </a:solidFill>
                <a:latin typeface="Times New Roman" panose="02020603050405020304" pitchFamily="18" charset="0"/>
                <a:cs typeface="Times New Roman" panose="02020603050405020304" pitchFamily="18" charset="0"/>
              </a:rPr>
              <a:t> It is used to save the transaction on the database.</a:t>
            </a:r>
          </a:p>
          <a:p>
            <a:pPr marL="0" lvl="1" indent="0" algn="just" fontAlgn="base">
              <a:buNone/>
            </a:pPr>
            <a:r>
              <a:rPr lang="en-US" sz="2000" dirty="0">
                <a:solidFill>
                  <a:schemeClr val="tx1"/>
                </a:solidFill>
                <a:latin typeface="Times New Roman" panose="02020603050405020304" pitchFamily="18" charset="0"/>
                <a:cs typeface="Times New Roman" panose="02020603050405020304" pitchFamily="18" charset="0"/>
              </a:rPr>
              <a:t>	</a:t>
            </a:r>
            <a:r>
              <a:rPr lang="en-US" sz="2000" dirty="0">
                <a:solidFill>
                  <a:srgbClr val="FF0000"/>
                </a:solidFill>
                <a:latin typeface="Times New Roman" panose="02020603050405020304" pitchFamily="18" charset="0"/>
                <a:cs typeface="Times New Roman" panose="02020603050405020304" pitchFamily="18" charset="0"/>
              </a:rPr>
              <a:t>Example: commit;</a:t>
            </a:r>
          </a:p>
          <a:p>
            <a:pPr marL="0" lvl="1" indent="0" algn="just" fontAlgn="base">
              <a:buNone/>
            </a:pPr>
            <a:r>
              <a:rPr lang="en-US" sz="2000" dirty="0">
                <a:solidFill>
                  <a:schemeClr val="tx1"/>
                </a:solidFill>
                <a:latin typeface="Times New Roman" panose="02020603050405020304" pitchFamily="18" charset="0"/>
                <a:cs typeface="Times New Roman" panose="02020603050405020304" pitchFamily="18" charset="0"/>
              </a:rPr>
              <a:t>		</a:t>
            </a:r>
            <a:r>
              <a:rPr lang="en-US" sz="2000" dirty="0">
                <a:solidFill>
                  <a:srgbClr val="FF0000"/>
                </a:solidFill>
                <a:latin typeface="Times New Roman" panose="02020603050405020304" pitchFamily="18" charset="0"/>
                <a:cs typeface="Times New Roman" panose="02020603050405020304" pitchFamily="18" charset="0"/>
              </a:rPr>
              <a:t>Set </a:t>
            </a:r>
            <a:r>
              <a:rPr lang="en-US" sz="2000" dirty="0" err="1">
                <a:solidFill>
                  <a:srgbClr val="FF0000"/>
                </a:solidFill>
                <a:latin typeface="Times New Roman" panose="02020603050405020304" pitchFamily="18" charset="0"/>
                <a:cs typeface="Times New Roman" panose="02020603050405020304" pitchFamily="18" charset="0"/>
              </a:rPr>
              <a:t>autocommit</a:t>
            </a:r>
            <a:r>
              <a:rPr lang="en-US" sz="2000" dirty="0">
                <a:solidFill>
                  <a:srgbClr val="FF0000"/>
                </a:solidFill>
                <a:latin typeface="Times New Roman" panose="02020603050405020304" pitchFamily="18" charset="0"/>
                <a:cs typeface="Times New Roman" panose="02020603050405020304" pitchFamily="18" charset="0"/>
              </a:rPr>
              <a:t> on;--</a:t>
            </a:r>
            <a:r>
              <a:rPr lang="en-US" sz="2000" dirty="0">
                <a:solidFill>
                  <a:schemeClr val="tx1"/>
                </a:solidFill>
                <a:latin typeface="Times New Roman" panose="02020603050405020304" pitchFamily="18" charset="0"/>
                <a:cs typeface="Times New Roman" panose="02020603050405020304" pitchFamily="18" charset="0"/>
              </a:rPr>
              <a:t>This can be used to perform commit operation automatically</a:t>
            </a:r>
          </a:p>
          <a:p>
            <a:pPr marL="0" lvl="1" indent="0" algn="just" fontAlgn="base">
              <a:buNone/>
            </a:pPr>
            <a:r>
              <a:rPr lang="en-US" sz="2000" dirty="0">
                <a:solidFill>
                  <a:srgbClr val="FF0000"/>
                </a:solidFill>
                <a:latin typeface="Times New Roman" panose="02020603050405020304" pitchFamily="18" charset="0"/>
                <a:cs typeface="Times New Roman" panose="02020603050405020304" pitchFamily="18" charset="0"/>
              </a:rPr>
              <a:t>		Set </a:t>
            </a:r>
            <a:r>
              <a:rPr lang="en-US" sz="2000" dirty="0" err="1">
                <a:solidFill>
                  <a:srgbClr val="FF0000"/>
                </a:solidFill>
                <a:latin typeface="Times New Roman" panose="02020603050405020304" pitchFamily="18" charset="0"/>
                <a:cs typeface="Times New Roman" panose="02020603050405020304" pitchFamily="18" charset="0"/>
              </a:rPr>
              <a:t>autocommit</a:t>
            </a:r>
            <a:r>
              <a:rPr lang="en-US" sz="2000" dirty="0">
                <a:solidFill>
                  <a:srgbClr val="FF0000"/>
                </a:solidFill>
                <a:latin typeface="Times New Roman" panose="02020603050405020304" pitchFamily="18" charset="0"/>
                <a:cs typeface="Times New Roman" panose="02020603050405020304" pitchFamily="18" charset="0"/>
              </a:rPr>
              <a:t> off;--</a:t>
            </a:r>
            <a:r>
              <a:rPr lang="en-US" sz="2000" dirty="0">
                <a:solidFill>
                  <a:schemeClr val="tx1"/>
                </a:solidFill>
                <a:latin typeface="Times New Roman" panose="02020603050405020304" pitchFamily="18" charset="0"/>
                <a:cs typeface="Times New Roman" panose="02020603050405020304" pitchFamily="18" charset="0"/>
              </a:rPr>
              <a:t>This can be used to put off the </a:t>
            </a:r>
            <a:r>
              <a:rPr lang="en-US" sz="2000" dirty="0" err="1">
                <a:solidFill>
                  <a:schemeClr val="tx1"/>
                </a:solidFill>
                <a:latin typeface="Times New Roman" panose="02020603050405020304" pitchFamily="18" charset="0"/>
                <a:cs typeface="Times New Roman" panose="02020603050405020304" pitchFamily="18" charset="0"/>
              </a:rPr>
              <a:t>autocommit</a:t>
            </a:r>
            <a:r>
              <a:rPr lang="en-US" sz="2000" dirty="0">
                <a:solidFill>
                  <a:schemeClr val="tx1"/>
                </a:solidFill>
                <a:latin typeface="Times New Roman" panose="02020603050405020304" pitchFamily="18" charset="0"/>
                <a:cs typeface="Times New Roman" panose="02020603050405020304" pitchFamily="18" charset="0"/>
              </a:rPr>
              <a:t> feature.</a:t>
            </a:r>
          </a:p>
          <a:p>
            <a:pPr marL="342900" lvl="1" indent="-342900" algn="just" fontAlgn="base">
              <a:buFont typeface="Arial" panose="020B0604020202020204" pitchFamily="34" charset="0"/>
              <a:buChar char="•"/>
            </a:pPr>
            <a:r>
              <a:rPr lang="en-US" sz="2000" dirty="0">
                <a:solidFill>
                  <a:srgbClr val="FF0000"/>
                </a:solidFill>
                <a:latin typeface="Times New Roman" panose="02020603050405020304" pitchFamily="18" charset="0"/>
                <a:cs typeface="Times New Roman" panose="02020603050405020304" pitchFamily="18" charset="0"/>
              </a:rPr>
              <a:t>Rollback:</a:t>
            </a:r>
            <a:r>
              <a:rPr lang="en-US" sz="2000" dirty="0">
                <a:solidFill>
                  <a:schemeClr val="tx1"/>
                </a:solidFill>
                <a:latin typeface="Times New Roman" panose="02020603050405020304" pitchFamily="18" charset="0"/>
                <a:cs typeface="Times New Roman" panose="02020603050405020304" pitchFamily="18" charset="0"/>
              </a:rPr>
              <a:t> It is used to restore the database to original since the last Commit.</a:t>
            </a:r>
          </a:p>
          <a:p>
            <a:pPr marL="0" lvl="2" algn="just" fontAlgn="base"/>
            <a:r>
              <a:rPr lang="en-US" sz="1600" dirty="0">
                <a:solidFill>
                  <a:schemeClr val="tx1"/>
                </a:solidFill>
                <a:latin typeface="Times New Roman" panose="02020603050405020304" pitchFamily="18" charset="0"/>
                <a:cs typeface="Times New Roman" panose="02020603050405020304" pitchFamily="18" charset="0"/>
              </a:rPr>
              <a:t>	</a:t>
            </a:r>
            <a:r>
              <a:rPr lang="en-US" sz="1800" dirty="0">
                <a:solidFill>
                  <a:srgbClr val="FF0000"/>
                </a:solidFill>
                <a:latin typeface="Times New Roman" panose="02020603050405020304" pitchFamily="18" charset="0"/>
                <a:cs typeface="Times New Roman" panose="02020603050405020304" pitchFamily="18" charset="0"/>
              </a:rPr>
              <a:t>Example: rollback;</a:t>
            </a:r>
          </a:p>
        </p:txBody>
      </p:sp>
      <p:sp>
        <p:nvSpPr>
          <p:cNvPr id="6" name="Title 1"/>
          <p:cNvSpPr txBox="1">
            <a:spLocks noGrp="1"/>
          </p:cNvSpPr>
          <p:nvPr>
            <p:ph type="title"/>
          </p:nvPr>
        </p:nvSpPr>
        <p:spPr bwMode="gray">
          <a:prstGeom prst="rect">
            <a:avLst/>
          </a:prstGeom>
        </p:spPr>
        <p:txBody>
          <a:bodyPr lIns="91440" tIns="45720" rIns="91440" bIns="45720" anchor="ctr" anchorCtr="0">
            <a:noAutofit/>
          </a:bodyPr>
          <a:lstStyle>
            <a:lvl1pPr algn="l" defTabSz="914400" rtl="0" eaLnBrk="1" latinLnBrk="0" hangingPunct="1">
              <a:spcBef>
                <a:spcPct val="0"/>
              </a:spcBef>
              <a:buNone/>
              <a:defRPr sz="3400" kern="1200" cap="all" spc="0" baseline="0">
                <a:solidFill>
                  <a:schemeClr val="tx1"/>
                </a:solidFill>
                <a:latin typeface="Roboto Medium" pitchFamily="2" charset="0"/>
                <a:ea typeface="Roboto Medium" pitchFamily="2" charset="0"/>
                <a:cs typeface="Roboto Medium" pitchFamily="2" charset="0"/>
              </a:defRPr>
            </a:lvl1pPr>
          </a:lstStyle>
          <a:p>
            <a:r>
              <a:rPr lang="en-IN" b="1" dirty="0">
                <a:solidFill>
                  <a:srgbClr val="FF0000"/>
                </a:solidFill>
              </a:rPr>
              <a:t>database languages</a:t>
            </a:r>
            <a:endParaRPr lang="en-IN" dirty="0">
              <a:solidFill>
                <a:srgbClr val="FF0000"/>
              </a:solidFill>
            </a:endParaRPr>
          </a:p>
        </p:txBody>
      </p:sp>
    </p:spTree>
    <p:extLst>
      <p:ext uri="{BB962C8B-B14F-4D97-AF65-F5344CB8AC3E}">
        <p14:creationId xmlns:p14="http://schemas.microsoft.com/office/powerpoint/2010/main" val="907273167"/>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5">
                                            <p:txEl>
                                              <p:pRg st="0" end="0"/>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 grpId="0" build="p"/>
    </p:bldLst>
  </p:timing>
</p:sld>
</file>

<file path=ppt/slides/slide5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Number Placeholder 1"/>
          <p:cNvSpPr>
            <a:spLocks noGrp="1"/>
          </p:cNvSpPr>
          <p:nvPr>
            <p:ph type="sldNum" sz="quarter" idx="14"/>
          </p:nvPr>
        </p:nvSpPr>
        <p:spPr/>
        <p:txBody>
          <a:bodyPr/>
          <a:lstStyle/>
          <a:p>
            <a:fld id="{45A3C14A-F937-4231-B6F1-40B429FAFB2F}" type="slidenum">
              <a:rPr lang="en-NZ" smtClean="0"/>
              <a:pPr/>
              <a:t>57</a:t>
            </a:fld>
            <a:endParaRPr lang="en-NZ" dirty="0"/>
          </a:p>
        </p:txBody>
      </p:sp>
      <p:sp>
        <p:nvSpPr>
          <p:cNvPr id="3" name="Title 2"/>
          <p:cNvSpPr>
            <a:spLocks noGrp="1"/>
          </p:cNvSpPr>
          <p:nvPr>
            <p:ph type="title"/>
          </p:nvPr>
        </p:nvSpPr>
        <p:spPr/>
        <p:txBody>
          <a:bodyPr/>
          <a:lstStyle/>
          <a:p>
            <a:r>
              <a:rPr lang="en-US" b="1" dirty="0"/>
              <a:t>Three schema Architecture</a:t>
            </a:r>
            <a:br>
              <a:rPr lang="en-US" b="1" dirty="0"/>
            </a:br>
            <a:endParaRPr lang="en-US" b="1" dirty="0"/>
          </a:p>
        </p:txBody>
      </p:sp>
      <p:sp>
        <p:nvSpPr>
          <p:cNvPr id="4" name="Text Placeholder 3"/>
          <p:cNvSpPr>
            <a:spLocks noGrp="1"/>
          </p:cNvSpPr>
          <p:nvPr>
            <p:ph type="body" sz="quarter" idx="17"/>
          </p:nvPr>
        </p:nvSpPr>
        <p:spPr>
          <a:xfrm>
            <a:off x="695401" y="1773936"/>
            <a:ext cx="5544616" cy="4320480"/>
          </a:xfrm>
        </p:spPr>
        <p:txBody>
          <a:bodyPr/>
          <a:lstStyle/>
          <a:p>
            <a:pPr>
              <a:buFont typeface="Arial" panose="020B0604020202020204" pitchFamily="34" charset="0"/>
              <a:buChar char="•"/>
            </a:pPr>
            <a:r>
              <a:rPr lang="en-US" dirty="0"/>
              <a:t>This framework is used to describe the structure of a specific database system.</a:t>
            </a:r>
          </a:p>
          <a:p>
            <a:pPr>
              <a:buFont typeface="Arial" panose="020B0604020202020204" pitchFamily="34" charset="0"/>
              <a:buChar char="•"/>
            </a:pPr>
            <a:r>
              <a:rPr lang="en-US" dirty="0"/>
              <a:t>The three schema architecture is also used to separate the user applications and physical database.</a:t>
            </a:r>
          </a:p>
          <a:p>
            <a:pPr>
              <a:buFont typeface="Arial" panose="020B0604020202020204" pitchFamily="34" charset="0"/>
              <a:buChar char="•"/>
            </a:pPr>
            <a:r>
              <a:rPr lang="en-US" dirty="0"/>
              <a:t>The three schema architecture contains three-levels. It breaks the database down into three different categories.</a:t>
            </a:r>
          </a:p>
          <a:p>
            <a:endParaRPr lang="en-US" dirty="0"/>
          </a:p>
        </p:txBody>
      </p:sp>
      <p:pic>
        <p:nvPicPr>
          <p:cNvPr id="5" name="Picture 4"/>
          <p:cNvPicPr>
            <a:picLocks noChangeAspect="1"/>
          </p:cNvPicPr>
          <p:nvPr/>
        </p:nvPicPr>
        <p:blipFill>
          <a:blip r:embed="rId2"/>
          <a:stretch>
            <a:fillRect/>
          </a:stretch>
        </p:blipFill>
        <p:spPr>
          <a:xfrm>
            <a:off x="6479529" y="1556792"/>
            <a:ext cx="5193153" cy="3986411"/>
          </a:xfrm>
          <a:prstGeom prst="rect">
            <a:avLst/>
          </a:prstGeom>
        </p:spPr>
      </p:pic>
    </p:spTree>
    <p:extLst>
      <p:ext uri="{BB962C8B-B14F-4D97-AF65-F5344CB8AC3E}">
        <p14:creationId xmlns:p14="http://schemas.microsoft.com/office/powerpoint/2010/main" val="4196249557"/>
      </p:ext>
    </p:extLst>
  </p:cSld>
  <p:clrMapOvr>
    <a:masterClrMapping/>
  </p:clrMapOvr>
</p:sld>
</file>

<file path=ppt/slides/slide5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399C220-15A4-4925-8FF4-5F58E998F4BB}"/>
            </a:ext>
          </a:extLst>
        </p:cNvPr>
        <p:cNvGrpSpPr/>
        <p:nvPr/>
      </p:nvGrpSpPr>
      <p:grpSpPr>
        <a:xfrm>
          <a:off x="0" y="0"/>
          <a:ext cx="0" cy="0"/>
          <a:chOff x="0" y="0"/>
          <a:chExt cx="0" cy="0"/>
        </a:xfrm>
      </p:grpSpPr>
      <p:sp>
        <p:nvSpPr>
          <p:cNvPr id="2" name="Slide Number Placeholder 1">
            <a:extLst>
              <a:ext uri="{FF2B5EF4-FFF2-40B4-BE49-F238E27FC236}">
                <a16:creationId xmlns:a16="http://schemas.microsoft.com/office/drawing/2014/main" id="{EC0CA99F-1DAD-9365-525F-88C107D93F4A}"/>
              </a:ext>
            </a:extLst>
          </p:cNvPr>
          <p:cNvSpPr>
            <a:spLocks noGrp="1"/>
          </p:cNvSpPr>
          <p:nvPr>
            <p:ph type="sldNum" sz="quarter" idx="14"/>
          </p:nvPr>
        </p:nvSpPr>
        <p:spPr/>
        <p:txBody>
          <a:bodyPr/>
          <a:lstStyle/>
          <a:p>
            <a:fld id="{45A3C14A-F937-4231-B6F1-40B429FAFB2F}" type="slidenum">
              <a:rPr lang="en-NZ" smtClean="0"/>
              <a:pPr/>
              <a:t>58</a:t>
            </a:fld>
            <a:endParaRPr lang="en-NZ" dirty="0"/>
          </a:p>
        </p:txBody>
      </p:sp>
      <p:sp>
        <p:nvSpPr>
          <p:cNvPr id="3" name="Title 2">
            <a:extLst>
              <a:ext uri="{FF2B5EF4-FFF2-40B4-BE49-F238E27FC236}">
                <a16:creationId xmlns:a16="http://schemas.microsoft.com/office/drawing/2014/main" id="{EE21DA45-82CF-41CF-E02A-D63824CCD54F}"/>
              </a:ext>
            </a:extLst>
          </p:cNvPr>
          <p:cNvSpPr>
            <a:spLocks noGrp="1"/>
          </p:cNvSpPr>
          <p:nvPr>
            <p:ph type="title"/>
          </p:nvPr>
        </p:nvSpPr>
        <p:spPr/>
        <p:txBody>
          <a:bodyPr/>
          <a:lstStyle/>
          <a:p>
            <a:r>
              <a:rPr lang="en-US" b="1" dirty="0"/>
              <a:t>Three schema Architecture</a:t>
            </a:r>
            <a:br>
              <a:rPr lang="en-US" b="1" dirty="0"/>
            </a:br>
            <a:endParaRPr lang="en-US" b="1" dirty="0"/>
          </a:p>
        </p:txBody>
      </p:sp>
      <p:sp>
        <p:nvSpPr>
          <p:cNvPr id="4" name="Text Placeholder 3">
            <a:extLst>
              <a:ext uri="{FF2B5EF4-FFF2-40B4-BE49-F238E27FC236}">
                <a16:creationId xmlns:a16="http://schemas.microsoft.com/office/drawing/2014/main" id="{E7593E66-E309-ABD6-B010-5D5B71B0DACB}"/>
              </a:ext>
            </a:extLst>
          </p:cNvPr>
          <p:cNvSpPr>
            <a:spLocks noGrp="1"/>
          </p:cNvSpPr>
          <p:nvPr>
            <p:ph type="body" sz="quarter" idx="17"/>
          </p:nvPr>
        </p:nvSpPr>
        <p:spPr>
          <a:xfrm>
            <a:off x="695400" y="1773936"/>
            <a:ext cx="10873207" cy="4320480"/>
          </a:xfrm>
        </p:spPr>
        <p:txBody>
          <a:bodyPr/>
          <a:lstStyle/>
          <a:p>
            <a:pPr marL="0" indent="0">
              <a:buNone/>
            </a:pPr>
            <a:r>
              <a:rPr lang="en-US" b="1" dirty="0">
                <a:solidFill>
                  <a:schemeClr val="tx1"/>
                </a:solidFill>
              </a:rPr>
              <a:t>1. External Level (View Level)</a:t>
            </a:r>
          </a:p>
          <a:p>
            <a:pPr>
              <a:buFont typeface="Arial" panose="020B0604020202020204" pitchFamily="34" charset="0"/>
              <a:buChar char="•"/>
            </a:pPr>
            <a:r>
              <a:rPr lang="en-US" dirty="0">
                <a:solidFill>
                  <a:schemeClr val="tx1"/>
                </a:solidFill>
              </a:rPr>
              <a:t>This is how users see the data. Each user or group of users gets a specific </a:t>
            </a:r>
            <a:r>
              <a:rPr lang="en-US" i="1" dirty="0">
                <a:solidFill>
                  <a:schemeClr val="tx1"/>
                </a:solidFill>
              </a:rPr>
              <a:t>view</a:t>
            </a:r>
            <a:r>
              <a:rPr lang="en-US" dirty="0">
                <a:solidFill>
                  <a:schemeClr val="tx1"/>
                </a:solidFill>
              </a:rPr>
              <a:t> of the database.</a:t>
            </a:r>
          </a:p>
          <a:p>
            <a:pPr>
              <a:buFont typeface="Arial" panose="020B0604020202020204" pitchFamily="34" charset="0"/>
              <a:buChar char="•"/>
            </a:pPr>
            <a:r>
              <a:rPr lang="en-US" b="1" dirty="0">
                <a:solidFill>
                  <a:schemeClr val="tx1"/>
                </a:solidFill>
              </a:rPr>
              <a:t>Purpose</a:t>
            </a:r>
            <a:r>
              <a:rPr lang="en-US" dirty="0">
                <a:solidFill>
                  <a:schemeClr val="tx1"/>
                </a:solidFill>
              </a:rPr>
              <a:t>: Provides security by hiding irrelevant data and simplifies the database for user-specific tasks.</a:t>
            </a:r>
          </a:p>
          <a:p>
            <a:pPr>
              <a:buFont typeface="Arial" panose="020B0604020202020204" pitchFamily="34" charset="0"/>
              <a:buChar char="•"/>
            </a:pPr>
            <a:r>
              <a:rPr lang="en-US" b="1" dirty="0">
                <a:solidFill>
                  <a:schemeClr val="tx1"/>
                </a:solidFill>
              </a:rPr>
              <a:t>Real-Time Example</a:t>
            </a:r>
            <a:r>
              <a:rPr lang="en-US" dirty="0">
                <a:solidFill>
                  <a:schemeClr val="tx1"/>
                </a:solidFill>
              </a:rPr>
              <a:t>:</a:t>
            </a:r>
            <a:br>
              <a:rPr lang="en-US" dirty="0">
                <a:solidFill>
                  <a:schemeClr val="tx1"/>
                </a:solidFill>
              </a:rPr>
            </a:br>
            <a:r>
              <a:rPr lang="en-US" dirty="0">
                <a:solidFill>
                  <a:schemeClr val="tx1"/>
                </a:solidFill>
              </a:rPr>
              <a:t>A </a:t>
            </a:r>
            <a:r>
              <a:rPr lang="en-US" i="1" dirty="0">
                <a:solidFill>
                  <a:schemeClr val="tx1"/>
                </a:solidFill>
              </a:rPr>
              <a:t>Bank’s Customer Portal</a:t>
            </a:r>
            <a:r>
              <a:rPr lang="en-US" dirty="0">
                <a:solidFill>
                  <a:schemeClr val="tx1"/>
                </a:solidFill>
              </a:rPr>
              <a:t> shows:</a:t>
            </a:r>
          </a:p>
          <a:p>
            <a:pPr marL="742950" lvl="1" indent="-285750">
              <a:buFont typeface="Arial" panose="020B0604020202020204" pitchFamily="34" charset="0"/>
              <a:buChar char="•"/>
            </a:pPr>
            <a:r>
              <a:rPr lang="en-US" dirty="0">
                <a:solidFill>
                  <a:schemeClr val="tx1"/>
                </a:solidFill>
              </a:rPr>
              <a:t>Customers see their </a:t>
            </a:r>
            <a:r>
              <a:rPr lang="en-US" b="1" dirty="0">
                <a:solidFill>
                  <a:schemeClr val="tx1"/>
                </a:solidFill>
              </a:rPr>
              <a:t>account balance</a:t>
            </a:r>
            <a:r>
              <a:rPr lang="en-US" dirty="0">
                <a:solidFill>
                  <a:schemeClr val="tx1"/>
                </a:solidFill>
              </a:rPr>
              <a:t>, </a:t>
            </a:r>
            <a:r>
              <a:rPr lang="en-US" b="1" dirty="0">
                <a:solidFill>
                  <a:schemeClr val="tx1"/>
                </a:solidFill>
              </a:rPr>
              <a:t>transaction history</a:t>
            </a:r>
            <a:r>
              <a:rPr lang="en-US" dirty="0">
                <a:solidFill>
                  <a:schemeClr val="tx1"/>
                </a:solidFill>
              </a:rPr>
              <a:t>, etc.</a:t>
            </a:r>
          </a:p>
          <a:p>
            <a:pPr marL="742950" lvl="1" indent="-285750">
              <a:buFont typeface="Arial" panose="020B0604020202020204" pitchFamily="34" charset="0"/>
              <a:buChar char="•"/>
            </a:pPr>
            <a:r>
              <a:rPr lang="en-US" dirty="0">
                <a:solidFill>
                  <a:schemeClr val="tx1"/>
                </a:solidFill>
              </a:rPr>
              <a:t>Bank managers see customers' </a:t>
            </a:r>
            <a:r>
              <a:rPr lang="en-US" b="1" dirty="0">
                <a:solidFill>
                  <a:schemeClr val="tx1"/>
                </a:solidFill>
              </a:rPr>
              <a:t>loan details</a:t>
            </a:r>
            <a:r>
              <a:rPr lang="en-US" dirty="0">
                <a:solidFill>
                  <a:schemeClr val="tx1"/>
                </a:solidFill>
              </a:rPr>
              <a:t> and </a:t>
            </a:r>
            <a:r>
              <a:rPr lang="en-US" b="1" dirty="0">
                <a:solidFill>
                  <a:schemeClr val="tx1"/>
                </a:solidFill>
              </a:rPr>
              <a:t>credit scores</a:t>
            </a:r>
            <a:r>
              <a:rPr lang="en-US" dirty="0">
                <a:solidFill>
                  <a:schemeClr val="tx1"/>
                </a:solidFill>
              </a:rPr>
              <a:t>.</a:t>
            </a:r>
          </a:p>
          <a:p>
            <a:endParaRPr lang="en-US" dirty="0"/>
          </a:p>
        </p:txBody>
      </p:sp>
    </p:spTree>
    <p:extLst>
      <p:ext uri="{BB962C8B-B14F-4D97-AF65-F5344CB8AC3E}">
        <p14:creationId xmlns:p14="http://schemas.microsoft.com/office/powerpoint/2010/main" val="763895091"/>
      </p:ext>
    </p:extLst>
  </p:cSld>
  <p:clrMapOvr>
    <a:masterClrMapping/>
  </p:clrMapOvr>
</p:sld>
</file>

<file path=ppt/slides/slide5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E683AC9-BBB2-6614-DE48-472E39674149}"/>
            </a:ext>
          </a:extLst>
        </p:cNvPr>
        <p:cNvGrpSpPr/>
        <p:nvPr/>
      </p:nvGrpSpPr>
      <p:grpSpPr>
        <a:xfrm>
          <a:off x="0" y="0"/>
          <a:ext cx="0" cy="0"/>
          <a:chOff x="0" y="0"/>
          <a:chExt cx="0" cy="0"/>
        </a:xfrm>
      </p:grpSpPr>
      <p:sp>
        <p:nvSpPr>
          <p:cNvPr id="2" name="Slide Number Placeholder 1">
            <a:extLst>
              <a:ext uri="{FF2B5EF4-FFF2-40B4-BE49-F238E27FC236}">
                <a16:creationId xmlns:a16="http://schemas.microsoft.com/office/drawing/2014/main" id="{0CE3C4A6-3B8E-A27D-B8C3-5ACF6434E9A9}"/>
              </a:ext>
            </a:extLst>
          </p:cNvPr>
          <p:cNvSpPr>
            <a:spLocks noGrp="1"/>
          </p:cNvSpPr>
          <p:nvPr>
            <p:ph type="sldNum" sz="quarter" idx="14"/>
          </p:nvPr>
        </p:nvSpPr>
        <p:spPr/>
        <p:txBody>
          <a:bodyPr/>
          <a:lstStyle/>
          <a:p>
            <a:fld id="{45A3C14A-F937-4231-B6F1-40B429FAFB2F}" type="slidenum">
              <a:rPr lang="en-NZ" smtClean="0"/>
              <a:pPr/>
              <a:t>59</a:t>
            </a:fld>
            <a:endParaRPr lang="en-NZ" dirty="0"/>
          </a:p>
        </p:txBody>
      </p:sp>
      <p:sp>
        <p:nvSpPr>
          <p:cNvPr id="3" name="Title 2">
            <a:extLst>
              <a:ext uri="{FF2B5EF4-FFF2-40B4-BE49-F238E27FC236}">
                <a16:creationId xmlns:a16="http://schemas.microsoft.com/office/drawing/2014/main" id="{7E95B147-0A77-14EC-238A-CB99A44A9037}"/>
              </a:ext>
            </a:extLst>
          </p:cNvPr>
          <p:cNvSpPr>
            <a:spLocks noGrp="1"/>
          </p:cNvSpPr>
          <p:nvPr>
            <p:ph type="title"/>
          </p:nvPr>
        </p:nvSpPr>
        <p:spPr/>
        <p:txBody>
          <a:bodyPr/>
          <a:lstStyle/>
          <a:p>
            <a:r>
              <a:rPr lang="en-US" b="1" dirty="0"/>
              <a:t>Three schema Architecture</a:t>
            </a:r>
            <a:br>
              <a:rPr lang="en-US" b="1" dirty="0"/>
            </a:br>
            <a:endParaRPr lang="en-US" b="1" dirty="0"/>
          </a:p>
        </p:txBody>
      </p:sp>
      <p:sp>
        <p:nvSpPr>
          <p:cNvPr id="4" name="Text Placeholder 3">
            <a:extLst>
              <a:ext uri="{FF2B5EF4-FFF2-40B4-BE49-F238E27FC236}">
                <a16:creationId xmlns:a16="http://schemas.microsoft.com/office/drawing/2014/main" id="{A1D06E25-EA7C-9FF9-625F-31F1D160F50B}"/>
              </a:ext>
            </a:extLst>
          </p:cNvPr>
          <p:cNvSpPr>
            <a:spLocks noGrp="1"/>
          </p:cNvSpPr>
          <p:nvPr>
            <p:ph type="body" sz="quarter" idx="17"/>
          </p:nvPr>
        </p:nvSpPr>
        <p:spPr>
          <a:xfrm>
            <a:off x="695400" y="1773936"/>
            <a:ext cx="10873207" cy="4320480"/>
          </a:xfrm>
        </p:spPr>
        <p:txBody>
          <a:bodyPr/>
          <a:lstStyle/>
          <a:p>
            <a:pPr marL="0" indent="0">
              <a:buNone/>
            </a:pPr>
            <a:r>
              <a:rPr lang="en-US" b="1" dirty="0">
                <a:solidFill>
                  <a:schemeClr val="tx1"/>
                </a:solidFill>
              </a:rPr>
              <a:t>2. Conceptual Level (Logical Level)</a:t>
            </a:r>
          </a:p>
          <a:p>
            <a:pPr>
              <a:buFont typeface="Arial" panose="020B0604020202020204" pitchFamily="34" charset="0"/>
              <a:buChar char="•"/>
            </a:pPr>
            <a:r>
              <a:rPr lang="en-US" dirty="0">
                <a:solidFill>
                  <a:schemeClr val="tx1"/>
                </a:solidFill>
              </a:rPr>
              <a:t>Represents the entire structure of the database logically, independent of how it's stored.</a:t>
            </a:r>
          </a:p>
          <a:p>
            <a:pPr>
              <a:buFont typeface="Arial" panose="020B0604020202020204" pitchFamily="34" charset="0"/>
              <a:buChar char="•"/>
            </a:pPr>
            <a:r>
              <a:rPr lang="en-US" b="1" dirty="0">
                <a:solidFill>
                  <a:schemeClr val="tx1"/>
                </a:solidFill>
              </a:rPr>
              <a:t>Purpose</a:t>
            </a:r>
            <a:r>
              <a:rPr lang="en-US" dirty="0">
                <a:solidFill>
                  <a:schemeClr val="tx1"/>
                </a:solidFill>
              </a:rPr>
              <a:t>: Focuses on what data is stored and relationships between them (entities, attributes, constraints).</a:t>
            </a:r>
          </a:p>
          <a:p>
            <a:pPr>
              <a:buFont typeface="Arial" panose="020B0604020202020204" pitchFamily="34" charset="0"/>
              <a:buChar char="•"/>
            </a:pPr>
            <a:r>
              <a:rPr lang="en-US" b="1" dirty="0">
                <a:solidFill>
                  <a:schemeClr val="tx1"/>
                </a:solidFill>
              </a:rPr>
              <a:t>Real-Time Example</a:t>
            </a:r>
            <a:r>
              <a:rPr lang="en-US" dirty="0">
                <a:solidFill>
                  <a:schemeClr val="tx1"/>
                </a:solidFill>
              </a:rPr>
              <a:t>:</a:t>
            </a:r>
            <a:br>
              <a:rPr lang="en-US" dirty="0">
                <a:solidFill>
                  <a:schemeClr val="tx1"/>
                </a:solidFill>
              </a:rPr>
            </a:br>
            <a:r>
              <a:rPr lang="en-US" dirty="0">
                <a:solidFill>
                  <a:schemeClr val="tx1"/>
                </a:solidFill>
              </a:rPr>
              <a:t>The bank’s conceptual schema includes:</a:t>
            </a:r>
          </a:p>
          <a:p>
            <a:pPr marL="742950" lvl="1" indent="-285750">
              <a:buFont typeface="Arial" panose="020B0604020202020204" pitchFamily="34" charset="0"/>
              <a:buChar char="•"/>
            </a:pPr>
            <a:r>
              <a:rPr lang="en-US" dirty="0">
                <a:solidFill>
                  <a:schemeClr val="tx1"/>
                </a:solidFill>
              </a:rPr>
              <a:t>Tables like </a:t>
            </a:r>
            <a:r>
              <a:rPr lang="en-US" b="1" dirty="0">
                <a:solidFill>
                  <a:schemeClr val="tx1"/>
                </a:solidFill>
              </a:rPr>
              <a:t>Accounts</a:t>
            </a:r>
            <a:r>
              <a:rPr lang="en-US" dirty="0">
                <a:solidFill>
                  <a:schemeClr val="tx1"/>
                </a:solidFill>
              </a:rPr>
              <a:t>, </a:t>
            </a:r>
            <a:r>
              <a:rPr lang="en-US" b="1" dirty="0">
                <a:solidFill>
                  <a:schemeClr val="tx1"/>
                </a:solidFill>
              </a:rPr>
              <a:t>Customers</a:t>
            </a:r>
            <a:r>
              <a:rPr lang="en-US" dirty="0">
                <a:solidFill>
                  <a:schemeClr val="tx1"/>
                </a:solidFill>
              </a:rPr>
              <a:t>, and </a:t>
            </a:r>
            <a:r>
              <a:rPr lang="en-US" b="1" dirty="0">
                <a:solidFill>
                  <a:schemeClr val="tx1"/>
                </a:solidFill>
              </a:rPr>
              <a:t>Loans</a:t>
            </a:r>
            <a:r>
              <a:rPr lang="en-US" dirty="0">
                <a:solidFill>
                  <a:schemeClr val="tx1"/>
                </a:solidFill>
              </a:rPr>
              <a:t>.</a:t>
            </a:r>
          </a:p>
          <a:p>
            <a:pPr marL="742950" lvl="1" indent="-285750">
              <a:buFont typeface="Arial" panose="020B0604020202020204" pitchFamily="34" charset="0"/>
              <a:buChar char="•"/>
            </a:pPr>
            <a:r>
              <a:rPr lang="en-US" dirty="0">
                <a:solidFill>
                  <a:schemeClr val="tx1"/>
                </a:solidFill>
              </a:rPr>
              <a:t>Relationships: </a:t>
            </a:r>
            <a:r>
              <a:rPr lang="en-US" b="1" dirty="0">
                <a:solidFill>
                  <a:schemeClr val="tx1"/>
                </a:solidFill>
              </a:rPr>
              <a:t>One customer can have multiple accounts.</a:t>
            </a:r>
            <a:endParaRPr lang="en-US" dirty="0">
              <a:solidFill>
                <a:schemeClr val="tx1"/>
              </a:solidFill>
            </a:endParaRPr>
          </a:p>
        </p:txBody>
      </p:sp>
    </p:spTree>
    <p:extLst>
      <p:ext uri="{BB962C8B-B14F-4D97-AF65-F5344CB8AC3E}">
        <p14:creationId xmlns:p14="http://schemas.microsoft.com/office/powerpoint/2010/main" val="10163361"/>
      </p:ext>
    </p:extLst>
  </p:cSld>
  <p:clrMapOvr>
    <a:masterClrMapping/>
  </p:clrMapOvr>
</p:sld>
</file>

<file path=ppt/slides/slide6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5A57C1E-288E-06B4-D639-7E9128D17DAC}"/>
            </a:ext>
          </a:extLst>
        </p:cNvPr>
        <p:cNvGrpSpPr/>
        <p:nvPr/>
      </p:nvGrpSpPr>
      <p:grpSpPr>
        <a:xfrm>
          <a:off x="0" y="0"/>
          <a:ext cx="0" cy="0"/>
          <a:chOff x="0" y="0"/>
          <a:chExt cx="0" cy="0"/>
        </a:xfrm>
      </p:grpSpPr>
      <p:sp>
        <p:nvSpPr>
          <p:cNvPr id="2" name="Slide Number Placeholder 1">
            <a:extLst>
              <a:ext uri="{FF2B5EF4-FFF2-40B4-BE49-F238E27FC236}">
                <a16:creationId xmlns:a16="http://schemas.microsoft.com/office/drawing/2014/main" id="{D228BAE3-D9C3-6CC7-AB1C-1EF055EB347A}"/>
              </a:ext>
            </a:extLst>
          </p:cNvPr>
          <p:cNvSpPr>
            <a:spLocks noGrp="1"/>
          </p:cNvSpPr>
          <p:nvPr>
            <p:ph type="sldNum" sz="quarter" idx="14"/>
          </p:nvPr>
        </p:nvSpPr>
        <p:spPr/>
        <p:txBody>
          <a:bodyPr/>
          <a:lstStyle/>
          <a:p>
            <a:fld id="{45A3C14A-F937-4231-B6F1-40B429FAFB2F}" type="slidenum">
              <a:rPr lang="en-NZ" smtClean="0"/>
              <a:pPr/>
              <a:t>60</a:t>
            </a:fld>
            <a:endParaRPr lang="en-NZ" dirty="0"/>
          </a:p>
        </p:txBody>
      </p:sp>
      <p:sp>
        <p:nvSpPr>
          <p:cNvPr id="3" name="Title 2">
            <a:extLst>
              <a:ext uri="{FF2B5EF4-FFF2-40B4-BE49-F238E27FC236}">
                <a16:creationId xmlns:a16="http://schemas.microsoft.com/office/drawing/2014/main" id="{46349CC8-0D7B-011B-C534-8AD37F30DBE7}"/>
              </a:ext>
            </a:extLst>
          </p:cNvPr>
          <p:cNvSpPr>
            <a:spLocks noGrp="1"/>
          </p:cNvSpPr>
          <p:nvPr>
            <p:ph type="title"/>
          </p:nvPr>
        </p:nvSpPr>
        <p:spPr/>
        <p:txBody>
          <a:bodyPr/>
          <a:lstStyle/>
          <a:p>
            <a:r>
              <a:rPr lang="en-US" b="1" dirty="0"/>
              <a:t>Three schema Architecture</a:t>
            </a:r>
            <a:br>
              <a:rPr lang="en-US" b="1" dirty="0"/>
            </a:br>
            <a:endParaRPr lang="en-US" b="1" dirty="0"/>
          </a:p>
        </p:txBody>
      </p:sp>
      <p:sp>
        <p:nvSpPr>
          <p:cNvPr id="4" name="Text Placeholder 3">
            <a:extLst>
              <a:ext uri="{FF2B5EF4-FFF2-40B4-BE49-F238E27FC236}">
                <a16:creationId xmlns:a16="http://schemas.microsoft.com/office/drawing/2014/main" id="{69E6F94A-7195-F3D5-7F4D-B539C94E4C22}"/>
              </a:ext>
            </a:extLst>
          </p:cNvPr>
          <p:cNvSpPr>
            <a:spLocks noGrp="1"/>
          </p:cNvSpPr>
          <p:nvPr>
            <p:ph type="body" sz="quarter" idx="17"/>
          </p:nvPr>
        </p:nvSpPr>
        <p:spPr>
          <a:xfrm>
            <a:off x="623392" y="1124744"/>
            <a:ext cx="10873207" cy="4320480"/>
          </a:xfrm>
        </p:spPr>
        <p:txBody>
          <a:bodyPr/>
          <a:lstStyle/>
          <a:p>
            <a:pPr marL="0" indent="0">
              <a:buNone/>
            </a:pPr>
            <a:r>
              <a:rPr lang="en-US" b="1" dirty="0">
                <a:solidFill>
                  <a:schemeClr val="tx1"/>
                </a:solidFill>
              </a:rPr>
              <a:t>3. Internal Level (Physical Level)</a:t>
            </a:r>
          </a:p>
          <a:p>
            <a:pPr>
              <a:buFont typeface="Arial" panose="020B0604020202020204" pitchFamily="34" charset="0"/>
              <a:buChar char="•"/>
            </a:pPr>
            <a:r>
              <a:rPr lang="en-US" dirty="0">
                <a:solidFill>
                  <a:schemeClr val="tx1"/>
                </a:solidFill>
              </a:rPr>
              <a:t>Describes how the data is physically stored in the database (files, indexes, storage format).</a:t>
            </a:r>
          </a:p>
          <a:p>
            <a:pPr>
              <a:buFont typeface="Arial" panose="020B0604020202020204" pitchFamily="34" charset="0"/>
              <a:buChar char="•"/>
            </a:pPr>
            <a:r>
              <a:rPr lang="en-US" dirty="0">
                <a:solidFill>
                  <a:schemeClr val="tx1"/>
                </a:solidFill>
              </a:rPr>
              <a:t>It is the lowest level of </a:t>
            </a:r>
            <a:r>
              <a:rPr lang="en-US" dirty="0" err="1">
                <a:solidFill>
                  <a:schemeClr val="tx1"/>
                </a:solidFill>
              </a:rPr>
              <a:t>abstraction.It</a:t>
            </a:r>
            <a:r>
              <a:rPr lang="en-US" dirty="0">
                <a:solidFill>
                  <a:schemeClr val="tx1"/>
                </a:solidFill>
              </a:rPr>
              <a:t> does not hide the storage details.</a:t>
            </a:r>
          </a:p>
          <a:p>
            <a:pPr>
              <a:buFont typeface="Arial" panose="020B0604020202020204" pitchFamily="34" charset="0"/>
              <a:buChar char="•"/>
            </a:pPr>
            <a:r>
              <a:rPr lang="en-US" b="1" dirty="0">
                <a:solidFill>
                  <a:schemeClr val="tx1"/>
                </a:solidFill>
              </a:rPr>
              <a:t>Purpose</a:t>
            </a:r>
            <a:r>
              <a:rPr lang="en-US" dirty="0">
                <a:solidFill>
                  <a:schemeClr val="tx1"/>
                </a:solidFill>
              </a:rPr>
              <a:t>: Optimizes performance, handles storage details, and ensures efficient data access.</a:t>
            </a:r>
          </a:p>
          <a:p>
            <a:pPr>
              <a:buFont typeface="Arial" panose="020B0604020202020204" pitchFamily="34" charset="0"/>
              <a:buChar char="•"/>
            </a:pPr>
            <a:r>
              <a:rPr lang="en-US" b="1" dirty="0">
                <a:solidFill>
                  <a:schemeClr val="tx1"/>
                </a:solidFill>
              </a:rPr>
              <a:t>Real-Time Example</a:t>
            </a:r>
            <a:r>
              <a:rPr lang="en-US" dirty="0">
                <a:solidFill>
                  <a:schemeClr val="tx1"/>
                </a:solidFill>
              </a:rPr>
              <a:t>:</a:t>
            </a:r>
          </a:p>
          <a:p>
            <a:pPr marL="742950" lvl="1" indent="-285750">
              <a:buFont typeface="Arial" panose="020B0604020202020204" pitchFamily="34" charset="0"/>
              <a:buChar char="•"/>
            </a:pPr>
            <a:r>
              <a:rPr lang="en-US" dirty="0">
                <a:solidFill>
                  <a:schemeClr val="tx1"/>
                </a:solidFill>
              </a:rPr>
              <a:t>Data for </a:t>
            </a:r>
            <a:r>
              <a:rPr lang="en-US" b="1" dirty="0">
                <a:solidFill>
                  <a:schemeClr val="tx1"/>
                </a:solidFill>
              </a:rPr>
              <a:t>Accounts</a:t>
            </a:r>
            <a:r>
              <a:rPr lang="en-US" dirty="0">
                <a:solidFill>
                  <a:schemeClr val="tx1"/>
                </a:solidFill>
              </a:rPr>
              <a:t> is stored in rows and columns in </a:t>
            </a:r>
            <a:r>
              <a:rPr lang="en-US" b="1" dirty="0">
                <a:solidFill>
                  <a:schemeClr val="tx1"/>
                </a:solidFill>
              </a:rPr>
              <a:t>data files</a:t>
            </a:r>
            <a:r>
              <a:rPr lang="en-US" dirty="0">
                <a:solidFill>
                  <a:schemeClr val="tx1"/>
                </a:solidFill>
              </a:rPr>
              <a:t> on disk.</a:t>
            </a:r>
          </a:p>
          <a:p>
            <a:pPr marL="742950" lvl="1" indent="-285750">
              <a:buFont typeface="Arial" panose="020B0604020202020204" pitchFamily="34" charset="0"/>
              <a:buChar char="•"/>
            </a:pPr>
            <a:r>
              <a:rPr lang="en-US" dirty="0">
                <a:solidFill>
                  <a:schemeClr val="tx1"/>
                </a:solidFill>
              </a:rPr>
              <a:t>Indexes are used for fast lookup of account numbers.</a:t>
            </a:r>
          </a:p>
        </p:txBody>
      </p:sp>
    </p:spTree>
    <p:extLst>
      <p:ext uri="{BB962C8B-B14F-4D97-AF65-F5344CB8AC3E}">
        <p14:creationId xmlns:p14="http://schemas.microsoft.com/office/powerpoint/2010/main" val="14544260"/>
      </p:ext>
    </p:extLst>
  </p:cSld>
  <p:clrMapOvr>
    <a:masterClrMapping/>
  </p:clrMapOvr>
</p:sld>
</file>

<file path=ppt/slides/slide6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Number Placeholder 1"/>
          <p:cNvSpPr>
            <a:spLocks noGrp="1"/>
          </p:cNvSpPr>
          <p:nvPr>
            <p:ph type="sldNum" sz="quarter" idx="14"/>
          </p:nvPr>
        </p:nvSpPr>
        <p:spPr/>
        <p:txBody>
          <a:bodyPr/>
          <a:lstStyle/>
          <a:p>
            <a:fld id="{45A3C14A-F937-4231-B6F1-40B429FAFB2F}" type="slidenum">
              <a:rPr lang="en-NZ" smtClean="0"/>
              <a:pPr/>
              <a:t>61</a:t>
            </a:fld>
            <a:endParaRPr lang="en-NZ" dirty="0"/>
          </a:p>
        </p:txBody>
      </p:sp>
      <p:sp>
        <p:nvSpPr>
          <p:cNvPr id="3" name="Title 2"/>
          <p:cNvSpPr>
            <a:spLocks noGrp="1"/>
          </p:cNvSpPr>
          <p:nvPr>
            <p:ph type="title"/>
          </p:nvPr>
        </p:nvSpPr>
        <p:spPr/>
        <p:txBody>
          <a:bodyPr/>
          <a:lstStyle/>
          <a:p>
            <a:r>
              <a:rPr lang="en-US" b="1" dirty="0"/>
              <a:t>Three schema Architecture</a:t>
            </a:r>
            <a:br>
              <a:rPr lang="en-US" b="1" dirty="0"/>
            </a:br>
            <a:endParaRPr lang="en-US" dirty="0"/>
          </a:p>
        </p:txBody>
      </p:sp>
      <p:sp>
        <p:nvSpPr>
          <p:cNvPr id="4" name="Text Placeholder 3"/>
          <p:cNvSpPr>
            <a:spLocks noGrp="1"/>
          </p:cNvSpPr>
          <p:nvPr>
            <p:ph type="body" sz="quarter" idx="17"/>
          </p:nvPr>
        </p:nvSpPr>
        <p:spPr/>
        <p:txBody>
          <a:bodyPr/>
          <a:lstStyle/>
          <a:p>
            <a:pPr>
              <a:buFont typeface="Arial" panose="020B0604020202020204" pitchFamily="34" charset="0"/>
              <a:buChar char="•"/>
            </a:pPr>
            <a:r>
              <a:rPr lang="en-US" dirty="0">
                <a:solidFill>
                  <a:srgbClr val="FF0000"/>
                </a:solidFill>
              </a:rPr>
              <a:t>Mapping</a:t>
            </a:r>
            <a:r>
              <a:rPr lang="en-US" dirty="0"/>
              <a:t> is used to transform the request and response between various database levels of architecture.</a:t>
            </a:r>
          </a:p>
          <a:p>
            <a:pPr>
              <a:buFont typeface="Arial" panose="020B0604020202020204" pitchFamily="34" charset="0"/>
              <a:buChar char="•"/>
            </a:pPr>
            <a:r>
              <a:rPr lang="en-US" dirty="0"/>
              <a:t>Mapping is not good for small DBMS because it takes more time.</a:t>
            </a:r>
          </a:p>
          <a:p>
            <a:pPr>
              <a:buFont typeface="Arial" panose="020B0604020202020204" pitchFamily="34" charset="0"/>
              <a:buChar char="•"/>
            </a:pPr>
            <a:r>
              <a:rPr lang="en-US" dirty="0"/>
              <a:t>In </a:t>
            </a:r>
            <a:r>
              <a:rPr lang="en-US" b="1" dirty="0">
                <a:solidFill>
                  <a:srgbClr val="FF0000"/>
                </a:solidFill>
              </a:rPr>
              <a:t>External / Conceptual mapping</a:t>
            </a:r>
            <a:r>
              <a:rPr lang="en-US" dirty="0"/>
              <a:t>, it is necessary to transform the request from external level to conceptual schema.</a:t>
            </a:r>
          </a:p>
          <a:p>
            <a:pPr>
              <a:buFont typeface="Arial" panose="020B0604020202020204" pitchFamily="34" charset="0"/>
              <a:buChar char="•"/>
            </a:pPr>
            <a:r>
              <a:rPr lang="en-US" dirty="0"/>
              <a:t>In </a:t>
            </a:r>
            <a:r>
              <a:rPr lang="en-US" dirty="0">
                <a:solidFill>
                  <a:srgbClr val="FF0000"/>
                </a:solidFill>
              </a:rPr>
              <a:t>Conceptual / Internal mapping</a:t>
            </a:r>
            <a:r>
              <a:rPr lang="en-US" dirty="0"/>
              <a:t>, DBMS transform the request from the conceptual to internal level.</a:t>
            </a:r>
          </a:p>
          <a:p>
            <a:endParaRPr lang="en-US" dirty="0"/>
          </a:p>
        </p:txBody>
      </p:sp>
    </p:spTree>
    <p:extLst>
      <p:ext uri="{BB962C8B-B14F-4D97-AF65-F5344CB8AC3E}">
        <p14:creationId xmlns:p14="http://schemas.microsoft.com/office/powerpoint/2010/main" val="378791668"/>
      </p:ext>
    </p:extLst>
  </p:cSld>
  <p:clrMapOvr>
    <a:masterClrMapping/>
  </p:clrMapOvr>
</p:sld>
</file>

<file path=ppt/slides/slide6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Number Placeholder 1"/>
          <p:cNvSpPr>
            <a:spLocks noGrp="1"/>
          </p:cNvSpPr>
          <p:nvPr>
            <p:ph type="sldNum" sz="quarter" idx="14"/>
          </p:nvPr>
        </p:nvSpPr>
        <p:spPr/>
        <p:txBody>
          <a:bodyPr/>
          <a:lstStyle/>
          <a:p>
            <a:fld id="{45A3C14A-F937-4231-B6F1-40B429FAFB2F}" type="slidenum">
              <a:rPr lang="en-NZ" smtClean="0"/>
              <a:pPr/>
              <a:t>62</a:t>
            </a:fld>
            <a:endParaRPr lang="en-NZ" dirty="0"/>
          </a:p>
        </p:txBody>
      </p:sp>
      <p:sp>
        <p:nvSpPr>
          <p:cNvPr id="3" name="Title 2"/>
          <p:cNvSpPr>
            <a:spLocks noGrp="1"/>
          </p:cNvSpPr>
          <p:nvPr>
            <p:ph type="title"/>
          </p:nvPr>
        </p:nvSpPr>
        <p:spPr>
          <a:xfrm>
            <a:off x="335360" y="188640"/>
            <a:ext cx="10009112" cy="838202"/>
          </a:xfrm>
        </p:spPr>
        <p:txBody>
          <a:bodyPr/>
          <a:lstStyle/>
          <a:p>
            <a:r>
              <a:rPr lang="en-US" b="1" dirty="0">
                <a:solidFill>
                  <a:schemeClr val="tx1"/>
                </a:solidFill>
              </a:rPr>
              <a:t>Objectives of Three schema Architecture</a:t>
            </a:r>
            <a:br>
              <a:rPr lang="en-US" dirty="0"/>
            </a:br>
            <a:endParaRPr lang="en-US" dirty="0"/>
          </a:p>
        </p:txBody>
      </p:sp>
      <p:sp>
        <p:nvSpPr>
          <p:cNvPr id="4" name="Text Placeholder 3"/>
          <p:cNvSpPr>
            <a:spLocks noGrp="1"/>
          </p:cNvSpPr>
          <p:nvPr>
            <p:ph type="body" sz="quarter" idx="17"/>
          </p:nvPr>
        </p:nvSpPr>
        <p:spPr>
          <a:xfrm>
            <a:off x="238905" y="874415"/>
            <a:ext cx="11161240" cy="5227137"/>
          </a:xfrm>
        </p:spPr>
        <p:txBody>
          <a:bodyPr/>
          <a:lstStyle/>
          <a:p>
            <a:pPr marL="0" indent="0">
              <a:buNone/>
            </a:pPr>
            <a:r>
              <a:rPr lang="en-US" sz="2000" dirty="0">
                <a:solidFill>
                  <a:schemeClr val="tx1"/>
                </a:solidFill>
              </a:rPr>
              <a:t>The main objective of three level architecture is to enable multiple users to access the same data with a personalized view while storing the underlying data only once. Thus it separates the user's view from the physical structure of the database. This separation is desirable for the following reasons:</a:t>
            </a:r>
          </a:p>
          <a:p>
            <a:pPr lvl="1"/>
            <a:r>
              <a:rPr lang="en-US" sz="2000" dirty="0">
                <a:solidFill>
                  <a:schemeClr val="tx1"/>
                </a:solidFill>
              </a:rPr>
              <a:t>Different users need different views of the same data.</a:t>
            </a:r>
          </a:p>
          <a:p>
            <a:pPr lvl="1"/>
            <a:r>
              <a:rPr lang="en-US" sz="2000" dirty="0">
                <a:solidFill>
                  <a:schemeClr val="tx1"/>
                </a:solidFill>
              </a:rPr>
              <a:t>The approach in which a particular user needs to see the data may change over time.</a:t>
            </a:r>
          </a:p>
          <a:p>
            <a:pPr lvl="1"/>
            <a:r>
              <a:rPr lang="en-US" sz="2000" dirty="0">
                <a:solidFill>
                  <a:schemeClr val="tx1"/>
                </a:solidFill>
              </a:rPr>
              <a:t>The users of the database should not worry about the physical implementation and internal workings of the database such as data compression and encryption techniques, hashing, optimization of the internal structures etc.</a:t>
            </a:r>
          </a:p>
          <a:p>
            <a:pPr lvl="1"/>
            <a:r>
              <a:rPr lang="en-US" sz="2000" dirty="0">
                <a:solidFill>
                  <a:schemeClr val="tx1"/>
                </a:solidFill>
              </a:rPr>
              <a:t>All users should be able to access the same data according to their requirements.</a:t>
            </a:r>
          </a:p>
          <a:p>
            <a:pPr lvl="1"/>
            <a:r>
              <a:rPr lang="en-US" sz="2000" dirty="0">
                <a:solidFill>
                  <a:schemeClr val="tx1"/>
                </a:solidFill>
              </a:rPr>
              <a:t>DBA should be able to change the conceptual structure of the database without affecting the user's</a:t>
            </a:r>
          </a:p>
          <a:p>
            <a:pPr lvl="1"/>
            <a:r>
              <a:rPr lang="en-US" sz="2000" dirty="0">
                <a:solidFill>
                  <a:schemeClr val="tx1"/>
                </a:solidFill>
              </a:rPr>
              <a:t>Internal structure of the database should be unaffected by changes to physical aspects of the storage.</a:t>
            </a:r>
          </a:p>
          <a:p>
            <a:endParaRPr lang="en-US" dirty="0"/>
          </a:p>
        </p:txBody>
      </p:sp>
    </p:spTree>
    <p:extLst>
      <p:ext uri="{BB962C8B-B14F-4D97-AF65-F5344CB8AC3E}">
        <p14:creationId xmlns:p14="http://schemas.microsoft.com/office/powerpoint/2010/main" val="439328675"/>
      </p:ext>
    </p:extLst>
  </p:cSld>
  <p:clrMapOvr>
    <a:masterClrMapping/>
  </p:clrMapOvr>
</p:sld>
</file>

<file path=ppt/slides/slide6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Number Placeholder 1"/>
          <p:cNvSpPr>
            <a:spLocks noGrp="1"/>
          </p:cNvSpPr>
          <p:nvPr>
            <p:ph type="sldNum" sz="quarter" idx="14"/>
          </p:nvPr>
        </p:nvSpPr>
        <p:spPr/>
        <p:txBody>
          <a:bodyPr/>
          <a:lstStyle/>
          <a:p>
            <a:fld id="{45A3C14A-F937-4231-B6F1-40B429FAFB2F}" type="slidenum">
              <a:rPr lang="en-NZ" smtClean="0"/>
              <a:pPr/>
              <a:t>63</a:t>
            </a:fld>
            <a:endParaRPr lang="en-NZ" dirty="0"/>
          </a:p>
        </p:txBody>
      </p:sp>
      <p:sp>
        <p:nvSpPr>
          <p:cNvPr id="3" name="Title 2"/>
          <p:cNvSpPr>
            <a:spLocks noGrp="1"/>
          </p:cNvSpPr>
          <p:nvPr>
            <p:ph type="title"/>
          </p:nvPr>
        </p:nvSpPr>
        <p:spPr/>
        <p:txBody>
          <a:bodyPr/>
          <a:lstStyle/>
          <a:p>
            <a:r>
              <a:rPr lang="en-US" dirty="0">
                <a:solidFill>
                  <a:schemeClr val="tx1"/>
                </a:solidFill>
              </a:rPr>
              <a:t>Mapping between Views</a:t>
            </a:r>
            <a:br>
              <a:rPr lang="en-US" dirty="0"/>
            </a:br>
            <a:endParaRPr lang="en-US" dirty="0"/>
          </a:p>
        </p:txBody>
      </p:sp>
      <p:sp>
        <p:nvSpPr>
          <p:cNvPr id="4" name="Text Placeholder 3"/>
          <p:cNvSpPr>
            <a:spLocks noGrp="1"/>
          </p:cNvSpPr>
          <p:nvPr>
            <p:ph type="body" sz="quarter" idx="17"/>
          </p:nvPr>
        </p:nvSpPr>
        <p:spPr/>
        <p:txBody>
          <a:bodyPr/>
          <a:lstStyle/>
          <a:p>
            <a:pPr marL="0" indent="0">
              <a:buNone/>
            </a:pPr>
            <a:r>
              <a:rPr lang="en-US" dirty="0">
                <a:solidFill>
                  <a:schemeClr val="tx1"/>
                </a:solidFill>
              </a:rPr>
              <a:t>The three levels of DBMS architecture don't exist independently of each other. There must be correspondence between the three levels i.e. how they actually correspond with each other. DBMS is responsible for correspondence between the three types of schema. This correspondence is called Mapping.</a:t>
            </a:r>
          </a:p>
          <a:p>
            <a:pPr marL="0" indent="0">
              <a:buNone/>
            </a:pPr>
            <a:r>
              <a:rPr lang="en-US" b="1" dirty="0">
                <a:solidFill>
                  <a:srgbClr val="FF0000"/>
                </a:solidFill>
              </a:rPr>
              <a:t>There are basically two types of mapping in the database architecture:</a:t>
            </a:r>
            <a:endParaRPr lang="en-US" dirty="0">
              <a:solidFill>
                <a:srgbClr val="FF0000"/>
              </a:solidFill>
            </a:endParaRPr>
          </a:p>
          <a:p>
            <a:pPr lvl="1">
              <a:buFont typeface="Arial" panose="020B0604020202020204" pitchFamily="34" charset="0"/>
              <a:buChar char="•"/>
            </a:pPr>
            <a:r>
              <a:rPr lang="en-US" dirty="0">
                <a:solidFill>
                  <a:schemeClr val="tx1"/>
                </a:solidFill>
              </a:rPr>
              <a:t>Conceptual/ Internal Mapping</a:t>
            </a:r>
          </a:p>
          <a:p>
            <a:pPr lvl="1">
              <a:buFont typeface="Arial" panose="020B0604020202020204" pitchFamily="34" charset="0"/>
              <a:buChar char="•"/>
            </a:pPr>
            <a:r>
              <a:rPr lang="en-US" dirty="0">
                <a:solidFill>
                  <a:schemeClr val="tx1"/>
                </a:solidFill>
              </a:rPr>
              <a:t>External / Conceptual Mapping</a:t>
            </a:r>
          </a:p>
          <a:p>
            <a:pPr lvl="1">
              <a:buFont typeface="Arial" panose="020B0604020202020204" pitchFamily="34" charset="0"/>
              <a:buChar char="•"/>
            </a:pPr>
            <a:endParaRPr lang="en-US" dirty="0"/>
          </a:p>
          <a:p>
            <a:endParaRPr lang="en-US" dirty="0"/>
          </a:p>
        </p:txBody>
      </p:sp>
    </p:spTree>
    <p:extLst>
      <p:ext uri="{BB962C8B-B14F-4D97-AF65-F5344CB8AC3E}">
        <p14:creationId xmlns:p14="http://schemas.microsoft.com/office/powerpoint/2010/main" val="4173052084"/>
      </p:ext>
    </p:extLst>
  </p:cSld>
  <p:clrMapOvr>
    <a:masterClrMapping/>
  </p:clrMapOvr>
</p:sld>
</file>

<file path=ppt/slides/slide6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Number Placeholder 1"/>
          <p:cNvSpPr>
            <a:spLocks noGrp="1"/>
          </p:cNvSpPr>
          <p:nvPr>
            <p:ph type="sldNum" sz="quarter" idx="14"/>
          </p:nvPr>
        </p:nvSpPr>
        <p:spPr/>
        <p:txBody>
          <a:bodyPr/>
          <a:lstStyle/>
          <a:p>
            <a:fld id="{45A3C14A-F937-4231-B6F1-40B429FAFB2F}" type="slidenum">
              <a:rPr lang="en-NZ" smtClean="0"/>
              <a:pPr/>
              <a:t>64</a:t>
            </a:fld>
            <a:endParaRPr lang="en-NZ" dirty="0"/>
          </a:p>
        </p:txBody>
      </p:sp>
      <p:sp>
        <p:nvSpPr>
          <p:cNvPr id="3" name="Title 2"/>
          <p:cNvSpPr>
            <a:spLocks noGrp="1"/>
          </p:cNvSpPr>
          <p:nvPr>
            <p:ph type="title"/>
          </p:nvPr>
        </p:nvSpPr>
        <p:spPr/>
        <p:txBody>
          <a:bodyPr/>
          <a:lstStyle/>
          <a:p>
            <a:r>
              <a:rPr lang="en-US" dirty="0"/>
              <a:t>Mapping between Views</a:t>
            </a:r>
            <a:br>
              <a:rPr lang="en-US" dirty="0"/>
            </a:br>
            <a:endParaRPr lang="en-US" dirty="0"/>
          </a:p>
        </p:txBody>
      </p:sp>
      <p:sp>
        <p:nvSpPr>
          <p:cNvPr id="4" name="Text Placeholder 3"/>
          <p:cNvSpPr>
            <a:spLocks noGrp="1"/>
          </p:cNvSpPr>
          <p:nvPr>
            <p:ph type="body" sz="quarter" idx="17"/>
          </p:nvPr>
        </p:nvSpPr>
        <p:spPr/>
        <p:txBody>
          <a:bodyPr/>
          <a:lstStyle/>
          <a:p>
            <a:pPr marL="0" indent="0">
              <a:buNone/>
            </a:pPr>
            <a:r>
              <a:rPr lang="en-US" b="1" dirty="0">
                <a:solidFill>
                  <a:srgbClr val="FF0000"/>
                </a:solidFill>
              </a:rPr>
              <a:t>External/ Conceptual Mapping</a:t>
            </a:r>
            <a:endParaRPr lang="en-US" dirty="0">
              <a:solidFill>
                <a:srgbClr val="FF0000"/>
              </a:solidFill>
            </a:endParaRPr>
          </a:p>
          <a:p>
            <a:pPr>
              <a:buFont typeface="Arial" panose="020B0604020202020204" pitchFamily="34" charset="0"/>
              <a:buChar char="•"/>
            </a:pPr>
            <a:r>
              <a:rPr lang="en-US" dirty="0"/>
              <a:t>The external/Conceptual Mapping lies between the external level and the Conceptual level. Its role is to define the correspondence between a particular external and the conceptual view.</a:t>
            </a:r>
          </a:p>
          <a:p>
            <a:pPr>
              <a:buFont typeface="Arial" panose="020B0604020202020204" pitchFamily="34" charset="0"/>
              <a:buChar char="•"/>
            </a:pPr>
            <a:endParaRPr lang="en-US" b="1" dirty="0">
              <a:solidFill>
                <a:srgbClr val="FF0000"/>
              </a:solidFill>
            </a:endParaRPr>
          </a:p>
          <a:p>
            <a:pPr marL="0" indent="0">
              <a:buNone/>
            </a:pPr>
            <a:r>
              <a:rPr lang="en-US" b="1" dirty="0">
                <a:solidFill>
                  <a:srgbClr val="FF0000"/>
                </a:solidFill>
              </a:rPr>
              <a:t>Conceptual/ Internal Mapping</a:t>
            </a:r>
            <a:endParaRPr lang="en-US" dirty="0">
              <a:solidFill>
                <a:srgbClr val="FF0000"/>
              </a:solidFill>
            </a:endParaRPr>
          </a:p>
          <a:p>
            <a:pPr>
              <a:buFont typeface="Arial" panose="020B0604020202020204" pitchFamily="34" charset="0"/>
              <a:buChar char="•"/>
            </a:pPr>
            <a:r>
              <a:rPr lang="en-US" dirty="0"/>
              <a:t>The Conceptual/ Internal Mapping lies between the conceptual level and the internal level. Its role is to define the correspondence between the records and fields of the conceptual level and files and data structures of the internal level.</a:t>
            </a:r>
          </a:p>
          <a:p>
            <a:pPr>
              <a:buFont typeface="Arial" panose="020B0604020202020204" pitchFamily="34" charset="0"/>
              <a:buChar char="•"/>
            </a:pPr>
            <a:endParaRPr lang="en-US" dirty="0"/>
          </a:p>
        </p:txBody>
      </p:sp>
    </p:spTree>
    <p:extLst>
      <p:ext uri="{BB962C8B-B14F-4D97-AF65-F5344CB8AC3E}">
        <p14:creationId xmlns:p14="http://schemas.microsoft.com/office/powerpoint/2010/main" val="986563353"/>
      </p:ext>
    </p:extLst>
  </p:cSld>
  <p:clrMapOvr>
    <a:masterClrMapping/>
  </p:clrMapOvr>
</p:sld>
</file>

<file path=ppt/slides/slide6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623392" y="144316"/>
            <a:ext cx="6211927" cy="838202"/>
          </a:xfrm>
        </p:spPr>
        <p:txBody>
          <a:bodyPr/>
          <a:lstStyle/>
          <a:p>
            <a:r>
              <a:rPr lang="en-IN" b="1" dirty="0">
                <a:solidFill>
                  <a:srgbClr val="FF0000"/>
                </a:solidFill>
              </a:rPr>
              <a:t>Data Models</a:t>
            </a:r>
            <a:endParaRPr lang="en-IN" dirty="0">
              <a:solidFill>
                <a:srgbClr val="FF0000"/>
              </a:solidFill>
            </a:endParaRPr>
          </a:p>
        </p:txBody>
      </p:sp>
      <p:sp>
        <p:nvSpPr>
          <p:cNvPr id="4" name="Text Placeholder 2"/>
          <p:cNvSpPr txBox="1">
            <a:spLocks/>
          </p:cNvSpPr>
          <p:nvPr/>
        </p:nvSpPr>
        <p:spPr>
          <a:xfrm>
            <a:off x="551384" y="1016000"/>
            <a:ext cx="11323116" cy="5524500"/>
          </a:xfrm>
          <a:prstGeom prst="rect">
            <a:avLst/>
          </a:prstGeom>
        </p:spPr>
        <p:txBody>
          <a:bodyPr lIns="91440" tIns="45720" rIns="91440" bIns="45720"/>
          <a:lstStyle>
            <a:lvl1pPr marL="548640" indent="-548640" algn="l" defTabSz="914400" rtl="0" eaLnBrk="1" latinLnBrk="0" hangingPunct="1">
              <a:spcBef>
                <a:spcPts val="0"/>
              </a:spcBef>
              <a:spcAft>
                <a:spcPts val="1680"/>
              </a:spcAft>
              <a:buFont typeface="+mj-lt"/>
              <a:buAutoNum type="arabicPeriod"/>
              <a:defRPr sz="2900" kern="1200">
                <a:solidFill>
                  <a:schemeClr val="tx1"/>
                </a:solidFill>
                <a:latin typeface="Roboto Medium" pitchFamily="2" charset="0"/>
                <a:ea typeface="Roboto Medium" pitchFamily="2" charset="0"/>
                <a:cs typeface="Roboto Medium" pitchFamily="2" charset="0"/>
              </a:defRPr>
            </a:lvl1pPr>
            <a:lvl2pPr marL="840106" indent="-548640" algn="l" defTabSz="914400" rtl="0" eaLnBrk="1" latinLnBrk="0" hangingPunct="1">
              <a:spcBef>
                <a:spcPts val="0"/>
              </a:spcBef>
              <a:spcAft>
                <a:spcPts val="1680"/>
              </a:spcAft>
              <a:buFont typeface="+mj-lt"/>
              <a:buAutoNum type="arabicPeriod"/>
              <a:tabLst/>
              <a:defRPr sz="2900" kern="1200">
                <a:solidFill>
                  <a:schemeClr val="tx1"/>
                </a:solidFill>
                <a:latin typeface="Roboto Medium" pitchFamily="2" charset="0"/>
                <a:ea typeface="Roboto Medium" pitchFamily="2" charset="0"/>
                <a:cs typeface="Roboto Medium" pitchFamily="2" charset="0"/>
              </a:defRPr>
            </a:lvl2pPr>
            <a:lvl3pPr marL="712470" indent="0" algn="l" defTabSz="914400" rtl="0" eaLnBrk="1" latinLnBrk="0" hangingPunct="1">
              <a:spcBef>
                <a:spcPts val="0"/>
              </a:spcBef>
              <a:spcAft>
                <a:spcPts val="1680"/>
              </a:spcAft>
              <a:buFont typeface="Arial" pitchFamily="34" charset="0"/>
              <a:buNone/>
              <a:tabLst/>
              <a:defRPr sz="2400" kern="1200">
                <a:solidFill>
                  <a:schemeClr val="bg1"/>
                </a:solidFill>
                <a:latin typeface="+mn-lt"/>
                <a:ea typeface="+mn-ea"/>
                <a:cs typeface="+mn-cs"/>
              </a:defRPr>
            </a:lvl3pPr>
            <a:lvl4pPr marL="1068706" indent="0" algn="l" defTabSz="914400" rtl="0" eaLnBrk="1" latinLnBrk="0" hangingPunct="1">
              <a:spcBef>
                <a:spcPts val="0"/>
              </a:spcBef>
              <a:spcAft>
                <a:spcPts val="1680"/>
              </a:spcAft>
              <a:buFont typeface="Arial" pitchFamily="34" charset="0"/>
              <a:buNone/>
              <a:tabLst/>
              <a:defRPr sz="2200" kern="1200">
                <a:solidFill>
                  <a:schemeClr val="bg1"/>
                </a:solidFill>
                <a:latin typeface="+mn-lt"/>
                <a:ea typeface="+mn-ea"/>
                <a:cs typeface="+mn-cs"/>
              </a:defRPr>
            </a:lvl4pPr>
            <a:lvl5pPr marL="1312544" indent="0" algn="l" defTabSz="914400" rtl="0" eaLnBrk="1" latinLnBrk="0" hangingPunct="1">
              <a:spcBef>
                <a:spcPts val="0"/>
              </a:spcBef>
              <a:spcAft>
                <a:spcPts val="1680"/>
              </a:spcAft>
              <a:buFont typeface="Arial" pitchFamily="34" charset="0"/>
              <a:buNone/>
              <a:tabLst/>
              <a:defRPr sz="2200" kern="1200">
                <a:solidFill>
                  <a:schemeClr val="bg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a:lstStyle>
          <a:p>
            <a:pPr marL="0" indent="0" algn="just">
              <a:buNone/>
            </a:pPr>
            <a:r>
              <a:rPr lang="en-US" sz="2000" dirty="0"/>
              <a:t>In </a:t>
            </a:r>
            <a:r>
              <a:rPr lang="en-US" sz="2000" b="1" dirty="0"/>
              <a:t>RDBMS</a:t>
            </a:r>
            <a:r>
              <a:rPr lang="en-US" sz="2000" dirty="0"/>
              <a:t>, data models define </a:t>
            </a:r>
            <a:r>
              <a:rPr lang="en-US" sz="2000" dirty="0">
                <a:solidFill>
                  <a:srgbClr val="FF0000"/>
                </a:solidFill>
              </a:rPr>
              <a:t>how data is logically structured, stored, and manipulated</a:t>
            </a:r>
            <a:r>
              <a:rPr lang="en-US" sz="2000" dirty="0"/>
              <a:t>. They ensure the organization of data in a structured manner so that it can be retrieved, updated, and managed efficiently.</a:t>
            </a:r>
          </a:p>
          <a:p>
            <a:pPr marL="380985" indent="-380985" algn="just">
              <a:buFont typeface="Arial" panose="020B0604020202020204" pitchFamily="34" charset="0"/>
              <a:buChar char="•"/>
            </a:pPr>
            <a:r>
              <a:rPr lang="en-IN" sz="2000" dirty="0"/>
              <a:t>Abstract model describes </a:t>
            </a:r>
            <a:r>
              <a:rPr lang="en-IN" sz="2000" dirty="0">
                <a:solidFill>
                  <a:srgbClr val="FF0000"/>
                </a:solidFill>
              </a:rPr>
              <a:t>how the data are represented </a:t>
            </a:r>
            <a:r>
              <a:rPr lang="en-IN" sz="2000" dirty="0"/>
              <a:t>and used.</a:t>
            </a:r>
          </a:p>
          <a:p>
            <a:pPr marL="380985" indent="-380985" algn="just">
              <a:buFont typeface="Arial" panose="020B0604020202020204" pitchFamily="34" charset="0"/>
              <a:buChar char="•"/>
            </a:pPr>
            <a:r>
              <a:rPr lang="en-IN" sz="2000" dirty="0"/>
              <a:t>Consists of set of data structures, conceptual tools to describe the structure of a database.</a:t>
            </a:r>
          </a:p>
          <a:p>
            <a:pPr algn="just"/>
            <a:r>
              <a:rPr lang="en-US" sz="2000" b="1" dirty="0"/>
              <a:t>Entities:</a:t>
            </a:r>
            <a:r>
              <a:rPr lang="en-US" sz="2000" dirty="0"/>
              <a:t> Objects or things we want to store data about (e.g., Students, Courses).</a:t>
            </a:r>
          </a:p>
          <a:p>
            <a:pPr algn="just"/>
            <a:r>
              <a:rPr lang="en-US" sz="2000" b="1" dirty="0"/>
              <a:t>Attributes:</a:t>
            </a:r>
            <a:r>
              <a:rPr lang="en-US" sz="2000" dirty="0"/>
              <a:t> Properties of an entity (e.g., Name, Age, Grade for a Student).</a:t>
            </a:r>
          </a:p>
          <a:p>
            <a:pPr algn="just"/>
            <a:r>
              <a:rPr lang="en-US" sz="2000" b="1" dirty="0"/>
              <a:t>Relationships:</a:t>
            </a:r>
            <a:r>
              <a:rPr lang="en-US" sz="2000" dirty="0"/>
              <a:t> How entities are connected (e.g., Students enroll in Courses).</a:t>
            </a:r>
          </a:p>
          <a:p>
            <a:pPr marL="380985" indent="-380985">
              <a:buFont typeface="Arial" panose="020B0604020202020204" pitchFamily="34" charset="0"/>
              <a:buChar char="•"/>
            </a:pPr>
            <a:endParaRPr lang="en-IN" sz="2000" dirty="0"/>
          </a:p>
        </p:txBody>
      </p:sp>
    </p:spTree>
    <p:extLst>
      <p:ext uri="{BB962C8B-B14F-4D97-AF65-F5344CB8AC3E}">
        <p14:creationId xmlns:p14="http://schemas.microsoft.com/office/powerpoint/2010/main" val="3024710421"/>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4">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4">
                                            <p:txEl>
                                              <p:pRg st="1" end="1"/>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grpId="0" nodeType="clickEffect">
                                  <p:stCondLst>
                                    <p:cond delay="0"/>
                                  </p:stCondLst>
                                  <p:childTnLst>
                                    <p:set>
                                      <p:cBhvr>
                                        <p:cTn id="14" dur="1" fill="hold">
                                          <p:stCondLst>
                                            <p:cond delay="0"/>
                                          </p:stCondLst>
                                        </p:cTn>
                                        <p:tgtEl>
                                          <p:spTgt spid="4">
                                            <p:txEl>
                                              <p:pRg st="2" end="2"/>
                                            </p:txEl>
                                          </p:spTgt>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grpId="0" nodeType="clickEffect">
                                  <p:stCondLst>
                                    <p:cond delay="0"/>
                                  </p:stCondLst>
                                  <p:childTnLst>
                                    <p:set>
                                      <p:cBhvr>
                                        <p:cTn id="18" dur="1" fill="hold">
                                          <p:stCondLst>
                                            <p:cond delay="0"/>
                                          </p:stCondLst>
                                        </p:cTn>
                                        <p:tgtEl>
                                          <p:spTgt spid="4">
                                            <p:txEl>
                                              <p:pRg st="3" end="3"/>
                                            </p:txEl>
                                          </p:spTgt>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grpId="0" nodeType="clickEffect">
                                  <p:stCondLst>
                                    <p:cond delay="0"/>
                                  </p:stCondLst>
                                  <p:childTnLst>
                                    <p:set>
                                      <p:cBhvr>
                                        <p:cTn id="22" dur="1" fill="hold">
                                          <p:stCondLst>
                                            <p:cond delay="0"/>
                                          </p:stCondLst>
                                        </p:cTn>
                                        <p:tgtEl>
                                          <p:spTgt spid="4">
                                            <p:txEl>
                                              <p:pRg st="4" end="4"/>
                                            </p:txEl>
                                          </p:spTgt>
                                        </p:tgtEl>
                                        <p:attrNameLst>
                                          <p:attrName>style.visibility</p:attrName>
                                        </p:attrNameLst>
                                      </p:cBhvr>
                                      <p:to>
                                        <p:strVal val="visible"/>
                                      </p:to>
                                    </p:set>
                                  </p:childTnLst>
                                </p:cTn>
                              </p:par>
                            </p:childTnLst>
                          </p:cTn>
                        </p:par>
                      </p:childTnLst>
                    </p:cTn>
                  </p:par>
                  <p:par>
                    <p:cTn id="23" fill="hold">
                      <p:stCondLst>
                        <p:cond delay="indefinite"/>
                      </p:stCondLst>
                      <p:childTnLst>
                        <p:par>
                          <p:cTn id="24" fill="hold">
                            <p:stCondLst>
                              <p:cond delay="0"/>
                            </p:stCondLst>
                            <p:childTnLst>
                              <p:par>
                                <p:cTn id="25" presetID="1" presetClass="entr" presetSubtype="0" fill="hold" grpId="0" nodeType="clickEffect">
                                  <p:stCondLst>
                                    <p:cond delay="0"/>
                                  </p:stCondLst>
                                  <p:childTnLst>
                                    <p:set>
                                      <p:cBhvr>
                                        <p:cTn id="26" dur="1" fill="hold">
                                          <p:stCondLst>
                                            <p:cond delay="0"/>
                                          </p:stCondLst>
                                        </p:cTn>
                                        <p:tgtEl>
                                          <p:spTgt spid="4">
                                            <p:txEl>
                                              <p:pRg st="5" end="5"/>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build="p"/>
    </p:bldLst>
  </p:timing>
</p:sld>
</file>

<file path=ppt/slides/slide6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F9D301D-58D7-A9E9-9228-8E2E6FBA20A6}"/>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7CFF36E4-B65A-7D83-546E-D6947EE0BC1A}"/>
              </a:ext>
            </a:extLst>
          </p:cNvPr>
          <p:cNvSpPr>
            <a:spLocks noGrp="1"/>
          </p:cNvSpPr>
          <p:nvPr>
            <p:ph type="title"/>
          </p:nvPr>
        </p:nvSpPr>
        <p:spPr/>
        <p:txBody>
          <a:bodyPr/>
          <a:lstStyle/>
          <a:p>
            <a:r>
              <a:rPr lang="en-US" b="1" dirty="0">
                <a:solidFill>
                  <a:srgbClr val="FF0000"/>
                </a:solidFill>
              </a:rPr>
              <a:t>1.Conceptual Data Model</a:t>
            </a:r>
          </a:p>
        </p:txBody>
      </p:sp>
      <p:sp>
        <p:nvSpPr>
          <p:cNvPr id="4" name="Text Placeholder 2">
            <a:extLst>
              <a:ext uri="{FF2B5EF4-FFF2-40B4-BE49-F238E27FC236}">
                <a16:creationId xmlns:a16="http://schemas.microsoft.com/office/drawing/2014/main" id="{589CFA63-52EB-E31D-9BD3-D683334D5B6E}"/>
              </a:ext>
            </a:extLst>
          </p:cNvPr>
          <p:cNvSpPr txBox="1">
            <a:spLocks/>
          </p:cNvSpPr>
          <p:nvPr/>
        </p:nvSpPr>
        <p:spPr>
          <a:xfrm>
            <a:off x="551384" y="1016000"/>
            <a:ext cx="11323116" cy="5524500"/>
          </a:xfrm>
          <a:prstGeom prst="rect">
            <a:avLst/>
          </a:prstGeom>
        </p:spPr>
        <p:txBody>
          <a:bodyPr lIns="91440" tIns="45720" rIns="91440" bIns="45720"/>
          <a:lstStyle>
            <a:lvl1pPr marL="548640" indent="-548640" algn="l" defTabSz="914400" rtl="0" eaLnBrk="1" latinLnBrk="0" hangingPunct="1">
              <a:spcBef>
                <a:spcPts val="0"/>
              </a:spcBef>
              <a:spcAft>
                <a:spcPts val="1680"/>
              </a:spcAft>
              <a:buFont typeface="+mj-lt"/>
              <a:buAutoNum type="arabicPeriod"/>
              <a:defRPr sz="2900" kern="1200">
                <a:solidFill>
                  <a:schemeClr val="tx1"/>
                </a:solidFill>
                <a:latin typeface="Roboto Medium" pitchFamily="2" charset="0"/>
                <a:ea typeface="Roboto Medium" pitchFamily="2" charset="0"/>
                <a:cs typeface="Roboto Medium" pitchFamily="2" charset="0"/>
              </a:defRPr>
            </a:lvl1pPr>
            <a:lvl2pPr marL="840106" indent="-548640" algn="l" defTabSz="914400" rtl="0" eaLnBrk="1" latinLnBrk="0" hangingPunct="1">
              <a:spcBef>
                <a:spcPts val="0"/>
              </a:spcBef>
              <a:spcAft>
                <a:spcPts val="1680"/>
              </a:spcAft>
              <a:buFont typeface="+mj-lt"/>
              <a:buAutoNum type="arabicPeriod"/>
              <a:tabLst/>
              <a:defRPr sz="2900" kern="1200">
                <a:solidFill>
                  <a:schemeClr val="tx1"/>
                </a:solidFill>
                <a:latin typeface="Roboto Medium" pitchFamily="2" charset="0"/>
                <a:ea typeface="Roboto Medium" pitchFamily="2" charset="0"/>
                <a:cs typeface="Roboto Medium" pitchFamily="2" charset="0"/>
              </a:defRPr>
            </a:lvl2pPr>
            <a:lvl3pPr marL="712470" indent="0" algn="l" defTabSz="914400" rtl="0" eaLnBrk="1" latinLnBrk="0" hangingPunct="1">
              <a:spcBef>
                <a:spcPts val="0"/>
              </a:spcBef>
              <a:spcAft>
                <a:spcPts val="1680"/>
              </a:spcAft>
              <a:buFont typeface="Arial" pitchFamily="34" charset="0"/>
              <a:buNone/>
              <a:tabLst/>
              <a:defRPr sz="2400" kern="1200">
                <a:solidFill>
                  <a:schemeClr val="bg1"/>
                </a:solidFill>
                <a:latin typeface="+mn-lt"/>
                <a:ea typeface="+mn-ea"/>
                <a:cs typeface="+mn-cs"/>
              </a:defRPr>
            </a:lvl3pPr>
            <a:lvl4pPr marL="1068706" indent="0" algn="l" defTabSz="914400" rtl="0" eaLnBrk="1" latinLnBrk="0" hangingPunct="1">
              <a:spcBef>
                <a:spcPts val="0"/>
              </a:spcBef>
              <a:spcAft>
                <a:spcPts val="1680"/>
              </a:spcAft>
              <a:buFont typeface="Arial" pitchFamily="34" charset="0"/>
              <a:buNone/>
              <a:tabLst/>
              <a:defRPr sz="2200" kern="1200">
                <a:solidFill>
                  <a:schemeClr val="bg1"/>
                </a:solidFill>
                <a:latin typeface="+mn-lt"/>
                <a:ea typeface="+mn-ea"/>
                <a:cs typeface="+mn-cs"/>
              </a:defRPr>
            </a:lvl4pPr>
            <a:lvl5pPr marL="1312544" indent="0" algn="l" defTabSz="914400" rtl="0" eaLnBrk="1" latinLnBrk="0" hangingPunct="1">
              <a:spcBef>
                <a:spcPts val="0"/>
              </a:spcBef>
              <a:spcAft>
                <a:spcPts val="1680"/>
              </a:spcAft>
              <a:buFont typeface="Arial" pitchFamily="34" charset="0"/>
              <a:buNone/>
              <a:tabLst/>
              <a:defRPr sz="2200" kern="1200">
                <a:solidFill>
                  <a:schemeClr val="bg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a:lstStyle>
          <a:p>
            <a:pPr marL="0" indent="0" algn="just">
              <a:buNone/>
            </a:pPr>
            <a:r>
              <a:rPr lang="en-US" sz="2000" dirty="0"/>
              <a:t>A </a:t>
            </a:r>
            <a:r>
              <a:rPr lang="en-US" sz="2000" b="1" dirty="0"/>
              <a:t>Conceptual Data Model</a:t>
            </a:r>
            <a:r>
              <a:rPr lang="en-US" sz="2000" dirty="0"/>
              <a:t> is a high-level, abstract representation of the system's data. It focuses on </a:t>
            </a:r>
            <a:r>
              <a:rPr lang="en-US" sz="2000" dirty="0">
                <a:solidFill>
                  <a:srgbClr val="FF0000"/>
                </a:solidFill>
              </a:rPr>
              <a:t>what data is needed </a:t>
            </a:r>
            <a:r>
              <a:rPr lang="en-US" sz="2000" dirty="0"/>
              <a:t>and </a:t>
            </a:r>
            <a:r>
              <a:rPr lang="en-US" sz="2000" dirty="0">
                <a:solidFill>
                  <a:srgbClr val="FF0000"/>
                </a:solidFill>
              </a:rPr>
              <a:t>how it is related</a:t>
            </a:r>
            <a:r>
              <a:rPr lang="en-US" sz="2000" dirty="0"/>
              <a:t>, rather than how it is stored or implemented.</a:t>
            </a:r>
          </a:p>
          <a:p>
            <a:pPr marL="0" indent="0" algn="just">
              <a:buNone/>
            </a:pPr>
            <a:r>
              <a:rPr lang="en-US" sz="2000" b="1" dirty="0"/>
              <a:t>Audience</a:t>
            </a:r>
            <a:r>
              <a:rPr lang="en-US" sz="2000" dirty="0"/>
              <a:t>: Business stakeholders, analysts, and designers.</a:t>
            </a:r>
          </a:p>
          <a:p>
            <a:pPr marL="0" indent="0" algn="just">
              <a:buNone/>
            </a:pPr>
            <a:r>
              <a:rPr lang="en-US" sz="2000" b="1" dirty="0">
                <a:solidFill>
                  <a:srgbClr val="FF0000"/>
                </a:solidFill>
              </a:rPr>
              <a:t>Purpose</a:t>
            </a:r>
            <a:r>
              <a:rPr lang="en-US" sz="2000" dirty="0">
                <a:solidFill>
                  <a:srgbClr val="FF0000"/>
                </a:solidFill>
              </a:rPr>
              <a:t>: </a:t>
            </a:r>
            <a:r>
              <a:rPr lang="en-US" sz="2000" dirty="0"/>
              <a:t>To </a:t>
            </a:r>
            <a:r>
              <a:rPr lang="en-US" sz="2000" b="1" u="sng" dirty="0">
                <a:solidFill>
                  <a:srgbClr val="00B0F0"/>
                </a:solidFill>
              </a:rPr>
              <a:t>understand the system’s requirements </a:t>
            </a:r>
            <a:r>
              <a:rPr lang="en-US" sz="2000" dirty="0"/>
              <a:t>and data at a high level.</a:t>
            </a:r>
          </a:p>
          <a:p>
            <a:pPr marL="0" indent="0" algn="just">
              <a:buNone/>
            </a:pPr>
            <a:r>
              <a:rPr lang="en-US" sz="2000" b="1" dirty="0">
                <a:solidFill>
                  <a:srgbClr val="FF0000"/>
                </a:solidFill>
              </a:rPr>
              <a:t>Features</a:t>
            </a:r>
          </a:p>
          <a:p>
            <a:pPr algn="just"/>
            <a:r>
              <a:rPr lang="en-US" sz="2000" dirty="0"/>
              <a:t>Focuses on </a:t>
            </a:r>
            <a:r>
              <a:rPr lang="en-US" sz="2000" b="1" dirty="0"/>
              <a:t>entities</a:t>
            </a:r>
            <a:r>
              <a:rPr lang="en-US" sz="2000" dirty="0"/>
              <a:t> (objects or things) and </a:t>
            </a:r>
            <a:r>
              <a:rPr lang="en-US" sz="2000" b="1" dirty="0"/>
              <a:t>relationships</a:t>
            </a:r>
            <a:r>
              <a:rPr lang="en-US" sz="2000" dirty="0"/>
              <a:t> (connections between entities).</a:t>
            </a:r>
          </a:p>
          <a:p>
            <a:pPr algn="just"/>
            <a:r>
              <a:rPr lang="en-US" sz="2000" dirty="0"/>
              <a:t>No technical or storage details (e.g., no data types or tables).</a:t>
            </a:r>
          </a:p>
          <a:p>
            <a:pPr algn="just"/>
            <a:r>
              <a:rPr lang="en-US" sz="2000" dirty="0"/>
              <a:t>Represents the </a:t>
            </a:r>
            <a:r>
              <a:rPr lang="en-US" sz="2000" b="1" dirty="0"/>
              <a:t>business perspective</a:t>
            </a:r>
            <a:r>
              <a:rPr lang="en-US" sz="2000" dirty="0"/>
              <a:t> of data.</a:t>
            </a:r>
          </a:p>
          <a:p>
            <a:pPr marL="0" indent="0" algn="just">
              <a:buNone/>
            </a:pPr>
            <a:r>
              <a:rPr lang="en-US" sz="2000" b="1" dirty="0"/>
              <a:t>Example: School Management System</a:t>
            </a:r>
          </a:p>
          <a:p>
            <a:pPr algn="just"/>
            <a:r>
              <a:rPr lang="en-US" sz="2000" b="1" dirty="0"/>
              <a:t>Entities</a:t>
            </a:r>
            <a:r>
              <a:rPr lang="en-US" sz="2000" dirty="0"/>
              <a:t>: Student, Teacher, Course, Classroom.</a:t>
            </a:r>
          </a:p>
        </p:txBody>
      </p:sp>
    </p:spTree>
    <p:extLst>
      <p:ext uri="{BB962C8B-B14F-4D97-AF65-F5344CB8AC3E}">
        <p14:creationId xmlns:p14="http://schemas.microsoft.com/office/powerpoint/2010/main" val="2328891138"/>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4">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4">
                                            <p:txEl>
                                              <p:pRg st="1" end="1"/>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grpId="0" nodeType="clickEffect">
                                  <p:stCondLst>
                                    <p:cond delay="0"/>
                                  </p:stCondLst>
                                  <p:childTnLst>
                                    <p:set>
                                      <p:cBhvr>
                                        <p:cTn id="14" dur="1" fill="hold">
                                          <p:stCondLst>
                                            <p:cond delay="0"/>
                                          </p:stCondLst>
                                        </p:cTn>
                                        <p:tgtEl>
                                          <p:spTgt spid="4">
                                            <p:txEl>
                                              <p:pRg st="2" end="2"/>
                                            </p:txEl>
                                          </p:spTgt>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grpId="0" nodeType="clickEffect">
                                  <p:stCondLst>
                                    <p:cond delay="0"/>
                                  </p:stCondLst>
                                  <p:childTnLst>
                                    <p:set>
                                      <p:cBhvr>
                                        <p:cTn id="18" dur="1" fill="hold">
                                          <p:stCondLst>
                                            <p:cond delay="0"/>
                                          </p:stCondLst>
                                        </p:cTn>
                                        <p:tgtEl>
                                          <p:spTgt spid="4">
                                            <p:txEl>
                                              <p:pRg st="3" end="3"/>
                                            </p:txEl>
                                          </p:spTgt>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grpId="0" nodeType="clickEffect">
                                  <p:stCondLst>
                                    <p:cond delay="0"/>
                                  </p:stCondLst>
                                  <p:childTnLst>
                                    <p:set>
                                      <p:cBhvr>
                                        <p:cTn id="22" dur="1" fill="hold">
                                          <p:stCondLst>
                                            <p:cond delay="0"/>
                                          </p:stCondLst>
                                        </p:cTn>
                                        <p:tgtEl>
                                          <p:spTgt spid="4">
                                            <p:txEl>
                                              <p:pRg st="4" end="4"/>
                                            </p:txEl>
                                          </p:spTgt>
                                        </p:tgtEl>
                                        <p:attrNameLst>
                                          <p:attrName>style.visibility</p:attrName>
                                        </p:attrNameLst>
                                      </p:cBhvr>
                                      <p:to>
                                        <p:strVal val="visible"/>
                                      </p:to>
                                    </p:set>
                                  </p:childTnLst>
                                </p:cTn>
                              </p:par>
                            </p:childTnLst>
                          </p:cTn>
                        </p:par>
                      </p:childTnLst>
                    </p:cTn>
                  </p:par>
                  <p:par>
                    <p:cTn id="23" fill="hold">
                      <p:stCondLst>
                        <p:cond delay="indefinite"/>
                      </p:stCondLst>
                      <p:childTnLst>
                        <p:par>
                          <p:cTn id="24" fill="hold">
                            <p:stCondLst>
                              <p:cond delay="0"/>
                            </p:stCondLst>
                            <p:childTnLst>
                              <p:par>
                                <p:cTn id="25" presetID="1" presetClass="entr" presetSubtype="0" fill="hold" grpId="0" nodeType="clickEffect">
                                  <p:stCondLst>
                                    <p:cond delay="0"/>
                                  </p:stCondLst>
                                  <p:childTnLst>
                                    <p:set>
                                      <p:cBhvr>
                                        <p:cTn id="26" dur="1" fill="hold">
                                          <p:stCondLst>
                                            <p:cond delay="0"/>
                                          </p:stCondLst>
                                        </p:cTn>
                                        <p:tgtEl>
                                          <p:spTgt spid="4">
                                            <p:txEl>
                                              <p:pRg st="5" end="5"/>
                                            </p:txEl>
                                          </p:spTgt>
                                        </p:tgtEl>
                                        <p:attrNameLst>
                                          <p:attrName>style.visibility</p:attrName>
                                        </p:attrNameLst>
                                      </p:cBhvr>
                                      <p:to>
                                        <p:strVal val="visible"/>
                                      </p:to>
                                    </p:set>
                                  </p:childTnLst>
                                </p:cTn>
                              </p:par>
                            </p:childTnLst>
                          </p:cTn>
                        </p:par>
                      </p:childTnLst>
                    </p:cTn>
                  </p:par>
                  <p:par>
                    <p:cTn id="27" fill="hold">
                      <p:stCondLst>
                        <p:cond delay="indefinite"/>
                      </p:stCondLst>
                      <p:childTnLst>
                        <p:par>
                          <p:cTn id="28" fill="hold">
                            <p:stCondLst>
                              <p:cond delay="0"/>
                            </p:stCondLst>
                            <p:childTnLst>
                              <p:par>
                                <p:cTn id="29" presetID="1" presetClass="entr" presetSubtype="0" fill="hold" grpId="0" nodeType="clickEffect">
                                  <p:stCondLst>
                                    <p:cond delay="0"/>
                                  </p:stCondLst>
                                  <p:childTnLst>
                                    <p:set>
                                      <p:cBhvr>
                                        <p:cTn id="30" dur="1" fill="hold">
                                          <p:stCondLst>
                                            <p:cond delay="0"/>
                                          </p:stCondLst>
                                        </p:cTn>
                                        <p:tgtEl>
                                          <p:spTgt spid="4">
                                            <p:txEl>
                                              <p:pRg st="6" end="6"/>
                                            </p:txEl>
                                          </p:spTgt>
                                        </p:tgtEl>
                                        <p:attrNameLst>
                                          <p:attrName>style.visibility</p:attrName>
                                        </p:attrNameLst>
                                      </p:cBhvr>
                                      <p:to>
                                        <p:strVal val="visible"/>
                                      </p:to>
                                    </p:set>
                                  </p:childTnLst>
                                </p:cTn>
                              </p:par>
                            </p:childTnLst>
                          </p:cTn>
                        </p:par>
                      </p:childTnLst>
                    </p:cTn>
                  </p:par>
                  <p:par>
                    <p:cTn id="31" fill="hold">
                      <p:stCondLst>
                        <p:cond delay="indefinite"/>
                      </p:stCondLst>
                      <p:childTnLst>
                        <p:par>
                          <p:cTn id="32" fill="hold">
                            <p:stCondLst>
                              <p:cond delay="0"/>
                            </p:stCondLst>
                            <p:childTnLst>
                              <p:par>
                                <p:cTn id="33" presetID="1" presetClass="entr" presetSubtype="0" fill="hold" grpId="0" nodeType="clickEffect">
                                  <p:stCondLst>
                                    <p:cond delay="0"/>
                                  </p:stCondLst>
                                  <p:childTnLst>
                                    <p:set>
                                      <p:cBhvr>
                                        <p:cTn id="34" dur="1" fill="hold">
                                          <p:stCondLst>
                                            <p:cond delay="0"/>
                                          </p:stCondLst>
                                        </p:cTn>
                                        <p:tgtEl>
                                          <p:spTgt spid="4">
                                            <p:txEl>
                                              <p:pRg st="7" end="7"/>
                                            </p:txEl>
                                          </p:spTgt>
                                        </p:tgtEl>
                                        <p:attrNameLst>
                                          <p:attrName>style.visibility</p:attrName>
                                        </p:attrNameLst>
                                      </p:cBhvr>
                                      <p:to>
                                        <p:strVal val="visible"/>
                                      </p:to>
                                    </p:set>
                                  </p:childTnLst>
                                </p:cTn>
                              </p:par>
                            </p:childTnLst>
                          </p:cTn>
                        </p:par>
                      </p:childTnLst>
                    </p:cTn>
                  </p:par>
                  <p:par>
                    <p:cTn id="35" fill="hold">
                      <p:stCondLst>
                        <p:cond delay="indefinite"/>
                      </p:stCondLst>
                      <p:childTnLst>
                        <p:par>
                          <p:cTn id="36" fill="hold">
                            <p:stCondLst>
                              <p:cond delay="0"/>
                            </p:stCondLst>
                            <p:childTnLst>
                              <p:par>
                                <p:cTn id="37" presetID="1" presetClass="entr" presetSubtype="0" fill="hold" grpId="0" nodeType="clickEffect">
                                  <p:stCondLst>
                                    <p:cond delay="0"/>
                                  </p:stCondLst>
                                  <p:childTnLst>
                                    <p:set>
                                      <p:cBhvr>
                                        <p:cTn id="38" dur="1" fill="hold">
                                          <p:stCondLst>
                                            <p:cond delay="0"/>
                                          </p:stCondLst>
                                        </p:cTn>
                                        <p:tgtEl>
                                          <p:spTgt spid="4">
                                            <p:txEl>
                                              <p:pRg st="8" end="8"/>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build="p"/>
    </p:bldLst>
  </p:timing>
</p:sld>
</file>

<file path=ppt/slides/slide6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D36D137-D53F-5722-B046-53611212AF87}"/>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DAC8D4E1-6C86-B154-7ACA-E68258ABD925}"/>
              </a:ext>
            </a:extLst>
          </p:cNvPr>
          <p:cNvSpPr>
            <a:spLocks noGrp="1"/>
          </p:cNvSpPr>
          <p:nvPr>
            <p:ph type="title"/>
          </p:nvPr>
        </p:nvSpPr>
        <p:spPr/>
        <p:txBody>
          <a:bodyPr/>
          <a:lstStyle/>
          <a:p>
            <a:r>
              <a:rPr lang="en-US" sz="2800" b="1" dirty="0">
                <a:solidFill>
                  <a:srgbClr val="FF0000"/>
                </a:solidFill>
              </a:rPr>
              <a:t>2. Logical Data Model</a:t>
            </a:r>
          </a:p>
        </p:txBody>
      </p:sp>
      <p:sp>
        <p:nvSpPr>
          <p:cNvPr id="4" name="Text Placeholder 2">
            <a:extLst>
              <a:ext uri="{FF2B5EF4-FFF2-40B4-BE49-F238E27FC236}">
                <a16:creationId xmlns:a16="http://schemas.microsoft.com/office/drawing/2014/main" id="{1154DD2A-1C3C-C4DC-9169-F2E5C78FD73E}"/>
              </a:ext>
            </a:extLst>
          </p:cNvPr>
          <p:cNvSpPr txBox="1">
            <a:spLocks/>
          </p:cNvSpPr>
          <p:nvPr/>
        </p:nvSpPr>
        <p:spPr>
          <a:xfrm>
            <a:off x="551384" y="1016000"/>
            <a:ext cx="11323116" cy="5524500"/>
          </a:xfrm>
          <a:prstGeom prst="rect">
            <a:avLst/>
          </a:prstGeom>
        </p:spPr>
        <p:txBody>
          <a:bodyPr lIns="91440" tIns="45720" rIns="91440" bIns="45720"/>
          <a:lstStyle>
            <a:lvl1pPr marL="548640" indent="-548640" algn="l" defTabSz="914400" rtl="0" eaLnBrk="1" latinLnBrk="0" hangingPunct="1">
              <a:spcBef>
                <a:spcPts val="0"/>
              </a:spcBef>
              <a:spcAft>
                <a:spcPts val="1680"/>
              </a:spcAft>
              <a:buFont typeface="+mj-lt"/>
              <a:buAutoNum type="arabicPeriod"/>
              <a:defRPr sz="2900" kern="1200">
                <a:solidFill>
                  <a:schemeClr val="tx1"/>
                </a:solidFill>
                <a:latin typeface="Roboto Medium" pitchFamily="2" charset="0"/>
                <a:ea typeface="Roboto Medium" pitchFamily="2" charset="0"/>
                <a:cs typeface="Roboto Medium" pitchFamily="2" charset="0"/>
              </a:defRPr>
            </a:lvl1pPr>
            <a:lvl2pPr marL="840106" indent="-548640" algn="l" defTabSz="914400" rtl="0" eaLnBrk="1" latinLnBrk="0" hangingPunct="1">
              <a:spcBef>
                <a:spcPts val="0"/>
              </a:spcBef>
              <a:spcAft>
                <a:spcPts val="1680"/>
              </a:spcAft>
              <a:buFont typeface="+mj-lt"/>
              <a:buAutoNum type="arabicPeriod"/>
              <a:tabLst/>
              <a:defRPr sz="2900" kern="1200">
                <a:solidFill>
                  <a:schemeClr val="tx1"/>
                </a:solidFill>
                <a:latin typeface="Roboto Medium" pitchFamily="2" charset="0"/>
                <a:ea typeface="Roboto Medium" pitchFamily="2" charset="0"/>
                <a:cs typeface="Roboto Medium" pitchFamily="2" charset="0"/>
              </a:defRPr>
            </a:lvl2pPr>
            <a:lvl3pPr marL="712470" indent="0" algn="l" defTabSz="914400" rtl="0" eaLnBrk="1" latinLnBrk="0" hangingPunct="1">
              <a:spcBef>
                <a:spcPts val="0"/>
              </a:spcBef>
              <a:spcAft>
                <a:spcPts val="1680"/>
              </a:spcAft>
              <a:buFont typeface="Arial" pitchFamily="34" charset="0"/>
              <a:buNone/>
              <a:tabLst/>
              <a:defRPr sz="2400" kern="1200">
                <a:solidFill>
                  <a:schemeClr val="bg1"/>
                </a:solidFill>
                <a:latin typeface="+mn-lt"/>
                <a:ea typeface="+mn-ea"/>
                <a:cs typeface="+mn-cs"/>
              </a:defRPr>
            </a:lvl3pPr>
            <a:lvl4pPr marL="1068706" indent="0" algn="l" defTabSz="914400" rtl="0" eaLnBrk="1" latinLnBrk="0" hangingPunct="1">
              <a:spcBef>
                <a:spcPts val="0"/>
              </a:spcBef>
              <a:spcAft>
                <a:spcPts val="1680"/>
              </a:spcAft>
              <a:buFont typeface="Arial" pitchFamily="34" charset="0"/>
              <a:buNone/>
              <a:tabLst/>
              <a:defRPr sz="2200" kern="1200">
                <a:solidFill>
                  <a:schemeClr val="bg1"/>
                </a:solidFill>
                <a:latin typeface="+mn-lt"/>
                <a:ea typeface="+mn-ea"/>
                <a:cs typeface="+mn-cs"/>
              </a:defRPr>
            </a:lvl4pPr>
            <a:lvl5pPr marL="1312544" indent="0" algn="l" defTabSz="914400" rtl="0" eaLnBrk="1" latinLnBrk="0" hangingPunct="1">
              <a:spcBef>
                <a:spcPts val="0"/>
              </a:spcBef>
              <a:spcAft>
                <a:spcPts val="1680"/>
              </a:spcAft>
              <a:buFont typeface="Arial" pitchFamily="34" charset="0"/>
              <a:buNone/>
              <a:tabLst/>
              <a:defRPr sz="2200" kern="1200">
                <a:solidFill>
                  <a:schemeClr val="bg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a:lstStyle>
          <a:p>
            <a:pPr marL="0" indent="0">
              <a:buNone/>
            </a:pPr>
            <a:r>
              <a:rPr lang="en-US" sz="2000" dirty="0"/>
              <a:t>A </a:t>
            </a:r>
            <a:r>
              <a:rPr lang="en-US" sz="2000" b="1" dirty="0"/>
              <a:t>Logical Data Model</a:t>
            </a:r>
            <a:r>
              <a:rPr lang="en-US" sz="2000" dirty="0"/>
              <a:t> builds on the conceptual model by adding more detail. It describes the </a:t>
            </a:r>
            <a:r>
              <a:rPr lang="en-US" sz="2000" dirty="0">
                <a:solidFill>
                  <a:srgbClr val="FF0000"/>
                </a:solidFill>
              </a:rPr>
              <a:t>structure of data</a:t>
            </a:r>
            <a:r>
              <a:rPr lang="en-US" sz="2000" dirty="0"/>
              <a:t>, including attributes and relationships, but still avoids implementation-specific details.</a:t>
            </a:r>
          </a:p>
          <a:p>
            <a:pPr marL="0" indent="0">
              <a:buNone/>
            </a:pPr>
            <a:r>
              <a:rPr lang="en-US" sz="2000" b="1" dirty="0"/>
              <a:t>Audience</a:t>
            </a:r>
            <a:r>
              <a:rPr lang="en-US" sz="2000" dirty="0"/>
              <a:t>: Database designers and architects.</a:t>
            </a:r>
          </a:p>
          <a:p>
            <a:pPr marL="0" indent="0">
              <a:buNone/>
            </a:pPr>
            <a:r>
              <a:rPr lang="en-US" sz="2000" b="1" dirty="0"/>
              <a:t>Purpose</a:t>
            </a:r>
            <a:r>
              <a:rPr lang="en-US" sz="2000" dirty="0"/>
              <a:t>: To refine the data design for a database system.</a:t>
            </a:r>
          </a:p>
          <a:p>
            <a:pPr marL="0" indent="0">
              <a:buNone/>
            </a:pPr>
            <a:r>
              <a:rPr lang="en-US" sz="2000" b="1" dirty="0">
                <a:solidFill>
                  <a:srgbClr val="FF0000"/>
                </a:solidFill>
              </a:rPr>
              <a:t>Features</a:t>
            </a:r>
          </a:p>
          <a:p>
            <a:r>
              <a:rPr lang="en-US" sz="2000" dirty="0"/>
              <a:t>Includes </a:t>
            </a:r>
            <a:r>
              <a:rPr lang="en-US" sz="2000" b="1" dirty="0"/>
              <a:t>entities, attributes</a:t>
            </a:r>
            <a:r>
              <a:rPr lang="en-US" sz="2000" dirty="0"/>
              <a:t>, and </a:t>
            </a:r>
            <a:r>
              <a:rPr lang="en-US" sz="2000" b="1" dirty="0"/>
              <a:t>keys</a:t>
            </a:r>
            <a:r>
              <a:rPr lang="en-US" sz="2000" dirty="0"/>
              <a:t> (e.g., primary and foreign keys).</a:t>
            </a:r>
          </a:p>
          <a:p>
            <a:r>
              <a:rPr lang="en-US" sz="2000" dirty="0"/>
              <a:t>Represents </a:t>
            </a:r>
            <a:r>
              <a:rPr lang="en-US" sz="2000" b="1" dirty="0"/>
              <a:t>normalization</a:t>
            </a:r>
            <a:r>
              <a:rPr lang="en-US" sz="2000" dirty="0"/>
              <a:t> (reduces redundancy).</a:t>
            </a:r>
          </a:p>
          <a:p>
            <a:r>
              <a:rPr lang="en-US" sz="2000" dirty="0"/>
              <a:t>Independent of any specific database or technology.</a:t>
            </a:r>
          </a:p>
        </p:txBody>
      </p:sp>
    </p:spTree>
    <p:extLst>
      <p:ext uri="{BB962C8B-B14F-4D97-AF65-F5344CB8AC3E}">
        <p14:creationId xmlns:p14="http://schemas.microsoft.com/office/powerpoint/2010/main" val="858734718"/>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4">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4">
                                            <p:txEl>
                                              <p:pRg st="1" end="1"/>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grpId="0" nodeType="clickEffect">
                                  <p:stCondLst>
                                    <p:cond delay="0"/>
                                  </p:stCondLst>
                                  <p:childTnLst>
                                    <p:set>
                                      <p:cBhvr>
                                        <p:cTn id="14" dur="1" fill="hold">
                                          <p:stCondLst>
                                            <p:cond delay="0"/>
                                          </p:stCondLst>
                                        </p:cTn>
                                        <p:tgtEl>
                                          <p:spTgt spid="4">
                                            <p:txEl>
                                              <p:pRg st="2" end="2"/>
                                            </p:txEl>
                                          </p:spTgt>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grpId="0" nodeType="clickEffect">
                                  <p:stCondLst>
                                    <p:cond delay="0"/>
                                  </p:stCondLst>
                                  <p:childTnLst>
                                    <p:set>
                                      <p:cBhvr>
                                        <p:cTn id="18" dur="1" fill="hold">
                                          <p:stCondLst>
                                            <p:cond delay="0"/>
                                          </p:stCondLst>
                                        </p:cTn>
                                        <p:tgtEl>
                                          <p:spTgt spid="4">
                                            <p:txEl>
                                              <p:pRg st="3" end="3"/>
                                            </p:txEl>
                                          </p:spTgt>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grpId="0" nodeType="clickEffect">
                                  <p:stCondLst>
                                    <p:cond delay="0"/>
                                  </p:stCondLst>
                                  <p:childTnLst>
                                    <p:set>
                                      <p:cBhvr>
                                        <p:cTn id="22" dur="1" fill="hold">
                                          <p:stCondLst>
                                            <p:cond delay="0"/>
                                          </p:stCondLst>
                                        </p:cTn>
                                        <p:tgtEl>
                                          <p:spTgt spid="4">
                                            <p:txEl>
                                              <p:pRg st="4" end="4"/>
                                            </p:txEl>
                                          </p:spTgt>
                                        </p:tgtEl>
                                        <p:attrNameLst>
                                          <p:attrName>style.visibility</p:attrName>
                                        </p:attrNameLst>
                                      </p:cBhvr>
                                      <p:to>
                                        <p:strVal val="visible"/>
                                      </p:to>
                                    </p:set>
                                  </p:childTnLst>
                                </p:cTn>
                              </p:par>
                            </p:childTnLst>
                          </p:cTn>
                        </p:par>
                      </p:childTnLst>
                    </p:cTn>
                  </p:par>
                  <p:par>
                    <p:cTn id="23" fill="hold">
                      <p:stCondLst>
                        <p:cond delay="indefinite"/>
                      </p:stCondLst>
                      <p:childTnLst>
                        <p:par>
                          <p:cTn id="24" fill="hold">
                            <p:stCondLst>
                              <p:cond delay="0"/>
                            </p:stCondLst>
                            <p:childTnLst>
                              <p:par>
                                <p:cTn id="25" presetID="1" presetClass="entr" presetSubtype="0" fill="hold" grpId="0" nodeType="clickEffect">
                                  <p:stCondLst>
                                    <p:cond delay="0"/>
                                  </p:stCondLst>
                                  <p:childTnLst>
                                    <p:set>
                                      <p:cBhvr>
                                        <p:cTn id="26" dur="1" fill="hold">
                                          <p:stCondLst>
                                            <p:cond delay="0"/>
                                          </p:stCondLst>
                                        </p:cTn>
                                        <p:tgtEl>
                                          <p:spTgt spid="4">
                                            <p:txEl>
                                              <p:pRg st="5" end="5"/>
                                            </p:txEl>
                                          </p:spTgt>
                                        </p:tgtEl>
                                        <p:attrNameLst>
                                          <p:attrName>style.visibility</p:attrName>
                                        </p:attrNameLst>
                                      </p:cBhvr>
                                      <p:to>
                                        <p:strVal val="visible"/>
                                      </p:to>
                                    </p:set>
                                  </p:childTnLst>
                                </p:cTn>
                              </p:par>
                            </p:childTnLst>
                          </p:cTn>
                        </p:par>
                      </p:childTnLst>
                    </p:cTn>
                  </p:par>
                  <p:par>
                    <p:cTn id="27" fill="hold">
                      <p:stCondLst>
                        <p:cond delay="indefinite"/>
                      </p:stCondLst>
                      <p:childTnLst>
                        <p:par>
                          <p:cTn id="28" fill="hold">
                            <p:stCondLst>
                              <p:cond delay="0"/>
                            </p:stCondLst>
                            <p:childTnLst>
                              <p:par>
                                <p:cTn id="29" presetID="1" presetClass="entr" presetSubtype="0" fill="hold" grpId="0" nodeType="clickEffect">
                                  <p:stCondLst>
                                    <p:cond delay="0"/>
                                  </p:stCondLst>
                                  <p:childTnLst>
                                    <p:set>
                                      <p:cBhvr>
                                        <p:cTn id="30" dur="1" fill="hold">
                                          <p:stCondLst>
                                            <p:cond delay="0"/>
                                          </p:stCondLst>
                                        </p:cTn>
                                        <p:tgtEl>
                                          <p:spTgt spid="4">
                                            <p:txEl>
                                              <p:pRg st="6" end="6"/>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build="p"/>
    </p:bldLst>
  </p:timing>
</p:sld>
</file>

<file path=ppt/slides/slide6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ADFA809-1BEC-98D6-4885-94ABA001A9DD}"/>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180D198E-7837-454F-CC36-11E951357E87}"/>
              </a:ext>
            </a:extLst>
          </p:cNvPr>
          <p:cNvSpPr>
            <a:spLocks noGrp="1"/>
          </p:cNvSpPr>
          <p:nvPr>
            <p:ph type="title"/>
          </p:nvPr>
        </p:nvSpPr>
        <p:spPr/>
        <p:txBody>
          <a:bodyPr/>
          <a:lstStyle/>
          <a:p>
            <a:r>
              <a:rPr lang="en-US" sz="2800" b="1" dirty="0">
                <a:solidFill>
                  <a:srgbClr val="FF0000"/>
                </a:solidFill>
              </a:rPr>
              <a:t>2. Logical Data Model</a:t>
            </a:r>
            <a:endParaRPr lang="en-US" b="1" dirty="0">
              <a:solidFill>
                <a:srgbClr val="FF0000"/>
              </a:solidFill>
            </a:endParaRPr>
          </a:p>
        </p:txBody>
      </p:sp>
      <p:sp>
        <p:nvSpPr>
          <p:cNvPr id="4" name="Text Placeholder 2">
            <a:extLst>
              <a:ext uri="{FF2B5EF4-FFF2-40B4-BE49-F238E27FC236}">
                <a16:creationId xmlns:a16="http://schemas.microsoft.com/office/drawing/2014/main" id="{A99F9B73-2EE1-445F-C50C-1378CEE99769}"/>
              </a:ext>
            </a:extLst>
          </p:cNvPr>
          <p:cNvSpPr txBox="1">
            <a:spLocks/>
          </p:cNvSpPr>
          <p:nvPr/>
        </p:nvSpPr>
        <p:spPr>
          <a:xfrm>
            <a:off x="551384" y="1016000"/>
            <a:ext cx="11323116" cy="5524500"/>
          </a:xfrm>
          <a:prstGeom prst="rect">
            <a:avLst/>
          </a:prstGeom>
        </p:spPr>
        <p:txBody>
          <a:bodyPr lIns="91440" tIns="45720" rIns="91440" bIns="45720"/>
          <a:lstStyle>
            <a:lvl1pPr marL="548640" indent="-548640" algn="l" defTabSz="914400" rtl="0" eaLnBrk="1" latinLnBrk="0" hangingPunct="1">
              <a:spcBef>
                <a:spcPts val="0"/>
              </a:spcBef>
              <a:spcAft>
                <a:spcPts val="1680"/>
              </a:spcAft>
              <a:buFont typeface="+mj-lt"/>
              <a:buAutoNum type="arabicPeriod"/>
              <a:defRPr sz="2900" kern="1200">
                <a:solidFill>
                  <a:schemeClr val="tx1"/>
                </a:solidFill>
                <a:latin typeface="Roboto Medium" pitchFamily="2" charset="0"/>
                <a:ea typeface="Roboto Medium" pitchFamily="2" charset="0"/>
                <a:cs typeface="Roboto Medium" pitchFamily="2" charset="0"/>
              </a:defRPr>
            </a:lvl1pPr>
            <a:lvl2pPr marL="840106" indent="-548640" algn="l" defTabSz="914400" rtl="0" eaLnBrk="1" latinLnBrk="0" hangingPunct="1">
              <a:spcBef>
                <a:spcPts val="0"/>
              </a:spcBef>
              <a:spcAft>
                <a:spcPts val="1680"/>
              </a:spcAft>
              <a:buFont typeface="+mj-lt"/>
              <a:buAutoNum type="arabicPeriod"/>
              <a:tabLst/>
              <a:defRPr sz="2900" kern="1200">
                <a:solidFill>
                  <a:schemeClr val="tx1"/>
                </a:solidFill>
                <a:latin typeface="Roboto Medium" pitchFamily="2" charset="0"/>
                <a:ea typeface="Roboto Medium" pitchFamily="2" charset="0"/>
                <a:cs typeface="Roboto Medium" pitchFamily="2" charset="0"/>
              </a:defRPr>
            </a:lvl2pPr>
            <a:lvl3pPr marL="712470" indent="0" algn="l" defTabSz="914400" rtl="0" eaLnBrk="1" latinLnBrk="0" hangingPunct="1">
              <a:spcBef>
                <a:spcPts val="0"/>
              </a:spcBef>
              <a:spcAft>
                <a:spcPts val="1680"/>
              </a:spcAft>
              <a:buFont typeface="Arial" pitchFamily="34" charset="0"/>
              <a:buNone/>
              <a:tabLst/>
              <a:defRPr sz="2400" kern="1200">
                <a:solidFill>
                  <a:schemeClr val="bg1"/>
                </a:solidFill>
                <a:latin typeface="+mn-lt"/>
                <a:ea typeface="+mn-ea"/>
                <a:cs typeface="+mn-cs"/>
              </a:defRPr>
            </a:lvl3pPr>
            <a:lvl4pPr marL="1068706" indent="0" algn="l" defTabSz="914400" rtl="0" eaLnBrk="1" latinLnBrk="0" hangingPunct="1">
              <a:spcBef>
                <a:spcPts val="0"/>
              </a:spcBef>
              <a:spcAft>
                <a:spcPts val="1680"/>
              </a:spcAft>
              <a:buFont typeface="Arial" pitchFamily="34" charset="0"/>
              <a:buNone/>
              <a:tabLst/>
              <a:defRPr sz="2200" kern="1200">
                <a:solidFill>
                  <a:schemeClr val="bg1"/>
                </a:solidFill>
                <a:latin typeface="+mn-lt"/>
                <a:ea typeface="+mn-ea"/>
                <a:cs typeface="+mn-cs"/>
              </a:defRPr>
            </a:lvl4pPr>
            <a:lvl5pPr marL="1312544" indent="0" algn="l" defTabSz="914400" rtl="0" eaLnBrk="1" latinLnBrk="0" hangingPunct="1">
              <a:spcBef>
                <a:spcPts val="0"/>
              </a:spcBef>
              <a:spcAft>
                <a:spcPts val="1680"/>
              </a:spcAft>
              <a:buFont typeface="Arial" pitchFamily="34" charset="0"/>
              <a:buNone/>
              <a:tabLst/>
              <a:defRPr sz="2200" kern="1200">
                <a:solidFill>
                  <a:schemeClr val="bg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a:lstStyle>
          <a:p>
            <a:pPr marL="0" indent="0">
              <a:buNone/>
            </a:pPr>
            <a:r>
              <a:rPr lang="en-IN" b="1" dirty="0"/>
              <a:t>Example: Student Management System (Logical Model)</a:t>
            </a:r>
          </a:p>
          <a:p>
            <a:pPr marL="0" indent="0">
              <a:buNone/>
            </a:pPr>
            <a:r>
              <a:rPr lang="en-IN" b="1" dirty="0"/>
              <a:t>Entities and Attributes</a:t>
            </a:r>
            <a:r>
              <a:rPr lang="en-IN" dirty="0"/>
              <a:t>:</a:t>
            </a:r>
          </a:p>
          <a:p>
            <a:pPr lvl="1"/>
            <a:r>
              <a:rPr lang="en-IN" dirty="0"/>
              <a:t>Student: </a:t>
            </a:r>
            <a:r>
              <a:rPr lang="en-IN" dirty="0" err="1"/>
              <a:t>StudentID</a:t>
            </a:r>
            <a:r>
              <a:rPr lang="en-IN" dirty="0"/>
              <a:t> (Primary Key), Name, Age, Grade.</a:t>
            </a:r>
          </a:p>
          <a:p>
            <a:pPr lvl="1"/>
            <a:r>
              <a:rPr lang="en-IN" dirty="0"/>
              <a:t>Course: </a:t>
            </a:r>
            <a:r>
              <a:rPr lang="en-IN" dirty="0" err="1"/>
              <a:t>CourseID</a:t>
            </a:r>
            <a:r>
              <a:rPr lang="en-IN" dirty="0"/>
              <a:t> (Primary Key), </a:t>
            </a:r>
            <a:r>
              <a:rPr lang="en-IN" dirty="0" err="1"/>
              <a:t>CourseName</a:t>
            </a:r>
            <a:r>
              <a:rPr lang="en-IN" dirty="0"/>
              <a:t>, Credits.</a:t>
            </a:r>
          </a:p>
          <a:p>
            <a:pPr lvl="1"/>
            <a:r>
              <a:rPr lang="en-IN" dirty="0" err="1"/>
              <a:t>Enrollment</a:t>
            </a:r>
            <a:r>
              <a:rPr lang="en-IN" dirty="0"/>
              <a:t>: </a:t>
            </a:r>
            <a:r>
              <a:rPr lang="en-IN" dirty="0" err="1"/>
              <a:t>StudentID</a:t>
            </a:r>
            <a:r>
              <a:rPr lang="en-IN" dirty="0"/>
              <a:t> (Foreign Key), </a:t>
            </a:r>
            <a:r>
              <a:rPr lang="en-IN" dirty="0" err="1"/>
              <a:t>CourseID</a:t>
            </a:r>
            <a:r>
              <a:rPr lang="en-IN" dirty="0"/>
              <a:t> (Foreign Key), </a:t>
            </a:r>
            <a:r>
              <a:rPr lang="en-IN" dirty="0" err="1"/>
              <a:t>EnrollmentDate</a:t>
            </a:r>
            <a:r>
              <a:rPr lang="en-IN" dirty="0"/>
              <a:t>.</a:t>
            </a:r>
          </a:p>
        </p:txBody>
      </p:sp>
    </p:spTree>
    <p:extLst>
      <p:ext uri="{BB962C8B-B14F-4D97-AF65-F5344CB8AC3E}">
        <p14:creationId xmlns:p14="http://schemas.microsoft.com/office/powerpoint/2010/main" val="4238139404"/>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4">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4">
                                            <p:txEl>
                                              <p:pRg st="1" end="1"/>
                                            </p:txEl>
                                          </p:spTgt>
                                        </p:tgtEl>
                                        <p:attrNameLst>
                                          <p:attrName>style.visibility</p:attrName>
                                        </p:attrNameLst>
                                      </p:cBhvr>
                                      <p:to>
                                        <p:strVal val="visible"/>
                                      </p:to>
                                    </p:set>
                                  </p:childTnLst>
                                </p:cTn>
                              </p:par>
                              <p:par>
                                <p:cTn id="11" presetID="1" presetClass="entr" presetSubtype="0" fill="hold" grpId="0" nodeType="withEffect">
                                  <p:stCondLst>
                                    <p:cond delay="0"/>
                                  </p:stCondLst>
                                  <p:childTnLst>
                                    <p:set>
                                      <p:cBhvr>
                                        <p:cTn id="12" dur="1" fill="hold">
                                          <p:stCondLst>
                                            <p:cond delay="0"/>
                                          </p:stCondLst>
                                        </p:cTn>
                                        <p:tgtEl>
                                          <p:spTgt spid="4">
                                            <p:txEl>
                                              <p:pRg st="2" end="2"/>
                                            </p:txEl>
                                          </p:spTgt>
                                        </p:tgtEl>
                                        <p:attrNameLst>
                                          <p:attrName>style.visibility</p:attrName>
                                        </p:attrNameLst>
                                      </p:cBhvr>
                                      <p:to>
                                        <p:strVal val="visible"/>
                                      </p:to>
                                    </p:set>
                                  </p:childTnLst>
                                </p:cTn>
                              </p:par>
                              <p:par>
                                <p:cTn id="13" presetID="1" presetClass="entr" presetSubtype="0" fill="hold" grpId="0" nodeType="withEffect">
                                  <p:stCondLst>
                                    <p:cond delay="0"/>
                                  </p:stCondLst>
                                  <p:childTnLst>
                                    <p:set>
                                      <p:cBhvr>
                                        <p:cTn id="14" dur="1" fill="hold">
                                          <p:stCondLst>
                                            <p:cond delay="0"/>
                                          </p:stCondLst>
                                        </p:cTn>
                                        <p:tgtEl>
                                          <p:spTgt spid="4">
                                            <p:txEl>
                                              <p:pRg st="3" end="3"/>
                                            </p:txEl>
                                          </p:spTgt>
                                        </p:tgtEl>
                                        <p:attrNameLst>
                                          <p:attrName>style.visibility</p:attrName>
                                        </p:attrNameLst>
                                      </p:cBhvr>
                                      <p:to>
                                        <p:strVal val="visible"/>
                                      </p:to>
                                    </p:set>
                                  </p:childTnLst>
                                </p:cTn>
                              </p:par>
                              <p:par>
                                <p:cTn id="15" presetID="1" presetClass="entr" presetSubtype="0" fill="hold" grpId="0" nodeType="withEffect">
                                  <p:stCondLst>
                                    <p:cond delay="0"/>
                                  </p:stCondLst>
                                  <p:childTnLst>
                                    <p:set>
                                      <p:cBhvr>
                                        <p:cTn id="16" dur="1" fill="hold">
                                          <p:stCondLst>
                                            <p:cond delay="0"/>
                                          </p:stCondLst>
                                        </p:cTn>
                                        <p:tgtEl>
                                          <p:spTgt spid="4">
                                            <p:txEl>
                                              <p:pRg st="4" end="4"/>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build="p"/>
    </p:bldLst>
  </p:timing>
</p:sld>
</file>

<file path=ppt/slides/slide6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269788A-87DE-5C82-6F03-1F9732102AB6}"/>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914F8457-9B15-66A0-AEE5-89239D3747EE}"/>
              </a:ext>
            </a:extLst>
          </p:cNvPr>
          <p:cNvSpPr>
            <a:spLocks noGrp="1"/>
          </p:cNvSpPr>
          <p:nvPr>
            <p:ph type="title"/>
          </p:nvPr>
        </p:nvSpPr>
        <p:spPr/>
        <p:txBody>
          <a:bodyPr/>
          <a:lstStyle/>
          <a:p>
            <a:pPr>
              <a:lnSpc>
                <a:spcPct val="115000"/>
              </a:lnSpc>
              <a:spcAft>
                <a:spcPts val="800"/>
              </a:spcAft>
            </a:pPr>
            <a:r>
              <a:rPr lang="en-IN" b="1" kern="100" dirty="0">
                <a:solidFill>
                  <a:srgbClr val="FF0000"/>
                </a:solidFill>
                <a:effectLst/>
                <a:latin typeface="Aptos" panose="020B0004020202020204" pitchFamily="34" charset="0"/>
                <a:ea typeface="Aptos" panose="020B0004020202020204" pitchFamily="34" charset="0"/>
                <a:cs typeface="Times New Roman" panose="02020603050405020304" pitchFamily="18" charset="0"/>
              </a:rPr>
              <a:t>3. Physical Data Model</a:t>
            </a:r>
            <a:endParaRPr lang="en-IN" kern="100" dirty="0">
              <a:solidFill>
                <a:srgbClr val="FF0000"/>
              </a:solidFill>
              <a:effectLst/>
              <a:latin typeface="Aptos" panose="020B0004020202020204" pitchFamily="34" charset="0"/>
              <a:ea typeface="Aptos" panose="020B0004020202020204" pitchFamily="34" charset="0"/>
              <a:cs typeface="Times New Roman" panose="02020603050405020304" pitchFamily="18" charset="0"/>
            </a:endParaRPr>
          </a:p>
        </p:txBody>
      </p:sp>
      <p:sp>
        <p:nvSpPr>
          <p:cNvPr id="4" name="Text Placeholder 2">
            <a:extLst>
              <a:ext uri="{FF2B5EF4-FFF2-40B4-BE49-F238E27FC236}">
                <a16:creationId xmlns:a16="http://schemas.microsoft.com/office/drawing/2014/main" id="{F52A059F-97FA-DBFA-4A9A-4CD85394ADF6}"/>
              </a:ext>
            </a:extLst>
          </p:cNvPr>
          <p:cNvSpPr txBox="1">
            <a:spLocks/>
          </p:cNvSpPr>
          <p:nvPr/>
        </p:nvSpPr>
        <p:spPr>
          <a:xfrm>
            <a:off x="551384" y="1016000"/>
            <a:ext cx="11323116" cy="5524500"/>
          </a:xfrm>
          <a:prstGeom prst="rect">
            <a:avLst/>
          </a:prstGeom>
        </p:spPr>
        <p:txBody>
          <a:bodyPr lIns="91440" tIns="45720" rIns="91440" bIns="45720"/>
          <a:lstStyle>
            <a:lvl1pPr marL="548640" indent="-548640" algn="l" defTabSz="914400" rtl="0" eaLnBrk="1" latinLnBrk="0" hangingPunct="1">
              <a:spcBef>
                <a:spcPts val="0"/>
              </a:spcBef>
              <a:spcAft>
                <a:spcPts val="1680"/>
              </a:spcAft>
              <a:buFont typeface="+mj-lt"/>
              <a:buAutoNum type="arabicPeriod"/>
              <a:defRPr sz="2900" kern="1200">
                <a:solidFill>
                  <a:schemeClr val="tx1"/>
                </a:solidFill>
                <a:latin typeface="Roboto Medium" pitchFamily="2" charset="0"/>
                <a:ea typeface="Roboto Medium" pitchFamily="2" charset="0"/>
                <a:cs typeface="Roboto Medium" pitchFamily="2" charset="0"/>
              </a:defRPr>
            </a:lvl1pPr>
            <a:lvl2pPr marL="840106" indent="-548640" algn="l" defTabSz="914400" rtl="0" eaLnBrk="1" latinLnBrk="0" hangingPunct="1">
              <a:spcBef>
                <a:spcPts val="0"/>
              </a:spcBef>
              <a:spcAft>
                <a:spcPts val="1680"/>
              </a:spcAft>
              <a:buFont typeface="+mj-lt"/>
              <a:buAutoNum type="arabicPeriod"/>
              <a:tabLst/>
              <a:defRPr sz="2900" kern="1200">
                <a:solidFill>
                  <a:schemeClr val="tx1"/>
                </a:solidFill>
                <a:latin typeface="Roboto Medium" pitchFamily="2" charset="0"/>
                <a:ea typeface="Roboto Medium" pitchFamily="2" charset="0"/>
                <a:cs typeface="Roboto Medium" pitchFamily="2" charset="0"/>
              </a:defRPr>
            </a:lvl2pPr>
            <a:lvl3pPr marL="712470" indent="0" algn="l" defTabSz="914400" rtl="0" eaLnBrk="1" latinLnBrk="0" hangingPunct="1">
              <a:spcBef>
                <a:spcPts val="0"/>
              </a:spcBef>
              <a:spcAft>
                <a:spcPts val="1680"/>
              </a:spcAft>
              <a:buFont typeface="Arial" pitchFamily="34" charset="0"/>
              <a:buNone/>
              <a:tabLst/>
              <a:defRPr sz="2400" kern="1200">
                <a:solidFill>
                  <a:schemeClr val="bg1"/>
                </a:solidFill>
                <a:latin typeface="+mn-lt"/>
                <a:ea typeface="+mn-ea"/>
                <a:cs typeface="+mn-cs"/>
              </a:defRPr>
            </a:lvl3pPr>
            <a:lvl4pPr marL="1068706" indent="0" algn="l" defTabSz="914400" rtl="0" eaLnBrk="1" latinLnBrk="0" hangingPunct="1">
              <a:spcBef>
                <a:spcPts val="0"/>
              </a:spcBef>
              <a:spcAft>
                <a:spcPts val="1680"/>
              </a:spcAft>
              <a:buFont typeface="Arial" pitchFamily="34" charset="0"/>
              <a:buNone/>
              <a:tabLst/>
              <a:defRPr sz="2200" kern="1200">
                <a:solidFill>
                  <a:schemeClr val="bg1"/>
                </a:solidFill>
                <a:latin typeface="+mn-lt"/>
                <a:ea typeface="+mn-ea"/>
                <a:cs typeface="+mn-cs"/>
              </a:defRPr>
            </a:lvl4pPr>
            <a:lvl5pPr marL="1312544" indent="0" algn="l" defTabSz="914400" rtl="0" eaLnBrk="1" latinLnBrk="0" hangingPunct="1">
              <a:spcBef>
                <a:spcPts val="0"/>
              </a:spcBef>
              <a:spcAft>
                <a:spcPts val="1680"/>
              </a:spcAft>
              <a:buFont typeface="Arial" pitchFamily="34" charset="0"/>
              <a:buNone/>
              <a:tabLst/>
              <a:defRPr sz="2200" kern="1200">
                <a:solidFill>
                  <a:schemeClr val="bg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a:lstStyle>
          <a:p>
            <a:pPr marL="0" indent="0" algn="just">
              <a:buNone/>
            </a:pPr>
            <a:r>
              <a:rPr lang="en-IN" sz="2400" dirty="0"/>
              <a:t>The </a:t>
            </a:r>
            <a:r>
              <a:rPr lang="en-IN" sz="2400" b="1" dirty="0"/>
              <a:t>Physical Data Model</a:t>
            </a:r>
            <a:r>
              <a:rPr lang="en-IN" sz="2400" dirty="0"/>
              <a:t> translates the logical model into a design that can be implemented in a specific database system. It includes technical details like table </a:t>
            </a:r>
            <a:r>
              <a:rPr lang="en-IN" sz="2400" dirty="0">
                <a:solidFill>
                  <a:srgbClr val="FF0000"/>
                </a:solidFill>
              </a:rPr>
              <a:t>structures, data types, indexes, and constraints.</a:t>
            </a:r>
          </a:p>
          <a:p>
            <a:pPr marL="0" lvl="0" indent="0" algn="just">
              <a:buNone/>
            </a:pPr>
            <a:r>
              <a:rPr lang="en-IN" sz="2400" b="1" dirty="0"/>
              <a:t>Audience</a:t>
            </a:r>
            <a:r>
              <a:rPr lang="en-IN" sz="2400" dirty="0"/>
              <a:t>: Database administrators (DBAs) and developers.</a:t>
            </a:r>
          </a:p>
          <a:p>
            <a:pPr marL="0" lvl="0" indent="0" algn="just">
              <a:buNone/>
            </a:pPr>
            <a:r>
              <a:rPr lang="en-IN" sz="2400" b="1" dirty="0"/>
              <a:t>Purpose</a:t>
            </a:r>
            <a:r>
              <a:rPr lang="en-IN" sz="2400" dirty="0"/>
              <a:t>: To implement the database system with optimized performance.</a:t>
            </a:r>
          </a:p>
          <a:p>
            <a:pPr marL="0" indent="0" algn="just">
              <a:buNone/>
            </a:pPr>
            <a:r>
              <a:rPr lang="en-IN" sz="2400" b="1" dirty="0"/>
              <a:t>Features</a:t>
            </a:r>
            <a:endParaRPr lang="en-IN" sz="2400" dirty="0"/>
          </a:p>
          <a:p>
            <a:pPr lvl="0" algn="just"/>
            <a:r>
              <a:rPr lang="en-IN" sz="2400" dirty="0"/>
              <a:t>Defines </a:t>
            </a:r>
            <a:r>
              <a:rPr lang="en-IN" sz="2400" b="1" dirty="0"/>
              <a:t>tables, columns, and data types</a:t>
            </a:r>
            <a:r>
              <a:rPr lang="en-IN" sz="2400" dirty="0"/>
              <a:t> (e.g., VARCHAR, INT).</a:t>
            </a:r>
          </a:p>
          <a:p>
            <a:pPr marL="0" lvl="0" indent="0">
              <a:buNone/>
            </a:pPr>
            <a:r>
              <a:rPr lang="en-IN" dirty="0"/>
              <a:t>.</a:t>
            </a:r>
          </a:p>
          <a:p>
            <a:pPr marL="0" indent="0">
              <a:buNone/>
            </a:pPr>
            <a:endParaRPr lang="en-US" sz="2000" dirty="0"/>
          </a:p>
          <a:p>
            <a:pPr marL="0" indent="0">
              <a:buNone/>
            </a:pPr>
            <a:endParaRPr lang="en-US" sz="2000" dirty="0"/>
          </a:p>
        </p:txBody>
      </p:sp>
    </p:spTree>
    <p:extLst>
      <p:ext uri="{BB962C8B-B14F-4D97-AF65-F5344CB8AC3E}">
        <p14:creationId xmlns:p14="http://schemas.microsoft.com/office/powerpoint/2010/main" val="4044860478"/>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4">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4">
                                            <p:txEl>
                                              <p:pRg st="1" end="1"/>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grpId="0" nodeType="clickEffect">
                                  <p:stCondLst>
                                    <p:cond delay="0"/>
                                  </p:stCondLst>
                                  <p:childTnLst>
                                    <p:set>
                                      <p:cBhvr>
                                        <p:cTn id="14" dur="1" fill="hold">
                                          <p:stCondLst>
                                            <p:cond delay="0"/>
                                          </p:stCondLst>
                                        </p:cTn>
                                        <p:tgtEl>
                                          <p:spTgt spid="4">
                                            <p:txEl>
                                              <p:pRg st="2" end="2"/>
                                            </p:txEl>
                                          </p:spTgt>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grpId="0" nodeType="clickEffect">
                                  <p:stCondLst>
                                    <p:cond delay="0"/>
                                  </p:stCondLst>
                                  <p:childTnLst>
                                    <p:set>
                                      <p:cBhvr>
                                        <p:cTn id="18" dur="1" fill="hold">
                                          <p:stCondLst>
                                            <p:cond delay="0"/>
                                          </p:stCondLst>
                                        </p:cTn>
                                        <p:tgtEl>
                                          <p:spTgt spid="4">
                                            <p:txEl>
                                              <p:pRg st="3" end="3"/>
                                            </p:txEl>
                                          </p:spTgt>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grpId="0" nodeType="clickEffect">
                                  <p:stCondLst>
                                    <p:cond delay="0"/>
                                  </p:stCondLst>
                                  <p:childTnLst>
                                    <p:set>
                                      <p:cBhvr>
                                        <p:cTn id="22" dur="1" fill="hold">
                                          <p:stCondLst>
                                            <p:cond delay="0"/>
                                          </p:stCondLst>
                                        </p:cTn>
                                        <p:tgtEl>
                                          <p:spTgt spid="4">
                                            <p:txEl>
                                              <p:pRg st="4" end="4"/>
                                            </p:txEl>
                                          </p:spTgt>
                                        </p:tgtEl>
                                        <p:attrNameLst>
                                          <p:attrName>style.visibility</p:attrName>
                                        </p:attrNameLst>
                                      </p:cBhvr>
                                      <p:to>
                                        <p:strVal val="visible"/>
                                      </p:to>
                                    </p:set>
                                  </p:childTnLst>
                                </p:cTn>
                              </p:par>
                            </p:childTnLst>
                          </p:cTn>
                        </p:par>
                      </p:childTnLst>
                    </p:cTn>
                  </p:par>
                  <p:par>
                    <p:cTn id="23" fill="hold">
                      <p:stCondLst>
                        <p:cond delay="indefinite"/>
                      </p:stCondLst>
                      <p:childTnLst>
                        <p:par>
                          <p:cTn id="24" fill="hold">
                            <p:stCondLst>
                              <p:cond delay="0"/>
                            </p:stCondLst>
                            <p:childTnLst>
                              <p:par>
                                <p:cTn id="25" presetID="1" presetClass="entr" presetSubtype="0" fill="hold" grpId="0" nodeType="clickEffect">
                                  <p:stCondLst>
                                    <p:cond delay="0"/>
                                  </p:stCondLst>
                                  <p:childTnLst>
                                    <p:set>
                                      <p:cBhvr>
                                        <p:cTn id="26" dur="1" fill="hold">
                                          <p:stCondLst>
                                            <p:cond delay="0"/>
                                          </p:stCondLst>
                                        </p:cTn>
                                        <p:tgtEl>
                                          <p:spTgt spid="4">
                                            <p:txEl>
                                              <p:pRg st="5" end="5"/>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build="p"/>
    </p:bldLst>
  </p:timing>
</p:sld>
</file>

<file path=ppt/slides/slide7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4F642EB-A084-DEA8-DD45-671728022C32}"/>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30DCA6FF-582B-3CC0-0ACD-34871BE6C5CF}"/>
              </a:ext>
            </a:extLst>
          </p:cNvPr>
          <p:cNvSpPr>
            <a:spLocks noGrp="1"/>
          </p:cNvSpPr>
          <p:nvPr>
            <p:ph type="title"/>
          </p:nvPr>
        </p:nvSpPr>
        <p:spPr/>
        <p:txBody>
          <a:bodyPr/>
          <a:lstStyle/>
          <a:p>
            <a:r>
              <a:rPr lang="en-IN" b="1" kern="100" dirty="0">
                <a:solidFill>
                  <a:srgbClr val="FF0000"/>
                </a:solidFill>
                <a:effectLst/>
                <a:latin typeface="Aptos" panose="020B0004020202020204" pitchFamily="34" charset="0"/>
                <a:ea typeface="Aptos" panose="020B0004020202020204" pitchFamily="34" charset="0"/>
                <a:cs typeface="Times New Roman" panose="02020603050405020304" pitchFamily="18" charset="0"/>
              </a:rPr>
              <a:t>3. Physical Data Model</a:t>
            </a:r>
            <a:endParaRPr lang="en-US" b="1" dirty="0">
              <a:solidFill>
                <a:srgbClr val="FF0000"/>
              </a:solidFill>
            </a:endParaRPr>
          </a:p>
        </p:txBody>
      </p:sp>
      <p:sp>
        <p:nvSpPr>
          <p:cNvPr id="4" name="Text Placeholder 2">
            <a:extLst>
              <a:ext uri="{FF2B5EF4-FFF2-40B4-BE49-F238E27FC236}">
                <a16:creationId xmlns:a16="http://schemas.microsoft.com/office/drawing/2014/main" id="{BE96E287-F10C-F0E1-B154-93A24D5F695C}"/>
              </a:ext>
            </a:extLst>
          </p:cNvPr>
          <p:cNvSpPr txBox="1">
            <a:spLocks/>
          </p:cNvSpPr>
          <p:nvPr/>
        </p:nvSpPr>
        <p:spPr>
          <a:xfrm>
            <a:off x="551384" y="1016000"/>
            <a:ext cx="11323116" cy="5524500"/>
          </a:xfrm>
          <a:prstGeom prst="rect">
            <a:avLst/>
          </a:prstGeom>
        </p:spPr>
        <p:txBody>
          <a:bodyPr lIns="91440" tIns="45720" rIns="91440" bIns="45720"/>
          <a:lstStyle>
            <a:lvl1pPr marL="548640" indent="-548640" algn="l" defTabSz="914400" rtl="0" eaLnBrk="1" latinLnBrk="0" hangingPunct="1">
              <a:spcBef>
                <a:spcPts val="0"/>
              </a:spcBef>
              <a:spcAft>
                <a:spcPts val="1680"/>
              </a:spcAft>
              <a:buFont typeface="+mj-lt"/>
              <a:buAutoNum type="arabicPeriod"/>
              <a:defRPr sz="2900" kern="1200">
                <a:solidFill>
                  <a:schemeClr val="tx1"/>
                </a:solidFill>
                <a:latin typeface="Roboto Medium" pitchFamily="2" charset="0"/>
                <a:ea typeface="Roboto Medium" pitchFamily="2" charset="0"/>
                <a:cs typeface="Roboto Medium" pitchFamily="2" charset="0"/>
              </a:defRPr>
            </a:lvl1pPr>
            <a:lvl2pPr marL="840106" indent="-548640" algn="l" defTabSz="914400" rtl="0" eaLnBrk="1" latinLnBrk="0" hangingPunct="1">
              <a:spcBef>
                <a:spcPts val="0"/>
              </a:spcBef>
              <a:spcAft>
                <a:spcPts val="1680"/>
              </a:spcAft>
              <a:buFont typeface="+mj-lt"/>
              <a:buAutoNum type="arabicPeriod"/>
              <a:tabLst/>
              <a:defRPr sz="2900" kern="1200">
                <a:solidFill>
                  <a:schemeClr val="tx1"/>
                </a:solidFill>
                <a:latin typeface="Roboto Medium" pitchFamily="2" charset="0"/>
                <a:ea typeface="Roboto Medium" pitchFamily="2" charset="0"/>
                <a:cs typeface="Roboto Medium" pitchFamily="2" charset="0"/>
              </a:defRPr>
            </a:lvl2pPr>
            <a:lvl3pPr marL="712470" indent="0" algn="l" defTabSz="914400" rtl="0" eaLnBrk="1" latinLnBrk="0" hangingPunct="1">
              <a:spcBef>
                <a:spcPts val="0"/>
              </a:spcBef>
              <a:spcAft>
                <a:spcPts val="1680"/>
              </a:spcAft>
              <a:buFont typeface="Arial" pitchFamily="34" charset="0"/>
              <a:buNone/>
              <a:tabLst/>
              <a:defRPr sz="2400" kern="1200">
                <a:solidFill>
                  <a:schemeClr val="bg1"/>
                </a:solidFill>
                <a:latin typeface="+mn-lt"/>
                <a:ea typeface="+mn-ea"/>
                <a:cs typeface="+mn-cs"/>
              </a:defRPr>
            </a:lvl3pPr>
            <a:lvl4pPr marL="1068706" indent="0" algn="l" defTabSz="914400" rtl="0" eaLnBrk="1" latinLnBrk="0" hangingPunct="1">
              <a:spcBef>
                <a:spcPts val="0"/>
              </a:spcBef>
              <a:spcAft>
                <a:spcPts val="1680"/>
              </a:spcAft>
              <a:buFont typeface="Arial" pitchFamily="34" charset="0"/>
              <a:buNone/>
              <a:tabLst/>
              <a:defRPr sz="2200" kern="1200">
                <a:solidFill>
                  <a:schemeClr val="bg1"/>
                </a:solidFill>
                <a:latin typeface="+mn-lt"/>
                <a:ea typeface="+mn-ea"/>
                <a:cs typeface="+mn-cs"/>
              </a:defRPr>
            </a:lvl4pPr>
            <a:lvl5pPr marL="1312544" indent="0" algn="l" defTabSz="914400" rtl="0" eaLnBrk="1" latinLnBrk="0" hangingPunct="1">
              <a:spcBef>
                <a:spcPts val="0"/>
              </a:spcBef>
              <a:spcAft>
                <a:spcPts val="1680"/>
              </a:spcAft>
              <a:buFont typeface="Arial" pitchFamily="34" charset="0"/>
              <a:buNone/>
              <a:tabLst/>
              <a:defRPr sz="2200" kern="1200">
                <a:solidFill>
                  <a:schemeClr val="bg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a:lstStyle>
          <a:p>
            <a:pPr marL="0" indent="0">
              <a:buNone/>
            </a:pPr>
            <a:r>
              <a:rPr lang="en-US" sz="2400" b="1" dirty="0">
                <a:solidFill>
                  <a:srgbClr val="FF0000"/>
                </a:solidFill>
              </a:rPr>
              <a:t>Example:</a:t>
            </a:r>
          </a:p>
          <a:p>
            <a:pPr marL="0" indent="0">
              <a:buNone/>
            </a:pPr>
            <a:r>
              <a:rPr lang="en-US" sz="2000" dirty="0"/>
              <a:t>CREATE TABLE Student (</a:t>
            </a:r>
            <a:r>
              <a:rPr lang="en-US" sz="2000" dirty="0" err="1"/>
              <a:t>StudentID</a:t>
            </a:r>
            <a:r>
              <a:rPr lang="en-US" sz="2000" dirty="0"/>
              <a:t> INT PRIMARY </a:t>
            </a:r>
            <a:r>
              <a:rPr lang="en-US" sz="2000" dirty="0" err="1"/>
              <a:t>KEY,Name</a:t>
            </a:r>
            <a:r>
              <a:rPr lang="en-US" sz="2000" dirty="0"/>
              <a:t> VARCHAR(100),Age </a:t>
            </a:r>
            <a:r>
              <a:rPr lang="en-US" sz="2000" dirty="0" err="1"/>
              <a:t>INT,Grade</a:t>
            </a:r>
            <a:r>
              <a:rPr lang="en-US" sz="2000" dirty="0"/>
              <a:t> VARCHAR(10));</a:t>
            </a:r>
          </a:p>
          <a:p>
            <a:pPr marL="0" indent="0">
              <a:buNone/>
            </a:pPr>
            <a:endParaRPr lang="en-US" sz="2000" dirty="0"/>
          </a:p>
          <a:p>
            <a:pPr marL="0" indent="0">
              <a:buNone/>
            </a:pPr>
            <a:r>
              <a:rPr lang="en-US" sz="2000" dirty="0"/>
              <a:t>CREATE TABLE Course (</a:t>
            </a:r>
            <a:r>
              <a:rPr lang="en-US" sz="2000" dirty="0" err="1"/>
              <a:t>CourseID</a:t>
            </a:r>
            <a:r>
              <a:rPr lang="en-US" sz="2000" dirty="0"/>
              <a:t> INT PRIMARY </a:t>
            </a:r>
            <a:r>
              <a:rPr lang="en-US" sz="2000" dirty="0" err="1"/>
              <a:t>KEY,CourseName</a:t>
            </a:r>
            <a:r>
              <a:rPr lang="en-US" sz="2000" dirty="0"/>
              <a:t> VARCHAR(100),Credits INT);</a:t>
            </a:r>
          </a:p>
          <a:p>
            <a:pPr marL="0" indent="0">
              <a:buNone/>
            </a:pPr>
            <a:endParaRPr lang="en-US" sz="2000" dirty="0"/>
          </a:p>
          <a:p>
            <a:pPr marL="0" indent="0">
              <a:buNone/>
            </a:pPr>
            <a:r>
              <a:rPr lang="en-US" sz="2000" dirty="0"/>
              <a:t>CREATE TABLE Enrollment (</a:t>
            </a:r>
            <a:r>
              <a:rPr lang="en-US" sz="2000" dirty="0" err="1"/>
              <a:t>StudentID</a:t>
            </a:r>
            <a:r>
              <a:rPr lang="en-US" sz="2000" dirty="0"/>
              <a:t> </a:t>
            </a:r>
            <a:r>
              <a:rPr lang="en-US" sz="2000" dirty="0" err="1"/>
              <a:t>INT,CourseID</a:t>
            </a:r>
            <a:r>
              <a:rPr lang="en-US" sz="2000" dirty="0"/>
              <a:t> INT, </a:t>
            </a:r>
            <a:r>
              <a:rPr lang="en-US" sz="2000" dirty="0" err="1"/>
              <a:t>EnrollmentDate</a:t>
            </a:r>
            <a:r>
              <a:rPr lang="en-US" sz="2000" dirty="0"/>
              <a:t> DATE,</a:t>
            </a:r>
          </a:p>
          <a:p>
            <a:pPr marL="0" indent="0">
              <a:buNone/>
            </a:pPr>
            <a:r>
              <a:rPr lang="en-US" sz="2000"/>
              <a:t>    FOREIGN </a:t>
            </a:r>
            <a:r>
              <a:rPr lang="en-US" sz="2000" dirty="0"/>
              <a:t>KEY (</a:t>
            </a:r>
            <a:r>
              <a:rPr lang="en-US" sz="2000" dirty="0" err="1"/>
              <a:t>StudentID</a:t>
            </a:r>
            <a:r>
              <a:rPr lang="en-US" sz="2000" dirty="0"/>
              <a:t>) REFERENCES Student(</a:t>
            </a:r>
            <a:r>
              <a:rPr lang="en-US" sz="2000" dirty="0" err="1"/>
              <a:t>StudentID</a:t>
            </a:r>
            <a:r>
              <a:rPr lang="en-US" sz="2000" dirty="0"/>
              <a:t>),</a:t>
            </a:r>
          </a:p>
          <a:p>
            <a:pPr marL="0" indent="0">
              <a:buNone/>
            </a:pPr>
            <a:r>
              <a:rPr lang="en-US" sz="2000" dirty="0"/>
              <a:t>    FOREIGN KEY (</a:t>
            </a:r>
            <a:r>
              <a:rPr lang="en-US" sz="2000" dirty="0" err="1"/>
              <a:t>CourseID</a:t>
            </a:r>
            <a:r>
              <a:rPr lang="en-US" sz="2000" dirty="0"/>
              <a:t>) REFERENCES Course(</a:t>
            </a:r>
            <a:r>
              <a:rPr lang="en-US" sz="2000" dirty="0" err="1"/>
              <a:t>CourseID</a:t>
            </a:r>
            <a:r>
              <a:rPr lang="en-US" sz="2000" dirty="0"/>
              <a:t>));</a:t>
            </a:r>
          </a:p>
        </p:txBody>
      </p:sp>
    </p:spTree>
    <p:extLst>
      <p:ext uri="{BB962C8B-B14F-4D97-AF65-F5344CB8AC3E}">
        <p14:creationId xmlns:p14="http://schemas.microsoft.com/office/powerpoint/2010/main" val="522838005"/>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4">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4">
                                            <p:txEl>
                                              <p:pRg st="1" end="1"/>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grpId="0" nodeType="clickEffect">
                                  <p:stCondLst>
                                    <p:cond delay="0"/>
                                  </p:stCondLst>
                                  <p:childTnLst>
                                    <p:set>
                                      <p:cBhvr>
                                        <p:cTn id="14" dur="1" fill="hold">
                                          <p:stCondLst>
                                            <p:cond delay="0"/>
                                          </p:stCondLst>
                                        </p:cTn>
                                        <p:tgtEl>
                                          <p:spTgt spid="4">
                                            <p:txEl>
                                              <p:pRg st="3" end="3"/>
                                            </p:txEl>
                                          </p:spTgt>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grpId="0" nodeType="clickEffect">
                                  <p:stCondLst>
                                    <p:cond delay="0"/>
                                  </p:stCondLst>
                                  <p:childTnLst>
                                    <p:set>
                                      <p:cBhvr>
                                        <p:cTn id="18" dur="1" fill="hold">
                                          <p:stCondLst>
                                            <p:cond delay="0"/>
                                          </p:stCondLst>
                                        </p:cTn>
                                        <p:tgtEl>
                                          <p:spTgt spid="4">
                                            <p:txEl>
                                              <p:pRg st="5" end="5"/>
                                            </p:txEl>
                                          </p:spTgt>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grpId="0" nodeType="clickEffect">
                                  <p:stCondLst>
                                    <p:cond delay="0"/>
                                  </p:stCondLst>
                                  <p:childTnLst>
                                    <p:set>
                                      <p:cBhvr>
                                        <p:cTn id="22" dur="1" fill="hold">
                                          <p:stCondLst>
                                            <p:cond delay="0"/>
                                          </p:stCondLst>
                                        </p:cTn>
                                        <p:tgtEl>
                                          <p:spTgt spid="4">
                                            <p:txEl>
                                              <p:pRg st="6" end="6"/>
                                            </p:txEl>
                                          </p:spTgt>
                                        </p:tgtEl>
                                        <p:attrNameLst>
                                          <p:attrName>style.visibility</p:attrName>
                                        </p:attrNameLst>
                                      </p:cBhvr>
                                      <p:to>
                                        <p:strVal val="visible"/>
                                      </p:to>
                                    </p:set>
                                  </p:childTnLst>
                                </p:cTn>
                              </p:par>
                            </p:childTnLst>
                          </p:cTn>
                        </p:par>
                      </p:childTnLst>
                    </p:cTn>
                  </p:par>
                  <p:par>
                    <p:cTn id="23" fill="hold">
                      <p:stCondLst>
                        <p:cond delay="indefinite"/>
                      </p:stCondLst>
                      <p:childTnLst>
                        <p:par>
                          <p:cTn id="24" fill="hold">
                            <p:stCondLst>
                              <p:cond delay="0"/>
                            </p:stCondLst>
                            <p:childTnLst>
                              <p:par>
                                <p:cTn id="25" presetID="1" presetClass="entr" presetSubtype="0" fill="hold" grpId="0" nodeType="clickEffect">
                                  <p:stCondLst>
                                    <p:cond delay="0"/>
                                  </p:stCondLst>
                                  <p:childTnLst>
                                    <p:set>
                                      <p:cBhvr>
                                        <p:cTn id="26" dur="1" fill="hold">
                                          <p:stCondLst>
                                            <p:cond delay="0"/>
                                          </p:stCondLst>
                                        </p:cTn>
                                        <p:tgtEl>
                                          <p:spTgt spid="4">
                                            <p:txEl>
                                              <p:pRg st="7" end="7"/>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build="p"/>
    </p:bldLst>
  </p:timing>
</p:sld>
</file>

<file path=ppt/slides/slide7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A9C3761-6674-2AC7-A2E7-CC5C4FB7E45D}"/>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556166AD-355A-68FB-8CA6-FBBD432F5482}"/>
              </a:ext>
            </a:extLst>
          </p:cNvPr>
          <p:cNvSpPr>
            <a:spLocks noGrp="1"/>
          </p:cNvSpPr>
          <p:nvPr>
            <p:ph type="title"/>
          </p:nvPr>
        </p:nvSpPr>
        <p:spPr/>
        <p:txBody>
          <a:bodyPr/>
          <a:lstStyle/>
          <a:p>
            <a:r>
              <a:rPr lang="en-IN" dirty="0">
                <a:solidFill>
                  <a:srgbClr val="FF0000"/>
                </a:solidFill>
              </a:rPr>
              <a:t>4. Hierarchical Data Model</a:t>
            </a:r>
            <a:endParaRPr lang="en-US" b="1" dirty="0">
              <a:solidFill>
                <a:srgbClr val="FF0000"/>
              </a:solidFill>
            </a:endParaRPr>
          </a:p>
        </p:txBody>
      </p:sp>
      <p:sp>
        <p:nvSpPr>
          <p:cNvPr id="4" name="Text Placeholder 2">
            <a:extLst>
              <a:ext uri="{FF2B5EF4-FFF2-40B4-BE49-F238E27FC236}">
                <a16:creationId xmlns:a16="http://schemas.microsoft.com/office/drawing/2014/main" id="{92963423-B014-07C0-D05E-B5C8917B2D11}"/>
              </a:ext>
            </a:extLst>
          </p:cNvPr>
          <p:cNvSpPr txBox="1">
            <a:spLocks/>
          </p:cNvSpPr>
          <p:nvPr/>
        </p:nvSpPr>
        <p:spPr>
          <a:xfrm>
            <a:off x="551384" y="1016000"/>
            <a:ext cx="11323116" cy="5524500"/>
          </a:xfrm>
          <a:prstGeom prst="rect">
            <a:avLst/>
          </a:prstGeom>
        </p:spPr>
        <p:txBody>
          <a:bodyPr lIns="91440" tIns="45720" rIns="91440" bIns="45720"/>
          <a:lstStyle>
            <a:lvl1pPr marL="548640" indent="-548640" algn="l" defTabSz="914400" rtl="0" eaLnBrk="1" latinLnBrk="0" hangingPunct="1">
              <a:spcBef>
                <a:spcPts val="0"/>
              </a:spcBef>
              <a:spcAft>
                <a:spcPts val="1680"/>
              </a:spcAft>
              <a:buFont typeface="+mj-lt"/>
              <a:buAutoNum type="arabicPeriod"/>
              <a:defRPr sz="2900" kern="1200">
                <a:solidFill>
                  <a:schemeClr val="tx1"/>
                </a:solidFill>
                <a:latin typeface="Roboto Medium" pitchFamily="2" charset="0"/>
                <a:ea typeface="Roboto Medium" pitchFamily="2" charset="0"/>
                <a:cs typeface="Roboto Medium" pitchFamily="2" charset="0"/>
              </a:defRPr>
            </a:lvl1pPr>
            <a:lvl2pPr marL="840106" indent="-548640" algn="l" defTabSz="914400" rtl="0" eaLnBrk="1" latinLnBrk="0" hangingPunct="1">
              <a:spcBef>
                <a:spcPts val="0"/>
              </a:spcBef>
              <a:spcAft>
                <a:spcPts val="1680"/>
              </a:spcAft>
              <a:buFont typeface="+mj-lt"/>
              <a:buAutoNum type="arabicPeriod"/>
              <a:tabLst/>
              <a:defRPr sz="2900" kern="1200">
                <a:solidFill>
                  <a:schemeClr val="tx1"/>
                </a:solidFill>
                <a:latin typeface="Roboto Medium" pitchFamily="2" charset="0"/>
                <a:ea typeface="Roboto Medium" pitchFamily="2" charset="0"/>
                <a:cs typeface="Roboto Medium" pitchFamily="2" charset="0"/>
              </a:defRPr>
            </a:lvl2pPr>
            <a:lvl3pPr marL="712470" indent="0" algn="l" defTabSz="914400" rtl="0" eaLnBrk="1" latinLnBrk="0" hangingPunct="1">
              <a:spcBef>
                <a:spcPts val="0"/>
              </a:spcBef>
              <a:spcAft>
                <a:spcPts val="1680"/>
              </a:spcAft>
              <a:buFont typeface="Arial" pitchFamily="34" charset="0"/>
              <a:buNone/>
              <a:tabLst/>
              <a:defRPr sz="2400" kern="1200">
                <a:solidFill>
                  <a:schemeClr val="bg1"/>
                </a:solidFill>
                <a:latin typeface="+mn-lt"/>
                <a:ea typeface="+mn-ea"/>
                <a:cs typeface="+mn-cs"/>
              </a:defRPr>
            </a:lvl3pPr>
            <a:lvl4pPr marL="1068706" indent="0" algn="l" defTabSz="914400" rtl="0" eaLnBrk="1" latinLnBrk="0" hangingPunct="1">
              <a:spcBef>
                <a:spcPts val="0"/>
              </a:spcBef>
              <a:spcAft>
                <a:spcPts val="1680"/>
              </a:spcAft>
              <a:buFont typeface="Arial" pitchFamily="34" charset="0"/>
              <a:buNone/>
              <a:tabLst/>
              <a:defRPr sz="2200" kern="1200">
                <a:solidFill>
                  <a:schemeClr val="bg1"/>
                </a:solidFill>
                <a:latin typeface="+mn-lt"/>
                <a:ea typeface="+mn-ea"/>
                <a:cs typeface="+mn-cs"/>
              </a:defRPr>
            </a:lvl4pPr>
            <a:lvl5pPr marL="1312544" indent="0" algn="l" defTabSz="914400" rtl="0" eaLnBrk="1" latinLnBrk="0" hangingPunct="1">
              <a:spcBef>
                <a:spcPts val="0"/>
              </a:spcBef>
              <a:spcAft>
                <a:spcPts val="1680"/>
              </a:spcAft>
              <a:buFont typeface="Arial" pitchFamily="34" charset="0"/>
              <a:buNone/>
              <a:tabLst/>
              <a:defRPr sz="2200" kern="1200">
                <a:solidFill>
                  <a:schemeClr val="bg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a:lstStyle>
          <a:p>
            <a:pPr marL="0" indent="0">
              <a:buNone/>
            </a:pPr>
            <a:r>
              <a:rPr lang="en-US" sz="2000" dirty="0"/>
              <a:t>The </a:t>
            </a:r>
            <a:r>
              <a:rPr lang="en-US" sz="2000" b="1" dirty="0"/>
              <a:t>Hierarchical Data Model</a:t>
            </a:r>
            <a:r>
              <a:rPr lang="en-US" sz="2000" dirty="0"/>
              <a:t> organizes data in a </a:t>
            </a:r>
            <a:r>
              <a:rPr lang="en-US" sz="2000" dirty="0">
                <a:solidFill>
                  <a:srgbClr val="FF0000"/>
                </a:solidFill>
              </a:rPr>
              <a:t>tree-like structure</a:t>
            </a:r>
            <a:r>
              <a:rPr lang="en-US" sz="2000" dirty="0"/>
              <a:t>, where data is stored as parent-child relationships. Each parent can have multiple children, but each child has only one parent.</a:t>
            </a:r>
          </a:p>
          <a:p>
            <a:pPr marL="0" indent="0">
              <a:buNone/>
            </a:pPr>
            <a:r>
              <a:rPr lang="en-US" sz="2000" b="1" dirty="0"/>
              <a:t>Audience</a:t>
            </a:r>
            <a:r>
              <a:rPr lang="en-US" sz="2000" dirty="0"/>
              <a:t>: Used in early database systems or systems with hierarchical data.</a:t>
            </a:r>
          </a:p>
          <a:p>
            <a:pPr marL="0" indent="0">
              <a:buNone/>
            </a:pPr>
            <a:r>
              <a:rPr lang="en-US" sz="2000" b="1" dirty="0"/>
              <a:t>Purpose</a:t>
            </a:r>
            <a:r>
              <a:rPr lang="en-US" sz="2000" dirty="0"/>
              <a:t>: To represent data with a strict hierarchy.</a:t>
            </a:r>
          </a:p>
          <a:p>
            <a:pPr marL="0" indent="0">
              <a:buNone/>
            </a:pPr>
            <a:r>
              <a:rPr lang="en-US" sz="2000" b="1" dirty="0"/>
              <a:t>Features</a:t>
            </a:r>
          </a:p>
          <a:p>
            <a:r>
              <a:rPr lang="en-US" sz="2000" dirty="0"/>
              <a:t>Data is stored in a </a:t>
            </a:r>
            <a:r>
              <a:rPr lang="en-US" sz="2000" b="1" dirty="0"/>
              <a:t>tree structure</a:t>
            </a:r>
            <a:r>
              <a:rPr lang="en-US" sz="2000" dirty="0"/>
              <a:t> with nodes.</a:t>
            </a:r>
          </a:p>
          <a:p>
            <a:r>
              <a:rPr lang="en-US" sz="2000" dirty="0"/>
              <a:t>Relationships are </a:t>
            </a:r>
            <a:r>
              <a:rPr lang="en-US" sz="2000" b="1" dirty="0"/>
              <a:t>1-to-many</a:t>
            </a:r>
            <a:r>
              <a:rPr lang="en-US" sz="2000" dirty="0"/>
              <a:t> (one parent, many children).</a:t>
            </a:r>
          </a:p>
          <a:p>
            <a:r>
              <a:rPr lang="en-US" sz="2000" dirty="0"/>
              <a:t>Fast traversal for hierarchical data but lacks flexibility for complex relationships.</a:t>
            </a:r>
          </a:p>
        </p:txBody>
      </p:sp>
    </p:spTree>
    <p:extLst>
      <p:ext uri="{BB962C8B-B14F-4D97-AF65-F5344CB8AC3E}">
        <p14:creationId xmlns:p14="http://schemas.microsoft.com/office/powerpoint/2010/main" val="2009736271"/>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4">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4">
                                            <p:txEl>
                                              <p:pRg st="1" end="1"/>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grpId="0" nodeType="clickEffect">
                                  <p:stCondLst>
                                    <p:cond delay="0"/>
                                  </p:stCondLst>
                                  <p:childTnLst>
                                    <p:set>
                                      <p:cBhvr>
                                        <p:cTn id="14" dur="1" fill="hold">
                                          <p:stCondLst>
                                            <p:cond delay="0"/>
                                          </p:stCondLst>
                                        </p:cTn>
                                        <p:tgtEl>
                                          <p:spTgt spid="4">
                                            <p:txEl>
                                              <p:pRg st="2" end="2"/>
                                            </p:txEl>
                                          </p:spTgt>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grpId="0" nodeType="clickEffect">
                                  <p:stCondLst>
                                    <p:cond delay="0"/>
                                  </p:stCondLst>
                                  <p:childTnLst>
                                    <p:set>
                                      <p:cBhvr>
                                        <p:cTn id="18" dur="1" fill="hold">
                                          <p:stCondLst>
                                            <p:cond delay="0"/>
                                          </p:stCondLst>
                                        </p:cTn>
                                        <p:tgtEl>
                                          <p:spTgt spid="4">
                                            <p:txEl>
                                              <p:pRg st="3" end="3"/>
                                            </p:txEl>
                                          </p:spTgt>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grpId="0" nodeType="clickEffect">
                                  <p:stCondLst>
                                    <p:cond delay="0"/>
                                  </p:stCondLst>
                                  <p:childTnLst>
                                    <p:set>
                                      <p:cBhvr>
                                        <p:cTn id="22" dur="1" fill="hold">
                                          <p:stCondLst>
                                            <p:cond delay="0"/>
                                          </p:stCondLst>
                                        </p:cTn>
                                        <p:tgtEl>
                                          <p:spTgt spid="4">
                                            <p:txEl>
                                              <p:pRg st="4" end="4"/>
                                            </p:txEl>
                                          </p:spTgt>
                                        </p:tgtEl>
                                        <p:attrNameLst>
                                          <p:attrName>style.visibility</p:attrName>
                                        </p:attrNameLst>
                                      </p:cBhvr>
                                      <p:to>
                                        <p:strVal val="visible"/>
                                      </p:to>
                                    </p:set>
                                  </p:childTnLst>
                                </p:cTn>
                              </p:par>
                            </p:childTnLst>
                          </p:cTn>
                        </p:par>
                      </p:childTnLst>
                    </p:cTn>
                  </p:par>
                  <p:par>
                    <p:cTn id="23" fill="hold">
                      <p:stCondLst>
                        <p:cond delay="indefinite"/>
                      </p:stCondLst>
                      <p:childTnLst>
                        <p:par>
                          <p:cTn id="24" fill="hold">
                            <p:stCondLst>
                              <p:cond delay="0"/>
                            </p:stCondLst>
                            <p:childTnLst>
                              <p:par>
                                <p:cTn id="25" presetID="1" presetClass="entr" presetSubtype="0" fill="hold" grpId="0" nodeType="clickEffect">
                                  <p:stCondLst>
                                    <p:cond delay="0"/>
                                  </p:stCondLst>
                                  <p:childTnLst>
                                    <p:set>
                                      <p:cBhvr>
                                        <p:cTn id="26" dur="1" fill="hold">
                                          <p:stCondLst>
                                            <p:cond delay="0"/>
                                          </p:stCondLst>
                                        </p:cTn>
                                        <p:tgtEl>
                                          <p:spTgt spid="4">
                                            <p:txEl>
                                              <p:pRg st="5" end="5"/>
                                            </p:txEl>
                                          </p:spTgt>
                                        </p:tgtEl>
                                        <p:attrNameLst>
                                          <p:attrName>style.visibility</p:attrName>
                                        </p:attrNameLst>
                                      </p:cBhvr>
                                      <p:to>
                                        <p:strVal val="visible"/>
                                      </p:to>
                                    </p:set>
                                  </p:childTnLst>
                                </p:cTn>
                              </p:par>
                            </p:childTnLst>
                          </p:cTn>
                        </p:par>
                      </p:childTnLst>
                    </p:cTn>
                  </p:par>
                  <p:par>
                    <p:cTn id="27" fill="hold">
                      <p:stCondLst>
                        <p:cond delay="indefinite"/>
                      </p:stCondLst>
                      <p:childTnLst>
                        <p:par>
                          <p:cTn id="28" fill="hold">
                            <p:stCondLst>
                              <p:cond delay="0"/>
                            </p:stCondLst>
                            <p:childTnLst>
                              <p:par>
                                <p:cTn id="29" presetID="1" presetClass="entr" presetSubtype="0" fill="hold" grpId="0" nodeType="clickEffect">
                                  <p:stCondLst>
                                    <p:cond delay="0"/>
                                  </p:stCondLst>
                                  <p:childTnLst>
                                    <p:set>
                                      <p:cBhvr>
                                        <p:cTn id="30" dur="1" fill="hold">
                                          <p:stCondLst>
                                            <p:cond delay="0"/>
                                          </p:stCondLst>
                                        </p:cTn>
                                        <p:tgtEl>
                                          <p:spTgt spid="4">
                                            <p:txEl>
                                              <p:pRg st="6" end="6"/>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build="p"/>
    </p:bldLst>
  </p:timing>
</p:sld>
</file>

<file path=ppt/slides/slide7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2271045-397F-FB87-AA02-534C700BAE0F}"/>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DE070015-B5EB-D8A9-C06F-E6D138738DA3}"/>
              </a:ext>
            </a:extLst>
          </p:cNvPr>
          <p:cNvSpPr>
            <a:spLocks noGrp="1"/>
          </p:cNvSpPr>
          <p:nvPr>
            <p:ph type="title"/>
          </p:nvPr>
        </p:nvSpPr>
        <p:spPr/>
        <p:txBody>
          <a:bodyPr/>
          <a:lstStyle/>
          <a:p>
            <a:r>
              <a:rPr lang="en-IN" dirty="0">
                <a:solidFill>
                  <a:srgbClr val="FF0000"/>
                </a:solidFill>
              </a:rPr>
              <a:t>4. Hierarchical Data Model</a:t>
            </a:r>
            <a:endParaRPr lang="en-US" b="1" dirty="0">
              <a:solidFill>
                <a:srgbClr val="FF0000"/>
              </a:solidFill>
            </a:endParaRPr>
          </a:p>
        </p:txBody>
      </p:sp>
      <p:sp>
        <p:nvSpPr>
          <p:cNvPr id="4" name="Text Placeholder 2">
            <a:extLst>
              <a:ext uri="{FF2B5EF4-FFF2-40B4-BE49-F238E27FC236}">
                <a16:creationId xmlns:a16="http://schemas.microsoft.com/office/drawing/2014/main" id="{109B25E8-7499-C521-31C7-356557541C26}"/>
              </a:ext>
            </a:extLst>
          </p:cNvPr>
          <p:cNvSpPr txBox="1">
            <a:spLocks/>
          </p:cNvSpPr>
          <p:nvPr/>
        </p:nvSpPr>
        <p:spPr>
          <a:xfrm>
            <a:off x="551384" y="1016000"/>
            <a:ext cx="11323116" cy="5524500"/>
          </a:xfrm>
          <a:prstGeom prst="rect">
            <a:avLst/>
          </a:prstGeom>
        </p:spPr>
        <p:txBody>
          <a:bodyPr lIns="91440" tIns="45720" rIns="91440" bIns="45720"/>
          <a:lstStyle>
            <a:lvl1pPr marL="548640" indent="-548640" algn="l" defTabSz="914400" rtl="0" eaLnBrk="1" latinLnBrk="0" hangingPunct="1">
              <a:spcBef>
                <a:spcPts val="0"/>
              </a:spcBef>
              <a:spcAft>
                <a:spcPts val="1680"/>
              </a:spcAft>
              <a:buFont typeface="+mj-lt"/>
              <a:buAutoNum type="arabicPeriod"/>
              <a:defRPr sz="2900" kern="1200">
                <a:solidFill>
                  <a:schemeClr val="tx1"/>
                </a:solidFill>
                <a:latin typeface="Roboto Medium" pitchFamily="2" charset="0"/>
                <a:ea typeface="Roboto Medium" pitchFamily="2" charset="0"/>
                <a:cs typeface="Roboto Medium" pitchFamily="2" charset="0"/>
              </a:defRPr>
            </a:lvl1pPr>
            <a:lvl2pPr marL="840106" indent="-548640" algn="l" defTabSz="914400" rtl="0" eaLnBrk="1" latinLnBrk="0" hangingPunct="1">
              <a:spcBef>
                <a:spcPts val="0"/>
              </a:spcBef>
              <a:spcAft>
                <a:spcPts val="1680"/>
              </a:spcAft>
              <a:buFont typeface="+mj-lt"/>
              <a:buAutoNum type="arabicPeriod"/>
              <a:tabLst/>
              <a:defRPr sz="2900" kern="1200">
                <a:solidFill>
                  <a:schemeClr val="tx1"/>
                </a:solidFill>
                <a:latin typeface="Roboto Medium" pitchFamily="2" charset="0"/>
                <a:ea typeface="Roboto Medium" pitchFamily="2" charset="0"/>
                <a:cs typeface="Roboto Medium" pitchFamily="2" charset="0"/>
              </a:defRPr>
            </a:lvl2pPr>
            <a:lvl3pPr marL="712470" indent="0" algn="l" defTabSz="914400" rtl="0" eaLnBrk="1" latinLnBrk="0" hangingPunct="1">
              <a:spcBef>
                <a:spcPts val="0"/>
              </a:spcBef>
              <a:spcAft>
                <a:spcPts val="1680"/>
              </a:spcAft>
              <a:buFont typeface="Arial" pitchFamily="34" charset="0"/>
              <a:buNone/>
              <a:tabLst/>
              <a:defRPr sz="2400" kern="1200">
                <a:solidFill>
                  <a:schemeClr val="bg1"/>
                </a:solidFill>
                <a:latin typeface="+mn-lt"/>
                <a:ea typeface="+mn-ea"/>
                <a:cs typeface="+mn-cs"/>
              </a:defRPr>
            </a:lvl3pPr>
            <a:lvl4pPr marL="1068706" indent="0" algn="l" defTabSz="914400" rtl="0" eaLnBrk="1" latinLnBrk="0" hangingPunct="1">
              <a:spcBef>
                <a:spcPts val="0"/>
              </a:spcBef>
              <a:spcAft>
                <a:spcPts val="1680"/>
              </a:spcAft>
              <a:buFont typeface="Arial" pitchFamily="34" charset="0"/>
              <a:buNone/>
              <a:tabLst/>
              <a:defRPr sz="2200" kern="1200">
                <a:solidFill>
                  <a:schemeClr val="bg1"/>
                </a:solidFill>
                <a:latin typeface="+mn-lt"/>
                <a:ea typeface="+mn-ea"/>
                <a:cs typeface="+mn-cs"/>
              </a:defRPr>
            </a:lvl4pPr>
            <a:lvl5pPr marL="1312544" indent="0" algn="l" defTabSz="914400" rtl="0" eaLnBrk="1" latinLnBrk="0" hangingPunct="1">
              <a:spcBef>
                <a:spcPts val="0"/>
              </a:spcBef>
              <a:spcAft>
                <a:spcPts val="1680"/>
              </a:spcAft>
              <a:buFont typeface="Arial" pitchFamily="34" charset="0"/>
              <a:buNone/>
              <a:tabLst/>
              <a:defRPr sz="2200" kern="1200">
                <a:solidFill>
                  <a:schemeClr val="bg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a:lstStyle>
          <a:p>
            <a:pPr marL="0" indent="0">
              <a:buNone/>
            </a:pPr>
            <a:r>
              <a:rPr lang="en-IN" sz="2400" b="1" dirty="0"/>
              <a:t>Example: Organization Hierarchy</a:t>
            </a:r>
            <a:endParaRPr lang="en-IN" sz="2400" dirty="0"/>
          </a:p>
          <a:p>
            <a:pPr lvl="1"/>
            <a:r>
              <a:rPr lang="en-IN" sz="2400" dirty="0"/>
              <a:t>Parent: CEO.</a:t>
            </a:r>
          </a:p>
          <a:p>
            <a:pPr lvl="1"/>
            <a:r>
              <a:rPr lang="en-IN" sz="2400" dirty="0"/>
              <a:t>Children: Managers.</a:t>
            </a:r>
          </a:p>
          <a:p>
            <a:pPr lvl="1"/>
            <a:r>
              <a:rPr lang="en-IN" sz="2400" dirty="0"/>
              <a:t>Sub-children: Employees.</a:t>
            </a:r>
          </a:p>
          <a:p>
            <a:pPr marL="0" indent="0">
              <a:buNone/>
            </a:pPr>
            <a:r>
              <a:rPr lang="en-IN" sz="2400" b="1" dirty="0"/>
              <a:t>Representation:</a:t>
            </a:r>
            <a:endParaRPr lang="en-IN" sz="2400" dirty="0"/>
          </a:p>
          <a:p>
            <a:r>
              <a:rPr lang="en-IN" sz="2400" dirty="0"/>
              <a:t>CEO</a:t>
            </a:r>
          </a:p>
          <a:p>
            <a:r>
              <a:rPr lang="en-IN" sz="2400" dirty="0"/>
              <a:t>  </a:t>
            </a:r>
            <a:r>
              <a:rPr lang="en-US" sz="2400" dirty="0"/>
              <a:t>├</a:t>
            </a:r>
            <a:r>
              <a:rPr lang="en-IN" sz="2400" dirty="0"/>
              <a:t>── Manager 1</a:t>
            </a:r>
          </a:p>
          <a:p>
            <a:r>
              <a:rPr lang="en-IN" sz="2400" dirty="0"/>
              <a:t>  │      </a:t>
            </a:r>
            <a:r>
              <a:rPr lang="en-US" sz="2400" dirty="0"/>
              <a:t>├</a:t>
            </a:r>
            <a:r>
              <a:rPr lang="en-IN" sz="2400" dirty="0"/>
              <a:t>── Employee A</a:t>
            </a:r>
          </a:p>
          <a:p>
            <a:r>
              <a:rPr lang="en-IN" sz="2400" dirty="0"/>
              <a:t>  │      </a:t>
            </a:r>
            <a:r>
              <a:rPr lang="en-US" sz="2400" dirty="0"/>
              <a:t>├</a:t>
            </a:r>
            <a:r>
              <a:rPr lang="en-IN" sz="2400" dirty="0"/>
              <a:t>── Employee B</a:t>
            </a:r>
          </a:p>
        </p:txBody>
      </p:sp>
    </p:spTree>
    <p:extLst>
      <p:ext uri="{BB962C8B-B14F-4D97-AF65-F5344CB8AC3E}">
        <p14:creationId xmlns:p14="http://schemas.microsoft.com/office/powerpoint/2010/main" val="1428830583"/>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4">
                                            <p:txEl>
                                              <p:pRg st="0" end="0"/>
                                            </p:txEl>
                                          </p:spTgt>
                                        </p:tgtEl>
                                        <p:attrNameLst>
                                          <p:attrName>style.visibility</p:attrName>
                                        </p:attrNameLst>
                                      </p:cBhvr>
                                      <p:to>
                                        <p:strVal val="visible"/>
                                      </p:to>
                                    </p:set>
                                  </p:childTnLst>
                                </p:cTn>
                              </p:par>
                              <p:par>
                                <p:cTn id="7" presetID="1" presetClass="entr" presetSubtype="0" fill="hold" grpId="0" nodeType="withEffect">
                                  <p:stCondLst>
                                    <p:cond delay="0"/>
                                  </p:stCondLst>
                                  <p:childTnLst>
                                    <p:set>
                                      <p:cBhvr>
                                        <p:cTn id="8" dur="1" fill="hold">
                                          <p:stCondLst>
                                            <p:cond delay="0"/>
                                          </p:stCondLst>
                                        </p:cTn>
                                        <p:tgtEl>
                                          <p:spTgt spid="4">
                                            <p:txEl>
                                              <p:pRg st="1" end="1"/>
                                            </p:txEl>
                                          </p:spTgt>
                                        </p:tgtEl>
                                        <p:attrNameLst>
                                          <p:attrName>style.visibility</p:attrName>
                                        </p:attrNameLst>
                                      </p:cBhvr>
                                      <p:to>
                                        <p:strVal val="visible"/>
                                      </p:to>
                                    </p:set>
                                  </p:childTnLst>
                                </p:cTn>
                              </p:par>
                              <p:par>
                                <p:cTn id="9" presetID="1" presetClass="entr" presetSubtype="0" fill="hold" grpId="0" nodeType="withEffect">
                                  <p:stCondLst>
                                    <p:cond delay="0"/>
                                  </p:stCondLst>
                                  <p:childTnLst>
                                    <p:set>
                                      <p:cBhvr>
                                        <p:cTn id="10" dur="1" fill="hold">
                                          <p:stCondLst>
                                            <p:cond delay="0"/>
                                          </p:stCondLst>
                                        </p:cTn>
                                        <p:tgtEl>
                                          <p:spTgt spid="4">
                                            <p:txEl>
                                              <p:pRg st="2" end="2"/>
                                            </p:txEl>
                                          </p:spTgt>
                                        </p:tgtEl>
                                        <p:attrNameLst>
                                          <p:attrName>style.visibility</p:attrName>
                                        </p:attrNameLst>
                                      </p:cBhvr>
                                      <p:to>
                                        <p:strVal val="visible"/>
                                      </p:to>
                                    </p:set>
                                  </p:childTnLst>
                                </p:cTn>
                              </p:par>
                              <p:par>
                                <p:cTn id="11" presetID="1" presetClass="entr" presetSubtype="0" fill="hold" grpId="0" nodeType="withEffect">
                                  <p:stCondLst>
                                    <p:cond delay="0"/>
                                  </p:stCondLst>
                                  <p:childTnLst>
                                    <p:set>
                                      <p:cBhvr>
                                        <p:cTn id="12" dur="1" fill="hold">
                                          <p:stCondLst>
                                            <p:cond delay="0"/>
                                          </p:stCondLst>
                                        </p:cTn>
                                        <p:tgtEl>
                                          <p:spTgt spid="4">
                                            <p:txEl>
                                              <p:pRg st="3" end="3"/>
                                            </p:txEl>
                                          </p:spTgt>
                                        </p:tgtEl>
                                        <p:attrNameLst>
                                          <p:attrName>style.visibility</p:attrName>
                                        </p:attrNameLst>
                                      </p:cBhvr>
                                      <p:to>
                                        <p:strVal val="visible"/>
                                      </p:to>
                                    </p:set>
                                  </p:childTnLst>
                                </p:cTn>
                              </p:par>
                            </p:childTnLst>
                          </p:cTn>
                        </p:par>
                      </p:childTnLst>
                    </p:cTn>
                  </p:par>
                  <p:par>
                    <p:cTn id="13" fill="hold">
                      <p:stCondLst>
                        <p:cond delay="indefinite"/>
                      </p:stCondLst>
                      <p:childTnLst>
                        <p:par>
                          <p:cTn id="14" fill="hold">
                            <p:stCondLst>
                              <p:cond delay="0"/>
                            </p:stCondLst>
                            <p:childTnLst>
                              <p:par>
                                <p:cTn id="15" presetID="1" presetClass="entr" presetSubtype="0" fill="hold" grpId="0" nodeType="clickEffect">
                                  <p:stCondLst>
                                    <p:cond delay="0"/>
                                  </p:stCondLst>
                                  <p:childTnLst>
                                    <p:set>
                                      <p:cBhvr>
                                        <p:cTn id="16" dur="1" fill="hold">
                                          <p:stCondLst>
                                            <p:cond delay="0"/>
                                          </p:stCondLst>
                                        </p:cTn>
                                        <p:tgtEl>
                                          <p:spTgt spid="4">
                                            <p:txEl>
                                              <p:pRg st="4" end="4"/>
                                            </p:txEl>
                                          </p:spTgt>
                                        </p:tgtEl>
                                        <p:attrNameLst>
                                          <p:attrName>style.visibility</p:attrName>
                                        </p:attrNameLst>
                                      </p:cBhvr>
                                      <p:to>
                                        <p:strVal val="visible"/>
                                      </p:to>
                                    </p:set>
                                  </p:childTnLst>
                                </p:cTn>
                              </p:par>
                            </p:childTnLst>
                          </p:cTn>
                        </p:par>
                      </p:childTnLst>
                    </p:cTn>
                  </p:par>
                  <p:par>
                    <p:cTn id="17" fill="hold">
                      <p:stCondLst>
                        <p:cond delay="indefinite"/>
                      </p:stCondLst>
                      <p:childTnLst>
                        <p:par>
                          <p:cTn id="18" fill="hold">
                            <p:stCondLst>
                              <p:cond delay="0"/>
                            </p:stCondLst>
                            <p:childTnLst>
                              <p:par>
                                <p:cTn id="19" presetID="1" presetClass="entr" presetSubtype="0" fill="hold" grpId="0" nodeType="clickEffect">
                                  <p:stCondLst>
                                    <p:cond delay="0"/>
                                  </p:stCondLst>
                                  <p:childTnLst>
                                    <p:set>
                                      <p:cBhvr>
                                        <p:cTn id="20" dur="1" fill="hold">
                                          <p:stCondLst>
                                            <p:cond delay="0"/>
                                          </p:stCondLst>
                                        </p:cTn>
                                        <p:tgtEl>
                                          <p:spTgt spid="4">
                                            <p:txEl>
                                              <p:pRg st="5" end="5"/>
                                            </p:txEl>
                                          </p:spTgt>
                                        </p:tgtEl>
                                        <p:attrNameLst>
                                          <p:attrName>style.visibility</p:attrName>
                                        </p:attrNameLst>
                                      </p:cBhvr>
                                      <p:to>
                                        <p:strVal val="visible"/>
                                      </p:to>
                                    </p:set>
                                  </p:childTnLst>
                                </p:cTn>
                              </p:par>
                            </p:childTnLst>
                          </p:cTn>
                        </p:par>
                      </p:childTnLst>
                    </p:cTn>
                  </p:par>
                  <p:par>
                    <p:cTn id="21" fill="hold">
                      <p:stCondLst>
                        <p:cond delay="indefinite"/>
                      </p:stCondLst>
                      <p:childTnLst>
                        <p:par>
                          <p:cTn id="22" fill="hold">
                            <p:stCondLst>
                              <p:cond delay="0"/>
                            </p:stCondLst>
                            <p:childTnLst>
                              <p:par>
                                <p:cTn id="23" presetID="1" presetClass="entr" presetSubtype="0" fill="hold" grpId="0" nodeType="clickEffect">
                                  <p:stCondLst>
                                    <p:cond delay="0"/>
                                  </p:stCondLst>
                                  <p:childTnLst>
                                    <p:set>
                                      <p:cBhvr>
                                        <p:cTn id="24" dur="1" fill="hold">
                                          <p:stCondLst>
                                            <p:cond delay="0"/>
                                          </p:stCondLst>
                                        </p:cTn>
                                        <p:tgtEl>
                                          <p:spTgt spid="4">
                                            <p:txEl>
                                              <p:pRg st="6" end="6"/>
                                            </p:txEl>
                                          </p:spTgt>
                                        </p:tgtEl>
                                        <p:attrNameLst>
                                          <p:attrName>style.visibility</p:attrName>
                                        </p:attrNameLst>
                                      </p:cBhvr>
                                      <p:to>
                                        <p:strVal val="visible"/>
                                      </p:to>
                                    </p:set>
                                  </p:childTnLst>
                                </p:cTn>
                              </p:par>
                            </p:childTnLst>
                          </p:cTn>
                        </p:par>
                      </p:childTnLst>
                    </p:cTn>
                  </p:par>
                  <p:par>
                    <p:cTn id="25" fill="hold">
                      <p:stCondLst>
                        <p:cond delay="indefinite"/>
                      </p:stCondLst>
                      <p:childTnLst>
                        <p:par>
                          <p:cTn id="26" fill="hold">
                            <p:stCondLst>
                              <p:cond delay="0"/>
                            </p:stCondLst>
                            <p:childTnLst>
                              <p:par>
                                <p:cTn id="27" presetID="1" presetClass="entr" presetSubtype="0" fill="hold" grpId="0" nodeType="clickEffect">
                                  <p:stCondLst>
                                    <p:cond delay="0"/>
                                  </p:stCondLst>
                                  <p:childTnLst>
                                    <p:set>
                                      <p:cBhvr>
                                        <p:cTn id="28" dur="1" fill="hold">
                                          <p:stCondLst>
                                            <p:cond delay="0"/>
                                          </p:stCondLst>
                                        </p:cTn>
                                        <p:tgtEl>
                                          <p:spTgt spid="4">
                                            <p:txEl>
                                              <p:pRg st="7" end="7"/>
                                            </p:txEl>
                                          </p:spTgt>
                                        </p:tgtEl>
                                        <p:attrNameLst>
                                          <p:attrName>style.visibility</p:attrName>
                                        </p:attrNameLst>
                                      </p:cBhvr>
                                      <p:to>
                                        <p:strVal val="visible"/>
                                      </p:to>
                                    </p:set>
                                  </p:childTnLst>
                                </p:cTn>
                              </p:par>
                            </p:childTnLst>
                          </p:cTn>
                        </p:par>
                      </p:childTnLst>
                    </p:cTn>
                  </p:par>
                  <p:par>
                    <p:cTn id="29" fill="hold">
                      <p:stCondLst>
                        <p:cond delay="indefinite"/>
                      </p:stCondLst>
                      <p:childTnLst>
                        <p:par>
                          <p:cTn id="30" fill="hold">
                            <p:stCondLst>
                              <p:cond delay="0"/>
                            </p:stCondLst>
                            <p:childTnLst>
                              <p:par>
                                <p:cTn id="31" presetID="1" presetClass="entr" presetSubtype="0" fill="hold" grpId="0" nodeType="clickEffect">
                                  <p:stCondLst>
                                    <p:cond delay="0"/>
                                  </p:stCondLst>
                                  <p:childTnLst>
                                    <p:set>
                                      <p:cBhvr>
                                        <p:cTn id="32" dur="1" fill="hold">
                                          <p:stCondLst>
                                            <p:cond delay="0"/>
                                          </p:stCondLst>
                                        </p:cTn>
                                        <p:tgtEl>
                                          <p:spTgt spid="4">
                                            <p:txEl>
                                              <p:pRg st="8" end="8"/>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build="p"/>
    </p:bldLst>
  </p:timing>
</p:sld>
</file>

<file path=ppt/slides/slide7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05C2CB9-548A-0B97-4936-2D61B7A9E0CF}"/>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0016A6A9-F1C1-79B5-4D7A-AB1781B34871}"/>
              </a:ext>
            </a:extLst>
          </p:cNvPr>
          <p:cNvSpPr>
            <a:spLocks noGrp="1"/>
          </p:cNvSpPr>
          <p:nvPr>
            <p:ph type="title"/>
          </p:nvPr>
        </p:nvSpPr>
        <p:spPr>
          <a:xfrm>
            <a:off x="695400" y="395786"/>
            <a:ext cx="7776864" cy="838202"/>
          </a:xfrm>
        </p:spPr>
        <p:txBody>
          <a:bodyPr/>
          <a:lstStyle/>
          <a:p>
            <a:r>
              <a:rPr lang="en-IN" dirty="0">
                <a:solidFill>
                  <a:srgbClr val="FF0000"/>
                </a:solidFill>
              </a:rPr>
              <a:t>5. Entity-Relationship (ER) Model</a:t>
            </a:r>
            <a:endParaRPr lang="en-US" b="1" dirty="0">
              <a:solidFill>
                <a:srgbClr val="FF0000"/>
              </a:solidFill>
            </a:endParaRPr>
          </a:p>
        </p:txBody>
      </p:sp>
      <p:sp>
        <p:nvSpPr>
          <p:cNvPr id="4" name="Text Placeholder 2">
            <a:extLst>
              <a:ext uri="{FF2B5EF4-FFF2-40B4-BE49-F238E27FC236}">
                <a16:creationId xmlns:a16="http://schemas.microsoft.com/office/drawing/2014/main" id="{E809DEE4-8F45-6560-80FC-1CD5FD66588D}"/>
              </a:ext>
            </a:extLst>
          </p:cNvPr>
          <p:cNvSpPr txBox="1">
            <a:spLocks/>
          </p:cNvSpPr>
          <p:nvPr/>
        </p:nvSpPr>
        <p:spPr>
          <a:xfrm>
            <a:off x="551384" y="1016000"/>
            <a:ext cx="11323116" cy="5524500"/>
          </a:xfrm>
          <a:prstGeom prst="rect">
            <a:avLst/>
          </a:prstGeom>
        </p:spPr>
        <p:txBody>
          <a:bodyPr lIns="91440" tIns="45720" rIns="91440" bIns="45720"/>
          <a:lstStyle>
            <a:lvl1pPr marL="548640" indent="-548640" algn="l" defTabSz="914400" rtl="0" eaLnBrk="1" latinLnBrk="0" hangingPunct="1">
              <a:spcBef>
                <a:spcPts val="0"/>
              </a:spcBef>
              <a:spcAft>
                <a:spcPts val="1680"/>
              </a:spcAft>
              <a:buFont typeface="+mj-lt"/>
              <a:buAutoNum type="arabicPeriod"/>
              <a:defRPr sz="2900" kern="1200">
                <a:solidFill>
                  <a:schemeClr val="tx1"/>
                </a:solidFill>
                <a:latin typeface="Roboto Medium" pitchFamily="2" charset="0"/>
                <a:ea typeface="Roboto Medium" pitchFamily="2" charset="0"/>
                <a:cs typeface="Roboto Medium" pitchFamily="2" charset="0"/>
              </a:defRPr>
            </a:lvl1pPr>
            <a:lvl2pPr marL="840106" indent="-548640" algn="l" defTabSz="914400" rtl="0" eaLnBrk="1" latinLnBrk="0" hangingPunct="1">
              <a:spcBef>
                <a:spcPts val="0"/>
              </a:spcBef>
              <a:spcAft>
                <a:spcPts val="1680"/>
              </a:spcAft>
              <a:buFont typeface="+mj-lt"/>
              <a:buAutoNum type="arabicPeriod"/>
              <a:tabLst/>
              <a:defRPr sz="2900" kern="1200">
                <a:solidFill>
                  <a:schemeClr val="tx1"/>
                </a:solidFill>
                <a:latin typeface="Roboto Medium" pitchFamily="2" charset="0"/>
                <a:ea typeface="Roboto Medium" pitchFamily="2" charset="0"/>
                <a:cs typeface="Roboto Medium" pitchFamily="2" charset="0"/>
              </a:defRPr>
            </a:lvl2pPr>
            <a:lvl3pPr marL="712470" indent="0" algn="l" defTabSz="914400" rtl="0" eaLnBrk="1" latinLnBrk="0" hangingPunct="1">
              <a:spcBef>
                <a:spcPts val="0"/>
              </a:spcBef>
              <a:spcAft>
                <a:spcPts val="1680"/>
              </a:spcAft>
              <a:buFont typeface="Arial" pitchFamily="34" charset="0"/>
              <a:buNone/>
              <a:tabLst/>
              <a:defRPr sz="2400" kern="1200">
                <a:solidFill>
                  <a:schemeClr val="bg1"/>
                </a:solidFill>
                <a:latin typeface="+mn-lt"/>
                <a:ea typeface="+mn-ea"/>
                <a:cs typeface="+mn-cs"/>
              </a:defRPr>
            </a:lvl3pPr>
            <a:lvl4pPr marL="1068706" indent="0" algn="l" defTabSz="914400" rtl="0" eaLnBrk="1" latinLnBrk="0" hangingPunct="1">
              <a:spcBef>
                <a:spcPts val="0"/>
              </a:spcBef>
              <a:spcAft>
                <a:spcPts val="1680"/>
              </a:spcAft>
              <a:buFont typeface="Arial" pitchFamily="34" charset="0"/>
              <a:buNone/>
              <a:tabLst/>
              <a:defRPr sz="2200" kern="1200">
                <a:solidFill>
                  <a:schemeClr val="bg1"/>
                </a:solidFill>
                <a:latin typeface="+mn-lt"/>
                <a:ea typeface="+mn-ea"/>
                <a:cs typeface="+mn-cs"/>
              </a:defRPr>
            </a:lvl4pPr>
            <a:lvl5pPr marL="1312544" indent="0" algn="l" defTabSz="914400" rtl="0" eaLnBrk="1" latinLnBrk="0" hangingPunct="1">
              <a:spcBef>
                <a:spcPts val="0"/>
              </a:spcBef>
              <a:spcAft>
                <a:spcPts val="1680"/>
              </a:spcAft>
              <a:buFont typeface="Arial" pitchFamily="34" charset="0"/>
              <a:buNone/>
              <a:tabLst/>
              <a:defRPr sz="2200" kern="1200">
                <a:solidFill>
                  <a:schemeClr val="bg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a:lstStyle>
          <a:p>
            <a:pPr marL="0" indent="0">
              <a:buNone/>
            </a:pPr>
            <a:r>
              <a:rPr lang="en-US" sz="2000" dirty="0"/>
              <a:t>An </a:t>
            </a:r>
            <a:r>
              <a:rPr lang="en-US" sz="2000" b="1" dirty="0"/>
              <a:t>ER Model</a:t>
            </a:r>
            <a:r>
              <a:rPr lang="en-US" sz="2000" dirty="0"/>
              <a:t> </a:t>
            </a:r>
            <a:r>
              <a:rPr lang="en-US" sz="2000" dirty="0">
                <a:solidFill>
                  <a:srgbClr val="FF0000"/>
                </a:solidFill>
              </a:rPr>
              <a:t>visually represents the structure of data </a:t>
            </a:r>
            <a:r>
              <a:rPr lang="en-US" sz="2000" dirty="0"/>
              <a:t>using </a:t>
            </a:r>
            <a:r>
              <a:rPr lang="en-US" sz="2000" b="1" dirty="0"/>
              <a:t>entities</a:t>
            </a:r>
            <a:r>
              <a:rPr lang="en-US" sz="2000" dirty="0"/>
              <a:t>, </a:t>
            </a:r>
            <a:r>
              <a:rPr lang="en-US" sz="2000" b="1" dirty="0"/>
              <a:t>attributes</a:t>
            </a:r>
            <a:r>
              <a:rPr lang="en-US" sz="2000" dirty="0"/>
              <a:t>, and </a:t>
            </a:r>
            <a:r>
              <a:rPr lang="en-US" sz="2000" b="1" dirty="0"/>
              <a:t>relationships</a:t>
            </a:r>
            <a:r>
              <a:rPr lang="en-US" sz="2000" dirty="0"/>
              <a:t>. It is typically used during the design phase of a database to understand the data requirements.</a:t>
            </a:r>
          </a:p>
          <a:p>
            <a:pPr marL="0" indent="0">
              <a:buNone/>
            </a:pPr>
            <a:r>
              <a:rPr lang="en-US" sz="2000" b="1" dirty="0"/>
              <a:t>Audience</a:t>
            </a:r>
            <a:r>
              <a:rPr lang="en-US" sz="2000" dirty="0"/>
              <a:t>: Database designers and architects.</a:t>
            </a:r>
          </a:p>
          <a:p>
            <a:pPr marL="0" indent="0">
              <a:buNone/>
            </a:pPr>
            <a:r>
              <a:rPr lang="en-US" sz="2000" b="1" dirty="0"/>
              <a:t>Purpose</a:t>
            </a:r>
            <a:r>
              <a:rPr lang="en-US" sz="2000" dirty="0"/>
              <a:t>: To document and analyze data requirements before implementation.</a:t>
            </a:r>
          </a:p>
          <a:p>
            <a:pPr marL="0" indent="0">
              <a:buNone/>
            </a:pPr>
            <a:r>
              <a:rPr lang="en-US" sz="2000" b="1" dirty="0"/>
              <a:t>Features</a:t>
            </a:r>
          </a:p>
          <a:p>
            <a:r>
              <a:rPr lang="en-US" sz="2000" b="1" dirty="0"/>
              <a:t>Entities</a:t>
            </a:r>
            <a:r>
              <a:rPr lang="en-US" sz="2000" dirty="0"/>
              <a:t>: Represent objects (e.g., Student, Course).</a:t>
            </a:r>
          </a:p>
          <a:p>
            <a:r>
              <a:rPr lang="en-US" sz="2000" b="1" dirty="0"/>
              <a:t>Attributes</a:t>
            </a:r>
            <a:r>
              <a:rPr lang="en-US" sz="2000" dirty="0"/>
              <a:t>: Properties of entities (e.g., Name, Age).</a:t>
            </a:r>
          </a:p>
          <a:p>
            <a:r>
              <a:rPr lang="en-US" sz="2000" b="1" dirty="0"/>
              <a:t>Relationships</a:t>
            </a:r>
            <a:r>
              <a:rPr lang="en-US" sz="2000" dirty="0"/>
              <a:t>: Links between entities (e.g., "Student enrolls in Course").</a:t>
            </a:r>
          </a:p>
          <a:p>
            <a:r>
              <a:rPr lang="en-US" sz="2000" dirty="0"/>
              <a:t>Often represented using </a:t>
            </a:r>
            <a:r>
              <a:rPr lang="en-US" sz="2000" b="1" dirty="0"/>
              <a:t>ER diagrams</a:t>
            </a:r>
            <a:r>
              <a:rPr lang="en-US" sz="2000" dirty="0"/>
              <a:t>.</a:t>
            </a:r>
          </a:p>
        </p:txBody>
      </p:sp>
    </p:spTree>
    <p:extLst>
      <p:ext uri="{BB962C8B-B14F-4D97-AF65-F5344CB8AC3E}">
        <p14:creationId xmlns:p14="http://schemas.microsoft.com/office/powerpoint/2010/main" val="4286723272"/>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4">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4">
                                            <p:txEl>
                                              <p:pRg st="1" end="1"/>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grpId="0" nodeType="clickEffect">
                                  <p:stCondLst>
                                    <p:cond delay="0"/>
                                  </p:stCondLst>
                                  <p:childTnLst>
                                    <p:set>
                                      <p:cBhvr>
                                        <p:cTn id="14" dur="1" fill="hold">
                                          <p:stCondLst>
                                            <p:cond delay="0"/>
                                          </p:stCondLst>
                                        </p:cTn>
                                        <p:tgtEl>
                                          <p:spTgt spid="4">
                                            <p:txEl>
                                              <p:pRg st="2" end="2"/>
                                            </p:txEl>
                                          </p:spTgt>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grpId="0" nodeType="clickEffect">
                                  <p:stCondLst>
                                    <p:cond delay="0"/>
                                  </p:stCondLst>
                                  <p:childTnLst>
                                    <p:set>
                                      <p:cBhvr>
                                        <p:cTn id="18" dur="1" fill="hold">
                                          <p:stCondLst>
                                            <p:cond delay="0"/>
                                          </p:stCondLst>
                                        </p:cTn>
                                        <p:tgtEl>
                                          <p:spTgt spid="4">
                                            <p:txEl>
                                              <p:pRg st="3" end="3"/>
                                            </p:txEl>
                                          </p:spTgt>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grpId="0" nodeType="clickEffect">
                                  <p:stCondLst>
                                    <p:cond delay="0"/>
                                  </p:stCondLst>
                                  <p:childTnLst>
                                    <p:set>
                                      <p:cBhvr>
                                        <p:cTn id="22" dur="1" fill="hold">
                                          <p:stCondLst>
                                            <p:cond delay="0"/>
                                          </p:stCondLst>
                                        </p:cTn>
                                        <p:tgtEl>
                                          <p:spTgt spid="4">
                                            <p:txEl>
                                              <p:pRg st="4" end="4"/>
                                            </p:txEl>
                                          </p:spTgt>
                                        </p:tgtEl>
                                        <p:attrNameLst>
                                          <p:attrName>style.visibility</p:attrName>
                                        </p:attrNameLst>
                                      </p:cBhvr>
                                      <p:to>
                                        <p:strVal val="visible"/>
                                      </p:to>
                                    </p:set>
                                  </p:childTnLst>
                                </p:cTn>
                              </p:par>
                            </p:childTnLst>
                          </p:cTn>
                        </p:par>
                      </p:childTnLst>
                    </p:cTn>
                  </p:par>
                  <p:par>
                    <p:cTn id="23" fill="hold">
                      <p:stCondLst>
                        <p:cond delay="indefinite"/>
                      </p:stCondLst>
                      <p:childTnLst>
                        <p:par>
                          <p:cTn id="24" fill="hold">
                            <p:stCondLst>
                              <p:cond delay="0"/>
                            </p:stCondLst>
                            <p:childTnLst>
                              <p:par>
                                <p:cTn id="25" presetID="1" presetClass="entr" presetSubtype="0" fill="hold" grpId="0" nodeType="clickEffect">
                                  <p:stCondLst>
                                    <p:cond delay="0"/>
                                  </p:stCondLst>
                                  <p:childTnLst>
                                    <p:set>
                                      <p:cBhvr>
                                        <p:cTn id="26" dur="1" fill="hold">
                                          <p:stCondLst>
                                            <p:cond delay="0"/>
                                          </p:stCondLst>
                                        </p:cTn>
                                        <p:tgtEl>
                                          <p:spTgt spid="4">
                                            <p:txEl>
                                              <p:pRg st="5" end="5"/>
                                            </p:txEl>
                                          </p:spTgt>
                                        </p:tgtEl>
                                        <p:attrNameLst>
                                          <p:attrName>style.visibility</p:attrName>
                                        </p:attrNameLst>
                                      </p:cBhvr>
                                      <p:to>
                                        <p:strVal val="visible"/>
                                      </p:to>
                                    </p:set>
                                  </p:childTnLst>
                                </p:cTn>
                              </p:par>
                            </p:childTnLst>
                          </p:cTn>
                        </p:par>
                      </p:childTnLst>
                    </p:cTn>
                  </p:par>
                  <p:par>
                    <p:cTn id="27" fill="hold">
                      <p:stCondLst>
                        <p:cond delay="indefinite"/>
                      </p:stCondLst>
                      <p:childTnLst>
                        <p:par>
                          <p:cTn id="28" fill="hold">
                            <p:stCondLst>
                              <p:cond delay="0"/>
                            </p:stCondLst>
                            <p:childTnLst>
                              <p:par>
                                <p:cTn id="29" presetID="1" presetClass="entr" presetSubtype="0" fill="hold" grpId="0" nodeType="clickEffect">
                                  <p:stCondLst>
                                    <p:cond delay="0"/>
                                  </p:stCondLst>
                                  <p:childTnLst>
                                    <p:set>
                                      <p:cBhvr>
                                        <p:cTn id="30" dur="1" fill="hold">
                                          <p:stCondLst>
                                            <p:cond delay="0"/>
                                          </p:stCondLst>
                                        </p:cTn>
                                        <p:tgtEl>
                                          <p:spTgt spid="4">
                                            <p:txEl>
                                              <p:pRg st="6" end="6"/>
                                            </p:txEl>
                                          </p:spTgt>
                                        </p:tgtEl>
                                        <p:attrNameLst>
                                          <p:attrName>style.visibility</p:attrName>
                                        </p:attrNameLst>
                                      </p:cBhvr>
                                      <p:to>
                                        <p:strVal val="visible"/>
                                      </p:to>
                                    </p:set>
                                  </p:childTnLst>
                                </p:cTn>
                              </p:par>
                            </p:childTnLst>
                          </p:cTn>
                        </p:par>
                      </p:childTnLst>
                    </p:cTn>
                  </p:par>
                  <p:par>
                    <p:cTn id="31" fill="hold">
                      <p:stCondLst>
                        <p:cond delay="indefinite"/>
                      </p:stCondLst>
                      <p:childTnLst>
                        <p:par>
                          <p:cTn id="32" fill="hold">
                            <p:stCondLst>
                              <p:cond delay="0"/>
                            </p:stCondLst>
                            <p:childTnLst>
                              <p:par>
                                <p:cTn id="33" presetID="1" presetClass="entr" presetSubtype="0" fill="hold" grpId="0" nodeType="clickEffect">
                                  <p:stCondLst>
                                    <p:cond delay="0"/>
                                  </p:stCondLst>
                                  <p:childTnLst>
                                    <p:set>
                                      <p:cBhvr>
                                        <p:cTn id="34" dur="1" fill="hold">
                                          <p:stCondLst>
                                            <p:cond delay="0"/>
                                          </p:stCondLst>
                                        </p:cTn>
                                        <p:tgtEl>
                                          <p:spTgt spid="4">
                                            <p:txEl>
                                              <p:pRg st="7" end="7"/>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build="p"/>
    </p:bldLst>
  </p:timing>
</p:sld>
</file>

<file path=ppt/slides/slide7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695401" y="395786"/>
            <a:ext cx="8004099" cy="838202"/>
          </a:xfrm>
        </p:spPr>
        <p:txBody>
          <a:bodyPr/>
          <a:lstStyle/>
          <a:p>
            <a:r>
              <a:rPr lang="en-IN" b="1" dirty="0">
                <a:solidFill>
                  <a:srgbClr val="FF0000"/>
                </a:solidFill>
              </a:rPr>
              <a:t>Entity Relationship Model( E-R Model)</a:t>
            </a:r>
            <a:endParaRPr lang="en-IN" dirty="0">
              <a:solidFill>
                <a:srgbClr val="FF0000"/>
              </a:solidFill>
            </a:endParaRPr>
          </a:p>
        </p:txBody>
      </p:sp>
      <p:sp>
        <p:nvSpPr>
          <p:cNvPr id="3" name="Text Placeholder 2"/>
          <p:cNvSpPr>
            <a:spLocks noGrp="1"/>
          </p:cNvSpPr>
          <p:nvPr>
            <p:ph type="body" sz="quarter" idx="17"/>
          </p:nvPr>
        </p:nvSpPr>
        <p:spPr>
          <a:xfrm>
            <a:off x="695401" y="1428751"/>
            <a:ext cx="6162599" cy="4540249"/>
          </a:xfrm>
        </p:spPr>
        <p:txBody>
          <a:bodyPr/>
          <a:lstStyle/>
          <a:p>
            <a:pPr lvl="0" algn="just">
              <a:buFont typeface="Arial" panose="020B0604020202020204" pitchFamily="34" charset="0"/>
              <a:buChar char="•"/>
            </a:pPr>
            <a:r>
              <a:rPr lang="en-IN" dirty="0">
                <a:solidFill>
                  <a:schemeClr val="tx1"/>
                </a:solidFill>
              </a:rPr>
              <a:t>High-level data model.</a:t>
            </a:r>
          </a:p>
          <a:p>
            <a:pPr lvl="0" algn="just">
              <a:buFont typeface="Arial" panose="020B0604020202020204" pitchFamily="34" charset="0"/>
              <a:buChar char="•"/>
            </a:pPr>
            <a:r>
              <a:rPr lang="en-IN" dirty="0">
                <a:solidFill>
                  <a:schemeClr val="tx1"/>
                </a:solidFill>
              </a:rPr>
              <a:t>Developed in 1976.</a:t>
            </a:r>
          </a:p>
          <a:p>
            <a:pPr lvl="0" algn="just">
              <a:buFont typeface="Arial" panose="020B0604020202020204" pitchFamily="34" charset="0"/>
              <a:buChar char="•"/>
            </a:pPr>
            <a:r>
              <a:rPr lang="en-IN" dirty="0">
                <a:solidFill>
                  <a:schemeClr val="tx1"/>
                </a:solidFill>
              </a:rPr>
              <a:t>Useful in developing a conceptual design for the database.</a:t>
            </a:r>
          </a:p>
          <a:p>
            <a:pPr lvl="0" algn="just">
              <a:buFont typeface="Arial" panose="020B0604020202020204" pitchFamily="34" charset="0"/>
              <a:buChar char="•"/>
            </a:pPr>
            <a:r>
              <a:rPr lang="en-IN" dirty="0">
                <a:solidFill>
                  <a:schemeClr val="tx1"/>
                </a:solidFill>
              </a:rPr>
              <a:t>Simple and easy to design logical view of data.</a:t>
            </a:r>
          </a:p>
          <a:p>
            <a:pPr lvl="0" algn="just">
              <a:buFont typeface="Arial" panose="020B0604020202020204" pitchFamily="34" charset="0"/>
              <a:buChar char="•"/>
            </a:pPr>
            <a:r>
              <a:rPr lang="en-IN" dirty="0">
                <a:solidFill>
                  <a:schemeClr val="tx1"/>
                </a:solidFill>
              </a:rPr>
              <a:t>Easy to understand the system by looking at an ER model constructed.</a:t>
            </a:r>
          </a:p>
        </p:txBody>
      </p:sp>
      <p:pic>
        <p:nvPicPr>
          <p:cNvPr id="4" name="Picture 3" descr="er-model"/>
          <p:cNvPicPr/>
          <p:nvPr/>
        </p:nvPicPr>
        <p:blipFill rotWithShape="1">
          <a:blip r:embed="rId2" cstate="print"/>
          <a:srcRect b="15365"/>
          <a:stretch/>
        </p:blipFill>
        <p:spPr bwMode="auto">
          <a:xfrm>
            <a:off x="6921500" y="2286001"/>
            <a:ext cx="4953000" cy="2667000"/>
          </a:xfrm>
          <a:prstGeom prst="rect">
            <a:avLst/>
          </a:prstGeom>
          <a:noFill/>
          <a:ln w="9525">
            <a:noFill/>
            <a:miter lim="800000"/>
            <a:headEnd/>
            <a:tailEnd/>
          </a:ln>
        </p:spPr>
      </p:pic>
    </p:spTree>
    <p:extLst>
      <p:ext uri="{BB962C8B-B14F-4D97-AF65-F5344CB8AC3E}">
        <p14:creationId xmlns:p14="http://schemas.microsoft.com/office/powerpoint/2010/main" val="2108319376"/>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3">
                                            <p:txEl>
                                              <p:pRg st="1" end="1"/>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grpId="0" nodeType="clickEffect">
                                  <p:stCondLst>
                                    <p:cond delay="0"/>
                                  </p:stCondLst>
                                  <p:childTnLst>
                                    <p:set>
                                      <p:cBhvr>
                                        <p:cTn id="14" dur="1" fill="hold">
                                          <p:stCondLst>
                                            <p:cond delay="0"/>
                                          </p:stCondLst>
                                        </p:cTn>
                                        <p:tgtEl>
                                          <p:spTgt spid="3">
                                            <p:txEl>
                                              <p:pRg st="2" end="2"/>
                                            </p:txEl>
                                          </p:spTgt>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grpId="0" nodeType="clickEffect">
                                  <p:stCondLst>
                                    <p:cond delay="0"/>
                                  </p:stCondLst>
                                  <p:childTnLst>
                                    <p:set>
                                      <p:cBhvr>
                                        <p:cTn id="18" dur="1" fill="hold">
                                          <p:stCondLst>
                                            <p:cond delay="0"/>
                                          </p:stCondLst>
                                        </p:cTn>
                                        <p:tgtEl>
                                          <p:spTgt spid="3">
                                            <p:txEl>
                                              <p:pRg st="3" end="3"/>
                                            </p:txEl>
                                          </p:spTgt>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grpId="0" nodeType="clickEffect">
                                  <p:stCondLst>
                                    <p:cond delay="0"/>
                                  </p:stCondLst>
                                  <p:childTnLst>
                                    <p:set>
                                      <p:cBhvr>
                                        <p:cTn id="22" dur="1" fill="hold">
                                          <p:stCondLst>
                                            <p:cond delay="0"/>
                                          </p:stCondLst>
                                        </p:cTn>
                                        <p:tgtEl>
                                          <p:spTgt spid="3">
                                            <p:txEl>
                                              <p:pRg st="4" end="4"/>
                                            </p:txEl>
                                          </p:spTgt>
                                        </p:tgtEl>
                                        <p:attrNameLst>
                                          <p:attrName>style.visibility</p:attrName>
                                        </p:attrNameLst>
                                      </p:cBhvr>
                                      <p:to>
                                        <p:strVal val="visible"/>
                                      </p:to>
                                    </p:set>
                                  </p:childTnLst>
                                </p:cTn>
                              </p:par>
                            </p:childTnLst>
                          </p:cTn>
                        </p:par>
                      </p:childTnLst>
                    </p:cTn>
                  </p:par>
                  <p:par>
                    <p:cTn id="23" fill="hold">
                      <p:stCondLst>
                        <p:cond delay="indefinite"/>
                      </p:stCondLst>
                      <p:childTnLst>
                        <p:par>
                          <p:cTn id="24" fill="hold">
                            <p:stCondLst>
                              <p:cond delay="0"/>
                            </p:stCondLst>
                            <p:childTnLst>
                              <p:par>
                                <p:cTn id="25" presetID="1" presetClass="entr" presetSubtype="0" fill="hold" nodeType="clickEffect">
                                  <p:stCondLst>
                                    <p:cond delay="0"/>
                                  </p:stCondLst>
                                  <p:childTnLst>
                                    <p:set>
                                      <p:cBhvr>
                                        <p:cTn id="26" dur="1" fill="hold">
                                          <p:stCondLst>
                                            <p:cond delay="0"/>
                                          </p:stCondLst>
                                        </p:cTn>
                                        <p:tgtEl>
                                          <p:spTgt spid="4"/>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build="p"/>
    </p:bldLst>
  </p:timing>
</p:sld>
</file>

<file path=ppt/slides/slide7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762000" y="378943"/>
            <a:ext cx="6211927" cy="838202"/>
          </a:xfrm>
        </p:spPr>
        <p:txBody>
          <a:bodyPr/>
          <a:lstStyle/>
          <a:p>
            <a:r>
              <a:rPr lang="en-IN" b="1" dirty="0">
                <a:solidFill>
                  <a:srgbClr val="FF0000"/>
                </a:solidFill>
              </a:rPr>
              <a:t>Network Database Model</a:t>
            </a:r>
            <a:endParaRPr lang="en-IN" dirty="0">
              <a:solidFill>
                <a:srgbClr val="FF0000"/>
              </a:solidFill>
            </a:endParaRPr>
          </a:p>
        </p:txBody>
      </p:sp>
      <p:sp>
        <p:nvSpPr>
          <p:cNvPr id="3" name="Text Placeholder 2"/>
          <p:cNvSpPr>
            <a:spLocks noGrp="1"/>
          </p:cNvSpPr>
          <p:nvPr>
            <p:ph type="body" sz="quarter" idx="17"/>
          </p:nvPr>
        </p:nvSpPr>
        <p:spPr>
          <a:xfrm>
            <a:off x="1016000" y="1238249"/>
            <a:ext cx="6540500" cy="5016500"/>
          </a:xfrm>
        </p:spPr>
        <p:txBody>
          <a:bodyPr/>
          <a:lstStyle/>
          <a:p>
            <a:pPr lvl="0" algn="just">
              <a:buFont typeface="Arial" panose="020B0604020202020204" pitchFamily="34" charset="0"/>
              <a:buChar char="•"/>
            </a:pPr>
            <a:r>
              <a:rPr lang="en-IN" dirty="0">
                <a:solidFill>
                  <a:schemeClr val="tx1"/>
                </a:solidFill>
              </a:rPr>
              <a:t>Similar to Hierarchical Model.</a:t>
            </a:r>
          </a:p>
          <a:p>
            <a:pPr lvl="0" algn="just">
              <a:buFont typeface="Arial" panose="020B0604020202020204" pitchFamily="34" charset="0"/>
              <a:buChar char="•"/>
            </a:pPr>
            <a:r>
              <a:rPr lang="en-IN" dirty="0">
                <a:solidFill>
                  <a:schemeClr val="tx1"/>
                </a:solidFill>
              </a:rPr>
              <a:t>Difference is that it allows a record to have more than one parent.</a:t>
            </a:r>
          </a:p>
          <a:p>
            <a:pPr lvl="0" algn="just">
              <a:buFont typeface="Arial" panose="020B0604020202020204" pitchFamily="34" charset="0"/>
              <a:buChar char="•"/>
            </a:pPr>
            <a:r>
              <a:rPr lang="en-IN" dirty="0">
                <a:solidFill>
                  <a:schemeClr val="tx1"/>
                </a:solidFill>
              </a:rPr>
              <a:t>No need of parent to child association.</a:t>
            </a:r>
          </a:p>
          <a:p>
            <a:pPr lvl="0" algn="just">
              <a:buFont typeface="Arial" panose="020B0604020202020204" pitchFamily="34" charset="0"/>
              <a:buChar char="•"/>
            </a:pPr>
            <a:r>
              <a:rPr lang="en-IN" dirty="0">
                <a:solidFill>
                  <a:schemeClr val="tx1"/>
                </a:solidFill>
              </a:rPr>
              <a:t>Replaces the hierarchical tree with a graph.</a:t>
            </a:r>
          </a:p>
          <a:p>
            <a:pPr lvl="0" algn="just">
              <a:buFont typeface="Arial" panose="020B0604020202020204" pitchFamily="34" charset="0"/>
              <a:buChar char="•"/>
            </a:pPr>
            <a:r>
              <a:rPr lang="en-IN" dirty="0">
                <a:solidFill>
                  <a:schemeClr val="tx1"/>
                </a:solidFill>
              </a:rPr>
              <a:t>Represents the data as record types and one-to-many relationship.</a:t>
            </a:r>
          </a:p>
          <a:p>
            <a:pPr lvl="0" algn="just">
              <a:buFont typeface="Arial" panose="020B0604020202020204" pitchFamily="34" charset="0"/>
              <a:buChar char="•"/>
            </a:pPr>
            <a:r>
              <a:rPr lang="en-IN" dirty="0">
                <a:solidFill>
                  <a:schemeClr val="tx1"/>
                </a:solidFill>
              </a:rPr>
              <a:t>Easy to design and understand.</a:t>
            </a:r>
          </a:p>
        </p:txBody>
      </p:sp>
      <p:pic>
        <p:nvPicPr>
          <p:cNvPr id="4" name="Picture 3" descr="network model"/>
          <p:cNvPicPr/>
          <p:nvPr/>
        </p:nvPicPr>
        <p:blipFill rotWithShape="1">
          <a:blip r:embed="rId2" cstate="print"/>
          <a:srcRect b="14753"/>
          <a:stretch/>
        </p:blipFill>
        <p:spPr bwMode="auto">
          <a:xfrm>
            <a:off x="8001000" y="1778001"/>
            <a:ext cx="3627438" cy="3936999"/>
          </a:xfrm>
          <a:prstGeom prst="rect">
            <a:avLst/>
          </a:prstGeom>
          <a:noFill/>
          <a:ln w="9525">
            <a:noFill/>
            <a:miter lim="800000"/>
            <a:headEnd/>
            <a:tailEnd/>
          </a:ln>
        </p:spPr>
      </p:pic>
    </p:spTree>
    <p:extLst>
      <p:ext uri="{BB962C8B-B14F-4D97-AF65-F5344CB8AC3E}">
        <p14:creationId xmlns:p14="http://schemas.microsoft.com/office/powerpoint/2010/main" val="3558102581"/>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3">
                                            <p:txEl>
                                              <p:pRg st="1" end="1"/>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grpId="0" nodeType="clickEffect">
                                  <p:stCondLst>
                                    <p:cond delay="0"/>
                                  </p:stCondLst>
                                  <p:childTnLst>
                                    <p:set>
                                      <p:cBhvr>
                                        <p:cTn id="14" dur="1" fill="hold">
                                          <p:stCondLst>
                                            <p:cond delay="0"/>
                                          </p:stCondLst>
                                        </p:cTn>
                                        <p:tgtEl>
                                          <p:spTgt spid="3">
                                            <p:txEl>
                                              <p:pRg st="2" end="2"/>
                                            </p:txEl>
                                          </p:spTgt>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grpId="0" nodeType="clickEffect">
                                  <p:stCondLst>
                                    <p:cond delay="0"/>
                                  </p:stCondLst>
                                  <p:childTnLst>
                                    <p:set>
                                      <p:cBhvr>
                                        <p:cTn id="18" dur="1" fill="hold">
                                          <p:stCondLst>
                                            <p:cond delay="0"/>
                                          </p:stCondLst>
                                        </p:cTn>
                                        <p:tgtEl>
                                          <p:spTgt spid="3">
                                            <p:txEl>
                                              <p:pRg st="3" end="3"/>
                                            </p:txEl>
                                          </p:spTgt>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grpId="0" nodeType="clickEffect">
                                  <p:stCondLst>
                                    <p:cond delay="0"/>
                                  </p:stCondLst>
                                  <p:childTnLst>
                                    <p:set>
                                      <p:cBhvr>
                                        <p:cTn id="22" dur="1" fill="hold">
                                          <p:stCondLst>
                                            <p:cond delay="0"/>
                                          </p:stCondLst>
                                        </p:cTn>
                                        <p:tgtEl>
                                          <p:spTgt spid="3">
                                            <p:txEl>
                                              <p:pRg st="4" end="4"/>
                                            </p:txEl>
                                          </p:spTgt>
                                        </p:tgtEl>
                                        <p:attrNameLst>
                                          <p:attrName>style.visibility</p:attrName>
                                        </p:attrNameLst>
                                      </p:cBhvr>
                                      <p:to>
                                        <p:strVal val="visible"/>
                                      </p:to>
                                    </p:set>
                                  </p:childTnLst>
                                </p:cTn>
                              </p:par>
                            </p:childTnLst>
                          </p:cTn>
                        </p:par>
                      </p:childTnLst>
                    </p:cTn>
                  </p:par>
                  <p:par>
                    <p:cTn id="23" fill="hold">
                      <p:stCondLst>
                        <p:cond delay="indefinite"/>
                      </p:stCondLst>
                      <p:childTnLst>
                        <p:par>
                          <p:cTn id="24" fill="hold">
                            <p:stCondLst>
                              <p:cond delay="0"/>
                            </p:stCondLst>
                            <p:childTnLst>
                              <p:par>
                                <p:cTn id="25" presetID="1" presetClass="entr" presetSubtype="0" fill="hold" grpId="0" nodeType="clickEffect">
                                  <p:stCondLst>
                                    <p:cond delay="0"/>
                                  </p:stCondLst>
                                  <p:childTnLst>
                                    <p:set>
                                      <p:cBhvr>
                                        <p:cTn id="26" dur="1" fill="hold">
                                          <p:stCondLst>
                                            <p:cond delay="0"/>
                                          </p:stCondLst>
                                        </p:cTn>
                                        <p:tgtEl>
                                          <p:spTgt spid="3">
                                            <p:txEl>
                                              <p:pRg st="5" end="5"/>
                                            </p:txEl>
                                          </p:spTgt>
                                        </p:tgtEl>
                                        <p:attrNameLst>
                                          <p:attrName>style.visibility</p:attrName>
                                        </p:attrNameLst>
                                      </p:cBhvr>
                                      <p:to>
                                        <p:strVal val="visible"/>
                                      </p:to>
                                    </p:set>
                                  </p:childTnLst>
                                </p:cTn>
                              </p:par>
                            </p:childTnLst>
                          </p:cTn>
                        </p:par>
                      </p:childTnLst>
                    </p:cTn>
                  </p:par>
                  <p:par>
                    <p:cTn id="27" fill="hold">
                      <p:stCondLst>
                        <p:cond delay="indefinite"/>
                      </p:stCondLst>
                      <p:childTnLst>
                        <p:par>
                          <p:cTn id="28" fill="hold">
                            <p:stCondLst>
                              <p:cond delay="0"/>
                            </p:stCondLst>
                            <p:childTnLst>
                              <p:par>
                                <p:cTn id="29" presetID="1" presetClass="entr" presetSubtype="0" fill="hold" nodeType="clickEffect">
                                  <p:stCondLst>
                                    <p:cond delay="0"/>
                                  </p:stCondLst>
                                  <p:childTnLst>
                                    <p:set>
                                      <p:cBhvr>
                                        <p:cTn id="30" dur="1" fill="hold">
                                          <p:stCondLst>
                                            <p:cond delay="0"/>
                                          </p:stCondLst>
                                        </p:cTn>
                                        <p:tgtEl>
                                          <p:spTgt spid="4"/>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build="p"/>
    </p:bldLst>
  </p:timing>
</p:sld>
</file>

<file path=ppt/slides/slide7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IN" b="1" dirty="0">
                <a:solidFill>
                  <a:srgbClr val="FF0000"/>
                </a:solidFill>
              </a:rPr>
              <a:t> Relational Model</a:t>
            </a:r>
            <a:endParaRPr lang="en-IN" dirty="0">
              <a:solidFill>
                <a:srgbClr val="FF0000"/>
              </a:solidFill>
            </a:endParaRPr>
          </a:p>
        </p:txBody>
      </p:sp>
      <p:sp>
        <p:nvSpPr>
          <p:cNvPr id="3" name="Text Placeholder 2"/>
          <p:cNvSpPr>
            <a:spLocks noGrp="1"/>
          </p:cNvSpPr>
          <p:nvPr>
            <p:ph type="body" sz="quarter" idx="17"/>
          </p:nvPr>
        </p:nvSpPr>
        <p:spPr>
          <a:xfrm>
            <a:off x="695401" y="1397001"/>
            <a:ext cx="5845099" cy="4127499"/>
          </a:xfrm>
        </p:spPr>
        <p:txBody>
          <a:bodyPr/>
          <a:lstStyle/>
          <a:p>
            <a:pPr marL="380985" marR="47623" indent="-380985">
              <a:lnSpc>
                <a:spcPct val="115000"/>
              </a:lnSpc>
              <a:spcAft>
                <a:spcPts val="0"/>
              </a:spcAft>
              <a:buSzPts val="1000"/>
              <a:buFont typeface="Arial" panose="020B0604020202020204" pitchFamily="34" charset="0"/>
              <a:buChar char="•"/>
              <a:tabLst>
                <a:tab pos="380985" algn="l"/>
              </a:tabLst>
            </a:pPr>
            <a:r>
              <a:rPr lang="en-IN" dirty="0">
                <a:solidFill>
                  <a:srgbClr val="000000"/>
                </a:solidFill>
                <a:latin typeface="Roboto Medium"/>
                <a:ea typeface="Times New Roman"/>
                <a:cs typeface="Times New Roman"/>
              </a:rPr>
              <a:t>Based on first-order predicate logic.</a:t>
            </a:r>
          </a:p>
          <a:p>
            <a:pPr marL="380985" marR="47623" indent="-380985">
              <a:lnSpc>
                <a:spcPct val="115000"/>
              </a:lnSpc>
              <a:spcAft>
                <a:spcPts val="0"/>
              </a:spcAft>
              <a:buSzPts val="1000"/>
              <a:buFont typeface="Arial" panose="020B0604020202020204" pitchFamily="34" charset="0"/>
              <a:buChar char="•"/>
              <a:tabLst>
                <a:tab pos="380985" algn="l"/>
              </a:tabLst>
            </a:pPr>
            <a:r>
              <a:rPr lang="en-IN" dirty="0">
                <a:solidFill>
                  <a:srgbClr val="000000"/>
                </a:solidFill>
                <a:latin typeface="Roboto Medium"/>
                <a:ea typeface="Times New Roman"/>
                <a:cs typeface="Times New Roman"/>
              </a:rPr>
              <a:t>This model was first proposed by       </a:t>
            </a:r>
            <a:r>
              <a:rPr lang="en-IN" dirty="0" err="1">
                <a:solidFill>
                  <a:srgbClr val="000000"/>
                </a:solidFill>
                <a:latin typeface="Roboto Medium"/>
                <a:ea typeface="Times New Roman"/>
                <a:cs typeface="Times New Roman"/>
              </a:rPr>
              <a:t>Dr.</a:t>
            </a:r>
            <a:r>
              <a:rPr lang="en-IN" dirty="0">
                <a:solidFill>
                  <a:srgbClr val="000000"/>
                </a:solidFill>
                <a:latin typeface="Roboto Medium"/>
                <a:ea typeface="Times New Roman"/>
                <a:cs typeface="Times New Roman"/>
              </a:rPr>
              <a:t> E. F. Codd.(Father of RDBMS)</a:t>
            </a:r>
          </a:p>
          <a:p>
            <a:pPr marL="380985" marR="47623" indent="-380985">
              <a:lnSpc>
                <a:spcPct val="115000"/>
              </a:lnSpc>
              <a:spcAft>
                <a:spcPts val="0"/>
              </a:spcAft>
              <a:buSzPts val="1000"/>
              <a:buFont typeface="Arial" panose="020B0604020202020204" pitchFamily="34" charset="0"/>
              <a:buChar char="•"/>
              <a:tabLst>
                <a:tab pos="380985" algn="l"/>
              </a:tabLst>
            </a:pPr>
            <a:endParaRPr lang="en-IN" dirty="0">
              <a:latin typeface="Roboto Medium"/>
              <a:ea typeface="Times New Roman"/>
              <a:cs typeface="Times New Roman"/>
            </a:endParaRPr>
          </a:p>
          <a:p>
            <a:pPr marL="380985" marR="47623" indent="-380985">
              <a:lnSpc>
                <a:spcPct val="115000"/>
              </a:lnSpc>
              <a:spcAft>
                <a:spcPts val="0"/>
              </a:spcAft>
              <a:buSzPts val="1000"/>
              <a:buFont typeface="Arial" panose="020B0604020202020204" pitchFamily="34" charset="0"/>
              <a:buChar char="•"/>
              <a:tabLst>
                <a:tab pos="380985" algn="l"/>
              </a:tabLst>
            </a:pPr>
            <a:r>
              <a:rPr lang="en-IN" dirty="0">
                <a:solidFill>
                  <a:srgbClr val="000000"/>
                </a:solidFill>
                <a:latin typeface="Roboto Medium"/>
                <a:ea typeface="Times New Roman"/>
                <a:cs typeface="Times New Roman"/>
              </a:rPr>
              <a:t>It represents data as relations or tables.</a:t>
            </a:r>
          </a:p>
          <a:p>
            <a:pPr marL="380985" marR="47623" indent="-380985">
              <a:lnSpc>
                <a:spcPct val="115000"/>
              </a:lnSpc>
              <a:spcAft>
                <a:spcPts val="0"/>
              </a:spcAft>
              <a:buSzPts val="1000"/>
              <a:buFont typeface="Arial" panose="020B0604020202020204" pitchFamily="34" charset="0"/>
              <a:buChar char="•"/>
              <a:tabLst>
                <a:tab pos="380985" algn="l"/>
              </a:tabLst>
            </a:pPr>
            <a:endParaRPr lang="en-IN" dirty="0">
              <a:solidFill>
                <a:srgbClr val="000000"/>
              </a:solidFill>
              <a:latin typeface="Roboto Medium"/>
              <a:ea typeface="Times New Roman"/>
              <a:cs typeface="Times New Roman"/>
            </a:endParaRPr>
          </a:p>
          <a:p>
            <a:pPr marL="380985" marR="47623" indent="-380985">
              <a:lnSpc>
                <a:spcPct val="115000"/>
              </a:lnSpc>
              <a:spcAft>
                <a:spcPts val="0"/>
              </a:spcAft>
              <a:buSzPts val="1000"/>
              <a:buFont typeface="Arial" panose="020B0604020202020204" pitchFamily="34" charset="0"/>
              <a:buChar char="•"/>
              <a:tabLst>
                <a:tab pos="380985" algn="l"/>
              </a:tabLst>
            </a:pPr>
            <a:r>
              <a:rPr lang="en-IN" dirty="0">
                <a:solidFill>
                  <a:srgbClr val="000000"/>
                </a:solidFill>
                <a:latin typeface="Roboto Medium"/>
                <a:ea typeface="Times New Roman"/>
                <a:cs typeface="Times New Roman"/>
              </a:rPr>
              <a:t>Simplifies the database structure by making use of tables and columns.</a:t>
            </a:r>
            <a:endParaRPr lang="en-IN" dirty="0">
              <a:latin typeface="Roboto Medium"/>
              <a:ea typeface="Calibri"/>
              <a:cs typeface="Times New Roman"/>
            </a:endParaRPr>
          </a:p>
          <a:p>
            <a:pPr marL="380985" indent="-380985">
              <a:buFont typeface="Arial" panose="020B0604020202020204" pitchFamily="34" charset="0"/>
              <a:buChar char="•"/>
            </a:pPr>
            <a:endParaRPr lang="en-IN" dirty="0">
              <a:latin typeface="Roboto Medium"/>
            </a:endParaRPr>
          </a:p>
        </p:txBody>
      </p:sp>
      <p:pic>
        <p:nvPicPr>
          <p:cNvPr id="4" name="Picture 3" descr="relational model"/>
          <p:cNvPicPr/>
          <p:nvPr/>
        </p:nvPicPr>
        <p:blipFill rotWithShape="1">
          <a:blip r:embed="rId3" cstate="print"/>
          <a:srcRect b="11429"/>
          <a:stretch/>
        </p:blipFill>
        <p:spPr bwMode="auto">
          <a:xfrm>
            <a:off x="6924646" y="1397001"/>
            <a:ext cx="4318000" cy="3936999"/>
          </a:xfrm>
          <a:prstGeom prst="rect">
            <a:avLst/>
          </a:prstGeom>
          <a:noFill/>
          <a:ln w="9525">
            <a:noFill/>
            <a:miter lim="800000"/>
            <a:headEnd/>
            <a:tailEnd/>
          </a:ln>
        </p:spPr>
      </p:pic>
    </p:spTree>
    <p:extLst>
      <p:ext uri="{BB962C8B-B14F-4D97-AF65-F5344CB8AC3E}">
        <p14:creationId xmlns:p14="http://schemas.microsoft.com/office/powerpoint/2010/main" val="2552429379"/>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3">
                                            <p:txEl>
                                              <p:pRg st="1" end="1"/>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grpId="0" nodeType="clickEffect">
                                  <p:stCondLst>
                                    <p:cond delay="0"/>
                                  </p:stCondLst>
                                  <p:childTnLst>
                                    <p:set>
                                      <p:cBhvr>
                                        <p:cTn id="14" dur="1" fill="hold">
                                          <p:stCondLst>
                                            <p:cond delay="0"/>
                                          </p:stCondLst>
                                        </p:cTn>
                                        <p:tgtEl>
                                          <p:spTgt spid="3">
                                            <p:txEl>
                                              <p:pRg st="3" end="3"/>
                                            </p:txEl>
                                          </p:spTgt>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grpId="0" nodeType="clickEffect">
                                  <p:stCondLst>
                                    <p:cond delay="0"/>
                                  </p:stCondLst>
                                  <p:childTnLst>
                                    <p:set>
                                      <p:cBhvr>
                                        <p:cTn id="18" dur="1" fill="hold">
                                          <p:stCondLst>
                                            <p:cond delay="0"/>
                                          </p:stCondLst>
                                        </p:cTn>
                                        <p:tgtEl>
                                          <p:spTgt spid="3">
                                            <p:txEl>
                                              <p:pRg st="5" end="5"/>
                                            </p:txEl>
                                          </p:spTgt>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nodeType="clickEffect">
                                  <p:stCondLst>
                                    <p:cond delay="0"/>
                                  </p:stCondLst>
                                  <p:childTnLst>
                                    <p:set>
                                      <p:cBhvr>
                                        <p:cTn id="22" dur="1" fill="hold">
                                          <p:stCondLst>
                                            <p:cond delay="0"/>
                                          </p:stCondLst>
                                        </p:cTn>
                                        <p:tgtEl>
                                          <p:spTgt spid="4"/>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build="p"/>
    </p:bldLst>
  </p:timing>
</p:sld>
</file>

<file path=ppt/slides/slide7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3"/>
          <p:cNvSpPr>
            <a:spLocks noGrp="1"/>
          </p:cNvSpPr>
          <p:nvPr>
            <p:ph type="title"/>
          </p:nvPr>
        </p:nvSpPr>
        <p:spPr>
          <a:xfrm>
            <a:off x="695401" y="395786"/>
            <a:ext cx="8067599" cy="838202"/>
          </a:xfrm>
        </p:spPr>
        <p:txBody>
          <a:bodyPr/>
          <a:lstStyle/>
          <a:p>
            <a:r>
              <a:rPr lang="en-US" b="1" dirty="0">
                <a:solidFill>
                  <a:srgbClr val="FF0000"/>
                </a:solidFill>
              </a:rPr>
              <a:t>Advantages of database system</a:t>
            </a:r>
          </a:p>
        </p:txBody>
      </p:sp>
      <p:sp>
        <p:nvSpPr>
          <p:cNvPr id="5" name="Text Placeholder 4"/>
          <p:cNvSpPr>
            <a:spLocks noGrp="1"/>
          </p:cNvSpPr>
          <p:nvPr>
            <p:ph type="body" sz="quarter" idx="17"/>
          </p:nvPr>
        </p:nvSpPr>
        <p:spPr>
          <a:xfrm>
            <a:off x="681890" y="1524000"/>
            <a:ext cx="5400599" cy="4320480"/>
          </a:xfrm>
        </p:spPr>
        <p:txBody>
          <a:bodyPr/>
          <a:lstStyle/>
          <a:p>
            <a:pPr>
              <a:buFont typeface="Arial" panose="020B0604020202020204" pitchFamily="34" charset="0"/>
              <a:buChar char="•"/>
            </a:pPr>
            <a:r>
              <a:rPr lang="en-US" dirty="0">
                <a:solidFill>
                  <a:schemeClr val="tx1"/>
                </a:solidFill>
              </a:rPr>
              <a:t>Controlled data redundancy</a:t>
            </a:r>
          </a:p>
          <a:p>
            <a:pPr>
              <a:buFont typeface="Arial" panose="020B0604020202020204" pitchFamily="34" charset="0"/>
              <a:buChar char="•"/>
            </a:pPr>
            <a:r>
              <a:rPr lang="en-US" dirty="0">
                <a:solidFill>
                  <a:schemeClr val="tx1"/>
                </a:solidFill>
              </a:rPr>
              <a:t>Enforcing data integrity</a:t>
            </a:r>
          </a:p>
          <a:p>
            <a:pPr>
              <a:buFont typeface="Arial" panose="020B0604020202020204" pitchFamily="34" charset="0"/>
              <a:buChar char="•"/>
            </a:pPr>
            <a:r>
              <a:rPr lang="en-US" dirty="0">
                <a:solidFill>
                  <a:schemeClr val="tx1"/>
                </a:solidFill>
              </a:rPr>
              <a:t>Data sharing</a:t>
            </a:r>
          </a:p>
          <a:p>
            <a:pPr>
              <a:buFont typeface="Arial" panose="020B0604020202020204" pitchFamily="34" charset="0"/>
              <a:buChar char="•"/>
            </a:pPr>
            <a:r>
              <a:rPr lang="en-US" dirty="0">
                <a:solidFill>
                  <a:schemeClr val="tx1"/>
                </a:solidFill>
              </a:rPr>
              <a:t>Ease of application development</a:t>
            </a:r>
          </a:p>
          <a:p>
            <a:pPr>
              <a:buFont typeface="Arial" panose="020B0604020202020204" pitchFamily="34" charset="0"/>
              <a:buChar char="•"/>
            </a:pPr>
            <a:r>
              <a:rPr lang="en-US" dirty="0">
                <a:solidFill>
                  <a:schemeClr val="tx1"/>
                </a:solidFill>
              </a:rPr>
              <a:t>Data security</a:t>
            </a:r>
          </a:p>
          <a:p>
            <a:pPr>
              <a:buFont typeface="Arial" panose="020B0604020202020204" pitchFamily="34" charset="0"/>
              <a:buChar char="•"/>
            </a:pPr>
            <a:r>
              <a:rPr lang="en-US" dirty="0">
                <a:solidFill>
                  <a:schemeClr val="tx1"/>
                </a:solidFill>
              </a:rPr>
              <a:t>Multiple user interfaces</a:t>
            </a:r>
          </a:p>
          <a:p>
            <a:pPr>
              <a:buFont typeface="Arial" panose="020B0604020202020204" pitchFamily="34" charset="0"/>
              <a:buChar char="•"/>
            </a:pPr>
            <a:r>
              <a:rPr lang="en-US" dirty="0">
                <a:solidFill>
                  <a:schemeClr val="tx1"/>
                </a:solidFill>
              </a:rPr>
              <a:t>Backup and recovery</a:t>
            </a:r>
          </a:p>
        </p:txBody>
      </p:sp>
      <p:sp>
        <p:nvSpPr>
          <p:cNvPr id="6" name="Text Placeholder 4"/>
          <p:cNvSpPr txBox="1">
            <a:spLocks/>
          </p:cNvSpPr>
          <p:nvPr/>
        </p:nvSpPr>
        <p:spPr>
          <a:xfrm>
            <a:off x="6540501" y="1552373"/>
            <a:ext cx="5400599" cy="4320480"/>
          </a:xfrm>
          <a:prstGeom prst="rect">
            <a:avLst/>
          </a:prstGeom>
        </p:spPr>
        <p:txBody>
          <a:bodyPr lIns="91440" tIns="45720" rIns="91440" bIns="45720"/>
          <a:lstStyle>
            <a:lvl1pPr marL="548640" indent="-548640" algn="l" defTabSz="914400" rtl="0" eaLnBrk="1" latinLnBrk="0" hangingPunct="1">
              <a:spcBef>
                <a:spcPts val="0"/>
              </a:spcBef>
              <a:spcAft>
                <a:spcPts val="1680"/>
              </a:spcAft>
              <a:buFont typeface="+mj-lt"/>
              <a:buAutoNum type="arabicPeriod"/>
              <a:defRPr sz="2900" kern="1200">
                <a:solidFill>
                  <a:schemeClr val="tx1"/>
                </a:solidFill>
                <a:latin typeface="Roboto Medium" pitchFamily="2" charset="0"/>
                <a:ea typeface="Roboto Medium" pitchFamily="2" charset="0"/>
                <a:cs typeface="Roboto Medium" pitchFamily="2" charset="0"/>
              </a:defRPr>
            </a:lvl1pPr>
            <a:lvl2pPr marL="840106" indent="-548640" algn="l" defTabSz="914400" rtl="0" eaLnBrk="1" latinLnBrk="0" hangingPunct="1">
              <a:spcBef>
                <a:spcPts val="0"/>
              </a:spcBef>
              <a:spcAft>
                <a:spcPts val="1680"/>
              </a:spcAft>
              <a:buFont typeface="+mj-lt"/>
              <a:buAutoNum type="arabicPeriod"/>
              <a:tabLst/>
              <a:defRPr sz="2900" kern="1200">
                <a:solidFill>
                  <a:schemeClr val="tx1"/>
                </a:solidFill>
                <a:latin typeface="Roboto Medium" pitchFamily="2" charset="0"/>
                <a:ea typeface="Roboto Medium" pitchFamily="2" charset="0"/>
                <a:cs typeface="Roboto Medium" pitchFamily="2" charset="0"/>
              </a:defRPr>
            </a:lvl2pPr>
            <a:lvl3pPr marL="712470" indent="0" algn="l" defTabSz="914400" rtl="0" eaLnBrk="1" latinLnBrk="0" hangingPunct="1">
              <a:spcBef>
                <a:spcPts val="0"/>
              </a:spcBef>
              <a:spcAft>
                <a:spcPts val="1680"/>
              </a:spcAft>
              <a:buFont typeface="Arial" pitchFamily="34" charset="0"/>
              <a:buNone/>
              <a:tabLst/>
              <a:defRPr sz="2400" kern="1200">
                <a:solidFill>
                  <a:schemeClr val="bg1"/>
                </a:solidFill>
                <a:latin typeface="+mn-lt"/>
                <a:ea typeface="+mn-ea"/>
                <a:cs typeface="+mn-cs"/>
              </a:defRPr>
            </a:lvl3pPr>
            <a:lvl4pPr marL="1068706" indent="0" algn="l" defTabSz="914400" rtl="0" eaLnBrk="1" latinLnBrk="0" hangingPunct="1">
              <a:spcBef>
                <a:spcPts val="0"/>
              </a:spcBef>
              <a:spcAft>
                <a:spcPts val="1680"/>
              </a:spcAft>
              <a:buFont typeface="Arial" pitchFamily="34" charset="0"/>
              <a:buNone/>
              <a:tabLst/>
              <a:defRPr sz="2200" kern="1200">
                <a:solidFill>
                  <a:schemeClr val="bg1"/>
                </a:solidFill>
                <a:latin typeface="+mn-lt"/>
                <a:ea typeface="+mn-ea"/>
                <a:cs typeface="+mn-cs"/>
              </a:defRPr>
            </a:lvl4pPr>
            <a:lvl5pPr marL="1312544" indent="0" algn="l" defTabSz="914400" rtl="0" eaLnBrk="1" latinLnBrk="0" hangingPunct="1">
              <a:spcBef>
                <a:spcPts val="0"/>
              </a:spcBef>
              <a:spcAft>
                <a:spcPts val="1680"/>
              </a:spcAft>
              <a:buFont typeface="Arial" pitchFamily="34" charset="0"/>
              <a:buNone/>
              <a:tabLst/>
              <a:defRPr sz="2200" kern="1200">
                <a:solidFill>
                  <a:schemeClr val="bg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a:lstStyle>
          <a:p>
            <a:pPr>
              <a:buFont typeface="Arial" panose="020B0604020202020204" pitchFamily="34" charset="0"/>
              <a:buChar char="•"/>
            </a:pPr>
            <a:r>
              <a:rPr lang="en-US" sz="2417" dirty="0"/>
              <a:t>Program data independence</a:t>
            </a:r>
          </a:p>
          <a:p>
            <a:pPr>
              <a:buFont typeface="Arial" panose="020B0604020202020204" pitchFamily="34" charset="0"/>
              <a:buChar char="•"/>
            </a:pPr>
            <a:r>
              <a:rPr lang="en-US" sz="2417" dirty="0"/>
              <a:t>Data abstraction</a:t>
            </a:r>
          </a:p>
          <a:p>
            <a:pPr>
              <a:buFont typeface="Arial" panose="020B0604020202020204" pitchFamily="34" charset="0"/>
              <a:buChar char="•"/>
            </a:pPr>
            <a:r>
              <a:rPr lang="en-US" sz="2417" dirty="0"/>
              <a:t>Supports multiple views of the data</a:t>
            </a:r>
          </a:p>
        </p:txBody>
      </p:sp>
    </p:spTree>
    <p:extLst>
      <p:ext uri="{BB962C8B-B14F-4D97-AF65-F5344CB8AC3E}">
        <p14:creationId xmlns:p14="http://schemas.microsoft.com/office/powerpoint/2010/main" val="3277250370"/>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5">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5">
                                            <p:txEl>
                                              <p:pRg st="1" end="1"/>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grpId="0" nodeType="clickEffect">
                                  <p:stCondLst>
                                    <p:cond delay="0"/>
                                  </p:stCondLst>
                                  <p:childTnLst>
                                    <p:set>
                                      <p:cBhvr>
                                        <p:cTn id="14" dur="1" fill="hold">
                                          <p:stCondLst>
                                            <p:cond delay="0"/>
                                          </p:stCondLst>
                                        </p:cTn>
                                        <p:tgtEl>
                                          <p:spTgt spid="5">
                                            <p:txEl>
                                              <p:pRg st="2" end="2"/>
                                            </p:txEl>
                                          </p:spTgt>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grpId="0" nodeType="clickEffect">
                                  <p:stCondLst>
                                    <p:cond delay="0"/>
                                  </p:stCondLst>
                                  <p:childTnLst>
                                    <p:set>
                                      <p:cBhvr>
                                        <p:cTn id="18" dur="1" fill="hold">
                                          <p:stCondLst>
                                            <p:cond delay="0"/>
                                          </p:stCondLst>
                                        </p:cTn>
                                        <p:tgtEl>
                                          <p:spTgt spid="5">
                                            <p:txEl>
                                              <p:pRg st="3" end="3"/>
                                            </p:txEl>
                                          </p:spTgt>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grpId="0" nodeType="clickEffect">
                                  <p:stCondLst>
                                    <p:cond delay="0"/>
                                  </p:stCondLst>
                                  <p:childTnLst>
                                    <p:set>
                                      <p:cBhvr>
                                        <p:cTn id="22" dur="1" fill="hold">
                                          <p:stCondLst>
                                            <p:cond delay="0"/>
                                          </p:stCondLst>
                                        </p:cTn>
                                        <p:tgtEl>
                                          <p:spTgt spid="5">
                                            <p:txEl>
                                              <p:pRg st="4" end="4"/>
                                            </p:txEl>
                                          </p:spTgt>
                                        </p:tgtEl>
                                        <p:attrNameLst>
                                          <p:attrName>style.visibility</p:attrName>
                                        </p:attrNameLst>
                                      </p:cBhvr>
                                      <p:to>
                                        <p:strVal val="visible"/>
                                      </p:to>
                                    </p:set>
                                  </p:childTnLst>
                                </p:cTn>
                              </p:par>
                            </p:childTnLst>
                          </p:cTn>
                        </p:par>
                      </p:childTnLst>
                    </p:cTn>
                  </p:par>
                  <p:par>
                    <p:cTn id="23" fill="hold">
                      <p:stCondLst>
                        <p:cond delay="indefinite"/>
                      </p:stCondLst>
                      <p:childTnLst>
                        <p:par>
                          <p:cTn id="24" fill="hold">
                            <p:stCondLst>
                              <p:cond delay="0"/>
                            </p:stCondLst>
                            <p:childTnLst>
                              <p:par>
                                <p:cTn id="25" presetID="1" presetClass="entr" presetSubtype="0" fill="hold" grpId="0" nodeType="clickEffect">
                                  <p:stCondLst>
                                    <p:cond delay="0"/>
                                  </p:stCondLst>
                                  <p:childTnLst>
                                    <p:set>
                                      <p:cBhvr>
                                        <p:cTn id="26" dur="1" fill="hold">
                                          <p:stCondLst>
                                            <p:cond delay="0"/>
                                          </p:stCondLst>
                                        </p:cTn>
                                        <p:tgtEl>
                                          <p:spTgt spid="5">
                                            <p:txEl>
                                              <p:pRg st="5" end="5"/>
                                            </p:txEl>
                                          </p:spTgt>
                                        </p:tgtEl>
                                        <p:attrNameLst>
                                          <p:attrName>style.visibility</p:attrName>
                                        </p:attrNameLst>
                                      </p:cBhvr>
                                      <p:to>
                                        <p:strVal val="visible"/>
                                      </p:to>
                                    </p:set>
                                  </p:childTnLst>
                                </p:cTn>
                              </p:par>
                            </p:childTnLst>
                          </p:cTn>
                        </p:par>
                      </p:childTnLst>
                    </p:cTn>
                  </p:par>
                  <p:par>
                    <p:cTn id="27" fill="hold">
                      <p:stCondLst>
                        <p:cond delay="indefinite"/>
                      </p:stCondLst>
                      <p:childTnLst>
                        <p:par>
                          <p:cTn id="28" fill="hold">
                            <p:stCondLst>
                              <p:cond delay="0"/>
                            </p:stCondLst>
                            <p:childTnLst>
                              <p:par>
                                <p:cTn id="29" presetID="1" presetClass="entr" presetSubtype="0" fill="hold" grpId="0" nodeType="clickEffect">
                                  <p:stCondLst>
                                    <p:cond delay="0"/>
                                  </p:stCondLst>
                                  <p:childTnLst>
                                    <p:set>
                                      <p:cBhvr>
                                        <p:cTn id="30" dur="1" fill="hold">
                                          <p:stCondLst>
                                            <p:cond delay="0"/>
                                          </p:stCondLst>
                                        </p:cTn>
                                        <p:tgtEl>
                                          <p:spTgt spid="5">
                                            <p:txEl>
                                              <p:pRg st="6" end="6"/>
                                            </p:txEl>
                                          </p:spTgt>
                                        </p:tgtEl>
                                        <p:attrNameLst>
                                          <p:attrName>style.visibility</p:attrName>
                                        </p:attrNameLst>
                                      </p:cBhvr>
                                      <p:to>
                                        <p:strVal val="visible"/>
                                      </p:to>
                                    </p:set>
                                  </p:childTnLst>
                                </p:cTn>
                              </p:par>
                            </p:childTnLst>
                          </p:cTn>
                        </p:par>
                      </p:childTnLst>
                    </p:cTn>
                  </p:par>
                  <p:par>
                    <p:cTn id="31" fill="hold">
                      <p:stCondLst>
                        <p:cond delay="indefinite"/>
                      </p:stCondLst>
                      <p:childTnLst>
                        <p:par>
                          <p:cTn id="32" fill="hold">
                            <p:stCondLst>
                              <p:cond delay="0"/>
                            </p:stCondLst>
                            <p:childTnLst>
                              <p:par>
                                <p:cTn id="33" presetID="1" presetClass="entr" presetSubtype="0" fill="hold" grpId="0" nodeType="clickEffect">
                                  <p:stCondLst>
                                    <p:cond delay="0"/>
                                  </p:stCondLst>
                                  <p:childTnLst>
                                    <p:set>
                                      <p:cBhvr>
                                        <p:cTn id="34" dur="1" fill="hold">
                                          <p:stCondLst>
                                            <p:cond delay="0"/>
                                          </p:stCondLst>
                                        </p:cTn>
                                        <p:tgtEl>
                                          <p:spTgt spid="6">
                                            <p:txEl>
                                              <p:pRg st="0" end="0"/>
                                            </p:txEl>
                                          </p:spTgt>
                                        </p:tgtEl>
                                        <p:attrNameLst>
                                          <p:attrName>style.visibility</p:attrName>
                                        </p:attrNameLst>
                                      </p:cBhvr>
                                      <p:to>
                                        <p:strVal val="visible"/>
                                      </p:to>
                                    </p:set>
                                  </p:childTnLst>
                                </p:cTn>
                              </p:par>
                            </p:childTnLst>
                          </p:cTn>
                        </p:par>
                      </p:childTnLst>
                    </p:cTn>
                  </p:par>
                  <p:par>
                    <p:cTn id="35" fill="hold">
                      <p:stCondLst>
                        <p:cond delay="indefinite"/>
                      </p:stCondLst>
                      <p:childTnLst>
                        <p:par>
                          <p:cTn id="36" fill="hold">
                            <p:stCondLst>
                              <p:cond delay="0"/>
                            </p:stCondLst>
                            <p:childTnLst>
                              <p:par>
                                <p:cTn id="37" presetID="1" presetClass="entr" presetSubtype="0" fill="hold" grpId="0" nodeType="clickEffect">
                                  <p:stCondLst>
                                    <p:cond delay="0"/>
                                  </p:stCondLst>
                                  <p:childTnLst>
                                    <p:set>
                                      <p:cBhvr>
                                        <p:cTn id="38" dur="1" fill="hold">
                                          <p:stCondLst>
                                            <p:cond delay="0"/>
                                          </p:stCondLst>
                                        </p:cTn>
                                        <p:tgtEl>
                                          <p:spTgt spid="6">
                                            <p:txEl>
                                              <p:pRg st="1" end="1"/>
                                            </p:txEl>
                                          </p:spTgt>
                                        </p:tgtEl>
                                        <p:attrNameLst>
                                          <p:attrName>style.visibility</p:attrName>
                                        </p:attrNameLst>
                                      </p:cBhvr>
                                      <p:to>
                                        <p:strVal val="visible"/>
                                      </p:to>
                                    </p:set>
                                  </p:childTnLst>
                                </p:cTn>
                              </p:par>
                            </p:childTnLst>
                          </p:cTn>
                        </p:par>
                      </p:childTnLst>
                    </p:cTn>
                  </p:par>
                  <p:par>
                    <p:cTn id="39" fill="hold">
                      <p:stCondLst>
                        <p:cond delay="indefinite"/>
                      </p:stCondLst>
                      <p:childTnLst>
                        <p:par>
                          <p:cTn id="40" fill="hold">
                            <p:stCondLst>
                              <p:cond delay="0"/>
                            </p:stCondLst>
                            <p:childTnLst>
                              <p:par>
                                <p:cTn id="41" presetID="1" presetClass="entr" presetSubtype="0" fill="hold" grpId="0" nodeType="clickEffect">
                                  <p:stCondLst>
                                    <p:cond delay="0"/>
                                  </p:stCondLst>
                                  <p:childTnLst>
                                    <p:set>
                                      <p:cBhvr>
                                        <p:cTn id="42" dur="1" fill="hold">
                                          <p:stCondLst>
                                            <p:cond delay="0"/>
                                          </p:stCondLst>
                                        </p:cTn>
                                        <p:tgtEl>
                                          <p:spTgt spid="6">
                                            <p:txEl>
                                              <p:pRg st="2" end="2"/>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 grpId="0" build="p"/>
      <p:bldP spid="6" grpId="0" build="p"/>
    </p:bldLst>
  </p:timing>
</p:sld>
</file>

<file path=ppt/slides/slide78.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IN" dirty="0">
                <a:solidFill>
                  <a:srgbClr val="FF0000"/>
                </a:solidFill>
              </a:rPr>
              <a:t>Object Model</a:t>
            </a:r>
          </a:p>
        </p:txBody>
      </p:sp>
      <p:sp>
        <p:nvSpPr>
          <p:cNvPr id="3" name="Text Placeholder 2"/>
          <p:cNvSpPr>
            <a:spLocks noGrp="1"/>
          </p:cNvSpPr>
          <p:nvPr>
            <p:ph type="body" sz="quarter" idx="17"/>
          </p:nvPr>
        </p:nvSpPr>
        <p:spPr>
          <a:xfrm>
            <a:off x="847065" y="1714501"/>
            <a:ext cx="5908599" cy="2036064"/>
          </a:xfrm>
        </p:spPr>
        <p:txBody>
          <a:bodyPr/>
          <a:lstStyle/>
          <a:p>
            <a:pPr>
              <a:buFont typeface="Arial" panose="020B0604020202020204" pitchFamily="34" charset="0"/>
              <a:buChar char="•"/>
            </a:pPr>
            <a:r>
              <a:rPr lang="en-IN" dirty="0">
                <a:solidFill>
                  <a:schemeClr val="tx1"/>
                </a:solidFill>
              </a:rPr>
              <a:t>Data Definition Language  (DDL).</a:t>
            </a:r>
          </a:p>
          <a:p>
            <a:pPr>
              <a:buFont typeface="Arial" panose="020B0604020202020204" pitchFamily="34" charset="0"/>
              <a:buChar char="•"/>
            </a:pPr>
            <a:r>
              <a:rPr lang="en-IN" dirty="0">
                <a:solidFill>
                  <a:schemeClr val="tx1"/>
                </a:solidFill>
              </a:rPr>
              <a:t>Data Manipulation Language. (DML).</a:t>
            </a:r>
          </a:p>
          <a:p>
            <a:pPr>
              <a:buFont typeface="Arial" panose="020B0604020202020204" pitchFamily="34" charset="0"/>
              <a:buChar char="•"/>
            </a:pPr>
            <a:r>
              <a:rPr lang="en-IN" dirty="0">
                <a:solidFill>
                  <a:schemeClr val="tx1"/>
                </a:solidFill>
              </a:rPr>
              <a:t> Data Control Language. (DCL).</a:t>
            </a:r>
          </a:p>
          <a:p>
            <a:pPr>
              <a:buFont typeface="Arial" panose="020B0604020202020204" pitchFamily="34" charset="0"/>
              <a:buChar char="•"/>
            </a:pPr>
            <a:r>
              <a:rPr lang="en-IN" dirty="0">
                <a:solidFill>
                  <a:schemeClr val="tx1"/>
                </a:solidFill>
              </a:rPr>
              <a:t> Transaction Control Language (TCL).</a:t>
            </a:r>
          </a:p>
          <a:p>
            <a:pPr>
              <a:buFont typeface="Arial" panose="020B0604020202020204" pitchFamily="34" charset="0"/>
              <a:buChar char="•"/>
            </a:pPr>
            <a:endParaRPr lang="en-IN" dirty="0"/>
          </a:p>
        </p:txBody>
      </p:sp>
    </p:spTree>
    <p:extLst>
      <p:ext uri="{BB962C8B-B14F-4D97-AF65-F5344CB8AC3E}">
        <p14:creationId xmlns:p14="http://schemas.microsoft.com/office/powerpoint/2010/main" val="1740077717"/>
      </p:ext>
    </p:extLst>
  </p:cSld>
  <p:clrMapOvr>
    <a:masterClrMapping/>
  </p:clrMapOvr>
</p:sld>
</file>

<file path=ppt/slides/slide79.xml><?xml version="1.0" encoding="utf-8"?>
<p:sld xmlns:a="http://schemas.openxmlformats.org/drawingml/2006/main" xmlns:r="http://schemas.openxmlformats.org/officeDocument/2006/relationships" xmlns:p="http://schemas.openxmlformats.org/presentationml/2006/main" show="0">
  <p:cSld>
    <p:spTree>
      <p:nvGrpSpPr>
        <p:cNvPr id="1" name="">
          <a:extLst>
            <a:ext uri="{FF2B5EF4-FFF2-40B4-BE49-F238E27FC236}">
              <a16:creationId xmlns:a16="http://schemas.microsoft.com/office/drawing/2014/main" id="{BB8ADE31-8F14-A929-7FC1-3AB06A8ED892}"/>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572D2BA8-8064-AA03-2683-FF1E4217E844}"/>
              </a:ext>
            </a:extLst>
          </p:cNvPr>
          <p:cNvSpPr>
            <a:spLocks noGrp="1"/>
          </p:cNvSpPr>
          <p:nvPr>
            <p:ph type="title"/>
          </p:nvPr>
        </p:nvSpPr>
        <p:spPr/>
        <p:txBody>
          <a:bodyPr/>
          <a:lstStyle/>
          <a:p>
            <a:r>
              <a:rPr lang="en-IN" b="1" dirty="0">
                <a:solidFill>
                  <a:srgbClr val="FF0000"/>
                </a:solidFill>
              </a:rPr>
              <a:t>Schema in RDBMS</a:t>
            </a:r>
            <a:endParaRPr lang="en-IN" dirty="0">
              <a:solidFill>
                <a:srgbClr val="FF0000"/>
              </a:solidFill>
            </a:endParaRPr>
          </a:p>
        </p:txBody>
      </p:sp>
      <p:sp>
        <p:nvSpPr>
          <p:cNvPr id="3" name="Text Placeholder 2">
            <a:extLst>
              <a:ext uri="{FF2B5EF4-FFF2-40B4-BE49-F238E27FC236}">
                <a16:creationId xmlns:a16="http://schemas.microsoft.com/office/drawing/2014/main" id="{6E43ED1D-3C51-C56B-6F40-7221B5167D4F}"/>
              </a:ext>
            </a:extLst>
          </p:cNvPr>
          <p:cNvSpPr>
            <a:spLocks noGrp="1"/>
          </p:cNvSpPr>
          <p:nvPr>
            <p:ph type="body" sz="quarter" idx="17"/>
          </p:nvPr>
        </p:nvSpPr>
        <p:spPr>
          <a:xfrm>
            <a:off x="911424" y="1340768"/>
            <a:ext cx="10001463" cy="4450803"/>
          </a:xfrm>
        </p:spPr>
        <p:txBody>
          <a:bodyPr/>
          <a:lstStyle/>
          <a:p>
            <a:pPr marL="0" indent="0">
              <a:lnSpc>
                <a:spcPct val="115000"/>
              </a:lnSpc>
              <a:spcAft>
                <a:spcPts val="800"/>
              </a:spcAft>
              <a:buNone/>
            </a:pPr>
            <a:r>
              <a:rPr lang="en-IN" sz="2000" b="1" kern="100" dirty="0">
                <a:solidFill>
                  <a:schemeClr val="tx1"/>
                </a:solidFill>
                <a:effectLst/>
                <a:latin typeface="Aptos" panose="020B0004020202020204" pitchFamily="34" charset="0"/>
                <a:ea typeface="Aptos" panose="020B0004020202020204" pitchFamily="34" charset="0"/>
                <a:cs typeface="Times New Roman" panose="02020603050405020304" pitchFamily="18" charset="0"/>
              </a:rPr>
              <a:t>A schema in RDBMS defines the structure of a database, such as its tables, attributes (columns), data types, constraints, and relationships between tables. It acts as a blueprint for how data is organized in the database.</a:t>
            </a:r>
          </a:p>
          <a:p>
            <a:pPr marL="0" lvl="0" indent="0">
              <a:lnSpc>
                <a:spcPct val="115000"/>
              </a:lnSpc>
              <a:spcAft>
                <a:spcPts val="800"/>
              </a:spcAft>
              <a:buSzPts val="1000"/>
              <a:buNone/>
              <a:tabLst>
                <a:tab pos="457200" algn="l"/>
              </a:tabLst>
            </a:pPr>
            <a:r>
              <a:rPr lang="en-IN" sz="2000" b="1" kern="100" dirty="0">
                <a:solidFill>
                  <a:srgbClr val="FF0000"/>
                </a:solidFill>
                <a:effectLst/>
                <a:latin typeface="Aptos" panose="020B0004020202020204" pitchFamily="34" charset="0"/>
                <a:ea typeface="Aptos" panose="020B0004020202020204" pitchFamily="34" charset="0"/>
                <a:cs typeface="Times New Roman" panose="02020603050405020304" pitchFamily="18" charset="0"/>
              </a:rPr>
              <a:t>Key Components of a Schema:</a:t>
            </a:r>
          </a:p>
          <a:p>
            <a:pPr marL="742950" lvl="1" indent="-285750">
              <a:lnSpc>
                <a:spcPct val="115000"/>
              </a:lnSpc>
              <a:spcAft>
                <a:spcPts val="800"/>
              </a:spcAft>
              <a:buSzPts val="1000"/>
              <a:buFont typeface="Courier New" panose="02070309020205020404" pitchFamily="49" charset="0"/>
              <a:buChar char="o"/>
              <a:tabLst>
                <a:tab pos="914400" algn="l"/>
              </a:tabLst>
            </a:pPr>
            <a:r>
              <a:rPr lang="en-IN" sz="2000" b="1" kern="100" dirty="0">
                <a:solidFill>
                  <a:schemeClr val="tx1"/>
                </a:solidFill>
                <a:effectLst/>
                <a:latin typeface="Aptos" panose="020B0004020202020204" pitchFamily="34" charset="0"/>
                <a:ea typeface="Aptos" panose="020B0004020202020204" pitchFamily="34" charset="0"/>
                <a:cs typeface="Times New Roman" panose="02020603050405020304" pitchFamily="18" charset="0"/>
              </a:rPr>
              <a:t>Tables: Represent entities (e.g., Employees, Departments).</a:t>
            </a:r>
          </a:p>
          <a:p>
            <a:pPr marL="742950" lvl="1" indent="-285750">
              <a:lnSpc>
                <a:spcPct val="115000"/>
              </a:lnSpc>
              <a:spcAft>
                <a:spcPts val="800"/>
              </a:spcAft>
              <a:buSzPts val="1000"/>
              <a:buFont typeface="Courier New" panose="02070309020205020404" pitchFamily="49" charset="0"/>
              <a:buChar char="o"/>
              <a:tabLst>
                <a:tab pos="914400" algn="l"/>
              </a:tabLst>
            </a:pPr>
            <a:r>
              <a:rPr lang="en-IN" sz="2000" b="1" kern="100" dirty="0">
                <a:solidFill>
                  <a:schemeClr val="tx1"/>
                </a:solidFill>
                <a:effectLst/>
                <a:latin typeface="Aptos" panose="020B0004020202020204" pitchFamily="34" charset="0"/>
                <a:ea typeface="Aptos" panose="020B0004020202020204" pitchFamily="34" charset="0"/>
                <a:cs typeface="Times New Roman" panose="02020603050405020304" pitchFamily="18" charset="0"/>
              </a:rPr>
              <a:t>Columns (Attributes): Define properties of entities (e.g., </a:t>
            </a:r>
            <a:r>
              <a:rPr lang="en-IN" sz="2000" b="1" kern="100" dirty="0" err="1">
                <a:solidFill>
                  <a:schemeClr val="tx1"/>
                </a:solidFill>
                <a:effectLst/>
                <a:latin typeface="Aptos" panose="020B0004020202020204" pitchFamily="34" charset="0"/>
                <a:ea typeface="Aptos" panose="020B0004020202020204" pitchFamily="34" charset="0"/>
                <a:cs typeface="Times New Roman" panose="02020603050405020304" pitchFamily="18" charset="0"/>
              </a:rPr>
              <a:t>EmployeeID</a:t>
            </a:r>
            <a:r>
              <a:rPr lang="en-IN" sz="2000" b="1" kern="100" dirty="0">
                <a:solidFill>
                  <a:schemeClr val="tx1"/>
                </a:solidFill>
                <a:effectLst/>
                <a:latin typeface="Aptos" panose="020B0004020202020204" pitchFamily="34" charset="0"/>
                <a:ea typeface="Aptos" panose="020B0004020202020204" pitchFamily="34" charset="0"/>
                <a:cs typeface="Times New Roman" panose="02020603050405020304" pitchFamily="18" charset="0"/>
              </a:rPr>
              <a:t>, Name).</a:t>
            </a:r>
          </a:p>
          <a:p>
            <a:pPr marL="742950" lvl="1" indent="-285750">
              <a:lnSpc>
                <a:spcPct val="115000"/>
              </a:lnSpc>
              <a:spcAft>
                <a:spcPts val="800"/>
              </a:spcAft>
              <a:buSzPts val="1000"/>
              <a:buFont typeface="Courier New" panose="02070309020205020404" pitchFamily="49" charset="0"/>
              <a:buChar char="o"/>
              <a:tabLst>
                <a:tab pos="914400" algn="l"/>
              </a:tabLst>
            </a:pPr>
            <a:r>
              <a:rPr lang="en-IN" sz="2000" b="1" kern="100" dirty="0">
                <a:solidFill>
                  <a:schemeClr val="tx1"/>
                </a:solidFill>
                <a:effectLst/>
                <a:latin typeface="Aptos" panose="020B0004020202020204" pitchFamily="34" charset="0"/>
                <a:ea typeface="Aptos" panose="020B0004020202020204" pitchFamily="34" charset="0"/>
                <a:cs typeface="Times New Roman" panose="02020603050405020304" pitchFamily="18" charset="0"/>
              </a:rPr>
              <a:t>Data Types: Define the type of data stored in each column (e.g., INT, VARCHAR).</a:t>
            </a:r>
          </a:p>
          <a:p>
            <a:pPr marL="742950" lvl="1" indent="-285750">
              <a:lnSpc>
                <a:spcPct val="115000"/>
              </a:lnSpc>
              <a:spcAft>
                <a:spcPts val="800"/>
              </a:spcAft>
              <a:buSzPts val="1000"/>
              <a:buFont typeface="Courier New" panose="02070309020205020404" pitchFamily="49" charset="0"/>
              <a:buChar char="o"/>
              <a:tabLst>
                <a:tab pos="914400" algn="l"/>
              </a:tabLst>
            </a:pPr>
            <a:r>
              <a:rPr lang="en-IN" sz="2000" b="1" kern="100" dirty="0">
                <a:solidFill>
                  <a:schemeClr val="tx1"/>
                </a:solidFill>
                <a:effectLst/>
                <a:latin typeface="Aptos" panose="020B0004020202020204" pitchFamily="34" charset="0"/>
                <a:ea typeface="Aptos" panose="020B0004020202020204" pitchFamily="34" charset="0"/>
                <a:cs typeface="Times New Roman" panose="02020603050405020304" pitchFamily="18" charset="0"/>
              </a:rPr>
              <a:t>Constraints: Rules such as primary keys, foreign keys, and unique constraints.</a:t>
            </a:r>
          </a:p>
          <a:p>
            <a:pPr>
              <a:buFont typeface="Arial" panose="020B0604020202020204" pitchFamily="34" charset="0"/>
              <a:buChar char="•"/>
            </a:pPr>
            <a:endParaRPr lang="en-IN" dirty="0"/>
          </a:p>
        </p:txBody>
      </p:sp>
    </p:spTree>
    <p:extLst>
      <p:ext uri="{BB962C8B-B14F-4D97-AF65-F5344CB8AC3E}">
        <p14:creationId xmlns:p14="http://schemas.microsoft.com/office/powerpoint/2010/main" val="3548367830"/>
      </p:ext>
    </p:extLst>
  </p:cSld>
  <p:clrMapOvr>
    <a:masterClrMapping/>
  </p:clrMapOvr>
</p:sld>
</file>

<file path=ppt/slides/slide80.xml><?xml version="1.0" encoding="utf-8"?>
<p:sld xmlns:a="http://schemas.openxmlformats.org/drawingml/2006/main" xmlns:r="http://schemas.openxmlformats.org/officeDocument/2006/relationships" xmlns:p="http://schemas.openxmlformats.org/presentationml/2006/main" show="0">
  <p:cSld>
    <p:spTree>
      <p:nvGrpSpPr>
        <p:cNvPr id="1" name="">
          <a:extLst>
            <a:ext uri="{FF2B5EF4-FFF2-40B4-BE49-F238E27FC236}">
              <a16:creationId xmlns:a16="http://schemas.microsoft.com/office/drawing/2014/main" id="{4B91FEFD-619E-D6AD-3CD7-916B179C8038}"/>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FE586B23-4C65-FBDE-0CEF-460EDC18CD39}"/>
              </a:ext>
            </a:extLst>
          </p:cNvPr>
          <p:cNvSpPr>
            <a:spLocks noGrp="1"/>
          </p:cNvSpPr>
          <p:nvPr>
            <p:ph type="title"/>
          </p:nvPr>
        </p:nvSpPr>
        <p:spPr/>
        <p:txBody>
          <a:bodyPr/>
          <a:lstStyle/>
          <a:p>
            <a:r>
              <a:rPr lang="en-IN" b="1" dirty="0">
                <a:solidFill>
                  <a:srgbClr val="FF0000"/>
                </a:solidFill>
              </a:rPr>
              <a:t>Schema in RDBMS</a:t>
            </a:r>
            <a:endParaRPr lang="en-IN" dirty="0">
              <a:solidFill>
                <a:srgbClr val="FF0000"/>
              </a:solidFill>
            </a:endParaRPr>
          </a:p>
        </p:txBody>
      </p:sp>
      <p:sp>
        <p:nvSpPr>
          <p:cNvPr id="3" name="Text Placeholder 2">
            <a:extLst>
              <a:ext uri="{FF2B5EF4-FFF2-40B4-BE49-F238E27FC236}">
                <a16:creationId xmlns:a16="http://schemas.microsoft.com/office/drawing/2014/main" id="{553C1E64-8BAF-2697-1405-8FFB8310299D}"/>
              </a:ext>
            </a:extLst>
          </p:cNvPr>
          <p:cNvSpPr>
            <a:spLocks noGrp="1"/>
          </p:cNvSpPr>
          <p:nvPr>
            <p:ph type="body" sz="quarter" idx="17"/>
          </p:nvPr>
        </p:nvSpPr>
        <p:spPr>
          <a:xfrm>
            <a:off x="911424" y="1340768"/>
            <a:ext cx="10001463" cy="4450803"/>
          </a:xfrm>
        </p:spPr>
        <p:txBody>
          <a:bodyPr/>
          <a:lstStyle/>
          <a:p>
            <a:pPr marL="0" indent="0">
              <a:lnSpc>
                <a:spcPct val="115000"/>
              </a:lnSpc>
              <a:spcAft>
                <a:spcPts val="800"/>
              </a:spcAft>
              <a:buNone/>
            </a:pPr>
            <a:r>
              <a:rPr lang="en-IN" b="1" kern="100" dirty="0">
                <a:solidFill>
                  <a:schemeClr val="tx1"/>
                </a:solidFill>
                <a:effectLst/>
                <a:latin typeface="Aptos" panose="020B0004020202020204" pitchFamily="34" charset="0"/>
                <a:ea typeface="Aptos" panose="020B0004020202020204" pitchFamily="34" charset="0"/>
                <a:cs typeface="Times New Roman" panose="02020603050405020304" pitchFamily="18" charset="0"/>
              </a:rPr>
              <a:t>Real-World Example:</a:t>
            </a:r>
            <a:endParaRPr lang="en-IN" kern="100" dirty="0">
              <a:solidFill>
                <a:schemeClr val="tx1"/>
              </a:solidFill>
              <a:effectLst/>
              <a:latin typeface="Aptos" panose="020B0004020202020204" pitchFamily="34" charset="0"/>
              <a:ea typeface="Aptos" panose="020B0004020202020204" pitchFamily="34" charset="0"/>
              <a:cs typeface="Times New Roman" panose="02020603050405020304" pitchFamily="18" charset="0"/>
            </a:endParaRPr>
          </a:p>
          <a:p>
            <a:pPr marL="0" indent="0">
              <a:lnSpc>
                <a:spcPct val="115000"/>
              </a:lnSpc>
              <a:spcAft>
                <a:spcPts val="800"/>
              </a:spcAft>
              <a:buNone/>
            </a:pPr>
            <a:r>
              <a:rPr lang="en-IN" kern="100" dirty="0">
                <a:solidFill>
                  <a:schemeClr val="tx1"/>
                </a:solidFill>
                <a:effectLst/>
                <a:latin typeface="Aptos" panose="020B0004020202020204" pitchFamily="34" charset="0"/>
                <a:ea typeface="Aptos" panose="020B0004020202020204" pitchFamily="34" charset="0"/>
                <a:cs typeface="Times New Roman" panose="02020603050405020304" pitchFamily="18" charset="0"/>
              </a:rPr>
              <a:t>Imagine you are designing a database for a company’s HR system:</a:t>
            </a:r>
          </a:p>
          <a:p>
            <a:pPr marL="0" lvl="0" indent="0">
              <a:lnSpc>
                <a:spcPct val="115000"/>
              </a:lnSpc>
              <a:spcAft>
                <a:spcPts val="800"/>
              </a:spcAft>
              <a:buSzPts val="1000"/>
              <a:buNone/>
              <a:tabLst>
                <a:tab pos="457200" algn="l"/>
              </a:tabLst>
            </a:pPr>
            <a:r>
              <a:rPr lang="en-IN" b="1" kern="100" dirty="0">
                <a:solidFill>
                  <a:schemeClr val="tx1"/>
                </a:solidFill>
                <a:effectLst/>
                <a:latin typeface="Aptos" panose="020B0004020202020204" pitchFamily="34" charset="0"/>
                <a:ea typeface="Aptos" panose="020B0004020202020204" pitchFamily="34" charset="0"/>
                <a:cs typeface="Times New Roman" panose="02020603050405020304" pitchFamily="18" charset="0"/>
              </a:rPr>
              <a:t>Schema</a:t>
            </a:r>
            <a:r>
              <a:rPr lang="en-IN" kern="100" dirty="0">
                <a:solidFill>
                  <a:schemeClr val="tx1"/>
                </a:solidFill>
                <a:effectLst/>
                <a:latin typeface="Aptos" panose="020B0004020202020204" pitchFamily="34" charset="0"/>
                <a:ea typeface="Aptos" panose="020B0004020202020204" pitchFamily="34" charset="0"/>
                <a:cs typeface="Times New Roman" panose="02020603050405020304" pitchFamily="18" charset="0"/>
              </a:rPr>
              <a:t>:</a:t>
            </a:r>
          </a:p>
          <a:p>
            <a:pPr marL="742950" lvl="1" indent="-285750">
              <a:lnSpc>
                <a:spcPct val="115000"/>
              </a:lnSpc>
              <a:spcAft>
                <a:spcPts val="800"/>
              </a:spcAft>
              <a:buSzPts val="1000"/>
              <a:buFont typeface="Courier New" panose="02070309020205020404" pitchFamily="49" charset="0"/>
              <a:buChar char="o"/>
              <a:tabLst>
                <a:tab pos="914400" algn="l"/>
              </a:tabLst>
            </a:pPr>
            <a:r>
              <a:rPr lang="en-IN" kern="100" dirty="0">
                <a:solidFill>
                  <a:schemeClr val="tx1"/>
                </a:solidFill>
                <a:effectLst/>
                <a:latin typeface="Aptos" panose="020B0004020202020204" pitchFamily="34" charset="0"/>
                <a:ea typeface="Aptos" panose="020B0004020202020204" pitchFamily="34" charset="0"/>
                <a:cs typeface="Times New Roman" panose="02020603050405020304" pitchFamily="18" charset="0"/>
              </a:rPr>
              <a:t>Table 1: </a:t>
            </a:r>
            <a:r>
              <a:rPr lang="en-IN" b="1" kern="100" dirty="0">
                <a:solidFill>
                  <a:schemeClr val="tx1"/>
                </a:solidFill>
                <a:effectLst/>
                <a:latin typeface="Aptos" panose="020B0004020202020204" pitchFamily="34" charset="0"/>
                <a:ea typeface="Aptos" panose="020B0004020202020204" pitchFamily="34" charset="0"/>
                <a:cs typeface="Times New Roman" panose="02020603050405020304" pitchFamily="18" charset="0"/>
              </a:rPr>
              <a:t>Employees</a:t>
            </a:r>
            <a:r>
              <a:rPr lang="en-IN" kern="100" dirty="0">
                <a:solidFill>
                  <a:schemeClr val="tx1"/>
                </a:solidFill>
                <a:effectLst/>
                <a:latin typeface="Aptos" panose="020B0004020202020204" pitchFamily="34" charset="0"/>
                <a:ea typeface="Aptos" panose="020B0004020202020204" pitchFamily="34" charset="0"/>
                <a:cs typeface="Times New Roman" panose="02020603050405020304" pitchFamily="18" charset="0"/>
              </a:rPr>
              <a:t> (Columns: </a:t>
            </a:r>
            <a:r>
              <a:rPr lang="en-IN" kern="100" dirty="0" err="1">
                <a:solidFill>
                  <a:schemeClr val="tx1"/>
                </a:solidFill>
                <a:effectLst/>
                <a:latin typeface="Aptos" panose="020B0004020202020204" pitchFamily="34" charset="0"/>
                <a:ea typeface="Aptos" panose="020B0004020202020204" pitchFamily="34" charset="0"/>
                <a:cs typeface="Times New Roman" panose="02020603050405020304" pitchFamily="18" charset="0"/>
              </a:rPr>
              <a:t>EmployeeID</a:t>
            </a:r>
            <a:r>
              <a:rPr lang="en-IN" kern="100" dirty="0">
                <a:solidFill>
                  <a:schemeClr val="tx1"/>
                </a:solidFill>
                <a:effectLst/>
                <a:latin typeface="Aptos" panose="020B0004020202020204" pitchFamily="34" charset="0"/>
                <a:ea typeface="Aptos" panose="020B0004020202020204" pitchFamily="34" charset="0"/>
                <a:cs typeface="Times New Roman" panose="02020603050405020304" pitchFamily="18" charset="0"/>
              </a:rPr>
              <a:t>, Name, </a:t>
            </a:r>
            <a:r>
              <a:rPr lang="en-IN" kern="100" dirty="0" err="1">
                <a:solidFill>
                  <a:schemeClr val="tx1"/>
                </a:solidFill>
                <a:effectLst/>
                <a:latin typeface="Aptos" panose="020B0004020202020204" pitchFamily="34" charset="0"/>
                <a:ea typeface="Aptos" panose="020B0004020202020204" pitchFamily="34" charset="0"/>
                <a:cs typeface="Times New Roman" panose="02020603050405020304" pitchFamily="18" charset="0"/>
              </a:rPr>
              <a:t>DepartmentID</a:t>
            </a:r>
            <a:r>
              <a:rPr lang="en-IN" kern="100" dirty="0">
                <a:solidFill>
                  <a:schemeClr val="tx1"/>
                </a:solidFill>
                <a:effectLst/>
                <a:latin typeface="Aptos" panose="020B0004020202020204" pitchFamily="34" charset="0"/>
                <a:ea typeface="Aptos" panose="020B0004020202020204" pitchFamily="34" charset="0"/>
                <a:cs typeface="Times New Roman" panose="02020603050405020304" pitchFamily="18" charset="0"/>
              </a:rPr>
              <a:t>, </a:t>
            </a:r>
            <a:r>
              <a:rPr lang="en-IN" kern="100" dirty="0" err="1">
                <a:solidFill>
                  <a:schemeClr val="tx1"/>
                </a:solidFill>
                <a:effectLst/>
                <a:latin typeface="Aptos" panose="020B0004020202020204" pitchFamily="34" charset="0"/>
                <a:ea typeface="Aptos" panose="020B0004020202020204" pitchFamily="34" charset="0"/>
                <a:cs typeface="Times New Roman" panose="02020603050405020304" pitchFamily="18" charset="0"/>
              </a:rPr>
              <a:t>HireDate</a:t>
            </a:r>
            <a:r>
              <a:rPr lang="en-IN" kern="100" dirty="0">
                <a:solidFill>
                  <a:schemeClr val="tx1"/>
                </a:solidFill>
                <a:effectLst/>
                <a:latin typeface="Aptos" panose="020B0004020202020204" pitchFamily="34" charset="0"/>
                <a:ea typeface="Aptos" panose="020B0004020202020204" pitchFamily="34" charset="0"/>
                <a:cs typeface="Times New Roman" panose="02020603050405020304" pitchFamily="18" charset="0"/>
              </a:rPr>
              <a:t>)</a:t>
            </a:r>
          </a:p>
          <a:p>
            <a:pPr marL="742950" lvl="1" indent="-285750">
              <a:lnSpc>
                <a:spcPct val="115000"/>
              </a:lnSpc>
              <a:spcAft>
                <a:spcPts val="800"/>
              </a:spcAft>
              <a:buSzPts val="1000"/>
              <a:buFont typeface="Courier New" panose="02070309020205020404" pitchFamily="49" charset="0"/>
              <a:buChar char="o"/>
              <a:tabLst>
                <a:tab pos="914400" algn="l"/>
              </a:tabLst>
            </a:pPr>
            <a:r>
              <a:rPr lang="en-IN" kern="100" dirty="0">
                <a:solidFill>
                  <a:schemeClr val="tx1"/>
                </a:solidFill>
                <a:effectLst/>
                <a:latin typeface="Aptos" panose="020B0004020202020204" pitchFamily="34" charset="0"/>
                <a:ea typeface="Aptos" panose="020B0004020202020204" pitchFamily="34" charset="0"/>
                <a:cs typeface="Times New Roman" panose="02020603050405020304" pitchFamily="18" charset="0"/>
              </a:rPr>
              <a:t>Table 2: </a:t>
            </a:r>
            <a:r>
              <a:rPr lang="en-IN" b="1" kern="100" dirty="0">
                <a:solidFill>
                  <a:schemeClr val="tx1"/>
                </a:solidFill>
                <a:effectLst/>
                <a:latin typeface="Aptos" panose="020B0004020202020204" pitchFamily="34" charset="0"/>
                <a:ea typeface="Aptos" panose="020B0004020202020204" pitchFamily="34" charset="0"/>
                <a:cs typeface="Times New Roman" panose="02020603050405020304" pitchFamily="18" charset="0"/>
              </a:rPr>
              <a:t>Departments</a:t>
            </a:r>
            <a:r>
              <a:rPr lang="en-IN" kern="100" dirty="0">
                <a:solidFill>
                  <a:schemeClr val="tx1"/>
                </a:solidFill>
                <a:effectLst/>
                <a:latin typeface="Aptos" panose="020B0004020202020204" pitchFamily="34" charset="0"/>
                <a:ea typeface="Aptos" panose="020B0004020202020204" pitchFamily="34" charset="0"/>
                <a:cs typeface="Times New Roman" panose="02020603050405020304" pitchFamily="18" charset="0"/>
              </a:rPr>
              <a:t> (Columns: </a:t>
            </a:r>
            <a:r>
              <a:rPr lang="en-IN" kern="100" dirty="0" err="1">
                <a:solidFill>
                  <a:schemeClr val="tx1"/>
                </a:solidFill>
                <a:effectLst/>
                <a:latin typeface="Aptos" panose="020B0004020202020204" pitchFamily="34" charset="0"/>
                <a:ea typeface="Aptos" panose="020B0004020202020204" pitchFamily="34" charset="0"/>
                <a:cs typeface="Times New Roman" panose="02020603050405020304" pitchFamily="18" charset="0"/>
              </a:rPr>
              <a:t>DepartmentID</a:t>
            </a:r>
            <a:r>
              <a:rPr lang="en-IN" kern="100" dirty="0">
                <a:solidFill>
                  <a:schemeClr val="tx1"/>
                </a:solidFill>
                <a:effectLst/>
                <a:latin typeface="Aptos" panose="020B0004020202020204" pitchFamily="34" charset="0"/>
                <a:ea typeface="Aptos" panose="020B0004020202020204" pitchFamily="34" charset="0"/>
                <a:cs typeface="Times New Roman" panose="02020603050405020304" pitchFamily="18" charset="0"/>
              </a:rPr>
              <a:t>, </a:t>
            </a:r>
            <a:r>
              <a:rPr lang="en-IN" kern="100" dirty="0" err="1">
                <a:solidFill>
                  <a:schemeClr val="tx1"/>
                </a:solidFill>
                <a:effectLst/>
                <a:latin typeface="Aptos" panose="020B0004020202020204" pitchFamily="34" charset="0"/>
                <a:ea typeface="Aptos" panose="020B0004020202020204" pitchFamily="34" charset="0"/>
                <a:cs typeface="Times New Roman" panose="02020603050405020304" pitchFamily="18" charset="0"/>
              </a:rPr>
              <a:t>DepartmentName</a:t>
            </a:r>
            <a:r>
              <a:rPr lang="en-IN" kern="100" dirty="0">
                <a:solidFill>
                  <a:schemeClr val="tx1"/>
                </a:solidFill>
                <a:effectLst/>
                <a:latin typeface="Aptos" panose="020B0004020202020204" pitchFamily="34" charset="0"/>
                <a:ea typeface="Aptos" panose="020B0004020202020204" pitchFamily="34" charset="0"/>
                <a:cs typeface="Times New Roman" panose="02020603050405020304" pitchFamily="18" charset="0"/>
              </a:rPr>
              <a:t>)</a:t>
            </a:r>
          </a:p>
          <a:p>
            <a:pPr marL="0" indent="0">
              <a:lnSpc>
                <a:spcPct val="115000"/>
              </a:lnSpc>
              <a:spcAft>
                <a:spcPts val="800"/>
              </a:spcAft>
              <a:buNone/>
            </a:pPr>
            <a:r>
              <a:rPr lang="en-IN" kern="100" dirty="0">
                <a:solidFill>
                  <a:schemeClr val="tx1"/>
                </a:solidFill>
                <a:effectLst/>
                <a:latin typeface="Aptos" panose="020B0004020202020204" pitchFamily="34" charset="0"/>
                <a:ea typeface="Aptos" panose="020B0004020202020204" pitchFamily="34" charset="0"/>
                <a:cs typeface="Times New Roman" panose="02020603050405020304" pitchFamily="18" charset="0"/>
              </a:rPr>
              <a:t>This schema defines the structure of the database but doesn’t store any actual data yet.</a:t>
            </a:r>
          </a:p>
        </p:txBody>
      </p:sp>
    </p:spTree>
    <p:extLst>
      <p:ext uri="{BB962C8B-B14F-4D97-AF65-F5344CB8AC3E}">
        <p14:creationId xmlns:p14="http://schemas.microsoft.com/office/powerpoint/2010/main" val="574697483"/>
      </p:ext>
    </p:extLst>
  </p:cSld>
  <p:clrMapOvr>
    <a:masterClrMapping/>
  </p:clrMapOvr>
</p:sld>
</file>

<file path=ppt/slides/slide8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Number Placeholder 1"/>
          <p:cNvSpPr>
            <a:spLocks noGrp="1"/>
          </p:cNvSpPr>
          <p:nvPr>
            <p:ph type="sldNum" sz="quarter" idx="14"/>
          </p:nvPr>
        </p:nvSpPr>
        <p:spPr/>
        <p:txBody>
          <a:bodyPr/>
          <a:lstStyle/>
          <a:p>
            <a:fld id="{45A3C14A-F937-4231-B6F1-40B429FAFB2F}" type="slidenum">
              <a:rPr lang="en-NZ" smtClean="0"/>
              <a:pPr/>
              <a:t>81</a:t>
            </a:fld>
            <a:endParaRPr lang="en-NZ" dirty="0"/>
          </a:p>
        </p:txBody>
      </p:sp>
      <p:sp>
        <p:nvSpPr>
          <p:cNvPr id="3" name="Title 2"/>
          <p:cNvSpPr>
            <a:spLocks noGrp="1"/>
          </p:cNvSpPr>
          <p:nvPr>
            <p:ph type="title"/>
          </p:nvPr>
        </p:nvSpPr>
        <p:spPr/>
        <p:txBody>
          <a:bodyPr/>
          <a:lstStyle/>
          <a:p>
            <a:r>
              <a:rPr lang="en-US" b="1" dirty="0">
                <a:solidFill>
                  <a:srgbClr val="FF0000"/>
                </a:solidFill>
              </a:rPr>
              <a:t>schema </a:t>
            </a:r>
            <a:br>
              <a:rPr lang="en-US" b="1" dirty="0"/>
            </a:br>
            <a:endParaRPr lang="en-US" dirty="0"/>
          </a:p>
        </p:txBody>
      </p:sp>
      <p:sp>
        <p:nvSpPr>
          <p:cNvPr id="4" name="Text Placeholder 3"/>
          <p:cNvSpPr>
            <a:spLocks noGrp="1"/>
          </p:cNvSpPr>
          <p:nvPr>
            <p:ph type="body" sz="quarter" idx="17"/>
          </p:nvPr>
        </p:nvSpPr>
        <p:spPr>
          <a:xfrm>
            <a:off x="709829" y="980728"/>
            <a:ext cx="10570748" cy="4320480"/>
          </a:xfrm>
        </p:spPr>
        <p:txBody>
          <a:bodyPr/>
          <a:lstStyle/>
          <a:p>
            <a:pPr marL="0" indent="0" algn="just">
              <a:buNone/>
            </a:pPr>
            <a:r>
              <a:rPr lang="en-US" dirty="0">
                <a:solidFill>
                  <a:schemeClr val="tx1"/>
                </a:solidFill>
              </a:rPr>
              <a:t>The overall design of the database is called database schema. Schema will not be changed frequently. It is the logical structure of a database. It does not show the data in the database.</a:t>
            </a:r>
          </a:p>
        </p:txBody>
      </p:sp>
      <p:pic>
        <p:nvPicPr>
          <p:cNvPr id="6146" name="Picture 2" descr="https://www.tutorialspoint.com/assets/questions/media/53861/instance_and_schema.jpg"/>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3359696" y="2204864"/>
            <a:ext cx="5616624" cy="3671202"/>
          </a:xfrm>
          <a:prstGeom prst="rect">
            <a:avLst/>
          </a:prstGeom>
          <a:noFill/>
          <a:extLst>
            <a:ext uri="{909E8E84-426E-40DD-AFC4-6F175D3DCCD1}">
              <a14:hiddenFill xmlns:a14="http://schemas.microsoft.com/office/drawing/2010/main">
                <a:solidFill>
                  <a:srgbClr val="FFFFFF"/>
                </a:solidFill>
              </a14:hiddenFill>
            </a:ext>
          </a:extLst>
        </p:spPr>
      </p:pic>
      <p:sp>
        <p:nvSpPr>
          <p:cNvPr id="5" name="Rectangle 4"/>
          <p:cNvSpPr/>
          <p:nvPr/>
        </p:nvSpPr>
        <p:spPr>
          <a:xfrm>
            <a:off x="709829" y="1988840"/>
            <a:ext cx="5707871" cy="1323439"/>
          </a:xfrm>
          <a:prstGeom prst="rect">
            <a:avLst/>
          </a:prstGeom>
        </p:spPr>
        <p:txBody>
          <a:bodyPr wrap="square">
            <a:spAutoFit/>
          </a:bodyPr>
          <a:lstStyle/>
          <a:p>
            <a:endParaRPr lang="en-US" sz="2800" b="1" cap="all" dirty="0">
              <a:solidFill>
                <a:schemeClr val="tx1">
                  <a:lumMod val="50000"/>
                  <a:lumOff val="50000"/>
                </a:schemeClr>
              </a:solidFill>
              <a:latin typeface="Roboto Medium" pitchFamily="2" charset="0"/>
              <a:ea typeface="Roboto Medium" pitchFamily="2" charset="0"/>
              <a:cs typeface="Roboto Medium" pitchFamily="2" charset="0"/>
            </a:endParaRPr>
          </a:p>
          <a:p>
            <a:endParaRPr lang="en-US" sz="2800" b="1" cap="all" dirty="0">
              <a:solidFill>
                <a:schemeClr val="tx1">
                  <a:lumMod val="50000"/>
                  <a:lumOff val="50000"/>
                </a:schemeClr>
              </a:solidFill>
              <a:latin typeface="Roboto Medium" pitchFamily="2" charset="0"/>
              <a:ea typeface="Roboto Medium" pitchFamily="2" charset="0"/>
              <a:cs typeface="Roboto Medium" pitchFamily="2" charset="0"/>
            </a:endParaRPr>
          </a:p>
          <a:p>
            <a:endParaRPr lang="en-US" sz="2400" dirty="0">
              <a:solidFill>
                <a:schemeClr val="tx1">
                  <a:lumMod val="50000"/>
                  <a:lumOff val="50000"/>
                </a:schemeClr>
              </a:solidFill>
              <a:latin typeface="Roboto Medium" pitchFamily="2" charset="0"/>
              <a:ea typeface="Roboto Medium" pitchFamily="2" charset="0"/>
              <a:cs typeface="Roboto Medium" pitchFamily="2" charset="0"/>
            </a:endParaRPr>
          </a:p>
        </p:txBody>
      </p:sp>
    </p:spTree>
    <p:extLst>
      <p:ext uri="{BB962C8B-B14F-4D97-AF65-F5344CB8AC3E}">
        <p14:creationId xmlns:p14="http://schemas.microsoft.com/office/powerpoint/2010/main" val="629866257"/>
      </p:ext>
    </p:extLst>
  </p:cSld>
  <p:clrMapOvr>
    <a:masterClrMapping/>
  </p:clrMapOvr>
</p:sld>
</file>

<file path=ppt/slides/slide8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Number Placeholder 1"/>
          <p:cNvSpPr>
            <a:spLocks noGrp="1"/>
          </p:cNvSpPr>
          <p:nvPr>
            <p:ph type="sldNum" sz="quarter" idx="14"/>
          </p:nvPr>
        </p:nvSpPr>
        <p:spPr/>
        <p:txBody>
          <a:bodyPr/>
          <a:lstStyle/>
          <a:p>
            <a:fld id="{45A3C14A-F937-4231-B6F1-40B429FAFB2F}" type="slidenum">
              <a:rPr lang="en-NZ" smtClean="0"/>
              <a:pPr/>
              <a:t>82</a:t>
            </a:fld>
            <a:endParaRPr lang="en-NZ" dirty="0"/>
          </a:p>
        </p:txBody>
      </p:sp>
      <p:sp>
        <p:nvSpPr>
          <p:cNvPr id="3" name="Title 2"/>
          <p:cNvSpPr>
            <a:spLocks noGrp="1"/>
          </p:cNvSpPr>
          <p:nvPr>
            <p:ph type="title"/>
          </p:nvPr>
        </p:nvSpPr>
        <p:spPr/>
        <p:txBody>
          <a:bodyPr/>
          <a:lstStyle/>
          <a:p>
            <a:r>
              <a:rPr lang="en-US" b="1" dirty="0">
                <a:solidFill>
                  <a:srgbClr val="FF0000"/>
                </a:solidFill>
              </a:rPr>
              <a:t>schema</a:t>
            </a:r>
            <a:r>
              <a:rPr lang="en-US" b="1" dirty="0"/>
              <a:t> </a:t>
            </a:r>
            <a:br>
              <a:rPr lang="en-US" b="1" dirty="0"/>
            </a:br>
            <a:endParaRPr lang="en-US" dirty="0"/>
          </a:p>
        </p:txBody>
      </p:sp>
      <p:sp>
        <p:nvSpPr>
          <p:cNvPr id="4" name="Text Placeholder 3"/>
          <p:cNvSpPr>
            <a:spLocks noGrp="1"/>
          </p:cNvSpPr>
          <p:nvPr>
            <p:ph type="body" sz="quarter" idx="17"/>
          </p:nvPr>
        </p:nvSpPr>
        <p:spPr>
          <a:xfrm>
            <a:off x="450461" y="1785353"/>
            <a:ext cx="5760640" cy="4320480"/>
          </a:xfrm>
        </p:spPr>
        <p:txBody>
          <a:bodyPr/>
          <a:lstStyle/>
          <a:p>
            <a:pPr algn="just"/>
            <a:r>
              <a:rPr lang="en-US" sz="2000" dirty="0">
                <a:solidFill>
                  <a:schemeClr val="tx1"/>
                </a:solidFill>
              </a:rPr>
              <a:t>A schema diagram can display only some aspects of a schema like the name of record type, data type, and constraints. Other aspects can't be specified through the schema diagram. For example, the given figure neither show the data type of each data item nor the relationship among various files.</a:t>
            </a:r>
          </a:p>
          <a:p>
            <a:pPr algn="just"/>
            <a:r>
              <a:rPr lang="en-US" sz="2000" dirty="0">
                <a:solidFill>
                  <a:schemeClr val="tx1"/>
                </a:solidFill>
              </a:rPr>
              <a:t>In the database, actual data changes quite frequently. For example, in the given figure, the database changes whenever we add a new grade or add a student. The data at a particular moment of time is called the instance of the database.</a:t>
            </a:r>
          </a:p>
          <a:p>
            <a:endParaRPr lang="en-US" dirty="0"/>
          </a:p>
        </p:txBody>
      </p:sp>
      <p:graphicFrame>
        <p:nvGraphicFramePr>
          <p:cNvPr id="9" name="Table 8"/>
          <p:cNvGraphicFramePr>
            <a:graphicFrameLocks noGrp="1"/>
          </p:cNvGraphicFramePr>
          <p:nvPr>
            <p:extLst>
              <p:ext uri="{D42A27DB-BD31-4B8C-83A1-F6EECF244321}">
                <p14:modId xmlns:p14="http://schemas.microsoft.com/office/powerpoint/2010/main" val="3461559156"/>
              </p:ext>
            </p:extLst>
          </p:nvPr>
        </p:nvGraphicFramePr>
        <p:xfrm>
          <a:off x="2711897" y="5262255"/>
          <a:ext cx="5539827" cy="426720"/>
        </p:xfrm>
        <a:graphic>
          <a:graphicData uri="http://schemas.openxmlformats.org/drawingml/2006/table">
            <a:tbl>
              <a:tblPr/>
              <a:tblGrid>
                <a:gridCol w="2159967">
                  <a:extLst>
                    <a:ext uri="{9D8B030D-6E8A-4147-A177-3AD203B41FA5}">
                      <a16:colId xmlns:a16="http://schemas.microsoft.com/office/drawing/2014/main" val="2264044180"/>
                    </a:ext>
                  </a:extLst>
                </a:gridCol>
                <a:gridCol w="1533251">
                  <a:extLst>
                    <a:ext uri="{9D8B030D-6E8A-4147-A177-3AD203B41FA5}">
                      <a16:colId xmlns:a16="http://schemas.microsoft.com/office/drawing/2014/main" val="2334535551"/>
                    </a:ext>
                  </a:extLst>
                </a:gridCol>
                <a:gridCol w="1846609">
                  <a:extLst>
                    <a:ext uri="{9D8B030D-6E8A-4147-A177-3AD203B41FA5}">
                      <a16:colId xmlns:a16="http://schemas.microsoft.com/office/drawing/2014/main" val="2142237843"/>
                    </a:ext>
                  </a:extLst>
                </a:gridCol>
              </a:tblGrid>
              <a:tr h="0">
                <a:tc>
                  <a:txBody>
                    <a:bodyPr/>
                    <a:lstStyle/>
                    <a:p>
                      <a:pPr algn="l" fontAlgn="t"/>
                      <a:endParaRPr lang="en-US" dirty="0">
                        <a:effectLst/>
                      </a:endParaRPr>
                    </a:p>
                  </a:txBody>
                  <a:tcPr marL="76200" marR="76200" marT="76200" marB="76200">
                    <a:lnL>
                      <a:noFill/>
                    </a:lnL>
                    <a:lnR>
                      <a:noFill/>
                    </a:lnR>
                    <a:lnT>
                      <a:noFill/>
                    </a:lnT>
                    <a:lnB>
                      <a:noFill/>
                    </a:lnB>
                  </a:tcPr>
                </a:tc>
                <a:tc>
                  <a:txBody>
                    <a:bodyPr/>
                    <a:lstStyle/>
                    <a:p>
                      <a:pPr algn="l" fontAlgn="t"/>
                      <a:endParaRPr lang="en-US" dirty="0">
                        <a:effectLst/>
                      </a:endParaRPr>
                    </a:p>
                  </a:txBody>
                  <a:tcPr marL="76200" marR="76200" marT="76200" marB="76200">
                    <a:lnL>
                      <a:noFill/>
                    </a:lnL>
                    <a:lnR>
                      <a:noFill/>
                    </a:lnR>
                    <a:lnT>
                      <a:noFill/>
                    </a:lnT>
                    <a:lnB>
                      <a:noFill/>
                    </a:lnB>
                  </a:tcPr>
                </a:tc>
                <a:tc>
                  <a:txBody>
                    <a:bodyPr/>
                    <a:lstStyle/>
                    <a:p>
                      <a:pPr algn="l" fontAlgn="t"/>
                      <a:endParaRPr lang="en-US" dirty="0">
                        <a:effectLst/>
                      </a:endParaRPr>
                    </a:p>
                  </a:txBody>
                  <a:tcPr marL="76200" marR="76200" marT="76200" marB="76200">
                    <a:lnL>
                      <a:noFill/>
                    </a:lnL>
                    <a:lnR>
                      <a:noFill/>
                    </a:lnR>
                    <a:lnT>
                      <a:noFill/>
                    </a:lnT>
                    <a:lnB>
                      <a:noFill/>
                    </a:lnB>
                  </a:tcPr>
                </a:tc>
                <a:extLst>
                  <a:ext uri="{0D108BD9-81ED-4DB2-BD59-A6C34878D82A}">
                    <a16:rowId xmlns:a16="http://schemas.microsoft.com/office/drawing/2014/main" val="2144333867"/>
                  </a:ext>
                </a:extLst>
              </a:tr>
            </a:tbl>
          </a:graphicData>
        </a:graphic>
      </p:graphicFrame>
      <p:sp>
        <p:nvSpPr>
          <p:cNvPr id="10" name="Rectangle 3"/>
          <p:cNvSpPr>
            <a:spLocks noChangeArrowheads="1"/>
          </p:cNvSpPr>
          <p:nvPr/>
        </p:nvSpPr>
        <p:spPr bwMode="auto">
          <a:xfrm>
            <a:off x="8807591" y="5103276"/>
            <a:ext cx="65" cy="276999"/>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0" tIns="0" rIns="0" bIns="0" numCol="1" anchor="ctr" anchorCtr="0" compatLnSpc="1">
            <a:prstTxWarp prst="textNoShape">
              <a:avLst/>
            </a:prstTxWarp>
            <a:spAutoFit/>
          </a:bodyPr>
          <a:lstStyle/>
          <a:p>
            <a:pPr marL="0" marR="0" lvl="0" indent="0" algn="just" defTabSz="914400" rtl="0" eaLnBrk="0" fontAlgn="base" latinLnBrk="0" hangingPunct="0">
              <a:lnSpc>
                <a:spcPct val="100000"/>
              </a:lnSpc>
              <a:spcBef>
                <a:spcPct val="0"/>
              </a:spcBef>
              <a:spcAft>
                <a:spcPct val="0"/>
              </a:spcAft>
              <a:buClrTx/>
              <a:buSzTx/>
              <a:buFontTx/>
              <a:buNone/>
              <a:tabLst/>
            </a:pPr>
            <a:endParaRPr kumimoji="0" lang="en-US" altLang="en-US" sz="1800" b="0" i="0" u="none" strike="noStrike" cap="none" normalizeH="0" baseline="0" dirty="0">
              <a:ln>
                <a:noFill/>
              </a:ln>
              <a:solidFill>
                <a:schemeClr val="tx1"/>
              </a:solidFill>
              <a:effectLst/>
              <a:latin typeface="Arial" panose="020B0604020202020204" pitchFamily="34" charset="0"/>
            </a:endParaRPr>
          </a:p>
        </p:txBody>
      </p:sp>
      <p:pic>
        <p:nvPicPr>
          <p:cNvPr id="11" name="Picture 10"/>
          <p:cNvPicPr>
            <a:picLocks noChangeAspect="1"/>
          </p:cNvPicPr>
          <p:nvPr/>
        </p:nvPicPr>
        <p:blipFill>
          <a:blip r:embed="rId2"/>
          <a:stretch>
            <a:fillRect/>
          </a:stretch>
        </p:blipFill>
        <p:spPr>
          <a:xfrm>
            <a:off x="6511218" y="1628800"/>
            <a:ext cx="5476875" cy="4295775"/>
          </a:xfrm>
          <a:prstGeom prst="rect">
            <a:avLst/>
          </a:prstGeom>
        </p:spPr>
      </p:pic>
    </p:spTree>
    <p:extLst>
      <p:ext uri="{BB962C8B-B14F-4D97-AF65-F5344CB8AC3E}">
        <p14:creationId xmlns:p14="http://schemas.microsoft.com/office/powerpoint/2010/main" val="142589"/>
      </p:ext>
    </p:extLst>
  </p:cSld>
  <p:clrMapOvr>
    <a:masterClrMapping/>
  </p:clrMapOvr>
</p:sld>
</file>

<file path=ppt/slides/slide8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Number Placeholder 1"/>
          <p:cNvSpPr>
            <a:spLocks noGrp="1"/>
          </p:cNvSpPr>
          <p:nvPr>
            <p:ph type="sldNum" sz="quarter" idx="14"/>
          </p:nvPr>
        </p:nvSpPr>
        <p:spPr/>
        <p:txBody>
          <a:bodyPr/>
          <a:lstStyle/>
          <a:p>
            <a:fld id="{45A3C14A-F937-4231-B6F1-40B429FAFB2F}" type="slidenum">
              <a:rPr lang="en-NZ" smtClean="0"/>
              <a:pPr/>
              <a:t>83</a:t>
            </a:fld>
            <a:endParaRPr lang="en-NZ" dirty="0"/>
          </a:p>
        </p:txBody>
      </p:sp>
      <p:sp>
        <p:nvSpPr>
          <p:cNvPr id="3" name="Title 2"/>
          <p:cNvSpPr>
            <a:spLocks noGrp="1"/>
          </p:cNvSpPr>
          <p:nvPr>
            <p:ph type="title"/>
          </p:nvPr>
        </p:nvSpPr>
        <p:spPr/>
        <p:txBody>
          <a:bodyPr/>
          <a:lstStyle/>
          <a:p>
            <a:r>
              <a:rPr lang="en-US" b="1" dirty="0">
                <a:solidFill>
                  <a:srgbClr val="FF0000"/>
                </a:solidFill>
              </a:rPr>
              <a:t>Types of Schema</a:t>
            </a:r>
            <a:br>
              <a:rPr lang="en-US" b="1" dirty="0"/>
            </a:br>
            <a:endParaRPr lang="en-US" dirty="0"/>
          </a:p>
        </p:txBody>
      </p:sp>
      <p:sp>
        <p:nvSpPr>
          <p:cNvPr id="4" name="Text Placeholder 3"/>
          <p:cNvSpPr>
            <a:spLocks noGrp="1"/>
          </p:cNvSpPr>
          <p:nvPr>
            <p:ph type="body" sz="quarter" idx="17"/>
          </p:nvPr>
        </p:nvSpPr>
        <p:spPr>
          <a:xfrm>
            <a:off x="566658" y="1268760"/>
            <a:ext cx="10801201" cy="4320480"/>
          </a:xfrm>
        </p:spPr>
        <p:txBody>
          <a:bodyPr/>
          <a:lstStyle/>
          <a:p>
            <a:pPr algn="just"/>
            <a:r>
              <a:rPr lang="en-US" b="1" dirty="0">
                <a:solidFill>
                  <a:schemeClr val="tx1"/>
                </a:solidFill>
              </a:rPr>
              <a:t>Physical schema</a:t>
            </a:r>
            <a:r>
              <a:rPr lang="en-US" dirty="0">
                <a:solidFill>
                  <a:schemeClr val="tx1"/>
                </a:solidFill>
              </a:rPr>
              <a:t> − It is a database design at the physical </a:t>
            </a:r>
            <a:r>
              <a:rPr lang="en-US" dirty="0" err="1">
                <a:solidFill>
                  <a:schemeClr val="tx1"/>
                </a:solidFill>
              </a:rPr>
              <a:t>level.It</a:t>
            </a:r>
            <a:r>
              <a:rPr lang="en-US" dirty="0">
                <a:solidFill>
                  <a:schemeClr val="tx1"/>
                </a:solidFill>
              </a:rPr>
              <a:t> is hidden below the logical schema and can be changed easily without affecting the application programs.</a:t>
            </a:r>
          </a:p>
          <a:p>
            <a:pPr algn="just"/>
            <a:r>
              <a:rPr lang="en-US" b="1" dirty="0">
                <a:solidFill>
                  <a:schemeClr val="tx1"/>
                </a:solidFill>
              </a:rPr>
              <a:t>Logical schema</a:t>
            </a:r>
            <a:r>
              <a:rPr lang="en-US" dirty="0">
                <a:solidFill>
                  <a:schemeClr val="tx1"/>
                </a:solidFill>
              </a:rPr>
              <a:t> − It is a database design at the logical level. Programmers construct applications using logical schema.</a:t>
            </a:r>
          </a:p>
          <a:p>
            <a:pPr algn="just"/>
            <a:r>
              <a:rPr lang="en-US" b="1" dirty="0">
                <a:solidFill>
                  <a:schemeClr val="tx1"/>
                </a:solidFill>
              </a:rPr>
              <a:t>External</a:t>
            </a:r>
            <a:r>
              <a:rPr lang="en-US" dirty="0">
                <a:solidFill>
                  <a:schemeClr val="tx1"/>
                </a:solidFill>
              </a:rPr>
              <a:t> − It is schema at view level. It is the highest level of a schema which defines the views for end users.</a:t>
            </a:r>
          </a:p>
          <a:p>
            <a:endParaRPr lang="en-US" dirty="0"/>
          </a:p>
        </p:txBody>
      </p:sp>
    </p:spTree>
    <p:extLst>
      <p:ext uri="{BB962C8B-B14F-4D97-AF65-F5344CB8AC3E}">
        <p14:creationId xmlns:p14="http://schemas.microsoft.com/office/powerpoint/2010/main" val="2607941378"/>
      </p:ext>
    </p:extLst>
  </p:cSld>
  <p:clrMapOvr>
    <a:masterClrMapping/>
  </p:clrMapOvr>
</p:sld>
</file>

<file path=ppt/slides/slide8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Number Placeholder 1"/>
          <p:cNvSpPr>
            <a:spLocks noGrp="1"/>
          </p:cNvSpPr>
          <p:nvPr>
            <p:ph type="sldNum" sz="quarter" idx="14"/>
          </p:nvPr>
        </p:nvSpPr>
        <p:spPr/>
        <p:txBody>
          <a:bodyPr/>
          <a:lstStyle/>
          <a:p>
            <a:fld id="{45A3C14A-F937-4231-B6F1-40B429FAFB2F}" type="slidenum">
              <a:rPr lang="en-NZ" smtClean="0"/>
              <a:pPr/>
              <a:t>84</a:t>
            </a:fld>
            <a:endParaRPr lang="en-NZ" dirty="0"/>
          </a:p>
        </p:txBody>
      </p:sp>
      <p:sp>
        <p:nvSpPr>
          <p:cNvPr id="3" name="Title 2"/>
          <p:cNvSpPr>
            <a:spLocks noGrp="1"/>
          </p:cNvSpPr>
          <p:nvPr>
            <p:ph type="title"/>
          </p:nvPr>
        </p:nvSpPr>
        <p:spPr/>
        <p:txBody>
          <a:bodyPr/>
          <a:lstStyle/>
          <a:p>
            <a:r>
              <a:rPr lang="en-US" b="1" dirty="0">
                <a:solidFill>
                  <a:srgbClr val="FF0000"/>
                </a:solidFill>
              </a:rPr>
              <a:t>Instance</a:t>
            </a:r>
            <a:br>
              <a:rPr lang="en-US" b="1" dirty="0">
                <a:solidFill>
                  <a:srgbClr val="FF0000"/>
                </a:solidFill>
              </a:rPr>
            </a:br>
            <a:endParaRPr lang="en-US" b="1" dirty="0">
              <a:solidFill>
                <a:srgbClr val="FF0000"/>
              </a:solidFill>
            </a:endParaRPr>
          </a:p>
        </p:txBody>
      </p:sp>
      <p:sp>
        <p:nvSpPr>
          <p:cNvPr id="4" name="Text Placeholder 3"/>
          <p:cNvSpPr>
            <a:spLocks noGrp="1"/>
          </p:cNvSpPr>
          <p:nvPr>
            <p:ph type="body" sz="quarter" idx="17"/>
          </p:nvPr>
        </p:nvSpPr>
        <p:spPr>
          <a:xfrm>
            <a:off x="680770" y="1124744"/>
            <a:ext cx="10801201" cy="4320480"/>
          </a:xfrm>
        </p:spPr>
        <p:txBody>
          <a:bodyPr/>
          <a:lstStyle/>
          <a:p>
            <a:pPr marL="0" indent="0" algn="just">
              <a:buNone/>
            </a:pPr>
            <a:r>
              <a:rPr lang="en-US" dirty="0">
                <a:solidFill>
                  <a:schemeClr val="tx1"/>
                </a:solidFill>
              </a:rPr>
              <a:t>Instance or extension or database state is a collection of information that </a:t>
            </a:r>
            <a:r>
              <a:rPr lang="en-US" dirty="0">
                <a:solidFill>
                  <a:srgbClr val="FF0000"/>
                </a:solidFill>
              </a:rPr>
              <a:t>stored in a database at a particular moment </a:t>
            </a:r>
            <a:r>
              <a:rPr lang="en-US" dirty="0">
                <a:solidFill>
                  <a:schemeClr val="tx1"/>
                </a:solidFill>
              </a:rPr>
              <a:t>is called an instance of the database. The Database instance refers to the information stored in the database at a given point of time. Thus, it is a dynamic value which keeps on changing.</a:t>
            </a:r>
          </a:p>
          <a:p>
            <a:pPr marL="0" indent="0" algn="just">
              <a:buNone/>
            </a:pPr>
            <a:r>
              <a:rPr lang="en-US" dirty="0">
                <a:solidFill>
                  <a:schemeClr val="tx1"/>
                </a:solidFill>
              </a:rPr>
              <a:t>These refer to a collection of all the information and data stored at any given moment. One can easily change these instances using certain </a:t>
            </a:r>
            <a:r>
              <a:rPr lang="en-US" dirty="0">
                <a:solidFill>
                  <a:srgbClr val="FF0000"/>
                </a:solidFill>
              </a:rPr>
              <a:t>CRUD</a:t>
            </a:r>
            <a:r>
              <a:rPr lang="en-US" dirty="0">
                <a:solidFill>
                  <a:schemeClr val="tx1"/>
                </a:solidFill>
              </a:rPr>
              <a:t> operations, such as deletion and addition of data and information.</a:t>
            </a:r>
          </a:p>
          <a:p>
            <a:pPr marL="0" indent="0" algn="just">
              <a:buNone/>
            </a:pPr>
            <a:r>
              <a:rPr lang="en-US" b="1" dirty="0">
                <a:solidFill>
                  <a:srgbClr val="FF0000"/>
                </a:solidFill>
              </a:rPr>
              <a:t>Create</a:t>
            </a:r>
            <a:r>
              <a:rPr lang="en-US" dirty="0">
                <a:solidFill>
                  <a:srgbClr val="FF0000"/>
                </a:solidFill>
              </a:rPr>
              <a:t>, </a:t>
            </a:r>
            <a:r>
              <a:rPr lang="en-US" b="1" dirty="0">
                <a:solidFill>
                  <a:srgbClr val="FF0000"/>
                </a:solidFill>
              </a:rPr>
              <a:t>Read</a:t>
            </a:r>
            <a:r>
              <a:rPr lang="en-US" dirty="0">
                <a:solidFill>
                  <a:srgbClr val="FF0000"/>
                </a:solidFill>
              </a:rPr>
              <a:t>, </a:t>
            </a:r>
            <a:r>
              <a:rPr lang="en-US" b="1" dirty="0">
                <a:solidFill>
                  <a:srgbClr val="FF0000"/>
                </a:solidFill>
              </a:rPr>
              <a:t>Update</a:t>
            </a:r>
            <a:r>
              <a:rPr lang="en-US" dirty="0">
                <a:solidFill>
                  <a:srgbClr val="FF0000"/>
                </a:solidFill>
              </a:rPr>
              <a:t>, and </a:t>
            </a:r>
            <a:r>
              <a:rPr lang="en-US" b="1" dirty="0">
                <a:solidFill>
                  <a:srgbClr val="FF0000"/>
                </a:solidFill>
              </a:rPr>
              <a:t>Delete</a:t>
            </a:r>
            <a:r>
              <a:rPr lang="en-US" dirty="0">
                <a:solidFill>
                  <a:schemeClr val="tx1"/>
                </a:solidFill>
              </a:rPr>
              <a:t>. These operations are essential for managing data in relational database management systems (RDBMS). </a:t>
            </a:r>
          </a:p>
        </p:txBody>
      </p:sp>
    </p:spTree>
    <p:extLst>
      <p:ext uri="{BB962C8B-B14F-4D97-AF65-F5344CB8AC3E}">
        <p14:creationId xmlns:p14="http://schemas.microsoft.com/office/powerpoint/2010/main" val="501432557"/>
      </p:ext>
    </p:extLst>
  </p:cSld>
  <p:clrMapOvr>
    <a:masterClrMapping/>
  </p:clrMapOvr>
</p:sld>
</file>

<file path=ppt/slides/slide8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3C6D1CF-FD4D-40C9-B6CF-05FC838B7AB6}"/>
            </a:ext>
          </a:extLst>
        </p:cNvPr>
        <p:cNvGrpSpPr/>
        <p:nvPr/>
      </p:nvGrpSpPr>
      <p:grpSpPr>
        <a:xfrm>
          <a:off x="0" y="0"/>
          <a:ext cx="0" cy="0"/>
          <a:chOff x="0" y="0"/>
          <a:chExt cx="0" cy="0"/>
        </a:xfrm>
      </p:grpSpPr>
      <p:sp>
        <p:nvSpPr>
          <p:cNvPr id="2" name="Slide Number Placeholder 1">
            <a:extLst>
              <a:ext uri="{FF2B5EF4-FFF2-40B4-BE49-F238E27FC236}">
                <a16:creationId xmlns:a16="http://schemas.microsoft.com/office/drawing/2014/main" id="{1FCD6496-23A4-C937-9C80-38BE0F32F838}"/>
              </a:ext>
            </a:extLst>
          </p:cNvPr>
          <p:cNvSpPr>
            <a:spLocks noGrp="1"/>
          </p:cNvSpPr>
          <p:nvPr>
            <p:ph type="sldNum" sz="quarter" idx="14"/>
          </p:nvPr>
        </p:nvSpPr>
        <p:spPr/>
        <p:txBody>
          <a:bodyPr/>
          <a:lstStyle/>
          <a:p>
            <a:fld id="{45A3C14A-F937-4231-B6F1-40B429FAFB2F}" type="slidenum">
              <a:rPr lang="en-NZ" smtClean="0"/>
              <a:pPr/>
              <a:t>85</a:t>
            </a:fld>
            <a:endParaRPr lang="en-NZ" dirty="0"/>
          </a:p>
        </p:txBody>
      </p:sp>
      <p:sp>
        <p:nvSpPr>
          <p:cNvPr id="3" name="Title 2">
            <a:extLst>
              <a:ext uri="{FF2B5EF4-FFF2-40B4-BE49-F238E27FC236}">
                <a16:creationId xmlns:a16="http://schemas.microsoft.com/office/drawing/2014/main" id="{2F0A0E1A-701F-7A83-48C9-CCF17CE0017B}"/>
              </a:ext>
            </a:extLst>
          </p:cNvPr>
          <p:cNvSpPr>
            <a:spLocks noGrp="1"/>
          </p:cNvSpPr>
          <p:nvPr>
            <p:ph type="title"/>
          </p:nvPr>
        </p:nvSpPr>
        <p:spPr/>
        <p:txBody>
          <a:bodyPr/>
          <a:lstStyle/>
          <a:p>
            <a:r>
              <a:rPr lang="en-US" b="1" dirty="0">
                <a:solidFill>
                  <a:srgbClr val="FF0000"/>
                </a:solidFill>
              </a:rPr>
              <a:t>Practical Use Cases of CRUD:</a:t>
            </a:r>
            <a:br>
              <a:rPr lang="en-US" b="1" dirty="0">
                <a:solidFill>
                  <a:srgbClr val="FF0000"/>
                </a:solidFill>
              </a:rPr>
            </a:br>
            <a:br>
              <a:rPr lang="en-US" b="1" dirty="0">
                <a:solidFill>
                  <a:srgbClr val="FF0000"/>
                </a:solidFill>
              </a:rPr>
            </a:br>
            <a:endParaRPr lang="en-US" b="1" dirty="0">
              <a:solidFill>
                <a:srgbClr val="FF0000"/>
              </a:solidFill>
            </a:endParaRPr>
          </a:p>
        </p:txBody>
      </p:sp>
      <p:sp>
        <p:nvSpPr>
          <p:cNvPr id="4" name="Text Placeholder 3">
            <a:extLst>
              <a:ext uri="{FF2B5EF4-FFF2-40B4-BE49-F238E27FC236}">
                <a16:creationId xmlns:a16="http://schemas.microsoft.com/office/drawing/2014/main" id="{AA7C87F0-0C23-8897-A4FD-F37D3E9F5808}"/>
              </a:ext>
            </a:extLst>
          </p:cNvPr>
          <p:cNvSpPr>
            <a:spLocks noGrp="1"/>
          </p:cNvSpPr>
          <p:nvPr>
            <p:ph type="body" sz="quarter" idx="17"/>
          </p:nvPr>
        </p:nvSpPr>
        <p:spPr>
          <a:xfrm>
            <a:off x="565945" y="814887"/>
            <a:ext cx="10801201" cy="4320480"/>
          </a:xfrm>
        </p:spPr>
        <p:txBody>
          <a:bodyPr/>
          <a:lstStyle/>
          <a:p>
            <a:pPr>
              <a:buFont typeface="+mj-lt"/>
              <a:buAutoNum type="arabicPeriod"/>
            </a:pPr>
            <a:r>
              <a:rPr lang="en-US" b="1" dirty="0">
                <a:solidFill>
                  <a:schemeClr val="tx1"/>
                </a:solidFill>
              </a:rPr>
              <a:t>E-Commerce Platform</a:t>
            </a:r>
            <a:r>
              <a:rPr lang="en-US" dirty="0">
                <a:solidFill>
                  <a:schemeClr val="tx1"/>
                </a:solidFill>
              </a:rPr>
              <a:t>:</a:t>
            </a:r>
          </a:p>
          <a:p>
            <a:pPr marL="742950" lvl="1" indent="-285750">
              <a:buFont typeface="+mj-lt"/>
              <a:buAutoNum type="arabicPeriod"/>
            </a:pPr>
            <a:r>
              <a:rPr lang="en-US" b="1" dirty="0">
                <a:solidFill>
                  <a:schemeClr val="tx1"/>
                </a:solidFill>
              </a:rPr>
              <a:t>Create</a:t>
            </a:r>
            <a:r>
              <a:rPr lang="en-US" dirty="0">
                <a:solidFill>
                  <a:schemeClr val="tx1"/>
                </a:solidFill>
              </a:rPr>
              <a:t>: Add new products to the catalog.</a:t>
            </a:r>
          </a:p>
          <a:p>
            <a:pPr marL="742950" lvl="1" indent="-285750">
              <a:buFont typeface="+mj-lt"/>
              <a:buAutoNum type="arabicPeriod"/>
            </a:pPr>
            <a:r>
              <a:rPr lang="en-US" b="1" dirty="0">
                <a:solidFill>
                  <a:schemeClr val="tx1"/>
                </a:solidFill>
              </a:rPr>
              <a:t>Read</a:t>
            </a:r>
            <a:r>
              <a:rPr lang="en-US" dirty="0">
                <a:solidFill>
                  <a:schemeClr val="tx1"/>
                </a:solidFill>
              </a:rPr>
              <a:t>: Retrieve product details for customer viewing.</a:t>
            </a:r>
          </a:p>
          <a:p>
            <a:pPr marL="742950" lvl="1" indent="-285750">
              <a:buFont typeface="+mj-lt"/>
              <a:buAutoNum type="arabicPeriod"/>
            </a:pPr>
            <a:r>
              <a:rPr lang="en-US" b="1" dirty="0">
                <a:solidFill>
                  <a:schemeClr val="tx1"/>
                </a:solidFill>
              </a:rPr>
              <a:t>Update</a:t>
            </a:r>
            <a:r>
              <a:rPr lang="en-US" dirty="0">
                <a:solidFill>
                  <a:schemeClr val="tx1"/>
                </a:solidFill>
              </a:rPr>
              <a:t>: Change product prices or inventory levels.</a:t>
            </a:r>
          </a:p>
          <a:p>
            <a:pPr marL="742950" lvl="1" indent="-285750">
              <a:buFont typeface="+mj-lt"/>
              <a:buAutoNum type="arabicPeriod"/>
            </a:pPr>
            <a:r>
              <a:rPr lang="en-US" b="1" dirty="0">
                <a:solidFill>
                  <a:schemeClr val="tx1"/>
                </a:solidFill>
              </a:rPr>
              <a:t>Delete</a:t>
            </a:r>
            <a:r>
              <a:rPr lang="en-US" dirty="0">
                <a:solidFill>
                  <a:schemeClr val="tx1"/>
                </a:solidFill>
              </a:rPr>
              <a:t>: Remove discontinued products.</a:t>
            </a:r>
          </a:p>
          <a:p>
            <a:r>
              <a:rPr lang="en-US" b="1" dirty="0">
                <a:solidFill>
                  <a:schemeClr val="tx1"/>
                </a:solidFill>
              </a:rPr>
              <a:t>Library Management System</a:t>
            </a:r>
            <a:r>
              <a:rPr lang="en-US" dirty="0">
                <a:solidFill>
                  <a:schemeClr val="tx1"/>
                </a:solidFill>
              </a:rPr>
              <a:t>:</a:t>
            </a:r>
          </a:p>
          <a:p>
            <a:pPr>
              <a:buFont typeface="Arial" panose="020B0604020202020204" pitchFamily="34" charset="0"/>
              <a:buChar char="•"/>
            </a:pPr>
            <a:r>
              <a:rPr lang="en-US" b="1" dirty="0">
                <a:solidFill>
                  <a:schemeClr val="tx1"/>
                </a:solidFill>
              </a:rPr>
              <a:t>Create</a:t>
            </a:r>
            <a:r>
              <a:rPr lang="en-US" dirty="0">
                <a:solidFill>
                  <a:schemeClr val="tx1"/>
                </a:solidFill>
              </a:rPr>
              <a:t>: Add new books to the library database.</a:t>
            </a:r>
          </a:p>
          <a:p>
            <a:pPr>
              <a:buFont typeface="Arial" panose="020B0604020202020204" pitchFamily="34" charset="0"/>
              <a:buChar char="•"/>
            </a:pPr>
            <a:r>
              <a:rPr lang="en-US" b="1" dirty="0">
                <a:solidFill>
                  <a:schemeClr val="tx1"/>
                </a:solidFill>
              </a:rPr>
              <a:t>Read</a:t>
            </a:r>
            <a:r>
              <a:rPr lang="en-US" dirty="0">
                <a:solidFill>
                  <a:schemeClr val="tx1"/>
                </a:solidFill>
              </a:rPr>
              <a:t>: Search for books based on author or genre.</a:t>
            </a:r>
          </a:p>
          <a:p>
            <a:pPr>
              <a:buFont typeface="Arial" panose="020B0604020202020204" pitchFamily="34" charset="0"/>
              <a:buChar char="•"/>
            </a:pPr>
            <a:r>
              <a:rPr lang="en-US" b="1" dirty="0">
                <a:solidFill>
                  <a:schemeClr val="tx1"/>
                </a:solidFill>
              </a:rPr>
              <a:t>Update</a:t>
            </a:r>
            <a:r>
              <a:rPr lang="en-US" dirty="0">
                <a:solidFill>
                  <a:schemeClr val="tx1"/>
                </a:solidFill>
              </a:rPr>
              <a:t>: Update book availability when borrowed.</a:t>
            </a:r>
          </a:p>
          <a:p>
            <a:pPr>
              <a:buFont typeface="Arial" panose="020B0604020202020204" pitchFamily="34" charset="0"/>
              <a:buChar char="•"/>
            </a:pPr>
            <a:r>
              <a:rPr lang="en-US" b="1" dirty="0">
                <a:solidFill>
                  <a:schemeClr val="tx1"/>
                </a:solidFill>
              </a:rPr>
              <a:t>Delete</a:t>
            </a:r>
            <a:r>
              <a:rPr lang="en-US" dirty="0">
                <a:solidFill>
                  <a:schemeClr val="tx1"/>
                </a:solidFill>
              </a:rPr>
              <a:t>: Remove lost or damaged books.</a:t>
            </a:r>
          </a:p>
          <a:p>
            <a:pPr marL="742950" lvl="1" indent="-285750">
              <a:buFont typeface="+mj-lt"/>
              <a:buAutoNum type="arabicPeriod"/>
            </a:pPr>
            <a:endParaRPr lang="en-US" dirty="0"/>
          </a:p>
          <a:p>
            <a:pPr marL="0" indent="0" algn="just">
              <a:buNone/>
            </a:pPr>
            <a:endParaRPr lang="en-US" dirty="0">
              <a:solidFill>
                <a:schemeClr val="tx1"/>
              </a:solidFill>
            </a:endParaRPr>
          </a:p>
        </p:txBody>
      </p:sp>
    </p:spTree>
    <p:extLst>
      <p:ext uri="{BB962C8B-B14F-4D97-AF65-F5344CB8AC3E}">
        <p14:creationId xmlns:p14="http://schemas.microsoft.com/office/powerpoint/2010/main" val="1930267394"/>
      </p:ext>
    </p:extLst>
  </p:cSld>
  <p:clrMapOvr>
    <a:masterClrMapping/>
  </p:clrMapOvr>
</p:sld>
</file>

<file path=ppt/slides/slide86.xml><?xml version="1.0" encoding="utf-8"?>
<p:sld xmlns:a="http://schemas.openxmlformats.org/drawingml/2006/main" xmlns:r="http://schemas.openxmlformats.org/officeDocument/2006/relationships" xmlns:p="http://schemas.openxmlformats.org/presentationml/2006/main" show="0">
  <p:cSld>
    <p:spTree>
      <p:nvGrpSpPr>
        <p:cNvPr id="1" name="">
          <a:extLst>
            <a:ext uri="{FF2B5EF4-FFF2-40B4-BE49-F238E27FC236}">
              <a16:creationId xmlns:a16="http://schemas.microsoft.com/office/drawing/2014/main" id="{1AA2C0C1-2C70-FEBB-00F1-54FEE5E8C71E}"/>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6AF9E1E7-F573-C409-23D0-4A251D47B0C8}"/>
              </a:ext>
            </a:extLst>
          </p:cNvPr>
          <p:cNvSpPr>
            <a:spLocks noGrp="1"/>
          </p:cNvSpPr>
          <p:nvPr>
            <p:ph type="title"/>
          </p:nvPr>
        </p:nvSpPr>
        <p:spPr/>
        <p:txBody>
          <a:bodyPr/>
          <a:lstStyle/>
          <a:p>
            <a:pPr marL="0" indent="0" algn="just">
              <a:lnSpc>
                <a:spcPct val="115000"/>
              </a:lnSpc>
              <a:spcAft>
                <a:spcPts val="800"/>
              </a:spcAft>
              <a:buNone/>
            </a:pPr>
            <a:r>
              <a:rPr lang="en-IN" b="1" kern="100" dirty="0">
                <a:solidFill>
                  <a:srgbClr val="FF0000"/>
                </a:solidFill>
                <a:effectLst/>
                <a:latin typeface="Aptos" panose="020B0004020202020204" pitchFamily="34" charset="0"/>
                <a:ea typeface="Aptos" panose="020B0004020202020204" pitchFamily="34" charset="0"/>
                <a:cs typeface="Times New Roman" panose="02020603050405020304" pitchFamily="18" charset="0"/>
              </a:rPr>
              <a:t>Instances in RDBMS</a:t>
            </a:r>
            <a:endParaRPr lang="en-IN" kern="100" dirty="0">
              <a:solidFill>
                <a:srgbClr val="FF0000"/>
              </a:solidFill>
              <a:effectLst/>
              <a:latin typeface="Aptos" panose="020B0004020202020204" pitchFamily="34" charset="0"/>
              <a:ea typeface="Aptos" panose="020B0004020202020204" pitchFamily="34" charset="0"/>
              <a:cs typeface="Times New Roman" panose="02020603050405020304" pitchFamily="18" charset="0"/>
            </a:endParaRPr>
          </a:p>
        </p:txBody>
      </p:sp>
      <p:sp>
        <p:nvSpPr>
          <p:cNvPr id="3" name="Text Placeholder 2">
            <a:extLst>
              <a:ext uri="{FF2B5EF4-FFF2-40B4-BE49-F238E27FC236}">
                <a16:creationId xmlns:a16="http://schemas.microsoft.com/office/drawing/2014/main" id="{BA1A5E04-20BF-25E6-4A1E-2FF18FEC42CE}"/>
              </a:ext>
            </a:extLst>
          </p:cNvPr>
          <p:cNvSpPr>
            <a:spLocks noGrp="1"/>
          </p:cNvSpPr>
          <p:nvPr>
            <p:ph type="body" sz="quarter" idx="17"/>
          </p:nvPr>
        </p:nvSpPr>
        <p:spPr>
          <a:xfrm>
            <a:off x="407368" y="1340768"/>
            <a:ext cx="11089232" cy="4536504"/>
          </a:xfrm>
        </p:spPr>
        <p:txBody>
          <a:bodyPr/>
          <a:lstStyle/>
          <a:p>
            <a:pPr algn="just">
              <a:lnSpc>
                <a:spcPct val="115000"/>
              </a:lnSpc>
              <a:spcAft>
                <a:spcPts val="800"/>
              </a:spcAft>
            </a:pPr>
            <a:r>
              <a:rPr lang="en-IN" kern="100" dirty="0">
                <a:solidFill>
                  <a:schemeClr val="tx1"/>
                </a:solidFill>
                <a:effectLst/>
                <a:latin typeface="Aptos" panose="020B0004020202020204" pitchFamily="34" charset="0"/>
                <a:ea typeface="Aptos" panose="020B0004020202020204" pitchFamily="34" charset="0"/>
                <a:cs typeface="Times New Roman" panose="02020603050405020304" pitchFamily="18" charset="0"/>
              </a:rPr>
              <a:t>An </a:t>
            </a:r>
            <a:r>
              <a:rPr lang="en-IN" b="1" kern="100" dirty="0">
                <a:solidFill>
                  <a:schemeClr val="tx1"/>
                </a:solidFill>
                <a:effectLst/>
                <a:latin typeface="Aptos" panose="020B0004020202020204" pitchFamily="34" charset="0"/>
                <a:ea typeface="Aptos" panose="020B0004020202020204" pitchFamily="34" charset="0"/>
                <a:cs typeface="Times New Roman" panose="02020603050405020304" pitchFamily="18" charset="0"/>
              </a:rPr>
              <a:t>instance</a:t>
            </a:r>
            <a:r>
              <a:rPr lang="en-IN" kern="100" dirty="0">
                <a:solidFill>
                  <a:schemeClr val="tx1"/>
                </a:solidFill>
                <a:effectLst/>
                <a:latin typeface="Aptos" panose="020B0004020202020204" pitchFamily="34" charset="0"/>
                <a:ea typeface="Aptos" panose="020B0004020202020204" pitchFamily="34" charset="0"/>
                <a:cs typeface="Times New Roman" panose="02020603050405020304" pitchFamily="18" charset="0"/>
              </a:rPr>
              <a:t> refers to the </a:t>
            </a:r>
            <a:r>
              <a:rPr lang="en-IN" kern="100" dirty="0">
                <a:solidFill>
                  <a:srgbClr val="FF0000"/>
                </a:solidFill>
                <a:effectLst/>
                <a:latin typeface="Aptos" panose="020B0004020202020204" pitchFamily="34" charset="0"/>
                <a:ea typeface="Aptos" panose="020B0004020202020204" pitchFamily="34" charset="0"/>
                <a:cs typeface="Times New Roman" panose="02020603050405020304" pitchFamily="18" charset="0"/>
              </a:rPr>
              <a:t>actual data stored in the database at a particular moment in time</a:t>
            </a:r>
            <a:r>
              <a:rPr lang="en-IN" kern="100" dirty="0">
                <a:solidFill>
                  <a:schemeClr val="tx1"/>
                </a:solidFill>
                <a:effectLst/>
                <a:latin typeface="Aptos" panose="020B0004020202020204" pitchFamily="34" charset="0"/>
                <a:ea typeface="Aptos" panose="020B0004020202020204" pitchFamily="34" charset="0"/>
                <a:cs typeface="Times New Roman" panose="02020603050405020304" pitchFamily="18" charset="0"/>
              </a:rPr>
              <a:t>. It represents a snapshot of the data based on the schema.</a:t>
            </a:r>
          </a:p>
          <a:p>
            <a:pPr marL="342900" lvl="0" indent="-342900" algn="just">
              <a:lnSpc>
                <a:spcPct val="115000"/>
              </a:lnSpc>
              <a:spcAft>
                <a:spcPts val="800"/>
              </a:spcAft>
              <a:buSzPts val="1000"/>
              <a:buFont typeface="Symbol" panose="05050102010706020507" pitchFamily="18" charset="2"/>
              <a:buChar char=""/>
              <a:tabLst>
                <a:tab pos="457200" algn="l"/>
              </a:tabLst>
            </a:pPr>
            <a:r>
              <a:rPr lang="en-IN" b="1" kern="100" dirty="0">
                <a:solidFill>
                  <a:schemeClr val="tx1"/>
                </a:solidFill>
                <a:effectLst/>
                <a:latin typeface="Aptos" panose="020B0004020202020204" pitchFamily="34" charset="0"/>
                <a:ea typeface="Aptos" panose="020B0004020202020204" pitchFamily="34" charset="0"/>
                <a:cs typeface="Times New Roman" panose="02020603050405020304" pitchFamily="18" charset="0"/>
              </a:rPr>
              <a:t>Key Points</a:t>
            </a:r>
            <a:r>
              <a:rPr lang="en-IN" kern="100" dirty="0">
                <a:solidFill>
                  <a:schemeClr val="tx1"/>
                </a:solidFill>
                <a:effectLst/>
                <a:latin typeface="Aptos" panose="020B0004020202020204" pitchFamily="34" charset="0"/>
                <a:ea typeface="Aptos" panose="020B0004020202020204" pitchFamily="34" charset="0"/>
                <a:cs typeface="Times New Roman" panose="02020603050405020304" pitchFamily="18" charset="0"/>
              </a:rPr>
              <a:t>:</a:t>
            </a:r>
          </a:p>
          <a:p>
            <a:pPr marL="742950" lvl="1" indent="-285750" algn="just">
              <a:lnSpc>
                <a:spcPct val="115000"/>
              </a:lnSpc>
              <a:spcAft>
                <a:spcPts val="800"/>
              </a:spcAft>
              <a:buSzPts val="1000"/>
              <a:buFont typeface="Courier New" panose="02070309020205020404" pitchFamily="49" charset="0"/>
              <a:buChar char="o"/>
              <a:tabLst>
                <a:tab pos="914400" algn="l"/>
              </a:tabLst>
            </a:pPr>
            <a:r>
              <a:rPr lang="en-IN" kern="100" dirty="0">
                <a:solidFill>
                  <a:schemeClr val="tx1"/>
                </a:solidFill>
                <a:effectLst/>
                <a:latin typeface="Aptos" panose="020B0004020202020204" pitchFamily="34" charset="0"/>
                <a:ea typeface="Aptos" panose="020B0004020202020204" pitchFamily="34" charset="0"/>
                <a:cs typeface="Times New Roman" panose="02020603050405020304" pitchFamily="18" charset="0"/>
              </a:rPr>
              <a:t>The schema is static (structure remains the same), but instances can change (data can be updated, inserted, or deleted).</a:t>
            </a:r>
          </a:p>
          <a:p>
            <a:pPr marL="742950" lvl="1" indent="-285750" algn="just">
              <a:lnSpc>
                <a:spcPct val="115000"/>
              </a:lnSpc>
              <a:spcAft>
                <a:spcPts val="800"/>
              </a:spcAft>
              <a:buSzPts val="1000"/>
              <a:buFont typeface="Courier New" panose="02070309020205020404" pitchFamily="49" charset="0"/>
              <a:buChar char="o"/>
              <a:tabLst>
                <a:tab pos="914400" algn="l"/>
              </a:tabLst>
            </a:pPr>
            <a:r>
              <a:rPr lang="en-IN" kern="100" dirty="0">
                <a:solidFill>
                  <a:schemeClr val="tx1"/>
                </a:solidFill>
                <a:effectLst/>
                <a:latin typeface="Aptos" panose="020B0004020202020204" pitchFamily="34" charset="0"/>
                <a:ea typeface="Aptos" panose="020B0004020202020204" pitchFamily="34" charset="0"/>
                <a:cs typeface="Times New Roman" panose="02020603050405020304" pitchFamily="18" charset="0"/>
              </a:rPr>
              <a:t>Instances can vary over time as data operations occur.</a:t>
            </a:r>
          </a:p>
        </p:txBody>
      </p:sp>
    </p:spTree>
    <p:extLst>
      <p:ext uri="{BB962C8B-B14F-4D97-AF65-F5344CB8AC3E}">
        <p14:creationId xmlns:p14="http://schemas.microsoft.com/office/powerpoint/2010/main" val="2410233490"/>
      </p:ext>
    </p:extLst>
  </p:cSld>
  <p:clrMapOvr>
    <a:masterClrMapping/>
  </p:clrMapOvr>
</p:sld>
</file>

<file path=ppt/slides/slide87.xml><?xml version="1.0" encoding="utf-8"?>
<p:sld xmlns:a="http://schemas.openxmlformats.org/drawingml/2006/main" xmlns:r="http://schemas.openxmlformats.org/officeDocument/2006/relationships" xmlns:p="http://schemas.openxmlformats.org/presentationml/2006/main" show="0">
  <p:cSld>
    <p:spTree>
      <p:nvGrpSpPr>
        <p:cNvPr id="1" name="">
          <a:extLst>
            <a:ext uri="{FF2B5EF4-FFF2-40B4-BE49-F238E27FC236}">
              <a16:creationId xmlns:a16="http://schemas.microsoft.com/office/drawing/2014/main" id="{5F36868B-3247-AEFB-CD7B-8E724B7F5958}"/>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8E558D7A-AC90-943E-CF27-71A31DB15879}"/>
              </a:ext>
            </a:extLst>
          </p:cNvPr>
          <p:cNvSpPr>
            <a:spLocks noGrp="1"/>
          </p:cNvSpPr>
          <p:nvPr>
            <p:ph type="title"/>
          </p:nvPr>
        </p:nvSpPr>
        <p:spPr/>
        <p:txBody>
          <a:bodyPr/>
          <a:lstStyle/>
          <a:p>
            <a:pPr marL="0" indent="0" algn="just">
              <a:lnSpc>
                <a:spcPct val="115000"/>
              </a:lnSpc>
              <a:spcAft>
                <a:spcPts val="800"/>
              </a:spcAft>
              <a:buNone/>
            </a:pPr>
            <a:r>
              <a:rPr lang="en-IN" b="1" kern="100" dirty="0">
                <a:solidFill>
                  <a:srgbClr val="FF0000"/>
                </a:solidFill>
                <a:effectLst/>
                <a:latin typeface="Aptos" panose="020B0004020202020204" pitchFamily="34" charset="0"/>
                <a:ea typeface="Aptos" panose="020B0004020202020204" pitchFamily="34" charset="0"/>
                <a:cs typeface="Times New Roman" panose="02020603050405020304" pitchFamily="18" charset="0"/>
              </a:rPr>
              <a:t>Instances in RDBMS</a:t>
            </a:r>
            <a:endParaRPr lang="en-IN" kern="100" dirty="0">
              <a:solidFill>
                <a:srgbClr val="FF0000"/>
              </a:solidFill>
              <a:effectLst/>
              <a:latin typeface="Aptos" panose="020B0004020202020204" pitchFamily="34" charset="0"/>
              <a:ea typeface="Aptos" panose="020B0004020202020204" pitchFamily="34" charset="0"/>
              <a:cs typeface="Times New Roman" panose="02020603050405020304" pitchFamily="18" charset="0"/>
            </a:endParaRPr>
          </a:p>
        </p:txBody>
      </p:sp>
      <p:sp>
        <p:nvSpPr>
          <p:cNvPr id="3" name="Text Placeholder 2">
            <a:extLst>
              <a:ext uri="{FF2B5EF4-FFF2-40B4-BE49-F238E27FC236}">
                <a16:creationId xmlns:a16="http://schemas.microsoft.com/office/drawing/2014/main" id="{0A01F22E-A098-3E57-5B2A-DB5B8FAF2BF9}"/>
              </a:ext>
            </a:extLst>
          </p:cNvPr>
          <p:cNvSpPr>
            <a:spLocks noGrp="1"/>
          </p:cNvSpPr>
          <p:nvPr>
            <p:ph type="body" sz="quarter" idx="17"/>
          </p:nvPr>
        </p:nvSpPr>
        <p:spPr>
          <a:xfrm>
            <a:off x="407368" y="1340768"/>
            <a:ext cx="11089232" cy="4536504"/>
          </a:xfrm>
        </p:spPr>
        <p:txBody>
          <a:bodyPr/>
          <a:lstStyle/>
          <a:p>
            <a:pPr marL="0" indent="0">
              <a:lnSpc>
                <a:spcPct val="115000"/>
              </a:lnSpc>
              <a:spcAft>
                <a:spcPts val="800"/>
              </a:spcAft>
              <a:buNone/>
            </a:pPr>
            <a:r>
              <a:rPr lang="en-IN" sz="1800" b="1" kern="100" dirty="0">
                <a:solidFill>
                  <a:srgbClr val="FF0000"/>
                </a:solidFill>
                <a:effectLst/>
                <a:latin typeface="Aptos" panose="020B0004020202020204" pitchFamily="34" charset="0"/>
                <a:ea typeface="Aptos" panose="020B0004020202020204" pitchFamily="34" charset="0"/>
                <a:cs typeface="Times New Roman" panose="02020603050405020304" pitchFamily="18" charset="0"/>
              </a:rPr>
              <a:t>Real-World Example:</a:t>
            </a:r>
            <a:r>
              <a:rPr lang="en-IN" sz="1800" kern="100" dirty="0">
                <a:solidFill>
                  <a:srgbClr val="FF0000"/>
                </a:solidFill>
                <a:latin typeface="Aptos" panose="020B0004020202020204" pitchFamily="34" charset="0"/>
                <a:ea typeface="Aptos" panose="020B0004020202020204" pitchFamily="34" charset="0"/>
                <a:cs typeface="Times New Roman" panose="02020603050405020304" pitchFamily="18" charset="0"/>
              </a:rPr>
              <a:t> (</a:t>
            </a:r>
            <a:r>
              <a:rPr lang="en-IN" sz="1800" b="1" kern="100" dirty="0">
                <a:solidFill>
                  <a:srgbClr val="FF0000"/>
                </a:solidFill>
                <a:effectLst/>
                <a:latin typeface="Aptos" panose="020B0004020202020204" pitchFamily="34" charset="0"/>
                <a:ea typeface="Aptos" panose="020B0004020202020204" pitchFamily="34" charset="0"/>
                <a:cs typeface="Times New Roman" panose="02020603050405020304" pitchFamily="18" charset="0"/>
              </a:rPr>
              <a:t>Based on the HR system schema)</a:t>
            </a:r>
            <a:endParaRPr lang="en-IN" sz="1800" kern="100" dirty="0">
              <a:solidFill>
                <a:srgbClr val="FF0000"/>
              </a:solidFill>
              <a:effectLst/>
              <a:latin typeface="Aptos" panose="020B0004020202020204" pitchFamily="34" charset="0"/>
              <a:ea typeface="Aptos" panose="020B0004020202020204" pitchFamily="34" charset="0"/>
              <a:cs typeface="Times New Roman" panose="02020603050405020304" pitchFamily="18" charset="0"/>
            </a:endParaRPr>
          </a:p>
          <a:p>
            <a:pPr marL="342900" lvl="0" indent="-342900">
              <a:lnSpc>
                <a:spcPct val="115000"/>
              </a:lnSpc>
              <a:spcAft>
                <a:spcPts val="800"/>
              </a:spcAft>
              <a:buSzPts val="1000"/>
              <a:buFont typeface="Symbol" panose="05050102010706020507" pitchFamily="18" charset="2"/>
              <a:buChar char=""/>
              <a:tabLst>
                <a:tab pos="457200" algn="l"/>
              </a:tabLst>
            </a:pPr>
            <a:r>
              <a:rPr lang="en-IN" sz="1800" b="1" kern="100" dirty="0">
                <a:solidFill>
                  <a:schemeClr val="tx1"/>
                </a:solidFill>
                <a:effectLst/>
                <a:latin typeface="Aptos" panose="020B0004020202020204" pitchFamily="34" charset="0"/>
                <a:ea typeface="Aptos" panose="020B0004020202020204" pitchFamily="34" charset="0"/>
                <a:cs typeface="Times New Roman" panose="02020603050405020304" pitchFamily="18" charset="0"/>
              </a:rPr>
              <a:t>Initial Instance (at Time T1):</a:t>
            </a:r>
            <a:endParaRPr lang="en-IN" sz="1800" kern="100" dirty="0">
              <a:solidFill>
                <a:schemeClr val="tx1"/>
              </a:solidFill>
              <a:effectLst/>
              <a:latin typeface="Aptos" panose="020B0004020202020204" pitchFamily="34" charset="0"/>
              <a:ea typeface="Aptos" panose="020B0004020202020204" pitchFamily="34" charset="0"/>
              <a:cs typeface="Times New Roman" panose="02020603050405020304" pitchFamily="18" charset="0"/>
            </a:endParaRPr>
          </a:p>
          <a:p>
            <a:pPr marL="742950" lvl="1" indent="-285750">
              <a:lnSpc>
                <a:spcPct val="115000"/>
              </a:lnSpc>
              <a:spcAft>
                <a:spcPts val="800"/>
              </a:spcAft>
              <a:buSzPts val="1000"/>
              <a:buFont typeface="Courier New" panose="02070309020205020404" pitchFamily="49" charset="0"/>
              <a:buChar char="o"/>
              <a:tabLst>
                <a:tab pos="914400" algn="l"/>
              </a:tabLst>
            </a:pPr>
            <a:r>
              <a:rPr lang="en-IN" sz="1800" b="1" kern="100" dirty="0">
                <a:solidFill>
                  <a:schemeClr val="tx1"/>
                </a:solidFill>
                <a:effectLst/>
                <a:latin typeface="Aptos" panose="020B0004020202020204" pitchFamily="34" charset="0"/>
                <a:ea typeface="Aptos" panose="020B0004020202020204" pitchFamily="34" charset="0"/>
                <a:cs typeface="Times New Roman" panose="02020603050405020304" pitchFamily="18" charset="0"/>
              </a:rPr>
              <a:t>Employees Table:</a:t>
            </a:r>
          </a:p>
          <a:p>
            <a:pPr marL="742950" lvl="1" indent="-285750">
              <a:lnSpc>
                <a:spcPct val="115000"/>
              </a:lnSpc>
              <a:spcAft>
                <a:spcPts val="800"/>
              </a:spcAft>
              <a:buSzPts val="1000"/>
              <a:buFont typeface="Courier New" panose="02070309020205020404" pitchFamily="49" charset="0"/>
              <a:buChar char="o"/>
              <a:tabLst>
                <a:tab pos="914400" algn="l"/>
              </a:tabLst>
            </a:pPr>
            <a:endParaRPr lang="en-IN" sz="1200" b="1" kern="100" dirty="0">
              <a:latin typeface="Aptos" panose="020B0004020202020204" pitchFamily="34" charset="0"/>
              <a:ea typeface="Aptos" panose="020B0004020202020204" pitchFamily="34" charset="0"/>
              <a:cs typeface="Times New Roman" panose="02020603050405020304" pitchFamily="18" charset="0"/>
            </a:endParaRPr>
          </a:p>
          <a:p>
            <a:pPr marL="742950" lvl="1" indent="-285750">
              <a:lnSpc>
                <a:spcPct val="115000"/>
              </a:lnSpc>
              <a:spcAft>
                <a:spcPts val="800"/>
              </a:spcAft>
              <a:buSzPts val="1000"/>
              <a:buFont typeface="Courier New" panose="02070309020205020404" pitchFamily="49" charset="0"/>
              <a:buChar char="o"/>
              <a:tabLst>
                <a:tab pos="914400" algn="l"/>
              </a:tabLst>
            </a:pPr>
            <a:endParaRPr lang="en-IN" sz="1200" b="1" kern="100" dirty="0">
              <a:effectLst/>
              <a:latin typeface="Aptos" panose="020B0004020202020204" pitchFamily="34" charset="0"/>
              <a:ea typeface="Aptos" panose="020B0004020202020204" pitchFamily="34" charset="0"/>
              <a:cs typeface="Times New Roman" panose="02020603050405020304" pitchFamily="18" charset="0"/>
            </a:endParaRPr>
          </a:p>
          <a:p>
            <a:pPr marL="742950" lvl="1" indent="-285750">
              <a:lnSpc>
                <a:spcPct val="115000"/>
              </a:lnSpc>
              <a:spcAft>
                <a:spcPts val="800"/>
              </a:spcAft>
              <a:buSzPts val="1000"/>
              <a:buFont typeface="Courier New" panose="02070309020205020404" pitchFamily="49" charset="0"/>
              <a:buChar char="o"/>
              <a:tabLst>
                <a:tab pos="914400" algn="l"/>
              </a:tabLst>
            </a:pPr>
            <a:endParaRPr lang="en-IN" sz="1200" b="1" kern="100" dirty="0">
              <a:latin typeface="Aptos" panose="020B0004020202020204" pitchFamily="34" charset="0"/>
              <a:ea typeface="Aptos" panose="020B0004020202020204" pitchFamily="34" charset="0"/>
              <a:cs typeface="Times New Roman" panose="02020603050405020304" pitchFamily="18" charset="0"/>
            </a:endParaRPr>
          </a:p>
          <a:p>
            <a:pPr marL="457200" lvl="1" indent="0">
              <a:lnSpc>
                <a:spcPct val="115000"/>
              </a:lnSpc>
              <a:spcAft>
                <a:spcPts val="800"/>
              </a:spcAft>
              <a:buSzPts val="1000"/>
              <a:buNone/>
              <a:tabLst>
                <a:tab pos="914400" algn="l"/>
              </a:tabLst>
            </a:pPr>
            <a:endParaRPr lang="en-IN" sz="1200" b="1" kern="100" dirty="0">
              <a:latin typeface="Aptos" panose="020B0004020202020204" pitchFamily="34" charset="0"/>
              <a:cs typeface="Times New Roman" panose="02020603050405020304" pitchFamily="18" charset="0"/>
            </a:endParaRPr>
          </a:p>
          <a:p>
            <a:pPr marL="457200" lvl="1" indent="0">
              <a:lnSpc>
                <a:spcPct val="115000"/>
              </a:lnSpc>
              <a:spcAft>
                <a:spcPts val="800"/>
              </a:spcAft>
              <a:buSzPts val="1000"/>
              <a:buNone/>
              <a:tabLst>
                <a:tab pos="914400" algn="l"/>
              </a:tabLst>
            </a:pPr>
            <a:r>
              <a:rPr lang="en-US" sz="2000" b="1" dirty="0">
                <a:solidFill>
                  <a:schemeClr val="tx1"/>
                </a:solidFill>
              </a:rPr>
              <a:t>Instance After Data Update (at Time T2)</a:t>
            </a:r>
            <a:r>
              <a:rPr lang="en-US" sz="2000" dirty="0">
                <a:solidFill>
                  <a:schemeClr val="tx1"/>
                </a:solidFill>
              </a:rPr>
              <a:t>:</a:t>
            </a:r>
          </a:p>
          <a:p>
            <a:pPr marL="742950" lvl="1" indent="-285750">
              <a:lnSpc>
                <a:spcPct val="115000"/>
              </a:lnSpc>
              <a:spcAft>
                <a:spcPts val="800"/>
              </a:spcAft>
              <a:buSzPts val="1000"/>
              <a:buFont typeface="Courier New" panose="02070309020205020404" pitchFamily="49" charset="0"/>
              <a:buChar char="o"/>
              <a:tabLst>
                <a:tab pos="914400" algn="l"/>
              </a:tabLst>
            </a:pPr>
            <a:r>
              <a:rPr lang="en-IN" sz="2000" kern="100" dirty="0">
                <a:solidFill>
                  <a:schemeClr val="tx1"/>
                </a:solidFill>
                <a:effectLst/>
                <a:latin typeface="Aptos" panose="020B0004020202020204" pitchFamily="34" charset="0"/>
                <a:ea typeface="Aptos" panose="020B0004020202020204" pitchFamily="34" charset="0"/>
                <a:cs typeface="Times New Roman" panose="02020603050405020304" pitchFamily="18" charset="0"/>
              </a:rPr>
              <a:t>Employees Table:</a:t>
            </a:r>
          </a:p>
          <a:p>
            <a:pPr marL="742950" lvl="1" indent="-285750">
              <a:lnSpc>
                <a:spcPct val="115000"/>
              </a:lnSpc>
              <a:spcAft>
                <a:spcPts val="800"/>
              </a:spcAft>
              <a:buSzPts val="1000"/>
              <a:buFont typeface="Courier New" panose="02070309020205020404" pitchFamily="49" charset="0"/>
              <a:buChar char="o"/>
              <a:tabLst>
                <a:tab pos="914400" algn="l"/>
              </a:tabLst>
            </a:pPr>
            <a:endParaRPr lang="en-IN" sz="1200" kern="100" dirty="0">
              <a:effectLst/>
              <a:latin typeface="Aptos" panose="020B0004020202020204" pitchFamily="34" charset="0"/>
              <a:ea typeface="Aptos" panose="020B0004020202020204" pitchFamily="34" charset="0"/>
              <a:cs typeface="Times New Roman" panose="02020603050405020304" pitchFamily="18" charset="0"/>
            </a:endParaRPr>
          </a:p>
          <a:p>
            <a:pPr marL="742950" lvl="1" indent="-285750" algn="just">
              <a:lnSpc>
                <a:spcPct val="115000"/>
              </a:lnSpc>
              <a:spcAft>
                <a:spcPts val="800"/>
              </a:spcAft>
              <a:buSzPts val="1000"/>
              <a:buFont typeface="Courier New" panose="02070309020205020404" pitchFamily="49" charset="0"/>
              <a:buChar char="o"/>
              <a:tabLst>
                <a:tab pos="914400" algn="l"/>
              </a:tabLst>
            </a:pPr>
            <a:endParaRPr lang="en-IN" kern="100" dirty="0">
              <a:solidFill>
                <a:schemeClr val="tx1"/>
              </a:solidFill>
              <a:effectLst/>
              <a:latin typeface="Aptos" panose="020B0004020202020204" pitchFamily="34" charset="0"/>
              <a:ea typeface="Aptos" panose="020B0004020202020204" pitchFamily="34" charset="0"/>
              <a:cs typeface="Times New Roman" panose="02020603050405020304" pitchFamily="18" charset="0"/>
            </a:endParaRPr>
          </a:p>
        </p:txBody>
      </p:sp>
      <p:graphicFrame>
        <p:nvGraphicFramePr>
          <p:cNvPr id="4" name="Table 3">
            <a:extLst>
              <a:ext uri="{FF2B5EF4-FFF2-40B4-BE49-F238E27FC236}">
                <a16:creationId xmlns:a16="http://schemas.microsoft.com/office/drawing/2014/main" id="{B2670069-282B-A8FA-BA32-C0AB29E8D314}"/>
              </a:ext>
            </a:extLst>
          </p:cNvPr>
          <p:cNvGraphicFramePr>
            <a:graphicFrameLocks noGrp="1"/>
          </p:cNvGraphicFramePr>
          <p:nvPr>
            <p:extLst>
              <p:ext uri="{D42A27DB-BD31-4B8C-83A1-F6EECF244321}">
                <p14:modId xmlns:p14="http://schemas.microsoft.com/office/powerpoint/2010/main" val="2992656736"/>
              </p:ext>
            </p:extLst>
          </p:nvPr>
        </p:nvGraphicFramePr>
        <p:xfrm>
          <a:off x="1943100" y="2708920"/>
          <a:ext cx="4152900" cy="1066800"/>
        </p:xfrm>
        <a:graphic>
          <a:graphicData uri="http://schemas.openxmlformats.org/drawingml/2006/table">
            <a:tbl>
              <a:tblPr>
                <a:tableStyleId>{5C22544A-7EE6-4342-B048-85BDC9FD1C3A}</a:tableStyleId>
              </a:tblPr>
              <a:tblGrid>
                <a:gridCol w="1092200">
                  <a:extLst>
                    <a:ext uri="{9D8B030D-6E8A-4147-A177-3AD203B41FA5}">
                      <a16:colId xmlns:a16="http://schemas.microsoft.com/office/drawing/2014/main" val="2684258870"/>
                    </a:ext>
                  </a:extLst>
                </a:gridCol>
                <a:gridCol w="609600">
                  <a:extLst>
                    <a:ext uri="{9D8B030D-6E8A-4147-A177-3AD203B41FA5}">
                      <a16:colId xmlns:a16="http://schemas.microsoft.com/office/drawing/2014/main" val="23542324"/>
                    </a:ext>
                  </a:extLst>
                </a:gridCol>
                <a:gridCol w="1320800">
                  <a:extLst>
                    <a:ext uri="{9D8B030D-6E8A-4147-A177-3AD203B41FA5}">
                      <a16:colId xmlns:a16="http://schemas.microsoft.com/office/drawing/2014/main" val="3840158965"/>
                    </a:ext>
                  </a:extLst>
                </a:gridCol>
                <a:gridCol w="1130300">
                  <a:extLst>
                    <a:ext uri="{9D8B030D-6E8A-4147-A177-3AD203B41FA5}">
                      <a16:colId xmlns:a16="http://schemas.microsoft.com/office/drawing/2014/main" val="1675389231"/>
                    </a:ext>
                  </a:extLst>
                </a:gridCol>
              </a:tblGrid>
              <a:tr h="533400">
                <a:tc>
                  <a:txBody>
                    <a:bodyPr/>
                    <a:lstStyle/>
                    <a:p>
                      <a:pPr algn="l" fontAlgn="ctr"/>
                      <a:r>
                        <a:rPr lang="en-IN" sz="1600" u="none" strike="noStrike">
                          <a:effectLst/>
                        </a:rPr>
                        <a:t>EmployeeID</a:t>
                      </a:r>
                      <a:endParaRPr lang="en-IN" sz="1600" b="1" i="0" u="none" strike="noStrike">
                        <a:solidFill>
                          <a:srgbClr val="000000"/>
                        </a:solidFill>
                        <a:effectLst/>
                        <a:latin typeface="Aptos Narrow" panose="020B0004020202020204" pitchFamily="34" charset="0"/>
                      </a:endParaRPr>
                    </a:p>
                  </a:txBody>
                  <a:tcPr marL="6350" marR="6350" marT="6350" marB="0" anchor="ctr"/>
                </a:tc>
                <a:tc>
                  <a:txBody>
                    <a:bodyPr/>
                    <a:lstStyle/>
                    <a:p>
                      <a:pPr algn="l" fontAlgn="ctr"/>
                      <a:r>
                        <a:rPr lang="en-IN" sz="1600" u="none" strike="noStrike">
                          <a:effectLst/>
                        </a:rPr>
                        <a:t>Name</a:t>
                      </a:r>
                      <a:endParaRPr lang="en-IN" sz="1600" b="1" i="0" u="none" strike="noStrike">
                        <a:solidFill>
                          <a:srgbClr val="000000"/>
                        </a:solidFill>
                        <a:effectLst/>
                        <a:latin typeface="Aptos Narrow" panose="020B0004020202020204" pitchFamily="34" charset="0"/>
                      </a:endParaRPr>
                    </a:p>
                  </a:txBody>
                  <a:tcPr marL="6350" marR="6350" marT="6350" marB="0" anchor="ctr"/>
                </a:tc>
                <a:tc>
                  <a:txBody>
                    <a:bodyPr/>
                    <a:lstStyle/>
                    <a:p>
                      <a:pPr algn="l" fontAlgn="ctr"/>
                      <a:r>
                        <a:rPr lang="en-IN" sz="1600" u="none" strike="noStrike">
                          <a:effectLst/>
                        </a:rPr>
                        <a:t>DepartmentID</a:t>
                      </a:r>
                      <a:endParaRPr lang="en-IN" sz="1600" b="1" i="0" u="none" strike="noStrike">
                        <a:solidFill>
                          <a:srgbClr val="000000"/>
                        </a:solidFill>
                        <a:effectLst/>
                        <a:latin typeface="Aptos Narrow" panose="020B0004020202020204" pitchFamily="34" charset="0"/>
                      </a:endParaRPr>
                    </a:p>
                  </a:txBody>
                  <a:tcPr marL="6350" marR="6350" marT="6350" marB="0" anchor="ctr"/>
                </a:tc>
                <a:tc>
                  <a:txBody>
                    <a:bodyPr/>
                    <a:lstStyle/>
                    <a:p>
                      <a:pPr algn="l" fontAlgn="ctr"/>
                      <a:r>
                        <a:rPr lang="en-IN" sz="1600" u="none" strike="noStrike">
                          <a:effectLst/>
                        </a:rPr>
                        <a:t>HireDate</a:t>
                      </a:r>
                      <a:endParaRPr lang="en-IN" sz="1600" b="1" i="0" u="none" strike="noStrike">
                        <a:solidFill>
                          <a:srgbClr val="000000"/>
                        </a:solidFill>
                        <a:effectLst/>
                        <a:latin typeface="Aptos Narrow" panose="020B0004020202020204" pitchFamily="34" charset="0"/>
                      </a:endParaRPr>
                    </a:p>
                  </a:txBody>
                  <a:tcPr marL="6350" marR="6350" marT="6350" marB="0" anchor="ctr"/>
                </a:tc>
                <a:extLst>
                  <a:ext uri="{0D108BD9-81ED-4DB2-BD59-A6C34878D82A}">
                    <a16:rowId xmlns:a16="http://schemas.microsoft.com/office/drawing/2014/main" val="3212013054"/>
                  </a:ext>
                </a:extLst>
              </a:tr>
              <a:tr h="266700">
                <a:tc>
                  <a:txBody>
                    <a:bodyPr/>
                    <a:lstStyle/>
                    <a:p>
                      <a:pPr algn="ctr" fontAlgn="ctr"/>
                      <a:r>
                        <a:rPr lang="en-IN" sz="1600" u="none" strike="noStrike">
                          <a:effectLst/>
                        </a:rPr>
                        <a:t>101</a:t>
                      </a:r>
                      <a:endParaRPr lang="en-IN" sz="1600" b="0" i="0" u="none" strike="noStrike">
                        <a:solidFill>
                          <a:srgbClr val="000000"/>
                        </a:solidFill>
                        <a:effectLst/>
                        <a:latin typeface="Aptos Narrow" panose="020B0004020202020204" pitchFamily="34" charset="0"/>
                      </a:endParaRPr>
                    </a:p>
                  </a:txBody>
                  <a:tcPr marL="6350" marR="6350" marT="6350" marB="0" anchor="ctr"/>
                </a:tc>
                <a:tc>
                  <a:txBody>
                    <a:bodyPr/>
                    <a:lstStyle/>
                    <a:p>
                      <a:pPr algn="ctr" fontAlgn="ctr"/>
                      <a:r>
                        <a:rPr lang="en-IN" sz="1600" u="none" strike="noStrike">
                          <a:effectLst/>
                        </a:rPr>
                        <a:t>Alice</a:t>
                      </a:r>
                      <a:endParaRPr lang="en-IN" sz="1600" b="0" i="0" u="none" strike="noStrike">
                        <a:solidFill>
                          <a:srgbClr val="000000"/>
                        </a:solidFill>
                        <a:effectLst/>
                        <a:latin typeface="Aptos Narrow" panose="020B0004020202020204" pitchFamily="34" charset="0"/>
                      </a:endParaRPr>
                    </a:p>
                  </a:txBody>
                  <a:tcPr marL="6350" marR="6350" marT="6350" marB="0" anchor="ctr"/>
                </a:tc>
                <a:tc>
                  <a:txBody>
                    <a:bodyPr/>
                    <a:lstStyle/>
                    <a:p>
                      <a:pPr algn="ctr" fontAlgn="ctr"/>
                      <a:r>
                        <a:rPr lang="en-IN" sz="1600" u="none" strike="noStrike">
                          <a:effectLst/>
                        </a:rPr>
                        <a:t>1</a:t>
                      </a:r>
                      <a:endParaRPr lang="en-IN" sz="1600" b="0" i="0" u="none" strike="noStrike">
                        <a:solidFill>
                          <a:srgbClr val="000000"/>
                        </a:solidFill>
                        <a:effectLst/>
                        <a:latin typeface="Aptos Narrow" panose="020B0004020202020204" pitchFamily="34" charset="0"/>
                      </a:endParaRPr>
                    </a:p>
                  </a:txBody>
                  <a:tcPr marL="6350" marR="6350" marT="6350" marB="0" anchor="ctr"/>
                </a:tc>
                <a:tc>
                  <a:txBody>
                    <a:bodyPr/>
                    <a:lstStyle/>
                    <a:p>
                      <a:pPr algn="ctr" fontAlgn="ctr"/>
                      <a:r>
                        <a:rPr lang="en-IN" sz="1600" u="none" strike="noStrike">
                          <a:effectLst/>
                        </a:rPr>
                        <a:t>01-01-2023</a:t>
                      </a:r>
                      <a:endParaRPr lang="en-IN" sz="1600" b="0" i="0" u="none" strike="noStrike">
                        <a:solidFill>
                          <a:srgbClr val="000000"/>
                        </a:solidFill>
                        <a:effectLst/>
                        <a:latin typeface="Aptos Narrow" panose="020B0004020202020204" pitchFamily="34" charset="0"/>
                      </a:endParaRPr>
                    </a:p>
                  </a:txBody>
                  <a:tcPr marL="6350" marR="6350" marT="6350" marB="0" anchor="ctr"/>
                </a:tc>
                <a:extLst>
                  <a:ext uri="{0D108BD9-81ED-4DB2-BD59-A6C34878D82A}">
                    <a16:rowId xmlns:a16="http://schemas.microsoft.com/office/drawing/2014/main" val="1358567724"/>
                  </a:ext>
                </a:extLst>
              </a:tr>
              <a:tr h="266700">
                <a:tc>
                  <a:txBody>
                    <a:bodyPr/>
                    <a:lstStyle/>
                    <a:p>
                      <a:pPr algn="ctr" fontAlgn="ctr"/>
                      <a:r>
                        <a:rPr lang="en-IN" sz="1600" u="none" strike="noStrike">
                          <a:effectLst/>
                        </a:rPr>
                        <a:t>102</a:t>
                      </a:r>
                      <a:endParaRPr lang="en-IN" sz="1600" b="0" i="0" u="none" strike="noStrike">
                        <a:solidFill>
                          <a:srgbClr val="000000"/>
                        </a:solidFill>
                        <a:effectLst/>
                        <a:latin typeface="Aptos Narrow" panose="020B0004020202020204" pitchFamily="34" charset="0"/>
                      </a:endParaRPr>
                    </a:p>
                  </a:txBody>
                  <a:tcPr marL="6350" marR="6350" marT="6350" marB="0" anchor="ctr"/>
                </a:tc>
                <a:tc>
                  <a:txBody>
                    <a:bodyPr/>
                    <a:lstStyle/>
                    <a:p>
                      <a:pPr algn="ctr" fontAlgn="ctr"/>
                      <a:r>
                        <a:rPr lang="en-IN" sz="1600" u="none" strike="noStrike">
                          <a:effectLst/>
                        </a:rPr>
                        <a:t>Bob</a:t>
                      </a:r>
                      <a:endParaRPr lang="en-IN" sz="1600" b="0" i="0" u="none" strike="noStrike">
                        <a:solidFill>
                          <a:srgbClr val="000000"/>
                        </a:solidFill>
                        <a:effectLst/>
                        <a:latin typeface="Aptos Narrow" panose="020B0004020202020204" pitchFamily="34" charset="0"/>
                      </a:endParaRPr>
                    </a:p>
                  </a:txBody>
                  <a:tcPr marL="6350" marR="6350" marT="6350" marB="0" anchor="ctr"/>
                </a:tc>
                <a:tc>
                  <a:txBody>
                    <a:bodyPr/>
                    <a:lstStyle/>
                    <a:p>
                      <a:pPr algn="ctr" fontAlgn="ctr"/>
                      <a:r>
                        <a:rPr lang="en-IN" sz="1600" u="none" strike="noStrike">
                          <a:effectLst/>
                        </a:rPr>
                        <a:t>2</a:t>
                      </a:r>
                      <a:endParaRPr lang="en-IN" sz="1600" b="0" i="0" u="none" strike="noStrike">
                        <a:solidFill>
                          <a:srgbClr val="000000"/>
                        </a:solidFill>
                        <a:effectLst/>
                        <a:latin typeface="Aptos Narrow" panose="020B0004020202020204" pitchFamily="34" charset="0"/>
                      </a:endParaRPr>
                    </a:p>
                  </a:txBody>
                  <a:tcPr marL="6350" marR="6350" marT="6350" marB="0" anchor="ctr"/>
                </a:tc>
                <a:tc>
                  <a:txBody>
                    <a:bodyPr/>
                    <a:lstStyle/>
                    <a:p>
                      <a:pPr algn="ctr" fontAlgn="ctr"/>
                      <a:r>
                        <a:rPr lang="en-IN" sz="1600" u="none" strike="noStrike" dirty="0">
                          <a:effectLst/>
                        </a:rPr>
                        <a:t>15-03-2023</a:t>
                      </a:r>
                      <a:endParaRPr lang="en-IN" sz="1600" b="0" i="0" u="none" strike="noStrike" dirty="0">
                        <a:solidFill>
                          <a:srgbClr val="000000"/>
                        </a:solidFill>
                        <a:effectLst/>
                        <a:latin typeface="Aptos Narrow" panose="020B0004020202020204" pitchFamily="34" charset="0"/>
                      </a:endParaRPr>
                    </a:p>
                  </a:txBody>
                  <a:tcPr marL="6350" marR="6350" marT="6350" marB="0" anchor="ctr"/>
                </a:tc>
                <a:extLst>
                  <a:ext uri="{0D108BD9-81ED-4DB2-BD59-A6C34878D82A}">
                    <a16:rowId xmlns:a16="http://schemas.microsoft.com/office/drawing/2014/main" val="931960649"/>
                  </a:ext>
                </a:extLst>
              </a:tr>
            </a:tbl>
          </a:graphicData>
        </a:graphic>
      </p:graphicFrame>
      <p:graphicFrame>
        <p:nvGraphicFramePr>
          <p:cNvPr id="7" name="Table 6">
            <a:extLst>
              <a:ext uri="{FF2B5EF4-FFF2-40B4-BE49-F238E27FC236}">
                <a16:creationId xmlns:a16="http://schemas.microsoft.com/office/drawing/2014/main" id="{67884D78-5566-F8F0-6773-E1AF3B5DE677}"/>
              </a:ext>
            </a:extLst>
          </p:cNvPr>
          <p:cNvGraphicFramePr>
            <a:graphicFrameLocks noGrp="1"/>
          </p:cNvGraphicFramePr>
          <p:nvPr>
            <p:extLst>
              <p:ext uri="{D42A27DB-BD31-4B8C-83A1-F6EECF244321}">
                <p14:modId xmlns:p14="http://schemas.microsoft.com/office/powerpoint/2010/main" val="3065788390"/>
              </p:ext>
            </p:extLst>
          </p:nvPr>
        </p:nvGraphicFramePr>
        <p:xfrm>
          <a:off x="2063552" y="4810472"/>
          <a:ext cx="4152900" cy="1066800"/>
        </p:xfrm>
        <a:graphic>
          <a:graphicData uri="http://schemas.openxmlformats.org/drawingml/2006/table">
            <a:tbl>
              <a:tblPr>
                <a:tableStyleId>{5C22544A-7EE6-4342-B048-85BDC9FD1C3A}</a:tableStyleId>
              </a:tblPr>
              <a:tblGrid>
                <a:gridCol w="1092200">
                  <a:extLst>
                    <a:ext uri="{9D8B030D-6E8A-4147-A177-3AD203B41FA5}">
                      <a16:colId xmlns:a16="http://schemas.microsoft.com/office/drawing/2014/main" val="1634669441"/>
                    </a:ext>
                  </a:extLst>
                </a:gridCol>
                <a:gridCol w="609600">
                  <a:extLst>
                    <a:ext uri="{9D8B030D-6E8A-4147-A177-3AD203B41FA5}">
                      <a16:colId xmlns:a16="http://schemas.microsoft.com/office/drawing/2014/main" val="215188379"/>
                    </a:ext>
                  </a:extLst>
                </a:gridCol>
                <a:gridCol w="1320800">
                  <a:extLst>
                    <a:ext uri="{9D8B030D-6E8A-4147-A177-3AD203B41FA5}">
                      <a16:colId xmlns:a16="http://schemas.microsoft.com/office/drawing/2014/main" val="3086348360"/>
                    </a:ext>
                  </a:extLst>
                </a:gridCol>
                <a:gridCol w="1130300">
                  <a:extLst>
                    <a:ext uri="{9D8B030D-6E8A-4147-A177-3AD203B41FA5}">
                      <a16:colId xmlns:a16="http://schemas.microsoft.com/office/drawing/2014/main" val="744211406"/>
                    </a:ext>
                  </a:extLst>
                </a:gridCol>
              </a:tblGrid>
              <a:tr h="533400">
                <a:tc>
                  <a:txBody>
                    <a:bodyPr/>
                    <a:lstStyle/>
                    <a:p>
                      <a:pPr algn="l" fontAlgn="ctr"/>
                      <a:r>
                        <a:rPr lang="en-IN" sz="1600" u="none" strike="noStrike">
                          <a:effectLst/>
                        </a:rPr>
                        <a:t>EmployeeID</a:t>
                      </a:r>
                      <a:endParaRPr lang="en-IN" sz="1600" b="1" i="0" u="none" strike="noStrike">
                        <a:solidFill>
                          <a:srgbClr val="000000"/>
                        </a:solidFill>
                        <a:effectLst/>
                        <a:latin typeface="Aptos Narrow" panose="020B0004020202020204" pitchFamily="34" charset="0"/>
                      </a:endParaRPr>
                    </a:p>
                  </a:txBody>
                  <a:tcPr marL="6350" marR="6350" marT="6350" marB="0" anchor="ctr"/>
                </a:tc>
                <a:tc>
                  <a:txBody>
                    <a:bodyPr/>
                    <a:lstStyle/>
                    <a:p>
                      <a:pPr algn="l" fontAlgn="ctr"/>
                      <a:r>
                        <a:rPr lang="en-IN" sz="1600" u="none" strike="noStrike">
                          <a:effectLst/>
                        </a:rPr>
                        <a:t>Name</a:t>
                      </a:r>
                      <a:endParaRPr lang="en-IN" sz="1600" b="1" i="0" u="none" strike="noStrike">
                        <a:solidFill>
                          <a:srgbClr val="000000"/>
                        </a:solidFill>
                        <a:effectLst/>
                        <a:latin typeface="Aptos Narrow" panose="020B0004020202020204" pitchFamily="34" charset="0"/>
                      </a:endParaRPr>
                    </a:p>
                  </a:txBody>
                  <a:tcPr marL="6350" marR="6350" marT="6350" marB="0" anchor="ctr"/>
                </a:tc>
                <a:tc>
                  <a:txBody>
                    <a:bodyPr/>
                    <a:lstStyle/>
                    <a:p>
                      <a:pPr algn="l" fontAlgn="ctr"/>
                      <a:r>
                        <a:rPr lang="en-IN" sz="1600" u="none" strike="noStrike">
                          <a:effectLst/>
                        </a:rPr>
                        <a:t>DepartmentID</a:t>
                      </a:r>
                      <a:endParaRPr lang="en-IN" sz="1600" b="1" i="0" u="none" strike="noStrike">
                        <a:solidFill>
                          <a:srgbClr val="000000"/>
                        </a:solidFill>
                        <a:effectLst/>
                        <a:latin typeface="Aptos Narrow" panose="020B0004020202020204" pitchFamily="34" charset="0"/>
                      </a:endParaRPr>
                    </a:p>
                  </a:txBody>
                  <a:tcPr marL="6350" marR="6350" marT="6350" marB="0" anchor="ctr"/>
                </a:tc>
                <a:tc>
                  <a:txBody>
                    <a:bodyPr/>
                    <a:lstStyle/>
                    <a:p>
                      <a:pPr algn="l" fontAlgn="ctr"/>
                      <a:r>
                        <a:rPr lang="en-IN" sz="1600" u="none" strike="noStrike">
                          <a:effectLst/>
                        </a:rPr>
                        <a:t>HireDate</a:t>
                      </a:r>
                      <a:endParaRPr lang="en-IN" sz="1600" b="1" i="0" u="none" strike="noStrike">
                        <a:solidFill>
                          <a:srgbClr val="000000"/>
                        </a:solidFill>
                        <a:effectLst/>
                        <a:latin typeface="Aptos Narrow" panose="020B0004020202020204" pitchFamily="34" charset="0"/>
                      </a:endParaRPr>
                    </a:p>
                  </a:txBody>
                  <a:tcPr marL="6350" marR="6350" marT="6350" marB="0" anchor="ctr"/>
                </a:tc>
                <a:extLst>
                  <a:ext uri="{0D108BD9-81ED-4DB2-BD59-A6C34878D82A}">
                    <a16:rowId xmlns:a16="http://schemas.microsoft.com/office/drawing/2014/main" val="999622255"/>
                  </a:ext>
                </a:extLst>
              </a:tr>
              <a:tr h="266700">
                <a:tc>
                  <a:txBody>
                    <a:bodyPr/>
                    <a:lstStyle/>
                    <a:p>
                      <a:pPr algn="ctr" fontAlgn="ctr"/>
                      <a:r>
                        <a:rPr lang="en-IN" sz="1600" u="none" strike="noStrike">
                          <a:effectLst/>
                        </a:rPr>
                        <a:t>101</a:t>
                      </a:r>
                      <a:endParaRPr lang="en-IN" sz="1600" b="0" i="0" u="none" strike="noStrike">
                        <a:solidFill>
                          <a:srgbClr val="000000"/>
                        </a:solidFill>
                        <a:effectLst/>
                        <a:latin typeface="Aptos Narrow" panose="020B0004020202020204" pitchFamily="34" charset="0"/>
                      </a:endParaRPr>
                    </a:p>
                  </a:txBody>
                  <a:tcPr marL="6350" marR="6350" marT="6350" marB="0" anchor="ctr"/>
                </a:tc>
                <a:tc>
                  <a:txBody>
                    <a:bodyPr/>
                    <a:lstStyle/>
                    <a:p>
                      <a:pPr algn="ctr" fontAlgn="ctr"/>
                      <a:r>
                        <a:rPr lang="en-IN" sz="1600" u="none" strike="noStrike">
                          <a:effectLst/>
                        </a:rPr>
                        <a:t>Alice</a:t>
                      </a:r>
                      <a:endParaRPr lang="en-IN" sz="1600" b="0" i="0" u="none" strike="noStrike">
                        <a:solidFill>
                          <a:srgbClr val="000000"/>
                        </a:solidFill>
                        <a:effectLst/>
                        <a:latin typeface="Aptos Narrow" panose="020B0004020202020204" pitchFamily="34" charset="0"/>
                      </a:endParaRPr>
                    </a:p>
                  </a:txBody>
                  <a:tcPr marL="6350" marR="6350" marT="6350" marB="0" anchor="ctr"/>
                </a:tc>
                <a:tc>
                  <a:txBody>
                    <a:bodyPr/>
                    <a:lstStyle/>
                    <a:p>
                      <a:pPr algn="ctr" fontAlgn="ctr"/>
                      <a:r>
                        <a:rPr lang="en-IN" sz="1600" u="none" strike="noStrike">
                          <a:effectLst/>
                        </a:rPr>
                        <a:t>3</a:t>
                      </a:r>
                      <a:endParaRPr lang="en-IN" sz="1600" b="0" i="0" u="none" strike="noStrike">
                        <a:solidFill>
                          <a:srgbClr val="000000"/>
                        </a:solidFill>
                        <a:effectLst/>
                        <a:latin typeface="Aptos Narrow" panose="020B0004020202020204" pitchFamily="34" charset="0"/>
                      </a:endParaRPr>
                    </a:p>
                  </a:txBody>
                  <a:tcPr marL="6350" marR="6350" marT="6350" marB="0" anchor="ctr"/>
                </a:tc>
                <a:tc>
                  <a:txBody>
                    <a:bodyPr/>
                    <a:lstStyle/>
                    <a:p>
                      <a:pPr algn="ctr" fontAlgn="ctr"/>
                      <a:r>
                        <a:rPr lang="en-IN" sz="1600" u="none" strike="noStrike">
                          <a:effectLst/>
                        </a:rPr>
                        <a:t>01-01-2023</a:t>
                      </a:r>
                      <a:endParaRPr lang="en-IN" sz="1600" b="0" i="0" u="none" strike="noStrike">
                        <a:solidFill>
                          <a:srgbClr val="000000"/>
                        </a:solidFill>
                        <a:effectLst/>
                        <a:latin typeface="Aptos Narrow" panose="020B0004020202020204" pitchFamily="34" charset="0"/>
                      </a:endParaRPr>
                    </a:p>
                  </a:txBody>
                  <a:tcPr marL="6350" marR="6350" marT="6350" marB="0" anchor="ctr"/>
                </a:tc>
                <a:extLst>
                  <a:ext uri="{0D108BD9-81ED-4DB2-BD59-A6C34878D82A}">
                    <a16:rowId xmlns:a16="http://schemas.microsoft.com/office/drawing/2014/main" val="957834715"/>
                  </a:ext>
                </a:extLst>
              </a:tr>
              <a:tr h="266700">
                <a:tc>
                  <a:txBody>
                    <a:bodyPr/>
                    <a:lstStyle/>
                    <a:p>
                      <a:pPr algn="ctr" fontAlgn="ctr"/>
                      <a:r>
                        <a:rPr lang="en-IN" sz="1600" u="none" strike="noStrike">
                          <a:effectLst/>
                        </a:rPr>
                        <a:t>102</a:t>
                      </a:r>
                      <a:endParaRPr lang="en-IN" sz="1600" b="0" i="0" u="none" strike="noStrike">
                        <a:solidFill>
                          <a:srgbClr val="000000"/>
                        </a:solidFill>
                        <a:effectLst/>
                        <a:latin typeface="Aptos Narrow" panose="020B0004020202020204" pitchFamily="34" charset="0"/>
                      </a:endParaRPr>
                    </a:p>
                  </a:txBody>
                  <a:tcPr marL="6350" marR="6350" marT="6350" marB="0" anchor="ctr"/>
                </a:tc>
                <a:tc>
                  <a:txBody>
                    <a:bodyPr/>
                    <a:lstStyle/>
                    <a:p>
                      <a:pPr algn="ctr" fontAlgn="ctr"/>
                      <a:r>
                        <a:rPr lang="en-IN" sz="1600" u="none" strike="noStrike">
                          <a:effectLst/>
                        </a:rPr>
                        <a:t>Bob</a:t>
                      </a:r>
                      <a:endParaRPr lang="en-IN" sz="1600" b="0" i="0" u="none" strike="noStrike">
                        <a:solidFill>
                          <a:srgbClr val="000000"/>
                        </a:solidFill>
                        <a:effectLst/>
                        <a:latin typeface="Aptos Narrow" panose="020B0004020202020204" pitchFamily="34" charset="0"/>
                      </a:endParaRPr>
                    </a:p>
                  </a:txBody>
                  <a:tcPr marL="6350" marR="6350" marT="6350" marB="0" anchor="ctr"/>
                </a:tc>
                <a:tc>
                  <a:txBody>
                    <a:bodyPr/>
                    <a:lstStyle/>
                    <a:p>
                      <a:pPr algn="ctr" fontAlgn="ctr"/>
                      <a:r>
                        <a:rPr lang="en-IN" sz="1600" u="none" strike="noStrike" dirty="0">
                          <a:effectLst/>
                        </a:rPr>
                        <a:t>2</a:t>
                      </a:r>
                      <a:endParaRPr lang="en-IN" sz="1600" b="0" i="0" u="none" strike="noStrike" dirty="0">
                        <a:solidFill>
                          <a:srgbClr val="000000"/>
                        </a:solidFill>
                        <a:effectLst/>
                        <a:latin typeface="Aptos Narrow" panose="020B0004020202020204" pitchFamily="34" charset="0"/>
                      </a:endParaRPr>
                    </a:p>
                  </a:txBody>
                  <a:tcPr marL="6350" marR="6350" marT="6350" marB="0" anchor="ctr"/>
                </a:tc>
                <a:tc>
                  <a:txBody>
                    <a:bodyPr/>
                    <a:lstStyle/>
                    <a:p>
                      <a:pPr algn="ctr" fontAlgn="ctr"/>
                      <a:r>
                        <a:rPr lang="en-IN" sz="1600" u="none" strike="noStrike" dirty="0">
                          <a:effectLst/>
                        </a:rPr>
                        <a:t>15-03-2023</a:t>
                      </a:r>
                      <a:endParaRPr lang="en-IN" sz="1600" b="0" i="0" u="none" strike="noStrike" dirty="0">
                        <a:solidFill>
                          <a:srgbClr val="000000"/>
                        </a:solidFill>
                        <a:effectLst/>
                        <a:latin typeface="Aptos Narrow" panose="020B0004020202020204" pitchFamily="34" charset="0"/>
                      </a:endParaRPr>
                    </a:p>
                  </a:txBody>
                  <a:tcPr marL="6350" marR="6350" marT="6350" marB="0" anchor="ctr"/>
                </a:tc>
                <a:extLst>
                  <a:ext uri="{0D108BD9-81ED-4DB2-BD59-A6C34878D82A}">
                    <a16:rowId xmlns:a16="http://schemas.microsoft.com/office/drawing/2014/main" val="61939658"/>
                  </a:ext>
                </a:extLst>
              </a:tr>
            </a:tbl>
          </a:graphicData>
        </a:graphic>
      </p:graphicFrame>
    </p:spTree>
    <p:extLst>
      <p:ext uri="{BB962C8B-B14F-4D97-AF65-F5344CB8AC3E}">
        <p14:creationId xmlns:p14="http://schemas.microsoft.com/office/powerpoint/2010/main" val="3530774250"/>
      </p:ext>
    </p:extLst>
  </p:cSld>
  <p:clrMapOvr>
    <a:masterClrMapping/>
  </p:clrMapOvr>
</p:sld>
</file>

<file path=ppt/slides/slide88.xml><?xml version="1.0" encoding="utf-8"?>
<p:sld xmlns:a="http://schemas.openxmlformats.org/drawingml/2006/main" xmlns:r="http://schemas.openxmlformats.org/officeDocument/2006/relationships" xmlns:p="http://schemas.openxmlformats.org/presentationml/2006/main" show="0">
  <p:cSld>
    <p:spTree>
      <p:nvGrpSpPr>
        <p:cNvPr id="1" name="">
          <a:extLst>
            <a:ext uri="{FF2B5EF4-FFF2-40B4-BE49-F238E27FC236}">
              <a16:creationId xmlns:a16="http://schemas.microsoft.com/office/drawing/2014/main" id="{A4511D6F-7F9A-9CFC-5A14-92EE916D2BAE}"/>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DCDFE770-1E8F-CCB4-9DB2-A25F20F24740}"/>
              </a:ext>
            </a:extLst>
          </p:cNvPr>
          <p:cNvSpPr>
            <a:spLocks noGrp="1"/>
          </p:cNvSpPr>
          <p:nvPr>
            <p:ph type="title"/>
          </p:nvPr>
        </p:nvSpPr>
        <p:spPr>
          <a:xfrm>
            <a:off x="623392" y="0"/>
            <a:ext cx="6211927" cy="838202"/>
          </a:xfrm>
        </p:spPr>
        <p:txBody>
          <a:bodyPr/>
          <a:lstStyle/>
          <a:p>
            <a:br>
              <a:rPr lang="en-IN" sz="3600" dirty="0">
                <a:solidFill>
                  <a:srgbClr val="FF0000"/>
                </a:solidFill>
                <a:effectLst/>
              </a:rPr>
            </a:br>
            <a:r>
              <a:rPr lang="en-IN" sz="3600" b="1" kern="100" dirty="0">
                <a:solidFill>
                  <a:srgbClr val="FF0000"/>
                </a:solidFill>
                <a:effectLst/>
                <a:latin typeface="Aptos" panose="020B0004020202020204" pitchFamily="34" charset="0"/>
                <a:ea typeface="Aptos" panose="020B0004020202020204" pitchFamily="34" charset="0"/>
                <a:cs typeface="Times New Roman" panose="02020603050405020304" pitchFamily="18" charset="0"/>
              </a:rPr>
              <a:t>Database States</a:t>
            </a:r>
            <a:endParaRPr lang="en-IN" sz="3600" kern="100" dirty="0">
              <a:solidFill>
                <a:srgbClr val="FF0000"/>
              </a:solidFill>
              <a:effectLst/>
              <a:latin typeface="Aptos" panose="020B0004020202020204" pitchFamily="34" charset="0"/>
              <a:ea typeface="Aptos" panose="020B0004020202020204" pitchFamily="34" charset="0"/>
              <a:cs typeface="Times New Roman" panose="02020603050405020304" pitchFamily="18" charset="0"/>
            </a:endParaRPr>
          </a:p>
        </p:txBody>
      </p:sp>
      <p:sp>
        <p:nvSpPr>
          <p:cNvPr id="3" name="Text Placeholder 2">
            <a:extLst>
              <a:ext uri="{FF2B5EF4-FFF2-40B4-BE49-F238E27FC236}">
                <a16:creationId xmlns:a16="http://schemas.microsoft.com/office/drawing/2014/main" id="{B1367263-9813-F909-208C-FEB1D690D8CE}"/>
              </a:ext>
            </a:extLst>
          </p:cNvPr>
          <p:cNvSpPr>
            <a:spLocks noGrp="1"/>
          </p:cNvSpPr>
          <p:nvPr>
            <p:ph type="body" sz="quarter" idx="17"/>
          </p:nvPr>
        </p:nvSpPr>
        <p:spPr>
          <a:xfrm>
            <a:off x="263352" y="980728"/>
            <a:ext cx="11928648" cy="4594820"/>
          </a:xfrm>
        </p:spPr>
        <p:txBody>
          <a:bodyPr/>
          <a:lstStyle/>
          <a:p>
            <a:pPr marL="0" indent="0">
              <a:lnSpc>
                <a:spcPct val="115000"/>
              </a:lnSpc>
              <a:spcAft>
                <a:spcPts val="800"/>
              </a:spcAft>
              <a:buNone/>
            </a:pPr>
            <a:r>
              <a:rPr lang="en-IN" sz="2300" b="1" kern="100" dirty="0">
                <a:solidFill>
                  <a:schemeClr val="tx1"/>
                </a:solidFill>
                <a:effectLst/>
                <a:latin typeface="Aptos" panose="020B0004020202020204" pitchFamily="34" charset="0"/>
                <a:ea typeface="Aptos" panose="020B0004020202020204" pitchFamily="34" charset="0"/>
                <a:cs typeface="Times New Roman" panose="02020603050405020304" pitchFamily="18" charset="0"/>
              </a:rPr>
              <a:t>The state of a database refers to the content (or instance) of the database at any specific point in time. The database state </a:t>
            </a:r>
            <a:r>
              <a:rPr lang="en-IN" sz="2300" b="1" kern="100" dirty="0">
                <a:solidFill>
                  <a:srgbClr val="FF0000"/>
                </a:solidFill>
                <a:effectLst/>
                <a:latin typeface="Aptos" panose="020B0004020202020204" pitchFamily="34" charset="0"/>
                <a:ea typeface="Aptos" panose="020B0004020202020204" pitchFamily="34" charset="0"/>
                <a:cs typeface="Times New Roman" panose="02020603050405020304" pitchFamily="18" charset="0"/>
              </a:rPr>
              <a:t>changes as data is inserted, updated, or deleted.</a:t>
            </a:r>
            <a:endParaRPr lang="en-IN" sz="2300" kern="100" dirty="0">
              <a:solidFill>
                <a:srgbClr val="FF0000"/>
              </a:solidFill>
              <a:effectLst/>
              <a:latin typeface="Aptos" panose="020B0004020202020204" pitchFamily="34" charset="0"/>
              <a:ea typeface="Aptos" panose="020B0004020202020204" pitchFamily="34" charset="0"/>
              <a:cs typeface="Times New Roman" panose="02020603050405020304" pitchFamily="18" charset="0"/>
            </a:endParaRPr>
          </a:p>
          <a:p>
            <a:pPr marL="342900" lvl="0" indent="-342900">
              <a:lnSpc>
                <a:spcPct val="115000"/>
              </a:lnSpc>
              <a:spcAft>
                <a:spcPts val="800"/>
              </a:spcAft>
              <a:buSzPts val="1000"/>
              <a:buFont typeface="Symbol" panose="05050102010706020507" pitchFamily="18" charset="2"/>
              <a:buChar char=""/>
              <a:tabLst>
                <a:tab pos="457200" algn="l"/>
              </a:tabLst>
            </a:pPr>
            <a:r>
              <a:rPr lang="en-IN" sz="2300" b="1" kern="100" dirty="0">
                <a:solidFill>
                  <a:schemeClr val="tx1"/>
                </a:solidFill>
                <a:effectLst/>
                <a:latin typeface="Aptos" panose="020B0004020202020204" pitchFamily="34" charset="0"/>
                <a:ea typeface="Aptos" panose="020B0004020202020204" pitchFamily="34" charset="0"/>
                <a:cs typeface="Times New Roman" panose="02020603050405020304" pitchFamily="18" charset="0"/>
              </a:rPr>
              <a:t>Key Points:</a:t>
            </a:r>
            <a:endParaRPr lang="en-IN" sz="2300" kern="100" dirty="0">
              <a:solidFill>
                <a:schemeClr val="tx1"/>
              </a:solidFill>
              <a:effectLst/>
              <a:latin typeface="Aptos" panose="020B0004020202020204" pitchFamily="34" charset="0"/>
              <a:ea typeface="Aptos" panose="020B0004020202020204" pitchFamily="34" charset="0"/>
              <a:cs typeface="Times New Roman" panose="02020603050405020304" pitchFamily="18" charset="0"/>
            </a:endParaRPr>
          </a:p>
          <a:p>
            <a:pPr marL="742950" lvl="1" indent="-285750">
              <a:lnSpc>
                <a:spcPct val="115000"/>
              </a:lnSpc>
              <a:spcAft>
                <a:spcPts val="800"/>
              </a:spcAft>
              <a:buSzPts val="1000"/>
              <a:buFont typeface="Courier New" panose="02070309020205020404" pitchFamily="49" charset="0"/>
              <a:buChar char="o"/>
              <a:tabLst>
                <a:tab pos="914400" algn="l"/>
              </a:tabLst>
            </a:pPr>
            <a:r>
              <a:rPr lang="en-IN" sz="2300" b="1" kern="100" dirty="0">
                <a:solidFill>
                  <a:srgbClr val="FF0000"/>
                </a:solidFill>
                <a:effectLst/>
                <a:latin typeface="Aptos" panose="020B0004020202020204" pitchFamily="34" charset="0"/>
                <a:ea typeface="Aptos" panose="020B0004020202020204" pitchFamily="34" charset="0"/>
                <a:cs typeface="Times New Roman" panose="02020603050405020304" pitchFamily="18" charset="0"/>
              </a:rPr>
              <a:t>Initial State: </a:t>
            </a:r>
            <a:r>
              <a:rPr lang="en-IN" sz="2300" b="1" kern="100" dirty="0">
                <a:solidFill>
                  <a:schemeClr val="tx1"/>
                </a:solidFill>
                <a:effectLst/>
                <a:latin typeface="Aptos" panose="020B0004020202020204" pitchFamily="34" charset="0"/>
                <a:ea typeface="Aptos" panose="020B0004020202020204" pitchFamily="34" charset="0"/>
                <a:cs typeface="Times New Roman" panose="02020603050405020304" pitchFamily="18" charset="0"/>
              </a:rPr>
              <a:t>When the database is first created, it may have no data (empty tables).</a:t>
            </a:r>
            <a:endParaRPr lang="en-IN" sz="2300" kern="100" dirty="0">
              <a:solidFill>
                <a:schemeClr val="tx1"/>
              </a:solidFill>
              <a:effectLst/>
              <a:latin typeface="Aptos" panose="020B0004020202020204" pitchFamily="34" charset="0"/>
              <a:ea typeface="Aptos" panose="020B0004020202020204" pitchFamily="34" charset="0"/>
              <a:cs typeface="Times New Roman" panose="02020603050405020304" pitchFamily="18" charset="0"/>
            </a:endParaRPr>
          </a:p>
          <a:p>
            <a:pPr marL="742950" lvl="1" indent="-285750">
              <a:lnSpc>
                <a:spcPct val="115000"/>
              </a:lnSpc>
              <a:spcAft>
                <a:spcPts val="800"/>
              </a:spcAft>
              <a:buSzPts val="1000"/>
              <a:buFont typeface="Courier New" panose="02070309020205020404" pitchFamily="49" charset="0"/>
              <a:buChar char="o"/>
              <a:tabLst>
                <a:tab pos="914400" algn="l"/>
              </a:tabLst>
            </a:pPr>
            <a:r>
              <a:rPr lang="en-IN" sz="2300" b="1" kern="100" dirty="0">
                <a:solidFill>
                  <a:srgbClr val="FF0000"/>
                </a:solidFill>
                <a:effectLst/>
                <a:latin typeface="Aptos" panose="020B0004020202020204" pitchFamily="34" charset="0"/>
                <a:ea typeface="Aptos" panose="020B0004020202020204" pitchFamily="34" charset="0"/>
                <a:cs typeface="Times New Roman" panose="02020603050405020304" pitchFamily="18" charset="0"/>
              </a:rPr>
              <a:t>Current State: </a:t>
            </a:r>
            <a:r>
              <a:rPr lang="en-IN" sz="2300" b="1" kern="100" dirty="0">
                <a:solidFill>
                  <a:schemeClr val="tx1"/>
                </a:solidFill>
                <a:effectLst/>
                <a:latin typeface="Aptos" panose="020B0004020202020204" pitchFamily="34" charset="0"/>
                <a:ea typeface="Aptos" panose="020B0004020202020204" pitchFamily="34" charset="0"/>
                <a:cs typeface="Times New Roman" panose="02020603050405020304" pitchFamily="18" charset="0"/>
              </a:rPr>
              <a:t>Represents the state of the database after multiple data operations.</a:t>
            </a:r>
            <a:endParaRPr lang="en-IN" sz="2300" kern="100" dirty="0">
              <a:solidFill>
                <a:schemeClr val="tx1"/>
              </a:solidFill>
              <a:effectLst/>
              <a:latin typeface="Aptos" panose="020B0004020202020204" pitchFamily="34" charset="0"/>
              <a:ea typeface="Aptos" panose="020B0004020202020204" pitchFamily="34" charset="0"/>
              <a:cs typeface="Times New Roman" panose="02020603050405020304" pitchFamily="18" charset="0"/>
            </a:endParaRPr>
          </a:p>
          <a:p>
            <a:pPr marL="457200">
              <a:lnSpc>
                <a:spcPct val="115000"/>
              </a:lnSpc>
              <a:spcAft>
                <a:spcPts val="800"/>
              </a:spcAft>
            </a:pPr>
            <a:r>
              <a:rPr lang="en-IN" sz="2200" b="1" kern="100" dirty="0">
                <a:solidFill>
                  <a:srgbClr val="FF0000"/>
                </a:solidFill>
                <a:effectLst/>
                <a:latin typeface="Aptos" panose="020B0004020202020204" pitchFamily="34" charset="0"/>
                <a:ea typeface="Aptos" panose="020B0004020202020204" pitchFamily="34" charset="0"/>
                <a:cs typeface="Times New Roman" panose="02020603050405020304" pitchFamily="18" charset="0"/>
              </a:rPr>
              <a:t>Real-World Example:</a:t>
            </a:r>
            <a:endParaRPr lang="en-IN" sz="2200" kern="100" dirty="0">
              <a:solidFill>
                <a:srgbClr val="FF0000"/>
              </a:solidFill>
              <a:effectLst/>
              <a:latin typeface="Aptos" panose="020B0004020202020204" pitchFamily="34" charset="0"/>
              <a:ea typeface="Aptos" panose="020B0004020202020204" pitchFamily="34" charset="0"/>
              <a:cs typeface="Times New Roman" panose="02020603050405020304" pitchFamily="18" charset="0"/>
            </a:endParaRPr>
          </a:p>
          <a:p>
            <a:pPr marL="342900" lvl="0" indent="-342900">
              <a:lnSpc>
                <a:spcPct val="115000"/>
              </a:lnSpc>
              <a:spcAft>
                <a:spcPts val="800"/>
              </a:spcAft>
              <a:buSzPts val="1000"/>
              <a:buFont typeface="Symbol" panose="05050102010706020507" pitchFamily="18" charset="2"/>
              <a:buChar char=""/>
              <a:tabLst>
                <a:tab pos="457200" algn="l"/>
              </a:tabLst>
            </a:pPr>
            <a:r>
              <a:rPr lang="en-IN" sz="2200" b="1" kern="100" dirty="0">
                <a:solidFill>
                  <a:srgbClr val="FF0000"/>
                </a:solidFill>
                <a:effectLst/>
                <a:latin typeface="Aptos" panose="020B0004020202020204" pitchFamily="34" charset="0"/>
                <a:ea typeface="Aptos" panose="020B0004020202020204" pitchFamily="34" charset="0"/>
                <a:cs typeface="Times New Roman" panose="02020603050405020304" pitchFamily="18" charset="0"/>
              </a:rPr>
              <a:t>Initial State: </a:t>
            </a:r>
            <a:r>
              <a:rPr lang="en-IN" sz="2200" b="1" kern="100" dirty="0">
                <a:solidFill>
                  <a:schemeClr val="tx1"/>
                </a:solidFill>
                <a:effectLst/>
                <a:latin typeface="Aptos" panose="020B0004020202020204" pitchFamily="34" charset="0"/>
                <a:ea typeface="Aptos" panose="020B0004020202020204" pitchFamily="34" charset="0"/>
                <a:cs typeface="Times New Roman" panose="02020603050405020304" pitchFamily="18" charset="0"/>
              </a:rPr>
              <a:t>Both Employees and Departments tables are empty.</a:t>
            </a:r>
            <a:endParaRPr lang="en-IN" sz="2200" kern="100" dirty="0">
              <a:solidFill>
                <a:schemeClr val="tx1"/>
              </a:solidFill>
              <a:effectLst/>
              <a:latin typeface="Aptos" panose="020B0004020202020204" pitchFamily="34" charset="0"/>
              <a:ea typeface="Aptos" panose="020B0004020202020204" pitchFamily="34" charset="0"/>
              <a:cs typeface="Times New Roman" panose="02020603050405020304" pitchFamily="18" charset="0"/>
            </a:endParaRPr>
          </a:p>
          <a:p>
            <a:pPr marL="342900" lvl="0" indent="-342900">
              <a:lnSpc>
                <a:spcPct val="115000"/>
              </a:lnSpc>
              <a:spcAft>
                <a:spcPts val="800"/>
              </a:spcAft>
              <a:buSzPts val="1000"/>
              <a:buFont typeface="Symbol" panose="05050102010706020507" pitchFamily="18" charset="2"/>
              <a:buChar char=""/>
              <a:tabLst>
                <a:tab pos="457200" algn="l"/>
              </a:tabLst>
            </a:pPr>
            <a:r>
              <a:rPr lang="en-IN" sz="2200" b="1" kern="100" dirty="0">
                <a:solidFill>
                  <a:srgbClr val="FF0000"/>
                </a:solidFill>
                <a:effectLst/>
                <a:latin typeface="Aptos" panose="020B0004020202020204" pitchFamily="34" charset="0"/>
                <a:ea typeface="Aptos" panose="020B0004020202020204" pitchFamily="34" charset="0"/>
                <a:cs typeface="Times New Roman" panose="02020603050405020304" pitchFamily="18" charset="0"/>
              </a:rPr>
              <a:t>Current State</a:t>
            </a:r>
            <a:r>
              <a:rPr lang="en-IN" sz="2200" b="1" kern="100" dirty="0">
                <a:solidFill>
                  <a:schemeClr val="tx1"/>
                </a:solidFill>
                <a:effectLst/>
                <a:latin typeface="Aptos" panose="020B0004020202020204" pitchFamily="34" charset="0"/>
                <a:ea typeface="Aptos" panose="020B0004020202020204" pitchFamily="34" charset="0"/>
                <a:cs typeface="Times New Roman" panose="02020603050405020304" pitchFamily="18" charset="0"/>
              </a:rPr>
              <a:t>: As shown in the instances above (at T1 and T2), the database evolves over time with the addition or modification of records.</a:t>
            </a:r>
            <a:endParaRPr lang="en-IN" sz="2200" kern="100" dirty="0">
              <a:solidFill>
                <a:schemeClr val="tx1"/>
              </a:solidFill>
              <a:effectLst/>
              <a:latin typeface="Aptos" panose="020B0004020202020204" pitchFamily="34" charset="0"/>
              <a:ea typeface="Aptos" panose="020B0004020202020204" pitchFamily="34" charset="0"/>
              <a:cs typeface="Times New Roman" panose="02020603050405020304" pitchFamily="18" charset="0"/>
            </a:endParaRPr>
          </a:p>
          <a:p>
            <a:pPr>
              <a:buFont typeface="Arial" panose="020B0604020202020204" pitchFamily="34" charset="0"/>
              <a:buChar char="•"/>
            </a:pPr>
            <a:endParaRPr lang="en-IN" dirty="0"/>
          </a:p>
        </p:txBody>
      </p:sp>
    </p:spTree>
    <p:extLst>
      <p:ext uri="{BB962C8B-B14F-4D97-AF65-F5344CB8AC3E}">
        <p14:creationId xmlns:p14="http://schemas.microsoft.com/office/powerpoint/2010/main" val="1996075385"/>
      </p:ext>
    </p:extLst>
  </p:cSld>
  <p:clrMapOvr>
    <a:masterClrMapping/>
  </p:clrMapOvr>
</p:sld>
</file>

<file path=ppt/slides/slide89.xml><?xml version="1.0" encoding="utf-8"?>
<p:sld xmlns:a="http://schemas.openxmlformats.org/drawingml/2006/main" xmlns:r="http://schemas.openxmlformats.org/officeDocument/2006/relationships" xmlns:p="http://schemas.openxmlformats.org/presentationml/2006/main" show="0">
  <p:cSld>
    <p:spTree>
      <p:nvGrpSpPr>
        <p:cNvPr id="1" name="">
          <a:extLst>
            <a:ext uri="{FF2B5EF4-FFF2-40B4-BE49-F238E27FC236}">
              <a16:creationId xmlns:a16="http://schemas.microsoft.com/office/drawing/2014/main" id="{CC9E822C-15DD-02BE-B2AF-B1F17CC1C1DF}"/>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5DE78EBE-7D98-3ED2-8F8C-FC0F1EDE9247}"/>
              </a:ext>
            </a:extLst>
          </p:cNvPr>
          <p:cNvSpPr>
            <a:spLocks noGrp="1"/>
          </p:cNvSpPr>
          <p:nvPr>
            <p:ph type="title"/>
          </p:nvPr>
        </p:nvSpPr>
        <p:spPr>
          <a:xfrm>
            <a:off x="623392" y="0"/>
            <a:ext cx="7776864" cy="838202"/>
          </a:xfrm>
        </p:spPr>
        <p:txBody>
          <a:bodyPr/>
          <a:lstStyle/>
          <a:p>
            <a:br>
              <a:rPr lang="en-IN" sz="3600" dirty="0">
                <a:solidFill>
                  <a:srgbClr val="FF0000"/>
                </a:solidFill>
                <a:effectLst/>
              </a:rPr>
            </a:br>
            <a:r>
              <a:rPr lang="en-IN" sz="3600" b="1" kern="100" dirty="0" err="1">
                <a:solidFill>
                  <a:srgbClr val="FF0000"/>
                </a:solidFill>
                <a:effectLst/>
                <a:latin typeface="Aptos" panose="020B0004020202020204" pitchFamily="34" charset="0"/>
                <a:ea typeface="Aptos" panose="020B0004020202020204" pitchFamily="34" charset="0"/>
                <a:cs typeface="Times New Roman" panose="02020603050405020304" pitchFamily="18" charset="0"/>
              </a:rPr>
              <a:t>Schema,instance</a:t>
            </a:r>
            <a:r>
              <a:rPr lang="en-IN" sz="3600" b="1" kern="100" dirty="0">
                <a:solidFill>
                  <a:srgbClr val="FF0000"/>
                </a:solidFill>
                <a:latin typeface="Aptos" panose="020B0004020202020204" pitchFamily="34" charset="0"/>
                <a:ea typeface="Aptos" panose="020B0004020202020204" pitchFamily="34" charset="0"/>
                <a:cs typeface="Times New Roman" panose="02020603050405020304" pitchFamily="18" charset="0"/>
              </a:rPr>
              <a:t> AND state</a:t>
            </a:r>
            <a:endParaRPr lang="en-IN" sz="3600" kern="100" dirty="0">
              <a:solidFill>
                <a:srgbClr val="FF0000"/>
              </a:solidFill>
              <a:effectLst/>
              <a:latin typeface="Aptos" panose="020B0004020202020204" pitchFamily="34" charset="0"/>
              <a:ea typeface="Aptos" panose="020B0004020202020204" pitchFamily="34" charset="0"/>
              <a:cs typeface="Times New Roman" panose="02020603050405020304" pitchFamily="18" charset="0"/>
            </a:endParaRPr>
          </a:p>
        </p:txBody>
      </p:sp>
      <p:sp>
        <p:nvSpPr>
          <p:cNvPr id="3" name="Text Placeholder 2">
            <a:extLst>
              <a:ext uri="{FF2B5EF4-FFF2-40B4-BE49-F238E27FC236}">
                <a16:creationId xmlns:a16="http://schemas.microsoft.com/office/drawing/2014/main" id="{13B37381-5D78-818C-95ED-0E4BA887AEBD}"/>
              </a:ext>
            </a:extLst>
          </p:cNvPr>
          <p:cNvSpPr>
            <a:spLocks noGrp="1"/>
          </p:cNvSpPr>
          <p:nvPr>
            <p:ph type="body" sz="quarter" idx="17"/>
          </p:nvPr>
        </p:nvSpPr>
        <p:spPr>
          <a:xfrm>
            <a:off x="263352" y="980728"/>
            <a:ext cx="11928648" cy="4594820"/>
          </a:xfrm>
        </p:spPr>
        <p:txBody>
          <a:bodyPr/>
          <a:lstStyle/>
          <a:p>
            <a:pPr>
              <a:buFont typeface="Arial" panose="020B0604020202020204" pitchFamily="34" charset="0"/>
              <a:buChar char="•"/>
            </a:pPr>
            <a:endParaRPr lang="en-IN" dirty="0"/>
          </a:p>
        </p:txBody>
      </p:sp>
      <p:graphicFrame>
        <p:nvGraphicFramePr>
          <p:cNvPr id="5" name="Table 4">
            <a:extLst>
              <a:ext uri="{FF2B5EF4-FFF2-40B4-BE49-F238E27FC236}">
                <a16:creationId xmlns:a16="http://schemas.microsoft.com/office/drawing/2014/main" id="{27E44CC7-3BF2-EE08-B23D-D71709D03820}"/>
              </a:ext>
            </a:extLst>
          </p:cNvPr>
          <p:cNvGraphicFramePr>
            <a:graphicFrameLocks noGrp="1"/>
          </p:cNvGraphicFramePr>
          <p:nvPr>
            <p:extLst>
              <p:ext uri="{D42A27DB-BD31-4B8C-83A1-F6EECF244321}">
                <p14:modId xmlns:p14="http://schemas.microsoft.com/office/powerpoint/2010/main" val="103382577"/>
              </p:ext>
            </p:extLst>
          </p:nvPr>
        </p:nvGraphicFramePr>
        <p:xfrm>
          <a:off x="407368" y="980728"/>
          <a:ext cx="11449272" cy="4594820"/>
        </p:xfrm>
        <a:graphic>
          <a:graphicData uri="http://schemas.openxmlformats.org/drawingml/2006/table">
            <a:tbl>
              <a:tblPr>
                <a:tableStyleId>{5C22544A-7EE6-4342-B048-85BDC9FD1C3A}</a:tableStyleId>
              </a:tblPr>
              <a:tblGrid>
                <a:gridCol w="1655134">
                  <a:extLst>
                    <a:ext uri="{9D8B030D-6E8A-4147-A177-3AD203B41FA5}">
                      <a16:colId xmlns:a16="http://schemas.microsoft.com/office/drawing/2014/main" val="85675140"/>
                    </a:ext>
                  </a:extLst>
                </a:gridCol>
                <a:gridCol w="6605349">
                  <a:extLst>
                    <a:ext uri="{9D8B030D-6E8A-4147-A177-3AD203B41FA5}">
                      <a16:colId xmlns:a16="http://schemas.microsoft.com/office/drawing/2014/main" val="2408139742"/>
                    </a:ext>
                  </a:extLst>
                </a:gridCol>
                <a:gridCol w="3188789">
                  <a:extLst>
                    <a:ext uri="{9D8B030D-6E8A-4147-A177-3AD203B41FA5}">
                      <a16:colId xmlns:a16="http://schemas.microsoft.com/office/drawing/2014/main" val="2397716052"/>
                    </a:ext>
                  </a:extLst>
                </a:gridCol>
              </a:tblGrid>
              <a:tr h="1248921">
                <a:tc>
                  <a:txBody>
                    <a:bodyPr/>
                    <a:lstStyle/>
                    <a:p>
                      <a:pPr algn="ctr" fontAlgn="ctr"/>
                      <a:r>
                        <a:rPr lang="en-IN" sz="2400" u="none" strike="noStrike">
                          <a:effectLst/>
                        </a:rPr>
                        <a:t>Concept</a:t>
                      </a:r>
                      <a:endParaRPr lang="en-IN" sz="2400" b="1" i="0" u="none" strike="noStrike">
                        <a:solidFill>
                          <a:srgbClr val="FF0000"/>
                        </a:solidFill>
                        <a:effectLst/>
                        <a:latin typeface="Aptos Narrow" panose="020B0004020202020204" pitchFamily="34" charset="0"/>
                      </a:endParaRPr>
                    </a:p>
                  </a:txBody>
                  <a:tcPr marL="6350" marR="6350" marT="6350" marB="0" anchor="ctr"/>
                </a:tc>
                <a:tc>
                  <a:txBody>
                    <a:bodyPr/>
                    <a:lstStyle/>
                    <a:p>
                      <a:pPr algn="ctr" fontAlgn="ctr"/>
                      <a:r>
                        <a:rPr lang="en-IN" sz="2400" u="none" strike="noStrike" dirty="0">
                          <a:effectLst/>
                        </a:rPr>
                        <a:t>Description</a:t>
                      </a:r>
                      <a:endParaRPr lang="en-IN" sz="2400" b="1" i="0" u="none" strike="noStrike" dirty="0">
                        <a:solidFill>
                          <a:srgbClr val="FF0000"/>
                        </a:solidFill>
                        <a:effectLst/>
                        <a:latin typeface="Aptos Narrow" panose="020B0004020202020204" pitchFamily="34" charset="0"/>
                      </a:endParaRPr>
                    </a:p>
                  </a:txBody>
                  <a:tcPr marL="6350" marR="6350" marT="6350" marB="0" anchor="ctr"/>
                </a:tc>
                <a:tc>
                  <a:txBody>
                    <a:bodyPr/>
                    <a:lstStyle/>
                    <a:p>
                      <a:pPr algn="ctr" fontAlgn="ctr"/>
                      <a:r>
                        <a:rPr lang="en-IN" sz="2400" u="none" strike="noStrike">
                          <a:effectLst/>
                        </a:rPr>
                        <a:t>Example</a:t>
                      </a:r>
                      <a:endParaRPr lang="en-IN" sz="2400" b="1" i="0" u="none" strike="noStrike">
                        <a:solidFill>
                          <a:srgbClr val="FF0000"/>
                        </a:solidFill>
                        <a:effectLst/>
                        <a:latin typeface="Aptos Narrow" panose="020B0004020202020204" pitchFamily="34" charset="0"/>
                      </a:endParaRPr>
                    </a:p>
                  </a:txBody>
                  <a:tcPr marL="6350" marR="6350" marT="6350" marB="0" anchor="ctr"/>
                </a:tc>
                <a:extLst>
                  <a:ext uri="{0D108BD9-81ED-4DB2-BD59-A6C34878D82A}">
                    <a16:rowId xmlns:a16="http://schemas.microsoft.com/office/drawing/2014/main" val="3887893062"/>
                  </a:ext>
                </a:extLst>
              </a:tr>
              <a:tr h="926619">
                <a:tc>
                  <a:txBody>
                    <a:bodyPr/>
                    <a:lstStyle/>
                    <a:p>
                      <a:pPr algn="l" fontAlgn="ctr"/>
                      <a:r>
                        <a:rPr lang="en-IN" sz="2400" u="none" strike="noStrike">
                          <a:effectLst/>
                        </a:rPr>
                        <a:t>Schema</a:t>
                      </a:r>
                      <a:endParaRPr lang="en-IN" sz="2400" b="1" i="0" u="none" strike="noStrike">
                        <a:solidFill>
                          <a:srgbClr val="FF0000"/>
                        </a:solidFill>
                        <a:effectLst/>
                        <a:latin typeface="Aptos Narrow" panose="020B0004020202020204" pitchFamily="34" charset="0"/>
                      </a:endParaRPr>
                    </a:p>
                  </a:txBody>
                  <a:tcPr marL="6350" marR="6350" marT="6350" marB="0" anchor="ctr"/>
                </a:tc>
                <a:tc>
                  <a:txBody>
                    <a:bodyPr/>
                    <a:lstStyle/>
                    <a:p>
                      <a:pPr algn="l" fontAlgn="ctr"/>
                      <a:r>
                        <a:rPr lang="en-US" sz="2400" u="none" strike="noStrike">
                          <a:effectLst/>
                        </a:rPr>
                        <a:t>Structure/blueprint of the database.</a:t>
                      </a:r>
                      <a:endParaRPr lang="en-US" sz="2400" b="0" i="0" u="none" strike="noStrike">
                        <a:solidFill>
                          <a:srgbClr val="000000"/>
                        </a:solidFill>
                        <a:effectLst/>
                        <a:latin typeface="Aptos Narrow" panose="020B0004020202020204" pitchFamily="34" charset="0"/>
                      </a:endParaRPr>
                    </a:p>
                  </a:txBody>
                  <a:tcPr marL="6350" marR="6350" marT="6350" marB="0" anchor="ctr"/>
                </a:tc>
                <a:tc>
                  <a:txBody>
                    <a:bodyPr/>
                    <a:lstStyle/>
                    <a:p>
                      <a:pPr algn="l" fontAlgn="ctr"/>
                      <a:r>
                        <a:rPr lang="en-IN" sz="2400" u="none" strike="noStrike">
                          <a:effectLst/>
                        </a:rPr>
                        <a:t>Table definitions</a:t>
                      </a:r>
                      <a:endParaRPr lang="en-IN" sz="2400" b="0" i="0" u="none" strike="noStrike">
                        <a:solidFill>
                          <a:srgbClr val="000000"/>
                        </a:solidFill>
                        <a:effectLst/>
                        <a:latin typeface="Aptos Narrow" panose="020B0004020202020204" pitchFamily="34" charset="0"/>
                      </a:endParaRPr>
                    </a:p>
                  </a:txBody>
                  <a:tcPr marL="6350" marR="6350" marT="6350" marB="0" anchor="ctr"/>
                </a:tc>
                <a:extLst>
                  <a:ext uri="{0D108BD9-81ED-4DB2-BD59-A6C34878D82A}">
                    <a16:rowId xmlns:a16="http://schemas.microsoft.com/office/drawing/2014/main" val="2938394612"/>
                  </a:ext>
                </a:extLst>
              </a:tr>
              <a:tr h="1170359">
                <a:tc>
                  <a:txBody>
                    <a:bodyPr/>
                    <a:lstStyle/>
                    <a:p>
                      <a:pPr algn="l" fontAlgn="ctr"/>
                      <a:r>
                        <a:rPr lang="en-IN" sz="2400" u="none" strike="noStrike">
                          <a:effectLst/>
                        </a:rPr>
                        <a:t>Instance</a:t>
                      </a:r>
                      <a:endParaRPr lang="en-IN" sz="2400" b="1" i="0" u="none" strike="noStrike">
                        <a:solidFill>
                          <a:srgbClr val="FF0000"/>
                        </a:solidFill>
                        <a:effectLst/>
                        <a:latin typeface="Aptos Narrow" panose="020B0004020202020204" pitchFamily="34" charset="0"/>
                      </a:endParaRPr>
                    </a:p>
                  </a:txBody>
                  <a:tcPr marL="6350" marR="6350" marT="6350" marB="0" anchor="ctr"/>
                </a:tc>
                <a:tc>
                  <a:txBody>
                    <a:bodyPr/>
                    <a:lstStyle/>
                    <a:p>
                      <a:pPr algn="l" fontAlgn="ctr"/>
                      <a:r>
                        <a:rPr lang="en-US" sz="2400" u="none" strike="noStrike">
                          <a:effectLst/>
                        </a:rPr>
                        <a:t>Actual data stored in the database at a given time.</a:t>
                      </a:r>
                      <a:endParaRPr lang="en-US" sz="2400" b="0" i="0" u="none" strike="noStrike">
                        <a:solidFill>
                          <a:srgbClr val="000000"/>
                        </a:solidFill>
                        <a:effectLst/>
                        <a:latin typeface="Aptos Narrow" panose="020B0004020202020204" pitchFamily="34" charset="0"/>
                      </a:endParaRPr>
                    </a:p>
                  </a:txBody>
                  <a:tcPr marL="6350" marR="6350" marT="6350" marB="0" anchor="ctr"/>
                </a:tc>
                <a:tc>
                  <a:txBody>
                    <a:bodyPr/>
                    <a:lstStyle/>
                    <a:p>
                      <a:pPr algn="l" fontAlgn="ctr"/>
                      <a:r>
                        <a:rPr lang="en-IN" sz="2400" u="none" strike="noStrike">
                          <a:effectLst/>
                        </a:rPr>
                        <a:t>Rows in Employees table</a:t>
                      </a:r>
                      <a:endParaRPr lang="en-IN" sz="2400" b="0" i="0" u="none" strike="noStrike">
                        <a:solidFill>
                          <a:srgbClr val="000000"/>
                        </a:solidFill>
                        <a:effectLst/>
                        <a:latin typeface="Aptos Narrow" panose="020B0004020202020204" pitchFamily="34" charset="0"/>
                      </a:endParaRPr>
                    </a:p>
                  </a:txBody>
                  <a:tcPr marL="6350" marR="6350" marT="6350" marB="0" anchor="ctr"/>
                </a:tc>
                <a:extLst>
                  <a:ext uri="{0D108BD9-81ED-4DB2-BD59-A6C34878D82A}">
                    <a16:rowId xmlns:a16="http://schemas.microsoft.com/office/drawing/2014/main" val="1868696223"/>
                  </a:ext>
                </a:extLst>
              </a:tr>
              <a:tr h="1248921">
                <a:tc>
                  <a:txBody>
                    <a:bodyPr/>
                    <a:lstStyle/>
                    <a:p>
                      <a:pPr algn="l" fontAlgn="ctr"/>
                      <a:r>
                        <a:rPr lang="en-IN" sz="2400" u="none" strike="noStrike">
                          <a:effectLst/>
                        </a:rPr>
                        <a:t>Database State</a:t>
                      </a:r>
                      <a:endParaRPr lang="en-IN" sz="2400" b="1" i="0" u="none" strike="noStrike">
                        <a:solidFill>
                          <a:srgbClr val="FF0000"/>
                        </a:solidFill>
                        <a:effectLst/>
                        <a:latin typeface="Aptos Narrow" panose="020B0004020202020204" pitchFamily="34" charset="0"/>
                      </a:endParaRPr>
                    </a:p>
                  </a:txBody>
                  <a:tcPr marL="6350" marR="6350" marT="6350" marB="0" anchor="ctr"/>
                </a:tc>
                <a:tc>
                  <a:txBody>
                    <a:bodyPr/>
                    <a:lstStyle/>
                    <a:p>
                      <a:pPr algn="l" fontAlgn="ctr"/>
                      <a:r>
                        <a:rPr lang="en-US" sz="2400" u="none" strike="noStrike">
                          <a:effectLst/>
                        </a:rPr>
                        <a:t>Snapshot of the database instance at a particular time.</a:t>
                      </a:r>
                      <a:endParaRPr lang="en-US" sz="2400" b="0" i="0" u="none" strike="noStrike">
                        <a:solidFill>
                          <a:srgbClr val="000000"/>
                        </a:solidFill>
                        <a:effectLst/>
                        <a:latin typeface="Aptos Narrow" panose="020B0004020202020204" pitchFamily="34" charset="0"/>
                      </a:endParaRPr>
                    </a:p>
                  </a:txBody>
                  <a:tcPr marL="6350" marR="6350" marT="6350" marB="0" anchor="ctr"/>
                </a:tc>
                <a:tc>
                  <a:txBody>
                    <a:bodyPr/>
                    <a:lstStyle/>
                    <a:p>
                      <a:pPr algn="l" fontAlgn="ctr"/>
                      <a:r>
                        <a:rPr lang="en-US" sz="2400" u="none" strike="noStrike" dirty="0">
                          <a:effectLst/>
                        </a:rPr>
                        <a:t>Data at T1 or T2</a:t>
                      </a:r>
                      <a:endParaRPr lang="en-US" sz="2400" b="0" i="0" u="none" strike="noStrike" dirty="0">
                        <a:solidFill>
                          <a:srgbClr val="000000"/>
                        </a:solidFill>
                        <a:effectLst/>
                        <a:latin typeface="Aptos Narrow" panose="020B0004020202020204" pitchFamily="34" charset="0"/>
                      </a:endParaRPr>
                    </a:p>
                  </a:txBody>
                  <a:tcPr marL="6350" marR="6350" marT="6350" marB="0" anchor="ctr"/>
                </a:tc>
                <a:extLst>
                  <a:ext uri="{0D108BD9-81ED-4DB2-BD59-A6C34878D82A}">
                    <a16:rowId xmlns:a16="http://schemas.microsoft.com/office/drawing/2014/main" val="3012484404"/>
                  </a:ext>
                </a:extLst>
              </a:tr>
            </a:tbl>
          </a:graphicData>
        </a:graphic>
      </p:graphicFrame>
    </p:spTree>
    <p:extLst>
      <p:ext uri="{BB962C8B-B14F-4D97-AF65-F5344CB8AC3E}">
        <p14:creationId xmlns:p14="http://schemas.microsoft.com/office/powerpoint/2010/main" val="4038303412"/>
      </p:ext>
    </p:extLst>
  </p:cSld>
  <p:clrMapOvr>
    <a:masterClrMapping/>
  </p:clrMapOvr>
</p:sld>
</file>

<file path=ppt/slides/slide9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Number Placeholder 1"/>
          <p:cNvSpPr>
            <a:spLocks noGrp="1"/>
          </p:cNvSpPr>
          <p:nvPr>
            <p:ph type="sldNum" sz="quarter" idx="14"/>
          </p:nvPr>
        </p:nvSpPr>
        <p:spPr/>
        <p:txBody>
          <a:bodyPr/>
          <a:lstStyle/>
          <a:p>
            <a:fld id="{45A3C14A-F937-4231-B6F1-40B429FAFB2F}" type="slidenum">
              <a:rPr lang="en-NZ" smtClean="0"/>
              <a:pPr/>
              <a:t>90</a:t>
            </a:fld>
            <a:endParaRPr lang="en-NZ" dirty="0"/>
          </a:p>
        </p:txBody>
      </p:sp>
      <p:sp>
        <p:nvSpPr>
          <p:cNvPr id="3" name="Title 2"/>
          <p:cNvSpPr>
            <a:spLocks noGrp="1"/>
          </p:cNvSpPr>
          <p:nvPr>
            <p:ph type="title"/>
          </p:nvPr>
        </p:nvSpPr>
        <p:spPr>
          <a:xfrm>
            <a:off x="695400" y="395786"/>
            <a:ext cx="9865096" cy="838202"/>
          </a:xfrm>
        </p:spPr>
        <p:txBody>
          <a:bodyPr/>
          <a:lstStyle/>
          <a:p>
            <a:r>
              <a:rPr lang="en-US" b="1" dirty="0"/>
              <a:t>Difference Between Schema and Instance in DBMS</a:t>
            </a:r>
            <a:br>
              <a:rPr lang="en-US" b="1" dirty="0"/>
            </a:br>
            <a:endParaRPr lang="en-US" dirty="0"/>
          </a:p>
        </p:txBody>
      </p:sp>
      <p:graphicFrame>
        <p:nvGraphicFramePr>
          <p:cNvPr id="5" name="Table 4"/>
          <p:cNvGraphicFramePr>
            <a:graphicFrameLocks noGrp="1"/>
          </p:cNvGraphicFramePr>
          <p:nvPr>
            <p:extLst>
              <p:ext uri="{D42A27DB-BD31-4B8C-83A1-F6EECF244321}">
                <p14:modId xmlns:p14="http://schemas.microsoft.com/office/powerpoint/2010/main" val="291922818"/>
              </p:ext>
            </p:extLst>
          </p:nvPr>
        </p:nvGraphicFramePr>
        <p:xfrm>
          <a:off x="1775520" y="1340768"/>
          <a:ext cx="8702676" cy="4371793"/>
        </p:xfrm>
        <a:graphic>
          <a:graphicData uri="http://schemas.openxmlformats.org/drawingml/2006/table">
            <a:tbl>
              <a:tblPr/>
              <a:tblGrid>
                <a:gridCol w="2900892">
                  <a:extLst>
                    <a:ext uri="{9D8B030D-6E8A-4147-A177-3AD203B41FA5}">
                      <a16:colId xmlns:a16="http://schemas.microsoft.com/office/drawing/2014/main" val="3869351308"/>
                    </a:ext>
                  </a:extLst>
                </a:gridCol>
                <a:gridCol w="2900892">
                  <a:extLst>
                    <a:ext uri="{9D8B030D-6E8A-4147-A177-3AD203B41FA5}">
                      <a16:colId xmlns:a16="http://schemas.microsoft.com/office/drawing/2014/main" val="4211392414"/>
                    </a:ext>
                  </a:extLst>
                </a:gridCol>
                <a:gridCol w="2900892">
                  <a:extLst>
                    <a:ext uri="{9D8B030D-6E8A-4147-A177-3AD203B41FA5}">
                      <a16:colId xmlns:a16="http://schemas.microsoft.com/office/drawing/2014/main" val="1365895323"/>
                    </a:ext>
                  </a:extLst>
                </a:gridCol>
              </a:tblGrid>
              <a:tr h="416215">
                <a:tc>
                  <a:txBody>
                    <a:bodyPr/>
                    <a:lstStyle/>
                    <a:p>
                      <a:pPr fontAlgn="t"/>
                      <a:r>
                        <a:rPr lang="en-US" sz="1500" b="1">
                          <a:effectLst/>
                        </a:rPr>
                        <a:t>Parameters</a:t>
                      </a:r>
                      <a:endParaRPr lang="en-US" sz="1500">
                        <a:effectLst/>
                      </a:endParaRPr>
                    </a:p>
                  </a:txBody>
                  <a:tcPr marL="63063" marR="63063" marT="94594" marB="94594">
                    <a:lnL w="4763" cap="flat" cmpd="sng" algn="ctr">
                      <a:solidFill>
                        <a:srgbClr val="444444"/>
                      </a:solidFill>
                      <a:prstDash val="solid"/>
                      <a:round/>
                      <a:headEnd type="none" w="med" len="med"/>
                      <a:tailEnd type="none" w="med" len="med"/>
                    </a:lnL>
                    <a:lnR w="4763" cap="flat" cmpd="sng" algn="ctr">
                      <a:solidFill>
                        <a:srgbClr val="444444"/>
                      </a:solidFill>
                      <a:prstDash val="solid"/>
                      <a:round/>
                      <a:headEnd type="none" w="med" len="med"/>
                      <a:tailEnd type="none" w="med" len="med"/>
                    </a:lnR>
                    <a:lnT>
                      <a:noFill/>
                    </a:lnT>
                    <a:lnB w="4763" cap="flat" cmpd="sng" algn="ctr">
                      <a:solidFill>
                        <a:srgbClr val="444444"/>
                      </a:solidFill>
                      <a:prstDash val="solid"/>
                      <a:round/>
                      <a:headEnd type="none" w="med" len="med"/>
                      <a:tailEnd type="none" w="med" len="med"/>
                    </a:lnB>
                    <a:solidFill>
                      <a:srgbClr val="F1EDFF"/>
                    </a:solidFill>
                  </a:tcPr>
                </a:tc>
                <a:tc>
                  <a:txBody>
                    <a:bodyPr/>
                    <a:lstStyle/>
                    <a:p>
                      <a:pPr fontAlgn="t"/>
                      <a:r>
                        <a:rPr lang="en-US" sz="1500" b="1">
                          <a:effectLst/>
                        </a:rPr>
                        <a:t>Schema in DBMS</a:t>
                      </a:r>
                      <a:endParaRPr lang="en-US" sz="1500">
                        <a:effectLst/>
                      </a:endParaRPr>
                    </a:p>
                  </a:txBody>
                  <a:tcPr marL="63063" marR="63063" marT="94594" marB="94594">
                    <a:lnL w="4763" cap="flat" cmpd="sng" algn="ctr">
                      <a:solidFill>
                        <a:srgbClr val="444444"/>
                      </a:solidFill>
                      <a:prstDash val="solid"/>
                      <a:round/>
                      <a:headEnd type="none" w="med" len="med"/>
                      <a:tailEnd type="none" w="med" len="med"/>
                    </a:lnL>
                    <a:lnR w="4763" cap="flat" cmpd="sng" algn="ctr">
                      <a:solidFill>
                        <a:srgbClr val="444444"/>
                      </a:solidFill>
                      <a:prstDash val="solid"/>
                      <a:round/>
                      <a:headEnd type="none" w="med" len="med"/>
                      <a:tailEnd type="none" w="med" len="med"/>
                    </a:lnR>
                    <a:lnT>
                      <a:noFill/>
                    </a:lnT>
                    <a:lnB w="4763" cap="flat" cmpd="sng" algn="ctr">
                      <a:solidFill>
                        <a:srgbClr val="444444"/>
                      </a:solidFill>
                      <a:prstDash val="solid"/>
                      <a:round/>
                      <a:headEnd type="none" w="med" len="med"/>
                      <a:tailEnd type="none" w="med" len="med"/>
                    </a:lnB>
                    <a:solidFill>
                      <a:srgbClr val="F1EDFF"/>
                    </a:solidFill>
                  </a:tcPr>
                </a:tc>
                <a:tc>
                  <a:txBody>
                    <a:bodyPr/>
                    <a:lstStyle/>
                    <a:p>
                      <a:pPr fontAlgn="t"/>
                      <a:r>
                        <a:rPr lang="en-US" sz="1500" b="1" dirty="0">
                          <a:effectLst/>
                        </a:rPr>
                        <a:t>Instance in DBMS</a:t>
                      </a:r>
                      <a:endParaRPr lang="en-US" sz="1500" dirty="0">
                        <a:effectLst/>
                      </a:endParaRPr>
                    </a:p>
                  </a:txBody>
                  <a:tcPr marL="63063" marR="63063" marT="94594" marB="94594">
                    <a:lnL w="4763" cap="flat" cmpd="sng" algn="ctr">
                      <a:solidFill>
                        <a:srgbClr val="444444"/>
                      </a:solidFill>
                      <a:prstDash val="solid"/>
                      <a:round/>
                      <a:headEnd type="none" w="med" len="med"/>
                      <a:tailEnd type="none" w="med" len="med"/>
                    </a:lnL>
                    <a:lnR w="4763" cap="flat" cmpd="sng" algn="ctr">
                      <a:solidFill>
                        <a:srgbClr val="444444"/>
                      </a:solidFill>
                      <a:prstDash val="solid"/>
                      <a:round/>
                      <a:headEnd type="none" w="med" len="med"/>
                      <a:tailEnd type="none" w="med" len="med"/>
                    </a:lnR>
                    <a:lnT>
                      <a:noFill/>
                    </a:lnT>
                    <a:lnB w="4763" cap="flat" cmpd="sng" algn="ctr">
                      <a:solidFill>
                        <a:srgbClr val="444444"/>
                      </a:solidFill>
                      <a:prstDash val="solid"/>
                      <a:round/>
                      <a:headEnd type="none" w="med" len="med"/>
                      <a:tailEnd type="none" w="med" len="med"/>
                    </a:lnB>
                    <a:solidFill>
                      <a:srgbClr val="F1EDFF"/>
                    </a:solidFill>
                  </a:tcPr>
                </a:tc>
                <a:extLst>
                  <a:ext uri="{0D108BD9-81ED-4DB2-BD59-A6C34878D82A}">
                    <a16:rowId xmlns:a16="http://schemas.microsoft.com/office/drawing/2014/main" val="3977816681"/>
                  </a:ext>
                </a:extLst>
              </a:tr>
              <a:tr h="1097294">
                <a:tc>
                  <a:txBody>
                    <a:bodyPr/>
                    <a:lstStyle/>
                    <a:p>
                      <a:pPr fontAlgn="t"/>
                      <a:r>
                        <a:rPr lang="en-US" sz="1500">
                          <a:effectLst/>
                        </a:rPr>
                        <a:t>Meaning</a:t>
                      </a:r>
                    </a:p>
                  </a:txBody>
                  <a:tcPr marL="63063" marR="63063" marT="94594" marB="94594">
                    <a:lnL w="4763" cap="flat" cmpd="sng" algn="ctr">
                      <a:solidFill>
                        <a:srgbClr val="444444"/>
                      </a:solidFill>
                      <a:prstDash val="solid"/>
                      <a:round/>
                      <a:headEnd type="none" w="med" len="med"/>
                      <a:tailEnd type="none" w="med" len="med"/>
                    </a:lnL>
                    <a:lnR w="4763" cap="flat" cmpd="sng" algn="ctr">
                      <a:solidFill>
                        <a:srgbClr val="444444"/>
                      </a:solidFill>
                      <a:prstDash val="solid"/>
                      <a:round/>
                      <a:headEnd type="none" w="med" len="med"/>
                      <a:tailEnd type="none" w="med" len="med"/>
                    </a:lnR>
                    <a:lnT w="4763" cap="flat" cmpd="sng" algn="ctr">
                      <a:solidFill>
                        <a:srgbClr val="444444"/>
                      </a:solidFill>
                      <a:prstDash val="solid"/>
                      <a:round/>
                      <a:headEnd type="none" w="med" len="med"/>
                      <a:tailEnd type="none" w="med" len="med"/>
                    </a:lnT>
                    <a:lnB w="4763" cap="flat" cmpd="sng" algn="ctr">
                      <a:solidFill>
                        <a:srgbClr val="444444"/>
                      </a:solidFill>
                      <a:prstDash val="solid"/>
                      <a:round/>
                      <a:headEnd type="none" w="med" len="med"/>
                      <a:tailEnd type="none" w="med" len="med"/>
                    </a:lnB>
                    <a:solidFill>
                      <a:srgbClr val="F1EDFF"/>
                    </a:solidFill>
                  </a:tcPr>
                </a:tc>
                <a:tc>
                  <a:txBody>
                    <a:bodyPr/>
                    <a:lstStyle/>
                    <a:p>
                      <a:pPr fontAlgn="t"/>
                      <a:r>
                        <a:rPr lang="en-US" sz="1500">
                          <a:effectLst/>
                        </a:rPr>
                        <a:t>Schema refers to the overall description of any given database.</a:t>
                      </a:r>
                    </a:p>
                  </a:txBody>
                  <a:tcPr marL="63063" marR="63063" marT="94594" marB="94594">
                    <a:lnL w="4763" cap="flat" cmpd="sng" algn="ctr">
                      <a:solidFill>
                        <a:srgbClr val="444444"/>
                      </a:solidFill>
                      <a:prstDash val="solid"/>
                      <a:round/>
                      <a:headEnd type="none" w="med" len="med"/>
                      <a:tailEnd type="none" w="med" len="med"/>
                    </a:lnL>
                    <a:lnR w="4763" cap="flat" cmpd="sng" algn="ctr">
                      <a:solidFill>
                        <a:srgbClr val="444444"/>
                      </a:solidFill>
                      <a:prstDash val="solid"/>
                      <a:round/>
                      <a:headEnd type="none" w="med" len="med"/>
                      <a:tailEnd type="none" w="med" len="med"/>
                    </a:lnR>
                    <a:lnT w="4763" cap="flat" cmpd="sng" algn="ctr">
                      <a:solidFill>
                        <a:srgbClr val="444444"/>
                      </a:solidFill>
                      <a:prstDash val="solid"/>
                      <a:round/>
                      <a:headEnd type="none" w="med" len="med"/>
                      <a:tailEnd type="none" w="med" len="med"/>
                    </a:lnT>
                    <a:lnB w="4763" cap="flat" cmpd="sng" algn="ctr">
                      <a:solidFill>
                        <a:srgbClr val="444444"/>
                      </a:solidFill>
                      <a:prstDash val="solid"/>
                      <a:round/>
                      <a:headEnd type="none" w="med" len="med"/>
                      <a:tailEnd type="none" w="med" len="med"/>
                    </a:lnB>
                    <a:solidFill>
                      <a:srgbClr val="F1EDFF"/>
                    </a:solidFill>
                  </a:tcPr>
                </a:tc>
                <a:tc>
                  <a:txBody>
                    <a:bodyPr/>
                    <a:lstStyle/>
                    <a:p>
                      <a:pPr fontAlgn="t"/>
                      <a:r>
                        <a:rPr lang="en-US" sz="1500">
                          <a:effectLst/>
                        </a:rPr>
                        <a:t>Instance basically refers to a collection of data and information that the database stores at any particular moment.</a:t>
                      </a:r>
                    </a:p>
                  </a:txBody>
                  <a:tcPr marL="63063" marR="63063" marT="94594" marB="94594">
                    <a:lnL w="4763" cap="flat" cmpd="sng" algn="ctr">
                      <a:solidFill>
                        <a:srgbClr val="444444"/>
                      </a:solidFill>
                      <a:prstDash val="solid"/>
                      <a:round/>
                      <a:headEnd type="none" w="med" len="med"/>
                      <a:tailEnd type="none" w="med" len="med"/>
                    </a:lnL>
                    <a:lnR w="4763" cap="flat" cmpd="sng" algn="ctr">
                      <a:solidFill>
                        <a:srgbClr val="444444"/>
                      </a:solidFill>
                      <a:prstDash val="solid"/>
                      <a:round/>
                      <a:headEnd type="none" w="med" len="med"/>
                      <a:tailEnd type="none" w="med" len="med"/>
                    </a:lnR>
                    <a:lnT w="4763" cap="flat" cmpd="sng" algn="ctr">
                      <a:solidFill>
                        <a:srgbClr val="444444"/>
                      </a:solidFill>
                      <a:prstDash val="solid"/>
                      <a:round/>
                      <a:headEnd type="none" w="med" len="med"/>
                      <a:tailEnd type="none" w="med" len="med"/>
                    </a:lnT>
                    <a:lnB w="4763" cap="flat" cmpd="sng" algn="ctr">
                      <a:solidFill>
                        <a:srgbClr val="444444"/>
                      </a:solidFill>
                      <a:prstDash val="solid"/>
                      <a:round/>
                      <a:headEnd type="none" w="med" len="med"/>
                      <a:tailEnd type="none" w="med" len="med"/>
                    </a:lnB>
                    <a:solidFill>
                      <a:srgbClr val="F1EDFF"/>
                    </a:solidFill>
                  </a:tcPr>
                </a:tc>
                <a:extLst>
                  <a:ext uri="{0D108BD9-81ED-4DB2-BD59-A6C34878D82A}">
                    <a16:rowId xmlns:a16="http://schemas.microsoft.com/office/drawing/2014/main" val="3860826292"/>
                  </a:ext>
                </a:extLst>
              </a:tr>
              <a:tr h="1097294">
                <a:tc>
                  <a:txBody>
                    <a:bodyPr/>
                    <a:lstStyle/>
                    <a:p>
                      <a:pPr fontAlgn="t"/>
                      <a:r>
                        <a:rPr lang="en-US" sz="1500">
                          <a:effectLst/>
                        </a:rPr>
                        <a:t>Alterations</a:t>
                      </a:r>
                    </a:p>
                  </a:txBody>
                  <a:tcPr marL="63063" marR="63063" marT="94594" marB="94594">
                    <a:lnL w="4763" cap="flat" cmpd="sng" algn="ctr">
                      <a:solidFill>
                        <a:srgbClr val="444444"/>
                      </a:solidFill>
                      <a:prstDash val="solid"/>
                      <a:round/>
                      <a:headEnd type="none" w="med" len="med"/>
                      <a:tailEnd type="none" w="med" len="med"/>
                    </a:lnL>
                    <a:lnR w="4763" cap="flat" cmpd="sng" algn="ctr">
                      <a:solidFill>
                        <a:srgbClr val="444444"/>
                      </a:solidFill>
                      <a:prstDash val="solid"/>
                      <a:round/>
                      <a:headEnd type="none" w="med" len="med"/>
                      <a:tailEnd type="none" w="med" len="med"/>
                    </a:lnR>
                    <a:lnT w="4763" cap="flat" cmpd="sng" algn="ctr">
                      <a:solidFill>
                        <a:srgbClr val="444444"/>
                      </a:solidFill>
                      <a:prstDash val="solid"/>
                      <a:round/>
                      <a:headEnd type="none" w="med" len="med"/>
                      <a:tailEnd type="none" w="med" len="med"/>
                    </a:lnT>
                    <a:lnB w="4763" cap="flat" cmpd="sng" algn="ctr">
                      <a:solidFill>
                        <a:srgbClr val="444444"/>
                      </a:solidFill>
                      <a:prstDash val="solid"/>
                      <a:round/>
                      <a:headEnd type="none" w="med" len="med"/>
                      <a:tailEnd type="none" w="med" len="med"/>
                    </a:lnB>
                    <a:solidFill>
                      <a:srgbClr val="F1EDFF"/>
                    </a:solidFill>
                  </a:tcPr>
                </a:tc>
                <a:tc>
                  <a:txBody>
                    <a:bodyPr/>
                    <a:lstStyle/>
                    <a:p>
                      <a:pPr fontAlgn="t"/>
                      <a:r>
                        <a:rPr lang="en-US" sz="1500" dirty="0">
                          <a:effectLst/>
                        </a:rPr>
                        <a:t>The schema remains the same for the entire database as a whole.</a:t>
                      </a:r>
                    </a:p>
                  </a:txBody>
                  <a:tcPr marL="63063" marR="63063" marT="94594" marB="94594">
                    <a:lnL w="4763" cap="flat" cmpd="sng" algn="ctr">
                      <a:solidFill>
                        <a:srgbClr val="444444"/>
                      </a:solidFill>
                      <a:prstDash val="solid"/>
                      <a:round/>
                      <a:headEnd type="none" w="med" len="med"/>
                      <a:tailEnd type="none" w="med" len="med"/>
                    </a:lnL>
                    <a:lnR w="4763" cap="flat" cmpd="sng" algn="ctr">
                      <a:solidFill>
                        <a:srgbClr val="444444"/>
                      </a:solidFill>
                      <a:prstDash val="solid"/>
                      <a:round/>
                      <a:headEnd type="none" w="med" len="med"/>
                      <a:tailEnd type="none" w="med" len="med"/>
                    </a:lnR>
                    <a:lnT w="4763" cap="flat" cmpd="sng" algn="ctr">
                      <a:solidFill>
                        <a:srgbClr val="444444"/>
                      </a:solidFill>
                      <a:prstDash val="solid"/>
                      <a:round/>
                      <a:headEnd type="none" w="med" len="med"/>
                      <a:tailEnd type="none" w="med" len="med"/>
                    </a:lnT>
                    <a:lnB w="4763" cap="flat" cmpd="sng" algn="ctr">
                      <a:solidFill>
                        <a:srgbClr val="444444"/>
                      </a:solidFill>
                      <a:prstDash val="solid"/>
                      <a:round/>
                      <a:headEnd type="none" w="med" len="med"/>
                      <a:tailEnd type="none" w="med" len="med"/>
                    </a:lnB>
                    <a:solidFill>
                      <a:srgbClr val="F1EDFF"/>
                    </a:solidFill>
                  </a:tcPr>
                </a:tc>
                <a:tc>
                  <a:txBody>
                    <a:bodyPr/>
                    <a:lstStyle/>
                    <a:p>
                      <a:pPr fontAlgn="t"/>
                      <a:r>
                        <a:rPr lang="en-US" sz="1500">
                          <a:effectLst/>
                        </a:rPr>
                        <a:t>One can change the instances of data and information in a database using updation, deletion, and addition.</a:t>
                      </a:r>
                    </a:p>
                  </a:txBody>
                  <a:tcPr marL="63063" marR="63063" marT="94594" marB="94594">
                    <a:lnL w="4763" cap="flat" cmpd="sng" algn="ctr">
                      <a:solidFill>
                        <a:srgbClr val="444444"/>
                      </a:solidFill>
                      <a:prstDash val="solid"/>
                      <a:round/>
                      <a:headEnd type="none" w="med" len="med"/>
                      <a:tailEnd type="none" w="med" len="med"/>
                    </a:lnL>
                    <a:lnR w="4763" cap="flat" cmpd="sng" algn="ctr">
                      <a:solidFill>
                        <a:srgbClr val="444444"/>
                      </a:solidFill>
                      <a:prstDash val="solid"/>
                      <a:round/>
                      <a:headEnd type="none" w="med" len="med"/>
                      <a:tailEnd type="none" w="med" len="med"/>
                    </a:lnR>
                    <a:lnT w="4763" cap="flat" cmpd="sng" algn="ctr">
                      <a:solidFill>
                        <a:srgbClr val="444444"/>
                      </a:solidFill>
                      <a:prstDash val="solid"/>
                      <a:round/>
                      <a:headEnd type="none" w="med" len="med"/>
                      <a:tailEnd type="none" w="med" len="med"/>
                    </a:lnT>
                    <a:lnB w="4763" cap="flat" cmpd="sng" algn="ctr">
                      <a:solidFill>
                        <a:srgbClr val="444444"/>
                      </a:solidFill>
                      <a:prstDash val="solid"/>
                      <a:round/>
                      <a:headEnd type="none" w="med" len="med"/>
                      <a:tailEnd type="none" w="med" len="med"/>
                    </a:lnB>
                    <a:solidFill>
                      <a:srgbClr val="F1EDFF"/>
                    </a:solidFill>
                  </a:tcPr>
                </a:tc>
                <a:extLst>
                  <a:ext uri="{0D108BD9-81ED-4DB2-BD59-A6C34878D82A}">
                    <a16:rowId xmlns:a16="http://schemas.microsoft.com/office/drawing/2014/main" val="436113440"/>
                  </a:ext>
                </a:extLst>
              </a:tr>
              <a:tr h="643241">
                <a:tc>
                  <a:txBody>
                    <a:bodyPr/>
                    <a:lstStyle/>
                    <a:p>
                      <a:pPr fontAlgn="t"/>
                      <a:r>
                        <a:rPr lang="en-US" sz="1500">
                          <a:effectLst/>
                        </a:rPr>
                        <a:t>Frequency of Change</a:t>
                      </a:r>
                    </a:p>
                  </a:txBody>
                  <a:tcPr marL="63063" marR="63063" marT="94594" marB="94594">
                    <a:lnL w="4763" cap="flat" cmpd="sng" algn="ctr">
                      <a:solidFill>
                        <a:srgbClr val="444444"/>
                      </a:solidFill>
                      <a:prstDash val="solid"/>
                      <a:round/>
                      <a:headEnd type="none" w="med" len="med"/>
                      <a:tailEnd type="none" w="med" len="med"/>
                    </a:lnL>
                    <a:lnR w="4763" cap="flat" cmpd="sng" algn="ctr">
                      <a:solidFill>
                        <a:srgbClr val="444444"/>
                      </a:solidFill>
                      <a:prstDash val="solid"/>
                      <a:round/>
                      <a:headEnd type="none" w="med" len="med"/>
                      <a:tailEnd type="none" w="med" len="med"/>
                    </a:lnR>
                    <a:lnT w="4763" cap="flat" cmpd="sng" algn="ctr">
                      <a:solidFill>
                        <a:srgbClr val="444444"/>
                      </a:solidFill>
                      <a:prstDash val="solid"/>
                      <a:round/>
                      <a:headEnd type="none" w="med" len="med"/>
                      <a:tailEnd type="none" w="med" len="med"/>
                    </a:lnT>
                    <a:lnB w="4763" cap="flat" cmpd="sng" algn="ctr">
                      <a:solidFill>
                        <a:srgbClr val="444444"/>
                      </a:solidFill>
                      <a:prstDash val="solid"/>
                      <a:round/>
                      <a:headEnd type="none" w="med" len="med"/>
                      <a:tailEnd type="none" w="med" len="med"/>
                    </a:lnB>
                    <a:solidFill>
                      <a:srgbClr val="F1EDFF"/>
                    </a:solidFill>
                  </a:tcPr>
                </a:tc>
                <a:tc>
                  <a:txBody>
                    <a:bodyPr/>
                    <a:lstStyle/>
                    <a:p>
                      <a:pPr fontAlgn="t"/>
                      <a:r>
                        <a:rPr lang="en-US" sz="1500">
                          <a:effectLst/>
                        </a:rPr>
                        <a:t>It does not change very frequently.</a:t>
                      </a:r>
                    </a:p>
                  </a:txBody>
                  <a:tcPr marL="63063" marR="63063" marT="94594" marB="94594">
                    <a:lnL w="4763" cap="flat" cmpd="sng" algn="ctr">
                      <a:solidFill>
                        <a:srgbClr val="444444"/>
                      </a:solidFill>
                      <a:prstDash val="solid"/>
                      <a:round/>
                      <a:headEnd type="none" w="med" len="med"/>
                      <a:tailEnd type="none" w="med" len="med"/>
                    </a:lnL>
                    <a:lnR w="4763" cap="flat" cmpd="sng" algn="ctr">
                      <a:solidFill>
                        <a:srgbClr val="444444"/>
                      </a:solidFill>
                      <a:prstDash val="solid"/>
                      <a:round/>
                      <a:headEnd type="none" w="med" len="med"/>
                      <a:tailEnd type="none" w="med" len="med"/>
                    </a:lnR>
                    <a:lnT w="4763" cap="flat" cmpd="sng" algn="ctr">
                      <a:solidFill>
                        <a:srgbClr val="444444"/>
                      </a:solidFill>
                      <a:prstDash val="solid"/>
                      <a:round/>
                      <a:headEnd type="none" w="med" len="med"/>
                      <a:tailEnd type="none" w="med" len="med"/>
                    </a:lnT>
                    <a:lnB w="4763" cap="flat" cmpd="sng" algn="ctr">
                      <a:solidFill>
                        <a:srgbClr val="444444"/>
                      </a:solidFill>
                      <a:prstDash val="solid"/>
                      <a:round/>
                      <a:headEnd type="none" w="med" len="med"/>
                      <a:tailEnd type="none" w="med" len="med"/>
                    </a:lnB>
                    <a:solidFill>
                      <a:srgbClr val="F1EDFF"/>
                    </a:solidFill>
                  </a:tcPr>
                </a:tc>
                <a:tc>
                  <a:txBody>
                    <a:bodyPr/>
                    <a:lstStyle/>
                    <a:p>
                      <a:pPr fontAlgn="t"/>
                      <a:r>
                        <a:rPr lang="en-US" sz="1500">
                          <a:effectLst/>
                        </a:rPr>
                        <a:t>It changes very frequently.</a:t>
                      </a:r>
                    </a:p>
                  </a:txBody>
                  <a:tcPr marL="63063" marR="63063" marT="94594" marB="94594">
                    <a:lnL w="4763" cap="flat" cmpd="sng" algn="ctr">
                      <a:solidFill>
                        <a:srgbClr val="444444"/>
                      </a:solidFill>
                      <a:prstDash val="solid"/>
                      <a:round/>
                      <a:headEnd type="none" w="med" len="med"/>
                      <a:tailEnd type="none" w="med" len="med"/>
                    </a:lnL>
                    <a:lnR w="4763" cap="flat" cmpd="sng" algn="ctr">
                      <a:solidFill>
                        <a:srgbClr val="444444"/>
                      </a:solidFill>
                      <a:prstDash val="solid"/>
                      <a:round/>
                      <a:headEnd type="none" w="med" len="med"/>
                      <a:tailEnd type="none" w="med" len="med"/>
                    </a:lnR>
                    <a:lnT w="4763" cap="flat" cmpd="sng" algn="ctr">
                      <a:solidFill>
                        <a:srgbClr val="444444"/>
                      </a:solidFill>
                      <a:prstDash val="solid"/>
                      <a:round/>
                      <a:headEnd type="none" w="med" len="med"/>
                      <a:tailEnd type="none" w="med" len="med"/>
                    </a:lnT>
                    <a:lnB w="4763" cap="flat" cmpd="sng" algn="ctr">
                      <a:solidFill>
                        <a:srgbClr val="444444"/>
                      </a:solidFill>
                      <a:prstDash val="solid"/>
                      <a:round/>
                      <a:headEnd type="none" w="med" len="med"/>
                      <a:tailEnd type="none" w="med" len="med"/>
                    </a:lnB>
                    <a:solidFill>
                      <a:srgbClr val="F1EDFF"/>
                    </a:solidFill>
                  </a:tcPr>
                </a:tc>
                <a:extLst>
                  <a:ext uri="{0D108BD9-81ED-4DB2-BD59-A6C34878D82A}">
                    <a16:rowId xmlns:a16="http://schemas.microsoft.com/office/drawing/2014/main" val="2055126318"/>
                  </a:ext>
                </a:extLst>
              </a:tr>
              <a:tr h="1097294">
                <a:tc>
                  <a:txBody>
                    <a:bodyPr/>
                    <a:lstStyle/>
                    <a:p>
                      <a:pPr fontAlgn="t"/>
                      <a:r>
                        <a:rPr lang="en-US" sz="1500">
                          <a:effectLst/>
                        </a:rPr>
                        <a:t>Uses</a:t>
                      </a:r>
                    </a:p>
                  </a:txBody>
                  <a:tcPr marL="63063" marR="63063" marT="94594" marB="94594">
                    <a:lnL w="4763" cap="flat" cmpd="sng" algn="ctr">
                      <a:solidFill>
                        <a:srgbClr val="444444"/>
                      </a:solidFill>
                      <a:prstDash val="solid"/>
                      <a:round/>
                      <a:headEnd type="none" w="med" len="med"/>
                      <a:tailEnd type="none" w="med" len="med"/>
                    </a:lnL>
                    <a:lnR w="4763" cap="flat" cmpd="sng" algn="ctr">
                      <a:solidFill>
                        <a:srgbClr val="444444"/>
                      </a:solidFill>
                      <a:prstDash val="solid"/>
                      <a:round/>
                      <a:headEnd type="none" w="med" len="med"/>
                      <a:tailEnd type="none" w="med" len="med"/>
                    </a:lnR>
                    <a:lnT w="4763" cap="flat" cmpd="sng" algn="ctr">
                      <a:solidFill>
                        <a:srgbClr val="444444"/>
                      </a:solidFill>
                      <a:prstDash val="solid"/>
                      <a:round/>
                      <a:headEnd type="none" w="med" len="med"/>
                      <a:tailEnd type="none" w="med" len="med"/>
                    </a:lnT>
                    <a:lnB w="9525" cap="flat" cmpd="sng" algn="ctr">
                      <a:solidFill>
                        <a:srgbClr val="444444"/>
                      </a:solidFill>
                      <a:prstDash val="solid"/>
                      <a:round/>
                      <a:headEnd type="none" w="med" len="med"/>
                      <a:tailEnd type="none" w="med" len="med"/>
                    </a:lnB>
                    <a:solidFill>
                      <a:srgbClr val="F1EDFF"/>
                    </a:solidFill>
                  </a:tcPr>
                </a:tc>
                <a:tc>
                  <a:txBody>
                    <a:bodyPr/>
                    <a:lstStyle/>
                    <a:p>
                      <a:pPr fontAlgn="t"/>
                      <a:r>
                        <a:rPr lang="en-US" sz="1500" dirty="0">
                          <a:effectLst/>
                        </a:rPr>
                        <a:t>We use Schema for defining the basic structure of any given database. It defines how the available needs to get stored.</a:t>
                      </a:r>
                    </a:p>
                  </a:txBody>
                  <a:tcPr marL="63063" marR="63063" marT="94594" marB="94594">
                    <a:lnL w="4763" cap="flat" cmpd="sng" algn="ctr">
                      <a:solidFill>
                        <a:srgbClr val="444444"/>
                      </a:solidFill>
                      <a:prstDash val="solid"/>
                      <a:round/>
                      <a:headEnd type="none" w="med" len="med"/>
                      <a:tailEnd type="none" w="med" len="med"/>
                    </a:lnL>
                    <a:lnR w="4763" cap="flat" cmpd="sng" algn="ctr">
                      <a:solidFill>
                        <a:srgbClr val="444444"/>
                      </a:solidFill>
                      <a:prstDash val="solid"/>
                      <a:round/>
                      <a:headEnd type="none" w="med" len="med"/>
                      <a:tailEnd type="none" w="med" len="med"/>
                    </a:lnR>
                    <a:lnT w="4763" cap="flat" cmpd="sng" algn="ctr">
                      <a:solidFill>
                        <a:srgbClr val="444444"/>
                      </a:solidFill>
                      <a:prstDash val="solid"/>
                      <a:round/>
                      <a:headEnd type="none" w="med" len="med"/>
                      <a:tailEnd type="none" w="med" len="med"/>
                    </a:lnT>
                    <a:lnB w="9525" cap="flat" cmpd="sng" algn="ctr">
                      <a:solidFill>
                        <a:srgbClr val="444444"/>
                      </a:solidFill>
                      <a:prstDash val="solid"/>
                      <a:round/>
                      <a:headEnd type="none" w="med" len="med"/>
                      <a:tailEnd type="none" w="med" len="med"/>
                    </a:lnB>
                    <a:solidFill>
                      <a:srgbClr val="F1EDFF"/>
                    </a:solidFill>
                  </a:tcPr>
                </a:tc>
                <a:tc>
                  <a:txBody>
                    <a:bodyPr/>
                    <a:lstStyle/>
                    <a:p>
                      <a:pPr fontAlgn="t"/>
                      <a:r>
                        <a:rPr lang="en-US" sz="1500" dirty="0">
                          <a:effectLst/>
                        </a:rPr>
                        <a:t>We use Instance for referring to a set of information at any given instance/ time.</a:t>
                      </a:r>
                    </a:p>
                  </a:txBody>
                  <a:tcPr marL="63063" marR="63063" marT="94594" marB="94594">
                    <a:lnL w="4763" cap="flat" cmpd="sng" algn="ctr">
                      <a:solidFill>
                        <a:srgbClr val="444444"/>
                      </a:solidFill>
                      <a:prstDash val="solid"/>
                      <a:round/>
                      <a:headEnd type="none" w="med" len="med"/>
                      <a:tailEnd type="none" w="med" len="med"/>
                    </a:lnL>
                    <a:lnR w="4763" cap="flat" cmpd="sng" algn="ctr">
                      <a:solidFill>
                        <a:srgbClr val="444444"/>
                      </a:solidFill>
                      <a:prstDash val="solid"/>
                      <a:round/>
                      <a:headEnd type="none" w="med" len="med"/>
                      <a:tailEnd type="none" w="med" len="med"/>
                    </a:lnR>
                    <a:lnT w="4763" cap="flat" cmpd="sng" algn="ctr">
                      <a:solidFill>
                        <a:srgbClr val="444444"/>
                      </a:solidFill>
                      <a:prstDash val="solid"/>
                      <a:round/>
                      <a:headEnd type="none" w="med" len="med"/>
                      <a:tailEnd type="none" w="med" len="med"/>
                    </a:lnT>
                    <a:lnB w="9525" cap="flat" cmpd="sng" algn="ctr">
                      <a:solidFill>
                        <a:srgbClr val="444444"/>
                      </a:solidFill>
                      <a:prstDash val="solid"/>
                      <a:round/>
                      <a:headEnd type="none" w="med" len="med"/>
                      <a:tailEnd type="none" w="med" len="med"/>
                    </a:lnB>
                    <a:solidFill>
                      <a:srgbClr val="F1EDFF"/>
                    </a:solidFill>
                  </a:tcPr>
                </a:tc>
                <a:extLst>
                  <a:ext uri="{0D108BD9-81ED-4DB2-BD59-A6C34878D82A}">
                    <a16:rowId xmlns:a16="http://schemas.microsoft.com/office/drawing/2014/main" val="743323975"/>
                  </a:ext>
                </a:extLst>
              </a:tr>
            </a:tbl>
          </a:graphicData>
        </a:graphic>
      </p:graphicFrame>
    </p:spTree>
    <p:extLst>
      <p:ext uri="{BB962C8B-B14F-4D97-AF65-F5344CB8AC3E}">
        <p14:creationId xmlns:p14="http://schemas.microsoft.com/office/powerpoint/2010/main" val="2847533061"/>
      </p:ext>
    </p:extLst>
  </p:cSld>
  <p:clrMapOvr>
    <a:masterClrMapping/>
  </p:clrMapOvr>
</p:sld>
</file>

<file path=ppt/slides/slide9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Number Placeholder 1"/>
          <p:cNvSpPr>
            <a:spLocks noGrp="1"/>
          </p:cNvSpPr>
          <p:nvPr>
            <p:ph type="sldNum" sz="quarter" idx="14"/>
          </p:nvPr>
        </p:nvSpPr>
        <p:spPr/>
        <p:txBody>
          <a:bodyPr/>
          <a:lstStyle/>
          <a:p>
            <a:fld id="{45A3C14A-F937-4231-B6F1-40B429FAFB2F}" type="slidenum">
              <a:rPr lang="en-NZ" smtClean="0"/>
              <a:pPr/>
              <a:t>91</a:t>
            </a:fld>
            <a:endParaRPr lang="en-NZ" dirty="0"/>
          </a:p>
        </p:txBody>
      </p:sp>
      <p:sp>
        <p:nvSpPr>
          <p:cNvPr id="3" name="Title 2"/>
          <p:cNvSpPr>
            <a:spLocks noGrp="1"/>
          </p:cNvSpPr>
          <p:nvPr>
            <p:ph type="title"/>
          </p:nvPr>
        </p:nvSpPr>
        <p:spPr/>
        <p:txBody>
          <a:bodyPr/>
          <a:lstStyle/>
          <a:p>
            <a:r>
              <a:rPr lang="en-US" b="1" dirty="0">
                <a:solidFill>
                  <a:srgbClr val="FF0000"/>
                </a:solidFill>
              </a:rPr>
              <a:t>Data Independence</a:t>
            </a:r>
            <a:br>
              <a:rPr lang="en-US" b="1" dirty="0"/>
            </a:br>
            <a:endParaRPr lang="en-US" b="1" dirty="0"/>
          </a:p>
        </p:txBody>
      </p:sp>
      <p:sp>
        <p:nvSpPr>
          <p:cNvPr id="4" name="Text Placeholder 3"/>
          <p:cNvSpPr>
            <a:spLocks noGrp="1"/>
          </p:cNvSpPr>
          <p:nvPr>
            <p:ph type="body" sz="quarter" idx="17"/>
          </p:nvPr>
        </p:nvSpPr>
        <p:spPr>
          <a:xfrm>
            <a:off x="664459" y="1124744"/>
            <a:ext cx="10801201" cy="4320480"/>
          </a:xfrm>
        </p:spPr>
        <p:txBody>
          <a:bodyPr/>
          <a:lstStyle/>
          <a:p>
            <a:pPr marL="0" indent="0" algn="just">
              <a:buNone/>
            </a:pPr>
            <a:r>
              <a:rPr lang="en-US" b="1" dirty="0">
                <a:solidFill>
                  <a:schemeClr val="tx1"/>
                </a:solidFill>
              </a:rPr>
              <a:t>Data Independence</a:t>
            </a:r>
            <a:r>
              <a:rPr lang="en-US" dirty="0">
                <a:solidFill>
                  <a:schemeClr val="tx1"/>
                </a:solidFill>
              </a:rPr>
              <a:t> refers to the ability to modify the database schema at one level without affecting the schema at the next higher level. This concept ensures that changes in the structure or storage of the database do not affect the application or user interface.</a:t>
            </a:r>
          </a:p>
          <a:p>
            <a:pPr marL="0" indent="0" algn="just">
              <a:buNone/>
            </a:pPr>
            <a:r>
              <a:rPr lang="en-US" dirty="0">
                <a:solidFill>
                  <a:schemeClr val="tx1"/>
                </a:solidFill>
              </a:rPr>
              <a:t>Data independence is a crucial feature of DBMS and is categorized into </a:t>
            </a:r>
            <a:r>
              <a:rPr lang="en-US" b="1" dirty="0">
                <a:solidFill>
                  <a:schemeClr val="tx1"/>
                </a:solidFill>
              </a:rPr>
              <a:t>two levels</a:t>
            </a:r>
            <a:r>
              <a:rPr lang="en-US" dirty="0">
                <a:solidFill>
                  <a:schemeClr val="tx1"/>
                </a:solidFill>
              </a:rPr>
              <a:t>:</a:t>
            </a:r>
          </a:p>
          <a:p>
            <a:pPr algn="just">
              <a:buFont typeface="+mj-lt"/>
              <a:buAutoNum type="arabicPeriod"/>
            </a:pPr>
            <a:r>
              <a:rPr lang="en-US" b="1" dirty="0">
                <a:solidFill>
                  <a:schemeClr val="tx1"/>
                </a:solidFill>
              </a:rPr>
              <a:t>Logical Data Independence</a:t>
            </a:r>
            <a:endParaRPr lang="en-US" dirty="0">
              <a:solidFill>
                <a:schemeClr val="tx1"/>
              </a:solidFill>
            </a:endParaRPr>
          </a:p>
          <a:p>
            <a:pPr algn="just">
              <a:buFont typeface="+mj-lt"/>
              <a:buAutoNum type="arabicPeriod"/>
            </a:pPr>
            <a:r>
              <a:rPr lang="en-US" b="1" dirty="0">
                <a:solidFill>
                  <a:schemeClr val="tx1"/>
                </a:solidFill>
              </a:rPr>
              <a:t>Physical Data Independence</a:t>
            </a:r>
            <a:endParaRPr lang="en-US" dirty="0">
              <a:solidFill>
                <a:schemeClr val="tx1"/>
              </a:solidFill>
            </a:endParaRPr>
          </a:p>
          <a:p>
            <a:pPr lvl="1"/>
            <a:endParaRPr lang="en-US" dirty="0"/>
          </a:p>
          <a:p>
            <a:pPr lvl="1"/>
            <a:endParaRPr lang="en-US" dirty="0"/>
          </a:p>
        </p:txBody>
      </p:sp>
    </p:spTree>
    <p:extLst>
      <p:ext uri="{BB962C8B-B14F-4D97-AF65-F5344CB8AC3E}">
        <p14:creationId xmlns:p14="http://schemas.microsoft.com/office/powerpoint/2010/main" val="2892791191"/>
      </p:ext>
    </p:extLst>
  </p:cSld>
  <p:clrMapOvr>
    <a:masterClrMapping/>
  </p:clrMapOvr>
</p:sld>
</file>

<file path=ppt/slides/slide9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Number Placeholder 1"/>
          <p:cNvSpPr>
            <a:spLocks noGrp="1"/>
          </p:cNvSpPr>
          <p:nvPr>
            <p:ph type="sldNum" sz="quarter" idx="14"/>
          </p:nvPr>
        </p:nvSpPr>
        <p:spPr/>
        <p:txBody>
          <a:bodyPr/>
          <a:lstStyle/>
          <a:p>
            <a:fld id="{45A3C14A-F937-4231-B6F1-40B429FAFB2F}" type="slidenum">
              <a:rPr lang="en-NZ" smtClean="0"/>
              <a:pPr/>
              <a:t>92</a:t>
            </a:fld>
            <a:endParaRPr lang="en-NZ" dirty="0"/>
          </a:p>
        </p:txBody>
      </p:sp>
      <p:sp>
        <p:nvSpPr>
          <p:cNvPr id="3" name="Title 2"/>
          <p:cNvSpPr>
            <a:spLocks noGrp="1"/>
          </p:cNvSpPr>
          <p:nvPr>
            <p:ph type="title"/>
          </p:nvPr>
        </p:nvSpPr>
        <p:spPr/>
        <p:txBody>
          <a:bodyPr/>
          <a:lstStyle/>
          <a:p>
            <a:r>
              <a:rPr lang="en-US" b="1" dirty="0">
                <a:solidFill>
                  <a:srgbClr val="FF0000"/>
                </a:solidFill>
              </a:rPr>
              <a:t>1. Logical Data Independence</a:t>
            </a:r>
            <a:br>
              <a:rPr lang="en-US" dirty="0"/>
            </a:br>
            <a:endParaRPr lang="en-US" dirty="0"/>
          </a:p>
        </p:txBody>
      </p:sp>
      <p:sp>
        <p:nvSpPr>
          <p:cNvPr id="4" name="Text Placeholder 3"/>
          <p:cNvSpPr>
            <a:spLocks noGrp="1"/>
          </p:cNvSpPr>
          <p:nvPr>
            <p:ph type="body" sz="quarter" idx="17"/>
          </p:nvPr>
        </p:nvSpPr>
        <p:spPr>
          <a:xfrm>
            <a:off x="695400" y="1052736"/>
            <a:ext cx="10801201" cy="4320480"/>
          </a:xfrm>
        </p:spPr>
        <p:txBody>
          <a:bodyPr/>
          <a:lstStyle/>
          <a:p>
            <a:pPr marL="0" indent="0" algn="just">
              <a:lnSpc>
                <a:spcPct val="115000"/>
              </a:lnSpc>
              <a:spcAft>
                <a:spcPts val="800"/>
              </a:spcAft>
              <a:buNone/>
            </a:pPr>
            <a:r>
              <a:rPr lang="en-IN" sz="2000" b="1" kern="100" dirty="0">
                <a:solidFill>
                  <a:schemeClr val="tx1"/>
                </a:solidFill>
                <a:effectLst/>
                <a:latin typeface="Aptos" panose="020B0004020202020204" pitchFamily="34" charset="0"/>
                <a:ea typeface="Aptos" panose="020B0004020202020204" pitchFamily="34" charset="0"/>
                <a:cs typeface="Times New Roman" panose="02020603050405020304" pitchFamily="18" charset="0"/>
              </a:rPr>
              <a:t>Logical data independence refers to the capacity to change the logical schema without requiring changes to the application programs or external schemas.</a:t>
            </a:r>
            <a:endParaRPr lang="en-IN" sz="2000" kern="100" dirty="0">
              <a:solidFill>
                <a:schemeClr val="tx1"/>
              </a:solidFill>
              <a:effectLst/>
              <a:latin typeface="Aptos" panose="020B0004020202020204" pitchFamily="34" charset="0"/>
              <a:ea typeface="Aptos" panose="020B0004020202020204" pitchFamily="34" charset="0"/>
              <a:cs typeface="Times New Roman" panose="02020603050405020304" pitchFamily="18" charset="0"/>
            </a:endParaRPr>
          </a:p>
          <a:p>
            <a:pPr marL="0" lvl="0" indent="0" algn="just">
              <a:lnSpc>
                <a:spcPct val="115000"/>
              </a:lnSpc>
              <a:spcAft>
                <a:spcPts val="800"/>
              </a:spcAft>
              <a:buSzPts val="1000"/>
              <a:buNone/>
              <a:tabLst>
                <a:tab pos="457200" algn="l"/>
              </a:tabLst>
            </a:pPr>
            <a:r>
              <a:rPr lang="en-IN" sz="2000" b="1" kern="100" dirty="0">
                <a:solidFill>
                  <a:srgbClr val="FF0000"/>
                </a:solidFill>
                <a:effectLst/>
                <a:latin typeface="Aptos" panose="020B0004020202020204" pitchFamily="34" charset="0"/>
                <a:ea typeface="Aptos" panose="020B0004020202020204" pitchFamily="34" charset="0"/>
                <a:cs typeface="Times New Roman" panose="02020603050405020304" pitchFamily="18" charset="0"/>
              </a:rPr>
              <a:t>Logical Schema</a:t>
            </a:r>
            <a:r>
              <a:rPr lang="en-IN" sz="2000" b="1" kern="100" dirty="0">
                <a:solidFill>
                  <a:schemeClr val="tx1"/>
                </a:solidFill>
                <a:effectLst/>
                <a:latin typeface="Aptos" panose="020B0004020202020204" pitchFamily="34" charset="0"/>
                <a:ea typeface="Aptos" panose="020B0004020202020204" pitchFamily="34" charset="0"/>
                <a:cs typeface="Times New Roman" panose="02020603050405020304" pitchFamily="18" charset="0"/>
              </a:rPr>
              <a:t>: Defines the structure of the database, including tables, columns, relationships, and constraints (e.g., tables for employees, departments, etc.).</a:t>
            </a:r>
            <a:endParaRPr lang="en-IN" sz="2000" kern="100" dirty="0">
              <a:solidFill>
                <a:schemeClr val="tx1"/>
              </a:solidFill>
              <a:effectLst/>
              <a:latin typeface="Aptos" panose="020B0004020202020204" pitchFamily="34" charset="0"/>
              <a:ea typeface="Aptos" panose="020B0004020202020204" pitchFamily="34" charset="0"/>
              <a:cs typeface="Times New Roman" panose="02020603050405020304" pitchFamily="18" charset="0"/>
            </a:endParaRPr>
          </a:p>
          <a:p>
            <a:pPr marL="0" lvl="0" indent="0" algn="just">
              <a:lnSpc>
                <a:spcPct val="115000"/>
              </a:lnSpc>
              <a:spcAft>
                <a:spcPts val="800"/>
              </a:spcAft>
              <a:buSzPts val="1000"/>
              <a:buNone/>
              <a:tabLst>
                <a:tab pos="457200" algn="l"/>
              </a:tabLst>
            </a:pPr>
            <a:r>
              <a:rPr lang="en-IN" sz="2000" b="1" kern="100" dirty="0">
                <a:solidFill>
                  <a:srgbClr val="FF0000"/>
                </a:solidFill>
                <a:effectLst/>
                <a:latin typeface="Aptos" panose="020B0004020202020204" pitchFamily="34" charset="0"/>
                <a:ea typeface="Aptos" panose="020B0004020202020204" pitchFamily="34" charset="0"/>
                <a:cs typeface="Times New Roman" panose="02020603050405020304" pitchFamily="18" charset="0"/>
              </a:rPr>
              <a:t>Impact</a:t>
            </a:r>
            <a:r>
              <a:rPr lang="en-IN" sz="2000" b="1" kern="100" dirty="0">
                <a:solidFill>
                  <a:schemeClr val="tx1"/>
                </a:solidFill>
                <a:effectLst/>
                <a:latin typeface="Aptos" panose="020B0004020202020204" pitchFamily="34" charset="0"/>
                <a:ea typeface="Aptos" panose="020B0004020202020204" pitchFamily="34" charset="0"/>
                <a:cs typeface="Times New Roman" panose="02020603050405020304" pitchFamily="18" charset="0"/>
              </a:rPr>
              <a:t>: Changing the logical schema should not affect the external views or user applications.</a:t>
            </a:r>
            <a:endParaRPr lang="en-IN" sz="2000" kern="100" dirty="0">
              <a:solidFill>
                <a:schemeClr val="tx1"/>
              </a:solidFill>
              <a:effectLst/>
              <a:latin typeface="Aptos" panose="020B0004020202020204" pitchFamily="34" charset="0"/>
              <a:ea typeface="Aptos" panose="020B0004020202020204" pitchFamily="34" charset="0"/>
              <a:cs typeface="Times New Roman" panose="02020603050405020304" pitchFamily="18" charset="0"/>
            </a:endParaRPr>
          </a:p>
          <a:p>
            <a:pPr marL="0" indent="0" algn="just">
              <a:lnSpc>
                <a:spcPct val="115000"/>
              </a:lnSpc>
              <a:spcAft>
                <a:spcPts val="800"/>
              </a:spcAft>
              <a:buNone/>
            </a:pPr>
            <a:r>
              <a:rPr lang="en-IN" sz="2000" b="1" kern="100" dirty="0">
                <a:solidFill>
                  <a:srgbClr val="FF0000"/>
                </a:solidFill>
                <a:effectLst/>
                <a:latin typeface="Aptos" panose="020B0004020202020204" pitchFamily="34" charset="0"/>
                <a:ea typeface="Aptos" panose="020B0004020202020204" pitchFamily="34" charset="0"/>
                <a:cs typeface="Times New Roman" panose="02020603050405020304" pitchFamily="18" charset="0"/>
              </a:rPr>
              <a:t>Examples of Logical Changes:</a:t>
            </a:r>
            <a:endParaRPr lang="en-IN" sz="2000" kern="100" dirty="0">
              <a:solidFill>
                <a:srgbClr val="FF0000"/>
              </a:solidFill>
              <a:effectLst/>
              <a:latin typeface="Aptos" panose="020B0004020202020204" pitchFamily="34" charset="0"/>
              <a:ea typeface="Aptos" panose="020B0004020202020204" pitchFamily="34" charset="0"/>
              <a:cs typeface="Times New Roman" panose="02020603050405020304" pitchFamily="18" charset="0"/>
            </a:endParaRPr>
          </a:p>
          <a:p>
            <a:pPr marL="342900" lvl="0" indent="-342900" algn="just">
              <a:lnSpc>
                <a:spcPct val="115000"/>
              </a:lnSpc>
              <a:spcAft>
                <a:spcPts val="800"/>
              </a:spcAft>
              <a:buFont typeface="+mj-lt"/>
              <a:buAutoNum type="arabicPeriod"/>
              <a:tabLst>
                <a:tab pos="457200" algn="l"/>
              </a:tabLst>
            </a:pPr>
            <a:r>
              <a:rPr lang="en-IN" sz="2000" b="1" kern="100" dirty="0">
                <a:solidFill>
                  <a:schemeClr val="tx1"/>
                </a:solidFill>
                <a:effectLst/>
                <a:latin typeface="Aptos" panose="020B0004020202020204" pitchFamily="34" charset="0"/>
                <a:ea typeface="Aptos" panose="020B0004020202020204" pitchFamily="34" charset="0"/>
                <a:cs typeface="Times New Roman" panose="02020603050405020304" pitchFamily="18" charset="0"/>
              </a:rPr>
              <a:t>Adding or removing a new column in a table.</a:t>
            </a:r>
            <a:endParaRPr lang="en-IN" sz="2000" kern="100" dirty="0">
              <a:solidFill>
                <a:schemeClr val="tx1"/>
              </a:solidFill>
              <a:effectLst/>
              <a:latin typeface="Aptos" panose="020B0004020202020204" pitchFamily="34" charset="0"/>
              <a:ea typeface="Aptos" panose="020B0004020202020204" pitchFamily="34" charset="0"/>
              <a:cs typeface="Times New Roman" panose="02020603050405020304" pitchFamily="18" charset="0"/>
            </a:endParaRPr>
          </a:p>
          <a:p>
            <a:pPr marL="342900" lvl="0" indent="-342900" algn="just">
              <a:lnSpc>
                <a:spcPct val="115000"/>
              </a:lnSpc>
              <a:spcAft>
                <a:spcPts val="800"/>
              </a:spcAft>
              <a:buFont typeface="+mj-lt"/>
              <a:buAutoNum type="arabicPeriod"/>
              <a:tabLst>
                <a:tab pos="457200" algn="l"/>
              </a:tabLst>
            </a:pPr>
            <a:r>
              <a:rPr lang="en-IN" sz="2000" b="1" kern="100" dirty="0">
                <a:solidFill>
                  <a:schemeClr val="tx1"/>
                </a:solidFill>
                <a:effectLst/>
                <a:latin typeface="Aptos" panose="020B0004020202020204" pitchFamily="34" charset="0"/>
                <a:ea typeface="Aptos" panose="020B0004020202020204" pitchFamily="34" charset="0"/>
                <a:cs typeface="Times New Roman" panose="02020603050405020304" pitchFamily="18" charset="0"/>
              </a:rPr>
              <a:t>Splitting or merging tables.</a:t>
            </a:r>
            <a:endParaRPr lang="en-IN" sz="2000" kern="100" dirty="0">
              <a:solidFill>
                <a:schemeClr val="tx1"/>
              </a:solidFill>
              <a:effectLst/>
              <a:latin typeface="Aptos" panose="020B0004020202020204" pitchFamily="34" charset="0"/>
              <a:ea typeface="Aptos" panose="020B0004020202020204" pitchFamily="34" charset="0"/>
              <a:cs typeface="Times New Roman" panose="02020603050405020304" pitchFamily="18" charset="0"/>
            </a:endParaRPr>
          </a:p>
          <a:p>
            <a:pPr marL="342900" lvl="0" indent="-342900" algn="just">
              <a:lnSpc>
                <a:spcPct val="115000"/>
              </a:lnSpc>
              <a:spcAft>
                <a:spcPts val="800"/>
              </a:spcAft>
              <a:buFont typeface="+mj-lt"/>
              <a:buAutoNum type="arabicPeriod"/>
              <a:tabLst>
                <a:tab pos="457200" algn="l"/>
              </a:tabLst>
            </a:pPr>
            <a:r>
              <a:rPr lang="en-IN" sz="2000" b="1" kern="100" dirty="0">
                <a:solidFill>
                  <a:schemeClr val="tx1"/>
                </a:solidFill>
                <a:effectLst/>
                <a:latin typeface="Aptos" panose="020B0004020202020204" pitchFamily="34" charset="0"/>
                <a:ea typeface="Aptos" panose="020B0004020202020204" pitchFamily="34" charset="0"/>
                <a:cs typeface="Times New Roman" panose="02020603050405020304" pitchFamily="18" charset="0"/>
              </a:rPr>
              <a:t>Changing constraints (e.g., foreign key constraints).</a:t>
            </a:r>
            <a:endParaRPr lang="en-IN" sz="2000" kern="100" dirty="0">
              <a:solidFill>
                <a:schemeClr val="tx1"/>
              </a:solidFill>
              <a:effectLst/>
              <a:latin typeface="Aptos" panose="020B0004020202020204" pitchFamily="34" charset="0"/>
              <a:ea typeface="Aptos" panose="020B0004020202020204" pitchFamily="34" charset="0"/>
              <a:cs typeface="Times New Roman" panose="02020603050405020304" pitchFamily="18" charset="0"/>
            </a:endParaRPr>
          </a:p>
          <a:p>
            <a:endParaRPr lang="en-US" dirty="0"/>
          </a:p>
        </p:txBody>
      </p:sp>
    </p:spTree>
    <p:extLst>
      <p:ext uri="{BB962C8B-B14F-4D97-AF65-F5344CB8AC3E}">
        <p14:creationId xmlns:p14="http://schemas.microsoft.com/office/powerpoint/2010/main" val="1987619679"/>
      </p:ext>
    </p:extLst>
  </p:cSld>
  <p:clrMapOvr>
    <a:masterClrMapping/>
  </p:clrMapOvr>
</p:sld>
</file>

<file path=ppt/slides/slide9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F5BB03C-B93D-7A92-F9F1-E3CC09BD18C0}"/>
            </a:ext>
          </a:extLst>
        </p:cNvPr>
        <p:cNvGrpSpPr/>
        <p:nvPr/>
      </p:nvGrpSpPr>
      <p:grpSpPr>
        <a:xfrm>
          <a:off x="0" y="0"/>
          <a:ext cx="0" cy="0"/>
          <a:chOff x="0" y="0"/>
          <a:chExt cx="0" cy="0"/>
        </a:xfrm>
      </p:grpSpPr>
      <p:sp>
        <p:nvSpPr>
          <p:cNvPr id="2" name="Slide Number Placeholder 1">
            <a:extLst>
              <a:ext uri="{FF2B5EF4-FFF2-40B4-BE49-F238E27FC236}">
                <a16:creationId xmlns:a16="http://schemas.microsoft.com/office/drawing/2014/main" id="{B8C3C143-4570-94EC-7ADF-B411756069F8}"/>
              </a:ext>
            </a:extLst>
          </p:cNvPr>
          <p:cNvSpPr>
            <a:spLocks noGrp="1"/>
          </p:cNvSpPr>
          <p:nvPr>
            <p:ph type="sldNum" sz="quarter" idx="14"/>
          </p:nvPr>
        </p:nvSpPr>
        <p:spPr/>
        <p:txBody>
          <a:bodyPr/>
          <a:lstStyle/>
          <a:p>
            <a:fld id="{45A3C14A-F937-4231-B6F1-40B429FAFB2F}" type="slidenum">
              <a:rPr lang="en-NZ" smtClean="0"/>
              <a:pPr/>
              <a:t>93</a:t>
            </a:fld>
            <a:endParaRPr lang="en-NZ" dirty="0"/>
          </a:p>
        </p:txBody>
      </p:sp>
      <p:sp>
        <p:nvSpPr>
          <p:cNvPr id="3" name="Title 2">
            <a:extLst>
              <a:ext uri="{FF2B5EF4-FFF2-40B4-BE49-F238E27FC236}">
                <a16:creationId xmlns:a16="http://schemas.microsoft.com/office/drawing/2014/main" id="{9B2DEE83-9F77-931E-B653-963A47AAF838}"/>
              </a:ext>
            </a:extLst>
          </p:cNvPr>
          <p:cNvSpPr>
            <a:spLocks noGrp="1"/>
          </p:cNvSpPr>
          <p:nvPr>
            <p:ph type="title"/>
          </p:nvPr>
        </p:nvSpPr>
        <p:spPr/>
        <p:txBody>
          <a:bodyPr/>
          <a:lstStyle/>
          <a:p>
            <a:r>
              <a:rPr lang="en-US" b="1" dirty="0">
                <a:solidFill>
                  <a:srgbClr val="FF0000"/>
                </a:solidFill>
              </a:rPr>
              <a:t>1. Logical Data Independence</a:t>
            </a:r>
            <a:br>
              <a:rPr lang="en-US" dirty="0"/>
            </a:br>
            <a:endParaRPr lang="en-US" dirty="0"/>
          </a:p>
        </p:txBody>
      </p:sp>
      <p:sp>
        <p:nvSpPr>
          <p:cNvPr id="4" name="Text Placeholder 3">
            <a:extLst>
              <a:ext uri="{FF2B5EF4-FFF2-40B4-BE49-F238E27FC236}">
                <a16:creationId xmlns:a16="http://schemas.microsoft.com/office/drawing/2014/main" id="{9A87EA9A-E19F-E098-03E4-8D240E97247C}"/>
              </a:ext>
            </a:extLst>
          </p:cNvPr>
          <p:cNvSpPr>
            <a:spLocks noGrp="1"/>
          </p:cNvSpPr>
          <p:nvPr>
            <p:ph type="body" sz="quarter" idx="17"/>
          </p:nvPr>
        </p:nvSpPr>
        <p:spPr>
          <a:xfrm>
            <a:off x="695400" y="1052736"/>
            <a:ext cx="10801201" cy="4320480"/>
          </a:xfrm>
        </p:spPr>
        <p:txBody>
          <a:bodyPr/>
          <a:lstStyle/>
          <a:p>
            <a:pPr marL="0" indent="0">
              <a:lnSpc>
                <a:spcPct val="115000"/>
              </a:lnSpc>
              <a:spcAft>
                <a:spcPts val="800"/>
              </a:spcAft>
              <a:buNone/>
            </a:pPr>
            <a:r>
              <a:rPr lang="en-IN" b="1" kern="100" dirty="0">
                <a:solidFill>
                  <a:srgbClr val="FF0000"/>
                </a:solidFill>
                <a:effectLst/>
                <a:latin typeface="Aptos" panose="020B0004020202020204" pitchFamily="34" charset="0"/>
                <a:ea typeface="Aptos" panose="020B0004020202020204" pitchFamily="34" charset="0"/>
                <a:cs typeface="Times New Roman" panose="02020603050405020304" pitchFamily="18" charset="0"/>
              </a:rPr>
              <a:t>Real-World Example:</a:t>
            </a:r>
            <a:endParaRPr lang="en-IN" kern="100" dirty="0">
              <a:solidFill>
                <a:srgbClr val="FF0000"/>
              </a:solidFill>
              <a:effectLst/>
              <a:latin typeface="Aptos" panose="020B0004020202020204" pitchFamily="34" charset="0"/>
              <a:ea typeface="Aptos" panose="020B0004020202020204" pitchFamily="34" charset="0"/>
              <a:cs typeface="Times New Roman" panose="02020603050405020304" pitchFamily="18" charset="0"/>
            </a:endParaRPr>
          </a:p>
          <a:p>
            <a:pPr marL="457200">
              <a:lnSpc>
                <a:spcPct val="115000"/>
              </a:lnSpc>
              <a:spcAft>
                <a:spcPts val="800"/>
              </a:spcAft>
            </a:pPr>
            <a:r>
              <a:rPr lang="en-IN" b="1" kern="100" dirty="0">
                <a:solidFill>
                  <a:schemeClr val="tx1"/>
                </a:solidFill>
                <a:effectLst/>
                <a:latin typeface="Aptos" panose="020B0004020202020204" pitchFamily="34" charset="0"/>
                <a:ea typeface="Aptos" panose="020B0004020202020204" pitchFamily="34" charset="0"/>
                <a:cs typeface="Times New Roman" panose="02020603050405020304" pitchFamily="18" charset="0"/>
              </a:rPr>
              <a:t>Consider a university database:</a:t>
            </a:r>
            <a:endParaRPr lang="en-IN" kern="100" dirty="0">
              <a:solidFill>
                <a:schemeClr val="tx1"/>
              </a:solidFill>
              <a:effectLst/>
              <a:latin typeface="Aptos" panose="020B0004020202020204" pitchFamily="34" charset="0"/>
              <a:ea typeface="Aptos" panose="020B0004020202020204" pitchFamily="34" charset="0"/>
              <a:cs typeface="Times New Roman" panose="02020603050405020304" pitchFamily="18" charset="0"/>
            </a:endParaRPr>
          </a:p>
          <a:p>
            <a:pPr marL="342900" lvl="0" indent="-342900">
              <a:lnSpc>
                <a:spcPct val="115000"/>
              </a:lnSpc>
              <a:spcAft>
                <a:spcPts val="800"/>
              </a:spcAft>
              <a:buSzPts val="1000"/>
              <a:buFont typeface="Symbol" panose="05050102010706020507" pitchFamily="18" charset="2"/>
              <a:buChar char=""/>
              <a:tabLst>
                <a:tab pos="457200" algn="l"/>
              </a:tabLst>
            </a:pPr>
            <a:r>
              <a:rPr lang="en-IN" b="1" kern="100" dirty="0">
                <a:solidFill>
                  <a:srgbClr val="FF0000"/>
                </a:solidFill>
                <a:effectLst/>
                <a:latin typeface="Aptos" panose="020B0004020202020204" pitchFamily="34" charset="0"/>
                <a:ea typeface="Aptos" panose="020B0004020202020204" pitchFamily="34" charset="0"/>
                <a:cs typeface="Times New Roman" panose="02020603050405020304" pitchFamily="18" charset="0"/>
              </a:rPr>
              <a:t>Original Schema</a:t>
            </a:r>
            <a:r>
              <a:rPr lang="en-IN" b="1" kern="100" dirty="0">
                <a:solidFill>
                  <a:schemeClr val="tx1"/>
                </a:solidFill>
                <a:effectLst/>
                <a:latin typeface="Aptos" panose="020B0004020202020204" pitchFamily="34" charset="0"/>
                <a:ea typeface="Aptos" panose="020B0004020202020204" pitchFamily="34" charset="0"/>
                <a:cs typeface="Times New Roman" panose="02020603050405020304" pitchFamily="18" charset="0"/>
              </a:rPr>
              <a:t>: A single Students table with columns: </a:t>
            </a:r>
            <a:r>
              <a:rPr lang="en-IN" b="1" kern="100" dirty="0" err="1">
                <a:solidFill>
                  <a:schemeClr val="tx1"/>
                </a:solidFill>
                <a:effectLst/>
                <a:latin typeface="Aptos" panose="020B0004020202020204" pitchFamily="34" charset="0"/>
                <a:ea typeface="Aptos" panose="020B0004020202020204" pitchFamily="34" charset="0"/>
                <a:cs typeface="Times New Roman" panose="02020603050405020304" pitchFamily="18" charset="0"/>
              </a:rPr>
              <a:t>StudentID</a:t>
            </a:r>
            <a:r>
              <a:rPr lang="en-IN" b="1" kern="100" dirty="0">
                <a:solidFill>
                  <a:schemeClr val="tx1"/>
                </a:solidFill>
                <a:effectLst/>
                <a:latin typeface="Aptos" panose="020B0004020202020204" pitchFamily="34" charset="0"/>
                <a:ea typeface="Aptos" panose="020B0004020202020204" pitchFamily="34" charset="0"/>
                <a:cs typeface="Times New Roman" panose="02020603050405020304" pitchFamily="18" charset="0"/>
              </a:rPr>
              <a:t>, Name, DOB.</a:t>
            </a:r>
            <a:endParaRPr lang="en-IN" kern="100" dirty="0">
              <a:solidFill>
                <a:schemeClr val="tx1"/>
              </a:solidFill>
              <a:effectLst/>
              <a:latin typeface="Aptos" panose="020B0004020202020204" pitchFamily="34" charset="0"/>
              <a:ea typeface="Aptos" panose="020B0004020202020204" pitchFamily="34" charset="0"/>
              <a:cs typeface="Times New Roman" panose="02020603050405020304" pitchFamily="18" charset="0"/>
            </a:endParaRPr>
          </a:p>
          <a:p>
            <a:pPr marL="342900" lvl="0" indent="-342900">
              <a:lnSpc>
                <a:spcPct val="115000"/>
              </a:lnSpc>
              <a:spcAft>
                <a:spcPts val="800"/>
              </a:spcAft>
              <a:buSzPts val="1000"/>
              <a:buFont typeface="Symbol" panose="05050102010706020507" pitchFamily="18" charset="2"/>
              <a:buChar char=""/>
              <a:tabLst>
                <a:tab pos="457200" algn="l"/>
              </a:tabLst>
            </a:pPr>
            <a:r>
              <a:rPr lang="en-IN" b="1" kern="100" dirty="0">
                <a:solidFill>
                  <a:srgbClr val="FF0000"/>
                </a:solidFill>
                <a:effectLst/>
                <a:latin typeface="Aptos" panose="020B0004020202020204" pitchFamily="34" charset="0"/>
                <a:ea typeface="Aptos" panose="020B0004020202020204" pitchFamily="34" charset="0"/>
                <a:cs typeface="Times New Roman" panose="02020603050405020304" pitchFamily="18" charset="0"/>
              </a:rPr>
              <a:t>Change:</a:t>
            </a:r>
            <a:r>
              <a:rPr lang="en-IN" b="1" kern="100" dirty="0">
                <a:solidFill>
                  <a:schemeClr val="tx1"/>
                </a:solidFill>
                <a:effectLst/>
                <a:latin typeface="Aptos" panose="020B0004020202020204" pitchFamily="34" charset="0"/>
                <a:ea typeface="Aptos" panose="020B0004020202020204" pitchFamily="34" charset="0"/>
                <a:cs typeface="Times New Roman" panose="02020603050405020304" pitchFamily="18" charset="0"/>
              </a:rPr>
              <a:t> Add a Major column.</a:t>
            </a:r>
            <a:endParaRPr lang="en-IN" kern="100" dirty="0">
              <a:solidFill>
                <a:schemeClr val="tx1"/>
              </a:solidFill>
              <a:effectLst/>
              <a:latin typeface="Aptos" panose="020B0004020202020204" pitchFamily="34" charset="0"/>
              <a:ea typeface="Aptos" panose="020B0004020202020204" pitchFamily="34" charset="0"/>
              <a:cs typeface="Times New Roman" panose="02020603050405020304" pitchFamily="18" charset="0"/>
            </a:endParaRPr>
          </a:p>
          <a:p>
            <a:pPr marL="342900" lvl="0" indent="-342900">
              <a:lnSpc>
                <a:spcPct val="115000"/>
              </a:lnSpc>
              <a:spcAft>
                <a:spcPts val="800"/>
              </a:spcAft>
              <a:buSzPts val="1000"/>
              <a:buFont typeface="Symbol" panose="05050102010706020507" pitchFamily="18" charset="2"/>
              <a:buChar char=""/>
              <a:tabLst>
                <a:tab pos="457200" algn="l"/>
              </a:tabLst>
            </a:pPr>
            <a:r>
              <a:rPr lang="en-IN" b="1" kern="100" dirty="0">
                <a:solidFill>
                  <a:srgbClr val="FF0000"/>
                </a:solidFill>
                <a:effectLst/>
                <a:latin typeface="Aptos" panose="020B0004020202020204" pitchFamily="34" charset="0"/>
                <a:ea typeface="Aptos" panose="020B0004020202020204" pitchFamily="34" charset="0"/>
                <a:cs typeface="Times New Roman" panose="02020603050405020304" pitchFamily="18" charset="0"/>
              </a:rPr>
              <a:t>Impact: </a:t>
            </a:r>
            <a:r>
              <a:rPr lang="en-IN" b="1" kern="100" dirty="0">
                <a:solidFill>
                  <a:schemeClr val="tx1"/>
                </a:solidFill>
                <a:effectLst/>
                <a:latin typeface="Aptos" panose="020B0004020202020204" pitchFamily="34" charset="0"/>
                <a:ea typeface="Aptos" panose="020B0004020202020204" pitchFamily="34" charset="0"/>
                <a:cs typeface="Times New Roman" panose="02020603050405020304" pitchFamily="18" charset="0"/>
              </a:rPr>
              <a:t>Application programs querying student names should not need to change, even after adding the Major column.</a:t>
            </a:r>
            <a:endParaRPr lang="en-IN" kern="100" dirty="0">
              <a:solidFill>
                <a:schemeClr val="tx1"/>
              </a:solidFill>
              <a:effectLst/>
              <a:latin typeface="Aptos" panose="020B0004020202020204" pitchFamily="34" charset="0"/>
              <a:ea typeface="Aptos" panose="020B0004020202020204" pitchFamily="34" charset="0"/>
              <a:cs typeface="Times New Roman" panose="02020603050405020304" pitchFamily="18" charset="0"/>
            </a:endParaRPr>
          </a:p>
          <a:p>
            <a:endParaRPr lang="en-US" dirty="0"/>
          </a:p>
        </p:txBody>
      </p:sp>
    </p:spTree>
    <p:extLst>
      <p:ext uri="{BB962C8B-B14F-4D97-AF65-F5344CB8AC3E}">
        <p14:creationId xmlns:p14="http://schemas.microsoft.com/office/powerpoint/2010/main" val="3880748905"/>
      </p:ext>
    </p:extLst>
  </p:cSld>
  <p:clrMapOvr>
    <a:masterClrMapping/>
  </p:clrMapOvr>
</p:sld>
</file>

<file path=ppt/slides/slide9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Number Placeholder 1"/>
          <p:cNvSpPr>
            <a:spLocks noGrp="1"/>
          </p:cNvSpPr>
          <p:nvPr>
            <p:ph type="sldNum" sz="quarter" idx="14"/>
          </p:nvPr>
        </p:nvSpPr>
        <p:spPr/>
        <p:txBody>
          <a:bodyPr/>
          <a:lstStyle/>
          <a:p>
            <a:fld id="{45A3C14A-F937-4231-B6F1-40B429FAFB2F}" type="slidenum">
              <a:rPr lang="en-NZ" smtClean="0"/>
              <a:pPr/>
              <a:t>94</a:t>
            </a:fld>
            <a:endParaRPr lang="en-NZ" dirty="0"/>
          </a:p>
        </p:txBody>
      </p:sp>
      <p:sp>
        <p:nvSpPr>
          <p:cNvPr id="3" name="Title 2"/>
          <p:cNvSpPr>
            <a:spLocks noGrp="1"/>
          </p:cNvSpPr>
          <p:nvPr>
            <p:ph type="title"/>
          </p:nvPr>
        </p:nvSpPr>
        <p:spPr/>
        <p:txBody>
          <a:bodyPr/>
          <a:lstStyle/>
          <a:p>
            <a:r>
              <a:rPr lang="en-US" b="1" dirty="0">
                <a:solidFill>
                  <a:srgbClr val="FF0000"/>
                </a:solidFill>
              </a:rPr>
              <a:t>2. Physical Data Independence</a:t>
            </a:r>
            <a:br>
              <a:rPr lang="en-US" dirty="0"/>
            </a:br>
            <a:endParaRPr lang="en-US" dirty="0"/>
          </a:p>
        </p:txBody>
      </p:sp>
      <p:sp>
        <p:nvSpPr>
          <p:cNvPr id="4" name="Text Placeholder 3"/>
          <p:cNvSpPr>
            <a:spLocks noGrp="1"/>
          </p:cNvSpPr>
          <p:nvPr>
            <p:ph type="body" sz="quarter" idx="17"/>
          </p:nvPr>
        </p:nvSpPr>
        <p:spPr>
          <a:xfrm>
            <a:off x="479376" y="1412776"/>
            <a:ext cx="8280919" cy="4320480"/>
          </a:xfrm>
        </p:spPr>
        <p:txBody>
          <a:bodyPr/>
          <a:lstStyle/>
          <a:p>
            <a:pPr marL="0" indent="0" algn="just">
              <a:lnSpc>
                <a:spcPct val="115000"/>
              </a:lnSpc>
              <a:spcAft>
                <a:spcPts val="800"/>
              </a:spcAft>
              <a:buNone/>
            </a:pPr>
            <a:r>
              <a:rPr lang="en-IN" sz="2400" b="1" kern="100" dirty="0">
                <a:solidFill>
                  <a:schemeClr val="tx1"/>
                </a:solidFill>
                <a:effectLst/>
                <a:latin typeface="Aptos" panose="020B0004020202020204" pitchFamily="34" charset="0"/>
                <a:ea typeface="Aptos" panose="020B0004020202020204" pitchFamily="34" charset="0"/>
                <a:cs typeface="Times New Roman" panose="02020603050405020304" pitchFamily="18" charset="0"/>
              </a:rPr>
              <a:t>Physical data independence refers to the capacity to change the physical schema without requiring changes to the logical schema or application programs.</a:t>
            </a:r>
            <a:endParaRPr lang="en-IN" sz="2400" kern="100" dirty="0">
              <a:solidFill>
                <a:schemeClr val="tx1"/>
              </a:solidFill>
              <a:effectLst/>
              <a:latin typeface="Aptos" panose="020B0004020202020204" pitchFamily="34" charset="0"/>
              <a:ea typeface="Aptos" panose="020B0004020202020204" pitchFamily="34" charset="0"/>
              <a:cs typeface="Times New Roman" panose="02020603050405020304" pitchFamily="18" charset="0"/>
            </a:endParaRPr>
          </a:p>
          <a:p>
            <a:pPr marL="342900" lvl="0" indent="-342900" algn="just">
              <a:lnSpc>
                <a:spcPct val="115000"/>
              </a:lnSpc>
              <a:spcAft>
                <a:spcPts val="800"/>
              </a:spcAft>
              <a:buSzPts val="1000"/>
              <a:buFont typeface="Symbol" panose="05050102010706020507" pitchFamily="18" charset="2"/>
              <a:buChar char=""/>
              <a:tabLst>
                <a:tab pos="457200" algn="l"/>
              </a:tabLst>
            </a:pPr>
            <a:r>
              <a:rPr lang="en-IN" sz="2400" b="1" kern="100" dirty="0">
                <a:solidFill>
                  <a:srgbClr val="FF0000"/>
                </a:solidFill>
                <a:effectLst/>
                <a:latin typeface="Aptos" panose="020B0004020202020204" pitchFamily="34" charset="0"/>
                <a:ea typeface="Aptos" panose="020B0004020202020204" pitchFamily="34" charset="0"/>
                <a:cs typeface="Times New Roman" panose="02020603050405020304" pitchFamily="18" charset="0"/>
              </a:rPr>
              <a:t>Physical Schema: </a:t>
            </a:r>
            <a:r>
              <a:rPr lang="en-IN" sz="2400" b="1" kern="100" dirty="0">
                <a:solidFill>
                  <a:schemeClr val="tx1"/>
                </a:solidFill>
                <a:effectLst/>
                <a:latin typeface="Aptos" panose="020B0004020202020204" pitchFamily="34" charset="0"/>
                <a:ea typeface="Aptos" panose="020B0004020202020204" pitchFamily="34" charset="0"/>
                <a:cs typeface="Times New Roman" panose="02020603050405020304" pitchFamily="18" charset="0"/>
              </a:rPr>
              <a:t>Defines how data is stored on storage devices (e.g., file structure, indexing, compression, etc.).</a:t>
            </a:r>
            <a:endParaRPr lang="en-IN" sz="2400" kern="100" dirty="0">
              <a:solidFill>
                <a:schemeClr val="tx1"/>
              </a:solidFill>
              <a:effectLst/>
              <a:latin typeface="Aptos" panose="020B0004020202020204" pitchFamily="34" charset="0"/>
              <a:ea typeface="Aptos" panose="020B0004020202020204" pitchFamily="34" charset="0"/>
              <a:cs typeface="Times New Roman" panose="02020603050405020304" pitchFamily="18" charset="0"/>
            </a:endParaRPr>
          </a:p>
          <a:p>
            <a:pPr marL="342900" lvl="0" indent="-342900" algn="just">
              <a:lnSpc>
                <a:spcPct val="115000"/>
              </a:lnSpc>
              <a:spcAft>
                <a:spcPts val="800"/>
              </a:spcAft>
              <a:buSzPts val="1000"/>
              <a:buFont typeface="Symbol" panose="05050102010706020507" pitchFamily="18" charset="2"/>
              <a:buChar char=""/>
              <a:tabLst>
                <a:tab pos="457200" algn="l"/>
              </a:tabLst>
            </a:pPr>
            <a:r>
              <a:rPr lang="en-IN" sz="2400" b="1" kern="100" dirty="0">
                <a:solidFill>
                  <a:srgbClr val="FF0000"/>
                </a:solidFill>
                <a:effectLst/>
                <a:latin typeface="Aptos" panose="020B0004020202020204" pitchFamily="34" charset="0"/>
                <a:ea typeface="Aptos" panose="020B0004020202020204" pitchFamily="34" charset="0"/>
                <a:cs typeface="Times New Roman" panose="02020603050405020304" pitchFamily="18" charset="0"/>
              </a:rPr>
              <a:t>Impact: </a:t>
            </a:r>
            <a:r>
              <a:rPr lang="en-IN" sz="2400" b="1" kern="100" dirty="0">
                <a:solidFill>
                  <a:schemeClr val="tx1"/>
                </a:solidFill>
                <a:effectLst/>
                <a:latin typeface="Aptos" panose="020B0004020202020204" pitchFamily="34" charset="0"/>
                <a:ea typeface="Aptos" panose="020B0004020202020204" pitchFamily="34" charset="0"/>
                <a:cs typeface="Times New Roman" panose="02020603050405020304" pitchFamily="18" charset="0"/>
              </a:rPr>
              <a:t>Changes in the physical storage mechanism should not affect the logical structure or the way data is accessed by users.</a:t>
            </a:r>
            <a:endParaRPr lang="en-IN" sz="2400" kern="100" dirty="0">
              <a:solidFill>
                <a:schemeClr val="tx1"/>
              </a:solidFill>
              <a:effectLst/>
              <a:latin typeface="Aptos" panose="020B0004020202020204" pitchFamily="34" charset="0"/>
              <a:ea typeface="Aptos" panose="020B0004020202020204" pitchFamily="34" charset="0"/>
              <a:cs typeface="Times New Roman" panose="02020603050405020304" pitchFamily="18" charset="0"/>
            </a:endParaRPr>
          </a:p>
          <a:p>
            <a:endParaRPr lang="en-US" dirty="0"/>
          </a:p>
        </p:txBody>
      </p:sp>
      <p:pic>
        <p:nvPicPr>
          <p:cNvPr id="8194" name="Picture 2" descr="DBMS Data Independence "/>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8904312" y="1700808"/>
            <a:ext cx="3059088" cy="4248472"/>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1902726136"/>
      </p:ext>
    </p:extLst>
  </p:cSld>
  <p:clrMapOvr>
    <a:masterClrMapping/>
  </p:clrMapOvr>
</p:sld>
</file>

<file path=ppt/slides/slide9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BF1EEC7-CF9B-AAE2-0570-5157C9B1AAA5}"/>
            </a:ext>
          </a:extLst>
        </p:cNvPr>
        <p:cNvGrpSpPr/>
        <p:nvPr/>
      </p:nvGrpSpPr>
      <p:grpSpPr>
        <a:xfrm>
          <a:off x="0" y="0"/>
          <a:ext cx="0" cy="0"/>
          <a:chOff x="0" y="0"/>
          <a:chExt cx="0" cy="0"/>
        </a:xfrm>
      </p:grpSpPr>
      <p:sp>
        <p:nvSpPr>
          <p:cNvPr id="2" name="Slide Number Placeholder 1">
            <a:extLst>
              <a:ext uri="{FF2B5EF4-FFF2-40B4-BE49-F238E27FC236}">
                <a16:creationId xmlns:a16="http://schemas.microsoft.com/office/drawing/2014/main" id="{C780A584-6B26-FB19-6653-2D61884251E2}"/>
              </a:ext>
            </a:extLst>
          </p:cNvPr>
          <p:cNvSpPr>
            <a:spLocks noGrp="1"/>
          </p:cNvSpPr>
          <p:nvPr>
            <p:ph type="sldNum" sz="quarter" idx="14"/>
          </p:nvPr>
        </p:nvSpPr>
        <p:spPr/>
        <p:txBody>
          <a:bodyPr/>
          <a:lstStyle/>
          <a:p>
            <a:fld id="{45A3C14A-F937-4231-B6F1-40B429FAFB2F}" type="slidenum">
              <a:rPr lang="en-NZ" smtClean="0"/>
              <a:pPr/>
              <a:t>95</a:t>
            </a:fld>
            <a:endParaRPr lang="en-NZ" dirty="0"/>
          </a:p>
        </p:txBody>
      </p:sp>
      <p:sp>
        <p:nvSpPr>
          <p:cNvPr id="3" name="Title 2">
            <a:extLst>
              <a:ext uri="{FF2B5EF4-FFF2-40B4-BE49-F238E27FC236}">
                <a16:creationId xmlns:a16="http://schemas.microsoft.com/office/drawing/2014/main" id="{229AA108-CD2E-0A4F-38B7-634FFDE0B17E}"/>
              </a:ext>
            </a:extLst>
          </p:cNvPr>
          <p:cNvSpPr>
            <a:spLocks noGrp="1"/>
          </p:cNvSpPr>
          <p:nvPr>
            <p:ph type="title"/>
          </p:nvPr>
        </p:nvSpPr>
        <p:spPr/>
        <p:txBody>
          <a:bodyPr/>
          <a:lstStyle/>
          <a:p>
            <a:r>
              <a:rPr lang="en-US" b="1" dirty="0">
                <a:solidFill>
                  <a:srgbClr val="FF0000"/>
                </a:solidFill>
              </a:rPr>
              <a:t>2. Physical Data Independence</a:t>
            </a:r>
            <a:br>
              <a:rPr lang="en-US" dirty="0"/>
            </a:br>
            <a:endParaRPr lang="en-US" dirty="0"/>
          </a:p>
        </p:txBody>
      </p:sp>
      <p:sp>
        <p:nvSpPr>
          <p:cNvPr id="4" name="Text Placeholder 3">
            <a:extLst>
              <a:ext uri="{FF2B5EF4-FFF2-40B4-BE49-F238E27FC236}">
                <a16:creationId xmlns:a16="http://schemas.microsoft.com/office/drawing/2014/main" id="{08A5058E-0FD4-8A05-1105-6BEF6C69421C}"/>
              </a:ext>
            </a:extLst>
          </p:cNvPr>
          <p:cNvSpPr>
            <a:spLocks noGrp="1"/>
          </p:cNvSpPr>
          <p:nvPr>
            <p:ph type="body" sz="quarter" idx="17"/>
          </p:nvPr>
        </p:nvSpPr>
        <p:spPr>
          <a:xfrm>
            <a:off x="911424" y="1251894"/>
            <a:ext cx="10455722" cy="4844105"/>
          </a:xfrm>
        </p:spPr>
        <p:txBody>
          <a:bodyPr/>
          <a:lstStyle/>
          <a:p>
            <a:pPr marL="0" indent="0">
              <a:lnSpc>
                <a:spcPct val="115000"/>
              </a:lnSpc>
              <a:spcAft>
                <a:spcPts val="800"/>
              </a:spcAft>
              <a:buNone/>
            </a:pPr>
            <a:r>
              <a:rPr lang="en-IN" sz="2000" b="1" kern="100" dirty="0">
                <a:solidFill>
                  <a:srgbClr val="FF0000"/>
                </a:solidFill>
                <a:effectLst/>
                <a:latin typeface="Aptos" panose="020B0004020202020204" pitchFamily="34" charset="0"/>
                <a:ea typeface="Aptos" panose="020B0004020202020204" pitchFamily="34" charset="0"/>
                <a:cs typeface="Times New Roman" panose="02020603050405020304" pitchFamily="18" charset="0"/>
              </a:rPr>
              <a:t>Examples of Physical Changes:</a:t>
            </a:r>
            <a:endParaRPr lang="en-IN" sz="2000" kern="100" dirty="0">
              <a:solidFill>
                <a:srgbClr val="FF0000"/>
              </a:solidFill>
              <a:effectLst/>
              <a:latin typeface="Aptos" panose="020B0004020202020204" pitchFamily="34" charset="0"/>
              <a:ea typeface="Aptos" panose="020B0004020202020204" pitchFamily="34" charset="0"/>
              <a:cs typeface="Times New Roman" panose="02020603050405020304" pitchFamily="18" charset="0"/>
            </a:endParaRPr>
          </a:p>
          <a:p>
            <a:pPr marL="342900" lvl="0" indent="-342900">
              <a:lnSpc>
                <a:spcPct val="115000"/>
              </a:lnSpc>
              <a:spcAft>
                <a:spcPts val="800"/>
              </a:spcAft>
              <a:buFont typeface="+mj-lt"/>
              <a:buAutoNum type="arabicPeriod"/>
              <a:tabLst>
                <a:tab pos="457200" algn="l"/>
              </a:tabLst>
            </a:pPr>
            <a:r>
              <a:rPr lang="en-IN" sz="2000" b="1" kern="100" dirty="0">
                <a:solidFill>
                  <a:schemeClr val="tx1"/>
                </a:solidFill>
                <a:effectLst/>
                <a:latin typeface="Aptos" panose="020B0004020202020204" pitchFamily="34" charset="0"/>
                <a:ea typeface="Aptos" panose="020B0004020202020204" pitchFamily="34" charset="0"/>
                <a:cs typeface="Times New Roman" panose="02020603050405020304" pitchFamily="18" charset="0"/>
              </a:rPr>
              <a:t>Moving from one storage format to another (e.g., from flat files to indexed files).</a:t>
            </a:r>
            <a:endParaRPr lang="en-IN" sz="2000" kern="100" dirty="0">
              <a:solidFill>
                <a:schemeClr val="tx1"/>
              </a:solidFill>
              <a:effectLst/>
              <a:latin typeface="Aptos" panose="020B0004020202020204" pitchFamily="34" charset="0"/>
              <a:ea typeface="Aptos" panose="020B0004020202020204" pitchFamily="34" charset="0"/>
              <a:cs typeface="Times New Roman" panose="02020603050405020304" pitchFamily="18" charset="0"/>
            </a:endParaRPr>
          </a:p>
          <a:p>
            <a:pPr marL="342900" lvl="0" indent="-342900">
              <a:lnSpc>
                <a:spcPct val="115000"/>
              </a:lnSpc>
              <a:spcAft>
                <a:spcPts val="800"/>
              </a:spcAft>
              <a:buFont typeface="+mj-lt"/>
              <a:buAutoNum type="arabicPeriod"/>
              <a:tabLst>
                <a:tab pos="457200" algn="l"/>
              </a:tabLst>
            </a:pPr>
            <a:r>
              <a:rPr lang="en-IN" sz="2000" b="1" kern="100" dirty="0">
                <a:solidFill>
                  <a:schemeClr val="tx1"/>
                </a:solidFill>
                <a:effectLst/>
                <a:latin typeface="Aptos" panose="020B0004020202020204" pitchFamily="34" charset="0"/>
                <a:ea typeface="Aptos" panose="020B0004020202020204" pitchFamily="34" charset="0"/>
                <a:cs typeface="Times New Roman" panose="02020603050405020304" pitchFamily="18" charset="0"/>
              </a:rPr>
              <a:t>Adding or removing indexes.</a:t>
            </a:r>
            <a:endParaRPr lang="en-IN" sz="2000" kern="100" dirty="0">
              <a:solidFill>
                <a:schemeClr val="tx1"/>
              </a:solidFill>
              <a:effectLst/>
              <a:latin typeface="Aptos" panose="020B0004020202020204" pitchFamily="34" charset="0"/>
              <a:ea typeface="Aptos" panose="020B0004020202020204" pitchFamily="34" charset="0"/>
              <a:cs typeface="Times New Roman" panose="02020603050405020304" pitchFamily="18" charset="0"/>
            </a:endParaRPr>
          </a:p>
          <a:p>
            <a:pPr marL="342900" lvl="0" indent="-342900">
              <a:lnSpc>
                <a:spcPct val="115000"/>
              </a:lnSpc>
              <a:spcAft>
                <a:spcPts val="800"/>
              </a:spcAft>
              <a:buFont typeface="+mj-lt"/>
              <a:buAutoNum type="arabicPeriod"/>
              <a:tabLst>
                <a:tab pos="457200" algn="l"/>
              </a:tabLst>
            </a:pPr>
            <a:r>
              <a:rPr lang="en-IN" sz="2000" b="1" kern="100" dirty="0">
                <a:solidFill>
                  <a:schemeClr val="tx1"/>
                </a:solidFill>
                <a:effectLst/>
                <a:latin typeface="Aptos" panose="020B0004020202020204" pitchFamily="34" charset="0"/>
                <a:ea typeface="Aptos" panose="020B0004020202020204" pitchFamily="34" charset="0"/>
                <a:cs typeface="Times New Roman" panose="02020603050405020304" pitchFamily="18" charset="0"/>
              </a:rPr>
              <a:t>Changing data access methods or storage devices.</a:t>
            </a:r>
            <a:endParaRPr lang="en-IN" sz="2000" kern="100" dirty="0">
              <a:solidFill>
                <a:schemeClr val="tx1"/>
              </a:solidFill>
              <a:effectLst/>
              <a:latin typeface="Aptos" panose="020B0004020202020204" pitchFamily="34" charset="0"/>
              <a:ea typeface="Aptos" panose="020B0004020202020204" pitchFamily="34" charset="0"/>
              <a:cs typeface="Times New Roman" panose="02020603050405020304" pitchFamily="18" charset="0"/>
            </a:endParaRPr>
          </a:p>
          <a:p>
            <a:pPr marL="0" indent="0">
              <a:lnSpc>
                <a:spcPct val="115000"/>
              </a:lnSpc>
              <a:spcAft>
                <a:spcPts val="800"/>
              </a:spcAft>
              <a:buNone/>
            </a:pPr>
            <a:r>
              <a:rPr lang="en-IN" sz="2000" b="1" kern="100" dirty="0">
                <a:solidFill>
                  <a:srgbClr val="FF0000"/>
                </a:solidFill>
                <a:effectLst/>
                <a:latin typeface="Aptos" panose="020B0004020202020204" pitchFamily="34" charset="0"/>
                <a:ea typeface="Aptos" panose="020B0004020202020204" pitchFamily="34" charset="0"/>
                <a:cs typeface="Times New Roman" panose="02020603050405020304" pitchFamily="18" charset="0"/>
              </a:rPr>
              <a:t>Real-World Example:</a:t>
            </a:r>
            <a:endParaRPr lang="en-IN" sz="2000" kern="100" dirty="0">
              <a:solidFill>
                <a:srgbClr val="FF0000"/>
              </a:solidFill>
              <a:effectLst/>
              <a:latin typeface="Aptos" panose="020B0004020202020204" pitchFamily="34" charset="0"/>
              <a:ea typeface="Aptos" panose="020B0004020202020204" pitchFamily="34" charset="0"/>
              <a:cs typeface="Times New Roman" panose="02020603050405020304" pitchFamily="18" charset="0"/>
            </a:endParaRPr>
          </a:p>
          <a:p>
            <a:pPr marL="0" indent="0">
              <a:lnSpc>
                <a:spcPct val="115000"/>
              </a:lnSpc>
              <a:spcAft>
                <a:spcPts val="800"/>
              </a:spcAft>
              <a:buNone/>
            </a:pPr>
            <a:r>
              <a:rPr lang="en-IN" sz="2000" b="1" kern="100" dirty="0">
                <a:solidFill>
                  <a:srgbClr val="FF0000"/>
                </a:solidFill>
                <a:effectLst/>
                <a:latin typeface="Aptos" panose="020B0004020202020204" pitchFamily="34" charset="0"/>
                <a:ea typeface="Aptos" panose="020B0004020202020204" pitchFamily="34" charset="0"/>
                <a:cs typeface="Times New Roman" panose="02020603050405020304" pitchFamily="18" charset="0"/>
              </a:rPr>
              <a:t>Consider the same university database:</a:t>
            </a:r>
            <a:endParaRPr lang="en-IN" sz="2000" kern="100" dirty="0">
              <a:solidFill>
                <a:srgbClr val="FF0000"/>
              </a:solidFill>
              <a:effectLst/>
              <a:latin typeface="Aptos" panose="020B0004020202020204" pitchFamily="34" charset="0"/>
              <a:ea typeface="Aptos" panose="020B0004020202020204" pitchFamily="34" charset="0"/>
              <a:cs typeface="Times New Roman" panose="02020603050405020304" pitchFamily="18" charset="0"/>
            </a:endParaRPr>
          </a:p>
          <a:p>
            <a:pPr marL="342900" lvl="0" indent="-342900">
              <a:lnSpc>
                <a:spcPct val="115000"/>
              </a:lnSpc>
              <a:spcAft>
                <a:spcPts val="800"/>
              </a:spcAft>
              <a:buSzPts val="1000"/>
              <a:buFont typeface="Symbol" panose="05050102010706020507" pitchFamily="18" charset="2"/>
              <a:buChar char=""/>
              <a:tabLst>
                <a:tab pos="457200" algn="l"/>
              </a:tabLst>
            </a:pPr>
            <a:r>
              <a:rPr lang="en-IN" sz="2000" b="1" kern="100" dirty="0">
                <a:solidFill>
                  <a:schemeClr val="tx1"/>
                </a:solidFill>
                <a:effectLst/>
                <a:latin typeface="Aptos" panose="020B0004020202020204" pitchFamily="34" charset="0"/>
                <a:ea typeface="Aptos" panose="020B0004020202020204" pitchFamily="34" charset="0"/>
                <a:cs typeface="Times New Roman" panose="02020603050405020304" pitchFamily="18" charset="0"/>
              </a:rPr>
              <a:t>Original Physical Storage: Data stored in a flat file.</a:t>
            </a:r>
            <a:endParaRPr lang="en-IN" sz="2000" kern="100" dirty="0">
              <a:solidFill>
                <a:schemeClr val="tx1"/>
              </a:solidFill>
              <a:effectLst/>
              <a:latin typeface="Aptos" panose="020B0004020202020204" pitchFamily="34" charset="0"/>
              <a:ea typeface="Aptos" panose="020B0004020202020204" pitchFamily="34" charset="0"/>
              <a:cs typeface="Times New Roman" panose="02020603050405020304" pitchFamily="18" charset="0"/>
            </a:endParaRPr>
          </a:p>
          <a:p>
            <a:pPr marL="342900" lvl="0" indent="-342900">
              <a:lnSpc>
                <a:spcPct val="115000"/>
              </a:lnSpc>
              <a:spcAft>
                <a:spcPts val="800"/>
              </a:spcAft>
              <a:buSzPts val="1000"/>
              <a:buFont typeface="Symbol" panose="05050102010706020507" pitchFamily="18" charset="2"/>
              <a:buChar char=""/>
              <a:tabLst>
                <a:tab pos="457200" algn="l"/>
              </a:tabLst>
            </a:pPr>
            <a:r>
              <a:rPr lang="en-IN" sz="2000" b="1" kern="100" dirty="0">
                <a:solidFill>
                  <a:schemeClr val="tx1"/>
                </a:solidFill>
                <a:effectLst/>
                <a:latin typeface="Aptos" panose="020B0004020202020204" pitchFamily="34" charset="0"/>
                <a:ea typeface="Aptos" panose="020B0004020202020204" pitchFamily="34" charset="0"/>
                <a:cs typeface="Times New Roman" panose="02020603050405020304" pitchFamily="18" charset="0"/>
              </a:rPr>
              <a:t>Change: Implement indexing for faster retrieval.</a:t>
            </a:r>
            <a:endParaRPr lang="en-IN" sz="2000" kern="100" dirty="0">
              <a:solidFill>
                <a:schemeClr val="tx1"/>
              </a:solidFill>
              <a:effectLst/>
              <a:latin typeface="Aptos" panose="020B0004020202020204" pitchFamily="34" charset="0"/>
              <a:ea typeface="Aptos" panose="020B0004020202020204" pitchFamily="34" charset="0"/>
              <a:cs typeface="Times New Roman" panose="02020603050405020304" pitchFamily="18" charset="0"/>
            </a:endParaRPr>
          </a:p>
          <a:p>
            <a:pPr marL="342900" lvl="0" indent="-342900">
              <a:lnSpc>
                <a:spcPct val="115000"/>
              </a:lnSpc>
              <a:spcAft>
                <a:spcPts val="800"/>
              </a:spcAft>
              <a:buSzPts val="1000"/>
              <a:buFont typeface="Symbol" panose="05050102010706020507" pitchFamily="18" charset="2"/>
              <a:buChar char=""/>
              <a:tabLst>
                <a:tab pos="457200" algn="l"/>
              </a:tabLst>
            </a:pPr>
            <a:r>
              <a:rPr lang="en-IN" sz="2000" b="1" kern="100" dirty="0">
                <a:solidFill>
                  <a:schemeClr val="tx1"/>
                </a:solidFill>
                <a:effectLst/>
                <a:latin typeface="Aptos" panose="020B0004020202020204" pitchFamily="34" charset="0"/>
                <a:ea typeface="Aptos" panose="020B0004020202020204" pitchFamily="34" charset="0"/>
                <a:cs typeface="Times New Roman" panose="02020603050405020304" pitchFamily="18" charset="0"/>
              </a:rPr>
              <a:t>Impact: Queries like SELECT * FROM Students will remain the same, even though the underlying storage mechanism has changed.</a:t>
            </a:r>
            <a:endParaRPr lang="en-IN" sz="2000" kern="100" dirty="0">
              <a:solidFill>
                <a:schemeClr val="tx1"/>
              </a:solidFill>
              <a:effectLst/>
              <a:latin typeface="Aptos" panose="020B0004020202020204" pitchFamily="34" charset="0"/>
              <a:ea typeface="Aptos" panose="020B0004020202020204" pitchFamily="34" charset="0"/>
              <a:cs typeface="Times New Roman" panose="02020603050405020304" pitchFamily="18" charset="0"/>
            </a:endParaRPr>
          </a:p>
          <a:p>
            <a:pPr marL="0" indent="0">
              <a:lnSpc>
                <a:spcPct val="115000"/>
              </a:lnSpc>
              <a:spcAft>
                <a:spcPts val="800"/>
              </a:spcAft>
              <a:buNone/>
            </a:pPr>
            <a:r>
              <a:rPr lang="en-IN" sz="1800" b="1" kern="100" dirty="0">
                <a:effectLst/>
                <a:latin typeface="Aptos" panose="020B0004020202020204" pitchFamily="34" charset="0"/>
                <a:ea typeface="Aptos" panose="020B0004020202020204" pitchFamily="34" charset="0"/>
                <a:cs typeface="Times New Roman" panose="02020603050405020304" pitchFamily="18" charset="0"/>
              </a:rPr>
              <a:t> </a:t>
            </a:r>
            <a:endParaRPr lang="en-IN" sz="1800" kern="100" dirty="0">
              <a:effectLst/>
              <a:latin typeface="Aptos" panose="020B0004020202020204" pitchFamily="34" charset="0"/>
              <a:ea typeface="Aptos" panose="020B0004020202020204" pitchFamily="34" charset="0"/>
              <a:cs typeface="Times New Roman" panose="02020603050405020304" pitchFamily="18" charset="0"/>
            </a:endParaRPr>
          </a:p>
          <a:p>
            <a:endParaRPr lang="en-US" dirty="0"/>
          </a:p>
        </p:txBody>
      </p:sp>
    </p:spTree>
    <p:extLst>
      <p:ext uri="{BB962C8B-B14F-4D97-AF65-F5344CB8AC3E}">
        <p14:creationId xmlns:p14="http://schemas.microsoft.com/office/powerpoint/2010/main" val="3786176651"/>
      </p:ext>
    </p:extLst>
  </p:cSld>
  <p:clrMapOvr>
    <a:masterClrMapping/>
  </p:clrMapOvr>
</p:sld>
</file>

<file path=ppt/slides/slide9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263352" y="395786"/>
            <a:ext cx="11665296" cy="838202"/>
          </a:xfrm>
        </p:spPr>
        <p:txBody>
          <a:bodyPr/>
          <a:lstStyle/>
          <a:p>
            <a:r>
              <a:rPr lang="en-IN" b="1" dirty="0"/>
              <a:t>Components MODULES of a </a:t>
            </a:r>
            <a:r>
              <a:rPr lang="en-IN" b="1" dirty="0" err="1"/>
              <a:t>dbms</a:t>
            </a:r>
            <a:r>
              <a:rPr lang="en-IN" b="1" dirty="0"/>
              <a:t> and their interactions(database system environment)</a:t>
            </a:r>
            <a:br>
              <a:rPr lang="en-IN" b="1" dirty="0"/>
            </a:br>
            <a:endParaRPr lang="en-IN" dirty="0"/>
          </a:p>
        </p:txBody>
      </p:sp>
      <p:sp>
        <p:nvSpPr>
          <p:cNvPr id="5" name="Rectangle 4"/>
          <p:cNvSpPr/>
          <p:nvPr/>
        </p:nvSpPr>
        <p:spPr>
          <a:xfrm>
            <a:off x="2275217" y="6320277"/>
            <a:ext cx="9906000" cy="323165"/>
          </a:xfrm>
          <a:prstGeom prst="rect">
            <a:avLst/>
          </a:prstGeom>
        </p:spPr>
        <p:txBody>
          <a:bodyPr wrap="square">
            <a:spAutoFit/>
          </a:bodyPr>
          <a:lstStyle/>
          <a:p>
            <a:r>
              <a:rPr lang="en-IN" sz="1500" dirty="0"/>
              <a:t>https://www.brainkart.com/article/The-Database-System-Environment_11401/</a:t>
            </a:r>
          </a:p>
        </p:txBody>
      </p:sp>
      <p:pic>
        <p:nvPicPr>
          <p:cNvPr id="2050" name="Picture 2" descr="https://img.brainkart.com/imagebk12/LSxC1g1.jpg"/>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2495600" y="1233988"/>
            <a:ext cx="6840760" cy="4931316"/>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3634795660"/>
      </p:ext>
    </p:extLst>
  </p:cSld>
  <p:clrMapOvr>
    <a:masterClrMapping/>
  </p:clrMapOvr>
</p:sld>
</file>

<file path=ppt/slides/slide9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740CF36-569D-87C6-686D-455EDB8D3888}"/>
            </a:ext>
          </a:extLst>
        </p:cNvPr>
        <p:cNvGrpSpPr/>
        <p:nvPr/>
      </p:nvGrpSpPr>
      <p:grpSpPr>
        <a:xfrm>
          <a:off x="0" y="0"/>
          <a:ext cx="0" cy="0"/>
          <a:chOff x="0" y="0"/>
          <a:chExt cx="0" cy="0"/>
        </a:xfrm>
      </p:grpSpPr>
      <p:sp>
        <p:nvSpPr>
          <p:cNvPr id="2" name="Slide Number Placeholder 1">
            <a:extLst>
              <a:ext uri="{FF2B5EF4-FFF2-40B4-BE49-F238E27FC236}">
                <a16:creationId xmlns:a16="http://schemas.microsoft.com/office/drawing/2014/main" id="{CFD2CFF3-E554-7D12-9D31-20A128CE7C73}"/>
              </a:ext>
            </a:extLst>
          </p:cNvPr>
          <p:cNvSpPr>
            <a:spLocks noGrp="1"/>
          </p:cNvSpPr>
          <p:nvPr>
            <p:ph type="sldNum" sz="quarter" idx="14"/>
          </p:nvPr>
        </p:nvSpPr>
        <p:spPr/>
        <p:txBody>
          <a:bodyPr/>
          <a:lstStyle/>
          <a:p>
            <a:fld id="{45A3C14A-F937-4231-B6F1-40B429FAFB2F}" type="slidenum">
              <a:rPr lang="en-NZ" smtClean="0"/>
              <a:pPr/>
              <a:t>97</a:t>
            </a:fld>
            <a:endParaRPr lang="en-NZ" dirty="0"/>
          </a:p>
        </p:txBody>
      </p:sp>
      <p:sp>
        <p:nvSpPr>
          <p:cNvPr id="3" name="Title 2">
            <a:extLst>
              <a:ext uri="{FF2B5EF4-FFF2-40B4-BE49-F238E27FC236}">
                <a16:creationId xmlns:a16="http://schemas.microsoft.com/office/drawing/2014/main" id="{C8F2F906-C00F-C4FC-7B5B-74206B677C06}"/>
              </a:ext>
            </a:extLst>
          </p:cNvPr>
          <p:cNvSpPr>
            <a:spLocks noGrp="1"/>
          </p:cNvSpPr>
          <p:nvPr>
            <p:ph type="title"/>
          </p:nvPr>
        </p:nvSpPr>
        <p:spPr/>
        <p:txBody>
          <a:bodyPr/>
          <a:lstStyle/>
          <a:p>
            <a:r>
              <a:rPr lang="en-IN" b="1" dirty="0"/>
              <a:t>database system environment</a:t>
            </a:r>
            <a:br>
              <a:rPr lang="en-US" dirty="0"/>
            </a:br>
            <a:endParaRPr lang="en-US" dirty="0"/>
          </a:p>
        </p:txBody>
      </p:sp>
      <p:sp>
        <p:nvSpPr>
          <p:cNvPr id="4" name="Text Placeholder 3">
            <a:extLst>
              <a:ext uri="{FF2B5EF4-FFF2-40B4-BE49-F238E27FC236}">
                <a16:creationId xmlns:a16="http://schemas.microsoft.com/office/drawing/2014/main" id="{7C519E24-3BC4-6DC2-2325-7F36DCC06160}"/>
              </a:ext>
            </a:extLst>
          </p:cNvPr>
          <p:cNvSpPr>
            <a:spLocks noGrp="1"/>
          </p:cNvSpPr>
          <p:nvPr>
            <p:ph type="body" sz="quarter" idx="17"/>
          </p:nvPr>
        </p:nvSpPr>
        <p:spPr>
          <a:xfrm>
            <a:off x="509929" y="1052736"/>
            <a:ext cx="11145828" cy="4320480"/>
          </a:xfrm>
        </p:spPr>
        <p:txBody>
          <a:bodyPr/>
          <a:lstStyle/>
          <a:p>
            <a:pPr algn="just">
              <a:lnSpc>
                <a:spcPct val="115000"/>
              </a:lnSpc>
              <a:spcAft>
                <a:spcPts val="800"/>
              </a:spcAft>
            </a:pPr>
            <a:r>
              <a:rPr lang="en-IN" kern="100" dirty="0">
                <a:solidFill>
                  <a:schemeClr val="tx1"/>
                </a:solidFill>
                <a:effectLst/>
                <a:latin typeface="Times New Roman" panose="02020603050405020304" pitchFamily="18" charset="0"/>
                <a:ea typeface="Aptos" panose="020B0004020202020204" pitchFamily="34" charset="0"/>
                <a:cs typeface="Times New Roman" panose="02020603050405020304" pitchFamily="18" charset="0"/>
              </a:rPr>
              <a:t>The figure is divided into two parts. The top part of the figure refers to the </a:t>
            </a:r>
            <a:r>
              <a:rPr lang="en-IN" kern="100" dirty="0">
                <a:solidFill>
                  <a:srgbClr val="FF0000"/>
                </a:solidFill>
                <a:effectLst/>
                <a:latin typeface="Times New Roman" panose="02020603050405020304" pitchFamily="18" charset="0"/>
                <a:ea typeface="Aptos" panose="020B0004020202020204" pitchFamily="34" charset="0"/>
                <a:cs typeface="Times New Roman" panose="02020603050405020304" pitchFamily="18" charset="0"/>
              </a:rPr>
              <a:t>various users of the database environment and their interfaces. </a:t>
            </a:r>
          </a:p>
          <a:p>
            <a:pPr algn="just">
              <a:lnSpc>
                <a:spcPct val="115000"/>
              </a:lnSpc>
              <a:spcAft>
                <a:spcPts val="800"/>
              </a:spcAft>
            </a:pPr>
            <a:r>
              <a:rPr lang="en-IN" kern="100" dirty="0">
                <a:solidFill>
                  <a:schemeClr val="tx1"/>
                </a:solidFill>
                <a:effectLst/>
                <a:latin typeface="Times New Roman" panose="02020603050405020304" pitchFamily="18" charset="0"/>
                <a:ea typeface="Aptos" panose="020B0004020202020204" pitchFamily="34" charset="0"/>
                <a:cs typeface="Times New Roman" panose="02020603050405020304" pitchFamily="18" charset="0"/>
              </a:rPr>
              <a:t>The lower part shows the internals of the </a:t>
            </a:r>
            <a:r>
              <a:rPr lang="en-IN" kern="100" dirty="0">
                <a:solidFill>
                  <a:srgbClr val="FF0000"/>
                </a:solidFill>
                <a:effectLst/>
                <a:latin typeface="Times New Roman" panose="02020603050405020304" pitchFamily="18" charset="0"/>
                <a:ea typeface="Aptos" panose="020B0004020202020204" pitchFamily="34" charset="0"/>
                <a:cs typeface="Times New Roman" panose="02020603050405020304" pitchFamily="18" charset="0"/>
              </a:rPr>
              <a:t>DBMS responsible for storage of data and processing of transactions.</a:t>
            </a:r>
          </a:p>
          <a:p>
            <a:pPr algn="just">
              <a:lnSpc>
                <a:spcPct val="115000"/>
              </a:lnSpc>
              <a:spcAft>
                <a:spcPts val="800"/>
              </a:spcAft>
            </a:pPr>
            <a:r>
              <a:rPr lang="en-US" dirty="0">
                <a:solidFill>
                  <a:schemeClr val="tx1"/>
                </a:solidFill>
                <a:latin typeface="Times New Roman" panose="02020603050405020304" pitchFamily="18" charset="0"/>
                <a:cs typeface="Times New Roman" panose="02020603050405020304" pitchFamily="18" charset="0"/>
              </a:rPr>
              <a:t>A </a:t>
            </a:r>
            <a:r>
              <a:rPr lang="en-US" b="1" dirty="0">
                <a:solidFill>
                  <a:schemeClr val="tx1"/>
                </a:solidFill>
                <a:latin typeface="Times New Roman" panose="02020603050405020304" pitchFamily="18" charset="0"/>
                <a:cs typeface="Times New Roman" panose="02020603050405020304" pitchFamily="18" charset="0"/>
              </a:rPr>
              <a:t>database catalog</a:t>
            </a:r>
            <a:r>
              <a:rPr lang="en-US" dirty="0">
                <a:solidFill>
                  <a:schemeClr val="tx1"/>
                </a:solidFill>
                <a:latin typeface="Times New Roman" panose="02020603050405020304" pitchFamily="18" charset="0"/>
                <a:cs typeface="Times New Roman" panose="02020603050405020304" pitchFamily="18" charset="0"/>
              </a:rPr>
              <a:t> is essentially a </a:t>
            </a:r>
            <a:r>
              <a:rPr lang="en-US" b="1" dirty="0">
                <a:solidFill>
                  <a:schemeClr val="tx1"/>
                </a:solidFill>
                <a:latin typeface="Times New Roman" panose="02020603050405020304" pitchFamily="18" charset="0"/>
                <a:cs typeface="Times New Roman" panose="02020603050405020304" pitchFamily="18" charset="0"/>
              </a:rPr>
              <a:t>repository of metadata</a:t>
            </a:r>
            <a:r>
              <a:rPr lang="en-US" dirty="0">
                <a:solidFill>
                  <a:schemeClr val="tx1"/>
                </a:solidFill>
                <a:latin typeface="Times New Roman" panose="02020603050405020304" pitchFamily="18" charset="0"/>
                <a:cs typeface="Times New Roman" panose="02020603050405020304" pitchFamily="18" charset="0"/>
              </a:rPr>
              <a:t> that contains information about the objects in a database.</a:t>
            </a:r>
            <a:endParaRPr lang="en-IN" kern="100" dirty="0">
              <a:solidFill>
                <a:schemeClr val="tx1"/>
              </a:solidFill>
              <a:latin typeface="Times New Roman" panose="02020603050405020304" pitchFamily="18" charset="0"/>
              <a:cs typeface="Times New Roman" panose="02020603050405020304" pitchFamily="18" charset="0"/>
            </a:endParaRPr>
          </a:p>
          <a:p>
            <a:pPr marL="0" indent="0">
              <a:lnSpc>
                <a:spcPct val="115000"/>
              </a:lnSpc>
              <a:spcAft>
                <a:spcPts val="800"/>
              </a:spcAft>
              <a:buNone/>
            </a:pPr>
            <a:endParaRPr lang="en-IN" sz="1800" kern="100" dirty="0">
              <a:effectLst/>
              <a:latin typeface="Aptos" panose="020B0004020202020204" pitchFamily="34" charset="0"/>
              <a:ea typeface="Aptos" panose="020B0004020202020204" pitchFamily="34" charset="0"/>
              <a:cs typeface="Times New Roman" panose="02020603050405020304" pitchFamily="18" charset="0"/>
            </a:endParaRPr>
          </a:p>
          <a:p>
            <a:endParaRPr lang="en-US" dirty="0"/>
          </a:p>
        </p:txBody>
      </p:sp>
    </p:spTree>
    <p:extLst>
      <p:ext uri="{BB962C8B-B14F-4D97-AF65-F5344CB8AC3E}">
        <p14:creationId xmlns:p14="http://schemas.microsoft.com/office/powerpoint/2010/main" val="3884482316"/>
      </p:ext>
    </p:extLst>
  </p:cSld>
  <p:clrMapOvr>
    <a:masterClrMapping/>
  </p:clrMapOvr>
</p:sld>
</file>

<file path=ppt/slides/slide9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4E4318D-20A4-25D3-20A8-FA50143820C3}"/>
            </a:ext>
          </a:extLst>
        </p:cNvPr>
        <p:cNvGrpSpPr/>
        <p:nvPr/>
      </p:nvGrpSpPr>
      <p:grpSpPr>
        <a:xfrm>
          <a:off x="0" y="0"/>
          <a:ext cx="0" cy="0"/>
          <a:chOff x="0" y="0"/>
          <a:chExt cx="0" cy="0"/>
        </a:xfrm>
      </p:grpSpPr>
      <p:sp>
        <p:nvSpPr>
          <p:cNvPr id="2" name="Slide Number Placeholder 1">
            <a:extLst>
              <a:ext uri="{FF2B5EF4-FFF2-40B4-BE49-F238E27FC236}">
                <a16:creationId xmlns:a16="http://schemas.microsoft.com/office/drawing/2014/main" id="{8C56E7E9-1CBC-2F52-14B0-3844860E87DE}"/>
              </a:ext>
            </a:extLst>
          </p:cNvPr>
          <p:cNvSpPr>
            <a:spLocks noGrp="1"/>
          </p:cNvSpPr>
          <p:nvPr>
            <p:ph type="sldNum" sz="quarter" idx="14"/>
          </p:nvPr>
        </p:nvSpPr>
        <p:spPr/>
        <p:txBody>
          <a:bodyPr/>
          <a:lstStyle/>
          <a:p>
            <a:fld id="{45A3C14A-F937-4231-B6F1-40B429FAFB2F}" type="slidenum">
              <a:rPr lang="en-NZ" smtClean="0"/>
              <a:pPr/>
              <a:t>98</a:t>
            </a:fld>
            <a:endParaRPr lang="en-NZ" dirty="0"/>
          </a:p>
        </p:txBody>
      </p:sp>
      <p:sp>
        <p:nvSpPr>
          <p:cNvPr id="3" name="Title 2">
            <a:extLst>
              <a:ext uri="{FF2B5EF4-FFF2-40B4-BE49-F238E27FC236}">
                <a16:creationId xmlns:a16="http://schemas.microsoft.com/office/drawing/2014/main" id="{63DA7E02-5491-7909-6A2D-C8C82B41FF1B}"/>
              </a:ext>
            </a:extLst>
          </p:cNvPr>
          <p:cNvSpPr>
            <a:spLocks noGrp="1"/>
          </p:cNvSpPr>
          <p:nvPr>
            <p:ph type="title"/>
          </p:nvPr>
        </p:nvSpPr>
        <p:spPr/>
        <p:txBody>
          <a:bodyPr/>
          <a:lstStyle/>
          <a:p>
            <a:r>
              <a:rPr lang="en-IN" b="1" dirty="0"/>
              <a:t>database system environment </a:t>
            </a:r>
            <a:r>
              <a:rPr lang="en-US" sz="2800" b="1" i="0" dirty="0">
                <a:solidFill>
                  <a:srgbClr val="273239"/>
                </a:solidFill>
                <a:effectLst/>
                <a:latin typeface="Nunito" pitchFamily="2" charset="0"/>
              </a:rPr>
              <a:t>:</a:t>
            </a:r>
            <a:br>
              <a:rPr lang="en-US" sz="2800" b="1" i="0" dirty="0">
                <a:solidFill>
                  <a:srgbClr val="273239"/>
                </a:solidFill>
                <a:effectLst/>
                <a:latin typeface="Nunito" pitchFamily="2" charset="0"/>
              </a:rPr>
            </a:br>
            <a:br>
              <a:rPr lang="en-US" dirty="0"/>
            </a:br>
            <a:endParaRPr lang="en-US" dirty="0"/>
          </a:p>
        </p:txBody>
      </p:sp>
      <p:sp>
        <p:nvSpPr>
          <p:cNvPr id="4" name="Text Placeholder 3">
            <a:extLst>
              <a:ext uri="{FF2B5EF4-FFF2-40B4-BE49-F238E27FC236}">
                <a16:creationId xmlns:a16="http://schemas.microsoft.com/office/drawing/2014/main" id="{7FB1B43D-FE1C-A57D-D5E1-A4F2C9129253}"/>
              </a:ext>
            </a:extLst>
          </p:cNvPr>
          <p:cNvSpPr>
            <a:spLocks noGrp="1"/>
          </p:cNvSpPr>
          <p:nvPr>
            <p:ph type="body" sz="quarter" idx="17"/>
          </p:nvPr>
        </p:nvSpPr>
        <p:spPr>
          <a:xfrm>
            <a:off x="509929" y="1052736"/>
            <a:ext cx="11145828" cy="4320480"/>
          </a:xfrm>
        </p:spPr>
        <p:txBody>
          <a:bodyPr/>
          <a:lstStyle/>
          <a:p>
            <a:pPr marL="0" indent="0" algn="just" rtl="0" fontAlgn="base">
              <a:spcAft>
                <a:spcPts val="750"/>
              </a:spcAft>
              <a:buNone/>
            </a:pPr>
            <a:r>
              <a:rPr lang="en-US" sz="2000" dirty="0">
                <a:solidFill>
                  <a:srgbClr val="273239"/>
                </a:solidFill>
                <a:latin typeface="Nunito" pitchFamily="2" charset="0"/>
              </a:rPr>
              <a:t>Query Processor</a:t>
            </a:r>
            <a:r>
              <a:rPr lang="en-US" sz="2000" b="0" i="0" dirty="0">
                <a:solidFill>
                  <a:srgbClr val="273239"/>
                </a:solidFill>
                <a:effectLst/>
                <a:latin typeface="Nunito" pitchFamily="2" charset="0"/>
              </a:rPr>
              <a:t> interprets the requests (queries) received from end user via an application program into instructions. It also executes the user request which is received from the DML compiler. </a:t>
            </a:r>
          </a:p>
          <a:p>
            <a:pPr marL="0" indent="0" algn="just" rtl="0" fontAlgn="base">
              <a:spcAft>
                <a:spcPts val="750"/>
              </a:spcAft>
              <a:buNone/>
            </a:pPr>
            <a:br>
              <a:rPr lang="en-US" sz="2000" b="0" i="0" dirty="0">
                <a:solidFill>
                  <a:srgbClr val="273239"/>
                </a:solidFill>
                <a:effectLst/>
                <a:latin typeface="Nunito" pitchFamily="2" charset="0"/>
              </a:rPr>
            </a:br>
            <a:r>
              <a:rPr lang="en-US" sz="2000" b="0" i="0" dirty="0">
                <a:solidFill>
                  <a:srgbClr val="273239"/>
                </a:solidFill>
                <a:effectLst/>
                <a:latin typeface="Nunito" pitchFamily="2" charset="0"/>
              </a:rPr>
              <a:t>Query Processor contains the following components – </a:t>
            </a:r>
          </a:p>
          <a:p>
            <a:pPr marL="0" indent="0" algn="just" rtl="0" fontAlgn="base">
              <a:spcAft>
                <a:spcPts val="750"/>
              </a:spcAft>
              <a:buNone/>
            </a:pPr>
            <a:endParaRPr lang="en-US" sz="2000" b="0" i="0" dirty="0">
              <a:solidFill>
                <a:srgbClr val="273239"/>
              </a:solidFill>
              <a:effectLst/>
              <a:latin typeface="Nunito" pitchFamily="2" charset="0"/>
            </a:endParaRPr>
          </a:p>
          <a:p>
            <a:pPr algn="l" fontAlgn="base">
              <a:spcAft>
                <a:spcPts val="1800"/>
              </a:spcAft>
              <a:buFont typeface="Arial" panose="020B0604020202020204" pitchFamily="34" charset="0"/>
              <a:buChar char="•"/>
            </a:pPr>
            <a:r>
              <a:rPr lang="en-US" sz="2000" b="1" i="0" dirty="0">
                <a:solidFill>
                  <a:srgbClr val="273239"/>
                </a:solidFill>
                <a:effectLst/>
                <a:latin typeface="Nunito" pitchFamily="2" charset="0"/>
              </a:rPr>
              <a:t>DML Compiler: </a:t>
            </a:r>
            <a:r>
              <a:rPr lang="en-US" sz="2000" b="0" i="0" dirty="0">
                <a:solidFill>
                  <a:srgbClr val="273239"/>
                </a:solidFill>
                <a:effectLst/>
                <a:latin typeface="Nunito" pitchFamily="2" charset="0"/>
              </a:rPr>
              <a:t>It processes the DML statements into low level instruction (machine language), so that they can be executed. </a:t>
            </a:r>
          </a:p>
          <a:p>
            <a:pPr algn="l" fontAlgn="base">
              <a:spcAft>
                <a:spcPts val="1800"/>
              </a:spcAft>
              <a:buFont typeface="Arial" panose="020B0604020202020204" pitchFamily="34" charset="0"/>
              <a:buChar char="•"/>
            </a:pPr>
            <a:r>
              <a:rPr lang="en-US" sz="2000" b="1" i="0" dirty="0">
                <a:solidFill>
                  <a:srgbClr val="273239"/>
                </a:solidFill>
                <a:effectLst/>
                <a:latin typeface="Nunito" pitchFamily="2" charset="0"/>
              </a:rPr>
              <a:t>DDL Interpreter: </a:t>
            </a:r>
            <a:r>
              <a:rPr lang="en-US" sz="2000" b="0" i="0" dirty="0">
                <a:solidFill>
                  <a:srgbClr val="273239"/>
                </a:solidFill>
                <a:effectLst/>
                <a:latin typeface="Nunito" pitchFamily="2" charset="0"/>
              </a:rPr>
              <a:t>It processes the DDL statements into a set of table containing meta data (data about data). </a:t>
            </a:r>
          </a:p>
          <a:p>
            <a:pPr algn="l" fontAlgn="base">
              <a:spcAft>
                <a:spcPts val="1800"/>
              </a:spcAft>
              <a:buFont typeface="Arial" panose="020B0604020202020204" pitchFamily="34" charset="0"/>
              <a:buChar char="•"/>
            </a:pPr>
            <a:r>
              <a:rPr lang="en-US" sz="2000" b="1" i="0" dirty="0">
                <a:solidFill>
                  <a:srgbClr val="273239"/>
                </a:solidFill>
                <a:effectLst/>
                <a:latin typeface="Nunito" pitchFamily="2" charset="0"/>
              </a:rPr>
              <a:t>Embedded DML Pre-compiler: </a:t>
            </a:r>
            <a:r>
              <a:rPr lang="en-US" sz="2000" b="0" i="0" dirty="0">
                <a:solidFill>
                  <a:srgbClr val="273239"/>
                </a:solidFill>
                <a:effectLst/>
                <a:latin typeface="Nunito" pitchFamily="2" charset="0"/>
              </a:rPr>
              <a:t>It processes DML statements embedded in an application program into procedural calls. </a:t>
            </a:r>
          </a:p>
          <a:p>
            <a:pPr algn="l" fontAlgn="base">
              <a:spcAft>
                <a:spcPts val="1800"/>
              </a:spcAft>
              <a:buFont typeface="Arial" panose="020B0604020202020204" pitchFamily="34" charset="0"/>
              <a:buChar char="•"/>
            </a:pPr>
            <a:r>
              <a:rPr lang="en-US" sz="2000" b="1" i="0" dirty="0">
                <a:solidFill>
                  <a:srgbClr val="273239"/>
                </a:solidFill>
                <a:effectLst/>
                <a:latin typeface="Nunito" pitchFamily="2" charset="0"/>
              </a:rPr>
              <a:t>Query Optimizer: </a:t>
            </a:r>
            <a:r>
              <a:rPr lang="en-US" sz="2000" b="0" i="0" dirty="0">
                <a:solidFill>
                  <a:srgbClr val="273239"/>
                </a:solidFill>
                <a:effectLst/>
                <a:latin typeface="Nunito" pitchFamily="2" charset="0"/>
              </a:rPr>
              <a:t>It executes the instruction generated by DML Compiler.</a:t>
            </a:r>
          </a:p>
          <a:p>
            <a:pPr algn="just">
              <a:lnSpc>
                <a:spcPct val="115000"/>
              </a:lnSpc>
              <a:spcAft>
                <a:spcPts val="800"/>
              </a:spcAft>
            </a:pPr>
            <a:endParaRPr lang="en-IN" sz="1800" kern="100" dirty="0">
              <a:effectLst/>
              <a:latin typeface="Aptos" panose="020B0004020202020204" pitchFamily="34" charset="0"/>
              <a:ea typeface="Aptos" panose="020B0004020202020204" pitchFamily="34" charset="0"/>
              <a:cs typeface="Times New Roman" panose="02020603050405020304" pitchFamily="18" charset="0"/>
            </a:endParaRPr>
          </a:p>
          <a:p>
            <a:endParaRPr lang="en-US" dirty="0"/>
          </a:p>
        </p:txBody>
      </p:sp>
    </p:spTree>
    <p:extLst>
      <p:ext uri="{BB962C8B-B14F-4D97-AF65-F5344CB8AC3E}">
        <p14:creationId xmlns:p14="http://schemas.microsoft.com/office/powerpoint/2010/main" val="1899222788"/>
      </p:ext>
    </p:extLst>
  </p:cSld>
  <p:clrMapOvr>
    <a:masterClrMapping/>
  </p:clrMapOvr>
</p:sld>
</file>

<file path=ppt/slides/slide9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28ABD23-539F-D001-65C8-FF86E0F4E433}"/>
            </a:ext>
          </a:extLst>
        </p:cNvPr>
        <p:cNvGrpSpPr/>
        <p:nvPr/>
      </p:nvGrpSpPr>
      <p:grpSpPr>
        <a:xfrm>
          <a:off x="0" y="0"/>
          <a:ext cx="0" cy="0"/>
          <a:chOff x="0" y="0"/>
          <a:chExt cx="0" cy="0"/>
        </a:xfrm>
      </p:grpSpPr>
      <p:sp>
        <p:nvSpPr>
          <p:cNvPr id="2" name="Slide Number Placeholder 1">
            <a:extLst>
              <a:ext uri="{FF2B5EF4-FFF2-40B4-BE49-F238E27FC236}">
                <a16:creationId xmlns:a16="http://schemas.microsoft.com/office/drawing/2014/main" id="{BCF71574-204A-40B9-B75E-9503BB6CAA0D}"/>
              </a:ext>
            </a:extLst>
          </p:cNvPr>
          <p:cNvSpPr>
            <a:spLocks noGrp="1"/>
          </p:cNvSpPr>
          <p:nvPr>
            <p:ph type="sldNum" sz="quarter" idx="14"/>
          </p:nvPr>
        </p:nvSpPr>
        <p:spPr/>
        <p:txBody>
          <a:bodyPr/>
          <a:lstStyle/>
          <a:p>
            <a:fld id="{45A3C14A-F937-4231-B6F1-40B429FAFB2F}" type="slidenum">
              <a:rPr lang="en-NZ" smtClean="0"/>
              <a:pPr/>
              <a:t>99</a:t>
            </a:fld>
            <a:endParaRPr lang="en-NZ" dirty="0"/>
          </a:p>
        </p:txBody>
      </p:sp>
      <p:sp>
        <p:nvSpPr>
          <p:cNvPr id="3" name="Title 2">
            <a:extLst>
              <a:ext uri="{FF2B5EF4-FFF2-40B4-BE49-F238E27FC236}">
                <a16:creationId xmlns:a16="http://schemas.microsoft.com/office/drawing/2014/main" id="{C8DF8AF1-C5BD-5955-2650-25C6E0D41C8D}"/>
              </a:ext>
            </a:extLst>
          </p:cNvPr>
          <p:cNvSpPr>
            <a:spLocks noGrp="1"/>
          </p:cNvSpPr>
          <p:nvPr>
            <p:ph type="title"/>
          </p:nvPr>
        </p:nvSpPr>
        <p:spPr/>
        <p:txBody>
          <a:bodyPr/>
          <a:lstStyle/>
          <a:p>
            <a:r>
              <a:rPr lang="en-IN" b="1" dirty="0"/>
              <a:t>database system environment</a:t>
            </a:r>
            <a:br>
              <a:rPr lang="en-US" dirty="0"/>
            </a:br>
            <a:endParaRPr lang="en-US" dirty="0"/>
          </a:p>
        </p:txBody>
      </p:sp>
      <p:sp>
        <p:nvSpPr>
          <p:cNvPr id="4" name="Text Placeholder 3">
            <a:extLst>
              <a:ext uri="{FF2B5EF4-FFF2-40B4-BE49-F238E27FC236}">
                <a16:creationId xmlns:a16="http://schemas.microsoft.com/office/drawing/2014/main" id="{DFCD2205-AC10-7C0D-85BC-792EB5FC564E}"/>
              </a:ext>
            </a:extLst>
          </p:cNvPr>
          <p:cNvSpPr>
            <a:spLocks noGrp="1"/>
          </p:cNvSpPr>
          <p:nvPr>
            <p:ph type="body" sz="quarter" idx="17"/>
          </p:nvPr>
        </p:nvSpPr>
        <p:spPr>
          <a:xfrm>
            <a:off x="363673" y="980728"/>
            <a:ext cx="11145828" cy="4320480"/>
          </a:xfrm>
        </p:spPr>
        <p:txBody>
          <a:bodyPr/>
          <a:lstStyle/>
          <a:p>
            <a:pPr algn="just">
              <a:lnSpc>
                <a:spcPct val="115000"/>
              </a:lnSpc>
              <a:spcAft>
                <a:spcPts val="800"/>
              </a:spcAft>
            </a:pPr>
            <a:r>
              <a:rPr lang="en-IN" sz="2000" kern="100" dirty="0">
                <a:solidFill>
                  <a:schemeClr val="tx1"/>
                </a:solidFill>
                <a:effectLst/>
                <a:latin typeface="Aptos" panose="020B0004020202020204" pitchFamily="34" charset="0"/>
                <a:ea typeface="Aptos" panose="020B0004020202020204" pitchFamily="34" charset="0"/>
                <a:cs typeface="Times New Roman" panose="02020603050405020304" pitchFamily="18" charset="0"/>
              </a:rPr>
              <a:t>It shows interfaces for the DBA staff, casual users who work with interactive interfaces to formulate queries, application programmers who create programs using some host programming languages, and </a:t>
            </a:r>
            <a:r>
              <a:rPr lang="en-IN" sz="2000" b="1" kern="100" dirty="0">
                <a:solidFill>
                  <a:srgbClr val="FF0000"/>
                </a:solidFill>
                <a:effectLst/>
                <a:latin typeface="Aptos" panose="020B0004020202020204" pitchFamily="34" charset="0"/>
                <a:ea typeface="Aptos" panose="020B0004020202020204" pitchFamily="34" charset="0"/>
                <a:cs typeface="Times New Roman" panose="02020603050405020304" pitchFamily="18" charset="0"/>
              </a:rPr>
              <a:t>parametric users </a:t>
            </a:r>
            <a:r>
              <a:rPr lang="en-IN" sz="2000" kern="100" dirty="0">
                <a:solidFill>
                  <a:schemeClr val="tx1"/>
                </a:solidFill>
                <a:effectLst/>
                <a:latin typeface="Aptos" panose="020B0004020202020204" pitchFamily="34" charset="0"/>
                <a:ea typeface="Aptos" panose="020B0004020202020204" pitchFamily="34" charset="0"/>
                <a:cs typeface="Times New Roman" panose="02020603050405020304" pitchFamily="18" charset="0"/>
              </a:rPr>
              <a:t>who do data entry work by supplying parameters to predefined transactions. </a:t>
            </a:r>
          </a:p>
          <a:p>
            <a:pPr algn="just">
              <a:lnSpc>
                <a:spcPct val="115000"/>
              </a:lnSpc>
              <a:spcAft>
                <a:spcPts val="800"/>
              </a:spcAft>
            </a:pPr>
            <a:r>
              <a:rPr lang="en-IN" sz="2000" kern="100" dirty="0">
                <a:solidFill>
                  <a:schemeClr val="tx1"/>
                </a:solidFill>
                <a:effectLst/>
                <a:latin typeface="Aptos" panose="020B0004020202020204" pitchFamily="34" charset="0"/>
                <a:ea typeface="Aptos" panose="020B0004020202020204" pitchFamily="34" charset="0"/>
                <a:cs typeface="Times New Roman" panose="02020603050405020304" pitchFamily="18" charset="0"/>
              </a:rPr>
              <a:t>The </a:t>
            </a:r>
            <a:r>
              <a:rPr lang="en-IN" sz="2000" b="1" kern="100" dirty="0">
                <a:solidFill>
                  <a:srgbClr val="FF0000"/>
                </a:solidFill>
                <a:effectLst/>
                <a:latin typeface="Aptos" panose="020B0004020202020204" pitchFamily="34" charset="0"/>
                <a:ea typeface="Aptos" panose="020B0004020202020204" pitchFamily="34" charset="0"/>
                <a:cs typeface="Times New Roman" panose="02020603050405020304" pitchFamily="18" charset="0"/>
              </a:rPr>
              <a:t>DBA staff </a:t>
            </a:r>
            <a:r>
              <a:rPr lang="en-IN" sz="2000" kern="100" dirty="0">
                <a:solidFill>
                  <a:schemeClr val="tx1"/>
                </a:solidFill>
                <a:effectLst/>
                <a:latin typeface="Aptos" panose="020B0004020202020204" pitchFamily="34" charset="0"/>
                <a:ea typeface="Aptos" panose="020B0004020202020204" pitchFamily="34" charset="0"/>
                <a:cs typeface="Times New Roman" panose="02020603050405020304" pitchFamily="18" charset="0"/>
              </a:rPr>
              <a:t>works on defining the database and tuning it by making changes to its definition using the DDL and other privileged commands.</a:t>
            </a:r>
          </a:p>
          <a:p>
            <a:pPr algn="just">
              <a:lnSpc>
                <a:spcPct val="115000"/>
              </a:lnSpc>
              <a:spcAft>
                <a:spcPts val="800"/>
              </a:spcAft>
            </a:pPr>
            <a:r>
              <a:rPr lang="en-IN" sz="2000" kern="100" dirty="0">
                <a:solidFill>
                  <a:schemeClr val="tx1"/>
                </a:solidFill>
                <a:effectLst/>
                <a:latin typeface="Aptos" panose="020B0004020202020204" pitchFamily="34" charset="0"/>
                <a:ea typeface="Aptos" panose="020B0004020202020204" pitchFamily="34" charset="0"/>
                <a:cs typeface="Times New Roman" panose="02020603050405020304" pitchFamily="18" charset="0"/>
              </a:rPr>
              <a:t> The </a:t>
            </a:r>
            <a:r>
              <a:rPr lang="en-IN" sz="2000" b="1" kern="100" dirty="0">
                <a:solidFill>
                  <a:srgbClr val="FF0000"/>
                </a:solidFill>
                <a:effectLst/>
                <a:latin typeface="Aptos" panose="020B0004020202020204" pitchFamily="34" charset="0"/>
                <a:ea typeface="Aptos" panose="020B0004020202020204" pitchFamily="34" charset="0"/>
                <a:cs typeface="Times New Roman" panose="02020603050405020304" pitchFamily="18" charset="0"/>
              </a:rPr>
              <a:t>DDL compiler </a:t>
            </a:r>
            <a:r>
              <a:rPr lang="en-IN" sz="2000" kern="100" dirty="0">
                <a:solidFill>
                  <a:schemeClr val="tx1"/>
                </a:solidFill>
                <a:effectLst/>
                <a:latin typeface="Aptos" panose="020B0004020202020204" pitchFamily="34" charset="0"/>
                <a:ea typeface="Aptos" panose="020B0004020202020204" pitchFamily="34" charset="0"/>
                <a:cs typeface="Times New Roman" panose="02020603050405020304" pitchFamily="18" charset="0"/>
              </a:rPr>
              <a:t>processes schema definitions, specified in the DDL, and stores descriptions of the schemas (meta-data) in the DBMS </a:t>
            </a:r>
            <a:r>
              <a:rPr lang="en-IN" sz="2000" kern="100" dirty="0" err="1">
                <a:solidFill>
                  <a:schemeClr val="tx1"/>
                </a:solidFill>
                <a:effectLst/>
                <a:latin typeface="Aptos" panose="020B0004020202020204" pitchFamily="34" charset="0"/>
                <a:ea typeface="Aptos" panose="020B0004020202020204" pitchFamily="34" charset="0"/>
                <a:cs typeface="Times New Roman" panose="02020603050405020304" pitchFamily="18" charset="0"/>
              </a:rPr>
              <a:t>catalog</a:t>
            </a:r>
            <a:r>
              <a:rPr lang="en-IN" sz="2000" kern="100" dirty="0">
                <a:solidFill>
                  <a:schemeClr val="tx1"/>
                </a:solidFill>
                <a:effectLst/>
                <a:latin typeface="Aptos" panose="020B0004020202020204" pitchFamily="34" charset="0"/>
                <a:ea typeface="Aptos" panose="020B0004020202020204" pitchFamily="34" charset="0"/>
                <a:cs typeface="Times New Roman" panose="02020603050405020304" pitchFamily="18" charset="0"/>
              </a:rPr>
              <a:t>. The </a:t>
            </a:r>
            <a:r>
              <a:rPr lang="en-IN" sz="2000" b="1" kern="100" dirty="0" err="1">
                <a:solidFill>
                  <a:srgbClr val="FF0000"/>
                </a:solidFill>
                <a:effectLst/>
                <a:latin typeface="Aptos" panose="020B0004020202020204" pitchFamily="34" charset="0"/>
                <a:ea typeface="Aptos" panose="020B0004020202020204" pitchFamily="34" charset="0"/>
                <a:cs typeface="Times New Roman" panose="02020603050405020304" pitchFamily="18" charset="0"/>
              </a:rPr>
              <a:t>catalog</a:t>
            </a:r>
            <a:r>
              <a:rPr lang="en-IN" sz="2000" kern="100" dirty="0">
                <a:solidFill>
                  <a:schemeClr val="tx1"/>
                </a:solidFill>
                <a:effectLst/>
                <a:latin typeface="Aptos" panose="020B0004020202020204" pitchFamily="34" charset="0"/>
                <a:ea typeface="Aptos" panose="020B0004020202020204" pitchFamily="34" charset="0"/>
                <a:cs typeface="Times New Roman" panose="02020603050405020304" pitchFamily="18" charset="0"/>
              </a:rPr>
              <a:t> includes information such as the names and sizes of files, names and data types of data items, storage details of each file, mapping information among schemas, and constraints. In addition, the </a:t>
            </a:r>
            <a:r>
              <a:rPr lang="en-IN" sz="2000" kern="100" dirty="0" err="1">
                <a:solidFill>
                  <a:schemeClr val="tx1"/>
                </a:solidFill>
                <a:effectLst/>
                <a:latin typeface="Aptos" panose="020B0004020202020204" pitchFamily="34" charset="0"/>
                <a:ea typeface="Aptos" panose="020B0004020202020204" pitchFamily="34" charset="0"/>
                <a:cs typeface="Times New Roman" panose="02020603050405020304" pitchFamily="18" charset="0"/>
              </a:rPr>
              <a:t>catalog</a:t>
            </a:r>
            <a:r>
              <a:rPr lang="en-IN" sz="2000" kern="100" dirty="0">
                <a:solidFill>
                  <a:schemeClr val="tx1"/>
                </a:solidFill>
                <a:effectLst/>
                <a:latin typeface="Aptos" panose="020B0004020202020204" pitchFamily="34" charset="0"/>
                <a:ea typeface="Aptos" panose="020B0004020202020204" pitchFamily="34" charset="0"/>
                <a:cs typeface="Times New Roman" panose="02020603050405020304" pitchFamily="18" charset="0"/>
              </a:rPr>
              <a:t> stores many other types of information that are needed by the DBMS modules, which can then look up the </a:t>
            </a:r>
            <a:r>
              <a:rPr lang="en-IN" sz="2000" kern="100" dirty="0" err="1">
                <a:solidFill>
                  <a:schemeClr val="tx1"/>
                </a:solidFill>
                <a:effectLst/>
                <a:latin typeface="Aptos" panose="020B0004020202020204" pitchFamily="34" charset="0"/>
                <a:ea typeface="Aptos" panose="020B0004020202020204" pitchFamily="34" charset="0"/>
                <a:cs typeface="Times New Roman" panose="02020603050405020304" pitchFamily="18" charset="0"/>
              </a:rPr>
              <a:t>catalog</a:t>
            </a:r>
            <a:r>
              <a:rPr lang="en-IN" sz="2000" kern="100" dirty="0">
                <a:solidFill>
                  <a:schemeClr val="tx1"/>
                </a:solidFill>
                <a:effectLst/>
                <a:latin typeface="Aptos" panose="020B0004020202020204" pitchFamily="34" charset="0"/>
                <a:ea typeface="Aptos" panose="020B0004020202020204" pitchFamily="34" charset="0"/>
                <a:cs typeface="Times New Roman" panose="02020603050405020304" pitchFamily="18" charset="0"/>
              </a:rPr>
              <a:t> information as needed.</a:t>
            </a:r>
          </a:p>
          <a:p>
            <a:pPr algn="just">
              <a:lnSpc>
                <a:spcPct val="115000"/>
              </a:lnSpc>
              <a:spcAft>
                <a:spcPts val="800"/>
              </a:spcAft>
            </a:pPr>
            <a:r>
              <a:rPr lang="en-IN" sz="2000" b="1" dirty="0">
                <a:solidFill>
                  <a:srgbClr val="FF0000"/>
                </a:solidFill>
                <a:effectLst/>
                <a:latin typeface="Aptos" panose="020B0004020202020204" pitchFamily="34" charset="0"/>
                <a:ea typeface="Aptos" panose="020B0004020202020204" pitchFamily="34" charset="0"/>
                <a:cs typeface="Times New Roman" panose="02020603050405020304" pitchFamily="18" charset="0"/>
              </a:rPr>
              <a:t>Casual users </a:t>
            </a:r>
            <a:r>
              <a:rPr lang="en-IN" sz="2000" dirty="0">
                <a:solidFill>
                  <a:schemeClr val="tx1"/>
                </a:solidFill>
                <a:effectLst/>
                <a:latin typeface="Aptos" panose="020B0004020202020204" pitchFamily="34" charset="0"/>
                <a:ea typeface="Aptos" panose="020B0004020202020204" pitchFamily="34" charset="0"/>
                <a:cs typeface="Times New Roman" panose="02020603050405020304" pitchFamily="18" charset="0"/>
              </a:rPr>
              <a:t>and persons with occasional need for information from the database.</a:t>
            </a:r>
            <a:endParaRPr lang="en-US" sz="2000" dirty="0">
              <a:solidFill>
                <a:schemeClr val="tx1"/>
              </a:solidFill>
            </a:endParaRPr>
          </a:p>
        </p:txBody>
      </p:sp>
    </p:spTree>
    <p:extLst>
      <p:ext uri="{BB962C8B-B14F-4D97-AF65-F5344CB8AC3E}">
        <p14:creationId xmlns:p14="http://schemas.microsoft.com/office/powerpoint/2010/main" val="2100029290"/>
      </p:ext>
    </p:extLst>
  </p:cSld>
  <p:clrMapOvr>
    <a:masterClrMapping/>
  </p:clrMapOvr>
</p:sld>
</file>

<file path=ppt/slides/slide10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76F9FE2-ADF5-5DE7-5F33-E77856C58F0A}"/>
            </a:ext>
          </a:extLst>
        </p:cNvPr>
        <p:cNvGrpSpPr/>
        <p:nvPr/>
      </p:nvGrpSpPr>
      <p:grpSpPr>
        <a:xfrm>
          <a:off x="0" y="0"/>
          <a:ext cx="0" cy="0"/>
          <a:chOff x="0" y="0"/>
          <a:chExt cx="0" cy="0"/>
        </a:xfrm>
      </p:grpSpPr>
      <p:sp>
        <p:nvSpPr>
          <p:cNvPr id="2" name="Slide Number Placeholder 1">
            <a:extLst>
              <a:ext uri="{FF2B5EF4-FFF2-40B4-BE49-F238E27FC236}">
                <a16:creationId xmlns:a16="http://schemas.microsoft.com/office/drawing/2014/main" id="{3A21A527-7522-3C52-79F9-213A287DA15C}"/>
              </a:ext>
            </a:extLst>
          </p:cNvPr>
          <p:cNvSpPr>
            <a:spLocks noGrp="1"/>
          </p:cNvSpPr>
          <p:nvPr>
            <p:ph type="sldNum" sz="quarter" idx="14"/>
          </p:nvPr>
        </p:nvSpPr>
        <p:spPr/>
        <p:txBody>
          <a:bodyPr/>
          <a:lstStyle/>
          <a:p>
            <a:fld id="{45A3C14A-F937-4231-B6F1-40B429FAFB2F}" type="slidenum">
              <a:rPr lang="en-NZ" smtClean="0"/>
              <a:pPr/>
              <a:t>100</a:t>
            </a:fld>
            <a:endParaRPr lang="en-NZ" dirty="0"/>
          </a:p>
        </p:txBody>
      </p:sp>
      <p:sp>
        <p:nvSpPr>
          <p:cNvPr id="3" name="Title 2">
            <a:extLst>
              <a:ext uri="{FF2B5EF4-FFF2-40B4-BE49-F238E27FC236}">
                <a16:creationId xmlns:a16="http://schemas.microsoft.com/office/drawing/2014/main" id="{D9DA901B-F54C-FE31-7A12-779B39A27B26}"/>
              </a:ext>
            </a:extLst>
          </p:cNvPr>
          <p:cNvSpPr>
            <a:spLocks noGrp="1"/>
          </p:cNvSpPr>
          <p:nvPr>
            <p:ph type="title"/>
          </p:nvPr>
        </p:nvSpPr>
        <p:spPr/>
        <p:txBody>
          <a:bodyPr/>
          <a:lstStyle/>
          <a:p>
            <a:r>
              <a:rPr lang="en-IN" b="0" i="0" dirty="0">
                <a:solidFill>
                  <a:srgbClr val="333333"/>
                </a:solidFill>
                <a:effectLst/>
                <a:latin typeface="Arial" panose="020B0604020202020204" pitchFamily="34" charset="0"/>
              </a:rPr>
              <a:t>Database System Utilities</a:t>
            </a:r>
            <a:br>
              <a:rPr lang="en-US" dirty="0"/>
            </a:br>
            <a:endParaRPr lang="en-US" dirty="0"/>
          </a:p>
        </p:txBody>
      </p:sp>
      <p:sp>
        <p:nvSpPr>
          <p:cNvPr id="4" name="Text Placeholder 3">
            <a:extLst>
              <a:ext uri="{FF2B5EF4-FFF2-40B4-BE49-F238E27FC236}">
                <a16:creationId xmlns:a16="http://schemas.microsoft.com/office/drawing/2014/main" id="{88800CA1-9A22-2A5E-340F-991EB2370505}"/>
              </a:ext>
            </a:extLst>
          </p:cNvPr>
          <p:cNvSpPr>
            <a:spLocks noGrp="1"/>
          </p:cNvSpPr>
          <p:nvPr>
            <p:ph type="body" sz="quarter" idx="17"/>
          </p:nvPr>
        </p:nvSpPr>
        <p:spPr>
          <a:xfrm>
            <a:off x="363673" y="980728"/>
            <a:ext cx="11145828" cy="4824536"/>
          </a:xfrm>
        </p:spPr>
        <p:txBody>
          <a:bodyPr/>
          <a:lstStyle/>
          <a:p>
            <a:pPr algn="just">
              <a:lnSpc>
                <a:spcPct val="115000"/>
              </a:lnSpc>
              <a:spcAft>
                <a:spcPts val="800"/>
              </a:spcAft>
            </a:pPr>
            <a:r>
              <a:rPr lang="en-US" sz="2000" b="1" i="0" dirty="0">
                <a:solidFill>
                  <a:srgbClr val="333333"/>
                </a:solidFill>
                <a:effectLst/>
                <a:latin typeface="Times New Roman" panose="02020603050405020304" pitchFamily="18" charset="0"/>
              </a:rPr>
              <a:t>Loading. </a:t>
            </a:r>
            <a:r>
              <a:rPr lang="en-US" sz="2000" b="0" i="0" dirty="0">
                <a:solidFill>
                  <a:srgbClr val="333333"/>
                </a:solidFill>
                <a:effectLst/>
                <a:latin typeface="Times New Roman" panose="02020603050405020304" pitchFamily="18" charset="0"/>
              </a:rPr>
              <a:t>A loading utility is used to load existing data files—such as text</a:t>
            </a:r>
            <a:r>
              <a:rPr lang="en-US" sz="2000" b="1" i="0" dirty="0">
                <a:solidFill>
                  <a:srgbClr val="333333"/>
                </a:solidFill>
                <a:effectLst/>
                <a:latin typeface="Times New Roman" panose="02020603050405020304" pitchFamily="18" charset="0"/>
              </a:rPr>
              <a:t> </a:t>
            </a:r>
            <a:r>
              <a:rPr lang="en-US" sz="2000" b="0" i="0" dirty="0">
                <a:solidFill>
                  <a:srgbClr val="333333"/>
                </a:solidFill>
                <a:effectLst/>
                <a:latin typeface="Times New Roman" panose="02020603050405020304" pitchFamily="18" charset="0"/>
              </a:rPr>
              <a:t>files or sequential files—into the database.</a:t>
            </a:r>
            <a:endParaRPr lang="en-IN" sz="2000" b="0" i="0" kern="100" dirty="0">
              <a:solidFill>
                <a:schemeClr val="tx1"/>
              </a:solidFill>
              <a:latin typeface="Aptos" panose="020B0004020202020204" pitchFamily="34" charset="0"/>
              <a:cs typeface="Times New Roman" panose="02020603050405020304" pitchFamily="18" charset="0"/>
            </a:endParaRPr>
          </a:p>
          <a:p>
            <a:pPr algn="just">
              <a:lnSpc>
                <a:spcPct val="115000"/>
              </a:lnSpc>
              <a:spcAft>
                <a:spcPts val="800"/>
              </a:spcAft>
            </a:pPr>
            <a:r>
              <a:rPr lang="en-US" sz="2000" b="1" i="0" dirty="0">
                <a:solidFill>
                  <a:srgbClr val="333333"/>
                </a:solidFill>
                <a:effectLst/>
                <a:latin typeface="Times New Roman" panose="02020603050405020304" pitchFamily="18" charset="0"/>
              </a:rPr>
              <a:t>Backup. </a:t>
            </a:r>
            <a:r>
              <a:rPr lang="en-US" sz="2000" b="0" i="0" dirty="0">
                <a:solidFill>
                  <a:srgbClr val="333333"/>
                </a:solidFill>
                <a:effectLst/>
                <a:latin typeface="Times New Roman" panose="02020603050405020304" pitchFamily="18" charset="0"/>
              </a:rPr>
              <a:t>A backup utility creates a backup copy of the database, usually by</a:t>
            </a:r>
            <a:r>
              <a:rPr lang="en-US" sz="2000" b="1" i="0" dirty="0">
                <a:solidFill>
                  <a:srgbClr val="333333"/>
                </a:solidFill>
                <a:effectLst/>
                <a:latin typeface="Times New Roman" panose="02020603050405020304" pitchFamily="18" charset="0"/>
              </a:rPr>
              <a:t> </a:t>
            </a:r>
            <a:r>
              <a:rPr lang="en-US" sz="2000" b="0" i="0" dirty="0">
                <a:solidFill>
                  <a:srgbClr val="333333"/>
                </a:solidFill>
                <a:effectLst/>
                <a:latin typeface="Times New Roman" panose="02020603050405020304" pitchFamily="18" charset="0"/>
              </a:rPr>
              <a:t>dumping the entire database onto tape or other mass storage medium.</a:t>
            </a:r>
            <a:endParaRPr lang="en-IN" sz="2000" kern="100" dirty="0">
              <a:solidFill>
                <a:schemeClr val="tx1"/>
              </a:solidFill>
              <a:effectLst/>
              <a:latin typeface="Aptos" panose="020B0004020202020204" pitchFamily="34" charset="0"/>
              <a:cs typeface="Times New Roman" panose="02020603050405020304" pitchFamily="18" charset="0"/>
            </a:endParaRPr>
          </a:p>
          <a:p>
            <a:pPr algn="just">
              <a:lnSpc>
                <a:spcPct val="115000"/>
              </a:lnSpc>
              <a:spcAft>
                <a:spcPts val="800"/>
              </a:spcAft>
            </a:pPr>
            <a:r>
              <a:rPr lang="en-US" sz="2000" b="1" i="0" dirty="0">
                <a:solidFill>
                  <a:srgbClr val="333333"/>
                </a:solidFill>
                <a:effectLst/>
                <a:latin typeface="Times New Roman" panose="02020603050405020304" pitchFamily="18" charset="0"/>
              </a:rPr>
              <a:t>Database storage reorganization. </a:t>
            </a:r>
            <a:r>
              <a:rPr lang="en-US" sz="2000" b="0" i="0" dirty="0">
                <a:solidFill>
                  <a:srgbClr val="333333"/>
                </a:solidFill>
                <a:effectLst/>
                <a:latin typeface="Times New Roman" panose="02020603050405020304" pitchFamily="18" charset="0"/>
              </a:rPr>
              <a:t>This utility can be used to reorganize a set</a:t>
            </a:r>
            <a:r>
              <a:rPr lang="en-US" sz="2000" b="1" i="0" dirty="0">
                <a:solidFill>
                  <a:srgbClr val="333333"/>
                </a:solidFill>
                <a:effectLst/>
                <a:latin typeface="Times New Roman" panose="02020603050405020304" pitchFamily="18" charset="0"/>
              </a:rPr>
              <a:t> </a:t>
            </a:r>
            <a:r>
              <a:rPr lang="en-US" sz="2000" b="0" i="0" dirty="0">
                <a:solidFill>
                  <a:srgbClr val="333333"/>
                </a:solidFill>
                <a:effectLst/>
                <a:latin typeface="Times New Roman" panose="02020603050405020304" pitchFamily="18" charset="0"/>
              </a:rPr>
              <a:t>of database files into different file organizations, and create new access paths to improve performance.</a:t>
            </a:r>
            <a:endParaRPr lang="en-IN" sz="2000" b="0" i="0" kern="100" dirty="0">
              <a:solidFill>
                <a:schemeClr val="tx1"/>
              </a:solidFill>
              <a:latin typeface="Aptos" panose="020B0004020202020204" pitchFamily="34" charset="0"/>
              <a:cs typeface="Times New Roman" panose="02020603050405020304" pitchFamily="18" charset="0"/>
            </a:endParaRPr>
          </a:p>
          <a:p>
            <a:pPr algn="just">
              <a:lnSpc>
                <a:spcPct val="115000"/>
              </a:lnSpc>
              <a:spcAft>
                <a:spcPts val="800"/>
              </a:spcAft>
            </a:pPr>
            <a:r>
              <a:rPr lang="en-US" sz="2000" b="0" i="0" dirty="0">
                <a:solidFill>
                  <a:srgbClr val="808080"/>
                </a:solidFill>
                <a:effectLst/>
                <a:latin typeface="Times New Roman" panose="02020603050405020304" pitchFamily="18" charset="0"/>
              </a:rPr>
              <a:t> </a:t>
            </a:r>
            <a:r>
              <a:rPr lang="en-US" sz="2000" b="1" i="0" dirty="0">
                <a:solidFill>
                  <a:srgbClr val="333333"/>
                </a:solidFill>
                <a:effectLst/>
                <a:latin typeface="Times New Roman" panose="02020603050405020304" pitchFamily="18" charset="0"/>
              </a:rPr>
              <a:t>Performance monitoring. </a:t>
            </a:r>
            <a:r>
              <a:rPr lang="en-US" sz="2000" b="0" i="0" dirty="0">
                <a:solidFill>
                  <a:srgbClr val="333333"/>
                </a:solidFill>
                <a:effectLst/>
                <a:latin typeface="Times New Roman" panose="02020603050405020304" pitchFamily="18" charset="0"/>
              </a:rPr>
              <a:t>Such a utility monitors database usage and provides statistics to the DBA. The DBA uses the statistics in making decisions such as whether or not to reorganize files or whether to add or drop indexes to improve performance.</a:t>
            </a:r>
            <a:endParaRPr lang="en-IN" sz="2000" kern="100" dirty="0">
              <a:solidFill>
                <a:schemeClr val="tx1"/>
              </a:solidFill>
              <a:effectLst/>
              <a:latin typeface="Aptos" panose="020B0004020202020204" pitchFamily="34" charset="0"/>
              <a:cs typeface="Times New Roman" panose="02020603050405020304" pitchFamily="18" charset="0"/>
            </a:endParaRPr>
          </a:p>
          <a:p>
            <a:pPr algn="just">
              <a:lnSpc>
                <a:spcPct val="115000"/>
              </a:lnSpc>
              <a:spcAft>
                <a:spcPts val="800"/>
              </a:spcAft>
            </a:pPr>
            <a:r>
              <a:rPr lang="en-US" sz="2000" b="0" i="0" dirty="0">
                <a:solidFill>
                  <a:srgbClr val="333333"/>
                </a:solidFill>
                <a:effectLst/>
                <a:latin typeface="Times New Roman" panose="02020603050405020304" pitchFamily="18" charset="0"/>
              </a:rPr>
              <a:t>Other utilities may be available for </a:t>
            </a:r>
            <a:r>
              <a:rPr lang="en-US" sz="2000" b="1" i="0" dirty="0">
                <a:solidFill>
                  <a:srgbClr val="FF0000"/>
                </a:solidFill>
                <a:effectLst/>
                <a:latin typeface="Times New Roman" panose="02020603050405020304" pitchFamily="18" charset="0"/>
              </a:rPr>
              <a:t>sorting files, handling data compression, monitoring access by users, interfacing with the network</a:t>
            </a:r>
            <a:r>
              <a:rPr lang="en-US" sz="2000" b="0" i="0" dirty="0">
                <a:solidFill>
                  <a:srgbClr val="333333"/>
                </a:solidFill>
                <a:effectLst/>
                <a:latin typeface="Times New Roman" panose="02020603050405020304" pitchFamily="18" charset="0"/>
              </a:rPr>
              <a:t>, and performing other functions.</a:t>
            </a:r>
            <a:endParaRPr lang="en-US" sz="2000" dirty="0">
              <a:solidFill>
                <a:schemeClr val="tx1"/>
              </a:solidFill>
            </a:endParaRPr>
          </a:p>
        </p:txBody>
      </p:sp>
    </p:spTree>
    <p:extLst>
      <p:ext uri="{BB962C8B-B14F-4D97-AF65-F5344CB8AC3E}">
        <p14:creationId xmlns:p14="http://schemas.microsoft.com/office/powerpoint/2010/main" val="726217245"/>
      </p:ext>
    </p:extLst>
  </p:cSld>
  <p:clrMapOvr>
    <a:masterClrMapping/>
  </p:clrMapOvr>
</p:sld>
</file>

<file path=ppt/slides/slide10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F0B8BCA-B62E-D751-DB03-5BB78ABBFD1F}"/>
            </a:ext>
          </a:extLst>
        </p:cNvPr>
        <p:cNvGrpSpPr/>
        <p:nvPr/>
      </p:nvGrpSpPr>
      <p:grpSpPr>
        <a:xfrm>
          <a:off x="0" y="0"/>
          <a:ext cx="0" cy="0"/>
          <a:chOff x="0" y="0"/>
          <a:chExt cx="0" cy="0"/>
        </a:xfrm>
      </p:grpSpPr>
      <p:sp>
        <p:nvSpPr>
          <p:cNvPr id="2" name="Slide Number Placeholder 1">
            <a:extLst>
              <a:ext uri="{FF2B5EF4-FFF2-40B4-BE49-F238E27FC236}">
                <a16:creationId xmlns:a16="http://schemas.microsoft.com/office/drawing/2014/main" id="{95E24AA9-F0B4-50A1-2092-348E851520DE}"/>
              </a:ext>
            </a:extLst>
          </p:cNvPr>
          <p:cNvSpPr>
            <a:spLocks noGrp="1"/>
          </p:cNvSpPr>
          <p:nvPr>
            <p:ph type="sldNum" sz="quarter" idx="14"/>
          </p:nvPr>
        </p:nvSpPr>
        <p:spPr/>
        <p:txBody>
          <a:bodyPr/>
          <a:lstStyle/>
          <a:p>
            <a:fld id="{45A3C14A-F937-4231-B6F1-40B429FAFB2F}" type="slidenum">
              <a:rPr lang="en-NZ" smtClean="0"/>
              <a:pPr/>
              <a:t>101</a:t>
            </a:fld>
            <a:endParaRPr lang="en-NZ" dirty="0"/>
          </a:p>
        </p:txBody>
      </p:sp>
      <p:sp>
        <p:nvSpPr>
          <p:cNvPr id="3" name="Title 2">
            <a:extLst>
              <a:ext uri="{FF2B5EF4-FFF2-40B4-BE49-F238E27FC236}">
                <a16:creationId xmlns:a16="http://schemas.microsoft.com/office/drawing/2014/main" id="{FFF0964C-A56E-1A2B-437F-C9A48D074C5E}"/>
              </a:ext>
            </a:extLst>
          </p:cNvPr>
          <p:cNvSpPr>
            <a:spLocks noGrp="1"/>
          </p:cNvSpPr>
          <p:nvPr>
            <p:ph type="title"/>
          </p:nvPr>
        </p:nvSpPr>
        <p:spPr/>
        <p:txBody>
          <a:bodyPr/>
          <a:lstStyle/>
          <a:p>
            <a:r>
              <a:rPr lang="en-IN" b="1" i="0" dirty="0">
                <a:solidFill>
                  <a:srgbClr val="333333"/>
                </a:solidFill>
                <a:effectLst/>
                <a:latin typeface="Arial" panose="020B0604020202020204" pitchFamily="34" charset="0"/>
              </a:rPr>
              <a:t>CLIENT SERVER ARCHITECTURE</a:t>
            </a:r>
            <a:br>
              <a:rPr lang="en-US" dirty="0"/>
            </a:br>
            <a:endParaRPr lang="en-US" dirty="0"/>
          </a:p>
        </p:txBody>
      </p:sp>
      <p:sp>
        <p:nvSpPr>
          <p:cNvPr id="4" name="Text Placeholder 3">
            <a:extLst>
              <a:ext uri="{FF2B5EF4-FFF2-40B4-BE49-F238E27FC236}">
                <a16:creationId xmlns:a16="http://schemas.microsoft.com/office/drawing/2014/main" id="{D52A0D75-3E62-FE26-0784-DB184D86B927}"/>
              </a:ext>
            </a:extLst>
          </p:cNvPr>
          <p:cNvSpPr>
            <a:spLocks noGrp="1"/>
          </p:cNvSpPr>
          <p:nvPr>
            <p:ph type="body" sz="quarter" idx="17"/>
          </p:nvPr>
        </p:nvSpPr>
        <p:spPr>
          <a:xfrm>
            <a:off x="363673" y="980728"/>
            <a:ext cx="11145828" cy="4824536"/>
          </a:xfrm>
        </p:spPr>
        <p:txBody>
          <a:bodyPr/>
          <a:lstStyle/>
          <a:p>
            <a:pPr marL="0" indent="0">
              <a:buNone/>
            </a:pPr>
            <a:r>
              <a:rPr lang="en-US" b="1" dirty="0">
                <a:solidFill>
                  <a:srgbClr val="FF0000"/>
                </a:solidFill>
              </a:rPr>
              <a:t>What is Client-Server Architecture?</a:t>
            </a:r>
          </a:p>
          <a:p>
            <a:pPr marL="742950" lvl="1" indent="-285750">
              <a:buFont typeface="Arial" panose="020B0604020202020204" pitchFamily="34" charset="0"/>
              <a:buChar char="•"/>
            </a:pPr>
            <a:r>
              <a:rPr lang="en-US" dirty="0">
                <a:solidFill>
                  <a:schemeClr val="tx1"/>
                </a:solidFill>
              </a:rPr>
              <a:t>A distributed computing model where tasks and responsibilities are divided between clients (requesters) and servers (providers).</a:t>
            </a:r>
          </a:p>
          <a:p>
            <a:pPr marL="0" indent="0">
              <a:buNone/>
            </a:pPr>
            <a:r>
              <a:rPr lang="en-US" b="1" dirty="0">
                <a:solidFill>
                  <a:srgbClr val="FF0000"/>
                </a:solidFill>
              </a:rPr>
              <a:t>Purpose in DBMS:</a:t>
            </a:r>
            <a:endParaRPr lang="en-US" dirty="0">
              <a:solidFill>
                <a:srgbClr val="FF0000"/>
              </a:solidFill>
            </a:endParaRPr>
          </a:p>
          <a:p>
            <a:pPr marL="742950" lvl="1" indent="-285750">
              <a:buFont typeface="Arial" panose="020B0604020202020204" pitchFamily="34" charset="0"/>
              <a:buChar char="•"/>
            </a:pPr>
            <a:r>
              <a:rPr lang="en-US" dirty="0">
                <a:solidFill>
                  <a:schemeClr val="tx1"/>
                </a:solidFill>
              </a:rPr>
              <a:t>To manage database operations efficiently in a networked environment.</a:t>
            </a:r>
          </a:p>
          <a:p>
            <a:pPr marL="742950" lvl="1" indent="-285750">
              <a:buFont typeface="Arial" panose="020B0604020202020204" pitchFamily="34" charset="0"/>
              <a:buChar char="•"/>
            </a:pPr>
            <a:r>
              <a:rPr lang="en-US" dirty="0">
                <a:solidFill>
                  <a:schemeClr val="tx1"/>
                </a:solidFill>
              </a:rPr>
              <a:t>Ensures centralized data management, scalability, and multi-user support.</a:t>
            </a:r>
          </a:p>
        </p:txBody>
      </p:sp>
    </p:spTree>
    <p:extLst>
      <p:ext uri="{BB962C8B-B14F-4D97-AF65-F5344CB8AC3E}">
        <p14:creationId xmlns:p14="http://schemas.microsoft.com/office/powerpoint/2010/main" val="207033942"/>
      </p:ext>
    </p:extLst>
  </p:cSld>
  <p:clrMapOvr>
    <a:masterClrMapping/>
  </p:clrMapOvr>
</p:sld>
</file>

<file path=ppt/slides/slide10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2C18145-0CC9-4EBB-A48A-A8CF0F95CE9B}"/>
            </a:ext>
          </a:extLst>
        </p:cNvPr>
        <p:cNvGrpSpPr/>
        <p:nvPr/>
      </p:nvGrpSpPr>
      <p:grpSpPr>
        <a:xfrm>
          <a:off x="0" y="0"/>
          <a:ext cx="0" cy="0"/>
          <a:chOff x="0" y="0"/>
          <a:chExt cx="0" cy="0"/>
        </a:xfrm>
      </p:grpSpPr>
      <p:sp>
        <p:nvSpPr>
          <p:cNvPr id="2" name="Slide Number Placeholder 1">
            <a:extLst>
              <a:ext uri="{FF2B5EF4-FFF2-40B4-BE49-F238E27FC236}">
                <a16:creationId xmlns:a16="http://schemas.microsoft.com/office/drawing/2014/main" id="{AE066B81-387B-568B-16D1-ED5D635DC713}"/>
              </a:ext>
            </a:extLst>
          </p:cNvPr>
          <p:cNvSpPr>
            <a:spLocks noGrp="1"/>
          </p:cNvSpPr>
          <p:nvPr>
            <p:ph type="sldNum" sz="quarter" idx="14"/>
          </p:nvPr>
        </p:nvSpPr>
        <p:spPr/>
        <p:txBody>
          <a:bodyPr/>
          <a:lstStyle/>
          <a:p>
            <a:fld id="{45A3C14A-F937-4231-B6F1-40B429FAFB2F}" type="slidenum">
              <a:rPr lang="en-NZ" smtClean="0"/>
              <a:pPr/>
              <a:t>102</a:t>
            </a:fld>
            <a:endParaRPr lang="en-NZ" dirty="0"/>
          </a:p>
        </p:txBody>
      </p:sp>
      <p:sp>
        <p:nvSpPr>
          <p:cNvPr id="3" name="Title 2">
            <a:extLst>
              <a:ext uri="{FF2B5EF4-FFF2-40B4-BE49-F238E27FC236}">
                <a16:creationId xmlns:a16="http://schemas.microsoft.com/office/drawing/2014/main" id="{D424951C-5E3C-D825-620A-288DB64206CF}"/>
              </a:ext>
            </a:extLst>
          </p:cNvPr>
          <p:cNvSpPr>
            <a:spLocks noGrp="1"/>
          </p:cNvSpPr>
          <p:nvPr>
            <p:ph type="title"/>
          </p:nvPr>
        </p:nvSpPr>
        <p:spPr>
          <a:xfrm>
            <a:off x="695400" y="395786"/>
            <a:ext cx="7416824" cy="838202"/>
          </a:xfrm>
        </p:spPr>
        <p:txBody>
          <a:bodyPr/>
          <a:lstStyle/>
          <a:p>
            <a:r>
              <a:rPr lang="en-IN" b="1" i="0" dirty="0">
                <a:solidFill>
                  <a:srgbClr val="333333"/>
                </a:solidFill>
                <a:effectLst/>
                <a:latin typeface="Arial" panose="020B0604020202020204" pitchFamily="34" charset="0"/>
              </a:rPr>
              <a:t>CLIENT SERVER ARCHITECTURE</a:t>
            </a:r>
            <a:br>
              <a:rPr lang="en-US" dirty="0"/>
            </a:br>
            <a:endParaRPr lang="en-US" dirty="0"/>
          </a:p>
        </p:txBody>
      </p:sp>
      <p:sp>
        <p:nvSpPr>
          <p:cNvPr id="4" name="Text Placeholder 3">
            <a:extLst>
              <a:ext uri="{FF2B5EF4-FFF2-40B4-BE49-F238E27FC236}">
                <a16:creationId xmlns:a16="http://schemas.microsoft.com/office/drawing/2014/main" id="{6A82EA1D-8A1B-4E44-D028-F3F4B46F8C08}"/>
              </a:ext>
            </a:extLst>
          </p:cNvPr>
          <p:cNvSpPr>
            <a:spLocks noGrp="1"/>
          </p:cNvSpPr>
          <p:nvPr>
            <p:ph type="body" sz="quarter" idx="17"/>
          </p:nvPr>
        </p:nvSpPr>
        <p:spPr>
          <a:xfrm>
            <a:off x="363673" y="980728"/>
            <a:ext cx="11145828" cy="4824536"/>
          </a:xfrm>
        </p:spPr>
        <p:txBody>
          <a:bodyPr/>
          <a:lstStyle/>
          <a:p>
            <a:pPr marL="0" indent="0">
              <a:buNone/>
            </a:pPr>
            <a:r>
              <a:rPr lang="en-US" b="1" dirty="0">
                <a:solidFill>
                  <a:srgbClr val="FF0000"/>
                </a:solidFill>
              </a:rPr>
              <a:t>Components of Client-Server Architecture</a:t>
            </a:r>
          </a:p>
          <a:p>
            <a:pPr marL="0" indent="0">
              <a:buNone/>
            </a:pPr>
            <a:r>
              <a:rPr lang="en-US" b="1" dirty="0">
                <a:solidFill>
                  <a:schemeClr val="tx1"/>
                </a:solidFill>
              </a:rPr>
              <a:t>1. Client:</a:t>
            </a:r>
            <a:endParaRPr lang="en-US" dirty="0">
              <a:solidFill>
                <a:schemeClr val="tx1"/>
              </a:solidFill>
            </a:endParaRPr>
          </a:p>
          <a:p>
            <a:pPr marL="742950" lvl="1" indent="-285750">
              <a:buFont typeface="Arial" panose="020B0604020202020204" pitchFamily="34" charset="0"/>
              <a:buChar char="•"/>
            </a:pPr>
            <a:r>
              <a:rPr lang="en-US" dirty="0">
                <a:solidFill>
                  <a:schemeClr val="tx1"/>
                </a:solidFill>
              </a:rPr>
              <a:t>Sends requests to the server.</a:t>
            </a:r>
          </a:p>
          <a:p>
            <a:pPr marL="742950" lvl="1" indent="-285750">
              <a:buFont typeface="Arial" panose="020B0604020202020204" pitchFamily="34" charset="0"/>
              <a:buChar char="•"/>
            </a:pPr>
            <a:r>
              <a:rPr lang="en-US" dirty="0">
                <a:solidFill>
                  <a:schemeClr val="tx1"/>
                </a:solidFill>
              </a:rPr>
              <a:t>Example: Application, Web browser.</a:t>
            </a:r>
          </a:p>
          <a:p>
            <a:pPr marL="0" indent="0">
              <a:buNone/>
            </a:pPr>
            <a:r>
              <a:rPr lang="en-US" b="1" dirty="0">
                <a:solidFill>
                  <a:schemeClr val="tx1"/>
                </a:solidFill>
              </a:rPr>
              <a:t>2. Server:</a:t>
            </a:r>
            <a:endParaRPr lang="en-US" dirty="0">
              <a:solidFill>
                <a:schemeClr val="tx1"/>
              </a:solidFill>
            </a:endParaRPr>
          </a:p>
          <a:p>
            <a:pPr marL="742950" lvl="1" indent="-285750">
              <a:buFont typeface="Arial" panose="020B0604020202020204" pitchFamily="34" charset="0"/>
              <a:buChar char="•"/>
            </a:pPr>
            <a:r>
              <a:rPr lang="en-US" dirty="0">
                <a:solidFill>
                  <a:schemeClr val="tx1"/>
                </a:solidFill>
              </a:rPr>
              <a:t>Responds to client requests and processes data.</a:t>
            </a:r>
          </a:p>
          <a:p>
            <a:pPr marL="742950" lvl="1" indent="-285750">
              <a:buFont typeface="Arial" panose="020B0604020202020204" pitchFamily="34" charset="0"/>
              <a:buChar char="•"/>
            </a:pPr>
            <a:r>
              <a:rPr lang="en-US" dirty="0">
                <a:solidFill>
                  <a:schemeClr val="tx1"/>
                </a:solidFill>
              </a:rPr>
              <a:t>Example: MySQL Server, Oracle DB Server.</a:t>
            </a:r>
          </a:p>
          <a:p>
            <a:pPr marL="0" indent="0">
              <a:buNone/>
            </a:pPr>
            <a:r>
              <a:rPr lang="en-US" b="1" dirty="0">
                <a:solidFill>
                  <a:schemeClr val="tx1"/>
                </a:solidFill>
              </a:rPr>
              <a:t>3. Network:</a:t>
            </a:r>
            <a:endParaRPr lang="en-US" dirty="0">
              <a:solidFill>
                <a:schemeClr val="tx1"/>
              </a:solidFill>
            </a:endParaRPr>
          </a:p>
          <a:p>
            <a:pPr marL="742950" lvl="1" indent="-285750">
              <a:buFont typeface="Arial" panose="020B0604020202020204" pitchFamily="34" charset="0"/>
              <a:buChar char="•"/>
            </a:pPr>
            <a:r>
              <a:rPr lang="en-US" dirty="0">
                <a:solidFill>
                  <a:schemeClr val="tx1"/>
                </a:solidFill>
              </a:rPr>
              <a:t>Connects clients and servers for communication</a:t>
            </a:r>
            <a:r>
              <a:rPr lang="en-US" dirty="0"/>
              <a:t>.</a:t>
            </a:r>
          </a:p>
        </p:txBody>
      </p:sp>
    </p:spTree>
    <p:extLst>
      <p:ext uri="{BB962C8B-B14F-4D97-AF65-F5344CB8AC3E}">
        <p14:creationId xmlns:p14="http://schemas.microsoft.com/office/powerpoint/2010/main" val="2759328283"/>
      </p:ext>
    </p:extLst>
  </p:cSld>
  <p:clrMapOvr>
    <a:masterClrMapping/>
  </p:clrMapOvr>
</p:sld>
</file>

<file path=ppt/slides/slide10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5921CC7-1953-FC51-FE1B-A7F097D6B619}"/>
            </a:ext>
          </a:extLst>
        </p:cNvPr>
        <p:cNvGrpSpPr/>
        <p:nvPr/>
      </p:nvGrpSpPr>
      <p:grpSpPr>
        <a:xfrm>
          <a:off x="0" y="0"/>
          <a:ext cx="0" cy="0"/>
          <a:chOff x="0" y="0"/>
          <a:chExt cx="0" cy="0"/>
        </a:xfrm>
      </p:grpSpPr>
      <p:sp>
        <p:nvSpPr>
          <p:cNvPr id="2" name="Slide Number Placeholder 1">
            <a:extLst>
              <a:ext uri="{FF2B5EF4-FFF2-40B4-BE49-F238E27FC236}">
                <a16:creationId xmlns:a16="http://schemas.microsoft.com/office/drawing/2014/main" id="{224BB749-C41D-4965-0353-A7E5C6F6675F}"/>
              </a:ext>
            </a:extLst>
          </p:cNvPr>
          <p:cNvSpPr>
            <a:spLocks noGrp="1"/>
          </p:cNvSpPr>
          <p:nvPr>
            <p:ph type="sldNum" sz="quarter" idx="14"/>
          </p:nvPr>
        </p:nvSpPr>
        <p:spPr/>
        <p:txBody>
          <a:bodyPr/>
          <a:lstStyle/>
          <a:p>
            <a:fld id="{45A3C14A-F937-4231-B6F1-40B429FAFB2F}" type="slidenum">
              <a:rPr lang="en-NZ" smtClean="0"/>
              <a:pPr/>
              <a:t>103</a:t>
            </a:fld>
            <a:endParaRPr lang="en-NZ" dirty="0"/>
          </a:p>
        </p:txBody>
      </p:sp>
      <p:sp>
        <p:nvSpPr>
          <p:cNvPr id="3" name="Title 2">
            <a:extLst>
              <a:ext uri="{FF2B5EF4-FFF2-40B4-BE49-F238E27FC236}">
                <a16:creationId xmlns:a16="http://schemas.microsoft.com/office/drawing/2014/main" id="{C8E65FAB-9CFC-E210-4279-00F2352BA726}"/>
              </a:ext>
            </a:extLst>
          </p:cNvPr>
          <p:cNvSpPr>
            <a:spLocks noGrp="1"/>
          </p:cNvSpPr>
          <p:nvPr>
            <p:ph type="title"/>
          </p:nvPr>
        </p:nvSpPr>
        <p:spPr/>
        <p:txBody>
          <a:bodyPr/>
          <a:lstStyle/>
          <a:p>
            <a:r>
              <a:rPr lang="en-IN" b="1" i="0" dirty="0">
                <a:solidFill>
                  <a:srgbClr val="333333"/>
                </a:solidFill>
                <a:effectLst/>
                <a:latin typeface="Arial" panose="020B0604020202020204" pitchFamily="34" charset="0"/>
              </a:rPr>
              <a:t>CLIENT SERVER ARCHITECTURE</a:t>
            </a:r>
            <a:br>
              <a:rPr lang="en-US" dirty="0"/>
            </a:br>
            <a:endParaRPr lang="en-US" dirty="0"/>
          </a:p>
        </p:txBody>
      </p:sp>
      <p:sp>
        <p:nvSpPr>
          <p:cNvPr id="4" name="Text Placeholder 3">
            <a:extLst>
              <a:ext uri="{FF2B5EF4-FFF2-40B4-BE49-F238E27FC236}">
                <a16:creationId xmlns:a16="http://schemas.microsoft.com/office/drawing/2014/main" id="{340DCCC0-7CE7-C0C2-DA62-42BA11EE6687}"/>
              </a:ext>
            </a:extLst>
          </p:cNvPr>
          <p:cNvSpPr>
            <a:spLocks noGrp="1"/>
          </p:cNvSpPr>
          <p:nvPr>
            <p:ph type="body" sz="quarter" idx="17"/>
          </p:nvPr>
        </p:nvSpPr>
        <p:spPr>
          <a:xfrm>
            <a:off x="363673" y="980728"/>
            <a:ext cx="11145828" cy="4824536"/>
          </a:xfrm>
        </p:spPr>
        <p:txBody>
          <a:bodyPr/>
          <a:lstStyle/>
          <a:p>
            <a:pPr marL="0" indent="0">
              <a:buNone/>
            </a:pPr>
            <a:r>
              <a:rPr lang="en-US" b="1" dirty="0">
                <a:solidFill>
                  <a:srgbClr val="FF0000"/>
                </a:solidFill>
              </a:rPr>
              <a:t>Features of Client-Server Architecture</a:t>
            </a:r>
          </a:p>
          <a:p>
            <a:pPr marL="0" indent="0">
              <a:buNone/>
            </a:pPr>
            <a:r>
              <a:rPr lang="en-US" b="1" dirty="0">
                <a:solidFill>
                  <a:schemeClr val="tx1"/>
                </a:solidFill>
              </a:rPr>
              <a:t>Centralized Database Management:</a:t>
            </a:r>
            <a:endParaRPr lang="en-US" dirty="0">
              <a:solidFill>
                <a:schemeClr val="tx1"/>
              </a:solidFill>
            </a:endParaRPr>
          </a:p>
          <a:p>
            <a:pPr marL="742950" lvl="1" indent="-285750">
              <a:buFont typeface="Arial" panose="020B0604020202020204" pitchFamily="34" charset="0"/>
              <a:buChar char="•"/>
            </a:pPr>
            <a:r>
              <a:rPr lang="en-US" dirty="0">
                <a:solidFill>
                  <a:schemeClr val="tx1"/>
                </a:solidFill>
              </a:rPr>
              <a:t>All data is stored on the server for easy access and management.</a:t>
            </a:r>
          </a:p>
          <a:p>
            <a:pPr marL="0" indent="0">
              <a:buNone/>
            </a:pPr>
            <a:r>
              <a:rPr lang="en-US" b="1" dirty="0">
                <a:solidFill>
                  <a:schemeClr val="tx1"/>
                </a:solidFill>
              </a:rPr>
              <a:t>Multi-user Environment:</a:t>
            </a:r>
            <a:endParaRPr lang="en-US" dirty="0">
              <a:solidFill>
                <a:schemeClr val="tx1"/>
              </a:solidFill>
            </a:endParaRPr>
          </a:p>
          <a:p>
            <a:pPr marL="742950" lvl="1" indent="-285750">
              <a:buFont typeface="Arial" panose="020B0604020202020204" pitchFamily="34" charset="0"/>
              <a:buChar char="•"/>
            </a:pPr>
            <a:r>
              <a:rPr lang="en-US" dirty="0">
                <a:solidFill>
                  <a:schemeClr val="tx1"/>
                </a:solidFill>
              </a:rPr>
              <a:t>Supports simultaneous access by multiple clients.</a:t>
            </a:r>
          </a:p>
          <a:p>
            <a:pPr marL="0" indent="0">
              <a:buNone/>
            </a:pPr>
            <a:r>
              <a:rPr lang="en-US" b="1" dirty="0">
                <a:solidFill>
                  <a:schemeClr val="tx1"/>
                </a:solidFill>
              </a:rPr>
              <a:t>Scalability:</a:t>
            </a:r>
            <a:endParaRPr lang="en-US" dirty="0">
              <a:solidFill>
                <a:schemeClr val="tx1"/>
              </a:solidFill>
            </a:endParaRPr>
          </a:p>
          <a:p>
            <a:pPr marL="742950" lvl="1" indent="-285750">
              <a:buFont typeface="Arial" panose="020B0604020202020204" pitchFamily="34" charset="0"/>
              <a:buChar char="•"/>
            </a:pPr>
            <a:r>
              <a:rPr lang="en-US" dirty="0">
                <a:solidFill>
                  <a:schemeClr val="tx1"/>
                </a:solidFill>
              </a:rPr>
              <a:t>More clients can be added easily by upgrading server capabilities.</a:t>
            </a:r>
          </a:p>
          <a:p>
            <a:pPr marL="0" indent="0">
              <a:buNone/>
            </a:pPr>
            <a:r>
              <a:rPr lang="en-US" b="1" dirty="0">
                <a:solidFill>
                  <a:schemeClr val="tx1"/>
                </a:solidFill>
              </a:rPr>
              <a:t>Security:</a:t>
            </a:r>
            <a:endParaRPr lang="en-US" dirty="0">
              <a:solidFill>
                <a:schemeClr val="tx1"/>
              </a:solidFill>
            </a:endParaRPr>
          </a:p>
          <a:p>
            <a:pPr marL="742950" lvl="1" indent="-285750">
              <a:buFont typeface="Arial" panose="020B0604020202020204" pitchFamily="34" charset="0"/>
              <a:buChar char="•"/>
            </a:pPr>
            <a:r>
              <a:rPr lang="en-US" dirty="0">
                <a:solidFill>
                  <a:schemeClr val="tx1"/>
                </a:solidFill>
              </a:rPr>
              <a:t>Data security policies are centralized and easier to enforce.</a:t>
            </a:r>
          </a:p>
        </p:txBody>
      </p:sp>
    </p:spTree>
    <p:extLst>
      <p:ext uri="{BB962C8B-B14F-4D97-AF65-F5344CB8AC3E}">
        <p14:creationId xmlns:p14="http://schemas.microsoft.com/office/powerpoint/2010/main" val="1764746223"/>
      </p:ext>
    </p:extLst>
  </p:cSld>
  <p:clrMapOvr>
    <a:masterClrMapping/>
  </p:clrMapOvr>
</p:sld>
</file>

<file path=ppt/slides/slide10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FA0E266-4182-9B19-61F6-88B3A33320C0}"/>
            </a:ext>
          </a:extLst>
        </p:cNvPr>
        <p:cNvGrpSpPr/>
        <p:nvPr/>
      </p:nvGrpSpPr>
      <p:grpSpPr>
        <a:xfrm>
          <a:off x="0" y="0"/>
          <a:ext cx="0" cy="0"/>
          <a:chOff x="0" y="0"/>
          <a:chExt cx="0" cy="0"/>
        </a:xfrm>
      </p:grpSpPr>
      <p:sp>
        <p:nvSpPr>
          <p:cNvPr id="2" name="Slide Number Placeholder 1">
            <a:extLst>
              <a:ext uri="{FF2B5EF4-FFF2-40B4-BE49-F238E27FC236}">
                <a16:creationId xmlns:a16="http://schemas.microsoft.com/office/drawing/2014/main" id="{41F056A3-3CE3-8C38-F1B9-76DE110D8F92}"/>
              </a:ext>
            </a:extLst>
          </p:cNvPr>
          <p:cNvSpPr>
            <a:spLocks noGrp="1"/>
          </p:cNvSpPr>
          <p:nvPr>
            <p:ph type="sldNum" sz="quarter" idx="14"/>
          </p:nvPr>
        </p:nvSpPr>
        <p:spPr/>
        <p:txBody>
          <a:bodyPr/>
          <a:lstStyle/>
          <a:p>
            <a:fld id="{45A3C14A-F937-4231-B6F1-40B429FAFB2F}" type="slidenum">
              <a:rPr lang="en-NZ" smtClean="0"/>
              <a:pPr/>
              <a:t>104</a:t>
            </a:fld>
            <a:endParaRPr lang="en-NZ" dirty="0"/>
          </a:p>
        </p:txBody>
      </p:sp>
      <p:sp>
        <p:nvSpPr>
          <p:cNvPr id="3" name="Title 2">
            <a:extLst>
              <a:ext uri="{FF2B5EF4-FFF2-40B4-BE49-F238E27FC236}">
                <a16:creationId xmlns:a16="http://schemas.microsoft.com/office/drawing/2014/main" id="{7E480BB9-79C6-5A07-7412-673D521699C9}"/>
              </a:ext>
            </a:extLst>
          </p:cNvPr>
          <p:cNvSpPr>
            <a:spLocks noGrp="1"/>
          </p:cNvSpPr>
          <p:nvPr>
            <p:ph type="title"/>
          </p:nvPr>
        </p:nvSpPr>
        <p:spPr>
          <a:xfrm>
            <a:off x="695400" y="395786"/>
            <a:ext cx="8712968" cy="838202"/>
          </a:xfrm>
        </p:spPr>
        <p:txBody>
          <a:bodyPr/>
          <a:lstStyle/>
          <a:p>
            <a:r>
              <a:rPr lang="en-US" b="1" dirty="0">
                <a:solidFill>
                  <a:schemeClr val="tx1"/>
                </a:solidFill>
              </a:rPr>
              <a:t>Types of Client-Server Architecture</a:t>
            </a:r>
            <a:br>
              <a:rPr lang="en-US" dirty="0"/>
            </a:br>
            <a:endParaRPr lang="en-US" dirty="0"/>
          </a:p>
        </p:txBody>
      </p:sp>
      <p:sp>
        <p:nvSpPr>
          <p:cNvPr id="4" name="Text Placeholder 3">
            <a:extLst>
              <a:ext uri="{FF2B5EF4-FFF2-40B4-BE49-F238E27FC236}">
                <a16:creationId xmlns:a16="http://schemas.microsoft.com/office/drawing/2014/main" id="{9353A744-2384-8D06-F20F-82F90263A75E}"/>
              </a:ext>
            </a:extLst>
          </p:cNvPr>
          <p:cNvSpPr>
            <a:spLocks noGrp="1"/>
          </p:cNvSpPr>
          <p:nvPr>
            <p:ph type="body" sz="quarter" idx="17"/>
          </p:nvPr>
        </p:nvSpPr>
        <p:spPr>
          <a:xfrm>
            <a:off x="363673" y="980728"/>
            <a:ext cx="11708991" cy="4320480"/>
          </a:xfrm>
        </p:spPr>
        <p:txBody>
          <a:bodyPr/>
          <a:lstStyle/>
          <a:p>
            <a:pPr marL="0" indent="0">
              <a:buNone/>
            </a:pPr>
            <a:r>
              <a:rPr lang="en-US" b="1" dirty="0">
                <a:solidFill>
                  <a:srgbClr val="FF0000"/>
                </a:solidFill>
              </a:rPr>
              <a:t>1. Two-Tier Architecture</a:t>
            </a:r>
          </a:p>
          <a:p>
            <a:pPr marL="742950" lvl="1" indent="-285750">
              <a:buFont typeface="Arial" panose="020B0604020202020204" pitchFamily="34" charset="0"/>
              <a:buChar char="•"/>
            </a:pPr>
            <a:r>
              <a:rPr lang="en-US" dirty="0">
                <a:solidFill>
                  <a:schemeClr val="tx1"/>
                </a:solidFill>
              </a:rPr>
              <a:t>Direct communication between the client and the database server.</a:t>
            </a:r>
          </a:p>
          <a:p>
            <a:pPr marL="742950" lvl="1" indent="-285750">
              <a:buFont typeface="Arial" panose="020B0604020202020204" pitchFamily="34" charset="0"/>
              <a:buChar char="•"/>
            </a:pPr>
            <a:r>
              <a:rPr lang="en-US" dirty="0">
                <a:solidFill>
                  <a:schemeClr val="tx1"/>
                </a:solidFill>
              </a:rPr>
              <a:t>The application logic resides on the client side.</a:t>
            </a:r>
          </a:p>
          <a:p>
            <a:pPr marL="0" indent="0">
              <a:buNone/>
            </a:pPr>
            <a:r>
              <a:rPr lang="en-US" b="1" dirty="0">
                <a:solidFill>
                  <a:srgbClr val="FF0000"/>
                </a:solidFill>
              </a:rPr>
              <a:t>Advantages:</a:t>
            </a:r>
            <a:endParaRPr lang="en-US" dirty="0">
              <a:solidFill>
                <a:srgbClr val="FF0000"/>
              </a:solidFill>
            </a:endParaRPr>
          </a:p>
          <a:p>
            <a:pPr marL="742950" lvl="1" indent="-285750">
              <a:buFont typeface="Arial" panose="020B0604020202020204" pitchFamily="34" charset="0"/>
              <a:buChar char="•"/>
            </a:pPr>
            <a:r>
              <a:rPr lang="en-US" dirty="0">
                <a:solidFill>
                  <a:schemeClr val="tx1"/>
                </a:solidFill>
              </a:rPr>
              <a:t>Simple design and implementation.</a:t>
            </a:r>
          </a:p>
          <a:p>
            <a:pPr marL="742950" lvl="1" indent="-285750">
              <a:buFont typeface="Arial" panose="020B0604020202020204" pitchFamily="34" charset="0"/>
              <a:buChar char="•"/>
            </a:pPr>
            <a:r>
              <a:rPr lang="en-US" dirty="0">
                <a:solidFill>
                  <a:schemeClr val="tx1"/>
                </a:solidFill>
              </a:rPr>
              <a:t>Faster communication for small systems.</a:t>
            </a:r>
          </a:p>
          <a:p>
            <a:pPr marL="0" indent="0">
              <a:buNone/>
            </a:pPr>
            <a:r>
              <a:rPr lang="en-US" b="1" dirty="0">
                <a:solidFill>
                  <a:srgbClr val="FF0000"/>
                </a:solidFill>
              </a:rPr>
              <a:t>Disadvantages:</a:t>
            </a:r>
            <a:endParaRPr lang="en-US" dirty="0">
              <a:solidFill>
                <a:srgbClr val="FF0000"/>
              </a:solidFill>
            </a:endParaRPr>
          </a:p>
          <a:p>
            <a:pPr marL="742950" lvl="1" indent="-285750">
              <a:buFont typeface="Arial" panose="020B0604020202020204" pitchFamily="34" charset="0"/>
              <a:buChar char="•"/>
            </a:pPr>
            <a:r>
              <a:rPr lang="en-US" dirty="0">
                <a:solidFill>
                  <a:schemeClr val="tx1"/>
                </a:solidFill>
              </a:rPr>
              <a:t>Limited scalability.</a:t>
            </a:r>
          </a:p>
          <a:p>
            <a:pPr marL="742950" lvl="1" indent="-285750">
              <a:buFont typeface="Arial" panose="020B0604020202020204" pitchFamily="34" charset="0"/>
              <a:buChar char="•"/>
            </a:pPr>
            <a:r>
              <a:rPr lang="en-US" dirty="0">
                <a:solidFill>
                  <a:schemeClr val="tx1"/>
                </a:solidFill>
              </a:rPr>
              <a:t>Client overloads with application logic.</a:t>
            </a:r>
          </a:p>
          <a:p>
            <a:pPr marL="0" indent="0">
              <a:buNone/>
            </a:pPr>
            <a:r>
              <a:rPr lang="en-US" b="1" dirty="0">
                <a:solidFill>
                  <a:srgbClr val="FF0000"/>
                </a:solidFill>
              </a:rPr>
              <a:t>Example:</a:t>
            </a:r>
            <a:r>
              <a:rPr lang="en-US" b="1" dirty="0">
                <a:solidFill>
                  <a:schemeClr val="tx1"/>
                </a:solidFill>
              </a:rPr>
              <a:t> </a:t>
            </a:r>
            <a:r>
              <a:rPr lang="en-US" dirty="0">
                <a:solidFill>
                  <a:schemeClr val="tx1"/>
                </a:solidFill>
              </a:rPr>
              <a:t>MS Access client connecting directly to an SQL Server database.</a:t>
            </a:r>
          </a:p>
        </p:txBody>
      </p:sp>
    </p:spTree>
    <p:extLst>
      <p:ext uri="{BB962C8B-B14F-4D97-AF65-F5344CB8AC3E}">
        <p14:creationId xmlns:p14="http://schemas.microsoft.com/office/powerpoint/2010/main" val="4172175367"/>
      </p:ext>
    </p:extLst>
  </p:cSld>
  <p:clrMapOvr>
    <a:masterClrMapping/>
  </p:clrMapOvr>
</p:sld>
</file>

<file path=ppt/slides/slide10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036669A-4B36-9C69-3F5F-E473D973EB29}"/>
            </a:ext>
          </a:extLst>
        </p:cNvPr>
        <p:cNvGrpSpPr/>
        <p:nvPr/>
      </p:nvGrpSpPr>
      <p:grpSpPr>
        <a:xfrm>
          <a:off x="0" y="0"/>
          <a:ext cx="0" cy="0"/>
          <a:chOff x="0" y="0"/>
          <a:chExt cx="0" cy="0"/>
        </a:xfrm>
      </p:grpSpPr>
      <p:sp>
        <p:nvSpPr>
          <p:cNvPr id="2" name="Slide Number Placeholder 1">
            <a:extLst>
              <a:ext uri="{FF2B5EF4-FFF2-40B4-BE49-F238E27FC236}">
                <a16:creationId xmlns:a16="http://schemas.microsoft.com/office/drawing/2014/main" id="{67F62E31-B78D-45C5-5516-5A8082F2414A}"/>
              </a:ext>
            </a:extLst>
          </p:cNvPr>
          <p:cNvSpPr>
            <a:spLocks noGrp="1"/>
          </p:cNvSpPr>
          <p:nvPr>
            <p:ph type="sldNum" sz="quarter" idx="14"/>
          </p:nvPr>
        </p:nvSpPr>
        <p:spPr/>
        <p:txBody>
          <a:bodyPr/>
          <a:lstStyle/>
          <a:p>
            <a:fld id="{45A3C14A-F937-4231-B6F1-40B429FAFB2F}" type="slidenum">
              <a:rPr lang="en-NZ" smtClean="0"/>
              <a:pPr/>
              <a:t>105</a:t>
            </a:fld>
            <a:endParaRPr lang="en-NZ" dirty="0"/>
          </a:p>
        </p:txBody>
      </p:sp>
      <p:sp>
        <p:nvSpPr>
          <p:cNvPr id="3" name="Title 2">
            <a:extLst>
              <a:ext uri="{FF2B5EF4-FFF2-40B4-BE49-F238E27FC236}">
                <a16:creationId xmlns:a16="http://schemas.microsoft.com/office/drawing/2014/main" id="{2945C659-4924-3234-00E4-A3210B74D159}"/>
              </a:ext>
            </a:extLst>
          </p:cNvPr>
          <p:cNvSpPr>
            <a:spLocks noGrp="1"/>
          </p:cNvSpPr>
          <p:nvPr>
            <p:ph type="title"/>
          </p:nvPr>
        </p:nvSpPr>
        <p:spPr>
          <a:xfrm>
            <a:off x="695400" y="395786"/>
            <a:ext cx="7560840" cy="838202"/>
          </a:xfrm>
        </p:spPr>
        <p:txBody>
          <a:bodyPr/>
          <a:lstStyle/>
          <a:p>
            <a:r>
              <a:rPr lang="en-US" b="1" dirty="0">
                <a:solidFill>
                  <a:schemeClr val="tx1"/>
                </a:solidFill>
              </a:rPr>
              <a:t>Types of Client-Server Architecture</a:t>
            </a:r>
            <a:br>
              <a:rPr lang="en-US" dirty="0"/>
            </a:br>
            <a:endParaRPr lang="en-US" dirty="0"/>
          </a:p>
        </p:txBody>
      </p:sp>
      <p:sp>
        <p:nvSpPr>
          <p:cNvPr id="4" name="Text Placeholder 3">
            <a:extLst>
              <a:ext uri="{FF2B5EF4-FFF2-40B4-BE49-F238E27FC236}">
                <a16:creationId xmlns:a16="http://schemas.microsoft.com/office/drawing/2014/main" id="{C816FFB9-D053-ED50-B1D9-6059081B3327}"/>
              </a:ext>
            </a:extLst>
          </p:cNvPr>
          <p:cNvSpPr>
            <a:spLocks noGrp="1"/>
          </p:cNvSpPr>
          <p:nvPr>
            <p:ph type="body" sz="quarter" idx="17"/>
          </p:nvPr>
        </p:nvSpPr>
        <p:spPr>
          <a:xfrm>
            <a:off x="363672" y="980728"/>
            <a:ext cx="11708991" cy="4824536"/>
          </a:xfrm>
        </p:spPr>
        <p:txBody>
          <a:bodyPr/>
          <a:lstStyle/>
          <a:p>
            <a:pPr marL="0" indent="0">
              <a:buNone/>
            </a:pPr>
            <a:r>
              <a:rPr lang="en-US" b="1" dirty="0">
                <a:solidFill>
                  <a:srgbClr val="FF0000"/>
                </a:solidFill>
              </a:rPr>
              <a:t>2. Three-Tier Architecture</a:t>
            </a:r>
          </a:p>
          <a:p>
            <a:pPr marL="742950" lvl="1" indent="-285750">
              <a:buFont typeface="Arial" panose="020B0604020202020204" pitchFamily="34" charset="0"/>
              <a:buChar char="•"/>
            </a:pPr>
            <a:r>
              <a:rPr lang="en-US" dirty="0">
                <a:solidFill>
                  <a:schemeClr val="tx1"/>
                </a:solidFill>
              </a:rPr>
              <a:t>Introduces an intermediate application server between the client and database server.</a:t>
            </a:r>
          </a:p>
          <a:p>
            <a:pPr marL="742950" lvl="1" indent="-285750">
              <a:buFont typeface="Arial" panose="020B0604020202020204" pitchFamily="34" charset="0"/>
              <a:buChar char="•"/>
            </a:pPr>
            <a:r>
              <a:rPr lang="en-US" dirty="0">
                <a:solidFill>
                  <a:schemeClr val="tx1"/>
                </a:solidFill>
              </a:rPr>
              <a:t>Application logic is handled by the middle layer.</a:t>
            </a:r>
          </a:p>
          <a:p>
            <a:pPr marL="0" indent="0">
              <a:buNone/>
            </a:pPr>
            <a:r>
              <a:rPr lang="en-US" b="1" dirty="0">
                <a:solidFill>
                  <a:srgbClr val="FF0000"/>
                </a:solidFill>
              </a:rPr>
              <a:t>Advantages:</a:t>
            </a:r>
            <a:endParaRPr lang="en-US" dirty="0">
              <a:solidFill>
                <a:srgbClr val="FF0000"/>
              </a:solidFill>
            </a:endParaRPr>
          </a:p>
          <a:p>
            <a:pPr marL="742950" lvl="1" indent="-285750">
              <a:buFont typeface="Arial" panose="020B0604020202020204" pitchFamily="34" charset="0"/>
              <a:buChar char="•"/>
            </a:pPr>
            <a:r>
              <a:rPr lang="en-US" dirty="0">
                <a:solidFill>
                  <a:schemeClr val="tx1"/>
                </a:solidFill>
              </a:rPr>
              <a:t>Better scalability and flexibility.</a:t>
            </a:r>
          </a:p>
          <a:p>
            <a:pPr marL="742950" lvl="1" indent="-285750">
              <a:buFont typeface="Arial" panose="020B0604020202020204" pitchFamily="34" charset="0"/>
              <a:buChar char="•"/>
            </a:pPr>
            <a:r>
              <a:rPr lang="en-US" dirty="0">
                <a:solidFill>
                  <a:schemeClr val="tx1"/>
                </a:solidFill>
              </a:rPr>
              <a:t>Enhanced security (client doesn’t directly access the database).</a:t>
            </a:r>
          </a:p>
          <a:p>
            <a:pPr marL="0" indent="0">
              <a:buNone/>
            </a:pPr>
            <a:r>
              <a:rPr lang="en-US" b="1" dirty="0">
                <a:solidFill>
                  <a:srgbClr val="FF0000"/>
                </a:solidFill>
              </a:rPr>
              <a:t>Disadvantages:</a:t>
            </a:r>
            <a:endParaRPr lang="en-US" dirty="0">
              <a:solidFill>
                <a:srgbClr val="FF0000"/>
              </a:solidFill>
            </a:endParaRPr>
          </a:p>
          <a:p>
            <a:pPr marL="742950" lvl="1" indent="-285750">
              <a:buFont typeface="Arial" panose="020B0604020202020204" pitchFamily="34" charset="0"/>
              <a:buChar char="•"/>
            </a:pPr>
            <a:r>
              <a:rPr lang="en-US" dirty="0">
                <a:solidFill>
                  <a:schemeClr val="tx1"/>
                </a:solidFill>
              </a:rPr>
              <a:t>More complex setup.</a:t>
            </a:r>
          </a:p>
          <a:p>
            <a:pPr marL="0" indent="0">
              <a:buNone/>
            </a:pPr>
            <a:r>
              <a:rPr lang="en-US" b="1" dirty="0">
                <a:solidFill>
                  <a:srgbClr val="FF0000"/>
                </a:solidFill>
              </a:rPr>
              <a:t>Example: </a:t>
            </a:r>
            <a:r>
              <a:rPr lang="en-US" dirty="0">
                <a:solidFill>
                  <a:schemeClr val="tx1"/>
                </a:solidFill>
              </a:rPr>
              <a:t>Web applications: A client (browser) sends a request to a web server, which communicates with the database server.</a:t>
            </a:r>
          </a:p>
        </p:txBody>
      </p:sp>
    </p:spTree>
    <p:extLst>
      <p:ext uri="{BB962C8B-B14F-4D97-AF65-F5344CB8AC3E}">
        <p14:creationId xmlns:p14="http://schemas.microsoft.com/office/powerpoint/2010/main" val="3286712263"/>
      </p:ext>
    </p:extLst>
  </p:cSld>
  <p:clrMapOvr>
    <a:masterClrMapping/>
  </p:clrMapOvr>
</p:sld>
</file>

<file path=ppt/slides/slide10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3BCA1BD-9345-0657-3C63-E7A9CAF2B12A}"/>
            </a:ext>
          </a:extLst>
        </p:cNvPr>
        <p:cNvGrpSpPr/>
        <p:nvPr/>
      </p:nvGrpSpPr>
      <p:grpSpPr>
        <a:xfrm>
          <a:off x="0" y="0"/>
          <a:ext cx="0" cy="0"/>
          <a:chOff x="0" y="0"/>
          <a:chExt cx="0" cy="0"/>
        </a:xfrm>
      </p:grpSpPr>
      <p:sp>
        <p:nvSpPr>
          <p:cNvPr id="2" name="Slide Number Placeholder 1">
            <a:extLst>
              <a:ext uri="{FF2B5EF4-FFF2-40B4-BE49-F238E27FC236}">
                <a16:creationId xmlns:a16="http://schemas.microsoft.com/office/drawing/2014/main" id="{E40C93A2-4200-DAC5-813C-105650916475}"/>
              </a:ext>
            </a:extLst>
          </p:cNvPr>
          <p:cNvSpPr>
            <a:spLocks noGrp="1"/>
          </p:cNvSpPr>
          <p:nvPr>
            <p:ph type="sldNum" sz="quarter" idx="14"/>
          </p:nvPr>
        </p:nvSpPr>
        <p:spPr/>
        <p:txBody>
          <a:bodyPr/>
          <a:lstStyle/>
          <a:p>
            <a:fld id="{45A3C14A-F937-4231-B6F1-40B429FAFB2F}" type="slidenum">
              <a:rPr lang="en-NZ" smtClean="0"/>
              <a:pPr/>
              <a:t>106</a:t>
            </a:fld>
            <a:endParaRPr lang="en-NZ" dirty="0"/>
          </a:p>
        </p:txBody>
      </p:sp>
      <p:sp>
        <p:nvSpPr>
          <p:cNvPr id="3" name="Title 2">
            <a:extLst>
              <a:ext uri="{FF2B5EF4-FFF2-40B4-BE49-F238E27FC236}">
                <a16:creationId xmlns:a16="http://schemas.microsoft.com/office/drawing/2014/main" id="{C30E8C7E-0854-BD39-0638-FE88E2509984}"/>
              </a:ext>
            </a:extLst>
          </p:cNvPr>
          <p:cNvSpPr>
            <a:spLocks noGrp="1"/>
          </p:cNvSpPr>
          <p:nvPr>
            <p:ph type="title"/>
          </p:nvPr>
        </p:nvSpPr>
        <p:spPr>
          <a:xfrm>
            <a:off x="695400" y="395786"/>
            <a:ext cx="9505056" cy="838202"/>
          </a:xfrm>
        </p:spPr>
        <p:txBody>
          <a:bodyPr/>
          <a:lstStyle/>
          <a:p>
            <a:r>
              <a:rPr lang="en-US" sz="2800" b="1" dirty="0">
                <a:solidFill>
                  <a:srgbClr val="FF0000"/>
                </a:solidFill>
              </a:rPr>
              <a:t>Advantages of Client-Server Architecture</a:t>
            </a:r>
            <a:br>
              <a:rPr lang="en-US" sz="2800" b="1" dirty="0"/>
            </a:br>
            <a:br>
              <a:rPr lang="en-US" dirty="0"/>
            </a:br>
            <a:endParaRPr lang="en-US" dirty="0"/>
          </a:p>
        </p:txBody>
      </p:sp>
      <p:sp>
        <p:nvSpPr>
          <p:cNvPr id="4" name="Text Placeholder 3">
            <a:extLst>
              <a:ext uri="{FF2B5EF4-FFF2-40B4-BE49-F238E27FC236}">
                <a16:creationId xmlns:a16="http://schemas.microsoft.com/office/drawing/2014/main" id="{BC559444-7121-96E4-13F7-27BD6766F388}"/>
              </a:ext>
            </a:extLst>
          </p:cNvPr>
          <p:cNvSpPr>
            <a:spLocks noGrp="1"/>
          </p:cNvSpPr>
          <p:nvPr>
            <p:ph type="body" sz="quarter" idx="17"/>
          </p:nvPr>
        </p:nvSpPr>
        <p:spPr>
          <a:xfrm>
            <a:off x="363673" y="980728"/>
            <a:ext cx="11145828" cy="4824536"/>
          </a:xfrm>
        </p:spPr>
        <p:txBody>
          <a:bodyPr/>
          <a:lstStyle/>
          <a:p>
            <a:pPr>
              <a:buFont typeface="Arial" panose="020B0604020202020204" pitchFamily="34" charset="0"/>
              <a:buChar char="•"/>
            </a:pPr>
            <a:r>
              <a:rPr lang="en-US" sz="2800" dirty="0">
                <a:solidFill>
                  <a:schemeClr val="tx1"/>
                </a:solidFill>
              </a:rPr>
              <a:t>Centralized management of databases.</a:t>
            </a:r>
          </a:p>
          <a:p>
            <a:pPr>
              <a:buFont typeface="Arial" panose="020B0604020202020204" pitchFamily="34" charset="0"/>
              <a:buChar char="•"/>
            </a:pPr>
            <a:r>
              <a:rPr lang="en-US" sz="2800" dirty="0">
                <a:solidFill>
                  <a:schemeClr val="tx1"/>
                </a:solidFill>
              </a:rPr>
              <a:t>Multi-user access and resource sharing.</a:t>
            </a:r>
          </a:p>
          <a:p>
            <a:pPr>
              <a:buFont typeface="Arial" panose="020B0604020202020204" pitchFamily="34" charset="0"/>
              <a:buChar char="•"/>
            </a:pPr>
            <a:r>
              <a:rPr lang="en-US" sz="2800" dirty="0">
                <a:solidFill>
                  <a:schemeClr val="tx1"/>
                </a:solidFill>
              </a:rPr>
              <a:t>Scalability for growing systems.</a:t>
            </a:r>
          </a:p>
          <a:p>
            <a:pPr>
              <a:buFont typeface="Arial" panose="020B0604020202020204" pitchFamily="34" charset="0"/>
              <a:buChar char="•"/>
            </a:pPr>
            <a:r>
              <a:rPr lang="en-US" sz="2800" dirty="0">
                <a:solidFill>
                  <a:schemeClr val="tx1"/>
                </a:solidFill>
              </a:rPr>
              <a:t>Improved security through access control on the server.</a:t>
            </a:r>
          </a:p>
          <a:p>
            <a:pPr>
              <a:buFont typeface="Arial" panose="020B0604020202020204" pitchFamily="34" charset="0"/>
              <a:buChar char="•"/>
            </a:pPr>
            <a:r>
              <a:rPr lang="en-US" sz="2800" dirty="0">
                <a:solidFill>
                  <a:schemeClr val="tx1"/>
                </a:solidFill>
              </a:rPr>
              <a:t>Simplified maintenance and updates.</a:t>
            </a:r>
          </a:p>
        </p:txBody>
      </p:sp>
    </p:spTree>
    <p:extLst>
      <p:ext uri="{BB962C8B-B14F-4D97-AF65-F5344CB8AC3E}">
        <p14:creationId xmlns:p14="http://schemas.microsoft.com/office/powerpoint/2010/main" val="2603704837"/>
      </p:ext>
    </p:extLst>
  </p:cSld>
  <p:clrMapOvr>
    <a:masterClrMapping/>
  </p:clrMapOvr>
</p:sld>
</file>

<file path=ppt/slides/slide10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695401" y="395786"/>
            <a:ext cx="9147099" cy="810714"/>
          </a:xfrm>
        </p:spPr>
        <p:txBody>
          <a:bodyPr/>
          <a:lstStyle/>
          <a:p>
            <a:r>
              <a:rPr lang="en-IN" b="1" dirty="0"/>
              <a:t>Relational Databases Introduction</a:t>
            </a:r>
          </a:p>
        </p:txBody>
      </p:sp>
      <p:sp>
        <p:nvSpPr>
          <p:cNvPr id="3" name="Text Placeholder 2"/>
          <p:cNvSpPr>
            <a:spLocks noGrp="1"/>
          </p:cNvSpPr>
          <p:nvPr>
            <p:ph type="body" sz="quarter" idx="17"/>
          </p:nvPr>
        </p:nvSpPr>
        <p:spPr>
          <a:xfrm>
            <a:off x="1016000" y="1333500"/>
            <a:ext cx="10033000" cy="4826000"/>
          </a:xfrm>
        </p:spPr>
        <p:txBody>
          <a:bodyPr/>
          <a:lstStyle/>
          <a:p>
            <a:pPr>
              <a:buFont typeface="Arial" panose="020B0604020202020204" pitchFamily="34" charset="0"/>
              <a:buChar char="•"/>
            </a:pPr>
            <a:r>
              <a:rPr lang="en-IN" dirty="0"/>
              <a:t>Introduced by </a:t>
            </a:r>
            <a:r>
              <a:rPr lang="en-IN" b="1" dirty="0" err="1"/>
              <a:t>Dr.</a:t>
            </a:r>
            <a:r>
              <a:rPr lang="en-IN" b="1" dirty="0"/>
              <a:t> C. F. </a:t>
            </a:r>
            <a:r>
              <a:rPr lang="en-IN" b="1" dirty="0" err="1"/>
              <a:t>Codd</a:t>
            </a:r>
            <a:r>
              <a:rPr lang="en-IN" b="1" dirty="0"/>
              <a:t> </a:t>
            </a:r>
            <a:r>
              <a:rPr lang="en-IN" dirty="0"/>
              <a:t>in</a:t>
            </a:r>
            <a:r>
              <a:rPr lang="en-IN" b="1" dirty="0"/>
              <a:t> 1970.</a:t>
            </a:r>
          </a:p>
          <a:p>
            <a:pPr>
              <a:buFont typeface="Arial" panose="020B0604020202020204" pitchFamily="34" charset="0"/>
              <a:buChar char="•"/>
            </a:pPr>
            <a:r>
              <a:rPr lang="en-IN" dirty="0"/>
              <a:t>Father of RDBMS.</a:t>
            </a:r>
          </a:p>
          <a:p>
            <a:pPr>
              <a:buFont typeface="Arial" panose="020B0604020202020204" pitchFamily="34" charset="0"/>
              <a:buChar char="•"/>
            </a:pPr>
            <a:r>
              <a:rPr lang="en-IN" dirty="0"/>
              <a:t> Most widely used data model. </a:t>
            </a:r>
          </a:p>
          <a:p>
            <a:pPr>
              <a:buFont typeface="Arial" panose="020B0604020202020204" pitchFamily="34" charset="0"/>
              <a:buChar char="•"/>
            </a:pPr>
            <a:r>
              <a:rPr lang="en-IN" dirty="0"/>
              <a:t>Collects groups of elements into relations. </a:t>
            </a:r>
          </a:p>
          <a:p>
            <a:pPr>
              <a:buFont typeface="Arial" panose="020B0604020202020204" pitchFamily="34" charset="0"/>
              <a:buChar char="•"/>
            </a:pPr>
            <a:r>
              <a:rPr lang="en-IN" dirty="0"/>
              <a:t>Each table will include a Primary Key or Identifier. </a:t>
            </a:r>
          </a:p>
          <a:p>
            <a:pPr marL="0" indent="0">
              <a:buNone/>
            </a:pPr>
            <a:r>
              <a:rPr lang="en-IN" dirty="0"/>
              <a:t>	Ex: Oracle, IBM DB2, and Microsoft SQL Server. </a:t>
            </a:r>
          </a:p>
          <a:p>
            <a:pPr>
              <a:buFont typeface="Arial" panose="020B0604020202020204" pitchFamily="34" charset="0"/>
              <a:buChar char="•"/>
            </a:pPr>
            <a:r>
              <a:rPr lang="en-IN" dirty="0"/>
              <a:t>Free and open-source RDBMS, such as MySQL, </a:t>
            </a:r>
          </a:p>
          <a:p>
            <a:pPr>
              <a:buFont typeface="Arial" panose="020B0604020202020204" pitchFamily="34" charset="0"/>
              <a:buChar char="•"/>
            </a:pPr>
            <a:r>
              <a:rPr lang="en-IN" dirty="0"/>
              <a:t>Structured Query Language (SQL) to retrieve data elements from a relational database.</a:t>
            </a:r>
          </a:p>
          <a:p>
            <a:pPr>
              <a:buFont typeface="Arial" panose="020B0604020202020204" pitchFamily="34" charset="0"/>
              <a:buChar char="•"/>
            </a:pPr>
            <a:endParaRPr lang="en-IN" dirty="0"/>
          </a:p>
        </p:txBody>
      </p:sp>
      <p:pic>
        <p:nvPicPr>
          <p:cNvPr id="4" name="Picture 3"/>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8699501" y="698501"/>
            <a:ext cx="3160579" cy="4493714"/>
          </a:xfrm>
          <a:prstGeom prst="rect">
            <a:avLst/>
          </a:prstGeom>
        </p:spPr>
      </p:pic>
    </p:spTree>
    <p:extLst>
      <p:ext uri="{BB962C8B-B14F-4D97-AF65-F5344CB8AC3E}">
        <p14:creationId xmlns:p14="http://schemas.microsoft.com/office/powerpoint/2010/main" val="1559832246"/>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3">
                                            <p:txEl>
                                              <p:pRg st="1" end="1"/>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grpId="0" nodeType="clickEffect">
                                  <p:stCondLst>
                                    <p:cond delay="0"/>
                                  </p:stCondLst>
                                  <p:childTnLst>
                                    <p:set>
                                      <p:cBhvr>
                                        <p:cTn id="14" dur="1" fill="hold">
                                          <p:stCondLst>
                                            <p:cond delay="0"/>
                                          </p:stCondLst>
                                        </p:cTn>
                                        <p:tgtEl>
                                          <p:spTgt spid="3">
                                            <p:txEl>
                                              <p:pRg st="2" end="2"/>
                                            </p:txEl>
                                          </p:spTgt>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grpId="0" nodeType="clickEffect">
                                  <p:stCondLst>
                                    <p:cond delay="0"/>
                                  </p:stCondLst>
                                  <p:childTnLst>
                                    <p:set>
                                      <p:cBhvr>
                                        <p:cTn id="18" dur="1" fill="hold">
                                          <p:stCondLst>
                                            <p:cond delay="0"/>
                                          </p:stCondLst>
                                        </p:cTn>
                                        <p:tgtEl>
                                          <p:spTgt spid="3">
                                            <p:txEl>
                                              <p:pRg st="3" end="3"/>
                                            </p:txEl>
                                          </p:spTgt>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grpId="0" nodeType="clickEffect">
                                  <p:stCondLst>
                                    <p:cond delay="0"/>
                                  </p:stCondLst>
                                  <p:childTnLst>
                                    <p:set>
                                      <p:cBhvr>
                                        <p:cTn id="22" dur="1" fill="hold">
                                          <p:stCondLst>
                                            <p:cond delay="0"/>
                                          </p:stCondLst>
                                        </p:cTn>
                                        <p:tgtEl>
                                          <p:spTgt spid="3">
                                            <p:txEl>
                                              <p:pRg st="4" end="4"/>
                                            </p:txEl>
                                          </p:spTgt>
                                        </p:tgtEl>
                                        <p:attrNameLst>
                                          <p:attrName>style.visibility</p:attrName>
                                        </p:attrNameLst>
                                      </p:cBhvr>
                                      <p:to>
                                        <p:strVal val="visible"/>
                                      </p:to>
                                    </p:set>
                                  </p:childTnLst>
                                </p:cTn>
                              </p:par>
                            </p:childTnLst>
                          </p:cTn>
                        </p:par>
                      </p:childTnLst>
                    </p:cTn>
                  </p:par>
                  <p:par>
                    <p:cTn id="23" fill="hold">
                      <p:stCondLst>
                        <p:cond delay="indefinite"/>
                      </p:stCondLst>
                      <p:childTnLst>
                        <p:par>
                          <p:cTn id="24" fill="hold">
                            <p:stCondLst>
                              <p:cond delay="0"/>
                            </p:stCondLst>
                            <p:childTnLst>
                              <p:par>
                                <p:cTn id="25" presetID="1" presetClass="entr" presetSubtype="0" fill="hold" grpId="0" nodeType="clickEffect">
                                  <p:stCondLst>
                                    <p:cond delay="0"/>
                                  </p:stCondLst>
                                  <p:childTnLst>
                                    <p:set>
                                      <p:cBhvr>
                                        <p:cTn id="26" dur="1" fill="hold">
                                          <p:stCondLst>
                                            <p:cond delay="0"/>
                                          </p:stCondLst>
                                        </p:cTn>
                                        <p:tgtEl>
                                          <p:spTgt spid="3">
                                            <p:txEl>
                                              <p:pRg st="5" end="5"/>
                                            </p:txEl>
                                          </p:spTgt>
                                        </p:tgtEl>
                                        <p:attrNameLst>
                                          <p:attrName>style.visibility</p:attrName>
                                        </p:attrNameLst>
                                      </p:cBhvr>
                                      <p:to>
                                        <p:strVal val="visible"/>
                                      </p:to>
                                    </p:set>
                                  </p:childTnLst>
                                </p:cTn>
                              </p:par>
                            </p:childTnLst>
                          </p:cTn>
                        </p:par>
                      </p:childTnLst>
                    </p:cTn>
                  </p:par>
                  <p:par>
                    <p:cTn id="27" fill="hold">
                      <p:stCondLst>
                        <p:cond delay="indefinite"/>
                      </p:stCondLst>
                      <p:childTnLst>
                        <p:par>
                          <p:cTn id="28" fill="hold">
                            <p:stCondLst>
                              <p:cond delay="0"/>
                            </p:stCondLst>
                            <p:childTnLst>
                              <p:par>
                                <p:cTn id="29" presetID="1" presetClass="entr" presetSubtype="0" fill="hold" grpId="0" nodeType="clickEffect">
                                  <p:stCondLst>
                                    <p:cond delay="0"/>
                                  </p:stCondLst>
                                  <p:childTnLst>
                                    <p:set>
                                      <p:cBhvr>
                                        <p:cTn id="30" dur="1" fill="hold">
                                          <p:stCondLst>
                                            <p:cond delay="0"/>
                                          </p:stCondLst>
                                        </p:cTn>
                                        <p:tgtEl>
                                          <p:spTgt spid="3">
                                            <p:txEl>
                                              <p:pRg st="6" end="6"/>
                                            </p:txEl>
                                          </p:spTgt>
                                        </p:tgtEl>
                                        <p:attrNameLst>
                                          <p:attrName>style.visibility</p:attrName>
                                        </p:attrNameLst>
                                      </p:cBhvr>
                                      <p:to>
                                        <p:strVal val="visible"/>
                                      </p:to>
                                    </p:set>
                                  </p:childTnLst>
                                </p:cTn>
                              </p:par>
                            </p:childTnLst>
                          </p:cTn>
                        </p:par>
                      </p:childTnLst>
                    </p:cTn>
                  </p:par>
                  <p:par>
                    <p:cTn id="31" fill="hold">
                      <p:stCondLst>
                        <p:cond delay="indefinite"/>
                      </p:stCondLst>
                      <p:childTnLst>
                        <p:par>
                          <p:cTn id="32" fill="hold">
                            <p:stCondLst>
                              <p:cond delay="0"/>
                            </p:stCondLst>
                            <p:childTnLst>
                              <p:par>
                                <p:cTn id="33" presetID="1" presetClass="entr" presetSubtype="0" fill="hold" grpId="0" nodeType="clickEffect">
                                  <p:stCondLst>
                                    <p:cond delay="0"/>
                                  </p:stCondLst>
                                  <p:childTnLst>
                                    <p:set>
                                      <p:cBhvr>
                                        <p:cTn id="34" dur="1" fill="hold">
                                          <p:stCondLst>
                                            <p:cond delay="0"/>
                                          </p:stCondLst>
                                        </p:cTn>
                                        <p:tgtEl>
                                          <p:spTgt spid="3">
                                            <p:txEl>
                                              <p:pRg st="7" end="7"/>
                                            </p:txEl>
                                          </p:spTgt>
                                        </p:tgtEl>
                                        <p:attrNameLst>
                                          <p:attrName>style.visibility</p:attrName>
                                        </p:attrNameLst>
                                      </p:cBhvr>
                                      <p:to>
                                        <p:strVal val="visible"/>
                                      </p:to>
                                    </p:set>
                                  </p:childTnLst>
                                </p:cTn>
                              </p:par>
                            </p:childTnLst>
                          </p:cTn>
                        </p:par>
                      </p:childTnLst>
                    </p:cTn>
                  </p:par>
                  <p:par>
                    <p:cTn id="35" fill="hold">
                      <p:stCondLst>
                        <p:cond delay="indefinite"/>
                      </p:stCondLst>
                      <p:childTnLst>
                        <p:par>
                          <p:cTn id="36" fill="hold">
                            <p:stCondLst>
                              <p:cond delay="0"/>
                            </p:stCondLst>
                            <p:childTnLst>
                              <p:par>
                                <p:cTn id="37" presetID="1" presetClass="entr" presetSubtype="0" fill="hold" nodeType="clickEffect">
                                  <p:stCondLst>
                                    <p:cond delay="0"/>
                                  </p:stCondLst>
                                  <p:childTnLst>
                                    <p:set>
                                      <p:cBhvr>
                                        <p:cTn id="38" dur="1" fill="hold">
                                          <p:stCondLst>
                                            <p:cond delay="0"/>
                                          </p:stCondLst>
                                        </p:cTn>
                                        <p:tgtEl>
                                          <p:spTgt spid="4"/>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build="p"/>
    </p:bldLst>
  </p:timing>
</p:sld>
</file>

<file path=ppt/slides/slide10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0CE53DC-5D66-1676-C907-BAA93ACBA612}"/>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402BECBE-5B23-242B-436C-31A533178263}"/>
              </a:ext>
            </a:extLst>
          </p:cNvPr>
          <p:cNvSpPr>
            <a:spLocks noGrp="1"/>
          </p:cNvSpPr>
          <p:nvPr>
            <p:ph type="title"/>
          </p:nvPr>
        </p:nvSpPr>
        <p:spPr>
          <a:xfrm>
            <a:off x="695401" y="395786"/>
            <a:ext cx="9147099" cy="810714"/>
          </a:xfrm>
        </p:spPr>
        <p:txBody>
          <a:bodyPr/>
          <a:lstStyle/>
          <a:p>
            <a:r>
              <a:rPr lang="en-US" b="1" dirty="0"/>
              <a:t>Relational Model in DBMS</a:t>
            </a:r>
          </a:p>
        </p:txBody>
      </p:sp>
      <p:sp>
        <p:nvSpPr>
          <p:cNvPr id="3" name="Text Placeholder 2">
            <a:extLst>
              <a:ext uri="{FF2B5EF4-FFF2-40B4-BE49-F238E27FC236}">
                <a16:creationId xmlns:a16="http://schemas.microsoft.com/office/drawing/2014/main" id="{3A447D2C-4D00-7B3E-B697-5CCA3C09E269}"/>
              </a:ext>
            </a:extLst>
          </p:cNvPr>
          <p:cNvSpPr>
            <a:spLocks noGrp="1"/>
          </p:cNvSpPr>
          <p:nvPr>
            <p:ph type="body" sz="quarter" idx="17"/>
          </p:nvPr>
        </p:nvSpPr>
        <p:spPr>
          <a:xfrm>
            <a:off x="1016000" y="1333500"/>
            <a:ext cx="10033000" cy="4826000"/>
          </a:xfrm>
        </p:spPr>
        <p:txBody>
          <a:bodyPr/>
          <a:lstStyle/>
          <a:p>
            <a:pPr algn="just"/>
            <a:r>
              <a:rPr lang="en-US" dirty="0"/>
              <a:t>Relational model makes the query much easier than in hierarchical or network database systems. In 1970, E.F Codd has been developed it. </a:t>
            </a:r>
          </a:p>
          <a:p>
            <a:pPr algn="just"/>
            <a:r>
              <a:rPr lang="en-US" dirty="0"/>
              <a:t>A relational database is defined as a group of independent tables which are linked to each other using some common fields of each related table. </a:t>
            </a:r>
          </a:p>
          <a:p>
            <a:pPr algn="just"/>
            <a:r>
              <a:rPr lang="en-US" dirty="0"/>
              <a:t>This model can be represented as a table with columns and rows. Each row is known as a tuple. Each table of the column has a name or attribute. </a:t>
            </a:r>
          </a:p>
          <a:p>
            <a:pPr algn="just"/>
            <a:r>
              <a:rPr lang="en-US" dirty="0"/>
              <a:t>It is well knows in database technology because it is usually used to represent real-world objects and the relationships between them. </a:t>
            </a:r>
          </a:p>
          <a:p>
            <a:pPr algn="just"/>
            <a:r>
              <a:rPr lang="en-US" dirty="0"/>
              <a:t>Some popular relational databases are used nowadays like Oracle, Sybase, DB2, MySQL Server etc.</a:t>
            </a:r>
          </a:p>
          <a:p>
            <a:pPr>
              <a:buFont typeface="Arial" panose="020B0604020202020204" pitchFamily="34" charset="0"/>
              <a:buChar char="•"/>
            </a:pPr>
            <a:endParaRPr lang="en-IN" dirty="0"/>
          </a:p>
        </p:txBody>
      </p:sp>
    </p:spTree>
    <p:extLst>
      <p:ext uri="{BB962C8B-B14F-4D97-AF65-F5344CB8AC3E}">
        <p14:creationId xmlns:p14="http://schemas.microsoft.com/office/powerpoint/2010/main" val="1353072998"/>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3">
                                            <p:txEl>
                                              <p:pRg st="1" end="1"/>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grpId="0" nodeType="clickEffect">
                                  <p:stCondLst>
                                    <p:cond delay="0"/>
                                  </p:stCondLst>
                                  <p:childTnLst>
                                    <p:set>
                                      <p:cBhvr>
                                        <p:cTn id="14" dur="1" fill="hold">
                                          <p:stCondLst>
                                            <p:cond delay="0"/>
                                          </p:stCondLst>
                                        </p:cTn>
                                        <p:tgtEl>
                                          <p:spTgt spid="3">
                                            <p:txEl>
                                              <p:pRg st="2" end="2"/>
                                            </p:txEl>
                                          </p:spTgt>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grpId="0" nodeType="clickEffect">
                                  <p:stCondLst>
                                    <p:cond delay="0"/>
                                  </p:stCondLst>
                                  <p:childTnLst>
                                    <p:set>
                                      <p:cBhvr>
                                        <p:cTn id="18" dur="1" fill="hold">
                                          <p:stCondLst>
                                            <p:cond delay="0"/>
                                          </p:stCondLst>
                                        </p:cTn>
                                        <p:tgtEl>
                                          <p:spTgt spid="3">
                                            <p:txEl>
                                              <p:pRg st="3" end="3"/>
                                            </p:txEl>
                                          </p:spTgt>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grpId="0" nodeType="clickEffect">
                                  <p:stCondLst>
                                    <p:cond delay="0"/>
                                  </p:stCondLst>
                                  <p:childTnLst>
                                    <p:set>
                                      <p:cBhvr>
                                        <p:cTn id="22" dur="1" fill="hold">
                                          <p:stCondLst>
                                            <p:cond delay="0"/>
                                          </p:stCondLst>
                                        </p:cTn>
                                        <p:tgtEl>
                                          <p:spTgt spid="3">
                                            <p:txEl>
                                              <p:pRg st="4" end="4"/>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build="p"/>
    </p:bldLst>
  </p:timing>
</p:sld>
</file>

<file path=ppt/slides/slide10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B894283-A32B-E98E-85B0-9F5A7BCFE61A}"/>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DD82B5D0-D222-C9FC-379E-8C448E66B0E8}"/>
              </a:ext>
            </a:extLst>
          </p:cNvPr>
          <p:cNvSpPr>
            <a:spLocks noGrp="1"/>
          </p:cNvSpPr>
          <p:nvPr>
            <p:ph type="title"/>
          </p:nvPr>
        </p:nvSpPr>
        <p:spPr>
          <a:xfrm>
            <a:off x="695401" y="395786"/>
            <a:ext cx="9147099" cy="810714"/>
          </a:xfrm>
        </p:spPr>
        <p:txBody>
          <a:bodyPr/>
          <a:lstStyle/>
          <a:p>
            <a:pPr algn="l"/>
            <a:r>
              <a:rPr lang="en-IN" b="1" i="0" dirty="0">
                <a:effectLst/>
                <a:latin typeface="Montserrat" panose="00000500000000000000" pitchFamily="2" charset="0"/>
              </a:rPr>
              <a:t>Relational Model Terminologies:</a:t>
            </a:r>
          </a:p>
        </p:txBody>
      </p:sp>
      <p:sp>
        <p:nvSpPr>
          <p:cNvPr id="3" name="Text Placeholder 2">
            <a:extLst>
              <a:ext uri="{FF2B5EF4-FFF2-40B4-BE49-F238E27FC236}">
                <a16:creationId xmlns:a16="http://schemas.microsoft.com/office/drawing/2014/main" id="{F5BCE591-1B4F-E82B-9573-C681AB5F16AD}"/>
              </a:ext>
            </a:extLst>
          </p:cNvPr>
          <p:cNvSpPr>
            <a:spLocks noGrp="1"/>
          </p:cNvSpPr>
          <p:nvPr>
            <p:ph type="body" sz="quarter" idx="17"/>
          </p:nvPr>
        </p:nvSpPr>
        <p:spPr>
          <a:xfrm>
            <a:off x="1016000" y="1333500"/>
            <a:ext cx="10033000" cy="4826000"/>
          </a:xfrm>
        </p:spPr>
        <p:txBody>
          <a:bodyPr/>
          <a:lstStyle/>
          <a:p>
            <a:pPr algn="just"/>
            <a:endParaRPr lang="en-US" dirty="0"/>
          </a:p>
          <a:p>
            <a:pPr>
              <a:buFont typeface="Arial" panose="020B0604020202020204" pitchFamily="34" charset="0"/>
              <a:buChar char="•"/>
            </a:pPr>
            <a:endParaRPr lang="en-IN" dirty="0"/>
          </a:p>
        </p:txBody>
      </p:sp>
      <p:graphicFrame>
        <p:nvGraphicFramePr>
          <p:cNvPr id="4" name="Table 3">
            <a:extLst>
              <a:ext uri="{FF2B5EF4-FFF2-40B4-BE49-F238E27FC236}">
                <a16:creationId xmlns:a16="http://schemas.microsoft.com/office/drawing/2014/main" id="{72AF117A-63FA-E739-3E85-1853EB8F1EC5}"/>
              </a:ext>
            </a:extLst>
          </p:cNvPr>
          <p:cNvGraphicFramePr>
            <a:graphicFrameLocks noGrp="1"/>
          </p:cNvGraphicFramePr>
          <p:nvPr>
            <p:extLst>
              <p:ext uri="{D42A27DB-BD31-4B8C-83A1-F6EECF244321}">
                <p14:modId xmlns:p14="http://schemas.microsoft.com/office/powerpoint/2010/main" val="2242958721"/>
              </p:ext>
            </p:extLst>
          </p:nvPr>
        </p:nvGraphicFramePr>
        <p:xfrm>
          <a:off x="1775520" y="1333500"/>
          <a:ext cx="6480704" cy="4207032"/>
        </p:xfrm>
        <a:graphic>
          <a:graphicData uri="http://schemas.openxmlformats.org/drawingml/2006/table">
            <a:tbl>
              <a:tblPr/>
              <a:tblGrid>
                <a:gridCol w="3240352">
                  <a:extLst>
                    <a:ext uri="{9D8B030D-6E8A-4147-A177-3AD203B41FA5}">
                      <a16:colId xmlns:a16="http://schemas.microsoft.com/office/drawing/2014/main" val="2823448042"/>
                    </a:ext>
                  </a:extLst>
                </a:gridCol>
                <a:gridCol w="3240352">
                  <a:extLst>
                    <a:ext uri="{9D8B030D-6E8A-4147-A177-3AD203B41FA5}">
                      <a16:colId xmlns:a16="http://schemas.microsoft.com/office/drawing/2014/main" val="2382339440"/>
                    </a:ext>
                  </a:extLst>
                </a:gridCol>
              </a:tblGrid>
              <a:tr h="513730">
                <a:tc>
                  <a:txBody>
                    <a:bodyPr/>
                    <a:lstStyle/>
                    <a:p>
                      <a:r>
                        <a:rPr lang="en-IN">
                          <a:effectLst/>
                        </a:rPr>
                        <a:t>Relation</a:t>
                      </a:r>
                    </a:p>
                  </a:txBody>
                  <a:tcPr marL="50800" marR="50800" marT="50800" marB="50800" anchor="ctr">
                    <a:lnL w="12700" cap="flat" cmpd="sng" algn="ctr">
                      <a:solidFill>
                        <a:srgbClr val="C0B851"/>
                      </a:solidFill>
                      <a:prstDash val="solid"/>
                      <a:round/>
                      <a:headEnd type="none" w="med" len="med"/>
                      <a:tailEnd type="none" w="med" len="med"/>
                    </a:lnL>
                    <a:lnR w="12700" cap="flat" cmpd="sng" algn="ctr">
                      <a:solidFill>
                        <a:srgbClr val="C0B851"/>
                      </a:solidFill>
                      <a:prstDash val="solid"/>
                      <a:round/>
                      <a:headEnd type="none" w="med" len="med"/>
                      <a:tailEnd type="none" w="med" len="med"/>
                    </a:lnR>
                    <a:lnT w="12700" cap="flat" cmpd="sng" algn="ctr">
                      <a:solidFill>
                        <a:srgbClr val="C0B851"/>
                      </a:solidFill>
                      <a:prstDash val="solid"/>
                      <a:round/>
                      <a:headEnd type="none" w="med" len="med"/>
                      <a:tailEnd type="none" w="med" len="med"/>
                    </a:lnT>
                    <a:lnB w="12700" cap="flat" cmpd="sng" algn="ctr">
                      <a:solidFill>
                        <a:srgbClr val="40B851"/>
                      </a:solidFill>
                      <a:prstDash val="solid"/>
                      <a:round/>
                      <a:headEnd type="none" w="med" len="med"/>
                      <a:tailEnd type="none" w="med" len="med"/>
                    </a:lnB>
                    <a:solidFill>
                      <a:srgbClr val="FFFFFF"/>
                    </a:solidFill>
                  </a:tcPr>
                </a:tc>
                <a:tc>
                  <a:txBody>
                    <a:bodyPr/>
                    <a:lstStyle/>
                    <a:p>
                      <a:r>
                        <a:rPr lang="en-IN">
                          <a:effectLst/>
                        </a:rPr>
                        <a:t>Table</a:t>
                      </a:r>
                    </a:p>
                  </a:txBody>
                  <a:tcPr marL="50800" marR="50800" marT="50800" marB="50800" anchor="ctr">
                    <a:lnL w="12700" cap="flat" cmpd="sng" algn="ctr">
                      <a:solidFill>
                        <a:srgbClr val="C0B851"/>
                      </a:solidFill>
                      <a:prstDash val="solid"/>
                      <a:round/>
                      <a:headEnd type="none" w="med" len="med"/>
                      <a:tailEnd type="none" w="med" len="med"/>
                    </a:lnL>
                    <a:lnR w="12700" cap="flat" cmpd="sng" algn="ctr">
                      <a:solidFill>
                        <a:srgbClr val="C0B851"/>
                      </a:solidFill>
                      <a:prstDash val="solid"/>
                      <a:round/>
                      <a:headEnd type="none" w="med" len="med"/>
                      <a:tailEnd type="none" w="med" len="med"/>
                    </a:lnR>
                    <a:lnT w="12700" cap="flat" cmpd="sng" algn="ctr">
                      <a:solidFill>
                        <a:srgbClr val="C0B851"/>
                      </a:solidFill>
                      <a:prstDash val="solid"/>
                      <a:round/>
                      <a:headEnd type="none" w="med" len="med"/>
                      <a:tailEnd type="none" w="med" len="med"/>
                    </a:lnT>
                    <a:lnB w="12700" cap="flat" cmpd="sng" algn="ctr">
                      <a:solidFill>
                        <a:srgbClr val="40B851"/>
                      </a:solidFill>
                      <a:prstDash val="solid"/>
                      <a:round/>
                      <a:headEnd type="none" w="med" len="med"/>
                      <a:tailEnd type="none" w="med" len="med"/>
                    </a:lnB>
                    <a:solidFill>
                      <a:srgbClr val="FFFFFF"/>
                    </a:solidFill>
                  </a:tcPr>
                </a:tc>
                <a:extLst>
                  <a:ext uri="{0D108BD9-81ED-4DB2-BD59-A6C34878D82A}">
                    <a16:rowId xmlns:a16="http://schemas.microsoft.com/office/drawing/2014/main" val="1554275240"/>
                  </a:ext>
                </a:extLst>
              </a:tr>
              <a:tr h="513730">
                <a:tc>
                  <a:txBody>
                    <a:bodyPr/>
                    <a:lstStyle/>
                    <a:p>
                      <a:r>
                        <a:rPr lang="en-IN" dirty="0">
                          <a:effectLst/>
                        </a:rPr>
                        <a:t>Tuple</a:t>
                      </a:r>
                    </a:p>
                  </a:txBody>
                  <a:tcPr marL="50800" marR="50800" marT="50800" marB="50800" anchor="ctr">
                    <a:lnL w="12700" cap="flat" cmpd="sng" algn="ctr">
                      <a:solidFill>
                        <a:srgbClr val="40B851"/>
                      </a:solidFill>
                      <a:prstDash val="solid"/>
                      <a:round/>
                      <a:headEnd type="none" w="med" len="med"/>
                      <a:tailEnd type="none" w="med" len="med"/>
                    </a:lnL>
                    <a:lnR w="12700" cap="flat" cmpd="sng" algn="ctr">
                      <a:solidFill>
                        <a:srgbClr val="40B851"/>
                      </a:solidFill>
                      <a:prstDash val="solid"/>
                      <a:round/>
                      <a:headEnd type="none" w="med" len="med"/>
                      <a:tailEnd type="none" w="med" len="med"/>
                    </a:lnR>
                    <a:lnT w="12700" cap="flat" cmpd="sng" algn="ctr">
                      <a:solidFill>
                        <a:srgbClr val="40B851"/>
                      </a:solidFill>
                      <a:prstDash val="solid"/>
                      <a:round/>
                      <a:headEnd type="none" w="med" len="med"/>
                      <a:tailEnd type="none" w="med" len="med"/>
                    </a:lnT>
                    <a:lnB w="12700" cap="flat" cmpd="sng" algn="ctr">
                      <a:solidFill>
                        <a:srgbClr val="60B451"/>
                      </a:solidFill>
                      <a:prstDash val="solid"/>
                      <a:round/>
                      <a:headEnd type="none" w="med" len="med"/>
                      <a:tailEnd type="none" w="med" len="med"/>
                    </a:lnB>
                    <a:solidFill>
                      <a:srgbClr val="FFFFFF"/>
                    </a:solidFill>
                  </a:tcPr>
                </a:tc>
                <a:tc>
                  <a:txBody>
                    <a:bodyPr/>
                    <a:lstStyle/>
                    <a:p>
                      <a:r>
                        <a:rPr lang="en-IN">
                          <a:effectLst/>
                        </a:rPr>
                        <a:t>Row, Record</a:t>
                      </a:r>
                    </a:p>
                  </a:txBody>
                  <a:tcPr marL="50800" marR="50800" marT="50800" marB="50800" anchor="ctr">
                    <a:lnL w="12700" cap="flat" cmpd="sng" algn="ctr">
                      <a:solidFill>
                        <a:srgbClr val="40B851"/>
                      </a:solidFill>
                      <a:prstDash val="solid"/>
                      <a:round/>
                      <a:headEnd type="none" w="med" len="med"/>
                      <a:tailEnd type="none" w="med" len="med"/>
                    </a:lnL>
                    <a:lnR w="12700" cap="flat" cmpd="sng" algn="ctr">
                      <a:solidFill>
                        <a:srgbClr val="40B851"/>
                      </a:solidFill>
                      <a:prstDash val="solid"/>
                      <a:round/>
                      <a:headEnd type="none" w="med" len="med"/>
                      <a:tailEnd type="none" w="med" len="med"/>
                    </a:lnR>
                    <a:lnT w="12700" cap="flat" cmpd="sng" algn="ctr">
                      <a:solidFill>
                        <a:srgbClr val="40B851"/>
                      </a:solidFill>
                      <a:prstDash val="solid"/>
                      <a:round/>
                      <a:headEnd type="none" w="med" len="med"/>
                      <a:tailEnd type="none" w="med" len="med"/>
                    </a:lnT>
                    <a:lnB w="12700" cap="flat" cmpd="sng" algn="ctr">
                      <a:solidFill>
                        <a:srgbClr val="60B451"/>
                      </a:solidFill>
                      <a:prstDash val="solid"/>
                      <a:round/>
                      <a:headEnd type="none" w="med" len="med"/>
                      <a:tailEnd type="none" w="med" len="med"/>
                    </a:lnB>
                    <a:solidFill>
                      <a:srgbClr val="FFFFFF"/>
                    </a:solidFill>
                  </a:tcPr>
                </a:tc>
                <a:extLst>
                  <a:ext uri="{0D108BD9-81ED-4DB2-BD59-A6C34878D82A}">
                    <a16:rowId xmlns:a16="http://schemas.microsoft.com/office/drawing/2014/main" val="1760781846"/>
                  </a:ext>
                </a:extLst>
              </a:tr>
              <a:tr h="513730">
                <a:tc>
                  <a:txBody>
                    <a:bodyPr/>
                    <a:lstStyle/>
                    <a:p>
                      <a:r>
                        <a:rPr lang="en-IN">
                          <a:effectLst/>
                        </a:rPr>
                        <a:t>Attribute</a:t>
                      </a:r>
                    </a:p>
                  </a:txBody>
                  <a:tcPr marL="50800" marR="50800" marT="50800" marB="50800" anchor="ctr">
                    <a:lnL w="12700" cap="flat" cmpd="sng" algn="ctr">
                      <a:solidFill>
                        <a:srgbClr val="60B451"/>
                      </a:solidFill>
                      <a:prstDash val="solid"/>
                      <a:round/>
                      <a:headEnd type="none" w="med" len="med"/>
                      <a:tailEnd type="none" w="med" len="med"/>
                    </a:lnL>
                    <a:lnR w="12700" cap="flat" cmpd="sng" algn="ctr">
                      <a:solidFill>
                        <a:srgbClr val="60B451"/>
                      </a:solidFill>
                      <a:prstDash val="solid"/>
                      <a:round/>
                      <a:headEnd type="none" w="med" len="med"/>
                      <a:tailEnd type="none" w="med" len="med"/>
                    </a:lnR>
                    <a:lnT w="12700" cap="flat" cmpd="sng" algn="ctr">
                      <a:solidFill>
                        <a:srgbClr val="60B451"/>
                      </a:solidFill>
                      <a:prstDash val="solid"/>
                      <a:round/>
                      <a:headEnd type="none" w="med" len="med"/>
                      <a:tailEnd type="none" w="med" len="med"/>
                    </a:lnT>
                    <a:lnB w="12700" cap="flat" cmpd="sng" algn="ctr">
                      <a:solidFill>
                        <a:srgbClr val="A0B851"/>
                      </a:solidFill>
                      <a:prstDash val="solid"/>
                      <a:round/>
                      <a:headEnd type="none" w="med" len="med"/>
                      <a:tailEnd type="none" w="med" len="med"/>
                    </a:lnB>
                    <a:solidFill>
                      <a:srgbClr val="FFFFFF"/>
                    </a:solidFill>
                  </a:tcPr>
                </a:tc>
                <a:tc>
                  <a:txBody>
                    <a:bodyPr/>
                    <a:lstStyle/>
                    <a:p>
                      <a:r>
                        <a:rPr lang="en-IN">
                          <a:effectLst/>
                        </a:rPr>
                        <a:t>Column, Field</a:t>
                      </a:r>
                    </a:p>
                  </a:txBody>
                  <a:tcPr marL="50800" marR="50800" marT="50800" marB="50800" anchor="ctr">
                    <a:lnL w="12700" cap="flat" cmpd="sng" algn="ctr">
                      <a:solidFill>
                        <a:srgbClr val="60B451"/>
                      </a:solidFill>
                      <a:prstDash val="solid"/>
                      <a:round/>
                      <a:headEnd type="none" w="med" len="med"/>
                      <a:tailEnd type="none" w="med" len="med"/>
                    </a:lnL>
                    <a:lnR w="12700" cap="flat" cmpd="sng" algn="ctr">
                      <a:solidFill>
                        <a:srgbClr val="60B451"/>
                      </a:solidFill>
                      <a:prstDash val="solid"/>
                      <a:round/>
                      <a:headEnd type="none" w="med" len="med"/>
                      <a:tailEnd type="none" w="med" len="med"/>
                    </a:lnR>
                    <a:lnT w="12700" cap="flat" cmpd="sng" algn="ctr">
                      <a:solidFill>
                        <a:srgbClr val="60B451"/>
                      </a:solidFill>
                      <a:prstDash val="solid"/>
                      <a:round/>
                      <a:headEnd type="none" w="med" len="med"/>
                      <a:tailEnd type="none" w="med" len="med"/>
                    </a:lnT>
                    <a:lnB w="12700" cap="flat" cmpd="sng" algn="ctr">
                      <a:solidFill>
                        <a:srgbClr val="A0B851"/>
                      </a:solidFill>
                      <a:prstDash val="solid"/>
                      <a:round/>
                      <a:headEnd type="none" w="med" len="med"/>
                      <a:tailEnd type="none" w="med" len="med"/>
                    </a:lnB>
                    <a:solidFill>
                      <a:srgbClr val="FFFFFF"/>
                    </a:solidFill>
                  </a:tcPr>
                </a:tc>
                <a:extLst>
                  <a:ext uri="{0D108BD9-81ED-4DB2-BD59-A6C34878D82A}">
                    <a16:rowId xmlns:a16="http://schemas.microsoft.com/office/drawing/2014/main" val="1153312537"/>
                  </a:ext>
                </a:extLst>
              </a:tr>
              <a:tr h="888614">
                <a:tc>
                  <a:txBody>
                    <a:bodyPr/>
                    <a:lstStyle/>
                    <a:p>
                      <a:r>
                        <a:rPr lang="en-IN">
                          <a:effectLst/>
                        </a:rPr>
                        <a:t>Domain</a:t>
                      </a:r>
                    </a:p>
                  </a:txBody>
                  <a:tcPr marL="50800" marR="50800" marT="50800" marB="50800" anchor="ctr">
                    <a:lnL w="12700" cap="flat" cmpd="sng" algn="ctr">
                      <a:solidFill>
                        <a:srgbClr val="A0B851"/>
                      </a:solidFill>
                      <a:prstDash val="solid"/>
                      <a:round/>
                      <a:headEnd type="none" w="med" len="med"/>
                      <a:tailEnd type="none" w="med" len="med"/>
                    </a:lnL>
                    <a:lnR w="12700" cap="flat" cmpd="sng" algn="ctr">
                      <a:solidFill>
                        <a:srgbClr val="A0B851"/>
                      </a:solidFill>
                      <a:prstDash val="solid"/>
                      <a:round/>
                      <a:headEnd type="none" w="med" len="med"/>
                      <a:tailEnd type="none" w="med" len="med"/>
                    </a:lnR>
                    <a:lnT w="12700" cap="flat" cmpd="sng" algn="ctr">
                      <a:solidFill>
                        <a:srgbClr val="A0B851"/>
                      </a:solidFill>
                      <a:prstDash val="solid"/>
                      <a:round/>
                      <a:headEnd type="none" w="med" len="med"/>
                      <a:tailEnd type="none" w="med" len="med"/>
                    </a:lnT>
                    <a:lnB w="12700" cap="flat" cmpd="sng" algn="ctr">
                      <a:solidFill>
                        <a:srgbClr val="40B651"/>
                      </a:solidFill>
                      <a:prstDash val="solid"/>
                      <a:round/>
                      <a:headEnd type="none" w="med" len="med"/>
                      <a:tailEnd type="none" w="med" len="med"/>
                    </a:lnB>
                    <a:solidFill>
                      <a:srgbClr val="FFFFFF"/>
                    </a:solidFill>
                  </a:tcPr>
                </a:tc>
                <a:tc>
                  <a:txBody>
                    <a:bodyPr/>
                    <a:lstStyle/>
                    <a:p>
                      <a:r>
                        <a:rPr lang="en-US">
                          <a:effectLst/>
                        </a:rPr>
                        <a:t>It consists of set of legal values</a:t>
                      </a:r>
                    </a:p>
                  </a:txBody>
                  <a:tcPr marL="50800" marR="50800" marT="50800" marB="50800" anchor="ctr">
                    <a:lnL w="12700" cap="flat" cmpd="sng" algn="ctr">
                      <a:solidFill>
                        <a:srgbClr val="A0B851"/>
                      </a:solidFill>
                      <a:prstDash val="solid"/>
                      <a:round/>
                      <a:headEnd type="none" w="med" len="med"/>
                      <a:tailEnd type="none" w="med" len="med"/>
                    </a:lnL>
                    <a:lnR w="12700" cap="flat" cmpd="sng" algn="ctr">
                      <a:solidFill>
                        <a:srgbClr val="A0B851"/>
                      </a:solidFill>
                      <a:prstDash val="solid"/>
                      <a:round/>
                      <a:headEnd type="none" w="med" len="med"/>
                      <a:tailEnd type="none" w="med" len="med"/>
                    </a:lnR>
                    <a:lnT w="12700" cap="flat" cmpd="sng" algn="ctr">
                      <a:solidFill>
                        <a:srgbClr val="A0B851"/>
                      </a:solidFill>
                      <a:prstDash val="solid"/>
                      <a:round/>
                      <a:headEnd type="none" w="med" len="med"/>
                      <a:tailEnd type="none" w="med" len="med"/>
                    </a:lnT>
                    <a:lnB w="12700" cap="flat" cmpd="sng" algn="ctr">
                      <a:solidFill>
                        <a:srgbClr val="40B651"/>
                      </a:solidFill>
                      <a:prstDash val="solid"/>
                      <a:round/>
                      <a:headEnd type="none" w="med" len="med"/>
                      <a:tailEnd type="none" w="med" len="med"/>
                    </a:lnB>
                    <a:solidFill>
                      <a:srgbClr val="FFFFFF"/>
                    </a:solidFill>
                  </a:tcPr>
                </a:tc>
                <a:extLst>
                  <a:ext uri="{0D108BD9-81ED-4DB2-BD59-A6C34878D82A}">
                    <a16:rowId xmlns:a16="http://schemas.microsoft.com/office/drawing/2014/main" val="1503378735"/>
                  </a:ext>
                </a:extLst>
              </a:tr>
              <a:tr h="888614">
                <a:tc>
                  <a:txBody>
                    <a:bodyPr/>
                    <a:lstStyle/>
                    <a:p>
                      <a:r>
                        <a:rPr lang="en-IN">
                          <a:effectLst/>
                        </a:rPr>
                        <a:t>Cardinality</a:t>
                      </a:r>
                    </a:p>
                  </a:txBody>
                  <a:tcPr marL="50800" marR="50800" marT="50800" marB="50800" anchor="ctr">
                    <a:lnL w="12700" cap="flat" cmpd="sng" algn="ctr">
                      <a:solidFill>
                        <a:srgbClr val="40B651"/>
                      </a:solidFill>
                      <a:prstDash val="solid"/>
                      <a:round/>
                      <a:headEnd type="none" w="med" len="med"/>
                      <a:tailEnd type="none" w="med" len="med"/>
                    </a:lnL>
                    <a:lnR w="12700" cap="flat" cmpd="sng" algn="ctr">
                      <a:solidFill>
                        <a:srgbClr val="40B651"/>
                      </a:solidFill>
                      <a:prstDash val="solid"/>
                      <a:round/>
                      <a:headEnd type="none" w="med" len="med"/>
                      <a:tailEnd type="none" w="med" len="med"/>
                    </a:lnR>
                    <a:lnT w="12700" cap="flat" cmpd="sng" algn="ctr">
                      <a:solidFill>
                        <a:srgbClr val="40B651"/>
                      </a:solidFill>
                      <a:prstDash val="solid"/>
                      <a:round/>
                      <a:headEnd type="none" w="med" len="med"/>
                      <a:tailEnd type="none" w="med" len="med"/>
                    </a:lnT>
                    <a:lnB w="12700" cap="flat" cmpd="sng" algn="ctr">
                      <a:solidFill>
                        <a:srgbClr val="80B551"/>
                      </a:solidFill>
                      <a:prstDash val="solid"/>
                      <a:round/>
                      <a:headEnd type="none" w="med" len="med"/>
                      <a:tailEnd type="none" w="med" len="med"/>
                    </a:lnB>
                    <a:solidFill>
                      <a:srgbClr val="FFFFFF"/>
                    </a:solidFill>
                  </a:tcPr>
                </a:tc>
                <a:tc>
                  <a:txBody>
                    <a:bodyPr/>
                    <a:lstStyle/>
                    <a:p>
                      <a:r>
                        <a:rPr lang="en-US">
                          <a:effectLst/>
                        </a:rPr>
                        <a:t>It consists of number of rows</a:t>
                      </a:r>
                    </a:p>
                  </a:txBody>
                  <a:tcPr marL="50800" marR="50800" marT="50800" marB="50800" anchor="ctr">
                    <a:lnL w="12700" cap="flat" cmpd="sng" algn="ctr">
                      <a:solidFill>
                        <a:srgbClr val="40B651"/>
                      </a:solidFill>
                      <a:prstDash val="solid"/>
                      <a:round/>
                      <a:headEnd type="none" w="med" len="med"/>
                      <a:tailEnd type="none" w="med" len="med"/>
                    </a:lnL>
                    <a:lnR w="12700" cap="flat" cmpd="sng" algn="ctr">
                      <a:solidFill>
                        <a:srgbClr val="40B651"/>
                      </a:solidFill>
                      <a:prstDash val="solid"/>
                      <a:round/>
                      <a:headEnd type="none" w="med" len="med"/>
                      <a:tailEnd type="none" w="med" len="med"/>
                    </a:lnR>
                    <a:lnT w="12700" cap="flat" cmpd="sng" algn="ctr">
                      <a:solidFill>
                        <a:srgbClr val="40B651"/>
                      </a:solidFill>
                      <a:prstDash val="solid"/>
                      <a:round/>
                      <a:headEnd type="none" w="med" len="med"/>
                      <a:tailEnd type="none" w="med" len="med"/>
                    </a:lnT>
                    <a:lnB w="12700" cap="flat" cmpd="sng" algn="ctr">
                      <a:solidFill>
                        <a:srgbClr val="80B551"/>
                      </a:solidFill>
                      <a:prstDash val="solid"/>
                      <a:round/>
                      <a:headEnd type="none" w="med" len="med"/>
                      <a:tailEnd type="none" w="med" len="med"/>
                    </a:lnB>
                    <a:solidFill>
                      <a:srgbClr val="FFFFFF"/>
                    </a:solidFill>
                  </a:tcPr>
                </a:tc>
                <a:extLst>
                  <a:ext uri="{0D108BD9-81ED-4DB2-BD59-A6C34878D82A}">
                    <a16:rowId xmlns:a16="http://schemas.microsoft.com/office/drawing/2014/main" val="2762422407"/>
                  </a:ext>
                </a:extLst>
              </a:tr>
              <a:tr h="888614">
                <a:tc>
                  <a:txBody>
                    <a:bodyPr/>
                    <a:lstStyle/>
                    <a:p>
                      <a:r>
                        <a:rPr lang="en-IN">
                          <a:effectLst/>
                        </a:rPr>
                        <a:t>Degree</a:t>
                      </a:r>
                    </a:p>
                  </a:txBody>
                  <a:tcPr marL="50800" marR="50800" marT="50800" marB="50800" anchor="ctr">
                    <a:lnL w="12700" cap="flat" cmpd="sng" algn="ctr">
                      <a:solidFill>
                        <a:srgbClr val="80B551"/>
                      </a:solidFill>
                      <a:prstDash val="solid"/>
                      <a:round/>
                      <a:headEnd type="none" w="med" len="med"/>
                      <a:tailEnd type="none" w="med" len="med"/>
                    </a:lnL>
                    <a:lnR w="12700" cap="flat" cmpd="sng" algn="ctr">
                      <a:solidFill>
                        <a:srgbClr val="80B551"/>
                      </a:solidFill>
                      <a:prstDash val="solid"/>
                      <a:round/>
                      <a:headEnd type="none" w="med" len="med"/>
                      <a:tailEnd type="none" w="med" len="med"/>
                    </a:lnR>
                    <a:lnT w="12700" cap="flat" cmpd="sng" algn="ctr">
                      <a:solidFill>
                        <a:srgbClr val="80B551"/>
                      </a:solidFill>
                      <a:prstDash val="solid"/>
                      <a:round/>
                      <a:headEnd type="none" w="med" len="med"/>
                      <a:tailEnd type="none" w="med" len="med"/>
                    </a:lnT>
                    <a:lnB w="12700" cap="flat" cmpd="sng" algn="ctr">
                      <a:solidFill>
                        <a:srgbClr val="80B551"/>
                      </a:solidFill>
                      <a:prstDash val="solid"/>
                      <a:round/>
                      <a:headEnd type="none" w="med" len="med"/>
                      <a:tailEnd type="none" w="med" len="med"/>
                    </a:lnB>
                    <a:solidFill>
                      <a:srgbClr val="FFFFFF"/>
                    </a:solidFill>
                  </a:tcPr>
                </a:tc>
                <a:tc>
                  <a:txBody>
                    <a:bodyPr/>
                    <a:lstStyle/>
                    <a:p>
                      <a:r>
                        <a:rPr lang="en-US" dirty="0">
                          <a:effectLst/>
                        </a:rPr>
                        <a:t>It contains number of columns</a:t>
                      </a:r>
                    </a:p>
                  </a:txBody>
                  <a:tcPr marL="50800" marR="50800" marT="50800" marB="50800" anchor="ctr">
                    <a:lnL w="12700" cap="flat" cmpd="sng" algn="ctr">
                      <a:solidFill>
                        <a:srgbClr val="80B551"/>
                      </a:solidFill>
                      <a:prstDash val="solid"/>
                      <a:round/>
                      <a:headEnd type="none" w="med" len="med"/>
                      <a:tailEnd type="none" w="med" len="med"/>
                    </a:lnL>
                    <a:lnR w="12700" cap="flat" cmpd="sng" algn="ctr">
                      <a:solidFill>
                        <a:srgbClr val="80B551"/>
                      </a:solidFill>
                      <a:prstDash val="solid"/>
                      <a:round/>
                      <a:headEnd type="none" w="med" len="med"/>
                      <a:tailEnd type="none" w="med" len="med"/>
                    </a:lnR>
                    <a:lnT w="12700" cap="flat" cmpd="sng" algn="ctr">
                      <a:solidFill>
                        <a:srgbClr val="80B551"/>
                      </a:solidFill>
                      <a:prstDash val="solid"/>
                      <a:round/>
                      <a:headEnd type="none" w="med" len="med"/>
                      <a:tailEnd type="none" w="med" len="med"/>
                    </a:lnT>
                    <a:lnB w="12700" cap="flat" cmpd="sng" algn="ctr">
                      <a:solidFill>
                        <a:srgbClr val="80B551"/>
                      </a:solidFill>
                      <a:prstDash val="solid"/>
                      <a:round/>
                      <a:headEnd type="none" w="med" len="med"/>
                      <a:tailEnd type="none" w="med" len="med"/>
                    </a:lnB>
                    <a:solidFill>
                      <a:srgbClr val="FFFFFF"/>
                    </a:solidFill>
                  </a:tcPr>
                </a:tc>
                <a:extLst>
                  <a:ext uri="{0D108BD9-81ED-4DB2-BD59-A6C34878D82A}">
                    <a16:rowId xmlns:a16="http://schemas.microsoft.com/office/drawing/2014/main" val="2511241336"/>
                  </a:ext>
                </a:extLst>
              </a:tr>
            </a:tbl>
          </a:graphicData>
        </a:graphic>
      </p:graphicFrame>
    </p:spTree>
    <p:extLst>
      <p:ext uri="{BB962C8B-B14F-4D97-AF65-F5344CB8AC3E}">
        <p14:creationId xmlns:p14="http://schemas.microsoft.com/office/powerpoint/2010/main" val="3655853875"/>
      </p:ext>
    </p:extLst>
  </p:cSld>
  <p:clrMapOvr>
    <a:masterClrMapping/>
  </p:clrMapOvr>
</p:sld>
</file>

<file path=ppt/slides/slide11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64D00C3-2A15-DC3A-CABE-5FA32493D5E1}"/>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F72EE5CE-3F2F-D06A-6EFB-3066514B54A9}"/>
              </a:ext>
            </a:extLst>
          </p:cNvPr>
          <p:cNvSpPr>
            <a:spLocks noGrp="1"/>
          </p:cNvSpPr>
          <p:nvPr>
            <p:ph type="title"/>
          </p:nvPr>
        </p:nvSpPr>
        <p:spPr>
          <a:xfrm>
            <a:off x="695401" y="395786"/>
            <a:ext cx="9147099" cy="810714"/>
          </a:xfrm>
        </p:spPr>
        <p:txBody>
          <a:bodyPr/>
          <a:lstStyle/>
          <a:p>
            <a:pPr algn="l"/>
            <a:r>
              <a:rPr lang="en-IN" b="1" i="0" dirty="0">
                <a:effectLst/>
                <a:latin typeface="Montserrat" panose="00000500000000000000" pitchFamily="2" charset="0"/>
              </a:rPr>
              <a:t>Relational Model Terminologies:</a:t>
            </a:r>
          </a:p>
        </p:txBody>
      </p:sp>
      <p:sp>
        <p:nvSpPr>
          <p:cNvPr id="3" name="Text Placeholder 2">
            <a:extLst>
              <a:ext uri="{FF2B5EF4-FFF2-40B4-BE49-F238E27FC236}">
                <a16:creationId xmlns:a16="http://schemas.microsoft.com/office/drawing/2014/main" id="{C9E46BAB-E119-B8A2-4973-C354F7899816}"/>
              </a:ext>
            </a:extLst>
          </p:cNvPr>
          <p:cNvSpPr>
            <a:spLocks noGrp="1"/>
          </p:cNvSpPr>
          <p:nvPr>
            <p:ph type="body" sz="quarter" idx="17"/>
          </p:nvPr>
        </p:nvSpPr>
        <p:spPr>
          <a:xfrm>
            <a:off x="1016000" y="1333500"/>
            <a:ext cx="10033000" cy="4826000"/>
          </a:xfrm>
        </p:spPr>
        <p:txBody>
          <a:bodyPr/>
          <a:lstStyle/>
          <a:p>
            <a:pPr algn="just"/>
            <a:endParaRPr lang="en-US" dirty="0"/>
          </a:p>
          <a:p>
            <a:pPr>
              <a:buFont typeface="Arial" panose="020B0604020202020204" pitchFamily="34" charset="0"/>
              <a:buChar char="•"/>
            </a:pPr>
            <a:endParaRPr lang="en-IN" dirty="0"/>
          </a:p>
        </p:txBody>
      </p:sp>
      <p:sp>
        <p:nvSpPr>
          <p:cNvPr id="6" name="TextBox 5">
            <a:extLst>
              <a:ext uri="{FF2B5EF4-FFF2-40B4-BE49-F238E27FC236}">
                <a16:creationId xmlns:a16="http://schemas.microsoft.com/office/drawing/2014/main" id="{6617B13C-29CF-61C1-A390-0651BEA43899}"/>
              </a:ext>
            </a:extLst>
          </p:cNvPr>
          <p:cNvSpPr txBox="1"/>
          <p:nvPr/>
        </p:nvSpPr>
        <p:spPr>
          <a:xfrm>
            <a:off x="695401" y="1169020"/>
            <a:ext cx="9649071" cy="5078313"/>
          </a:xfrm>
          <a:prstGeom prst="rect">
            <a:avLst/>
          </a:prstGeom>
          <a:noFill/>
        </p:spPr>
        <p:txBody>
          <a:bodyPr wrap="square">
            <a:spAutoFit/>
          </a:bodyPr>
          <a:lstStyle/>
          <a:p>
            <a:pPr algn="just"/>
            <a:r>
              <a:rPr lang="en-US" b="1" i="0" dirty="0">
                <a:solidFill>
                  <a:srgbClr val="333333"/>
                </a:solidFill>
                <a:effectLst/>
                <a:latin typeface="Montserrat" panose="00000500000000000000" pitchFamily="2" charset="0"/>
              </a:rPr>
              <a:t>Relation:</a:t>
            </a:r>
            <a:r>
              <a:rPr lang="en-US" b="0" i="0" dirty="0">
                <a:solidFill>
                  <a:srgbClr val="333333"/>
                </a:solidFill>
                <a:effectLst/>
                <a:latin typeface="Montserrat" panose="00000500000000000000" pitchFamily="2" charset="0"/>
              </a:rPr>
              <a:t> A relation is usually represented as a table, organized into rows and columns. A relationship consists of multiple records. </a:t>
            </a:r>
            <a:r>
              <a:rPr lang="en-US" b="1" i="0" dirty="0">
                <a:solidFill>
                  <a:srgbClr val="333333"/>
                </a:solidFill>
                <a:effectLst/>
                <a:latin typeface="Montserrat" panose="00000500000000000000" pitchFamily="2" charset="0"/>
              </a:rPr>
              <a:t>For example:</a:t>
            </a:r>
            <a:r>
              <a:rPr lang="en-US" b="0" i="0" dirty="0">
                <a:solidFill>
                  <a:srgbClr val="333333"/>
                </a:solidFill>
                <a:effectLst/>
                <a:latin typeface="Montserrat" panose="00000500000000000000" pitchFamily="2" charset="0"/>
              </a:rPr>
              <a:t> student relation which contains tuples and attributes.</a:t>
            </a:r>
          </a:p>
          <a:p>
            <a:pPr algn="just"/>
            <a:r>
              <a:rPr lang="en-US" b="1" i="0" dirty="0">
                <a:solidFill>
                  <a:srgbClr val="333333"/>
                </a:solidFill>
                <a:effectLst/>
                <a:latin typeface="Montserrat" panose="00000500000000000000" pitchFamily="2" charset="0"/>
              </a:rPr>
              <a:t>Tuple:</a:t>
            </a:r>
            <a:r>
              <a:rPr lang="en-US" b="0" i="0" dirty="0">
                <a:solidFill>
                  <a:srgbClr val="333333"/>
                </a:solidFill>
                <a:effectLst/>
                <a:latin typeface="Montserrat" panose="00000500000000000000" pitchFamily="2" charset="0"/>
              </a:rPr>
              <a:t> The rows of a relation that contain the values corresponding to the attributes are called tuples. </a:t>
            </a:r>
            <a:r>
              <a:rPr lang="en-US" b="1" i="0" dirty="0">
                <a:solidFill>
                  <a:srgbClr val="333333"/>
                </a:solidFill>
                <a:effectLst/>
                <a:latin typeface="Montserrat" panose="00000500000000000000" pitchFamily="2" charset="0"/>
              </a:rPr>
              <a:t>For example:</a:t>
            </a:r>
            <a:r>
              <a:rPr lang="en-US" b="0" i="0" dirty="0">
                <a:solidFill>
                  <a:srgbClr val="333333"/>
                </a:solidFill>
                <a:effectLst/>
                <a:latin typeface="Montserrat" panose="00000500000000000000" pitchFamily="2" charset="0"/>
              </a:rPr>
              <a:t> in the Student relation there are 5 tuples.</a:t>
            </a:r>
          </a:p>
          <a:p>
            <a:pPr algn="just"/>
            <a:r>
              <a:rPr lang="en-US" b="0" i="0" dirty="0">
                <a:solidFill>
                  <a:srgbClr val="333333"/>
                </a:solidFill>
                <a:effectLst/>
                <a:latin typeface="Montserrat" panose="00000500000000000000" pitchFamily="2" charset="0"/>
              </a:rPr>
              <a:t>The value of tuples contains (10112, Rama, 9874567891,islam </a:t>
            </a:r>
            <a:r>
              <a:rPr lang="en-US" b="0" i="0" dirty="0" err="1">
                <a:solidFill>
                  <a:srgbClr val="333333"/>
                </a:solidFill>
                <a:effectLst/>
                <a:latin typeface="Montserrat" panose="00000500000000000000" pitchFamily="2" charset="0"/>
              </a:rPr>
              <a:t>ganj</a:t>
            </a:r>
            <a:r>
              <a:rPr lang="en-US" b="0" i="0" dirty="0">
                <a:solidFill>
                  <a:srgbClr val="333333"/>
                </a:solidFill>
                <a:effectLst/>
                <a:latin typeface="Montserrat" panose="00000500000000000000" pitchFamily="2" charset="0"/>
              </a:rPr>
              <a:t>, F) etc.</a:t>
            </a:r>
          </a:p>
          <a:p>
            <a:pPr algn="just"/>
            <a:r>
              <a:rPr lang="en-US" b="1" i="0" dirty="0">
                <a:solidFill>
                  <a:srgbClr val="333333"/>
                </a:solidFill>
                <a:effectLst/>
                <a:latin typeface="Montserrat" panose="00000500000000000000" pitchFamily="2" charset="0"/>
              </a:rPr>
              <a:t>Data Item:</a:t>
            </a:r>
            <a:r>
              <a:rPr lang="en-US" b="0" i="0" dirty="0">
                <a:solidFill>
                  <a:srgbClr val="333333"/>
                </a:solidFill>
                <a:effectLst/>
                <a:latin typeface="Montserrat" panose="00000500000000000000" pitchFamily="2" charset="0"/>
              </a:rPr>
              <a:t> The smallest unit of data in the relation is the individual data item. It is stored at the intersection of rows and columns are also known as cells. </a:t>
            </a:r>
            <a:r>
              <a:rPr lang="en-US" b="1" i="0" dirty="0">
                <a:solidFill>
                  <a:srgbClr val="333333"/>
                </a:solidFill>
                <a:effectLst/>
                <a:latin typeface="Montserrat" panose="00000500000000000000" pitchFamily="2" charset="0"/>
              </a:rPr>
              <a:t>For Example:</a:t>
            </a:r>
            <a:r>
              <a:rPr lang="en-US" b="0" i="0" dirty="0">
                <a:solidFill>
                  <a:srgbClr val="333333"/>
                </a:solidFill>
                <a:effectLst/>
                <a:latin typeface="Montserrat" panose="00000500000000000000" pitchFamily="2" charset="0"/>
              </a:rPr>
              <a:t> 10112, "Rama" </a:t>
            </a:r>
            <a:r>
              <a:rPr lang="en-US" b="0" i="0" dirty="0" err="1">
                <a:solidFill>
                  <a:srgbClr val="333333"/>
                </a:solidFill>
                <a:effectLst/>
                <a:latin typeface="Montserrat" panose="00000500000000000000" pitchFamily="2" charset="0"/>
              </a:rPr>
              <a:t>etc</a:t>
            </a:r>
            <a:r>
              <a:rPr lang="en-US" b="0" i="0" dirty="0">
                <a:solidFill>
                  <a:srgbClr val="333333"/>
                </a:solidFill>
                <a:effectLst/>
                <a:latin typeface="Montserrat" panose="00000500000000000000" pitchFamily="2" charset="0"/>
              </a:rPr>
              <a:t> are data items in Student relation.</a:t>
            </a:r>
          </a:p>
          <a:p>
            <a:pPr algn="just"/>
            <a:endParaRPr lang="en-US" b="1" i="0" dirty="0">
              <a:solidFill>
                <a:srgbClr val="333333"/>
              </a:solidFill>
              <a:effectLst/>
              <a:latin typeface="Montserrat" panose="00000500000000000000" pitchFamily="2" charset="0"/>
            </a:endParaRPr>
          </a:p>
          <a:p>
            <a:pPr algn="just"/>
            <a:r>
              <a:rPr lang="en-US" b="1" i="0" dirty="0">
                <a:solidFill>
                  <a:srgbClr val="333333"/>
                </a:solidFill>
                <a:effectLst/>
                <a:latin typeface="Montserrat" panose="00000500000000000000" pitchFamily="2" charset="0"/>
              </a:rPr>
              <a:t>Domain:</a:t>
            </a:r>
            <a:r>
              <a:rPr lang="en-US" b="0" i="0" dirty="0">
                <a:solidFill>
                  <a:srgbClr val="333333"/>
                </a:solidFill>
                <a:effectLst/>
                <a:latin typeface="Montserrat" panose="00000500000000000000" pitchFamily="2" charset="0"/>
              </a:rPr>
              <a:t> It contains a set of atomic values that an attribute can take. It could be accomplish explicitly by listing all possible values or specifying conditions that all values in that domain must be confirmed. the users to define very simple data  types such as numbers, dates, characters etc.</a:t>
            </a:r>
          </a:p>
          <a:p>
            <a:pPr algn="just"/>
            <a:r>
              <a:rPr lang="en-US" b="1" i="0" dirty="0">
                <a:solidFill>
                  <a:srgbClr val="333333"/>
                </a:solidFill>
                <a:effectLst/>
                <a:latin typeface="Montserrat" panose="00000500000000000000" pitchFamily="2" charset="0"/>
              </a:rPr>
              <a:t>Attribute:</a:t>
            </a:r>
            <a:r>
              <a:rPr lang="en-US" b="0" i="0" dirty="0">
                <a:solidFill>
                  <a:srgbClr val="333333"/>
                </a:solidFill>
                <a:effectLst/>
                <a:latin typeface="Montserrat" panose="00000500000000000000" pitchFamily="2" charset="0"/>
              </a:rPr>
              <a:t> The smallest unit of data in relational model is an attribute. It contains the name of a column in a particular table. </a:t>
            </a:r>
          </a:p>
          <a:p>
            <a:pPr algn="just"/>
            <a:endParaRPr lang="en-US" b="0" i="0" dirty="0">
              <a:solidFill>
                <a:srgbClr val="333333"/>
              </a:solidFill>
              <a:effectLst/>
              <a:latin typeface="Montserrat" panose="00000500000000000000" pitchFamily="2" charset="0"/>
            </a:endParaRPr>
          </a:p>
        </p:txBody>
      </p:sp>
    </p:spTree>
    <p:extLst>
      <p:ext uri="{BB962C8B-B14F-4D97-AF65-F5344CB8AC3E}">
        <p14:creationId xmlns:p14="http://schemas.microsoft.com/office/powerpoint/2010/main" val="3797326787"/>
      </p:ext>
    </p:extLst>
  </p:cSld>
  <p:clrMapOvr>
    <a:masterClrMapping/>
  </p:clrMapOvr>
</p:sld>
</file>

<file path=ppt/slides/slide11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3956241-455B-F65A-8AC8-4F9A4CBE90FB}"/>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1686ACA1-A29E-2C47-D260-33325E6714B8}"/>
              </a:ext>
            </a:extLst>
          </p:cNvPr>
          <p:cNvSpPr>
            <a:spLocks noGrp="1"/>
          </p:cNvSpPr>
          <p:nvPr>
            <p:ph type="title"/>
          </p:nvPr>
        </p:nvSpPr>
        <p:spPr>
          <a:xfrm>
            <a:off x="695401" y="395786"/>
            <a:ext cx="9147099" cy="810714"/>
          </a:xfrm>
        </p:spPr>
        <p:txBody>
          <a:bodyPr/>
          <a:lstStyle/>
          <a:p>
            <a:pPr algn="l"/>
            <a:r>
              <a:rPr lang="en-IN" b="1" i="0" dirty="0">
                <a:effectLst/>
                <a:latin typeface="Montserrat" panose="00000500000000000000" pitchFamily="2" charset="0"/>
              </a:rPr>
              <a:t>Relational Model Terminologies:</a:t>
            </a:r>
          </a:p>
        </p:txBody>
      </p:sp>
      <p:sp>
        <p:nvSpPr>
          <p:cNvPr id="3" name="Text Placeholder 2">
            <a:extLst>
              <a:ext uri="{FF2B5EF4-FFF2-40B4-BE49-F238E27FC236}">
                <a16:creationId xmlns:a16="http://schemas.microsoft.com/office/drawing/2014/main" id="{93013E11-B651-7271-DAE2-4FA483828CF7}"/>
              </a:ext>
            </a:extLst>
          </p:cNvPr>
          <p:cNvSpPr>
            <a:spLocks noGrp="1"/>
          </p:cNvSpPr>
          <p:nvPr>
            <p:ph type="body" sz="quarter" idx="17"/>
          </p:nvPr>
        </p:nvSpPr>
        <p:spPr>
          <a:xfrm>
            <a:off x="1016000" y="1333500"/>
            <a:ext cx="10033000" cy="4826000"/>
          </a:xfrm>
        </p:spPr>
        <p:txBody>
          <a:bodyPr/>
          <a:lstStyle/>
          <a:p>
            <a:pPr algn="just"/>
            <a:endParaRPr lang="en-US" dirty="0"/>
          </a:p>
          <a:p>
            <a:pPr>
              <a:buFont typeface="Arial" panose="020B0604020202020204" pitchFamily="34" charset="0"/>
              <a:buChar char="•"/>
            </a:pPr>
            <a:endParaRPr lang="en-IN" dirty="0"/>
          </a:p>
        </p:txBody>
      </p:sp>
      <p:sp>
        <p:nvSpPr>
          <p:cNvPr id="6" name="TextBox 5">
            <a:extLst>
              <a:ext uri="{FF2B5EF4-FFF2-40B4-BE49-F238E27FC236}">
                <a16:creationId xmlns:a16="http://schemas.microsoft.com/office/drawing/2014/main" id="{63EC1A25-D997-17BF-7226-80AC2E8D3EED}"/>
              </a:ext>
            </a:extLst>
          </p:cNvPr>
          <p:cNvSpPr txBox="1"/>
          <p:nvPr/>
        </p:nvSpPr>
        <p:spPr>
          <a:xfrm>
            <a:off x="1016000" y="1628800"/>
            <a:ext cx="9649071" cy="2585323"/>
          </a:xfrm>
          <a:prstGeom prst="rect">
            <a:avLst/>
          </a:prstGeom>
          <a:noFill/>
        </p:spPr>
        <p:txBody>
          <a:bodyPr wrap="square">
            <a:spAutoFit/>
          </a:bodyPr>
          <a:lstStyle/>
          <a:p>
            <a:pPr algn="just"/>
            <a:r>
              <a:rPr lang="en-US" b="1" i="0" dirty="0">
                <a:solidFill>
                  <a:srgbClr val="333333"/>
                </a:solidFill>
                <a:effectLst/>
                <a:latin typeface="Montserrat" panose="00000500000000000000" pitchFamily="2" charset="0"/>
              </a:rPr>
              <a:t>Cardinality:</a:t>
            </a:r>
            <a:r>
              <a:rPr lang="en-US" b="0" i="0" dirty="0">
                <a:solidFill>
                  <a:srgbClr val="333333"/>
                </a:solidFill>
                <a:effectLst/>
                <a:latin typeface="Montserrat" panose="00000500000000000000" pitchFamily="2" charset="0"/>
              </a:rPr>
              <a:t> The total number of rows at a time in a relation is called the cardinality of that relation. For example: In a student relation, the total number of tuples in this relation is3 so the cardinality of a relation is 3. The cardinality of a relation changes with time as more and more tuples get added or deleted.</a:t>
            </a:r>
          </a:p>
          <a:p>
            <a:pPr algn="just"/>
            <a:r>
              <a:rPr lang="en-US" b="1" i="0" dirty="0">
                <a:solidFill>
                  <a:srgbClr val="333333"/>
                </a:solidFill>
                <a:effectLst/>
                <a:latin typeface="Montserrat" panose="00000500000000000000" pitchFamily="2" charset="0"/>
              </a:rPr>
              <a:t>Degree:</a:t>
            </a:r>
            <a:r>
              <a:rPr lang="en-US" b="0" i="0" dirty="0">
                <a:solidFill>
                  <a:srgbClr val="333333"/>
                </a:solidFill>
                <a:effectLst/>
                <a:latin typeface="Montserrat" panose="00000500000000000000" pitchFamily="2" charset="0"/>
              </a:rPr>
              <a:t> The degree of association is called the total number of attributes in a relationship. The relation with one attribute is called unary relation, with two attributes is known a binary relation and with three attributes is known as ternary relation. </a:t>
            </a:r>
            <a:r>
              <a:rPr lang="en-US" b="1" i="0" dirty="0">
                <a:solidFill>
                  <a:srgbClr val="333333"/>
                </a:solidFill>
                <a:effectLst/>
                <a:latin typeface="Montserrat" panose="00000500000000000000" pitchFamily="2" charset="0"/>
              </a:rPr>
              <a:t>F</a:t>
            </a:r>
            <a:endParaRPr lang="en-US" b="0" i="0" dirty="0">
              <a:solidFill>
                <a:srgbClr val="333333"/>
              </a:solidFill>
              <a:effectLst/>
              <a:latin typeface="Montserrat" panose="00000500000000000000" pitchFamily="2" charset="0"/>
            </a:endParaRPr>
          </a:p>
          <a:p>
            <a:pPr algn="just"/>
            <a:endParaRPr lang="en-US" b="0" i="0" dirty="0">
              <a:solidFill>
                <a:srgbClr val="333333"/>
              </a:solidFill>
              <a:effectLst/>
              <a:latin typeface="Montserrat" panose="00000500000000000000" pitchFamily="2" charset="0"/>
            </a:endParaRPr>
          </a:p>
        </p:txBody>
      </p:sp>
    </p:spTree>
    <p:extLst>
      <p:ext uri="{BB962C8B-B14F-4D97-AF65-F5344CB8AC3E}">
        <p14:creationId xmlns:p14="http://schemas.microsoft.com/office/powerpoint/2010/main" val="298901068"/>
      </p:ext>
    </p:extLst>
  </p:cSld>
  <p:clrMapOvr>
    <a:masterClrMapping/>
  </p:clrMapOvr>
</p:sld>
</file>

<file path=ppt/slides/slide1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791562" y="635000"/>
            <a:ext cx="7369099" cy="838202"/>
          </a:xfrm>
        </p:spPr>
        <p:txBody>
          <a:bodyPr/>
          <a:lstStyle/>
          <a:p>
            <a:r>
              <a:rPr lang="en-US" b="1" dirty="0"/>
              <a:t>Relational</a:t>
            </a:r>
            <a:r>
              <a:rPr lang="en-US" dirty="0"/>
              <a:t> </a:t>
            </a:r>
            <a:r>
              <a:rPr lang="en-US" b="1" dirty="0"/>
              <a:t>Database: Example</a:t>
            </a:r>
            <a:br>
              <a:rPr lang="en-IN" dirty="0"/>
            </a:br>
            <a:endParaRPr lang="en-IN" dirty="0"/>
          </a:p>
        </p:txBody>
      </p:sp>
      <p:sp>
        <p:nvSpPr>
          <p:cNvPr id="3" name="Text Placeholder 2"/>
          <p:cNvSpPr>
            <a:spLocks noGrp="1"/>
          </p:cNvSpPr>
          <p:nvPr>
            <p:ph type="body" sz="quarter" idx="17"/>
          </p:nvPr>
        </p:nvSpPr>
        <p:spPr>
          <a:xfrm>
            <a:off x="791652" y="1270395"/>
            <a:ext cx="10801201" cy="4320480"/>
          </a:xfrm>
        </p:spPr>
        <p:txBody>
          <a:bodyPr/>
          <a:lstStyle/>
          <a:p>
            <a:pPr marL="380985" indent="-380985">
              <a:spcBef>
                <a:spcPct val="20000"/>
              </a:spcBef>
              <a:buClr>
                <a:schemeClr val="hlink"/>
              </a:buClr>
              <a:buSzPct val="65000"/>
              <a:buFont typeface="Arial" panose="020B0604020202020204" pitchFamily="34" charset="0"/>
              <a:buChar char="•"/>
            </a:pPr>
            <a:r>
              <a:rPr lang="en-US" dirty="0"/>
              <a:t>Provides a logical “human-level” view of the data and associations among groups of data (i.e., tables).</a:t>
            </a:r>
          </a:p>
          <a:p>
            <a:pPr marL="285739" indent="-285739">
              <a:spcBef>
                <a:spcPct val="20000"/>
              </a:spcBef>
              <a:buClr>
                <a:schemeClr val="hlink"/>
              </a:buClr>
              <a:buSzPct val="65000"/>
              <a:buFont typeface="Wingdings" pitchFamily="2" charset="2"/>
              <a:buChar char="n"/>
            </a:pPr>
            <a:endParaRPr lang="en-US" dirty="0"/>
          </a:p>
          <a:p>
            <a:endParaRPr lang="en-IN" dirty="0"/>
          </a:p>
        </p:txBody>
      </p:sp>
      <p:grpSp>
        <p:nvGrpSpPr>
          <p:cNvPr id="9" name="Group 8"/>
          <p:cNvGrpSpPr/>
          <p:nvPr/>
        </p:nvGrpSpPr>
        <p:grpSpPr>
          <a:xfrm>
            <a:off x="2476500" y="2667000"/>
            <a:ext cx="6921500" cy="3205678"/>
            <a:chOff x="2743200" y="2895600"/>
            <a:chExt cx="7239000" cy="3198813"/>
          </a:xfrm>
        </p:grpSpPr>
        <p:graphicFrame>
          <p:nvGraphicFramePr>
            <p:cNvPr id="4" name="Object 9"/>
            <p:cNvGraphicFramePr>
              <a:graphicFrameLocks noChangeAspect="1"/>
            </p:cNvGraphicFramePr>
            <p:nvPr/>
          </p:nvGraphicFramePr>
          <p:xfrm>
            <a:off x="3505200" y="2895600"/>
            <a:ext cx="4198938" cy="719138"/>
          </p:xfrm>
          <a:graphic>
            <a:graphicData uri="http://schemas.openxmlformats.org/presentationml/2006/ole">
              <mc:AlternateContent xmlns:mc="http://schemas.openxmlformats.org/markup-compatibility/2006">
                <mc:Choice xmlns:v="urn:schemas-microsoft-com:vml" Requires="v">
                  <p:oleObj name="Worksheet" r:id="rId2" imgW="2886075" imgH="495402" progId="Excel.Sheet.8">
                    <p:embed/>
                  </p:oleObj>
                </mc:Choice>
                <mc:Fallback>
                  <p:oleObj name="Worksheet" r:id="rId2" imgW="2886075" imgH="495402" progId="Excel.Sheet.8">
                    <p:embed/>
                    <p:pic>
                      <p:nvPicPr>
                        <p:cNvPr id="4" name="Object 9"/>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3505200" y="2895600"/>
                          <a:ext cx="4198938" cy="719138"/>
                        </a:xfrm>
                        <a:prstGeom prst="rect">
                          <a:avLst/>
                        </a:prstGeom>
                        <a:solidFill>
                          <a:srgbClr val="CCFFFF"/>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oleObj>
                </mc:Fallback>
              </mc:AlternateContent>
            </a:graphicData>
          </a:graphic>
        </p:graphicFrame>
        <p:graphicFrame>
          <p:nvGraphicFramePr>
            <p:cNvPr id="5" name="Object 10"/>
            <p:cNvGraphicFramePr>
              <a:graphicFrameLocks noChangeAspect="1"/>
            </p:cNvGraphicFramePr>
            <p:nvPr/>
          </p:nvGraphicFramePr>
          <p:xfrm>
            <a:off x="5334000" y="4419600"/>
            <a:ext cx="4648200" cy="571500"/>
          </p:xfrm>
          <a:graphic>
            <a:graphicData uri="http://schemas.openxmlformats.org/presentationml/2006/ole">
              <mc:AlternateContent xmlns:mc="http://schemas.openxmlformats.org/markup-compatibility/2006">
                <mc:Choice xmlns:v="urn:schemas-microsoft-com:vml" Requires="v">
                  <p:oleObj name="Worksheet" r:id="rId4" imgW="4128840" imgH="585000" progId="Excel.Sheet.8">
                    <p:embed/>
                  </p:oleObj>
                </mc:Choice>
                <mc:Fallback>
                  <p:oleObj name="Worksheet" r:id="rId4" imgW="4128840" imgH="585000" progId="Excel.Sheet.8">
                    <p:embed/>
                    <p:pic>
                      <p:nvPicPr>
                        <p:cNvPr id="5" name="Object 10"/>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5334000" y="4419600"/>
                          <a:ext cx="4648200" cy="571500"/>
                        </a:xfrm>
                        <a:prstGeom prst="rect">
                          <a:avLst/>
                        </a:prstGeom>
                        <a:solidFill>
                          <a:srgbClr val="CCFFFF"/>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oleObj>
                </mc:Fallback>
              </mc:AlternateContent>
            </a:graphicData>
          </a:graphic>
        </p:graphicFrame>
        <p:graphicFrame>
          <p:nvGraphicFramePr>
            <p:cNvPr id="6" name="Object 11"/>
            <p:cNvGraphicFramePr>
              <a:graphicFrameLocks noChangeAspect="1"/>
            </p:cNvGraphicFramePr>
            <p:nvPr/>
          </p:nvGraphicFramePr>
          <p:xfrm>
            <a:off x="2743200" y="5486400"/>
            <a:ext cx="6400800" cy="608013"/>
          </p:xfrm>
          <a:graphic>
            <a:graphicData uri="http://schemas.openxmlformats.org/presentationml/2006/ole">
              <mc:AlternateContent xmlns:mc="http://schemas.openxmlformats.org/markup-compatibility/2006">
                <mc:Choice xmlns:v="urn:schemas-microsoft-com:vml" Requires="v">
                  <p:oleObj name="Worksheet" r:id="rId6" imgW="5332680" imgH="585000" progId="Excel.Sheet.8">
                    <p:embed/>
                  </p:oleObj>
                </mc:Choice>
                <mc:Fallback>
                  <p:oleObj name="Worksheet" r:id="rId6" imgW="5332680" imgH="585000" progId="Excel.Sheet.8">
                    <p:embed/>
                    <p:pic>
                      <p:nvPicPr>
                        <p:cNvPr id="6" name="Object 11"/>
                        <p:cNvPicPr>
                          <a:picLocks noChangeAspect="1" noChangeArrowheads="1"/>
                        </p:cNvPicPr>
                        <p:nvPr/>
                      </p:nvPicPr>
                      <p:blipFill>
                        <a:blip r:embed="rId7">
                          <a:extLst>
                            <a:ext uri="{28A0092B-C50C-407E-A947-70E740481C1C}">
                              <a14:useLocalDpi xmlns:a14="http://schemas.microsoft.com/office/drawing/2010/main" val="0"/>
                            </a:ext>
                          </a:extLst>
                        </a:blip>
                        <a:srcRect/>
                        <a:stretch>
                          <a:fillRect/>
                        </a:stretch>
                      </p:blipFill>
                      <p:spPr bwMode="auto">
                        <a:xfrm>
                          <a:off x="2743200" y="5486400"/>
                          <a:ext cx="6400800" cy="608013"/>
                        </a:xfrm>
                        <a:prstGeom prst="rect">
                          <a:avLst/>
                        </a:prstGeom>
                        <a:solidFill>
                          <a:srgbClr val="CCFFFF"/>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oleObj>
                </mc:Fallback>
              </mc:AlternateContent>
            </a:graphicData>
          </a:graphic>
        </p:graphicFrame>
        <p:sp>
          <p:nvSpPr>
            <p:cNvPr id="7" name="Line 12"/>
            <p:cNvSpPr>
              <a:spLocks noChangeShapeType="1"/>
            </p:cNvSpPr>
            <p:nvPr/>
          </p:nvSpPr>
          <p:spPr bwMode="auto">
            <a:xfrm flipH="1">
              <a:off x="6172200" y="3657600"/>
              <a:ext cx="457200" cy="727075"/>
            </a:xfrm>
            <a:prstGeom prst="line">
              <a:avLst/>
            </a:prstGeom>
            <a:noFill/>
            <a:ln w="9525">
              <a:solidFill>
                <a:schemeClr val="tx1"/>
              </a:solidFill>
              <a:round/>
              <a:headEnd/>
              <a:tailEnd type="triangle" w="med" len="med"/>
            </a:ln>
          </p:spPr>
          <p:txBody>
            <a:bodyPr/>
            <a:lstStyle/>
            <a:p>
              <a:endParaRPr lang="en-IN" sz="1500"/>
            </a:p>
          </p:txBody>
        </p:sp>
        <p:sp>
          <p:nvSpPr>
            <p:cNvPr id="8" name="Line 13"/>
            <p:cNvSpPr>
              <a:spLocks noChangeShapeType="1"/>
            </p:cNvSpPr>
            <p:nvPr/>
          </p:nvSpPr>
          <p:spPr bwMode="auto">
            <a:xfrm flipH="1">
              <a:off x="3352800" y="3657600"/>
              <a:ext cx="990600" cy="1782763"/>
            </a:xfrm>
            <a:prstGeom prst="line">
              <a:avLst/>
            </a:prstGeom>
            <a:noFill/>
            <a:ln w="9525">
              <a:solidFill>
                <a:schemeClr val="tx1"/>
              </a:solidFill>
              <a:round/>
              <a:headEnd/>
              <a:tailEnd type="triangle" w="med" len="med"/>
            </a:ln>
          </p:spPr>
          <p:txBody>
            <a:bodyPr/>
            <a:lstStyle/>
            <a:p>
              <a:endParaRPr lang="en-IN" sz="1500"/>
            </a:p>
          </p:txBody>
        </p:sp>
      </p:grpSp>
    </p:spTree>
    <p:extLst>
      <p:ext uri="{BB962C8B-B14F-4D97-AF65-F5344CB8AC3E}">
        <p14:creationId xmlns:p14="http://schemas.microsoft.com/office/powerpoint/2010/main" val="2125285930"/>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build="p"/>
    </p:bldLst>
  </p:timing>
</p:sld>
</file>

<file path=ppt/slides/slide1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695401" y="395786"/>
            <a:ext cx="8575599" cy="838202"/>
          </a:xfrm>
        </p:spPr>
        <p:txBody>
          <a:bodyPr/>
          <a:lstStyle/>
          <a:p>
            <a:r>
              <a:rPr lang="en-IN" b="1" dirty="0"/>
              <a:t>Introduction to Database Design</a:t>
            </a:r>
            <a:endParaRPr lang="en-IN" dirty="0"/>
          </a:p>
        </p:txBody>
      </p:sp>
      <p:sp>
        <p:nvSpPr>
          <p:cNvPr id="3" name="Text Placeholder 2"/>
          <p:cNvSpPr>
            <a:spLocks noGrp="1"/>
          </p:cNvSpPr>
          <p:nvPr>
            <p:ph type="body" sz="quarter" idx="17"/>
          </p:nvPr>
        </p:nvSpPr>
        <p:spPr>
          <a:xfrm>
            <a:off x="1143001" y="1395624"/>
            <a:ext cx="10456924" cy="5433513"/>
          </a:xfrm>
        </p:spPr>
        <p:txBody>
          <a:bodyPr/>
          <a:lstStyle/>
          <a:p>
            <a:pPr algn="just">
              <a:buFont typeface="Arial" panose="020B0604020202020204" pitchFamily="34" charset="0"/>
              <a:buChar char="•"/>
            </a:pPr>
            <a:r>
              <a:rPr lang="en-IN" dirty="0"/>
              <a:t>High-level data model.</a:t>
            </a:r>
          </a:p>
          <a:p>
            <a:pPr algn="just">
              <a:buFont typeface="Arial" panose="020B0604020202020204" pitchFamily="34" charset="0"/>
              <a:buChar char="•"/>
            </a:pPr>
            <a:r>
              <a:rPr lang="en-IN" dirty="0"/>
              <a:t>Specifies the data requirement of the database users.</a:t>
            </a:r>
          </a:p>
          <a:p>
            <a:pPr algn="just">
              <a:buFont typeface="Arial" panose="020B0604020202020204" pitchFamily="34" charset="0"/>
              <a:buChar char="•"/>
            </a:pPr>
            <a:r>
              <a:rPr lang="en-IN" dirty="0"/>
              <a:t>Characterize the data needs of the prospective database users. </a:t>
            </a:r>
          </a:p>
          <a:p>
            <a:pPr algn="just">
              <a:buFont typeface="Arial" panose="020B0604020202020204" pitchFamily="34" charset="0"/>
              <a:buChar char="•"/>
            </a:pPr>
            <a:r>
              <a:rPr lang="en-IN" dirty="0"/>
              <a:t>Interact with domain experts and users to carry out this task. </a:t>
            </a:r>
          </a:p>
          <a:p>
            <a:pPr algn="just">
              <a:buFont typeface="Arial" panose="020B0604020202020204" pitchFamily="34" charset="0"/>
              <a:buChar char="•"/>
            </a:pPr>
            <a:r>
              <a:rPr lang="en-IN" dirty="0"/>
              <a:t>The outcome of this phase is a specification of user requirements.</a:t>
            </a:r>
          </a:p>
          <a:p>
            <a:pPr algn="just">
              <a:buFont typeface="Arial" panose="020B0604020202020204" pitchFamily="34" charset="0"/>
              <a:buChar char="•"/>
            </a:pPr>
            <a:r>
              <a:rPr lang="en-IN" dirty="0"/>
              <a:t>To translates into a conceptual schema of the database.</a:t>
            </a:r>
          </a:p>
          <a:p>
            <a:pPr algn="just">
              <a:buFont typeface="Arial" panose="020B0604020202020204" pitchFamily="34" charset="0"/>
              <a:buChar char="•"/>
            </a:pPr>
            <a:r>
              <a:rPr lang="en-IN" dirty="0"/>
              <a:t>The conceptual-design provides a detailed overview of the enterprise.</a:t>
            </a:r>
            <a:r>
              <a:rPr lang="en-IN" b="1" dirty="0"/>
              <a:t> </a:t>
            </a:r>
          </a:p>
        </p:txBody>
      </p:sp>
    </p:spTree>
    <p:extLst>
      <p:ext uri="{BB962C8B-B14F-4D97-AF65-F5344CB8AC3E}">
        <p14:creationId xmlns:p14="http://schemas.microsoft.com/office/powerpoint/2010/main" val="821061822"/>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3">
                                            <p:txEl>
                                              <p:pRg st="1" end="1"/>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grpId="0" nodeType="clickEffect">
                                  <p:stCondLst>
                                    <p:cond delay="0"/>
                                  </p:stCondLst>
                                  <p:childTnLst>
                                    <p:set>
                                      <p:cBhvr>
                                        <p:cTn id="14" dur="1" fill="hold">
                                          <p:stCondLst>
                                            <p:cond delay="0"/>
                                          </p:stCondLst>
                                        </p:cTn>
                                        <p:tgtEl>
                                          <p:spTgt spid="3">
                                            <p:txEl>
                                              <p:pRg st="2" end="2"/>
                                            </p:txEl>
                                          </p:spTgt>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grpId="0" nodeType="clickEffect">
                                  <p:stCondLst>
                                    <p:cond delay="0"/>
                                  </p:stCondLst>
                                  <p:childTnLst>
                                    <p:set>
                                      <p:cBhvr>
                                        <p:cTn id="18" dur="1" fill="hold">
                                          <p:stCondLst>
                                            <p:cond delay="0"/>
                                          </p:stCondLst>
                                        </p:cTn>
                                        <p:tgtEl>
                                          <p:spTgt spid="3">
                                            <p:txEl>
                                              <p:pRg st="3" end="3"/>
                                            </p:txEl>
                                          </p:spTgt>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grpId="0" nodeType="clickEffect">
                                  <p:stCondLst>
                                    <p:cond delay="0"/>
                                  </p:stCondLst>
                                  <p:childTnLst>
                                    <p:set>
                                      <p:cBhvr>
                                        <p:cTn id="22" dur="1" fill="hold">
                                          <p:stCondLst>
                                            <p:cond delay="0"/>
                                          </p:stCondLst>
                                        </p:cTn>
                                        <p:tgtEl>
                                          <p:spTgt spid="3">
                                            <p:txEl>
                                              <p:pRg st="4" end="4"/>
                                            </p:txEl>
                                          </p:spTgt>
                                        </p:tgtEl>
                                        <p:attrNameLst>
                                          <p:attrName>style.visibility</p:attrName>
                                        </p:attrNameLst>
                                      </p:cBhvr>
                                      <p:to>
                                        <p:strVal val="visible"/>
                                      </p:to>
                                    </p:set>
                                  </p:childTnLst>
                                </p:cTn>
                              </p:par>
                            </p:childTnLst>
                          </p:cTn>
                        </p:par>
                      </p:childTnLst>
                    </p:cTn>
                  </p:par>
                  <p:par>
                    <p:cTn id="23" fill="hold">
                      <p:stCondLst>
                        <p:cond delay="indefinite"/>
                      </p:stCondLst>
                      <p:childTnLst>
                        <p:par>
                          <p:cTn id="24" fill="hold">
                            <p:stCondLst>
                              <p:cond delay="0"/>
                            </p:stCondLst>
                            <p:childTnLst>
                              <p:par>
                                <p:cTn id="25" presetID="1" presetClass="entr" presetSubtype="0" fill="hold" grpId="0" nodeType="clickEffect">
                                  <p:stCondLst>
                                    <p:cond delay="0"/>
                                  </p:stCondLst>
                                  <p:childTnLst>
                                    <p:set>
                                      <p:cBhvr>
                                        <p:cTn id="26" dur="1" fill="hold">
                                          <p:stCondLst>
                                            <p:cond delay="0"/>
                                          </p:stCondLst>
                                        </p:cTn>
                                        <p:tgtEl>
                                          <p:spTgt spid="3">
                                            <p:txEl>
                                              <p:pRg st="5" end="5"/>
                                            </p:txEl>
                                          </p:spTgt>
                                        </p:tgtEl>
                                        <p:attrNameLst>
                                          <p:attrName>style.visibility</p:attrName>
                                        </p:attrNameLst>
                                      </p:cBhvr>
                                      <p:to>
                                        <p:strVal val="visible"/>
                                      </p:to>
                                    </p:set>
                                  </p:childTnLst>
                                </p:cTn>
                              </p:par>
                            </p:childTnLst>
                          </p:cTn>
                        </p:par>
                      </p:childTnLst>
                    </p:cTn>
                  </p:par>
                  <p:par>
                    <p:cTn id="27" fill="hold">
                      <p:stCondLst>
                        <p:cond delay="indefinite"/>
                      </p:stCondLst>
                      <p:childTnLst>
                        <p:par>
                          <p:cTn id="28" fill="hold">
                            <p:stCondLst>
                              <p:cond delay="0"/>
                            </p:stCondLst>
                            <p:childTnLst>
                              <p:par>
                                <p:cTn id="29" presetID="1" presetClass="entr" presetSubtype="0" fill="hold" grpId="0" nodeType="clickEffect">
                                  <p:stCondLst>
                                    <p:cond delay="0"/>
                                  </p:stCondLst>
                                  <p:childTnLst>
                                    <p:set>
                                      <p:cBhvr>
                                        <p:cTn id="30" dur="1" fill="hold">
                                          <p:stCondLst>
                                            <p:cond delay="0"/>
                                          </p:stCondLst>
                                        </p:cTn>
                                        <p:tgtEl>
                                          <p:spTgt spid="3">
                                            <p:txEl>
                                              <p:pRg st="6" end="6"/>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build="p"/>
    </p:bldLst>
  </p:timing>
</p:sld>
</file>

<file path=ppt/slides/slide1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635000" y="444500"/>
            <a:ext cx="9652000" cy="1206500"/>
          </a:xfrm>
        </p:spPr>
        <p:txBody>
          <a:bodyPr/>
          <a:lstStyle/>
          <a:p>
            <a:r>
              <a:rPr lang="en-IN" b="1" dirty="0"/>
              <a:t>Database Design  example: a University</a:t>
            </a:r>
            <a:endParaRPr lang="en-IN" dirty="0"/>
          </a:p>
        </p:txBody>
      </p:sp>
      <p:sp>
        <p:nvSpPr>
          <p:cNvPr id="3" name="Text Placeholder 2"/>
          <p:cNvSpPr>
            <a:spLocks noGrp="1"/>
          </p:cNvSpPr>
          <p:nvPr>
            <p:ph type="body" sz="quarter" idx="17"/>
          </p:nvPr>
        </p:nvSpPr>
        <p:spPr>
          <a:xfrm>
            <a:off x="1270000" y="1841500"/>
            <a:ext cx="9398000" cy="3435808"/>
          </a:xfrm>
        </p:spPr>
        <p:txBody>
          <a:bodyPr/>
          <a:lstStyle/>
          <a:p>
            <a:pPr marL="0" indent="0" algn="just">
              <a:buNone/>
            </a:pPr>
            <a:r>
              <a:rPr lang="en-IN" dirty="0"/>
              <a:t>The University is organized into departments. </a:t>
            </a:r>
          </a:p>
          <a:p>
            <a:pPr marL="380985" indent="-380985" algn="just">
              <a:buFont typeface="Arial" panose="020B0604020202020204" pitchFamily="34" charset="0"/>
              <a:buChar char="•"/>
            </a:pPr>
            <a:r>
              <a:rPr lang="en-IN" dirty="0"/>
              <a:t>Each Department has a list of courses it offers.</a:t>
            </a:r>
          </a:p>
          <a:p>
            <a:pPr marL="380985" indent="-380985" algn="just">
              <a:buFont typeface="Arial" panose="020B0604020202020204" pitchFamily="34" charset="0"/>
              <a:buChar char="•"/>
            </a:pPr>
            <a:r>
              <a:rPr lang="en-IN" dirty="0"/>
              <a:t> Each Course has associated with it a course id, title, dept name, and credits, and may also have associated prerequisites.</a:t>
            </a:r>
          </a:p>
          <a:p>
            <a:pPr marL="380985" indent="-380985" algn="just">
              <a:buFont typeface="Arial" panose="020B0604020202020204" pitchFamily="34" charset="0"/>
              <a:buChar char="•"/>
            </a:pPr>
            <a:r>
              <a:rPr lang="en-IN" dirty="0"/>
              <a:t>Instructors are identified by their unique ID. </a:t>
            </a:r>
          </a:p>
          <a:p>
            <a:pPr marL="380985" indent="-380985" algn="just">
              <a:buFont typeface="Arial" panose="020B0604020202020204" pitchFamily="34" charset="0"/>
              <a:buChar char="•"/>
            </a:pPr>
            <a:r>
              <a:rPr lang="en-IN" dirty="0"/>
              <a:t>Students are identified by their unique ID. </a:t>
            </a:r>
          </a:p>
        </p:txBody>
      </p:sp>
    </p:spTree>
    <p:extLst>
      <p:ext uri="{BB962C8B-B14F-4D97-AF65-F5344CB8AC3E}">
        <p14:creationId xmlns:p14="http://schemas.microsoft.com/office/powerpoint/2010/main" val="3408144960"/>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3">
                                            <p:txEl>
                                              <p:pRg st="1" end="1"/>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grpId="0" nodeType="clickEffect">
                                  <p:stCondLst>
                                    <p:cond delay="0"/>
                                  </p:stCondLst>
                                  <p:childTnLst>
                                    <p:set>
                                      <p:cBhvr>
                                        <p:cTn id="14" dur="1" fill="hold">
                                          <p:stCondLst>
                                            <p:cond delay="0"/>
                                          </p:stCondLst>
                                        </p:cTn>
                                        <p:tgtEl>
                                          <p:spTgt spid="3">
                                            <p:txEl>
                                              <p:pRg st="2" end="2"/>
                                            </p:txEl>
                                          </p:spTgt>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grpId="0" nodeType="clickEffect">
                                  <p:stCondLst>
                                    <p:cond delay="0"/>
                                  </p:stCondLst>
                                  <p:childTnLst>
                                    <p:set>
                                      <p:cBhvr>
                                        <p:cTn id="18" dur="1" fill="hold">
                                          <p:stCondLst>
                                            <p:cond delay="0"/>
                                          </p:stCondLst>
                                        </p:cTn>
                                        <p:tgtEl>
                                          <p:spTgt spid="3">
                                            <p:txEl>
                                              <p:pRg st="3" end="3"/>
                                            </p:txEl>
                                          </p:spTgt>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grpId="0" nodeType="clickEffect">
                                  <p:stCondLst>
                                    <p:cond delay="0"/>
                                  </p:stCondLst>
                                  <p:childTnLst>
                                    <p:set>
                                      <p:cBhvr>
                                        <p:cTn id="22" dur="1" fill="hold">
                                          <p:stCondLst>
                                            <p:cond delay="0"/>
                                          </p:stCondLst>
                                        </p:cTn>
                                        <p:tgtEl>
                                          <p:spTgt spid="3">
                                            <p:txEl>
                                              <p:pRg st="4" end="4"/>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build="p"/>
    </p:bldLst>
  </p:timing>
</p:sld>
</file>

<file path=ppt/slides/slide1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 Placeholder 2"/>
          <p:cNvSpPr>
            <a:spLocks noGrp="1"/>
          </p:cNvSpPr>
          <p:nvPr>
            <p:ph type="body" sz="quarter" idx="17"/>
          </p:nvPr>
        </p:nvSpPr>
        <p:spPr>
          <a:xfrm>
            <a:off x="1270000" y="1333501"/>
            <a:ext cx="10463123" cy="4635500"/>
          </a:xfrm>
        </p:spPr>
        <p:txBody>
          <a:bodyPr/>
          <a:lstStyle/>
          <a:p>
            <a:pPr marL="0" indent="0" algn="just">
              <a:buNone/>
            </a:pPr>
            <a:r>
              <a:rPr lang="en-IN" b="1" dirty="0"/>
              <a:t>The University maintains :</a:t>
            </a:r>
          </a:p>
          <a:p>
            <a:pPr marL="380985" indent="-380985" algn="just">
              <a:buFont typeface="Arial" panose="020B0604020202020204" pitchFamily="34" charset="0"/>
              <a:buChar char="•"/>
            </a:pPr>
            <a:r>
              <a:rPr lang="en-IN" dirty="0"/>
              <a:t>	</a:t>
            </a:r>
            <a:r>
              <a:rPr lang="en-IN" b="1" dirty="0"/>
              <a:t>List of Classrooms </a:t>
            </a:r>
            <a:r>
              <a:rPr lang="en-IN" dirty="0"/>
              <a:t>- Specifying the name of the building, room number, and room capacity.</a:t>
            </a:r>
          </a:p>
          <a:p>
            <a:pPr marL="380985" indent="-380985" algn="just">
              <a:buFont typeface="Arial" panose="020B0604020202020204" pitchFamily="34" charset="0"/>
              <a:buChar char="•"/>
            </a:pPr>
            <a:r>
              <a:rPr lang="en-IN" dirty="0"/>
              <a:t>	</a:t>
            </a:r>
            <a:r>
              <a:rPr lang="en-IN" b="1" dirty="0"/>
              <a:t>List of all Classes (sections) taught </a:t>
            </a:r>
            <a:r>
              <a:rPr lang="en-IN" dirty="0"/>
              <a:t>- Each section is identified by a course id, sec id, year, and semester. 	</a:t>
            </a:r>
            <a:r>
              <a:rPr lang="en-IN" b="1" dirty="0"/>
              <a:t>Associated</a:t>
            </a:r>
            <a:r>
              <a:rPr lang="en-IN" dirty="0"/>
              <a:t> with it a semester, year, building, room number, and time slot id.</a:t>
            </a:r>
          </a:p>
          <a:p>
            <a:pPr marL="380985" indent="-380985" algn="just">
              <a:buFont typeface="Arial" panose="020B0604020202020204" pitchFamily="34" charset="0"/>
              <a:buChar char="•"/>
            </a:pPr>
            <a:r>
              <a:rPr lang="en-IN" dirty="0"/>
              <a:t>	The </a:t>
            </a:r>
            <a:r>
              <a:rPr lang="en-IN" b="1" dirty="0"/>
              <a:t>Department </a:t>
            </a:r>
            <a:r>
              <a:rPr lang="en-IN" dirty="0"/>
              <a:t>has a list of teaching assignments specifying - each instructor, the sections the instructor is teaching.</a:t>
            </a:r>
          </a:p>
          <a:p>
            <a:pPr marL="380985" indent="-380985" algn="just">
              <a:buFont typeface="Arial" panose="020B0604020202020204" pitchFamily="34" charset="0"/>
              <a:buChar char="•"/>
            </a:pPr>
            <a:r>
              <a:rPr lang="en-IN" dirty="0"/>
              <a:t>	The </a:t>
            </a:r>
            <a:r>
              <a:rPr lang="en-IN" b="1" dirty="0"/>
              <a:t>University</a:t>
            </a:r>
            <a:r>
              <a:rPr lang="en-IN" dirty="0"/>
              <a:t> has a list of all student course registrations, specifying, for each student, the courses and 	the associated sections that the student has taken (registered for).</a:t>
            </a:r>
          </a:p>
        </p:txBody>
      </p:sp>
      <p:sp>
        <p:nvSpPr>
          <p:cNvPr id="4" name="Title 1"/>
          <p:cNvSpPr>
            <a:spLocks noGrp="1"/>
          </p:cNvSpPr>
          <p:nvPr>
            <p:ph type="title"/>
          </p:nvPr>
        </p:nvSpPr>
        <p:spPr>
          <a:xfrm>
            <a:off x="635001" y="444501"/>
            <a:ext cx="7940599" cy="1001214"/>
          </a:xfrm>
        </p:spPr>
        <p:txBody>
          <a:bodyPr/>
          <a:lstStyle/>
          <a:p>
            <a:r>
              <a:rPr lang="en-IN" b="1" dirty="0"/>
              <a:t>Example continued..</a:t>
            </a:r>
            <a:endParaRPr lang="en-IN" dirty="0"/>
          </a:p>
        </p:txBody>
      </p:sp>
    </p:spTree>
    <p:extLst>
      <p:ext uri="{BB962C8B-B14F-4D97-AF65-F5344CB8AC3E}">
        <p14:creationId xmlns:p14="http://schemas.microsoft.com/office/powerpoint/2010/main" val="2363913155"/>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3">
                                            <p:txEl>
                                              <p:pRg st="1" end="1"/>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grpId="0" nodeType="clickEffect">
                                  <p:stCondLst>
                                    <p:cond delay="0"/>
                                  </p:stCondLst>
                                  <p:childTnLst>
                                    <p:set>
                                      <p:cBhvr>
                                        <p:cTn id="14" dur="1" fill="hold">
                                          <p:stCondLst>
                                            <p:cond delay="0"/>
                                          </p:stCondLst>
                                        </p:cTn>
                                        <p:tgtEl>
                                          <p:spTgt spid="3">
                                            <p:txEl>
                                              <p:pRg st="2" end="2"/>
                                            </p:txEl>
                                          </p:spTgt>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grpId="0" nodeType="clickEffect">
                                  <p:stCondLst>
                                    <p:cond delay="0"/>
                                  </p:stCondLst>
                                  <p:childTnLst>
                                    <p:set>
                                      <p:cBhvr>
                                        <p:cTn id="18" dur="1" fill="hold">
                                          <p:stCondLst>
                                            <p:cond delay="0"/>
                                          </p:stCondLst>
                                        </p:cTn>
                                        <p:tgtEl>
                                          <p:spTgt spid="3">
                                            <p:txEl>
                                              <p:pRg st="3" end="3"/>
                                            </p:txEl>
                                          </p:spTgt>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grpId="0" nodeType="clickEffect">
                                  <p:stCondLst>
                                    <p:cond delay="0"/>
                                  </p:stCondLst>
                                  <p:childTnLst>
                                    <p:set>
                                      <p:cBhvr>
                                        <p:cTn id="22" dur="1" fill="hold">
                                          <p:stCondLst>
                                            <p:cond delay="0"/>
                                          </p:stCondLst>
                                        </p:cTn>
                                        <p:tgtEl>
                                          <p:spTgt spid="3">
                                            <p:txEl>
                                              <p:pRg st="4" end="4"/>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build="p"/>
    </p:bldLst>
  </p:timing>
</p:sld>
</file>

<file path=ppt/slides/slide1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695401" y="395786"/>
            <a:ext cx="8321599" cy="874214"/>
          </a:xfrm>
        </p:spPr>
        <p:txBody>
          <a:bodyPr/>
          <a:lstStyle/>
          <a:p>
            <a:r>
              <a:rPr lang="en-IN" b="1" dirty="0"/>
              <a:t>Example – University Database Schema </a:t>
            </a:r>
            <a:endParaRPr lang="en-IN" dirty="0"/>
          </a:p>
        </p:txBody>
      </p:sp>
      <p:sp>
        <p:nvSpPr>
          <p:cNvPr id="3" name="Text Placeholder 2"/>
          <p:cNvSpPr>
            <a:spLocks noGrp="1"/>
          </p:cNvSpPr>
          <p:nvPr>
            <p:ph type="body" sz="quarter" idx="17"/>
          </p:nvPr>
        </p:nvSpPr>
        <p:spPr>
          <a:xfrm>
            <a:off x="1079500" y="1778000"/>
            <a:ext cx="9906000" cy="3048000"/>
          </a:xfrm>
        </p:spPr>
        <p:txBody>
          <a:bodyPr/>
          <a:lstStyle/>
          <a:p>
            <a:pPr marL="380985" indent="-380985">
              <a:buFont typeface="Arial" panose="020B0604020202020204" pitchFamily="34" charset="0"/>
              <a:buChar char="•"/>
            </a:pPr>
            <a:r>
              <a:rPr lang="en-IN" dirty="0"/>
              <a:t>Student (ID, name, dept name, tot cred)</a:t>
            </a:r>
          </a:p>
          <a:p>
            <a:pPr>
              <a:buFont typeface="Arial" panose="020B0604020202020204" pitchFamily="34" charset="0"/>
              <a:buChar char="•"/>
            </a:pPr>
            <a:r>
              <a:rPr lang="en-IN" dirty="0"/>
              <a:t>Advisor (s id, </a:t>
            </a:r>
            <a:r>
              <a:rPr lang="en-IN" dirty="0" err="1"/>
              <a:t>i</a:t>
            </a:r>
            <a:r>
              <a:rPr lang="en-IN" dirty="0"/>
              <a:t> id)</a:t>
            </a:r>
          </a:p>
          <a:p>
            <a:pPr>
              <a:buFont typeface="Arial" panose="020B0604020202020204" pitchFamily="34" charset="0"/>
              <a:buChar char="•"/>
            </a:pPr>
            <a:r>
              <a:rPr lang="en-IN" dirty="0"/>
              <a:t>Takes (ID, course id, sec id, semester, year, grade)</a:t>
            </a:r>
          </a:p>
          <a:p>
            <a:pPr>
              <a:buFont typeface="Arial" panose="020B0604020202020204" pitchFamily="34" charset="0"/>
              <a:buChar char="•"/>
            </a:pPr>
            <a:r>
              <a:rPr lang="en-IN" dirty="0"/>
              <a:t>Classroom (building, room number, capacity)</a:t>
            </a:r>
          </a:p>
          <a:p>
            <a:pPr>
              <a:buFont typeface="Arial" panose="020B0604020202020204" pitchFamily="34" charset="0"/>
              <a:buChar char="•"/>
            </a:pPr>
            <a:r>
              <a:rPr lang="en-IN" dirty="0" err="1"/>
              <a:t>Time_slot</a:t>
            </a:r>
            <a:r>
              <a:rPr lang="en-IN" dirty="0"/>
              <a:t> (time slot id, day, start time, end time)</a:t>
            </a:r>
          </a:p>
        </p:txBody>
      </p:sp>
    </p:spTree>
    <p:extLst>
      <p:ext uri="{BB962C8B-B14F-4D97-AF65-F5344CB8AC3E}">
        <p14:creationId xmlns:p14="http://schemas.microsoft.com/office/powerpoint/2010/main" val="3811645141"/>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3">
                                            <p:txEl>
                                              <p:pRg st="1" end="1"/>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grpId="0" nodeType="clickEffect">
                                  <p:stCondLst>
                                    <p:cond delay="0"/>
                                  </p:stCondLst>
                                  <p:childTnLst>
                                    <p:set>
                                      <p:cBhvr>
                                        <p:cTn id="14" dur="1" fill="hold">
                                          <p:stCondLst>
                                            <p:cond delay="0"/>
                                          </p:stCondLst>
                                        </p:cTn>
                                        <p:tgtEl>
                                          <p:spTgt spid="3">
                                            <p:txEl>
                                              <p:pRg st="2" end="2"/>
                                            </p:txEl>
                                          </p:spTgt>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grpId="0" nodeType="clickEffect">
                                  <p:stCondLst>
                                    <p:cond delay="0"/>
                                  </p:stCondLst>
                                  <p:childTnLst>
                                    <p:set>
                                      <p:cBhvr>
                                        <p:cTn id="18" dur="1" fill="hold">
                                          <p:stCondLst>
                                            <p:cond delay="0"/>
                                          </p:stCondLst>
                                        </p:cTn>
                                        <p:tgtEl>
                                          <p:spTgt spid="3">
                                            <p:txEl>
                                              <p:pRg st="3" end="3"/>
                                            </p:txEl>
                                          </p:spTgt>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grpId="0" nodeType="clickEffect">
                                  <p:stCondLst>
                                    <p:cond delay="0"/>
                                  </p:stCondLst>
                                  <p:childTnLst>
                                    <p:set>
                                      <p:cBhvr>
                                        <p:cTn id="22" dur="1" fill="hold">
                                          <p:stCondLst>
                                            <p:cond delay="0"/>
                                          </p:stCondLst>
                                        </p:cTn>
                                        <p:tgtEl>
                                          <p:spTgt spid="3">
                                            <p:txEl>
                                              <p:pRg st="4" end="4"/>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build="p"/>
    </p:bldLst>
  </p:timing>
</p:sld>
</file>

<file path=ppt/slides/slide1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698500" y="508000"/>
            <a:ext cx="7877100" cy="571500"/>
          </a:xfrm>
        </p:spPr>
        <p:txBody>
          <a:bodyPr/>
          <a:lstStyle/>
          <a:p>
            <a:r>
              <a:rPr lang="en-IN" sz="2667" b="1" dirty="0"/>
              <a:t>Schema of the university database</a:t>
            </a:r>
            <a:endParaRPr lang="en-IN" dirty="0"/>
          </a:p>
        </p:txBody>
      </p:sp>
      <p:sp>
        <p:nvSpPr>
          <p:cNvPr id="3" name="Text Placeholder 2"/>
          <p:cNvSpPr>
            <a:spLocks noGrp="1"/>
          </p:cNvSpPr>
          <p:nvPr>
            <p:ph type="body" sz="quarter" idx="17"/>
          </p:nvPr>
        </p:nvSpPr>
        <p:spPr>
          <a:xfrm>
            <a:off x="1524000" y="1397000"/>
            <a:ext cx="9906000" cy="4191000"/>
          </a:xfrm>
        </p:spPr>
        <p:txBody>
          <a:bodyPr/>
          <a:lstStyle/>
          <a:p>
            <a:pPr>
              <a:buFont typeface="Arial" panose="020B0604020202020204" pitchFamily="34" charset="0"/>
              <a:buChar char="•"/>
            </a:pPr>
            <a:r>
              <a:rPr lang="en-IN" sz="2833" dirty="0"/>
              <a:t>Classroom (building, </a:t>
            </a:r>
            <a:r>
              <a:rPr lang="en-IN" sz="2833" dirty="0" err="1"/>
              <a:t>room_number</a:t>
            </a:r>
            <a:r>
              <a:rPr lang="en-IN" sz="2833" dirty="0"/>
              <a:t>, capacity) </a:t>
            </a:r>
          </a:p>
          <a:p>
            <a:pPr>
              <a:buFont typeface="Arial" panose="020B0604020202020204" pitchFamily="34" charset="0"/>
              <a:buChar char="•"/>
            </a:pPr>
            <a:r>
              <a:rPr lang="en-IN" sz="2833" dirty="0"/>
              <a:t>Department (</a:t>
            </a:r>
            <a:r>
              <a:rPr lang="en-IN" sz="2833" dirty="0" err="1"/>
              <a:t>dept_name</a:t>
            </a:r>
            <a:r>
              <a:rPr lang="en-IN" sz="2833" dirty="0"/>
              <a:t>, building, budget)</a:t>
            </a:r>
          </a:p>
          <a:p>
            <a:pPr>
              <a:buFont typeface="Arial" panose="020B0604020202020204" pitchFamily="34" charset="0"/>
              <a:buChar char="•"/>
            </a:pPr>
            <a:r>
              <a:rPr lang="en-IN" sz="2833" dirty="0"/>
              <a:t>Course (course _d, title, dept name, credits)</a:t>
            </a:r>
          </a:p>
          <a:p>
            <a:pPr>
              <a:buFont typeface="Arial" panose="020B0604020202020204" pitchFamily="34" charset="0"/>
              <a:buChar char="•"/>
            </a:pPr>
            <a:r>
              <a:rPr lang="en-IN" sz="2833" dirty="0"/>
              <a:t>Instructor (ID, name, </a:t>
            </a:r>
            <a:r>
              <a:rPr lang="en-IN" sz="2833" dirty="0" err="1"/>
              <a:t>dept_name</a:t>
            </a:r>
            <a:r>
              <a:rPr lang="en-IN" sz="2833" dirty="0"/>
              <a:t>, salary)</a:t>
            </a:r>
          </a:p>
          <a:p>
            <a:pPr>
              <a:buFont typeface="Arial" panose="020B0604020202020204" pitchFamily="34" charset="0"/>
              <a:buChar char="•"/>
            </a:pPr>
            <a:r>
              <a:rPr lang="en-IN" sz="2833" dirty="0"/>
              <a:t>Section (</a:t>
            </a:r>
            <a:r>
              <a:rPr lang="en-IN" sz="2833" dirty="0" err="1"/>
              <a:t>course_id</a:t>
            </a:r>
            <a:r>
              <a:rPr lang="en-IN" sz="2833" dirty="0"/>
              <a:t>, </a:t>
            </a:r>
            <a:r>
              <a:rPr lang="en-IN" sz="2833" dirty="0" err="1"/>
              <a:t>sec_id</a:t>
            </a:r>
            <a:r>
              <a:rPr lang="en-IN" sz="2833" dirty="0"/>
              <a:t>, semester, year, building, </a:t>
            </a:r>
            <a:r>
              <a:rPr lang="en-IN" sz="2833" dirty="0" err="1"/>
              <a:t>room_number</a:t>
            </a:r>
            <a:r>
              <a:rPr lang="en-IN" sz="2833" dirty="0"/>
              <a:t>, </a:t>
            </a:r>
            <a:r>
              <a:rPr lang="en-IN" sz="2833" dirty="0" err="1"/>
              <a:t>time_slot</a:t>
            </a:r>
            <a:r>
              <a:rPr lang="en-IN" sz="2833" dirty="0"/>
              <a:t>_ id)</a:t>
            </a:r>
          </a:p>
          <a:p>
            <a:pPr>
              <a:buFont typeface="Arial" panose="020B0604020202020204" pitchFamily="34" charset="0"/>
              <a:buChar char="•"/>
            </a:pPr>
            <a:r>
              <a:rPr lang="en-IN" sz="2833" dirty="0"/>
              <a:t>Teaches (ID, </a:t>
            </a:r>
            <a:r>
              <a:rPr lang="en-IN" sz="2833" dirty="0" err="1"/>
              <a:t>course_id</a:t>
            </a:r>
            <a:r>
              <a:rPr lang="en-IN" sz="2833" dirty="0"/>
              <a:t>, </a:t>
            </a:r>
            <a:r>
              <a:rPr lang="en-IN" sz="2833" dirty="0" err="1"/>
              <a:t>sec_id</a:t>
            </a:r>
            <a:r>
              <a:rPr lang="en-IN" sz="2833" dirty="0"/>
              <a:t>, semester, year)</a:t>
            </a:r>
          </a:p>
        </p:txBody>
      </p:sp>
    </p:spTree>
    <p:extLst>
      <p:ext uri="{BB962C8B-B14F-4D97-AF65-F5344CB8AC3E}">
        <p14:creationId xmlns:p14="http://schemas.microsoft.com/office/powerpoint/2010/main" val="3431766334"/>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3">
                                            <p:txEl>
                                              <p:pRg st="1" end="1"/>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grpId="0" nodeType="clickEffect">
                                  <p:stCondLst>
                                    <p:cond delay="0"/>
                                  </p:stCondLst>
                                  <p:childTnLst>
                                    <p:set>
                                      <p:cBhvr>
                                        <p:cTn id="14" dur="1" fill="hold">
                                          <p:stCondLst>
                                            <p:cond delay="0"/>
                                          </p:stCondLst>
                                        </p:cTn>
                                        <p:tgtEl>
                                          <p:spTgt spid="3">
                                            <p:txEl>
                                              <p:pRg st="2" end="2"/>
                                            </p:txEl>
                                          </p:spTgt>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grpId="0" nodeType="clickEffect">
                                  <p:stCondLst>
                                    <p:cond delay="0"/>
                                  </p:stCondLst>
                                  <p:childTnLst>
                                    <p:set>
                                      <p:cBhvr>
                                        <p:cTn id="18" dur="1" fill="hold">
                                          <p:stCondLst>
                                            <p:cond delay="0"/>
                                          </p:stCondLst>
                                        </p:cTn>
                                        <p:tgtEl>
                                          <p:spTgt spid="3">
                                            <p:txEl>
                                              <p:pRg st="3" end="3"/>
                                            </p:txEl>
                                          </p:spTgt>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grpId="0" nodeType="clickEffect">
                                  <p:stCondLst>
                                    <p:cond delay="0"/>
                                  </p:stCondLst>
                                  <p:childTnLst>
                                    <p:set>
                                      <p:cBhvr>
                                        <p:cTn id="22" dur="1" fill="hold">
                                          <p:stCondLst>
                                            <p:cond delay="0"/>
                                          </p:stCondLst>
                                        </p:cTn>
                                        <p:tgtEl>
                                          <p:spTgt spid="3">
                                            <p:txEl>
                                              <p:pRg st="4" end="4"/>
                                            </p:txEl>
                                          </p:spTgt>
                                        </p:tgtEl>
                                        <p:attrNameLst>
                                          <p:attrName>style.visibility</p:attrName>
                                        </p:attrNameLst>
                                      </p:cBhvr>
                                      <p:to>
                                        <p:strVal val="visible"/>
                                      </p:to>
                                    </p:set>
                                  </p:childTnLst>
                                </p:cTn>
                              </p:par>
                            </p:childTnLst>
                          </p:cTn>
                        </p:par>
                      </p:childTnLst>
                    </p:cTn>
                  </p:par>
                  <p:par>
                    <p:cTn id="23" fill="hold">
                      <p:stCondLst>
                        <p:cond delay="indefinite"/>
                      </p:stCondLst>
                      <p:childTnLst>
                        <p:par>
                          <p:cTn id="24" fill="hold">
                            <p:stCondLst>
                              <p:cond delay="0"/>
                            </p:stCondLst>
                            <p:childTnLst>
                              <p:par>
                                <p:cTn id="25" presetID="1" presetClass="entr" presetSubtype="0" fill="hold" grpId="0" nodeType="clickEffect">
                                  <p:stCondLst>
                                    <p:cond delay="0"/>
                                  </p:stCondLst>
                                  <p:childTnLst>
                                    <p:set>
                                      <p:cBhvr>
                                        <p:cTn id="26" dur="1" fill="hold">
                                          <p:stCondLst>
                                            <p:cond delay="0"/>
                                          </p:stCondLst>
                                        </p:cTn>
                                        <p:tgtEl>
                                          <p:spTgt spid="3">
                                            <p:txEl>
                                              <p:pRg st="5" end="5"/>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build="p"/>
    </p:bldLst>
  </p:timing>
</p:sld>
</file>

<file path=ppt/slides/slide1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695400" y="395786"/>
            <a:ext cx="10544100" cy="1064714"/>
          </a:xfrm>
        </p:spPr>
        <p:txBody>
          <a:bodyPr/>
          <a:lstStyle/>
          <a:p>
            <a:r>
              <a:rPr lang="en-IN" b="1" dirty="0"/>
              <a:t>Schema of the university database CONTINUED..</a:t>
            </a:r>
            <a:endParaRPr lang="en-IN" dirty="0"/>
          </a:p>
        </p:txBody>
      </p:sp>
      <p:sp>
        <p:nvSpPr>
          <p:cNvPr id="3" name="Text Placeholder 2"/>
          <p:cNvSpPr>
            <a:spLocks noGrp="1"/>
          </p:cNvSpPr>
          <p:nvPr>
            <p:ph type="body" sz="quarter" idx="17"/>
          </p:nvPr>
        </p:nvSpPr>
        <p:spPr>
          <a:xfrm>
            <a:off x="1778000" y="1714500"/>
            <a:ext cx="6985000" cy="3175001"/>
          </a:xfrm>
        </p:spPr>
        <p:txBody>
          <a:bodyPr/>
          <a:lstStyle/>
          <a:p>
            <a:pPr>
              <a:buFont typeface="Arial" panose="020B0604020202020204" pitchFamily="34" charset="0"/>
              <a:buChar char="•"/>
            </a:pPr>
            <a:r>
              <a:rPr lang="en-IN" dirty="0"/>
              <a:t>Student (ID, name, </a:t>
            </a:r>
            <a:r>
              <a:rPr lang="en-IN" dirty="0" err="1"/>
              <a:t>dept_name</a:t>
            </a:r>
            <a:r>
              <a:rPr lang="en-IN" dirty="0"/>
              <a:t>, </a:t>
            </a:r>
            <a:r>
              <a:rPr lang="en-IN" dirty="0" err="1"/>
              <a:t>tot_cred</a:t>
            </a:r>
            <a:r>
              <a:rPr lang="en-IN" dirty="0"/>
              <a:t>)</a:t>
            </a:r>
          </a:p>
          <a:p>
            <a:pPr>
              <a:buFont typeface="Arial" panose="020B0604020202020204" pitchFamily="34" charset="0"/>
              <a:buChar char="•"/>
            </a:pPr>
            <a:r>
              <a:rPr lang="en-IN" dirty="0"/>
              <a:t>Takes (ID, </a:t>
            </a:r>
            <a:r>
              <a:rPr lang="en-IN" dirty="0" err="1"/>
              <a:t>course_id</a:t>
            </a:r>
            <a:r>
              <a:rPr lang="en-IN" dirty="0"/>
              <a:t>, </a:t>
            </a:r>
            <a:r>
              <a:rPr lang="en-IN" dirty="0" err="1"/>
              <a:t>sec_id</a:t>
            </a:r>
            <a:r>
              <a:rPr lang="en-IN" dirty="0"/>
              <a:t>, semester, year, grade)</a:t>
            </a:r>
          </a:p>
          <a:p>
            <a:pPr>
              <a:buFont typeface="Arial" panose="020B0604020202020204" pitchFamily="34" charset="0"/>
              <a:buChar char="•"/>
            </a:pPr>
            <a:r>
              <a:rPr lang="en-IN" dirty="0"/>
              <a:t>Advisor (</a:t>
            </a:r>
            <a:r>
              <a:rPr lang="en-IN" dirty="0" err="1"/>
              <a:t>s_ID</a:t>
            </a:r>
            <a:r>
              <a:rPr lang="en-IN" dirty="0"/>
              <a:t>, </a:t>
            </a:r>
            <a:r>
              <a:rPr lang="en-IN" dirty="0" err="1"/>
              <a:t>i</a:t>
            </a:r>
            <a:r>
              <a:rPr lang="en-IN" dirty="0"/>
              <a:t> _ID)</a:t>
            </a:r>
          </a:p>
          <a:p>
            <a:pPr>
              <a:buFont typeface="Arial" panose="020B0604020202020204" pitchFamily="34" charset="0"/>
              <a:buChar char="•"/>
            </a:pPr>
            <a:r>
              <a:rPr lang="en-IN" dirty="0"/>
              <a:t> </a:t>
            </a:r>
            <a:r>
              <a:rPr lang="en-IN" dirty="0" err="1"/>
              <a:t>Time_slot</a:t>
            </a:r>
            <a:r>
              <a:rPr lang="en-IN" dirty="0"/>
              <a:t> (</a:t>
            </a:r>
            <a:r>
              <a:rPr lang="en-IN" dirty="0" err="1"/>
              <a:t>time_slot_id</a:t>
            </a:r>
            <a:r>
              <a:rPr lang="en-IN" dirty="0"/>
              <a:t>, day, </a:t>
            </a:r>
            <a:r>
              <a:rPr lang="en-IN" dirty="0" err="1"/>
              <a:t>start_time</a:t>
            </a:r>
            <a:r>
              <a:rPr lang="en-IN" dirty="0"/>
              <a:t>, </a:t>
            </a:r>
            <a:r>
              <a:rPr lang="en-IN" dirty="0" err="1"/>
              <a:t>end_time</a:t>
            </a:r>
            <a:r>
              <a:rPr lang="en-IN" dirty="0"/>
              <a:t>)</a:t>
            </a:r>
          </a:p>
          <a:p>
            <a:pPr>
              <a:buFont typeface="Arial" panose="020B0604020202020204" pitchFamily="34" charset="0"/>
              <a:buChar char="•"/>
            </a:pPr>
            <a:r>
              <a:rPr lang="en-IN" dirty="0" err="1"/>
              <a:t>Prereq</a:t>
            </a:r>
            <a:r>
              <a:rPr lang="en-IN" dirty="0"/>
              <a:t> (course id, </a:t>
            </a:r>
            <a:r>
              <a:rPr lang="en-IN" dirty="0" err="1"/>
              <a:t>prereq</a:t>
            </a:r>
            <a:r>
              <a:rPr lang="en-IN" dirty="0"/>
              <a:t> id)</a:t>
            </a:r>
            <a:r>
              <a:rPr lang="en-IN" b="1" dirty="0"/>
              <a:t>.</a:t>
            </a:r>
            <a:endParaRPr lang="en-IN" dirty="0"/>
          </a:p>
        </p:txBody>
      </p:sp>
    </p:spTree>
    <p:extLst>
      <p:ext uri="{BB962C8B-B14F-4D97-AF65-F5344CB8AC3E}">
        <p14:creationId xmlns:p14="http://schemas.microsoft.com/office/powerpoint/2010/main" val="1701132012"/>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3">
                                            <p:txEl>
                                              <p:pRg st="1" end="1"/>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grpId="0" nodeType="clickEffect">
                                  <p:stCondLst>
                                    <p:cond delay="0"/>
                                  </p:stCondLst>
                                  <p:childTnLst>
                                    <p:set>
                                      <p:cBhvr>
                                        <p:cTn id="14" dur="1" fill="hold">
                                          <p:stCondLst>
                                            <p:cond delay="0"/>
                                          </p:stCondLst>
                                        </p:cTn>
                                        <p:tgtEl>
                                          <p:spTgt spid="3">
                                            <p:txEl>
                                              <p:pRg st="2" end="2"/>
                                            </p:txEl>
                                          </p:spTgt>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grpId="0" nodeType="clickEffect">
                                  <p:stCondLst>
                                    <p:cond delay="0"/>
                                  </p:stCondLst>
                                  <p:childTnLst>
                                    <p:set>
                                      <p:cBhvr>
                                        <p:cTn id="18" dur="1" fill="hold">
                                          <p:stCondLst>
                                            <p:cond delay="0"/>
                                          </p:stCondLst>
                                        </p:cTn>
                                        <p:tgtEl>
                                          <p:spTgt spid="3">
                                            <p:txEl>
                                              <p:pRg st="3" end="3"/>
                                            </p:txEl>
                                          </p:spTgt>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grpId="0" nodeType="clickEffect">
                                  <p:stCondLst>
                                    <p:cond delay="0"/>
                                  </p:stCondLst>
                                  <p:childTnLst>
                                    <p:set>
                                      <p:cBhvr>
                                        <p:cTn id="22" dur="1" fill="hold">
                                          <p:stCondLst>
                                            <p:cond delay="0"/>
                                          </p:stCondLst>
                                        </p:cTn>
                                        <p:tgtEl>
                                          <p:spTgt spid="3">
                                            <p:txEl>
                                              <p:pRg st="4" end="4"/>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build="p"/>
    </p:bldLst>
  </p:timing>
</p:sld>
</file>

<file path=ppt/slides/slide1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IN" b="1" dirty="0"/>
              <a:t>Relational Query Languages</a:t>
            </a:r>
            <a:endParaRPr lang="en-IN" dirty="0"/>
          </a:p>
        </p:txBody>
      </p:sp>
      <p:sp>
        <p:nvSpPr>
          <p:cNvPr id="3" name="Text Placeholder 2"/>
          <p:cNvSpPr>
            <a:spLocks noGrp="1"/>
          </p:cNvSpPr>
          <p:nvPr>
            <p:ph type="body" sz="quarter" idx="17"/>
          </p:nvPr>
        </p:nvSpPr>
        <p:spPr>
          <a:xfrm>
            <a:off x="1016001" y="1524000"/>
            <a:ext cx="6477000" cy="5207000"/>
          </a:xfrm>
        </p:spPr>
        <p:txBody>
          <a:bodyPr/>
          <a:lstStyle/>
          <a:p>
            <a:pPr algn="just">
              <a:buNone/>
            </a:pPr>
            <a:r>
              <a:rPr lang="en-IN" sz="2833" dirty="0"/>
              <a:t>Categorized as either procedural or nonprocedural. </a:t>
            </a:r>
          </a:p>
          <a:p>
            <a:pPr marL="380985" indent="-380985" algn="just">
              <a:buFont typeface="Arial" panose="020B0604020202020204" pitchFamily="34" charset="0"/>
              <a:buChar char="•"/>
            </a:pPr>
            <a:r>
              <a:rPr lang="en-IN" sz="2833" dirty="0"/>
              <a:t>P</a:t>
            </a:r>
            <a:r>
              <a:rPr lang="en-IN" sz="2833" b="1" dirty="0"/>
              <a:t>rocedural language</a:t>
            </a:r>
            <a:r>
              <a:rPr lang="en-IN" sz="2833" dirty="0"/>
              <a:t>, the user instructs the system to perform a sequence of operations on the database to compute the desired result. </a:t>
            </a:r>
          </a:p>
          <a:p>
            <a:pPr marL="380985" indent="-380985" algn="just">
              <a:buFont typeface="Arial" panose="020B0604020202020204" pitchFamily="34" charset="0"/>
              <a:buChar char="•"/>
            </a:pPr>
            <a:r>
              <a:rPr lang="en-IN" sz="2833" dirty="0"/>
              <a:t>N</a:t>
            </a:r>
            <a:r>
              <a:rPr lang="en-IN" sz="2833" b="1" dirty="0"/>
              <a:t>onprocedural language</a:t>
            </a:r>
            <a:r>
              <a:rPr lang="en-IN" sz="2833" dirty="0"/>
              <a:t>, the user describes the desired information without giving a specific procedure for obtaining that information.</a:t>
            </a:r>
          </a:p>
        </p:txBody>
      </p:sp>
      <p:pic>
        <p:nvPicPr>
          <p:cNvPr id="4" name="Picture 3"/>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7302500" y="2222500"/>
            <a:ext cx="4699000" cy="2666727"/>
          </a:xfrm>
          <a:prstGeom prst="rect">
            <a:avLst/>
          </a:prstGeom>
        </p:spPr>
      </p:pic>
    </p:spTree>
    <p:extLst>
      <p:ext uri="{BB962C8B-B14F-4D97-AF65-F5344CB8AC3E}">
        <p14:creationId xmlns:p14="http://schemas.microsoft.com/office/powerpoint/2010/main" val="2037612551"/>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3">
                                            <p:txEl>
                                              <p:pRg st="1" end="1"/>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grpId="0" nodeType="clickEffect">
                                  <p:stCondLst>
                                    <p:cond delay="0"/>
                                  </p:stCondLst>
                                  <p:childTnLst>
                                    <p:set>
                                      <p:cBhvr>
                                        <p:cTn id="14" dur="1" fill="hold">
                                          <p:stCondLst>
                                            <p:cond delay="0"/>
                                          </p:stCondLst>
                                        </p:cTn>
                                        <p:tgtEl>
                                          <p:spTgt spid="3">
                                            <p:txEl>
                                              <p:pRg st="2" end="2"/>
                                            </p:txEl>
                                          </p:spTgt>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nodeType="clickEffect">
                                  <p:stCondLst>
                                    <p:cond delay="0"/>
                                  </p:stCondLst>
                                  <p:childTnLst>
                                    <p:set>
                                      <p:cBhvr>
                                        <p:cTn id="18" dur="1" fill="hold">
                                          <p:stCondLst>
                                            <p:cond delay="0"/>
                                          </p:stCondLst>
                                        </p:cTn>
                                        <p:tgtEl>
                                          <p:spTgt spid="4"/>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build="p"/>
    </p:bldLst>
  </p:timing>
</p:sld>
</file>

<file path=ppt/slides/slide1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IN" b="1" dirty="0"/>
              <a:t>Relational Operations</a:t>
            </a:r>
            <a:endParaRPr lang="en-IN" dirty="0"/>
          </a:p>
        </p:txBody>
      </p:sp>
      <p:pic>
        <p:nvPicPr>
          <p:cNvPr id="4" name="Picture 3"/>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2665451" y="465952"/>
            <a:ext cx="5635342" cy="5820548"/>
          </a:xfrm>
          <a:prstGeom prst="rect">
            <a:avLst/>
          </a:prstGeom>
        </p:spPr>
      </p:pic>
      <p:sp>
        <p:nvSpPr>
          <p:cNvPr id="5" name="Rectangle 4"/>
          <p:cNvSpPr/>
          <p:nvPr/>
        </p:nvSpPr>
        <p:spPr>
          <a:xfrm>
            <a:off x="2665451" y="6286501"/>
            <a:ext cx="9528099" cy="323165"/>
          </a:xfrm>
          <a:prstGeom prst="rect">
            <a:avLst/>
          </a:prstGeom>
        </p:spPr>
        <p:txBody>
          <a:bodyPr wrap="square">
            <a:spAutoFit/>
          </a:bodyPr>
          <a:lstStyle/>
          <a:p>
            <a:pPr algn="r"/>
            <a:r>
              <a:rPr lang="en-IN" sz="1500" dirty="0"/>
              <a:t>https://beginnersbook.com/2019/02/introduction-to-relational-algebra-calculus/</a:t>
            </a:r>
          </a:p>
        </p:txBody>
      </p:sp>
    </p:spTree>
    <p:extLst>
      <p:ext uri="{BB962C8B-B14F-4D97-AF65-F5344CB8AC3E}">
        <p14:creationId xmlns:p14="http://schemas.microsoft.com/office/powerpoint/2010/main" val="790863319"/>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4"/>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695401" y="395786"/>
            <a:ext cx="7877099" cy="838202"/>
          </a:xfrm>
        </p:spPr>
        <p:txBody>
          <a:bodyPr/>
          <a:lstStyle/>
          <a:p>
            <a:r>
              <a:rPr lang="en-IN" b="1" dirty="0"/>
              <a:t>Relational Operations continued..</a:t>
            </a:r>
          </a:p>
        </p:txBody>
      </p:sp>
      <p:sp>
        <p:nvSpPr>
          <p:cNvPr id="6" name="Text Placeholder 5"/>
          <p:cNvSpPr>
            <a:spLocks noGrp="1"/>
          </p:cNvSpPr>
          <p:nvPr>
            <p:ph type="body" sz="quarter" idx="17"/>
          </p:nvPr>
        </p:nvSpPr>
        <p:spPr>
          <a:xfrm>
            <a:off x="1524000" y="1206500"/>
            <a:ext cx="9779000" cy="3137269"/>
          </a:xfrm>
          <a:prstGeom prst="rect">
            <a:avLst/>
          </a:prstGeom>
        </p:spPr>
        <p:txBody>
          <a:bodyPr wrap="square">
            <a:spAutoFit/>
          </a:bodyPr>
          <a:lstStyle/>
          <a:p>
            <a:pPr algn="just">
              <a:buFont typeface="Arial" panose="020B0604020202020204" pitchFamily="34" charset="0"/>
              <a:buChar char="•"/>
            </a:pPr>
            <a:r>
              <a:rPr lang="en-IN" dirty="0"/>
              <a:t>Relational Algebra, Calculus, RDBMS &amp; SQL.</a:t>
            </a:r>
          </a:p>
          <a:p>
            <a:pPr algn="just">
              <a:buFont typeface="Arial" panose="020B0604020202020204" pitchFamily="34" charset="0"/>
              <a:buChar char="•"/>
            </a:pPr>
            <a:r>
              <a:rPr lang="en-IN" dirty="0"/>
              <a:t>Relational algebra and calculus are the theoretical concepts used on relational model.</a:t>
            </a:r>
          </a:p>
          <a:p>
            <a:pPr algn="just">
              <a:buFont typeface="Arial" panose="020B0604020202020204" pitchFamily="34" charset="0"/>
              <a:buChar char="•"/>
            </a:pPr>
            <a:r>
              <a:rPr lang="en-IN" dirty="0"/>
              <a:t>RDBMS is a practical implementation of relational model.</a:t>
            </a:r>
          </a:p>
          <a:p>
            <a:pPr algn="just">
              <a:buFont typeface="Arial" panose="020B0604020202020204" pitchFamily="34" charset="0"/>
              <a:buChar char="•"/>
            </a:pPr>
            <a:r>
              <a:rPr lang="en-IN" dirty="0"/>
              <a:t>SQL is a practical implementation of relational algebra and calculus.</a:t>
            </a:r>
          </a:p>
          <a:p>
            <a:pPr algn="just">
              <a:buFont typeface="Arial" panose="020B0604020202020204" pitchFamily="34" charset="0"/>
              <a:buChar char="•"/>
            </a:pPr>
            <a:endParaRPr lang="en-IN" dirty="0"/>
          </a:p>
        </p:txBody>
      </p:sp>
    </p:spTree>
    <p:extLst>
      <p:ext uri="{BB962C8B-B14F-4D97-AF65-F5344CB8AC3E}">
        <p14:creationId xmlns:p14="http://schemas.microsoft.com/office/powerpoint/2010/main" val="1791299233"/>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6">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6">
                                            <p:txEl>
                                              <p:pRg st="1" end="1"/>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grpId="0" nodeType="clickEffect">
                                  <p:stCondLst>
                                    <p:cond delay="0"/>
                                  </p:stCondLst>
                                  <p:childTnLst>
                                    <p:set>
                                      <p:cBhvr>
                                        <p:cTn id="14" dur="1" fill="hold">
                                          <p:stCondLst>
                                            <p:cond delay="0"/>
                                          </p:stCondLst>
                                        </p:cTn>
                                        <p:tgtEl>
                                          <p:spTgt spid="6">
                                            <p:txEl>
                                              <p:pRg st="2" end="2"/>
                                            </p:txEl>
                                          </p:spTgt>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grpId="0" nodeType="clickEffect">
                                  <p:stCondLst>
                                    <p:cond delay="0"/>
                                  </p:stCondLst>
                                  <p:childTnLst>
                                    <p:set>
                                      <p:cBhvr>
                                        <p:cTn id="18" dur="1" fill="hold">
                                          <p:stCondLst>
                                            <p:cond delay="0"/>
                                          </p:stCondLst>
                                        </p:cTn>
                                        <p:tgtEl>
                                          <p:spTgt spid="6">
                                            <p:txEl>
                                              <p:pRg st="3" end="3"/>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6" grpId="0" build="p"/>
    </p:bldLst>
  </p:timing>
</p:sld>
</file>

<file path=ppt/slides/slide1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3"/>
          <p:cNvSpPr>
            <a:spLocks noGrp="1"/>
          </p:cNvSpPr>
          <p:nvPr>
            <p:ph type="title"/>
          </p:nvPr>
        </p:nvSpPr>
        <p:spPr>
          <a:xfrm>
            <a:off x="695401" y="395786"/>
            <a:ext cx="7369099" cy="838202"/>
          </a:xfrm>
        </p:spPr>
        <p:txBody>
          <a:bodyPr/>
          <a:lstStyle/>
          <a:p>
            <a:r>
              <a:rPr lang="en-IN" dirty="0"/>
              <a:t>Relational algebra operations</a:t>
            </a:r>
          </a:p>
        </p:txBody>
      </p:sp>
      <p:pic>
        <p:nvPicPr>
          <p:cNvPr id="6" name="Picture 5"/>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2984500" y="1233988"/>
            <a:ext cx="6657540" cy="5052513"/>
          </a:xfrm>
          <a:prstGeom prst="rect">
            <a:avLst/>
          </a:prstGeom>
        </p:spPr>
      </p:pic>
      <p:sp>
        <p:nvSpPr>
          <p:cNvPr id="7" name="Rectangle 6"/>
          <p:cNvSpPr/>
          <p:nvPr/>
        </p:nvSpPr>
        <p:spPr>
          <a:xfrm>
            <a:off x="5842000" y="6413501"/>
            <a:ext cx="6233783" cy="323165"/>
          </a:xfrm>
          <a:prstGeom prst="rect">
            <a:avLst/>
          </a:prstGeom>
        </p:spPr>
        <p:txBody>
          <a:bodyPr wrap="square">
            <a:spAutoFit/>
          </a:bodyPr>
          <a:lstStyle/>
          <a:p>
            <a:r>
              <a:rPr lang="en-IN" sz="1500" dirty="0"/>
              <a:t>https://www.gatevidyalay.com/projection-operator-relational-algebra-dbms/</a:t>
            </a:r>
          </a:p>
        </p:txBody>
      </p:sp>
    </p:spTree>
    <p:extLst>
      <p:ext uri="{BB962C8B-B14F-4D97-AF65-F5344CB8AC3E}">
        <p14:creationId xmlns:p14="http://schemas.microsoft.com/office/powerpoint/2010/main" val="3610025232"/>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6"/>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695400" y="395786"/>
            <a:ext cx="9337600" cy="838202"/>
          </a:xfrm>
        </p:spPr>
        <p:txBody>
          <a:bodyPr/>
          <a:lstStyle/>
          <a:p>
            <a:r>
              <a:rPr lang="en-IN" b="1" dirty="0"/>
              <a:t>Relational algebra operations continued..</a:t>
            </a:r>
          </a:p>
        </p:txBody>
      </p:sp>
      <p:sp>
        <p:nvSpPr>
          <p:cNvPr id="6" name="Text Placeholder 5"/>
          <p:cNvSpPr>
            <a:spLocks noGrp="1"/>
          </p:cNvSpPr>
          <p:nvPr>
            <p:ph type="body" sz="quarter" idx="17"/>
          </p:nvPr>
        </p:nvSpPr>
        <p:spPr>
          <a:xfrm>
            <a:off x="635000" y="952500"/>
            <a:ext cx="11557000" cy="5490734"/>
          </a:xfrm>
          <a:prstGeom prst="rect">
            <a:avLst/>
          </a:prstGeom>
        </p:spPr>
        <p:txBody>
          <a:bodyPr wrap="square">
            <a:spAutoFit/>
          </a:bodyPr>
          <a:lstStyle/>
          <a:p>
            <a:r>
              <a:rPr lang="en-US" dirty="0"/>
              <a:t>In the </a:t>
            </a:r>
            <a:r>
              <a:rPr lang="en-US" b="1" dirty="0"/>
              <a:t>Relational Model</a:t>
            </a:r>
            <a:r>
              <a:rPr lang="en-US" dirty="0"/>
              <a:t> of </a:t>
            </a:r>
            <a:r>
              <a:rPr lang="en-US" b="1" dirty="0"/>
              <a:t>DBMS</a:t>
            </a:r>
            <a:r>
              <a:rPr lang="en-US" dirty="0"/>
              <a:t> (Database Management Systems), operations are used to manipulate and query the data stored in relational tables (also known as relations). </a:t>
            </a:r>
          </a:p>
          <a:p>
            <a:r>
              <a:rPr lang="en-US" dirty="0"/>
              <a:t>Relational Algebra is a procedural query language or formal query language, which takes instances of one or more relation as an input and generates a new relation as an output. It uses a different set of operators (like unary or binary operators) and operands to perform queries.</a:t>
            </a:r>
          </a:p>
          <a:p>
            <a:r>
              <a:rPr lang="en-US" dirty="0"/>
              <a:t>In procedural query language every user has to mention two things to access data</a:t>
            </a:r>
          </a:p>
          <a:p>
            <a:r>
              <a:rPr lang="en-US" dirty="0"/>
              <a:t>These operations can be classified into two broad categories:</a:t>
            </a:r>
          </a:p>
          <a:p>
            <a:pPr marL="0" indent="0">
              <a:buNone/>
            </a:pPr>
            <a:r>
              <a:rPr lang="en-US" b="1" dirty="0"/>
              <a:t>Unary Operations</a:t>
            </a:r>
            <a:r>
              <a:rPr lang="en-US" dirty="0"/>
              <a:t>: Operations that work on a single relation (table).</a:t>
            </a:r>
          </a:p>
          <a:p>
            <a:pPr marL="0" indent="0">
              <a:buNone/>
            </a:pPr>
            <a:r>
              <a:rPr lang="en-US" b="1" dirty="0"/>
              <a:t>Binary Operations</a:t>
            </a:r>
            <a:r>
              <a:rPr lang="en-US" dirty="0"/>
              <a:t>: Operations that involve two relations.</a:t>
            </a:r>
          </a:p>
          <a:p>
            <a:pPr algn="just">
              <a:buFont typeface="Arial" panose="020B0604020202020204" pitchFamily="34" charset="0"/>
              <a:buChar char="•"/>
            </a:pPr>
            <a:endParaRPr lang="en-IN" dirty="0"/>
          </a:p>
        </p:txBody>
      </p:sp>
    </p:spTree>
    <p:extLst>
      <p:ext uri="{BB962C8B-B14F-4D97-AF65-F5344CB8AC3E}">
        <p14:creationId xmlns:p14="http://schemas.microsoft.com/office/powerpoint/2010/main" val="2256480405"/>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6">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6">
                                            <p:txEl>
                                              <p:pRg st="1" end="1"/>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grpId="0" nodeType="clickEffect">
                                  <p:stCondLst>
                                    <p:cond delay="0"/>
                                  </p:stCondLst>
                                  <p:childTnLst>
                                    <p:set>
                                      <p:cBhvr>
                                        <p:cTn id="14" dur="1" fill="hold">
                                          <p:stCondLst>
                                            <p:cond delay="0"/>
                                          </p:stCondLst>
                                        </p:cTn>
                                        <p:tgtEl>
                                          <p:spTgt spid="6">
                                            <p:txEl>
                                              <p:pRg st="2" end="2"/>
                                            </p:txEl>
                                          </p:spTgt>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grpId="0" nodeType="clickEffect">
                                  <p:stCondLst>
                                    <p:cond delay="0"/>
                                  </p:stCondLst>
                                  <p:childTnLst>
                                    <p:set>
                                      <p:cBhvr>
                                        <p:cTn id="18" dur="1" fill="hold">
                                          <p:stCondLst>
                                            <p:cond delay="0"/>
                                          </p:stCondLst>
                                        </p:cTn>
                                        <p:tgtEl>
                                          <p:spTgt spid="6">
                                            <p:txEl>
                                              <p:pRg st="3" end="3"/>
                                            </p:txEl>
                                          </p:spTgt>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grpId="0" nodeType="clickEffect">
                                  <p:stCondLst>
                                    <p:cond delay="0"/>
                                  </p:stCondLst>
                                  <p:childTnLst>
                                    <p:set>
                                      <p:cBhvr>
                                        <p:cTn id="22" dur="1" fill="hold">
                                          <p:stCondLst>
                                            <p:cond delay="0"/>
                                          </p:stCondLst>
                                        </p:cTn>
                                        <p:tgtEl>
                                          <p:spTgt spid="6">
                                            <p:txEl>
                                              <p:pRg st="4" end="4"/>
                                            </p:txEl>
                                          </p:spTgt>
                                        </p:tgtEl>
                                        <p:attrNameLst>
                                          <p:attrName>style.visibility</p:attrName>
                                        </p:attrNameLst>
                                      </p:cBhvr>
                                      <p:to>
                                        <p:strVal val="visible"/>
                                      </p:to>
                                    </p:set>
                                  </p:childTnLst>
                                </p:cTn>
                              </p:par>
                            </p:childTnLst>
                          </p:cTn>
                        </p:par>
                      </p:childTnLst>
                    </p:cTn>
                  </p:par>
                  <p:par>
                    <p:cTn id="23" fill="hold">
                      <p:stCondLst>
                        <p:cond delay="indefinite"/>
                      </p:stCondLst>
                      <p:childTnLst>
                        <p:par>
                          <p:cTn id="24" fill="hold">
                            <p:stCondLst>
                              <p:cond delay="0"/>
                            </p:stCondLst>
                            <p:childTnLst>
                              <p:par>
                                <p:cTn id="25" presetID="1" presetClass="entr" presetSubtype="0" fill="hold" grpId="0" nodeType="clickEffect">
                                  <p:stCondLst>
                                    <p:cond delay="0"/>
                                  </p:stCondLst>
                                  <p:childTnLst>
                                    <p:set>
                                      <p:cBhvr>
                                        <p:cTn id="26" dur="1" fill="hold">
                                          <p:stCondLst>
                                            <p:cond delay="0"/>
                                          </p:stCondLst>
                                        </p:cTn>
                                        <p:tgtEl>
                                          <p:spTgt spid="6">
                                            <p:txEl>
                                              <p:pRg st="5" end="5"/>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6" grpId="0" build="p"/>
    </p:bldLst>
  </p:timing>
</p:sld>
</file>

<file path=ppt/slides/slide1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695400" y="395786"/>
            <a:ext cx="9655100" cy="838202"/>
          </a:xfrm>
        </p:spPr>
        <p:txBody>
          <a:bodyPr/>
          <a:lstStyle/>
          <a:p>
            <a:r>
              <a:rPr lang="en-IN" b="1" dirty="0"/>
              <a:t>Relational algebra operations continued..</a:t>
            </a:r>
          </a:p>
        </p:txBody>
      </p:sp>
      <p:sp>
        <p:nvSpPr>
          <p:cNvPr id="6" name="Text Placeholder 5"/>
          <p:cNvSpPr>
            <a:spLocks noGrp="1"/>
          </p:cNvSpPr>
          <p:nvPr>
            <p:ph type="body" sz="quarter" idx="17"/>
          </p:nvPr>
        </p:nvSpPr>
        <p:spPr>
          <a:xfrm>
            <a:off x="1143000" y="1079500"/>
            <a:ext cx="10541000" cy="5337872"/>
          </a:xfrm>
          <a:prstGeom prst="rect">
            <a:avLst/>
          </a:prstGeom>
        </p:spPr>
        <p:txBody>
          <a:bodyPr wrap="square">
            <a:spAutoFit/>
          </a:bodyPr>
          <a:lstStyle/>
          <a:p>
            <a:pPr marL="0" indent="0">
              <a:buNone/>
            </a:pPr>
            <a:r>
              <a:rPr lang="en-US" b="1" dirty="0"/>
              <a:t>Unary Operations</a:t>
            </a:r>
          </a:p>
          <a:p>
            <a:pPr marL="0" indent="0">
              <a:buNone/>
            </a:pPr>
            <a:r>
              <a:rPr lang="en-US" dirty="0"/>
              <a:t>Unary operations are performed on a </a:t>
            </a:r>
            <a:r>
              <a:rPr lang="en-US" b="1" dirty="0"/>
              <a:t>single relation</a:t>
            </a:r>
            <a:r>
              <a:rPr lang="en-US" dirty="0"/>
              <a:t> and typically involve operations like selection, projection, and renaming.</a:t>
            </a:r>
          </a:p>
          <a:p>
            <a:pPr marL="0" indent="0">
              <a:buNone/>
            </a:pPr>
            <a:r>
              <a:rPr lang="en-US" b="1" dirty="0"/>
              <a:t>1. Selection (σ)</a:t>
            </a:r>
          </a:p>
          <a:p>
            <a:pPr marL="0" indent="0">
              <a:buNone/>
            </a:pPr>
            <a:r>
              <a:rPr lang="en-US" b="1" dirty="0"/>
              <a:t>Purpose</a:t>
            </a:r>
            <a:r>
              <a:rPr lang="en-US" dirty="0"/>
              <a:t>: Extracts rows from a relation (table) that satisfy a given condition (predicate).  The Greek letter sigma (σ) is used to represent the selection operator.</a:t>
            </a:r>
          </a:p>
          <a:p>
            <a:pPr marL="0" indent="0">
              <a:buNone/>
            </a:pPr>
            <a:r>
              <a:rPr lang="en-US" b="1" dirty="0"/>
              <a:t>Operation</a:t>
            </a:r>
            <a:r>
              <a:rPr lang="en-US" dirty="0"/>
              <a:t>: The selection operation selects tuples (rows) from a relation based on a </a:t>
            </a:r>
            <a:r>
              <a:rPr lang="en-US" b="1" dirty="0"/>
              <a:t>condition</a:t>
            </a:r>
            <a:r>
              <a:rPr lang="en-US" dirty="0"/>
              <a:t>.</a:t>
            </a:r>
          </a:p>
          <a:p>
            <a:pPr marL="0" indent="0">
              <a:buNone/>
            </a:pPr>
            <a:r>
              <a:rPr lang="en-US" b="1" dirty="0"/>
              <a:t>Syntax</a:t>
            </a:r>
            <a:r>
              <a:rPr lang="en-US" dirty="0"/>
              <a:t>:</a:t>
            </a:r>
          </a:p>
          <a:p>
            <a:pPr marL="0" indent="0">
              <a:buNone/>
            </a:pPr>
            <a:r>
              <a:rPr lang="el-GR" dirty="0"/>
              <a:t>σ(</a:t>
            </a:r>
            <a:r>
              <a:rPr lang="en-US" dirty="0"/>
              <a:t>condition)(Relation)</a:t>
            </a:r>
          </a:p>
          <a:p>
            <a:pPr algn="just">
              <a:buFont typeface="Arial" panose="020B0604020202020204" pitchFamily="34" charset="0"/>
              <a:buChar char="•"/>
            </a:pPr>
            <a:endParaRPr lang="en-IN" dirty="0"/>
          </a:p>
        </p:txBody>
      </p:sp>
    </p:spTree>
    <p:extLst>
      <p:ext uri="{BB962C8B-B14F-4D97-AF65-F5344CB8AC3E}">
        <p14:creationId xmlns:p14="http://schemas.microsoft.com/office/powerpoint/2010/main" val="4859495"/>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6">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6">
                                            <p:txEl>
                                              <p:pRg st="1" end="1"/>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grpId="0" nodeType="clickEffect">
                                  <p:stCondLst>
                                    <p:cond delay="0"/>
                                  </p:stCondLst>
                                  <p:childTnLst>
                                    <p:set>
                                      <p:cBhvr>
                                        <p:cTn id="14" dur="1" fill="hold">
                                          <p:stCondLst>
                                            <p:cond delay="0"/>
                                          </p:stCondLst>
                                        </p:cTn>
                                        <p:tgtEl>
                                          <p:spTgt spid="6">
                                            <p:txEl>
                                              <p:pRg st="2" end="2"/>
                                            </p:txEl>
                                          </p:spTgt>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grpId="0" nodeType="clickEffect">
                                  <p:stCondLst>
                                    <p:cond delay="0"/>
                                  </p:stCondLst>
                                  <p:childTnLst>
                                    <p:set>
                                      <p:cBhvr>
                                        <p:cTn id="18" dur="1" fill="hold">
                                          <p:stCondLst>
                                            <p:cond delay="0"/>
                                          </p:stCondLst>
                                        </p:cTn>
                                        <p:tgtEl>
                                          <p:spTgt spid="6">
                                            <p:txEl>
                                              <p:pRg st="3" end="3"/>
                                            </p:txEl>
                                          </p:spTgt>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grpId="0" nodeType="clickEffect">
                                  <p:stCondLst>
                                    <p:cond delay="0"/>
                                  </p:stCondLst>
                                  <p:childTnLst>
                                    <p:set>
                                      <p:cBhvr>
                                        <p:cTn id="22" dur="1" fill="hold">
                                          <p:stCondLst>
                                            <p:cond delay="0"/>
                                          </p:stCondLst>
                                        </p:cTn>
                                        <p:tgtEl>
                                          <p:spTgt spid="6">
                                            <p:txEl>
                                              <p:pRg st="4" end="4"/>
                                            </p:txEl>
                                          </p:spTgt>
                                        </p:tgtEl>
                                        <p:attrNameLst>
                                          <p:attrName>style.visibility</p:attrName>
                                        </p:attrNameLst>
                                      </p:cBhvr>
                                      <p:to>
                                        <p:strVal val="visible"/>
                                      </p:to>
                                    </p:set>
                                  </p:childTnLst>
                                </p:cTn>
                              </p:par>
                            </p:childTnLst>
                          </p:cTn>
                        </p:par>
                      </p:childTnLst>
                    </p:cTn>
                  </p:par>
                  <p:par>
                    <p:cTn id="23" fill="hold">
                      <p:stCondLst>
                        <p:cond delay="indefinite"/>
                      </p:stCondLst>
                      <p:childTnLst>
                        <p:par>
                          <p:cTn id="24" fill="hold">
                            <p:stCondLst>
                              <p:cond delay="0"/>
                            </p:stCondLst>
                            <p:childTnLst>
                              <p:par>
                                <p:cTn id="25" presetID="1" presetClass="entr" presetSubtype="0" fill="hold" grpId="0" nodeType="clickEffect">
                                  <p:stCondLst>
                                    <p:cond delay="0"/>
                                  </p:stCondLst>
                                  <p:childTnLst>
                                    <p:set>
                                      <p:cBhvr>
                                        <p:cTn id="26" dur="1" fill="hold">
                                          <p:stCondLst>
                                            <p:cond delay="0"/>
                                          </p:stCondLst>
                                        </p:cTn>
                                        <p:tgtEl>
                                          <p:spTgt spid="6">
                                            <p:txEl>
                                              <p:pRg st="5" end="5"/>
                                            </p:txEl>
                                          </p:spTgt>
                                        </p:tgtEl>
                                        <p:attrNameLst>
                                          <p:attrName>style.visibility</p:attrName>
                                        </p:attrNameLst>
                                      </p:cBhvr>
                                      <p:to>
                                        <p:strVal val="visible"/>
                                      </p:to>
                                    </p:set>
                                  </p:childTnLst>
                                </p:cTn>
                              </p:par>
                            </p:childTnLst>
                          </p:cTn>
                        </p:par>
                      </p:childTnLst>
                    </p:cTn>
                  </p:par>
                  <p:par>
                    <p:cTn id="27" fill="hold">
                      <p:stCondLst>
                        <p:cond delay="indefinite"/>
                      </p:stCondLst>
                      <p:childTnLst>
                        <p:par>
                          <p:cTn id="28" fill="hold">
                            <p:stCondLst>
                              <p:cond delay="0"/>
                            </p:stCondLst>
                            <p:childTnLst>
                              <p:par>
                                <p:cTn id="29" presetID="1" presetClass="entr" presetSubtype="0" fill="hold" grpId="0" nodeType="clickEffect">
                                  <p:stCondLst>
                                    <p:cond delay="0"/>
                                  </p:stCondLst>
                                  <p:childTnLst>
                                    <p:set>
                                      <p:cBhvr>
                                        <p:cTn id="30" dur="1" fill="hold">
                                          <p:stCondLst>
                                            <p:cond delay="0"/>
                                          </p:stCondLst>
                                        </p:cTn>
                                        <p:tgtEl>
                                          <p:spTgt spid="6">
                                            <p:txEl>
                                              <p:pRg st="6" end="6"/>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6" grpId="0" build="p"/>
    </p:bldLst>
  </p:timing>
</p:sld>
</file>

<file path=ppt/slides/slide1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695400" y="76197"/>
            <a:ext cx="10290100" cy="838202"/>
          </a:xfrm>
        </p:spPr>
        <p:txBody>
          <a:bodyPr/>
          <a:lstStyle/>
          <a:p>
            <a:r>
              <a:rPr lang="en-IN" b="1" dirty="0"/>
              <a:t>Relational algebra operations continued..</a:t>
            </a:r>
          </a:p>
        </p:txBody>
      </p:sp>
      <p:sp>
        <p:nvSpPr>
          <p:cNvPr id="6" name="Text Placeholder 5"/>
          <p:cNvSpPr>
            <a:spLocks noGrp="1"/>
          </p:cNvSpPr>
          <p:nvPr>
            <p:ph type="body" sz="quarter" idx="17"/>
          </p:nvPr>
        </p:nvSpPr>
        <p:spPr>
          <a:xfrm>
            <a:off x="633450" y="914399"/>
            <a:ext cx="10414000" cy="5544082"/>
          </a:xfrm>
          <a:prstGeom prst="rect">
            <a:avLst/>
          </a:prstGeom>
        </p:spPr>
        <p:txBody>
          <a:bodyPr wrap="square">
            <a:spAutoFit/>
          </a:bodyPr>
          <a:lstStyle/>
          <a:p>
            <a:pPr algn="just">
              <a:buFont typeface="Arial" panose="020B0604020202020204" pitchFamily="34" charset="0"/>
              <a:buChar char="•"/>
            </a:pPr>
            <a:r>
              <a:rPr lang="en-US" b="1" dirty="0"/>
              <a:t>Example</a:t>
            </a:r>
            <a:r>
              <a:rPr lang="en-US" dirty="0"/>
              <a:t>: Consider a relation Students with the following schema:</a:t>
            </a:r>
          </a:p>
          <a:p>
            <a:pPr algn="just">
              <a:buFont typeface="Arial" panose="020B0604020202020204" pitchFamily="34" charset="0"/>
              <a:buChar char="•"/>
            </a:pPr>
            <a:endParaRPr lang="en-US" dirty="0"/>
          </a:p>
          <a:p>
            <a:pPr algn="just">
              <a:buFont typeface="Arial" panose="020B0604020202020204" pitchFamily="34" charset="0"/>
              <a:buChar char="•"/>
            </a:pPr>
            <a:endParaRPr lang="en-US" dirty="0"/>
          </a:p>
          <a:p>
            <a:pPr algn="just">
              <a:buFont typeface="Arial" panose="020B0604020202020204" pitchFamily="34" charset="0"/>
              <a:buChar char="•"/>
            </a:pPr>
            <a:endParaRPr lang="en-US" dirty="0"/>
          </a:p>
          <a:p>
            <a:pPr algn="just">
              <a:buFont typeface="Arial" panose="020B0604020202020204" pitchFamily="34" charset="0"/>
              <a:buChar char="•"/>
            </a:pPr>
            <a:endParaRPr lang="en-US" dirty="0"/>
          </a:p>
          <a:p>
            <a:pPr algn="just">
              <a:buFont typeface="Arial" panose="020B0604020202020204" pitchFamily="34" charset="0"/>
              <a:buChar char="•"/>
            </a:pPr>
            <a:endParaRPr lang="en-US" dirty="0"/>
          </a:p>
          <a:p>
            <a:pPr algn="just">
              <a:buFont typeface="Arial" panose="020B0604020202020204" pitchFamily="34" charset="0"/>
              <a:buChar char="•"/>
            </a:pPr>
            <a:endParaRPr lang="en-US" dirty="0"/>
          </a:p>
          <a:p>
            <a:pPr algn="just">
              <a:buFont typeface="Arial" panose="020B0604020202020204" pitchFamily="34" charset="0"/>
              <a:buChar char="•"/>
            </a:pPr>
            <a:r>
              <a:rPr lang="en-US" b="1" dirty="0"/>
              <a:t>Query</a:t>
            </a:r>
            <a:r>
              <a:rPr lang="en-US" dirty="0"/>
              <a:t>: Find all students in the CS department.</a:t>
            </a:r>
          </a:p>
          <a:p>
            <a:pPr algn="just">
              <a:buFont typeface="Arial" panose="020B0604020202020204" pitchFamily="34" charset="0"/>
              <a:buChar char="•"/>
            </a:pPr>
            <a:r>
              <a:rPr lang="el-GR" dirty="0"/>
              <a:t>σ</a:t>
            </a:r>
            <a:r>
              <a:rPr lang="en-US" dirty="0"/>
              <a:t>  </a:t>
            </a:r>
            <a:r>
              <a:rPr lang="el-GR" sz="1333" dirty="0"/>
              <a:t>(</a:t>
            </a:r>
            <a:r>
              <a:rPr lang="en-US" sz="1333" dirty="0"/>
              <a:t>Department = 'CS')  </a:t>
            </a:r>
            <a:r>
              <a:rPr lang="en-US" dirty="0"/>
              <a:t>(Students)</a:t>
            </a:r>
          </a:p>
          <a:p>
            <a:pPr algn="just">
              <a:buFont typeface="Arial" panose="020B0604020202020204" pitchFamily="34" charset="0"/>
              <a:buChar char="•"/>
            </a:pPr>
            <a:r>
              <a:rPr lang="en-US" dirty="0"/>
              <a:t>Output is</a:t>
            </a:r>
          </a:p>
          <a:p>
            <a:pPr algn="just">
              <a:buFont typeface="Arial" panose="020B0604020202020204" pitchFamily="34" charset="0"/>
              <a:buChar char="•"/>
            </a:pPr>
            <a:endParaRPr lang="en-IN" dirty="0"/>
          </a:p>
        </p:txBody>
      </p:sp>
      <p:graphicFrame>
        <p:nvGraphicFramePr>
          <p:cNvPr id="3" name="Table 2"/>
          <p:cNvGraphicFramePr>
            <a:graphicFrameLocks noGrp="1"/>
          </p:cNvGraphicFramePr>
          <p:nvPr>
            <p:extLst>
              <p:ext uri="{D42A27DB-BD31-4B8C-83A1-F6EECF244321}">
                <p14:modId xmlns:p14="http://schemas.microsoft.com/office/powerpoint/2010/main" val="3019134859"/>
              </p:ext>
            </p:extLst>
          </p:nvPr>
        </p:nvGraphicFramePr>
        <p:xfrm>
          <a:off x="1397000" y="1841500"/>
          <a:ext cx="5491088" cy="2235570"/>
        </p:xfrm>
        <a:graphic>
          <a:graphicData uri="http://schemas.openxmlformats.org/drawingml/2006/table">
            <a:tbl>
              <a:tblPr firstRow="1" firstCol="1" bandRow="1">
                <a:tableStyleId>{5C22544A-7EE6-4342-B048-85BDC9FD1C3A}</a:tableStyleId>
              </a:tblPr>
              <a:tblGrid>
                <a:gridCol w="1243265">
                  <a:extLst>
                    <a:ext uri="{9D8B030D-6E8A-4147-A177-3AD203B41FA5}">
                      <a16:colId xmlns:a16="http://schemas.microsoft.com/office/drawing/2014/main" val="20000"/>
                    </a:ext>
                  </a:extLst>
                </a:gridCol>
                <a:gridCol w="1243265">
                  <a:extLst>
                    <a:ext uri="{9D8B030D-6E8A-4147-A177-3AD203B41FA5}">
                      <a16:colId xmlns:a16="http://schemas.microsoft.com/office/drawing/2014/main" val="20001"/>
                    </a:ext>
                  </a:extLst>
                </a:gridCol>
                <a:gridCol w="1243265">
                  <a:extLst>
                    <a:ext uri="{9D8B030D-6E8A-4147-A177-3AD203B41FA5}">
                      <a16:colId xmlns:a16="http://schemas.microsoft.com/office/drawing/2014/main" val="20002"/>
                    </a:ext>
                  </a:extLst>
                </a:gridCol>
                <a:gridCol w="1761293">
                  <a:extLst>
                    <a:ext uri="{9D8B030D-6E8A-4147-A177-3AD203B41FA5}">
                      <a16:colId xmlns:a16="http://schemas.microsoft.com/office/drawing/2014/main" val="20003"/>
                    </a:ext>
                  </a:extLst>
                </a:gridCol>
              </a:tblGrid>
              <a:tr h="447114">
                <a:tc>
                  <a:txBody>
                    <a:bodyPr/>
                    <a:lstStyle/>
                    <a:p>
                      <a:pPr algn="ctr">
                        <a:lnSpc>
                          <a:spcPct val="115000"/>
                        </a:lnSpc>
                        <a:spcAft>
                          <a:spcPts val="0"/>
                        </a:spcAft>
                      </a:pPr>
                      <a:r>
                        <a:rPr lang="en-GB" sz="900" dirty="0" err="1">
                          <a:effectLst/>
                        </a:rPr>
                        <a:t>RollNo</a:t>
                      </a:r>
                      <a:endParaRPr lang="en-GB" sz="900" dirty="0">
                        <a:effectLst/>
                        <a:latin typeface="Calibri"/>
                        <a:ea typeface="Calibri"/>
                        <a:cs typeface="Times New Roman"/>
                      </a:endParaRPr>
                    </a:p>
                  </a:txBody>
                  <a:tcPr marL="57150" marR="57150" marT="0" marB="0" anchor="ctr"/>
                </a:tc>
                <a:tc>
                  <a:txBody>
                    <a:bodyPr/>
                    <a:lstStyle/>
                    <a:p>
                      <a:pPr algn="ctr">
                        <a:lnSpc>
                          <a:spcPct val="115000"/>
                        </a:lnSpc>
                        <a:spcAft>
                          <a:spcPts val="0"/>
                        </a:spcAft>
                      </a:pPr>
                      <a:r>
                        <a:rPr lang="en-GB" sz="900">
                          <a:effectLst/>
                        </a:rPr>
                        <a:t>Name</a:t>
                      </a:r>
                      <a:endParaRPr lang="en-GB" sz="900">
                        <a:effectLst/>
                        <a:latin typeface="Calibri"/>
                        <a:ea typeface="Calibri"/>
                        <a:cs typeface="Times New Roman"/>
                      </a:endParaRPr>
                    </a:p>
                  </a:txBody>
                  <a:tcPr marL="57150" marR="57150" marT="0" marB="0" anchor="ctr"/>
                </a:tc>
                <a:tc>
                  <a:txBody>
                    <a:bodyPr/>
                    <a:lstStyle/>
                    <a:p>
                      <a:pPr algn="ctr">
                        <a:lnSpc>
                          <a:spcPct val="115000"/>
                        </a:lnSpc>
                        <a:spcAft>
                          <a:spcPts val="0"/>
                        </a:spcAft>
                      </a:pPr>
                      <a:r>
                        <a:rPr lang="en-GB" sz="900">
                          <a:effectLst/>
                        </a:rPr>
                        <a:t>Age</a:t>
                      </a:r>
                      <a:endParaRPr lang="en-GB" sz="900">
                        <a:effectLst/>
                        <a:latin typeface="Calibri"/>
                        <a:ea typeface="Calibri"/>
                        <a:cs typeface="Times New Roman"/>
                      </a:endParaRPr>
                    </a:p>
                  </a:txBody>
                  <a:tcPr marL="57150" marR="57150" marT="0" marB="0" anchor="ctr"/>
                </a:tc>
                <a:tc>
                  <a:txBody>
                    <a:bodyPr/>
                    <a:lstStyle/>
                    <a:p>
                      <a:pPr algn="ctr">
                        <a:lnSpc>
                          <a:spcPct val="115000"/>
                        </a:lnSpc>
                        <a:spcAft>
                          <a:spcPts val="0"/>
                        </a:spcAft>
                      </a:pPr>
                      <a:r>
                        <a:rPr lang="en-GB" sz="900">
                          <a:effectLst/>
                        </a:rPr>
                        <a:t>Department</a:t>
                      </a:r>
                      <a:endParaRPr lang="en-GB" sz="900">
                        <a:effectLst/>
                        <a:latin typeface="Calibri"/>
                        <a:ea typeface="Calibri"/>
                        <a:cs typeface="Times New Roman"/>
                      </a:endParaRPr>
                    </a:p>
                  </a:txBody>
                  <a:tcPr marL="57150" marR="57150" marT="0" marB="0" anchor="ctr"/>
                </a:tc>
                <a:extLst>
                  <a:ext uri="{0D108BD9-81ED-4DB2-BD59-A6C34878D82A}">
                    <a16:rowId xmlns:a16="http://schemas.microsoft.com/office/drawing/2014/main" val="10000"/>
                  </a:ext>
                </a:extLst>
              </a:tr>
              <a:tr h="447114">
                <a:tc>
                  <a:txBody>
                    <a:bodyPr/>
                    <a:lstStyle/>
                    <a:p>
                      <a:pPr algn="ctr">
                        <a:lnSpc>
                          <a:spcPct val="115000"/>
                        </a:lnSpc>
                        <a:spcAft>
                          <a:spcPts val="0"/>
                        </a:spcAft>
                      </a:pPr>
                      <a:r>
                        <a:rPr lang="en-GB" sz="900">
                          <a:effectLst/>
                        </a:rPr>
                        <a:t>101</a:t>
                      </a:r>
                      <a:endParaRPr lang="en-GB" sz="900">
                        <a:effectLst/>
                        <a:latin typeface="Calibri"/>
                        <a:ea typeface="Calibri"/>
                        <a:cs typeface="Times New Roman"/>
                      </a:endParaRPr>
                    </a:p>
                  </a:txBody>
                  <a:tcPr marL="57150" marR="57150" marT="0" marB="0" anchor="ctr"/>
                </a:tc>
                <a:tc>
                  <a:txBody>
                    <a:bodyPr/>
                    <a:lstStyle/>
                    <a:p>
                      <a:pPr algn="ctr">
                        <a:lnSpc>
                          <a:spcPct val="115000"/>
                        </a:lnSpc>
                        <a:spcAft>
                          <a:spcPts val="0"/>
                        </a:spcAft>
                      </a:pPr>
                      <a:r>
                        <a:rPr lang="en-GB" sz="900">
                          <a:effectLst/>
                        </a:rPr>
                        <a:t>John</a:t>
                      </a:r>
                      <a:endParaRPr lang="en-GB" sz="900">
                        <a:effectLst/>
                        <a:latin typeface="Calibri"/>
                        <a:ea typeface="Calibri"/>
                        <a:cs typeface="Times New Roman"/>
                      </a:endParaRPr>
                    </a:p>
                  </a:txBody>
                  <a:tcPr marL="57150" marR="57150" marT="0" marB="0" anchor="ctr"/>
                </a:tc>
                <a:tc>
                  <a:txBody>
                    <a:bodyPr/>
                    <a:lstStyle/>
                    <a:p>
                      <a:pPr algn="ctr">
                        <a:lnSpc>
                          <a:spcPct val="115000"/>
                        </a:lnSpc>
                        <a:spcAft>
                          <a:spcPts val="0"/>
                        </a:spcAft>
                      </a:pPr>
                      <a:r>
                        <a:rPr lang="en-GB" sz="900">
                          <a:effectLst/>
                        </a:rPr>
                        <a:t>20</a:t>
                      </a:r>
                      <a:endParaRPr lang="en-GB" sz="900">
                        <a:effectLst/>
                        <a:latin typeface="Calibri"/>
                        <a:ea typeface="Calibri"/>
                        <a:cs typeface="Times New Roman"/>
                      </a:endParaRPr>
                    </a:p>
                  </a:txBody>
                  <a:tcPr marL="57150" marR="57150" marT="0" marB="0" anchor="ctr"/>
                </a:tc>
                <a:tc>
                  <a:txBody>
                    <a:bodyPr/>
                    <a:lstStyle/>
                    <a:p>
                      <a:pPr algn="ctr">
                        <a:lnSpc>
                          <a:spcPct val="115000"/>
                        </a:lnSpc>
                        <a:spcAft>
                          <a:spcPts val="0"/>
                        </a:spcAft>
                      </a:pPr>
                      <a:r>
                        <a:rPr lang="en-GB" sz="900">
                          <a:effectLst/>
                        </a:rPr>
                        <a:t>CS</a:t>
                      </a:r>
                      <a:endParaRPr lang="en-GB" sz="900">
                        <a:effectLst/>
                        <a:latin typeface="Calibri"/>
                        <a:ea typeface="Calibri"/>
                        <a:cs typeface="Times New Roman"/>
                      </a:endParaRPr>
                    </a:p>
                  </a:txBody>
                  <a:tcPr marL="57150" marR="57150" marT="0" marB="0" anchor="ctr"/>
                </a:tc>
                <a:extLst>
                  <a:ext uri="{0D108BD9-81ED-4DB2-BD59-A6C34878D82A}">
                    <a16:rowId xmlns:a16="http://schemas.microsoft.com/office/drawing/2014/main" val="10001"/>
                  </a:ext>
                </a:extLst>
              </a:tr>
              <a:tr h="447114">
                <a:tc>
                  <a:txBody>
                    <a:bodyPr/>
                    <a:lstStyle/>
                    <a:p>
                      <a:pPr algn="ctr">
                        <a:lnSpc>
                          <a:spcPct val="115000"/>
                        </a:lnSpc>
                        <a:spcAft>
                          <a:spcPts val="0"/>
                        </a:spcAft>
                      </a:pPr>
                      <a:r>
                        <a:rPr lang="en-GB" sz="900">
                          <a:effectLst/>
                        </a:rPr>
                        <a:t>102</a:t>
                      </a:r>
                      <a:endParaRPr lang="en-GB" sz="900">
                        <a:effectLst/>
                        <a:latin typeface="Calibri"/>
                        <a:ea typeface="Calibri"/>
                        <a:cs typeface="Times New Roman"/>
                      </a:endParaRPr>
                    </a:p>
                  </a:txBody>
                  <a:tcPr marL="57150" marR="57150" marT="0" marB="0" anchor="ctr"/>
                </a:tc>
                <a:tc>
                  <a:txBody>
                    <a:bodyPr/>
                    <a:lstStyle/>
                    <a:p>
                      <a:pPr algn="ctr">
                        <a:lnSpc>
                          <a:spcPct val="115000"/>
                        </a:lnSpc>
                        <a:spcAft>
                          <a:spcPts val="0"/>
                        </a:spcAft>
                      </a:pPr>
                      <a:r>
                        <a:rPr lang="en-GB" sz="900">
                          <a:effectLst/>
                        </a:rPr>
                        <a:t>Alice</a:t>
                      </a:r>
                      <a:endParaRPr lang="en-GB" sz="900">
                        <a:effectLst/>
                        <a:latin typeface="Calibri"/>
                        <a:ea typeface="Calibri"/>
                        <a:cs typeface="Times New Roman"/>
                      </a:endParaRPr>
                    </a:p>
                  </a:txBody>
                  <a:tcPr marL="57150" marR="57150" marT="0" marB="0" anchor="ctr"/>
                </a:tc>
                <a:tc>
                  <a:txBody>
                    <a:bodyPr/>
                    <a:lstStyle/>
                    <a:p>
                      <a:pPr algn="ctr">
                        <a:lnSpc>
                          <a:spcPct val="115000"/>
                        </a:lnSpc>
                        <a:spcAft>
                          <a:spcPts val="0"/>
                        </a:spcAft>
                      </a:pPr>
                      <a:r>
                        <a:rPr lang="en-GB" sz="900" dirty="0">
                          <a:effectLst/>
                        </a:rPr>
                        <a:t>22</a:t>
                      </a:r>
                      <a:endParaRPr lang="en-GB" sz="900" dirty="0">
                        <a:effectLst/>
                        <a:latin typeface="Calibri"/>
                        <a:ea typeface="Calibri"/>
                        <a:cs typeface="Times New Roman"/>
                      </a:endParaRPr>
                    </a:p>
                  </a:txBody>
                  <a:tcPr marL="57150" marR="57150" marT="0" marB="0" anchor="ctr"/>
                </a:tc>
                <a:tc>
                  <a:txBody>
                    <a:bodyPr/>
                    <a:lstStyle/>
                    <a:p>
                      <a:pPr algn="ctr">
                        <a:lnSpc>
                          <a:spcPct val="115000"/>
                        </a:lnSpc>
                        <a:spcAft>
                          <a:spcPts val="0"/>
                        </a:spcAft>
                      </a:pPr>
                      <a:r>
                        <a:rPr lang="en-GB" sz="900">
                          <a:effectLst/>
                        </a:rPr>
                        <a:t>EE</a:t>
                      </a:r>
                      <a:endParaRPr lang="en-GB" sz="900">
                        <a:effectLst/>
                        <a:latin typeface="Calibri"/>
                        <a:ea typeface="Calibri"/>
                        <a:cs typeface="Times New Roman"/>
                      </a:endParaRPr>
                    </a:p>
                  </a:txBody>
                  <a:tcPr marL="57150" marR="57150" marT="0" marB="0" anchor="ctr"/>
                </a:tc>
                <a:extLst>
                  <a:ext uri="{0D108BD9-81ED-4DB2-BD59-A6C34878D82A}">
                    <a16:rowId xmlns:a16="http://schemas.microsoft.com/office/drawing/2014/main" val="10002"/>
                  </a:ext>
                </a:extLst>
              </a:tr>
              <a:tr h="447114">
                <a:tc>
                  <a:txBody>
                    <a:bodyPr/>
                    <a:lstStyle/>
                    <a:p>
                      <a:pPr algn="ctr">
                        <a:lnSpc>
                          <a:spcPct val="115000"/>
                        </a:lnSpc>
                        <a:spcAft>
                          <a:spcPts val="0"/>
                        </a:spcAft>
                      </a:pPr>
                      <a:r>
                        <a:rPr lang="en-GB" sz="900">
                          <a:effectLst/>
                        </a:rPr>
                        <a:t>103</a:t>
                      </a:r>
                      <a:endParaRPr lang="en-GB" sz="900">
                        <a:effectLst/>
                        <a:latin typeface="Calibri"/>
                        <a:ea typeface="Calibri"/>
                        <a:cs typeface="Times New Roman"/>
                      </a:endParaRPr>
                    </a:p>
                  </a:txBody>
                  <a:tcPr marL="57150" marR="57150" marT="0" marB="0" anchor="ctr"/>
                </a:tc>
                <a:tc>
                  <a:txBody>
                    <a:bodyPr/>
                    <a:lstStyle/>
                    <a:p>
                      <a:pPr algn="ctr">
                        <a:lnSpc>
                          <a:spcPct val="115000"/>
                        </a:lnSpc>
                        <a:spcAft>
                          <a:spcPts val="0"/>
                        </a:spcAft>
                      </a:pPr>
                      <a:r>
                        <a:rPr lang="en-GB" sz="900" dirty="0">
                          <a:effectLst/>
                        </a:rPr>
                        <a:t>Bob</a:t>
                      </a:r>
                      <a:endParaRPr lang="en-GB" sz="900" dirty="0">
                        <a:effectLst/>
                        <a:latin typeface="Calibri"/>
                        <a:ea typeface="Calibri"/>
                        <a:cs typeface="Times New Roman"/>
                      </a:endParaRPr>
                    </a:p>
                  </a:txBody>
                  <a:tcPr marL="57150" marR="57150" marT="0" marB="0" anchor="ctr"/>
                </a:tc>
                <a:tc>
                  <a:txBody>
                    <a:bodyPr/>
                    <a:lstStyle/>
                    <a:p>
                      <a:pPr algn="ctr">
                        <a:lnSpc>
                          <a:spcPct val="115000"/>
                        </a:lnSpc>
                        <a:spcAft>
                          <a:spcPts val="0"/>
                        </a:spcAft>
                      </a:pPr>
                      <a:r>
                        <a:rPr lang="en-GB" sz="900">
                          <a:effectLst/>
                        </a:rPr>
                        <a:t>21</a:t>
                      </a:r>
                      <a:endParaRPr lang="en-GB" sz="900">
                        <a:effectLst/>
                        <a:latin typeface="Calibri"/>
                        <a:ea typeface="Calibri"/>
                        <a:cs typeface="Times New Roman"/>
                      </a:endParaRPr>
                    </a:p>
                  </a:txBody>
                  <a:tcPr marL="57150" marR="57150" marT="0" marB="0" anchor="ctr"/>
                </a:tc>
                <a:tc>
                  <a:txBody>
                    <a:bodyPr/>
                    <a:lstStyle/>
                    <a:p>
                      <a:pPr algn="ctr">
                        <a:lnSpc>
                          <a:spcPct val="115000"/>
                        </a:lnSpc>
                        <a:spcAft>
                          <a:spcPts val="0"/>
                        </a:spcAft>
                      </a:pPr>
                      <a:r>
                        <a:rPr lang="en-GB" sz="900">
                          <a:effectLst/>
                        </a:rPr>
                        <a:t>ME</a:t>
                      </a:r>
                      <a:endParaRPr lang="en-GB" sz="900">
                        <a:effectLst/>
                        <a:latin typeface="Calibri"/>
                        <a:ea typeface="Calibri"/>
                        <a:cs typeface="Times New Roman"/>
                      </a:endParaRPr>
                    </a:p>
                  </a:txBody>
                  <a:tcPr marL="57150" marR="57150" marT="0" marB="0" anchor="ctr"/>
                </a:tc>
                <a:extLst>
                  <a:ext uri="{0D108BD9-81ED-4DB2-BD59-A6C34878D82A}">
                    <a16:rowId xmlns:a16="http://schemas.microsoft.com/office/drawing/2014/main" val="10003"/>
                  </a:ext>
                </a:extLst>
              </a:tr>
              <a:tr h="447114">
                <a:tc>
                  <a:txBody>
                    <a:bodyPr/>
                    <a:lstStyle/>
                    <a:p>
                      <a:pPr algn="ctr">
                        <a:lnSpc>
                          <a:spcPct val="115000"/>
                        </a:lnSpc>
                        <a:spcAft>
                          <a:spcPts val="0"/>
                        </a:spcAft>
                      </a:pPr>
                      <a:r>
                        <a:rPr lang="en-GB" sz="900" dirty="0">
                          <a:effectLst/>
                        </a:rPr>
                        <a:t>104</a:t>
                      </a:r>
                      <a:endParaRPr lang="en-GB" sz="900" dirty="0">
                        <a:effectLst/>
                        <a:latin typeface="Calibri"/>
                        <a:ea typeface="Calibri"/>
                        <a:cs typeface="Times New Roman"/>
                      </a:endParaRPr>
                    </a:p>
                  </a:txBody>
                  <a:tcPr marL="57150" marR="57150" marT="0" marB="0" anchor="ctr"/>
                </a:tc>
                <a:tc>
                  <a:txBody>
                    <a:bodyPr/>
                    <a:lstStyle/>
                    <a:p>
                      <a:pPr algn="ctr">
                        <a:lnSpc>
                          <a:spcPct val="115000"/>
                        </a:lnSpc>
                        <a:spcAft>
                          <a:spcPts val="0"/>
                        </a:spcAft>
                      </a:pPr>
                      <a:r>
                        <a:rPr lang="en-GB" sz="900" dirty="0">
                          <a:effectLst/>
                        </a:rPr>
                        <a:t>Carol</a:t>
                      </a:r>
                      <a:endParaRPr lang="en-GB" sz="900" dirty="0">
                        <a:effectLst/>
                        <a:latin typeface="Calibri"/>
                        <a:ea typeface="Calibri"/>
                        <a:cs typeface="Times New Roman"/>
                      </a:endParaRPr>
                    </a:p>
                  </a:txBody>
                  <a:tcPr marL="57150" marR="57150" marT="0" marB="0" anchor="ctr"/>
                </a:tc>
                <a:tc>
                  <a:txBody>
                    <a:bodyPr/>
                    <a:lstStyle/>
                    <a:p>
                      <a:pPr algn="ctr">
                        <a:lnSpc>
                          <a:spcPct val="115000"/>
                        </a:lnSpc>
                        <a:spcAft>
                          <a:spcPts val="0"/>
                        </a:spcAft>
                      </a:pPr>
                      <a:r>
                        <a:rPr lang="en-GB" sz="900">
                          <a:effectLst/>
                        </a:rPr>
                        <a:t>23</a:t>
                      </a:r>
                      <a:endParaRPr lang="en-GB" sz="900">
                        <a:effectLst/>
                        <a:latin typeface="Calibri"/>
                        <a:ea typeface="Calibri"/>
                        <a:cs typeface="Times New Roman"/>
                      </a:endParaRPr>
                    </a:p>
                  </a:txBody>
                  <a:tcPr marL="57150" marR="57150" marT="0" marB="0" anchor="ctr"/>
                </a:tc>
                <a:tc>
                  <a:txBody>
                    <a:bodyPr/>
                    <a:lstStyle/>
                    <a:p>
                      <a:pPr algn="ctr">
                        <a:lnSpc>
                          <a:spcPct val="115000"/>
                        </a:lnSpc>
                        <a:spcAft>
                          <a:spcPts val="0"/>
                        </a:spcAft>
                      </a:pPr>
                      <a:r>
                        <a:rPr lang="en-GB" sz="900" dirty="0">
                          <a:effectLst/>
                        </a:rPr>
                        <a:t>CS</a:t>
                      </a:r>
                      <a:endParaRPr lang="en-GB" sz="900" dirty="0">
                        <a:effectLst/>
                        <a:latin typeface="Calibri"/>
                        <a:ea typeface="Calibri"/>
                        <a:cs typeface="Times New Roman"/>
                      </a:endParaRPr>
                    </a:p>
                  </a:txBody>
                  <a:tcPr marL="57150" marR="57150" marT="0" marB="0" anchor="ctr"/>
                </a:tc>
                <a:extLst>
                  <a:ext uri="{0D108BD9-81ED-4DB2-BD59-A6C34878D82A}">
                    <a16:rowId xmlns:a16="http://schemas.microsoft.com/office/drawing/2014/main" val="10004"/>
                  </a:ext>
                </a:extLst>
              </a:tr>
            </a:tbl>
          </a:graphicData>
        </a:graphic>
      </p:graphicFrame>
      <p:graphicFrame>
        <p:nvGraphicFramePr>
          <p:cNvPr id="4" name="Table 3"/>
          <p:cNvGraphicFramePr>
            <a:graphicFrameLocks noGrp="1"/>
          </p:cNvGraphicFramePr>
          <p:nvPr/>
        </p:nvGraphicFramePr>
        <p:xfrm>
          <a:off x="3492500" y="5715000"/>
          <a:ext cx="8001002" cy="952500"/>
        </p:xfrm>
        <a:graphic>
          <a:graphicData uri="http://schemas.openxmlformats.org/drawingml/2006/table">
            <a:tbl>
              <a:tblPr firstRow="1" firstCol="1" bandRow="1">
                <a:tableStyleId>{5C22544A-7EE6-4342-B048-85BDC9FD1C3A}</a:tableStyleId>
              </a:tblPr>
              <a:tblGrid>
                <a:gridCol w="1811548">
                  <a:extLst>
                    <a:ext uri="{9D8B030D-6E8A-4147-A177-3AD203B41FA5}">
                      <a16:colId xmlns:a16="http://schemas.microsoft.com/office/drawing/2014/main" val="20000"/>
                    </a:ext>
                  </a:extLst>
                </a:gridCol>
                <a:gridCol w="1811548">
                  <a:extLst>
                    <a:ext uri="{9D8B030D-6E8A-4147-A177-3AD203B41FA5}">
                      <a16:colId xmlns:a16="http://schemas.microsoft.com/office/drawing/2014/main" val="20001"/>
                    </a:ext>
                  </a:extLst>
                </a:gridCol>
                <a:gridCol w="1811548">
                  <a:extLst>
                    <a:ext uri="{9D8B030D-6E8A-4147-A177-3AD203B41FA5}">
                      <a16:colId xmlns:a16="http://schemas.microsoft.com/office/drawing/2014/main" val="20002"/>
                    </a:ext>
                  </a:extLst>
                </a:gridCol>
                <a:gridCol w="2566358">
                  <a:extLst>
                    <a:ext uri="{9D8B030D-6E8A-4147-A177-3AD203B41FA5}">
                      <a16:colId xmlns:a16="http://schemas.microsoft.com/office/drawing/2014/main" val="20003"/>
                    </a:ext>
                  </a:extLst>
                </a:gridCol>
              </a:tblGrid>
              <a:tr h="317500">
                <a:tc>
                  <a:txBody>
                    <a:bodyPr/>
                    <a:lstStyle/>
                    <a:p>
                      <a:pPr algn="ctr">
                        <a:lnSpc>
                          <a:spcPct val="115000"/>
                        </a:lnSpc>
                        <a:spcAft>
                          <a:spcPts val="0"/>
                        </a:spcAft>
                      </a:pPr>
                      <a:r>
                        <a:rPr lang="en-GB" sz="900">
                          <a:effectLst/>
                        </a:rPr>
                        <a:t>RollNo</a:t>
                      </a:r>
                      <a:endParaRPr lang="en-GB" sz="900">
                        <a:effectLst/>
                        <a:latin typeface="Calibri"/>
                        <a:ea typeface="Calibri"/>
                        <a:cs typeface="Times New Roman"/>
                      </a:endParaRPr>
                    </a:p>
                  </a:txBody>
                  <a:tcPr marL="57150" marR="57150" marT="0" marB="0" anchor="ctr"/>
                </a:tc>
                <a:tc>
                  <a:txBody>
                    <a:bodyPr/>
                    <a:lstStyle/>
                    <a:p>
                      <a:pPr algn="ctr">
                        <a:lnSpc>
                          <a:spcPct val="115000"/>
                        </a:lnSpc>
                        <a:spcAft>
                          <a:spcPts val="0"/>
                        </a:spcAft>
                      </a:pPr>
                      <a:r>
                        <a:rPr lang="en-GB" sz="900">
                          <a:effectLst/>
                        </a:rPr>
                        <a:t>Name</a:t>
                      </a:r>
                      <a:endParaRPr lang="en-GB" sz="900">
                        <a:effectLst/>
                        <a:latin typeface="Calibri"/>
                        <a:ea typeface="Calibri"/>
                        <a:cs typeface="Times New Roman"/>
                      </a:endParaRPr>
                    </a:p>
                  </a:txBody>
                  <a:tcPr marL="57150" marR="57150" marT="0" marB="0" anchor="ctr"/>
                </a:tc>
                <a:tc>
                  <a:txBody>
                    <a:bodyPr/>
                    <a:lstStyle/>
                    <a:p>
                      <a:pPr algn="ctr">
                        <a:lnSpc>
                          <a:spcPct val="115000"/>
                        </a:lnSpc>
                        <a:spcAft>
                          <a:spcPts val="0"/>
                        </a:spcAft>
                      </a:pPr>
                      <a:r>
                        <a:rPr lang="en-GB" sz="900">
                          <a:effectLst/>
                        </a:rPr>
                        <a:t>Age</a:t>
                      </a:r>
                      <a:endParaRPr lang="en-GB" sz="900">
                        <a:effectLst/>
                        <a:latin typeface="Calibri"/>
                        <a:ea typeface="Calibri"/>
                        <a:cs typeface="Times New Roman"/>
                      </a:endParaRPr>
                    </a:p>
                  </a:txBody>
                  <a:tcPr marL="57150" marR="57150" marT="0" marB="0" anchor="ctr"/>
                </a:tc>
                <a:tc>
                  <a:txBody>
                    <a:bodyPr/>
                    <a:lstStyle/>
                    <a:p>
                      <a:pPr algn="ctr">
                        <a:lnSpc>
                          <a:spcPct val="115000"/>
                        </a:lnSpc>
                        <a:spcAft>
                          <a:spcPts val="0"/>
                        </a:spcAft>
                      </a:pPr>
                      <a:r>
                        <a:rPr lang="en-GB" sz="900">
                          <a:effectLst/>
                        </a:rPr>
                        <a:t>Department</a:t>
                      </a:r>
                      <a:endParaRPr lang="en-GB" sz="900">
                        <a:effectLst/>
                        <a:latin typeface="Calibri"/>
                        <a:ea typeface="Calibri"/>
                        <a:cs typeface="Times New Roman"/>
                      </a:endParaRPr>
                    </a:p>
                  </a:txBody>
                  <a:tcPr marL="57150" marR="57150" marT="0" marB="0" anchor="ctr"/>
                </a:tc>
                <a:extLst>
                  <a:ext uri="{0D108BD9-81ED-4DB2-BD59-A6C34878D82A}">
                    <a16:rowId xmlns:a16="http://schemas.microsoft.com/office/drawing/2014/main" val="10000"/>
                  </a:ext>
                </a:extLst>
              </a:tr>
              <a:tr h="317500">
                <a:tc>
                  <a:txBody>
                    <a:bodyPr/>
                    <a:lstStyle/>
                    <a:p>
                      <a:pPr algn="ctr">
                        <a:lnSpc>
                          <a:spcPct val="115000"/>
                        </a:lnSpc>
                        <a:spcAft>
                          <a:spcPts val="0"/>
                        </a:spcAft>
                      </a:pPr>
                      <a:r>
                        <a:rPr lang="en-GB" sz="900">
                          <a:effectLst/>
                        </a:rPr>
                        <a:t>101</a:t>
                      </a:r>
                      <a:endParaRPr lang="en-GB" sz="900">
                        <a:effectLst/>
                        <a:latin typeface="Calibri"/>
                        <a:ea typeface="Calibri"/>
                        <a:cs typeface="Times New Roman"/>
                      </a:endParaRPr>
                    </a:p>
                  </a:txBody>
                  <a:tcPr marL="57150" marR="57150" marT="0" marB="0" anchor="ctr"/>
                </a:tc>
                <a:tc>
                  <a:txBody>
                    <a:bodyPr/>
                    <a:lstStyle/>
                    <a:p>
                      <a:pPr algn="ctr">
                        <a:lnSpc>
                          <a:spcPct val="115000"/>
                        </a:lnSpc>
                        <a:spcAft>
                          <a:spcPts val="0"/>
                        </a:spcAft>
                      </a:pPr>
                      <a:r>
                        <a:rPr lang="en-GB" sz="900">
                          <a:effectLst/>
                        </a:rPr>
                        <a:t>John</a:t>
                      </a:r>
                      <a:endParaRPr lang="en-GB" sz="900">
                        <a:effectLst/>
                        <a:latin typeface="Calibri"/>
                        <a:ea typeface="Calibri"/>
                        <a:cs typeface="Times New Roman"/>
                      </a:endParaRPr>
                    </a:p>
                  </a:txBody>
                  <a:tcPr marL="57150" marR="57150" marT="0" marB="0" anchor="ctr"/>
                </a:tc>
                <a:tc>
                  <a:txBody>
                    <a:bodyPr/>
                    <a:lstStyle/>
                    <a:p>
                      <a:pPr algn="ctr">
                        <a:lnSpc>
                          <a:spcPct val="115000"/>
                        </a:lnSpc>
                        <a:spcAft>
                          <a:spcPts val="0"/>
                        </a:spcAft>
                      </a:pPr>
                      <a:r>
                        <a:rPr lang="en-GB" sz="900">
                          <a:effectLst/>
                        </a:rPr>
                        <a:t>20</a:t>
                      </a:r>
                      <a:endParaRPr lang="en-GB" sz="900">
                        <a:effectLst/>
                        <a:latin typeface="Calibri"/>
                        <a:ea typeface="Calibri"/>
                        <a:cs typeface="Times New Roman"/>
                      </a:endParaRPr>
                    </a:p>
                  </a:txBody>
                  <a:tcPr marL="57150" marR="57150" marT="0" marB="0" anchor="ctr"/>
                </a:tc>
                <a:tc>
                  <a:txBody>
                    <a:bodyPr/>
                    <a:lstStyle/>
                    <a:p>
                      <a:pPr algn="ctr">
                        <a:lnSpc>
                          <a:spcPct val="115000"/>
                        </a:lnSpc>
                        <a:spcAft>
                          <a:spcPts val="0"/>
                        </a:spcAft>
                      </a:pPr>
                      <a:r>
                        <a:rPr lang="en-GB" sz="900">
                          <a:effectLst/>
                        </a:rPr>
                        <a:t>CS</a:t>
                      </a:r>
                      <a:endParaRPr lang="en-GB" sz="900">
                        <a:effectLst/>
                        <a:latin typeface="Calibri"/>
                        <a:ea typeface="Calibri"/>
                        <a:cs typeface="Times New Roman"/>
                      </a:endParaRPr>
                    </a:p>
                  </a:txBody>
                  <a:tcPr marL="57150" marR="57150" marT="0" marB="0" anchor="ctr"/>
                </a:tc>
                <a:extLst>
                  <a:ext uri="{0D108BD9-81ED-4DB2-BD59-A6C34878D82A}">
                    <a16:rowId xmlns:a16="http://schemas.microsoft.com/office/drawing/2014/main" val="10001"/>
                  </a:ext>
                </a:extLst>
              </a:tr>
              <a:tr h="317500">
                <a:tc>
                  <a:txBody>
                    <a:bodyPr/>
                    <a:lstStyle/>
                    <a:p>
                      <a:pPr algn="ctr">
                        <a:lnSpc>
                          <a:spcPct val="115000"/>
                        </a:lnSpc>
                        <a:spcAft>
                          <a:spcPts val="0"/>
                        </a:spcAft>
                      </a:pPr>
                      <a:r>
                        <a:rPr lang="en-GB" sz="900">
                          <a:effectLst/>
                        </a:rPr>
                        <a:t>104</a:t>
                      </a:r>
                      <a:endParaRPr lang="en-GB" sz="900">
                        <a:effectLst/>
                        <a:latin typeface="Calibri"/>
                        <a:ea typeface="Calibri"/>
                        <a:cs typeface="Times New Roman"/>
                      </a:endParaRPr>
                    </a:p>
                  </a:txBody>
                  <a:tcPr marL="57150" marR="57150" marT="0" marB="0" anchor="ctr"/>
                </a:tc>
                <a:tc>
                  <a:txBody>
                    <a:bodyPr/>
                    <a:lstStyle/>
                    <a:p>
                      <a:pPr algn="ctr">
                        <a:lnSpc>
                          <a:spcPct val="115000"/>
                        </a:lnSpc>
                        <a:spcAft>
                          <a:spcPts val="0"/>
                        </a:spcAft>
                      </a:pPr>
                      <a:r>
                        <a:rPr lang="en-GB" sz="900">
                          <a:effectLst/>
                        </a:rPr>
                        <a:t>Carol</a:t>
                      </a:r>
                      <a:endParaRPr lang="en-GB" sz="900">
                        <a:effectLst/>
                        <a:latin typeface="Calibri"/>
                        <a:ea typeface="Calibri"/>
                        <a:cs typeface="Times New Roman"/>
                      </a:endParaRPr>
                    </a:p>
                  </a:txBody>
                  <a:tcPr marL="57150" marR="57150" marT="0" marB="0" anchor="ctr"/>
                </a:tc>
                <a:tc>
                  <a:txBody>
                    <a:bodyPr/>
                    <a:lstStyle/>
                    <a:p>
                      <a:pPr algn="ctr">
                        <a:lnSpc>
                          <a:spcPct val="115000"/>
                        </a:lnSpc>
                        <a:spcAft>
                          <a:spcPts val="0"/>
                        </a:spcAft>
                      </a:pPr>
                      <a:r>
                        <a:rPr lang="en-GB" sz="900">
                          <a:effectLst/>
                        </a:rPr>
                        <a:t>23</a:t>
                      </a:r>
                      <a:endParaRPr lang="en-GB" sz="900">
                        <a:effectLst/>
                        <a:latin typeface="Calibri"/>
                        <a:ea typeface="Calibri"/>
                        <a:cs typeface="Times New Roman"/>
                      </a:endParaRPr>
                    </a:p>
                  </a:txBody>
                  <a:tcPr marL="57150" marR="57150" marT="0" marB="0" anchor="ctr"/>
                </a:tc>
                <a:tc>
                  <a:txBody>
                    <a:bodyPr/>
                    <a:lstStyle/>
                    <a:p>
                      <a:pPr algn="ctr">
                        <a:lnSpc>
                          <a:spcPct val="115000"/>
                        </a:lnSpc>
                        <a:spcAft>
                          <a:spcPts val="0"/>
                        </a:spcAft>
                      </a:pPr>
                      <a:r>
                        <a:rPr lang="en-GB" sz="900" dirty="0">
                          <a:effectLst/>
                        </a:rPr>
                        <a:t>CS</a:t>
                      </a:r>
                      <a:endParaRPr lang="en-GB" sz="900" dirty="0">
                        <a:effectLst/>
                        <a:latin typeface="Calibri"/>
                        <a:ea typeface="Calibri"/>
                        <a:cs typeface="Times New Roman"/>
                      </a:endParaRPr>
                    </a:p>
                  </a:txBody>
                  <a:tcPr marL="57150" marR="57150" marT="0" marB="0" anchor="ctr"/>
                </a:tc>
                <a:extLst>
                  <a:ext uri="{0D108BD9-81ED-4DB2-BD59-A6C34878D82A}">
                    <a16:rowId xmlns:a16="http://schemas.microsoft.com/office/drawing/2014/main" val="10002"/>
                  </a:ext>
                </a:extLst>
              </a:tr>
            </a:tbl>
          </a:graphicData>
        </a:graphic>
      </p:graphicFrame>
    </p:spTree>
    <p:extLst>
      <p:ext uri="{BB962C8B-B14F-4D97-AF65-F5344CB8AC3E}">
        <p14:creationId xmlns:p14="http://schemas.microsoft.com/office/powerpoint/2010/main" val="998277044"/>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6">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6">
                                            <p:txEl>
                                              <p:pRg st="7" end="7"/>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grpId="0" nodeType="clickEffect">
                                  <p:stCondLst>
                                    <p:cond delay="0"/>
                                  </p:stCondLst>
                                  <p:childTnLst>
                                    <p:set>
                                      <p:cBhvr>
                                        <p:cTn id="14" dur="1" fill="hold">
                                          <p:stCondLst>
                                            <p:cond delay="0"/>
                                          </p:stCondLst>
                                        </p:cTn>
                                        <p:tgtEl>
                                          <p:spTgt spid="6">
                                            <p:txEl>
                                              <p:pRg st="8" end="8"/>
                                            </p:txEl>
                                          </p:spTgt>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grpId="0" nodeType="clickEffect">
                                  <p:stCondLst>
                                    <p:cond delay="0"/>
                                  </p:stCondLst>
                                  <p:childTnLst>
                                    <p:set>
                                      <p:cBhvr>
                                        <p:cTn id="18" dur="1" fill="hold">
                                          <p:stCondLst>
                                            <p:cond delay="0"/>
                                          </p:stCondLst>
                                        </p:cTn>
                                        <p:tgtEl>
                                          <p:spTgt spid="6">
                                            <p:txEl>
                                              <p:pRg st="9" end="9"/>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6" grpId="0" build="p"/>
    </p:bldLst>
  </p:timing>
</p:sld>
</file>

<file path=ppt/slides/slide1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762000" y="127000"/>
            <a:ext cx="10163100" cy="838202"/>
          </a:xfrm>
        </p:spPr>
        <p:txBody>
          <a:bodyPr/>
          <a:lstStyle/>
          <a:p>
            <a:r>
              <a:rPr lang="en-IN" b="1" dirty="0"/>
              <a:t>Relational algebra operations continued..</a:t>
            </a:r>
          </a:p>
        </p:txBody>
      </p:sp>
      <p:sp>
        <p:nvSpPr>
          <p:cNvPr id="6" name="Text Placeholder 5"/>
          <p:cNvSpPr>
            <a:spLocks noGrp="1"/>
          </p:cNvSpPr>
          <p:nvPr>
            <p:ph type="body" sz="quarter" idx="17"/>
          </p:nvPr>
        </p:nvSpPr>
        <p:spPr>
          <a:xfrm>
            <a:off x="254000" y="762000"/>
            <a:ext cx="11938000" cy="6029343"/>
          </a:xfrm>
          <a:prstGeom prst="rect">
            <a:avLst/>
          </a:prstGeom>
        </p:spPr>
        <p:txBody>
          <a:bodyPr wrap="square">
            <a:spAutoFit/>
          </a:bodyPr>
          <a:lstStyle/>
          <a:p>
            <a:pPr marL="0" indent="0">
              <a:buNone/>
            </a:pPr>
            <a:r>
              <a:rPr lang="en-US" b="1" dirty="0"/>
              <a:t>2. Projection (π)</a:t>
            </a:r>
          </a:p>
          <a:p>
            <a:pPr marL="0" indent="0">
              <a:buNone/>
            </a:pPr>
            <a:r>
              <a:rPr lang="en-US" b="1" dirty="0"/>
              <a:t>Purpose</a:t>
            </a:r>
            <a:r>
              <a:rPr lang="en-US" dirty="0"/>
              <a:t>: Extracts specific </a:t>
            </a:r>
            <a:r>
              <a:rPr lang="en-US" b="1" dirty="0"/>
              <a:t>columns</a:t>
            </a:r>
            <a:r>
              <a:rPr lang="en-US" dirty="0"/>
              <a:t> (attributes) from a relation.</a:t>
            </a:r>
          </a:p>
          <a:p>
            <a:pPr marL="0" indent="0">
              <a:buNone/>
            </a:pPr>
            <a:r>
              <a:rPr lang="en-US" b="1" dirty="0"/>
              <a:t>Operation</a:t>
            </a:r>
            <a:r>
              <a:rPr lang="en-US" dirty="0"/>
              <a:t>: The projection operation selects </a:t>
            </a:r>
            <a:r>
              <a:rPr lang="en-US" b="1" dirty="0"/>
              <a:t>certain columns</a:t>
            </a:r>
            <a:r>
              <a:rPr lang="en-US" dirty="0"/>
              <a:t> and eliminates duplicates if necessary. The Greek letter pi (π) is used to represent the projection operator. </a:t>
            </a:r>
          </a:p>
          <a:p>
            <a:pPr marL="0" indent="0">
              <a:buNone/>
            </a:pPr>
            <a:r>
              <a:rPr lang="en-US" b="1" dirty="0"/>
              <a:t>Syntax</a:t>
            </a:r>
            <a:r>
              <a:rPr lang="en-US" dirty="0"/>
              <a:t>: </a:t>
            </a:r>
            <a:r>
              <a:rPr lang="el-GR" dirty="0"/>
              <a:t>π(</a:t>
            </a:r>
            <a:r>
              <a:rPr lang="en-US" dirty="0"/>
              <a:t>Column1, Column2, ...)(Relation)    </a:t>
            </a:r>
            <a:r>
              <a:rPr lang="en-US" dirty="0" err="1"/>
              <a:t>eg</a:t>
            </a:r>
            <a:r>
              <a:rPr lang="en-US" dirty="0"/>
              <a:t>:</a:t>
            </a:r>
            <a:r>
              <a:rPr lang="en-GB" dirty="0"/>
              <a:t>∏</a:t>
            </a:r>
            <a:r>
              <a:rPr lang="en-GB" sz="1500" dirty="0" err="1"/>
              <a:t>Roll_no,Name</a:t>
            </a:r>
            <a:r>
              <a:rPr lang="en-GB" dirty="0"/>
              <a:t>(Students)</a:t>
            </a:r>
            <a:endParaRPr lang="en-US" dirty="0"/>
          </a:p>
          <a:p>
            <a:pPr marL="0" indent="0">
              <a:buNone/>
            </a:pPr>
            <a:r>
              <a:rPr lang="en-US" b="1" dirty="0"/>
              <a:t>Example</a:t>
            </a:r>
            <a:r>
              <a:rPr lang="en-US" dirty="0"/>
              <a:t>: Using the same Students relation, suppose you want to display only the Name and Department of the students:</a:t>
            </a:r>
          </a:p>
          <a:p>
            <a:pPr marL="0" indent="0">
              <a:buNone/>
            </a:pPr>
            <a:r>
              <a:rPr lang="el-GR" dirty="0"/>
              <a:t>Π</a:t>
            </a:r>
            <a:r>
              <a:rPr lang="en-US" dirty="0"/>
              <a:t> </a:t>
            </a:r>
            <a:r>
              <a:rPr lang="el-GR" sz="1500" dirty="0"/>
              <a:t>(</a:t>
            </a:r>
            <a:r>
              <a:rPr lang="en-US" sz="1500" dirty="0"/>
              <a:t>Name, Department) </a:t>
            </a:r>
            <a:r>
              <a:rPr lang="en-US" dirty="0"/>
              <a:t>(Students)</a:t>
            </a:r>
          </a:p>
          <a:p>
            <a:pPr marL="0" indent="0">
              <a:buNone/>
            </a:pPr>
            <a:r>
              <a:rPr lang="en-GB" b="1" dirty="0"/>
              <a:t>Result</a:t>
            </a:r>
            <a:r>
              <a:rPr lang="en-GB" dirty="0"/>
              <a:t>: </a:t>
            </a:r>
          </a:p>
          <a:p>
            <a:pPr marL="0" indent="0">
              <a:buNone/>
            </a:pPr>
            <a:r>
              <a:rPr lang="en-US" b="1" i="1" dirty="0"/>
              <a:t>Example: </a:t>
            </a:r>
            <a:r>
              <a:rPr lang="en-US" i="1" dirty="0"/>
              <a:t>Retrieve </a:t>
            </a:r>
            <a:r>
              <a:rPr lang="en-US" i="1" dirty="0" err="1"/>
              <a:t>Roll_no</a:t>
            </a:r>
            <a:r>
              <a:rPr lang="en-US" i="1" dirty="0"/>
              <a:t>, </a:t>
            </a:r>
          </a:p>
          <a:p>
            <a:pPr marL="0" indent="0">
              <a:buNone/>
            </a:pPr>
            <a:r>
              <a:rPr lang="en-US" i="1" dirty="0"/>
              <a:t>Name of the students who </a:t>
            </a:r>
            <a:r>
              <a:rPr lang="en-US" i="1" dirty="0" err="1"/>
              <a:t>admited</a:t>
            </a:r>
            <a:r>
              <a:rPr lang="en-US" i="1" dirty="0"/>
              <a:t> in CSE       </a:t>
            </a:r>
            <a:r>
              <a:rPr lang="en-GB" dirty="0"/>
              <a:t>∏</a:t>
            </a:r>
            <a:r>
              <a:rPr lang="en-GB" sz="1667" dirty="0" err="1"/>
              <a:t>R</a:t>
            </a:r>
            <a:r>
              <a:rPr lang="en-GB" sz="1500" dirty="0" err="1"/>
              <a:t>oll_no,Name</a:t>
            </a:r>
            <a:r>
              <a:rPr lang="en-GB" dirty="0"/>
              <a:t>(</a:t>
            </a:r>
            <a:r>
              <a:rPr lang="el-GR" dirty="0"/>
              <a:t>σ</a:t>
            </a:r>
            <a:r>
              <a:rPr lang="en-GB" sz="1667" dirty="0"/>
              <a:t>Branch='</a:t>
            </a:r>
            <a:r>
              <a:rPr lang="en-GB" sz="1667" dirty="0" err="1"/>
              <a:t>cse</a:t>
            </a:r>
            <a:r>
              <a:rPr lang="en-GB" dirty="0"/>
              <a:t>'(Students)</a:t>
            </a:r>
            <a:br>
              <a:rPr lang="en-GB" dirty="0"/>
            </a:br>
            <a:endParaRPr lang="en-US" dirty="0"/>
          </a:p>
          <a:p>
            <a:pPr marL="0" indent="0" algn="just">
              <a:buNone/>
            </a:pPr>
            <a:endParaRPr lang="en-IN" dirty="0"/>
          </a:p>
        </p:txBody>
      </p:sp>
      <p:graphicFrame>
        <p:nvGraphicFramePr>
          <p:cNvPr id="3" name="Table 2"/>
          <p:cNvGraphicFramePr>
            <a:graphicFrameLocks noGrp="1"/>
          </p:cNvGraphicFramePr>
          <p:nvPr/>
        </p:nvGraphicFramePr>
        <p:xfrm>
          <a:off x="5778500" y="4254500"/>
          <a:ext cx="5651500" cy="1587502"/>
        </p:xfrm>
        <a:graphic>
          <a:graphicData uri="http://schemas.openxmlformats.org/drawingml/2006/table">
            <a:tbl>
              <a:tblPr firstRow="1" firstCol="1" bandRow="1">
                <a:tableStyleId>{5C22544A-7EE6-4342-B048-85BDC9FD1C3A}</a:tableStyleId>
              </a:tblPr>
              <a:tblGrid>
                <a:gridCol w="2379578">
                  <a:extLst>
                    <a:ext uri="{9D8B030D-6E8A-4147-A177-3AD203B41FA5}">
                      <a16:colId xmlns:a16="http://schemas.microsoft.com/office/drawing/2014/main" val="20000"/>
                    </a:ext>
                  </a:extLst>
                </a:gridCol>
                <a:gridCol w="3271922">
                  <a:extLst>
                    <a:ext uri="{9D8B030D-6E8A-4147-A177-3AD203B41FA5}">
                      <a16:colId xmlns:a16="http://schemas.microsoft.com/office/drawing/2014/main" val="20001"/>
                    </a:ext>
                  </a:extLst>
                </a:gridCol>
              </a:tblGrid>
              <a:tr h="522898">
                <a:tc>
                  <a:txBody>
                    <a:bodyPr/>
                    <a:lstStyle/>
                    <a:p>
                      <a:pPr algn="ctr">
                        <a:lnSpc>
                          <a:spcPct val="115000"/>
                        </a:lnSpc>
                        <a:spcAft>
                          <a:spcPts val="0"/>
                        </a:spcAft>
                      </a:pPr>
                      <a:r>
                        <a:rPr lang="en-GB" sz="900" dirty="0">
                          <a:effectLst/>
                        </a:rPr>
                        <a:t>Name</a:t>
                      </a:r>
                      <a:endParaRPr lang="en-GB" sz="900" dirty="0">
                        <a:effectLst/>
                        <a:latin typeface="Calibri"/>
                        <a:ea typeface="Calibri"/>
                        <a:cs typeface="Times New Roman"/>
                      </a:endParaRPr>
                    </a:p>
                  </a:txBody>
                  <a:tcPr marL="57150" marR="57150" marT="0" marB="0" anchor="ctr"/>
                </a:tc>
                <a:tc>
                  <a:txBody>
                    <a:bodyPr/>
                    <a:lstStyle/>
                    <a:p>
                      <a:pPr algn="ctr">
                        <a:lnSpc>
                          <a:spcPct val="115000"/>
                        </a:lnSpc>
                        <a:spcAft>
                          <a:spcPts val="0"/>
                        </a:spcAft>
                      </a:pPr>
                      <a:r>
                        <a:rPr lang="en-GB" sz="900" dirty="0">
                          <a:effectLst/>
                        </a:rPr>
                        <a:t>Department</a:t>
                      </a:r>
                      <a:endParaRPr lang="en-GB" sz="900" dirty="0">
                        <a:effectLst/>
                        <a:latin typeface="Calibri"/>
                        <a:ea typeface="Calibri"/>
                        <a:cs typeface="Times New Roman"/>
                      </a:endParaRPr>
                    </a:p>
                  </a:txBody>
                  <a:tcPr marL="57150" marR="57150" marT="0" marB="0" anchor="ctr"/>
                </a:tc>
                <a:extLst>
                  <a:ext uri="{0D108BD9-81ED-4DB2-BD59-A6C34878D82A}">
                    <a16:rowId xmlns:a16="http://schemas.microsoft.com/office/drawing/2014/main" val="10000"/>
                  </a:ext>
                </a:extLst>
              </a:tr>
              <a:tr h="266151">
                <a:tc>
                  <a:txBody>
                    <a:bodyPr/>
                    <a:lstStyle/>
                    <a:p>
                      <a:pPr algn="ctr">
                        <a:lnSpc>
                          <a:spcPct val="115000"/>
                        </a:lnSpc>
                        <a:spcAft>
                          <a:spcPts val="0"/>
                        </a:spcAft>
                      </a:pPr>
                      <a:r>
                        <a:rPr lang="en-GB" sz="900">
                          <a:effectLst/>
                        </a:rPr>
                        <a:t>John</a:t>
                      </a:r>
                      <a:endParaRPr lang="en-GB" sz="900">
                        <a:effectLst/>
                        <a:latin typeface="Calibri"/>
                        <a:ea typeface="Calibri"/>
                        <a:cs typeface="Times New Roman"/>
                      </a:endParaRPr>
                    </a:p>
                  </a:txBody>
                  <a:tcPr marL="57150" marR="57150" marT="0" marB="0" anchor="ctr"/>
                </a:tc>
                <a:tc>
                  <a:txBody>
                    <a:bodyPr/>
                    <a:lstStyle/>
                    <a:p>
                      <a:pPr algn="ctr">
                        <a:lnSpc>
                          <a:spcPct val="115000"/>
                        </a:lnSpc>
                        <a:spcAft>
                          <a:spcPts val="0"/>
                        </a:spcAft>
                      </a:pPr>
                      <a:r>
                        <a:rPr lang="en-GB" sz="900">
                          <a:effectLst/>
                        </a:rPr>
                        <a:t>CS</a:t>
                      </a:r>
                      <a:endParaRPr lang="en-GB" sz="900">
                        <a:effectLst/>
                        <a:latin typeface="Calibri"/>
                        <a:ea typeface="Calibri"/>
                        <a:cs typeface="Times New Roman"/>
                      </a:endParaRPr>
                    </a:p>
                  </a:txBody>
                  <a:tcPr marL="57150" marR="57150" marT="0" marB="0" anchor="ctr"/>
                </a:tc>
                <a:extLst>
                  <a:ext uri="{0D108BD9-81ED-4DB2-BD59-A6C34878D82A}">
                    <a16:rowId xmlns:a16="http://schemas.microsoft.com/office/drawing/2014/main" val="10001"/>
                  </a:ext>
                </a:extLst>
              </a:tr>
              <a:tr h="266151">
                <a:tc>
                  <a:txBody>
                    <a:bodyPr/>
                    <a:lstStyle/>
                    <a:p>
                      <a:pPr algn="ctr">
                        <a:lnSpc>
                          <a:spcPct val="115000"/>
                        </a:lnSpc>
                        <a:spcAft>
                          <a:spcPts val="0"/>
                        </a:spcAft>
                      </a:pPr>
                      <a:r>
                        <a:rPr lang="en-GB" sz="900">
                          <a:effectLst/>
                        </a:rPr>
                        <a:t>Alice</a:t>
                      </a:r>
                      <a:endParaRPr lang="en-GB" sz="900">
                        <a:effectLst/>
                        <a:latin typeface="Calibri"/>
                        <a:ea typeface="Calibri"/>
                        <a:cs typeface="Times New Roman"/>
                      </a:endParaRPr>
                    </a:p>
                  </a:txBody>
                  <a:tcPr marL="57150" marR="57150" marT="0" marB="0" anchor="ctr"/>
                </a:tc>
                <a:tc>
                  <a:txBody>
                    <a:bodyPr/>
                    <a:lstStyle/>
                    <a:p>
                      <a:pPr algn="ctr">
                        <a:lnSpc>
                          <a:spcPct val="115000"/>
                        </a:lnSpc>
                        <a:spcAft>
                          <a:spcPts val="0"/>
                        </a:spcAft>
                      </a:pPr>
                      <a:r>
                        <a:rPr lang="en-GB" sz="900">
                          <a:effectLst/>
                        </a:rPr>
                        <a:t>EE</a:t>
                      </a:r>
                      <a:endParaRPr lang="en-GB" sz="900">
                        <a:effectLst/>
                        <a:latin typeface="Calibri"/>
                        <a:ea typeface="Calibri"/>
                        <a:cs typeface="Times New Roman"/>
                      </a:endParaRPr>
                    </a:p>
                  </a:txBody>
                  <a:tcPr marL="57150" marR="57150" marT="0" marB="0" anchor="ctr"/>
                </a:tc>
                <a:extLst>
                  <a:ext uri="{0D108BD9-81ED-4DB2-BD59-A6C34878D82A}">
                    <a16:rowId xmlns:a16="http://schemas.microsoft.com/office/drawing/2014/main" val="10002"/>
                  </a:ext>
                </a:extLst>
              </a:tr>
              <a:tr h="266151">
                <a:tc>
                  <a:txBody>
                    <a:bodyPr/>
                    <a:lstStyle/>
                    <a:p>
                      <a:pPr algn="ctr">
                        <a:lnSpc>
                          <a:spcPct val="115000"/>
                        </a:lnSpc>
                        <a:spcAft>
                          <a:spcPts val="0"/>
                        </a:spcAft>
                      </a:pPr>
                      <a:r>
                        <a:rPr lang="en-GB" sz="900">
                          <a:effectLst/>
                        </a:rPr>
                        <a:t>Bob</a:t>
                      </a:r>
                      <a:endParaRPr lang="en-GB" sz="900">
                        <a:effectLst/>
                        <a:latin typeface="Calibri"/>
                        <a:ea typeface="Calibri"/>
                        <a:cs typeface="Times New Roman"/>
                      </a:endParaRPr>
                    </a:p>
                  </a:txBody>
                  <a:tcPr marL="57150" marR="57150" marT="0" marB="0" anchor="ctr"/>
                </a:tc>
                <a:tc>
                  <a:txBody>
                    <a:bodyPr/>
                    <a:lstStyle/>
                    <a:p>
                      <a:pPr algn="ctr">
                        <a:lnSpc>
                          <a:spcPct val="115000"/>
                        </a:lnSpc>
                        <a:spcAft>
                          <a:spcPts val="0"/>
                        </a:spcAft>
                      </a:pPr>
                      <a:r>
                        <a:rPr lang="en-GB" sz="900">
                          <a:effectLst/>
                        </a:rPr>
                        <a:t>ME</a:t>
                      </a:r>
                      <a:endParaRPr lang="en-GB" sz="900">
                        <a:effectLst/>
                        <a:latin typeface="Calibri"/>
                        <a:ea typeface="Calibri"/>
                        <a:cs typeface="Times New Roman"/>
                      </a:endParaRPr>
                    </a:p>
                  </a:txBody>
                  <a:tcPr marL="57150" marR="57150" marT="0" marB="0" anchor="ctr"/>
                </a:tc>
                <a:extLst>
                  <a:ext uri="{0D108BD9-81ED-4DB2-BD59-A6C34878D82A}">
                    <a16:rowId xmlns:a16="http://schemas.microsoft.com/office/drawing/2014/main" val="10003"/>
                  </a:ext>
                </a:extLst>
              </a:tr>
              <a:tr h="266151">
                <a:tc>
                  <a:txBody>
                    <a:bodyPr/>
                    <a:lstStyle/>
                    <a:p>
                      <a:pPr algn="ctr">
                        <a:lnSpc>
                          <a:spcPct val="115000"/>
                        </a:lnSpc>
                        <a:spcAft>
                          <a:spcPts val="0"/>
                        </a:spcAft>
                      </a:pPr>
                      <a:r>
                        <a:rPr lang="en-GB" sz="900" dirty="0">
                          <a:effectLst/>
                        </a:rPr>
                        <a:t>Carol</a:t>
                      </a:r>
                      <a:endParaRPr lang="en-GB" sz="900" dirty="0">
                        <a:effectLst/>
                        <a:latin typeface="Calibri"/>
                        <a:ea typeface="Calibri"/>
                        <a:cs typeface="Times New Roman"/>
                      </a:endParaRPr>
                    </a:p>
                  </a:txBody>
                  <a:tcPr marL="57150" marR="57150" marT="0" marB="0" anchor="ctr"/>
                </a:tc>
                <a:tc>
                  <a:txBody>
                    <a:bodyPr/>
                    <a:lstStyle/>
                    <a:p>
                      <a:pPr algn="ctr">
                        <a:lnSpc>
                          <a:spcPct val="115000"/>
                        </a:lnSpc>
                        <a:spcAft>
                          <a:spcPts val="0"/>
                        </a:spcAft>
                      </a:pPr>
                      <a:r>
                        <a:rPr lang="en-GB" sz="900" dirty="0">
                          <a:effectLst/>
                        </a:rPr>
                        <a:t>CS</a:t>
                      </a:r>
                      <a:endParaRPr lang="en-GB" sz="900" dirty="0">
                        <a:effectLst/>
                        <a:latin typeface="Calibri"/>
                        <a:ea typeface="Calibri"/>
                        <a:cs typeface="Times New Roman"/>
                      </a:endParaRPr>
                    </a:p>
                  </a:txBody>
                  <a:tcPr marL="57150" marR="57150" marT="0" marB="0" anchor="ctr"/>
                </a:tc>
                <a:extLst>
                  <a:ext uri="{0D108BD9-81ED-4DB2-BD59-A6C34878D82A}">
                    <a16:rowId xmlns:a16="http://schemas.microsoft.com/office/drawing/2014/main" val="10004"/>
                  </a:ext>
                </a:extLst>
              </a:tr>
            </a:tbl>
          </a:graphicData>
        </a:graphic>
      </p:graphicFrame>
    </p:spTree>
    <p:extLst>
      <p:ext uri="{BB962C8B-B14F-4D97-AF65-F5344CB8AC3E}">
        <p14:creationId xmlns:p14="http://schemas.microsoft.com/office/powerpoint/2010/main" val="876792246"/>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6">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6">
                                            <p:txEl>
                                              <p:pRg st="1" end="1"/>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grpId="0" nodeType="clickEffect">
                                  <p:stCondLst>
                                    <p:cond delay="0"/>
                                  </p:stCondLst>
                                  <p:childTnLst>
                                    <p:set>
                                      <p:cBhvr>
                                        <p:cTn id="14" dur="1" fill="hold">
                                          <p:stCondLst>
                                            <p:cond delay="0"/>
                                          </p:stCondLst>
                                        </p:cTn>
                                        <p:tgtEl>
                                          <p:spTgt spid="6">
                                            <p:txEl>
                                              <p:pRg st="2" end="2"/>
                                            </p:txEl>
                                          </p:spTgt>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grpId="0" nodeType="clickEffect">
                                  <p:stCondLst>
                                    <p:cond delay="0"/>
                                  </p:stCondLst>
                                  <p:childTnLst>
                                    <p:set>
                                      <p:cBhvr>
                                        <p:cTn id="18" dur="1" fill="hold">
                                          <p:stCondLst>
                                            <p:cond delay="0"/>
                                          </p:stCondLst>
                                        </p:cTn>
                                        <p:tgtEl>
                                          <p:spTgt spid="6">
                                            <p:txEl>
                                              <p:pRg st="3" end="3"/>
                                            </p:txEl>
                                          </p:spTgt>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grpId="0" nodeType="clickEffect">
                                  <p:stCondLst>
                                    <p:cond delay="0"/>
                                  </p:stCondLst>
                                  <p:childTnLst>
                                    <p:set>
                                      <p:cBhvr>
                                        <p:cTn id="22" dur="1" fill="hold">
                                          <p:stCondLst>
                                            <p:cond delay="0"/>
                                          </p:stCondLst>
                                        </p:cTn>
                                        <p:tgtEl>
                                          <p:spTgt spid="6">
                                            <p:txEl>
                                              <p:pRg st="4" end="4"/>
                                            </p:txEl>
                                          </p:spTgt>
                                        </p:tgtEl>
                                        <p:attrNameLst>
                                          <p:attrName>style.visibility</p:attrName>
                                        </p:attrNameLst>
                                      </p:cBhvr>
                                      <p:to>
                                        <p:strVal val="visible"/>
                                      </p:to>
                                    </p:set>
                                  </p:childTnLst>
                                </p:cTn>
                              </p:par>
                            </p:childTnLst>
                          </p:cTn>
                        </p:par>
                      </p:childTnLst>
                    </p:cTn>
                  </p:par>
                  <p:par>
                    <p:cTn id="23" fill="hold">
                      <p:stCondLst>
                        <p:cond delay="indefinite"/>
                      </p:stCondLst>
                      <p:childTnLst>
                        <p:par>
                          <p:cTn id="24" fill="hold">
                            <p:stCondLst>
                              <p:cond delay="0"/>
                            </p:stCondLst>
                            <p:childTnLst>
                              <p:par>
                                <p:cTn id="25" presetID="1" presetClass="entr" presetSubtype="0" fill="hold" grpId="0" nodeType="clickEffect">
                                  <p:stCondLst>
                                    <p:cond delay="0"/>
                                  </p:stCondLst>
                                  <p:childTnLst>
                                    <p:set>
                                      <p:cBhvr>
                                        <p:cTn id="26" dur="1" fill="hold">
                                          <p:stCondLst>
                                            <p:cond delay="0"/>
                                          </p:stCondLst>
                                        </p:cTn>
                                        <p:tgtEl>
                                          <p:spTgt spid="6">
                                            <p:txEl>
                                              <p:pRg st="5" end="5"/>
                                            </p:txEl>
                                          </p:spTgt>
                                        </p:tgtEl>
                                        <p:attrNameLst>
                                          <p:attrName>style.visibility</p:attrName>
                                        </p:attrNameLst>
                                      </p:cBhvr>
                                      <p:to>
                                        <p:strVal val="visible"/>
                                      </p:to>
                                    </p:set>
                                  </p:childTnLst>
                                </p:cTn>
                              </p:par>
                            </p:childTnLst>
                          </p:cTn>
                        </p:par>
                      </p:childTnLst>
                    </p:cTn>
                  </p:par>
                  <p:par>
                    <p:cTn id="27" fill="hold">
                      <p:stCondLst>
                        <p:cond delay="indefinite"/>
                      </p:stCondLst>
                      <p:childTnLst>
                        <p:par>
                          <p:cTn id="28" fill="hold">
                            <p:stCondLst>
                              <p:cond delay="0"/>
                            </p:stCondLst>
                            <p:childTnLst>
                              <p:par>
                                <p:cTn id="29" presetID="1" presetClass="entr" presetSubtype="0" fill="hold" grpId="0" nodeType="clickEffect">
                                  <p:stCondLst>
                                    <p:cond delay="0"/>
                                  </p:stCondLst>
                                  <p:childTnLst>
                                    <p:set>
                                      <p:cBhvr>
                                        <p:cTn id="30" dur="1" fill="hold">
                                          <p:stCondLst>
                                            <p:cond delay="0"/>
                                          </p:stCondLst>
                                        </p:cTn>
                                        <p:tgtEl>
                                          <p:spTgt spid="6">
                                            <p:txEl>
                                              <p:pRg st="6" end="6"/>
                                            </p:txEl>
                                          </p:spTgt>
                                        </p:tgtEl>
                                        <p:attrNameLst>
                                          <p:attrName>style.visibility</p:attrName>
                                        </p:attrNameLst>
                                      </p:cBhvr>
                                      <p:to>
                                        <p:strVal val="visible"/>
                                      </p:to>
                                    </p:set>
                                  </p:childTnLst>
                                </p:cTn>
                              </p:par>
                            </p:childTnLst>
                          </p:cTn>
                        </p:par>
                      </p:childTnLst>
                    </p:cTn>
                  </p:par>
                  <p:par>
                    <p:cTn id="31" fill="hold">
                      <p:stCondLst>
                        <p:cond delay="indefinite"/>
                      </p:stCondLst>
                      <p:childTnLst>
                        <p:par>
                          <p:cTn id="32" fill="hold">
                            <p:stCondLst>
                              <p:cond delay="0"/>
                            </p:stCondLst>
                            <p:childTnLst>
                              <p:par>
                                <p:cTn id="33" presetID="1" presetClass="entr" presetSubtype="0" fill="hold" grpId="0" nodeType="clickEffect">
                                  <p:stCondLst>
                                    <p:cond delay="0"/>
                                  </p:stCondLst>
                                  <p:childTnLst>
                                    <p:set>
                                      <p:cBhvr>
                                        <p:cTn id="34" dur="1" fill="hold">
                                          <p:stCondLst>
                                            <p:cond delay="0"/>
                                          </p:stCondLst>
                                        </p:cTn>
                                        <p:tgtEl>
                                          <p:spTgt spid="6">
                                            <p:txEl>
                                              <p:pRg st="7" end="7"/>
                                            </p:txEl>
                                          </p:spTgt>
                                        </p:tgtEl>
                                        <p:attrNameLst>
                                          <p:attrName>style.visibility</p:attrName>
                                        </p:attrNameLst>
                                      </p:cBhvr>
                                      <p:to>
                                        <p:strVal val="visible"/>
                                      </p:to>
                                    </p:set>
                                  </p:childTnLst>
                                </p:cTn>
                              </p:par>
                            </p:childTnLst>
                          </p:cTn>
                        </p:par>
                      </p:childTnLst>
                    </p:cTn>
                  </p:par>
                  <p:par>
                    <p:cTn id="35" fill="hold">
                      <p:stCondLst>
                        <p:cond delay="indefinite"/>
                      </p:stCondLst>
                      <p:childTnLst>
                        <p:par>
                          <p:cTn id="36" fill="hold">
                            <p:stCondLst>
                              <p:cond delay="0"/>
                            </p:stCondLst>
                            <p:childTnLst>
                              <p:par>
                                <p:cTn id="37" presetID="1" presetClass="entr" presetSubtype="0" fill="hold" grpId="0" nodeType="clickEffect">
                                  <p:stCondLst>
                                    <p:cond delay="0"/>
                                  </p:stCondLst>
                                  <p:childTnLst>
                                    <p:set>
                                      <p:cBhvr>
                                        <p:cTn id="38" dur="1" fill="hold">
                                          <p:stCondLst>
                                            <p:cond delay="0"/>
                                          </p:stCondLst>
                                        </p:cTn>
                                        <p:tgtEl>
                                          <p:spTgt spid="6">
                                            <p:txEl>
                                              <p:pRg st="8" end="8"/>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6" grpId="0" build="p"/>
    </p:bldLst>
  </p:timing>
</p:sld>
</file>

<file path=ppt/slides/slide1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695400" y="395786"/>
            <a:ext cx="10290100" cy="838202"/>
          </a:xfrm>
        </p:spPr>
        <p:txBody>
          <a:bodyPr/>
          <a:lstStyle/>
          <a:p>
            <a:r>
              <a:rPr lang="en-IN" b="1" dirty="0"/>
              <a:t>Relational algebra operations continued..</a:t>
            </a:r>
          </a:p>
        </p:txBody>
      </p:sp>
      <p:sp>
        <p:nvSpPr>
          <p:cNvPr id="6" name="Text Placeholder 5"/>
          <p:cNvSpPr>
            <a:spLocks noGrp="1"/>
          </p:cNvSpPr>
          <p:nvPr>
            <p:ph type="body" sz="quarter" idx="17"/>
          </p:nvPr>
        </p:nvSpPr>
        <p:spPr>
          <a:xfrm>
            <a:off x="889000" y="1079501"/>
            <a:ext cx="10668000" cy="4673074"/>
          </a:xfrm>
          <a:prstGeom prst="rect">
            <a:avLst/>
          </a:prstGeom>
        </p:spPr>
        <p:txBody>
          <a:bodyPr wrap="square">
            <a:spAutoFit/>
          </a:bodyPr>
          <a:lstStyle/>
          <a:p>
            <a:pPr marL="0" indent="0">
              <a:buNone/>
            </a:pPr>
            <a:r>
              <a:rPr lang="en-US" b="1" dirty="0"/>
              <a:t>3. Renaming (ρ)</a:t>
            </a:r>
          </a:p>
          <a:p>
            <a:pPr marL="0" indent="0">
              <a:buNone/>
            </a:pPr>
            <a:r>
              <a:rPr lang="en-US" b="1" dirty="0"/>
              <a:t>Purpose</a:t>
            </a:r>
            <a:r>
              <a:rPr lang="en-US" dirty="0"/>
              <a:t>: Renames the relation or attributes for clarity in complex queries.</a:t>
            </a:r>
          </a:p>
          <a:p>
            <a:pPr marL="0" indent="0">
              <a:buNone/>
            </a:pPr>
            <a:r>
              <a:rPr lang="en-US" b="1" dirty="0"/>
              <a:t>Operation</a:t>
            </a:r>
            <a:r>
              <a:rPr lang="en-US" dirty="0"/>
              <a:t>: Renames a relation or one or more of its attributes. Renames columns or tables. The Greek letter rho (ρ) is used to represent the rename operator. </a:t>
            </a:r>
          </a:p>
          <a:p>
            <a:pPr marL="0" indent="0">
              <a:buNone/>
            </a:pPr>
            <a:r>
              <a:rPr lang="en-US" b="1" dirty="0"/>
              <a:t>Syntax</a:t>
            </a:r>
            <a:r>
              <a:rPr lang="en-US" dirty="0"/>
              <a:t>: </a:t>
            </a:r>
            <a:r>
              <a:rPr lang="el-GR" dirty="0"/>
              <a:t>ρ(</a:t>
            </a:r>
            <a:r>
              <a:rPr lang="en-US" dirty="0" err="1"/>
              <a:t>NewRelationName</a:t>
            </a:r>
            <a:r>
              <a:rPr lang="en-US" dirty="0"/>
              <a:t>, [</a:t>
            </a:r>
            <a:r>
              <a:rPr lang="en-US" dirty="0" err="1"/>
              <a:t>NewAttributeNames</a:t>
            </a:r>
            <a:r>
              <a:rPr lang="en-US" dirty="0"/>
              <a:t>])(Relation)</a:t>
            </a:r>
          </a:p>
          <a:p>
            <a:pPr marL="0" indent="0">
              <a:buNone/>
            </a:pPr>
            <a:r>
              <a:rPr lang="en-US" b="1" dirty="0"/>
              <a:t>Example</a:t>
            </a:r>
            <a:r>
              <a:rPr lang="en-US" dirty="0"/>
              <a:t>: To rename the relation Students to Enrolled:</a:t>
            </a:r>
          </a:p>
          <a:p>
            <a:pPr marL="0" indent="0">
              <a:buNone/>
            </a:pPr>
            <a:r>
              <a:rPr lang="el-GR" dirty="0"/>
              <a:t>ρ(</a:t>
            </a:r>
            <a:r>
              <a:rPr lang="en-US" dirty="0"/>
              <a:t>Enrolled)(Students)</a:t>
            </a:r>
          </a:p>
          <a:p>
            <a:pPr marL="0" indent="0">
              <a:buNone/>
            </a:pPr>
            <a:r>
              <a:rPr lang="en-US" b="1" dirty="0"/>
              <a:t>Result</a:t>
            </a:r>
            <a:r>
              <a:rPr lang="en-US" dirty="0"/>
              <a:t>: The table Students will now be referred to as Enrolled.</a:t>
            </a:r>
          </a:p>
          <a:p>
            <a:pPr marL="0" indent="0" algn="just">
              <a:buNone/>
            </a:pPr>
            <a:endParaRPr lang="en-IN" dirty="0"/>
          </a:p>
        </p:txBody>
      </p:sp>
    </p:spTree>
    <p:extLst>
      <p:ext uri="{BB962C8B-B14F-4D97-AF65-F5344CB8AC3E}">
        <p14:creationId xmlns:p14="http://schemas.microsoft.com/office/powerpoint/2010/main" val="2263683750"/>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6">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6">
                                            <p:txEl>
                                              <p:pRg st="1" end="1"/>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grpId="0" nodeType="clickEffect">
                                  <p:stCondLst>
                                    <p:cond delay="0"/>
                                  </p:stCondLst>
                                  <p:childTnLst>
                                    <p:set>
                                      <p:cBhvr>
                                        <p:cTn id="14" dur="1" fill="hold">
                                          <p:stCondLst>
                                            <p:cond delay="0"/>
                                          </p:stCondLst>
                                        </p:cTn>
                                        <p:tgtEl>
                                          <p:spTgt spid="6">
                                            <p:txEl>
                                              <p:pRg st="2" end="2"/>
                                            </p:txEl>
                                          </p:spTgt>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grpId="0" nodeType="clickEffect">
                                  <p:stCondLst>
                                    <p:cond delay="0"/>
                                  </p:stCondLst>
                                  <p:childTnLst>
                                    <p:set>
                                      <p:cBhvr>
                                        <p:cTn id="18" dur="1" fill="hold">
                                          <p:stCondLst>
                                            <p:cond delay="0"/>
                                          </p:stCondLst>
                                        </p:cTn>
                                        <p:tgtEl>
                                          <p:spTgt spid="6">
                                            <p:txEl>
                                              <p:pRg st="3" end="3"/>
                                            </p:txEl>
                                          </p:spTgt>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grpId="0" nodeType="clickEffect">
                                  <p:stCondLst>
                                    <p:cond delay="0"/>
                                  </p:stCondLst>
                                  <p:childTnLst>
                                    <p:set>
                                      <p:cBhvr>
                                        <p:cTn id="22" dur="1" fill="hold">
                                          <p:stCondLst>
                                            <p:cond delay="0"/>
                                          </p:stCondLst>
                                        </p:cTn>
                                        <p:tgtEl>
                                          <p:spTgt spid="6">
                                            <p:txEl>
                                              <p:pRg st="4" end="4"/>
                                            </p:txEl>
                                          </p:spTgt>
                                        </p:tgtEl>
                                        <p:attrNameLst>
                                          <p:attrName>style.visibility</p:attrName>
                                        </p:attrNameLst>
                                      </p:cBhvr>
                                      <p:to>
                                        <p:strVal val="visible"/>
                                      </p:to>
                                    </p:set>
                                  </p:childTnLst>
                                </p:cTn>
                              </p:par>
                            </p:childTnLst>
                          </p:cTn>
                        </p:par>
                      </p:childTnLst>
                    </p:cTn>
                  </p:par>
                  <p:par>
                    <p:cTn id="23" fill="hold">
                      <p:stCondLst>
                        <p:cond delay="indefinite"/>
                      </p:stCondLst>
                      <p:childTnLst>
                        <p:par>
                          <p:cTn id="24" fill="hold">
                            <p:stCondLst>
                              <p:cond delay="0"/>
                            </p:stCondLst>
                            <p:childTnLst>
                              <p:par>
                                <p:cTn id="25" presetID="1" presetClass="entr" presetSubtype="0" fill="hold" grpId="0" nodeType="clickEffect">
                                  <p:stCondLst>
                                    <p:cond delay="0"/>
                                  </p:stCondLst>
                                  <p:childTnLst>
                                    <p:set>
                                      <p:cBhvr>
                                        <p:cTn id="26" dur="1" fill="hold">
                                          <p:stCondLst>
                                            <p:cond delay="0"/>
                                          </p:stCondLst>
                                        </p:cTn>
                                        <p:tgtEl>
                                          <p:spTgt spid="6">
                                            <p:txEl>
                                              <p:pRg st="5" end="5"/>
                                            </p:txEl>
                                          </p:spTgt>
                                        </p:tgtEl>
                                        <p:attrNameLst>
                                          <p:attrName>style.visibility</p:attrName>
                                        </p:attrNameLst>
                                      </p:cBhvr>
                                      <p:to>
                                        <p:strVal val="visible"/>
                                      </p:to>
                                    </p:set>
                                  </p:childTnLst>
                                </p:cTn>
                              </p:par>
                            </p:childTnLst>
                          </p:cTn>
                        </p:par>
                      </p:childTnLst>
                    </p:cTn>
                  </p:par>
                  <p:par>
                    <p:cTn id="27" fill="hold">
                      <p:stCondLst>
                        <p:cond delay="indefinite"/>
                      </p:stCondLst>
                      <p:childTnLst>
                        <p:par>
                          <p:cTn id="28" fill="hold">
                            <p:stCondLst>
                              <p:cond delay="0"/>
                            </p:stCondLst>
                            <p:childTnLst>
                              <p:par>
                                <p:cTn id="29" presetID="1" presetClass="entr" presetSubtype="0" fill="hold" grpId="0" nodeType="clickEffect">
                                  <p:stCondLst>
                                    <p:cond delay="0"/>
                                  </p:stCondLst>
                                  <p:childTnLst>
                                    <p:set>
                                      <p:cBhvr>
                                        <p:cTn id="30" dur="1" fill="hold">
                                          <p:stCondLst>
                                            <p:cond delay="0"/>
                                          </p:stCondLst>
                                        </p:cTn>
                                        <p:tgtEl>
                                          <p:spTgt spid="6">
                                            <p:txEl>
                                              <p:pRg st="6" end="6"/>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6" grpId="0" build="p"/>
    </p:bldLst>
  </p:timing>
</p:sld>
</file>

<file path=ppt/slides/slide1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695400" y="395786"/>
            <a:ext cx="9464600" cy="838202"/>
          </a:xfrm>
        </p:spPr>
        <p:txBody>
          <a:bodyPr/>
          <a:lstStyle/>
          <a:p>
            <a:r>
              <a:rPr lang="en-IN" b="1" dirty="0"/>
              <a:t>Relational algebra operations continued..</a:t>
            </a:r>
          </a:p>
        </p:txBody>
      </p:sp>
      <p:sp>
        <p:nvSpPr>
          <p:cNvPr id="6" name="Text Placeholder 5"/>
          <p:cNvSpPr>
            <a:spLocks noGrp="1"/>
          </p:cNvSpPr>
          <p:nvPr>
            <p:ph type="body" sz="quarter" idx="17"/>
          </p:nvPr>
        </p:nvSpPr>
        <p:spPr>
          <a:xfrm>
            <a:off x="762000" y="1079500"/>
            <a:ext cx="10287000" cy="5337872"/>
          </a:xfrm>
          <a:prstGeom prst="rect">
            <a:avLst/>
          </a:prstGeom>
        </p:spPr>
        <p:txBody>
          <a:bodyPr wrap="square">
            <a:spAutoFit/>
          </a:bodyPr>
          <a:lstStyle/>
          <a:p>
            <a:pPr marL="0" indent="0">
              <a:buNone/>
            </a:pPr>
            <a:r>
              <a:rPr lang="en-US" b="1" dirty="0"/>
              <a:t>Binary Operations</a:t>
            </a:r>
          </a:p>
          <a:p>
            <a:pPr marL="0" indent="0">
              <a:buNone/>
            </a:pPr>
            <a:r>
              <a:rPr lang="en-US" dirty="0"/>
              <a:t>Binary operations involve </a:t>
            </a:r>
            <a:r>
              <a:rPr lang="en-US" b="1" dirty="0"/>
              <a:t>two relations</a:t>
            </a:r>
            <a:r>
              <a:rPr lang="en-US" dirty="0"/>
              <a:t> and include operations like union, intersection, difference, and join. These operations are performed between relations that have </a:t>
            </a:r>
            <a:r>
              <a:rPr lang="en-US" b="1" dirty="0"/>
              <a:t>compatible schemas</a:t>
            </a:r>
            <a:r>
              <a:rPr lang="en-US" dirty="0"/>
              <a:t> (i.e., the same number of attributes and the same domain for each attribute).</a:t>
            </a:r>
          </a:p>
          <a:p>
            <a:pPr marL="0" indent="0">
              <a:buNone/>
            </a:pPr>
            <a:r>
              <a:rPr lang="en-US" b="1" dirty="0"/>
              <a:t>1. Union (∪)</a:t>
            </a:r>
          </a:p>
          <a:p>
            <a:pPr marL="0" indent="0">
              <a:buNone/>
            </a:pPr>
            <a:r>
              <a:rPr lang="en-US" b="1" dirty="0"/>
              <a:t>Purpose</a:t>
            </a:r>
            <a:r>
              <a:rPr lang="en-US" dirty="0"/>
              <a:t>: Combines all rows from two relations and removes duplicates.</a:t>
            </a:r>
          </a:p>
          <a:p>
            <a:pPr marL="0" indent="0">
              <a:buNone/>
            </a:pPr>
            <a:r>
              <a:rPr lang="en-US" b="1" dirty="0"/>
              <a:t>Operation</a:t>
            </a:r>
            <a:r>
              <a:rPr lang="en-US" dirty="0"/>
              <a:t>: The union operation takes the set of all tuples that are present in either of the two relations.</a:t>
            </a:r>
          </a:p>
          <a:p>
            <a:pPr marL="0" indent="0">
              <a:buNone/>
            </a:pPr>
            <a:r>
              <a:rPr lang="en-US" b="1" dirty="0"/>
              <a:t>Syntax</a:t>
            </a:r>
            <a:r>
              <a:rPr lang="en-US" dirty="0"/>
              <a:t>: Relation1 ∪ Relation2</a:t>
            </a:r>
          </a:p>
          <a:p>
            <a:pPr marL="0" indent="0">
              <a:buNone/>
            </a:pPr>
            <a:endParaRPr lang="en-US" dirty="0"/>
          </a:p>
          <a:p>
            <a:pPr marL="0" indent="0" algn="just">
              <a:buNone/>
            </a:pPr>
            <a:endParaRPr lang="en-IN" dirty="0"/>
          </a:p>
        </p:txBody>
      </p:sp>
    </p:spTree>
    <p:extLst>
      <p:ext uri="{BB962C8B-B14F-4D97-AF65-F5344CB8AC3E}">
        <p14:creationId xmlns:p14="http://schemas.microsoft.com/office/powerpoint/2010/main" val="2673367730"/>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6">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6">
                                            <p:txEl>
                                              <p:pRg st="1" end="1"/>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grpId="0" nodeType="clickEffect">
                                  <p:stCondLst>
                                    <p:cond delay="0"/>
                                  </p:stCondLst>
                                  <p:childTnLst>
                                    <p:set>
                                      <p:cBhvr>
                                        <p:cTn id="14" dur="1" fill="hold">
                                          <p:stCondLst>
                                            <p:cond delay="0"/>
                                          </p:stCondLst>
                                        </p:cTn>
                                        <p:tgtEl>
                                          <p:spTgt spid="6">
                                            <p:txEl>
                                              <p:pRg st="2" end="2"/>
                                            </p:txEl>
                                          </p:spTgt>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grpId="0" nodeType="clickEffect">
                                  <p:stCondLst>
                                    <p:cond delay="0"/>
                                  </p:stCondLst>
                                  <p:childTnLst>
                                    <p:set>
                                      <p:cBhvr>
                                        <p:cTn id="18" dur="1" fill="hold">
                                          <p:stCondLst>
                                            <p:cond delay="0"/>
                                          </p:stCondLst>
                                        </p:cTn>
                                        <p:tgtEl>
                                          <p:spTgt spid="6">
                                            <p:txEl>
                                              <p:pRg st="3" end="3"/>
                                            </p:txEl>
                                          </p:spTgt>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grpId="0" nodeType="clickEffect">
                                  <p:stCondLst>
                                    <p:cond delay="0"/>
                                  </p:stCondLst>
                                  <p:childTnLst>
                                    <p:set>
                                      <p:cBhvr>
                                        <p:cTn id="22" dur="1" fill="hold">
                                          <p:stCondLst>
                                            <p:cond delay="0"/>
                                          </p:stCondLst>
                                        </p:cTn>
                                        <p:tgtEl>
                                          <p:spTgt spid="6">
                                            <p:txEl>
                                              <p:pRg st="4" end="4"/>
                                            </p:txEl>
                                          </p:spTgt>
                                        </p:tgtEl>
                                        <p:attrNameLst>
                                          <p:attrName>style.visibility</p:attrName>
                                        </p:attrNameLst>
                                      </p:cBhvr>
                                      <p:to>
                                        <p:strVal val="visible"/>
                                      </p:to>
                                    </p:set>
                                  </p:childTnLst>
                                </p:cTn>
                              </p:par>
                            </p:childTnLst>
                          </p:cTn>
                        </p:par>
                      </p:childTnLst>
                    </p:cTn>
                  </p:par>
                  <p:par>
                    <p:cTn id="23" fill="hold">
                      <p:stCondLst>
                        <p:cond delay="indefinite"/>
                      </p:stCondLst>
                      <p:childTnLst>
                        <p:par>
                          <p:cTn id="24" fill="hold">
                            <p:stCondLst>
                              <p:cond delay="0"/>
                            </p:stCondLst>
                            <p:childTnLst>
                              <p:par>
                                <p:cTn id="25" presetID="1" presetClass="entr" presetSubtype="0" fill="hold" grpId="0" nodeType="clickEffect">
                                  <p:stCondLst>
                                    <p:cond delay="0"/>
                                  </p:stCondLst>
                                  <p:childTnLst>
                                    <p:set>
                                      <p:cBhvr>
                                        <p:cTn id="26" dur="1" fill="hold">
                                          <p:stCondLst>
                                            <p:cond delay="0"/>
                                          </p:stCondLst>
                                        </p:cTn>
                                        <p:tgtEl>
                                          <p:spTgt spid="6">
                                            <p:txEl>
                                              <p:pRg st="5" end="5"/>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6" grpId="0" build="p"/>
    </p:bldLst>
  </p:timing>
</p:sld>
</file>

<file path=ppt/slides/slide1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695400" y="395786"/>
            <a:ext cx="9401100" cy="838202"/>
          </a:xfrm>
        </p:spPr>
        <p:txBody>
          <a:bodyPr/>
          <a:lstStyle/>
          <a:p>
            <a:r>
              <a:rPr lang="en-IN" b="1" dirty="0"/>
              <a:t>Relational algebra operations continued..</a:t>
            </a:r>
          </a:p>
        </p:txBody>
      </p:sp>
      <p:sp>
        <p:nvSpPr>
          <p:cNvPr id="6" name="Text Placeholder 5"/>
          <p:cNvSpPr>
            <a:spLocks noGrp="1"/>
          </p:cNvSpPr>
          <p:nvPr>
            <p:ph type="body" sz="quarter" idx="17"/>
          </p:nvPr>
        </p:nvSpPr>
        <p:spPr>
          <a:xfrm>
            <a:off x="1524000" y="1778000"/>
            <a:ext cx="9779000" cy="3496342"/>
          </a:xfrm>
          <a:prstGeom prst="rect">
            <a:avLst/>
          </a:prstGeom>
        </p:spPr>
        <p:txBody>
          <a:bodyPr wrap="square">
            <a:spAutoFit/>
          </a:bodyPr>
          <a:lstStyle/>
          <a:p>
            <a:pPr marL="0" indent="0" algn="just">
              <a:buNone/>
            </a:pPr>
            <a:r>
              <a:rPr lang="en-US" b="1" dirty="0"/>
              <a:t>Example</a:t>
            </a:r>
            <a:r>
              <a:rPr lang="en-US" dirty="0"/>
              <a:t>: Consider two relations </a:t>
            </a:r>
            <a:r>
              <a:rPr lang="en-US" dirty="0" err="1"/>
              <a:t>CS_Students</a:t>
            </a:r>
            <a:r>
              <a:rPr lang="en-US" dirty="0"/>
              <a:t> and </a:t>
            </a:r>
            <a:r>
              <a:rPr lang="en-US" dirty="0" err="1"/>
              <a:t>EE_Students</a:t>
            </a:r>
            <a:r>
              <a:rPr lang="en-US" dirty="0"/>
              <a:t>:</a:t>
            </a:r>
          </a:p>
          <a:p>
            <a:pPr marL="0" indent="0" algn="just">
              <a:buNone/>
            </a:pPr>
            <a:endParaRPr lang="en-US" dirty="0"/>
          </a:p>
          <a:p>
            <a:pPr marL="0" indent="0" algn="just">
              <a:buNone/>
            </a:pPr>
            <a:endParaRPr lang="en-US" dirty="0"/>
          </a:p>
          <a:p>
            <a:pPr marL="0" indent="0" algn="just">
              <a:buNone/>
            </a:pPr>
            <a:endParaRPr lang="en-US" dirty="0"/>
          </a:p>
          <a:p>
            <a:pPr marL="0" indent="0" algn="just">
              <a:buNone/>
            </a:pPr>
            <a:r>
              <a:rPr lang="en-US" b="1" dirty="0"/>
              <a:t>Query</a:t>
            </a:r>
            <a:r>
              <a:rPr lang="en-US" dirty="0"/>
              <a:t>: Find all students of CS and EE departments.</a:t>
            </a:r>
          </a:p>
          <a:p>
            <a:pPr marL="0" indent="0" algn="just">
              <a:buNone/>
            </a:pPr>
            <a:r>
              <a:rPr lang="en-IN" dirty="0" err="1"/>
              <a:t>CS_Students</a:t>
            </a:r>
            <a:r>
              <a:rPr lang="en-IN" dirty="0"/>
              <a:t> ∪ </a:t>
            </a:r>
            <a:r>
              <a:rPr lang="en-IN" dirty="0" err="1"/>
              <a:t>EE_Students</a:t>
            </a:r>
            <a:endParaRPr lang="en-IN" dirty="0"/>
          </a:p>
          <a:p>
            <a:pPr marL="0" indent="0" algn="just">
              <a:buNone/>
            </a:pPr>
            <a:r>
              <a:rPr lang="en-GB" b="1" dirty="0"/>
              <a:t>Result</a:t>
            </a:r>
            <a:r>
              <a:rPr lang="en-GB" dirty="0"/>
              <a:t>:</a:t>
            </a:r>
            <a:endParaRPr lang="en-IN" dirty="0"/>
          </a:p>
        </p:txBody>
      </p:sp>
      <p:graphicFrame>
        <p:nvGraphicFramePr>
          <p:cNvPr id="3" name="Table 2"/>
          <p:cNvGraphicFramePr>
            <a:graphicFrameLocks noGrp="1"/>
          </p:cNvGraphicFramePr>
          <p:nvPr/>
        </p:nvGraphicFramePr>
        <p:xfrm>
          <a:off x="254001" y="2413000"/>
          <a:ext cx="4698999" cy="1206501"/>
        </p:xfrm>
        <a:graphic>
          <a:graphicData uri="http://schemas.openxmlformats.org/drawingml/2006/table">
            <a:tbl>
              <a:tblPr firstRow="1" firstCol="1" bandRow="1">
                <a:tableStyleId>{5C22544A-7EE6-4342-B048-85BDC9FD1C3A}</a:tableStyleId>
              </a:tblPr>
              <a:tblGrid>
                <a:gridCol w="980661">
                  <a:extLst>
                    <a:ext uri="{9D8B030D-6E8A-4147-A177-3AD203B41FA5}">
                      <a16:colId xmlns:a16="http://schemas.microsoft.com/office/drawing/2014/main" val="20000"/>
                    </a:ext>
                  </a:extLst>
                </a:gridCol>
                <a:gridCol w="1348408">
                  <a:extLst>
                    <a:ext uri="{9D8B030D-6E8A-4147-A177-3AD203B41FA5}">
                      <a16:colId xmlns:a16="http://schemas.microsoft.com/office/drawing/2014/main" val="20001"/>
                    </a:ext>
                  </a:extLst>
                </a:gridCol>
                <a:gridCol w="980661">
                  <a:extLst>
                    <a:ext uri="{9D8B030D-6E8A-4147-A177-3AD203B41FA5}">
                      <a16:colId xmlns:a16="http://schemas.microsoft.com/office/drawing/2014/main" val="20002"/>
                    </a:ext>
                  </a:extLst>
                </a:gridCol>
                <a:gridCol w="1389269">
                  <a:extLst>
                    <a:ext uri="{9D8B030D-6E8A-4147-A177-3AD203B41FA5}">
                      <a16:colId xmlns:a16="http://schemas.microsoft.com/office/drawing/2014/main" val="20003"/>
                    </a:ext>
                  </a:extLst>
                </a:gridCol>
              </a:tblGrid>
              <a:tr h="402167">
                <a:tc>
                  <a:txBody>
                    <a:bodyPr/>
                    <a:lstStyle/>
                    <a:p>
                      <a:pPr algn="ctr">
                        <a:lnSpc>
                          <a:spcPct val="115000"/>
                        </a:lnSpc>
                        <a:spcAft>
                          <a:spcPts val="0"/>
                        </a:spcAft>
                      </a:pPr>
                      <a:r>
                        <a:rPr lang="en-GB" sz="900">
                          <a:effectLst/>
                        </a:rPr>
                        <a:t>RollNo</a:t>
                      </a:r>
                      <a:endParaRPr lang="en-GB" sz="900">
                        <a:effectLst/>
                        <a:latin typeface="Calibri"/>
                        <a:ea typeface="Calibri"/>
                        <a:cs typeface="Times New Roman"/>
                      </a:endParaRPr>
                    </a:p>
                  </a:txBody>
                  <a:tcPr marL="57150" marR="57150" marT="0" marB="0" anchor="ctr"/>
                </a:tc>
                <a:tc>
                  <a:txBody>
                    <a:bodyPr/>
                    <a:lstStyle/>
                    <a:p>
                      <a:pPr algn="ctr">
                        <a:lnSpc>
                          <a:spcPct val="115000"/>
                        </a:lnSpc>
                        <a:spcAft>
                          <a:spcPts val="0"/>
                        </a:spcAft>
                      </a:pPr>
                      <a:r>
                        <a:rPr lang="en-GB" sz="900">
                          <a:effectLst/>
                        </a:rPr>
                        <a:t>Name</a:t>
                      </a:r>
                      <a:endParaRPr lang="en-GB" sz="900">
                        <a:effectLst/>
                        <a:latin typeface="Calibri"/>
                        <a:ea typeface="Calibri"/>
                        <a:cs typeface="Times New Roman"/>
                      </a:endParaRPr>
                    </a:p>
                  </a:txBody>
                  <a:tcPr marL="57150" marR="57150" marT="0" marB="0" anchor="ctr"/>
                </a:tc>
                <a:tc>
                  <a:txBody>
                    <a:bodyPr/>
                    <a:lstStyle/>
                    <a:p>
                      <a:pPr algn="ctr">
                        <a:lnSpc>
                          <a:spcPct val="115000"/>
                        </a:lnSpc>
                        <a:spcAft>
                          <a:spcPts val="0"/>
                        </a:spcAft>
                      </a:pPr>
                      <a:r>
                        <a:rPr lang="en-GB" sz="900">
                          <a:effectLst/>
                        </a:rPr>
                        <a:t>Age</a:t>
                      </a:r>
                      <a:endParaRPr lang="en-GB" sz="900">
                        <a:effectLst/>
                        <a:latin typeface="Calibri"/>
                        <a:ea typeface="Calibri"/>
                        <a:cs typeface="Times New Roman"/>
                      </a:endParaRPr>
                    </a:p>
                  </a:txBody>
                  <a:tcPr marL="57150" marR="57150" marT="0" marB="0" anchor="ctr"/>
                </a:tc>
                <a:tc>
                  <a:txBody>
                    <a:bodyPr/>
                    <a:lstStyle/>
                    <a:p>
                      <a:pPr algn="ctr">
                        <a:lnSpc>
                          <a:spcPct val="115000"/>
                        </a:lnSpc>
                        <a:spcAft>
                          <a:spcPts val="0"/>
                        </a:spcAft>
                      </a:pPr>
                      <a:r>
                        <a:rPr lang="en-GB" sz="900">
                          <a:effectLst/>
                        </a:rPr>
                        <a:t>Department</a:t>
                      </a:r>
                      <a:endParaRPr lang="en-GB" sz="900">
                        <a:effectLst/>
                        <a:latin typeface="Calibri"/>
                        <a:ea typeface="Calibri"/>
                        <a:cs typeface="Times New Roman"/>
                      </a:endParaRPr>
                    </a:p>
                  </a:txBody>
                  <a:tcPr marL="57150" marR="57150" marT="0" marB="0" anchor="ctr"/>
                </a:tc>
                <a:extLst>
                  <a:ext uri="{0D108BD9-81ED-4DB2-BD59-A6C34878D82A}">
                    <a16:rowId xmlns:a16="http://schemas.microsoft.com/office/drawing/2014/main" val="10000"/>
                  </a:ext>
                </a:extLst>
              </a:tr>
              <a:tr h="402167">
                <a:tc>
                  <a:txBody>
                    <a:bodyPr/>
                    <a:lstStyle/>
                    <a:p>
                      <a:pPr algn="ctr">
                        <a:lnSpc>
                          <a:spcPct val="115000"/>
                        </a:lnSpc>
                        <a:spcAft>
                          <a:spcPts val="0"/>
                        </a:spcAft>
                      </a:pPr>
                      <a:r>
                        <a:rPr lang="en-GB" sz="900">
                          <a:effectLst/>
                        </a:rPr>
                        <a:t>101</a:t>
                      </a:r>
                      <a:endParaRPr lang="en-GB" sz="900">
                        <a:effectLst/>
                        <a:latin typeface="Calibri"/>
                        <a:ea typeface="Calibri"/>
                        <a:cs typeface="Times New Roman"/>
                      </a:endParaRPr>
                    </a:p>
                  </a:txBody>
                  <a:tcPr marL="57150" marR="57150" marT="0" marB="0" anchor="ctr"/>
                </a:tc>
                <a:tc>
                  <a:txBody>
                    <a:bodyPr/>
                    <a:lstStyle/>
                    <a:p>
                      <a:pPr algn="ctr">
                        <a:lnSpc>
                          <a:spcPct val="115000"/>
                        </a:lnSpc>
                        <a:spcAft>
                          <a:spcPts val="0"/>
                        </a:spcAft>
                      </a:pPr>
                      <a:r>
                        <a:rPr lang="en-GB" sz="900">
                          <a:effectLst/>
                        </a:rPr>
                        <a:t>John</a:t>
                      </a:r>
                      <a:endParaRPr lang="en-GB" sz="900">
                        <a:effectLst/>
                        <a:latin typeface="Calibri"/>
                        <a:ea typeface="Calibri"/>
                        <a:cs typeface="Times New Roman"/>
                      </a:endParaRPr>
                    </a:p>
                  </a:txBody>
                  <a:tcPr marL="57150" marR="57150" marT="0" marB="0" anchor="ctr"/>
                </a:tc>
                <a:tc>
                  <a:txBody>
                    <a:bodyPr/>
                    <a:lstStyle/>
                    <a:p>
                      <a:pPr algn="ctr">
                        <a:lnSpc>
                          <a:spcPct val="115000"/>
                        </a:lnSpc>
                        <a:spcAft>
                          <a:spcPts val="0"/>
                        </a:spcAft>
                      </a:pPr>
                      <a:r>
                        <a:rPr lang="en-GB" sz="900">
                          <a:effectLst/>
                        </a:rPr>
                        <a:t>20</a:t>
                      </a:r>
                      <a:endParaRPr lang="en-GB" sz="900">
                        <a:effectLst/>
                        <a:latin typeface="Calibri"/>
                        <a:ea typeface="Calibri"/>
                        <a:cs typeface="Times New Roman"/>
                      </a:endParaRPr>
                    </a:p>
                  </a:txBody>
                  <a:tcPr marL="57150" marR="57150" marT="0" marB="0" anchor="ctr"/>
                </a:tc>
                <a:tc>
                  <a:txBody>
                    <a:bodyPr/>
                    <a:lstStyle/>
                    <a:p>
                      <a:pPr algn="ctr">
                        <a:lnSpc>
                          <a:spcPct val="115000"/>
                        </a:lnSpc>
                        <a:spcAft>
                          <a:spcPts val="0"/>
                        </a:spcAft>
                      </a:pPr>
                      <a:r>
                        <a:rPr lang="en-GB" sz="900">
                          <a:effectLst/>
                        </a:rPr>
                        <a:t>CS</a:t>
                      </a:r>
                      <a:endParaRPr lang="en-GB" sz="900">
                        <a:effectLst/>
                        <a:latin typeface="Calibri"/>
                        <a:ea typeface="Calibri"/>
                        <a:cs typeface="Times New Roman"/>
                      </a:endParaRPr>
                    </a:p>
                  </a:txBody>
                  <a:tcPr marL="57150" marR="57150" marT="0" marB="0" anchor="ctr"/>
                </a:tc>
                <a:extLst>
                  <a:ext uri="{0D108BD9-81ED-4DB2-BD59-A6C34878D82A}">
                    <a16:rowId xmlns:a16="http://schemas.microsoft.com/office/drawing/2014/main" val="10001"/>
                  </a:ext>
                </a:extLst>
              </a:tr>
              <a:tr h="402167">
                <a:tc>
                  <a:txBody>
                    <a:bodyPr/>
                    <a:lstStyle/>
                    <a:p>
                      <a:pPr algn="ctr">
                        <a:lnSpc>
                          <a:spcPct val="115000"/>
                        </a:lnSpc>
                        <a:spcAft>
                          <a:spcPts val="0"/>
                        </a:spcAft>
                      </a:pPr>
                      <a:r>
                        <a:rPr lang="en-GB" sz="900">
                          <a:effectLst/>
                        </a:rPr>
                        <a:t>104</a:t>
                      </a:r>
                      <a:endParaRPr lang="en-GB" sz="900">
                        <a:effectLst/>
                        <a:latin typeface="Calibri"/>
                        <a:ea typeface="Calibri"/>
                        <a:cs typeface="Times New Roman"/>
                      </a:endParaRPr>
                    </a:p>
                  </a:txBody>
                  <a:tcPr marL="57150" marR="57150" marT="0" marB="0" anchor="ctr"/>
                </a:tc>
                <a:tc>
                  <a:txBody>
                    <a:bodyPr/>
                    <a:lstStyle/>
                    <a:p>
                      <a:pPr algn="ctr">
                        <a:lnSpc>
                          <a:spcPct val="115000"/>
                        </a:lnSpc>
                        <a:spcAft>
                          <a:spcPts val="0"/>
                        </a:spcAft>
                      </a:pPr>
                      <a:r>
                        <a:rPr lang="en-GB" sz="900">
                          <a:effectLst/>
                        </a:rPr>
                        <a:t>Carol</a:t>
                      </a:r>
                      <a:endParaRPr lang="en-GB" sz="900">
                        <a:effectLst/>
                        <a:latin typeface="Calibri"/>
                        <a:ea typeface="Calibri"/>
                        <a:cs typeface="Times New Roman"/>
                      </a:endParaRPr>
                    </a:p>
                  </a:txBody>
                  <a:tcPr marL="57150" marR="57150" marT="0" marB="0" anchor="ctr"/>
                </a:tc>
                <a:tc>
                  <a:txBody>
                    <a:bodyPr/>
                    <a:lstStyle/>
                    <a:p>
                      <a:pPr algn="ctr">
                        <a:lnSpc>
                          <a:spcPct val="115000"/>
                        </a:lnSpc>
                        <a:spcAft>
                          <a:spcPts val="0"/>
                        </a:spcAft>
                      </a:pPr>
                      <a:r>
                        <a:rPr lang="en-GB" sz="900">
                          <a:effectLst/>
                        </a:rPr>
                        <a:t>23</a:t>
                      </a:r>
                      <a:endParaRPr lang="en-GB" sz="900">
                        <a:effectLst/>
                        <a:latin typeface="Calibri"/>
                        <a:ea typeface="Calibri"/>
                        <a:cs typeface="Times New Roman"/>
                      </a:endParaRPr>
                    </a:p>
                  </a:txBody>
                  <a:tcPr marL="57150" marR="57150" marT="0" marB="0" anchor="ctr"/>
                </a:tc>
                <a:tc>
                  <a:txBody>
                    <a:bodyPr/>
                    <a:lstStyle/>
                    <a:p>
                      <a:pPr algn="ctr">
                        <a:lnSpc>
                          <a:spcPct val="115000"/>
                        </a:lnSpc>
                        <a:spcAft>
                          <a:spcPts val="0"/>
                        </a:spcAft>
                      </a:pPr>
                      <a:r>
                        <a:rPr lang="en-GB" sz="900" dirty="0">
                          <a:effectLst/>
                        </a:rPr>
                        <a:t>CS</a:t>
                      </a:r>
                      <a:endParaRPr lang="en-GB" sz="900" dirty="0">
                        <a:effectLst/>
                        <a:latin typeface="Calibri"/>
                        <a:ea typeface="Calibri"/>
                        <a:cs typeface="Times New Roman"/>
                      </a:endParaRPr>
                    </a:p>
                  </a:txBody>
                  <a:tcPr marL="57150" marR="57150" marT="0" marB="0" anchor="ctr"/>
                </a:tc>
                <a:extLst>
                  <a:ext uri="{0D108BD9-81ED-4DB2-BD59-A6C34878D82A}">
                    <a16:rowId xmlns:a16="http://schemas.microsoft.com/office/drawing/2014/main" val="10002"/>
                  </a:ext>
                </a:extLst>
              </a:tr>
            </a:tbl>
          </a:graphicData>
        </a:graphic>
      </p:graphicFrame>
      <p:graphicFrame>
        <p:nvGraphicFramePr>
          <p:cNvPr id="4" name="Table 3"/>
          <p:cNvGraphicFramePr>
            <a:graphicFrameLocks noGrp="1"/>
          </p:cNvGraphicFramePr>
          <p:nvPr/>
        </p:nvGraphicFramePr>
        <p:xfrm>
          <a:off x="6096000" y="2349500"/>
          <a:ext cx="5651499" cy="1269999"/>
        </p:xfrm>
        <a:graphic>
          <a:graphicData uri="http://schemas.openxmlformats.org/drawingml/2006/table">
            <a:tbl>
              <a:tblPr firstRow="1" firstCol="1" bandRow="1">
                <a:tableStyleId>{5C22544A-7EE6-4342-B048-85BDC9FD1C3A}</a:tableStyleId>
              </a:tblPr>
              <a:tblGrid>
                <a:gridCol w="1179443">
                  <a:extLst>
                    <a:ext uri="{9D8B030D-6E8A-4147-A177-3AD203B41FA5}">
                      <a16:colId xmlns:a16="http://schemas.microsoft.com/office/drawing/2014/main" val="20000"/>
                    </a:ext>
                  </a:extLst>
                </a:gridCol>
                <a:gridCol w="1621735">
                  <a:extLst>
                    <a:ext uri="{9D8B030D-6E8A-4147-A177-3AD203B41FA5}">
                      <a16:colId xmlns:a16="http://schemas.microsoft.com/office/drawing/2014/main" val="20001"/>
                    </a:ext>
                  </a:extLst>
                </a:gridCol>
                <a:gridCol w="1179443">
                  <a:extLst>
                    <a:ext uri="{9D8B030D-6E8A-4147-A177-3AD203B41FA5}">
                      <a16:colId xmlns:a16="http://schemas.microsoft.com/office/drawing/2014/main" val="20002"/>
                    </a:ext>
                  </a:extLst>
                </a:gridCol>
                <a:gridCol w="1670878">
                  <a:extLst>
                    <a:ext uri="{9D8B030D-6E8A-4147-A177-3AD203B41FA5}">
                      <a16:colId xmlns:a16="http://schemas.microsoft.com/office/drawing/2014/main" val="20003"/>
                    </a:ext>
                  </a:extLst>
                </a:gridCol>
              </a:tblGrid>
              <a:tr h="423333">
                <a:tc>
                  <a:txBody>
                    <a:bodyPr/>
                    <a:lstStyle/>
                    <a:p>
                      <a:pPr algn="ctr">
                        <a:lnSpc>
                          <a:spcPct val="115000"/>
                        </a:lnSpc>
                        <a:spcAft>
                          <a:spcPts val="0"/>
                        </a:spcAft>
                      </a:pPr>
                      <a:r>
                        <a:rPr lang="en-GB" sz="900" dirty="0" err="1">
                          <a:effectLst/>
                        </a:rPr>
                        <a:t>RollNo</a:t>
                      </a:r>
                      <a:endParaRPr lang="en-GB" sz="900" dirty="0">
                        <a:effectLst/>
                        <a:latin typeface="Calibri"/>
                        <a:ea typeface="Calibri"/>
                        <a:cs typeface="Times New Roman"/>
                      </a:endParaRPr>
                    </a:p>
                  </a:txBody>
                  <a:tcPr marL="57150" marR="57150" marT="0" marB="0" anchor="ctr"/>
                </a:tc>
                <a:tc>
                  <a:txBody>
                    <a:bodyPr/>
                    <a:lstStyle/>
                    <a:p>
                      <a:pPr algn="ctr">
                        <a:lnSpc>
                          <a:spcPct val="115000"/>
                        </a:lnSpc>
                        <a:spcAft>
                          <a:spcPts val="0"/>
                        </a:spcAft>
                      </a:pPr>
                      <a:r>
                        <a:rPr lang="en-GB" sz="900" dirty="0">
                          <a:effectLst/>
                        </a:rPr>
                        <a:t>Name</a:t>
                      </a:r>
                      <a:endParaRPr lang="en-GB" sz="900" dirty="0">
                        <a:effectLst/>
                        <a:latin typeface="Calibri"/>
                        <a:ea typeface="Calibri"/>
                        <a:cs typeface="Times New Roman"/>
                      </a:endParaRPr>
                    </a:p>
                  </a:txBody>
                  <a:tcPr marL="57150" marR="57150" marT="0" marB="0" anchor="ctr"/>
                </a:tc>
                <a:tc>
                  <a:txBody>
                    <a:bodyPr/>
                    <a:lstStyle/>
                    <a:p>
                      <a:pPr algn="ctr">
                        <a:lnSpc>
                          <a:spcPct val="115000"/>
                        </a:lnSpc>
                        <a:spcAft>
                          <a:spcPts val="0"/>
                        </a:spcAft>
                      </a:pPr>
                      <a:r>
                        <a:rPr lang="en-GB" sz="900" dirty="0">
                          <a:effectLst/>
                        </a:rPr>
                        <a:t>Age</a:t>
                      </a:r>
                      <a:endParaRPr lang="en-GB" sz="900" dirty="0">
                        <a:effectLst/>
                        <a:latin typeface="Calibri"/>
                        <a:ea typeface="Calibri"/>
                        <a:cs typeface="Times New Roman"/>
                      </a:endParaRPr>
                    </a:p>
                  </a:txBody>
                  <a:tcPr marL="57150" marR="57150" marT="0" marB="0" anchor="ctr"/>
                </a:tc>
                <a:tc>
                  <a:txBody>
                    <a:bodyPr/>
                    <a:lstStyle/>
                    <a:p>
                      <a:pPr algn="ctr">
                        <a:lnSpc>
                          <a:spcPct val="115000"/>
                        </a:lnSpc>
                        <a:spcAft>
                          <a:spcPts val="0"/>
                        </a:spcAft>
                      </a:pPr>
                      <a:r>
                        <a:rPr lang="en-GB" sz="900">
                          <a:effectLst/>
                        </a:rPr>
                        <a:t>Department</a:t>
                      </a:r>
                      <a:endParaRPr lang="en-GB" sz="900">
                        <a:effectLst/>
                        <a:latin typeface="Calibri"/>
                        <a:ea typeface="Calibri"/>
                        <a:cs typeface="Times New Roman"/>
                      </a:endParaRPr>
                    </a:p>
                  </a:txBody>
                  <a:tcPr marL="57150" marR="57150" marT="0" marB="0" anchor="ctr"/>
                </a:tc>
                <a:extLst>
                  <a:ext uri="{0D108BD9-81ED-4DB2-BD59-A6C34878D82A}">
                    <a16:rowId xmlns:a16="http://schemas.microsoft.com/office/drawing/2014/main" val="10000"/>
                  </a:ext>
                </a:extLst>
              </a:tr>
              <a:tr h="423333">
                <a:tc>
                  <a:txBody>
                    <a:bodyPr/>
                    <a:lstStyle/>
                    <a:p>
                      <a:pPr algn="ctr">
                        <a:lnSpc>
                          <a:spcPct val="115000"/>
                        </a:lnSpc>
                        <a:spcAft>
                          <a:spcPts val="0"/>
                        </a:spcAft>
                      </a:pPr>
                      <a:r>
                        <a:rPr lang="en-GB" sz="900">
                          <a:effectLst/>
                        </a:rPr>
                        <a:t>102</a:t>
                      </a:r>
                      <a:endParaRPr lang="en-GB" sz="900">
                        <a:effectLst/>
                        <a:latin typeface="Calibri"/>
                        <a:ea typeface="Calibri"/>
                        <a:cs typeface="Times New Roman"/>
                      </a:endParaRPr>
                    </a:p>
                  </a:txBody>
                  <a:tcPr marL="57150" marR="57150" marT="0" marB="0" anchor="ctr"/>
                </a:tc>
                <a:tc>
                  <a:txBody>
                    <a:bodyPr/>
                    <a:lstStyle/>
                    <a:p>
                      <a:pPr algn="ctr">
                        <a:lnSpc>
                          <a:spcPct val="115000"/>
                        </a:lnSpc>
                        <a:spcAft>
                          <a:spcPts val="0"/>
                        </a:spcAft>
                      </a:pPr>
                      <a:r>
                        <a:rPr lang="en-GB" sz="900">
                          <a:effectLst/>
                        </a:rPr>
                        <a:t>Alice</a:t>
                      </a:r>
                      <a:endParaRPr lang="en-GB" sz="900">
                        <a:effectLst/>
                        <a:latin typeface="Calibri"/>
                        <a:ea typeface="Calibri"/>
                        <a:cs typeface="Times New Roman"/>
                      </a:endParaRPr>
                    </a:p>
                  </a:txBody>
                  <a:tcPr marL="57150" marR="57150" marT="0" marB="0" anchor="ctr"/>
                </a:tc>
                <a:tc>
                  <a:txBody>
                    <a:bodyPr/>
                    <a:lstStyle/>
                    <a:p>
                      <a:pPr algn="ctr">
                        <a:lnSpc>
                          <a:spcPct val="115000"/>
                        </a:lnSpc>
                        <a:spcAft>
                          <a:spcPts val="0"/>
                        </a:spcAft>
                      </a:pPr>
                      <a:r>
                        <a:rPr lang="en-GB" sz="900">
                          <a:effectLst/>
                        </a:rPr>
                        <a:t>22</a:t>
                      </a:r>
                      <a:endParaRPr lang="en-GB" sz="900">
                        <a:effectLst/>
                        <a:latin typeface="Calibri"/>
                        <a:ea typeface="Calibri"/>
                        <a:cs typeface="Times New Roman"/>
                      </a:endParaRPr>
                    </a:p>
                  </a:txBody>
                  <a:tcPr marL="57150" marR="57150" marT="0" marB="0" anchor="ctr"/>
                </a:tc>
                <a:tc>
                  <a:txBody>
                    <a:bodyPr/>
                    <a:lstStyle/>
                    <a:p>
                      <a:pPr algn="ctr">
                        <a:lnSpc>
                          <a:spcPct val="115000"/>
                        </a:lnSpc>
                        <a:spcAft>
                          <a:spcPts val="0"/>
                        </a:spcAft>
                      </a:pPr>
                      <a:r>
                        <a:rPr lang="en-GB" sz="900">
                          <a:effectLst/>
                        </a:rPr>
                        <a:t>EE</a:t>
                      </a:r>
                      <a:endParaRPr lang="en-GB" sz="900">
                        <a:effectLst/>
                        <a:latin typeface="Calibri"/>
                        <a:ea typeface="Calibri"/>
                        <a:cs typeface="Times New Roman"/>
                      </a:endParaRPr>
                    </a:p>
                  </a:txBody>
                  <a:tcPr marL="57150" marR="57150" marT="0" marB="0" anchor="ctr"/>
                </a:tc>
                <a:extLst>
                  <a:ext uri="{0D108BD9-81ED-4DB2-BD59-A6C34878D82A}">
                    <a16:rowId xmlns:a16="http://schemas.microsoft.com/office/drawing/2014/main" val="10001"/>
                  </a:ext>
                </a:extLst>
              </a:tr>
              <a:tr h="423333">
                <a:tc>
                  <a:txBody>
                    <a:bodyPr/>
                    <a:lstStyle/>
                    <a:p>
                      <a:pPr algn="ctr">
                        <a:lnSpc>
                          <a:spcPct val="115000"/>
                        </a:lnSpc>
                        <a:spcAft>
                          <a:spcPts val="0"/>
                        </a:spcAft>
                      </a:pPr>
                      <a:r>
                        <a:rPr lang="en-GB" sz="900">
                          <a:effectLst/>
                        </a:rPr>
                        <a:t>105</a:t>
                      </a:r>
                      <a:endParaRPr lang="en-GB" sz="900">
                        <a:effectLst/>
                        <a:latin typeface="Calibri"/>
                        <a:ea typeface="Calibri"/>
                        <a:cs typeface="Times New Roman"/>
                      </a:endParaRPr>
                    </a:p>
                  </a:txBody>
                  <a:tcPr marL="57150" marR="57150" marT="0" marB="0" anchor="ctr"/>
                </a:tc>
                <a:tc>
                  <a:txBody>
                    <a:bodyPr/>
                    <a:lstStyle/>
                    <a:p>
                      <a:pPr algn="ctr">
                        <a:lnSpc>
                          <a:spcPct val="115000"/>
                        </a:lnSpc>
                        <a:spcAft>
                          <a:spcPts val="0"/>
                        </a:spcAft>
                      </a:pPr>
                      <a:r>
                        <a:rPr lang="en-GB" sz="900">
                          <a:effectLst/>
                        </a:rPr>
                        <a:t>Eve</a:t>
                      </a:r>
                      <a:endParaRPr lang="en-GB" sz="900">
                        <a:effectLst/>
                        <a:latin typeface="Calibri"/>
                        <a:ea typeface="Calibri"/>
                        <a:cs typeface="Times New Roman"/>
                      </a:endParaRPr>
                    </a:p>
                  </a:txBody>
                  <a:tcPr marL="57150" marR="57150" marT="0" marB="0" anchor="ctr"/>
                </a:tc>
                <a:tc>
                  <a:txBody>
                    <a:bodyPr/>
                    <a:lstStyle/>
                    <a:p>
                      <a:pPr algn="ctr">
                        <a:lnSpc>
                          <a:spcPct val="115000"/>
                        </a:lnSpc>
                        <a:spcAft>
                          <a:spcPts val="0"/>
                        </a:spcAft>
                      </a:pPr>
                      <a:r>
                        <a:rPr lang="en-GB" sz="900">
                          <a:effectLst/>
                        </a:rPr>
                        <a:t>21</a:t>
                      </a:r>
                      <a:endParaRPr lang="en-GB" sz="900">
                        <a:effectLst/>
                        <a:latin typeface="Calibri"/>
                        <a:ea typeface="Calibri"/>
                        <a:cs typeface="Times New Roman"/>
                      </a:endParaRPr>
                    </a:p>
                  </a:txBody>
                  <a:tcPr marL="57150" marR="57150" marT="0" marB="0" anchor="ctr"/>
                </a:tc>
                <a:tc>
                  <a:txBody>
                    <a:bodyPr/>
                    <a:lstStyle/>
                    <a:p>
                      <a:pPr algn="ctr">
                        <a:lnSpc>
                          <a:spcPct val="115000"/>
                        </a:lnSpc>
                        <a:spcAft>
                          <a:spcPts val="0"/>
                        </a:spcAft>
                      </a:pPr>
                      <a:r>
                        <a:rPr lang="en-GB" sz="900" dirty="0">
                          <a:effectLst/>
                        </a:rPr>
                        <a:t>EE</a:t>
                      </a:r>
                      <a:endParaRPr lang="en-GB" sz="900" dirty="0">
                        <a:effectLst/>
                        <a:latin typeface="Calibri"/>
                        <a:ea typeface="Calibri"/>
                        <a:cs typeface="Times New Roman"/>
                      </a:endParaRPr>
                    </a:p>
                  </a:txBody>
                  <a:tcPr marL="57150" marR="57150" marT="0" marB="0" anchor="ctr"/>
                </a:tc>
                <a:extLst>
                  <a:ext uri="{0D108BD9-81ED-4DB2-BD59-A6C34878D82A}">
                    <a16:rowId xmlns:a16="http://schemas.microsoft.com/office/drawing/2014/main" val="10002"/>
                  </a:ext>
                </a:extLst>
              </a:tr>
            </a:tbl>
          </a:graphicData>
        </a:graphic>
      </p:graphicFrame>
      <p:graphicFrame>
        <p:nvGraphicFramePr>
          <p:cNvPr id="5" name="Table 4"/>
          <p:cNvGraphicFramePr>
            <a:graphicFrameLocks noGrp="1"/>
          </p:cNvGraphicFramePr>
          <p:nvPr/>
        </p:nvGraphicFramePr>
        <p:xfrm>
          <a:off x="3175001" y="5080000"/>
          <a:ext cx="7619999" cy="1778000"/>
        </p:xfrm>
        <a:graphic>
          <a:graphicData uri="http://schemas.openxmlformats.org/drawingml/2006/table">
            <a:tbl>
              <a:tblPr firstRow="1" firstCol="1" bandRow="1">
                <a:tableStyleId>{5C22544A-7EE6-4342-B048-85BDC9FD1C3A}</a:tableStyleId>
              </a:tblPr>
              <a:tblGrid>
                <a:gridCol w="1590261">
                  <a:extLst>
                    <a:ext uri="{9D8B030D-6E8A-4147-A177-3AD203B41FA5}">
                      <a16:colId xmlns:a16="http://schemas.microsoft.com/office/drawing/2014/main" val="20000"/>
                    </a:ext>
                  </a:extLst>
                </a:gridCol>
                <a:gridCol w="2186608">
                  <a:extLst>
                    <a:ext uri="{9D8B030D-6E8A-4147-A177-3AD203B41FA5}">
                      <a16:colId xmlns:a16="http://schemas.microsoft.com/office/drawing/2014/main" val="20001"/>
                    </a:ext>
                  </a:extLst>
                </a:gridCol>
                <a:gridCol w="1590261">
                  <a:extLst>
                    <a:ext uri="{9D8B030D-6E8A-4147-A177-3AD203B41FA5}">
                      <a16:colId xmlns:a16="http://schemas.microsoft.com/office/drawing/2014/main" val="20002"/>
                    </a:ext>
                  </a:extLst>
                </a:gridCol>
                <a:gridCol w="2252869">
                  <a:extLst>
                    <a:ext uri="{9D8B030D-6E8A-4147-A177-3AD203B41FA5}">
                      <a16:colId xmlns:a16="http://schemas.microsoft.com/office/drawing/2014/main" val="20003"/>
                    </a:ext>
                  </a:extLst>
                </a:gridCol>
              </a:tblGrid>
              <a:tr h="355600">
                <a:tc>
                  <a:txBody>
                    <a:bodyPr/>
                    <a:lstStyle/>
                    <a:p>
                      <a:pPr algn="ctr">
                        <a:lnSpc>
                          <a:spcPct val="115000"/>
                        </a:lnSpc>
                        <a:spcAft>
                          <a:spcPts val="0"/>
                        </a:spcAft>
                      </a:pPr>
                      <a:r>
                        <a:rPr lang="en-GB" sz="900">
                          <a:effectLst/>
                        </a:rPr>
                        <a:t>RollNo</a:t>
                      </a:r>
                      <a:endParaRPr lang="en-GB" sz="900">
                        <a:effectLst/>
                        <a:latin typeface="Calibri"/>
                        <a:ea typeface="Calibri"/>
                        <a:cs typeface="Times New Roman"/>
                      </a:endParaRPr>
                    </a:p>
                  </a:txBody>
                  <a:tcPr marL="57150" marR="57150" marT="0" marB="0" anchor="ctr"/>
                </a:tc>
                <a:tc>
                  <a:txBody>
                    <a:bodyPr/>
                    <a:lstStyle/>
                    <a:p>
                      <a:pPr algn="ctr">
                        <a:lnSpc>
                          <a:spcPct val="115000"/>
                        </a:lnSpc>
                        <a:spcAft>
                          <a:spcPts val="0"/>
                        </a:spcAft>
                      </a:pPr>
                      <a:r>
                        <a:rPr lang="en-GB" sz="900">
                          <a:effectLst/>
                        </a:rPr>
                        <a:t>Name</a:t>
                      </a:r>
                      <a:endParaRPr lang="en-GB" sz="900">
                        <a:effectLst/>
                        <a:latin typeface="Calibri"/>
                        <a:ea typeface="Calibri"/>
                        <a:cs typeface="Times New Roman"/>
                      </a:endParaRPr>
                    </a:p>
                  </a:txBody>
                  <a:tcPr marL="57150" marR="57150" marT="0" marB="0" anchor="ctr"/>
                </a:tc>
                <a:tc>
                  <a:txBody>
                    <a:bodyPr/>
                    <a:lstStyle/>
                    <a:p>
                      <a:pPr algn="ctr">
                        <a:lnSpc>
                          <a:spcPct val="115000"/>
                        </a:lnSpc>
                        <a:spcAft>
                          <a:spcPts val="0"/>
                        </a:spcAft>
                      </a:pPr>
                      <a:r>
                        <a:rPr lang="en-GB" sz="900">
                          <a:effectLst/>
                        </a:rPr>
                        <a:t>Age</a:t>
                      </a:r>
                      <a:endParaRPr lang="en-GB" sz="900">
                        <a:effectLst/>
                        <a:latin typeface="Calibri"/>
                        <a:ea typeface="Calibri"/>
                        <a:cs typeface="Times New Roman"/>
                      </a:endParaRPr>
                    </a:p>
                  </a:txBody>
                  <a:tcPr marL="57150" marR="57150" marT="0" marB="0" anchor="ctr"/>
                </a:tc>
                <a:tc>
                  <a:txBody>
                    <a:bodyPr/>
                    <a:lstStyle/>
                    <a:p>
                      <a:pPr algn="ctr">
                        <a:lnSpc>
                          <a:spcPct val="115000"/>
                        </a:lnSpc>
                        <a:spcAft>
                          <a:spcPts val="0"/>
                        </a:spcAft>
                      </a:pPr>
                      <a:r>
                        <a:rPr lang="en-GB" sz="900">
                          <a:effectLst/>
                        </a:rPr>
                        <a:t>Department</a:t>
                      </a:r>
                      <a:endParaRPr lang="en-GB" sz="900">
                        <a:effectLst/>
                        <a:latin typeface="Calibri"/>
                        <a:ea typeface="Calibri"/>
                        <a:cs typeface="Times New Roman"/>
                      </a:endParaRPr>
                    </a:p>
                  </a:txBody>
                  <a:tcPr marL="57150" marR="57150" marT="0" marB="0" anchor="ctr"/>
                </a:tc>
                <a:extLst>
                  <a:ext uri="{0D108BD9-81ED-4DB2-BD59-A6C34878D82A}">
                    <a16:rowId xmlns:a16="http://schemas.microsoft.com/office/drawing/2014/main" val="10000"/>
                  </a:ext>
                </a:extLst>
              </a:tr>
              <a:tr h="355600">
                <a:tc>
                  <a:txBody>
                    <a:bodyPr/>
                    <a:lstStyle/>
                    <a:p>
                      <a:pPr algn="ctr">
                        <a:lnSpc>
                          <a:spcPct val="115000"/>
                        </a:lnSpc>
                        <a:spcAft>
                          <a:spcPts val="0"/>
                        </a:spcAft>
                      </a:pPr>
                      <a:r>
                        <a:rPr lang="en-GB" sz="900">
                          <a:effectLst/>
                        </a:rPr>
                        <a:t>101</a:t>
                      </a:r>
                      <a:endParaRPr lang="en-GB" sz="900">
                        <a:effectLst/>
                        <a:latin typeface="Calibri"/>
                        <a:ea typeface="Calibri"/>
                        <a:cs typeface="Times New Roman"/>
                      </a:endParaRPr>
                    </a:p>
                  </a:txBody>
                  <a:tcPr marL="57150" marR="57150" marT="0" marB="0" anchor="ctr"/>
                </a:tc>
                <a:tc>
                  <a:txBody>
                    <a:bodyPr/>
                    <a:lstStyle/>
                    <a:p>
                      <a:pPr algn="ctr">
                        <a:lnSpc>
                          <a:spcPct val="115000"/>
                        </a:lnSpc>
                        <a:spcAft>
                          <a:spcPts val="0"/>
                        </a:spcAft>
                      </a:pPr>
                      <a:r>
                        <a:rPr lang="en-GB" sz="900">
                          <a:effectLst/>
                        </a:rPr>
                        <a:t>John</a:t>
                      </a:r>
                      <a:endParaRPr lang="en-GB" sz="900">
                        <a:effectLst/>
                        <a:latin typeface="Calibri"/>
                        <a:ea typeface="Calibri"/>
                        <a:cs typeface="Times New Roman"/>
                      </a:endParaRPr>
                    </a:p>
                  </a:txBody>
                  <a:tcPr marL="57150" marR="57150" marT="0" marB="0" anchor="ctr"/>
                </a:tc>
                <a:tc>
                  <a:txBody>
                    <a:bodyPr/>
                    <a:lstStyle/>
                    <a:p>
                      <a:pPr algn="ctr">
                        <a:lnSpc>
                          <a:spcPct val="115000"/>
                        </a:lnSpc>
                        <a:spcAft>
                          <a:spcPts val="0"/>
                        </a:spcAft>
                      </a:pPr>
                      <a:r>
                        <a:rPr lang="en-GB" sz="900">
                          <a:effectLst/>
                        </a:rPr>
                        <a:t>20</a:t>
                      </a:r>
                      <a:endParaRPr lang="en-GB" sz="900">
                        <a:effectLst/>
                        <a:latin typeface="Calibri"/>
                        <a:ea typeface="Calibri"/>
                        <a:cs typeface="Times New Roman"/>
                      </a:endParaRPr>
                    </a:p>
                  </a:txBody>
                  <a:tcPr marL="57150" marR="57150" marT="0" marB="0" anchor="ctr"/>
                </a:tc>
                <a:tc>
                  <a:txBody>
                    <a:bodyPr/>
                    <a:lstStyle/>
                    <a:p>
                      <a:pPr algn="ctr">
                        <a:lnSpc>
                          <a:spcPct val="115000"/>
                        </a:lnSpc>
                        <a:spcAft>
                          <a:spcPts val="0"/>
                        </a:spcAft>
                      </a:pPr>
                      <a:r>
                        <a:rPr lang="en-GB" sz="900">
                          <a:effectLst/>
                        </a:rPr>
                        <a:t>CS</a:t>
                      </a:r>
                      <a:endParaRPr lang="en-GB" sz="900">
                        <a:effectLst/>
                        <a:latin typeface="Calibri"/>
                        <a:ea typeface="Calibri"/>
                        <a:cs typeface="Times New Roman"/>
                      </a:endParaRPr>
                    </a:p>
                  </a:txBody>
                  <a:tcPr marL="57150" marR="57150" marT="0" marB="0" anchor="ctr"/>
                </a:tc>
                <a:extLst>
                  <a:ext uri="{0D108BD9-81ED-4DB2-BD59-A6C34878D82A}">
                    <a16:rowId xmlns:a16="http://schemas.microsoft.com/office/drawing/2014/main" val="10001"/>
                  </a:ext>
                </a:extLst>
              </a:tr>
              <a:tr h="355600">
                <a:tc>
                  <a:txBody>
                    <a:bodyPr/>
                    <a:lstStyle/>
                    <a:p>
                      <a:pPr algn="ctr">
                        <a:lnSpc>
                          <a:spcPct val="115000"/>
                        </a:lnSpc>
                        <a:spcAft>
                          <a:spcPts val="0"/>
                        </a:spcAft>
                      </a:pPr>
                      <a:r>
                        <a:rPr lang="en-GB" sz="900">
                          <a:effectLst/>
                        </a:rPr>
                        <a:t>104</a:t>
                      </a:r>
                      <a:endParaRPr lang="en-GB" sz="900">
                        <a:effectLst/>
                        <a:latin typeface="Calibri"/>
                        <a:ea typeface="Calibri"/>
                        <a:cs typeface="Times New Roman"/>
                      </a:endParaRPr>
                    </a:p>
                  </a:txBody>
                  <a:tcPr marL="57150" marR="57150" marT="0" marB="0" anchor="ctr"/>
                </a:tc>
                <a:tc>
                  <a:txBody>
                    <a:bodyPr/>
                    <a:lstStyle/>
                    <a:p>
                      <a:pPr algn="ctr">
                        <a:lnSpc>
                          <a:spcPct val="115000"/>
                        </a:lnSpc>
                        <a:spcAft>
                          <a:spcPts val="0"/>
                        </a:spcAft>
                      </a:pPr>
                      <a:r>
                        <a:rPr lang="en-GB" sz="900">
                          <a:effectLst/>
                        </a:rPr>
                        <a:t>Carol</a:t>
                      </a:r>
                      <a:endParaRPr lang="en-GB" sz="900">
                        <a:effectLst/>
                        <a:latin typeface="Calibri"/>
                        <a:ea typeface="Calibri"/>
                        <a:cs typeface="Times New Roman"/>
                      </a:endParaRPr>
                    </a:p>
                  </a:txBody>
                  <a:tcPr marL="57150" marR="57150" marT="0" marB="0" anchor="ctr"/>
                </a:tc>
                <a:tc>
                  <a:txBody>
                    <a:bodyPr/>
                    <a:lstStyle/>
                    <a:p>
                      <a:pPr algn="ctr">
                        <a:lnSpc>
                          <a:spcPct val="115000"/>
                        </a:lnSpc>
                        <a:spcAft>
                          <a:spcPts val="0"/>
                        </a:spcAft>
                      </a:pPr>
                      <a:r>
                        <a:rPr lang="en-GB" sz="900">
                          <a:effectLst/>
                        </a:rPr>
                        <a:t>23</a:t>
                      </a:r>
                      <a:endParaRPr lang="en-GB" sz="900">
                        <a:effectLst/>
                        <a:latin typeface="Calibri"/>
                        <a:ea typeface="Calibri"/>
                        <a:cs typeface="Times New Roman"/>
                      </a:endParaRPr>
                    </a:p>
                  </a:txBody>
                  <a:tcPr marL="57150" marR="57150" marT="0" marB="0" anchor="ctr"/>
                </a:tc>
                <a:tc>
                  <a:txBody>
                    <a:bodyPr/>
                    <a:lstStyle/>
                    <a:p>
                      <a:pPr algn="ctr">
                        <a:lnSpc>
                          <a:spcPct val="115000"/>
                        </a:lnSpc>
                        <a:spcAft>
                          <a:spcPts val="0"/>
                        </a:spcAft>
                      </a:pPr>
                      <a:r>
                        <a:rPr lang="en-GB" sz="900">
                          <a:effectLst/>
                        </a:rPr>
                        <a:t>CS</a:t>
                      </a:r>
                      <a:endParaRPr lang="en-GB" sz="900">
                        <a:effectLst/>
                        <a:latin typeface="Calibri"/>
                        <a:ea typeface="Calibri"/>
                        <a:cs typeface="Times New Roman"/>
                      </a:endParaRPr>
                    </a:p>
                  </a:txBody>
                  <a:tcPr marL="57150" marR="57150" marT="0" marB="0" anchor="ctr"/>
                </a:tc>
                <a:extLst>
                  <a:ext uri="{0D108BD9-81ED-4DB2-BD59-A6C34878D82A}">
                    <a16:rowId xmlns:a16="http://schemas.microsoft.com/office/drawing/2014/main" val="10002"/>
                  </a:ext>
                </a:extLst>
              </a:tr>
              <a:tr h="355600">
                <a:tc>
                  <a:txBody>
                    <a:bodyPr/>
                    <a:lstStyle/>
                    <a:p>
                      <a:pPr algn="ctr">
                        <a:lnSpc>
                          <a:spcPct val="115000"/>
                        </a:lnSpc>
                        <a:spcAft>
                          <a:spcPts val="0"/>
                        </a:spcAft>
                      </a:pPr>
                      <a:r>
                        <a:rPr lang="en-GB" sz="900">
                          <a:effectLst/>
                        </a:rPr>
                        <a:t>102</a:t>
                      </a:r>
                      <a:endParaRPr lang="en-GB" sz="900">
                        <a:effectLst/>
                        <a:latin typeface="Calibri"/>
                        <a:ea typeface="Calibri"/>
                        <a:cs typeface="Times New Roman"/>
                      </a:endParaRPr>
                    </a:p>
                  </a:txBody>
                  <a:tcPr marL="57150" marR="57150" marT="0" marB="0" anchor="ctr"/>
                </a:tc>
                <a:tc>
                  <a:txBody>
                    <a:bodyPr/>
                    <a:lstStyle/>
                    <a:p>
                      <a:pPr algn="ctr">
                        <a:lnSpc>
                          <a:spcPct val="115000"/>
                        </a:lnSpc>
                        <a:spcAft>
                          <a:spcPts val="0"/>
                        </a:spcAft>
                      </a:pPr>
                      <a:r>
                        <a:rPr lang="en-GB" sz="900">
                          <a:effectLst/>
                        </a:rPr>
                        <a:t>Alice</a:t>
                      </a:r>
                      <a:endParaRPr lang="en-GB" sz="900">
                        <a:effectLst/>
                        <a:latin typeface="Calibri"/>
                        <a:ea typeface="Calibri"/>
                        <a:cs typeface="Times New Roman"/>
                      </a:endParaRPr>
                    </a:p>
                  </a:txBody>
                  <a:tcPr marL="57150" marR="57150" marT="0" marB="0" anchor="ctr"/>
                </a:tc>
                <a:tc>
                  <a:txBody>
                    <a:bodyPr/>
                    <a:lstStyle/>
                    <a:p>
                      <a:pPr algn="ctr">
                        <a:lnSpc>
                          <a:spcPct val="115000"/>
                        </a:lnSpc>
                        <a:spcAft>
                          <a:spcPts val="0"/>
                        </a:spcAft>
                      </a:pPr>
                      <a:r>
                        <a:rPr lang="en-GB" sz="900">
                          <a:effectLst/>
                        </a:rPr>
                        <a:t>22</a:t>
                      </a:r>
                      <a:endParaRPr lang="en-GB" sz="900">
                        <a:effectLst/>
                        <a:latin typeface="Calibri"/>
                        <a:ea typeface="Calibri"/>
                        <a:cs typeface="Times New Roman"/>
                      </a:endParaRPr>
                    </a:p>
                  </a:txBody>
                  <a:tcPr marL="57150" marR="57150" marT="0" marB="0" anchor="ctr"/>
                </a:tc>
                <a:tc>
                  <a:txBody>
                    <a:bodyPr/>
                    <a:lstStyle/>
                    <a:p>
                      <a:pPr algn="ctr">
                        <a:lnSpc>
                          <a:spcPct val="115000"/>
                        </a:lnSpc>
                        <a:spcAft>
                          <a:spcPts val="0"/>
                        </a:spcAft>
                      </a:pPr>
                      <a:r>
                        <a:rPr lang="en-GB" sz="900">
                          <a:effectLst/>
                        </a:rPr>
                        <a:t>EE</a:t>
                      </a:r>
                      <a:endParaRPr lang="en-GB" sz="900">
                        <a:effectLst/>
                        <a:latin typeface="Calibri"/>
                        <a:ea typeface="Calibri"/>
                        <a:cs typeface="Times New Roman"/>
                      </a:endParaRPr>
                    </a:p>
                  </a:txBody>
                  <a:tcPr marL="57150" marR="57150" marT="0" marB="0" anchor="ctr"/>
                </a:tc>
                <a:extLst>
                  <a:ext uri="{0D108BD9-81ED-4DB2-BD59-A6C34878D82A}">
                    <a16:rowId xmlns:a16="http://schemas.microsoft.com/office/drawing/2014/main" val="10003"/>
                  </a:ext>
                </a:extLst>
              </a:tr>
              <a:tr h="355600">
                <a:tc>
                  <a:txBody>
                    <a:bodyPr/>
                    <a:lstStyle/>
                    <a:p>
                      <a:pPr algn="ctr">
                        <a:lnSpc>
                          <a:spcPct val="115000"/>
                        </a:lnSpc>
                        <a:spcAft>
                          <a:spcPts val="0"/>
                        </a:spcAft>
                      </a:pPr>
                      <a:r>
                        <a:rPr lang="en-GB" sz="900">
                          <a:effectLst/>
                        </a:rPr>
                        <a:t>105</a:t>
                      </a:r>
                      <a:endParaRPr lang="en-GB" sz="900">
                        <a:effectLst/>
                        <a:latin typeface="Calibri"/>
                        <a:ea typeface="Calibri"/>
                        <a:cs typeface="Times New Roman"/>
                      </a:endParaRPr>
                    </a:p>
                  </a:txBody>
                  <a:tcPr marL="57150" marR="57150" marT="0" marB="0" anchor="ctr"/>
                </a:tc>
                <a:tc>
                  <a:txBody>
                    <a:bodyPr/>
                    <a:lstStyle/>
                    <a:p>
                      <a:pPr algn="ctr">
                        <a:lnSpc>
                          <a:spcPct val="115000"/>
                        </a:lnSpc>
                        <a:spcAft>
                          <a:spcPts val="0"/>
                        </a:spcAft>
                      </a:pPr>
                      <a:r>
                        <a:rPr lang="en-GB" sz="900">
                          <a:effectLst/>
                        </a:rPr>
                        <a:t>Eve</a:t>
                      </a:r>
                      <a:endParaRPr lang="en-GB" sz="900">
                        <a:effectLst/>
                        <a:latin typeface="Calibri"/>
                        <a:ea typeface="Calibri"/>
                        <a:cs typeface="Times New Roman"/>
                      </a:endParaRPr>
                    </a:p>
                  </a:txBody>
                  <a:tcPr marL="57150" marR="57150" marT="0" marB="0" anchor="ctr"/>
                </a:tc>
                <a:tc>
                  <a:txBody>
                    <a:bodyPr/>
                    <a:lstStyle/>
                    <a:p>
                      <a:pPr algn="ctr">
                        <a:lnSpc>
                          <a:spcPct val="115000"/>
                        </a:lnSpc>
                        <a:spcAft>
                          <a:spcPts val="0"/>
                        </a:spcAft>
                      </a:pPr>
                      <a:r>
                        <a:rPr lang="en-GB" sz="900">
                          <a:effectLst/>
                        </a:rPr>
                        <a:t>21</a:t>
                      </a:r>
                      <a:endParaRPr lang="en-GB" sz="900">
                        <a:effectLst/>
                        <a:latin typeface="Calibri"/>
                        <a:ea typeface="Calibri"/>
                        <a:cs typeface="Times New Roman"/>
                      </a:endParaRPr>
                    </a:p>
                  </a:txBody>
                  <a:tcPr marL="57150" marR="57150" marT="0" marB="0" anchor="ctr"/>
                </a:tc>
                <a:tc>
                  <a:txBody>
                    <a:bodyPr/>
                    <a:lstStyle/>
                    <a:p>
                      <a:pPr algn="ctr">
                        <a:lnSpc>
                          <a:spcPct val="115000"/>
                        </a:lnSpc>
                        <a:spcAft>
                          <a:spcPts val="0"/>
                        </a:spcAft>
                      </a:pPr>
                      <a:r>
                        <a:rPr lang="en-GB" sz="900" dirty="0">
                          <a:effectLst/>
                        </a:rPr>
                        <a:t>EE</a:t>
                      </a:r>
                      <a:endParaRPr lang="en-GB" sz="900" dirty="0">
                        <a:effectLst/>
                        <a:latin typeface="Calibri"/>
                        <a:ea typeface="Calibri"/>
                        <a:cs typeface="Times New Roman"/>
                      </a:endParaRPr>
                    </a:p>
                  </a:txBody>
                  <a:tcPr marL="57150" marR="57150" marT="0" marB="0" anchor="ctr"/>
                </a:tc>
                <a:extLst>
                  <a:ext uri="{0D108BD9-81ED-4DB2-BD59-A6C34878D82A}">
                    <a16:rowId xmlns:a16="http://schemas.microsoft.com/office/drawing/2014/main" val="10004"/>
                  </a:ext>
                </a:extLst>
              </a:tr>
            </a:tbl>
          </a:graphicData>
        </a:graphic>
      </p:graphicFrame>
    </p:spTree>
    <p:extLst>
      <p:ext uri="{BB962C8B-B14F-4D97-AF65-F5344CB8AC3E}">
        <p14:creationId xmlns:p14="http://schemas.microsoft.com/office/powerpoint/2010/main" val="278798677"/>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6">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6">
                                            <p:txEl>
                                              <p:pRg st="4" end="4"/>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grpId="0" nodeType="clickEffect">
                                  <p:stCondLst>
                                    <p:cond delay="0"/>
                                  </p:stCondLst>
                                  <p:childTnLst>
                                    <p:set>
                                      <p:cBhvr>
                                        <p:cTn id="14" dur="1" fill="hold">
                                          <p:stCondLst>
                                            <p:cond delay="0"/>
                                          </p:stCondLst>
                                        </p:cTn>
                                        <p:tgtEl>
                                          <p:spTgt spid="6">
                                            <p:txEl>
                                              <p:pRg st="5" end="5"/>
                                            </p:txEl>
                                          </p:spTgt>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grpId="0" nodeType="clickEffect">
                                  <p:stCondLst>
                                    <p:cond delay="0"/>
                                  </p:stCondLst>
                                  <p:childTnLst>
                                    <p:set>
                                      <p:cBhvr>
                                        <p:cTn id="18" dur="1" fill="hold">
                                          <p:stCondLst>
                                            <p:cond delay="0"/>
                                          </p:stCondLst>
                                        </p:cTn>
                                        <p:tgtEl>
                                          <p:spTgt spid="6">
                                            <p:txEl>
                                              <p:pRg st="6" end="6"/>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6" grpId="0" build="p"/>
    </p:bldLst>
  </p:timing>
</p:sld>
</file>

<file path=ppt/slides/slide1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695400" y="395786"/>
            <a:ext cx="9718600" cy="838202"/>
          </a:xfrm>
        </p:spPr>
        <p:txBody>
          <a:bodyPr/>
          <a:lstStyle/>
          <a:p>
            <a:r>
              <a:rPr lang="en-IN" b="1" dirty="0"/>
              <a:t>Relational algebra operations continued..</a:t>
            </a:r>
          </a:p>
        </p:txBody>
      </p:sp>
      <p:sp>
        <p:nvSpPr>
          <p:cNvPr id="6" name="Text Placeholder 5"/>
          <p:cNvSpPr>
            <a:spLocks noGrp="1"/>
          </p:cNvSpPr>
          <p:nvPr>
            <p:ph type="body" sz="quarter" idx="17"/>
          </p:nvPr>
        </p:nvSpPr>
        <p:spPr>
          <a:xfrm>
            <a:off x="1270000" y="1143001"/>
            <a:ext cx="10604500" cy="5849807"/>
          </a:xfrm>
          <a:prstGeom prst="rect">
            <a:avLst/>
          </a:prstGeom>
        </p:spPr>
        <p:txBody>
          <a:bodyPr wrap="square">
            <a:spAutoFit/>
          </a:bodyPr>
          <a:lstStyle/>
          <a:p>
            <a:pPr marL="0" indent="0">
              <a:buNone/>
            </a:pPr>
            <a:r>
              <a:rPr lang="en-US" b="1" dirty="0"/>
              <a:t>2. Intersection (∩)</a:t>
            </a:r>
          </a:p>
          <a:p>
            <a:pPr marL="0" indent="0">
              <a:buNone/>
            </a:pPr>
            <a:r>
              <a:rPr lang="en-US" b="1" dirty="0"/>
              <a:t>Purpose</a:t>
            </a:r>
            <a:r>
              <a:rPr lang="en-US" dirty="0"/>
              <a:t>: Returns the common tuples (rows) that exist in both relations.</a:t>
            </a:r>
          </a:p>
          <a:p>
            <a:pPr marL="0" indent="0">
              <a:buNone/>
            </a:pPr>
            <a:r>
              <a:rPr lang="en-US" b="1" dirty="0"/>
              <a:t>Operation</a:t>
            </a:r>
            <a:r>
              <a:rPr lang="en-US" dirty="0"/>
              <a:t>: The intersection operation takes the set of all tuples that are </a:t>
            </a:r>
            <a:r>
              <a:rPr lang="en-US" b="1" dirty="0"/>
              <a:t>present in both</a:t>
            </a:r>
            <a:r>
              <a:rPr lang="en-US" dirty="0"/>
              <a:t> relations.</a:t>
            </a:r>
          </a:p>
          <a:p>
            <a:pPr marL="0" indent="0">
              <a:buNone/>
            </a:pPr>
            <a:r>
              <a:rPr lang="en-US" b="1" dirty="0"/>
              <a:t>Syntax</a:t>
            </a:r>
            <a:r>
              <a:rPr lang="en-US" dirty="0"/>
              <a:t>: Relation1 ∩ Relation2</a:t>
            </a:r>
          </a:p>
          <a:p>
            <a:pPr marL="0" indent="0">
              <a:buNone/>
            </a:pPr>
            <a:r>
              <a:rPr lang="en-US" b="1" dirty="0"/>
              <a:t>Example</a:t>
            </a:r>
            <a:r>
              <a:rPr lang="en-US" dirty="0"/>
              <a:t>: Using </a:t>
            </a:r>
            <a:r>
              <a:rPr lang="en-US" dirty="0" err="1"/>
              <a:t>CS_Students</a:t>
            </a:r>
            <a:r>
              <a:rPr lang="en-US" dirty="0"/>
              <a:t> and </a:t>
            </a:r>
            <a:r>
              <a:rPr lang="en-US" dirty="0" err="1"/>
              <a:t>EE_Students</a:t>
            </a:r>
            <a:r>
              <a:rPr lang="en-US" dirty="0"/>
              <a:t> again, suppose you want to find the students common to both CS and EE departments. (Note: In real life, this scenario is unlikely unless they are in both departments!)</a:t>
            </a:r>
          </a:p>
          <a:p>
            <a:pPr marL="0" indent="0">
              <a:buNone/>
            </a:pPr>
            <a:r>
              <a:rPr lang="en-US" dirty="0" err="1"/>
              <a:t>CS_Students</a:t>
            </a:r>
            <a:r>
              <a:rPr lang="en-US" dirty="0"/>
              <a:t> ∩ </a:t>
            </a:r>
            <a:r>
              <a:rPr lang="en-US" dirty="0" err="1"/>
              <a:t>EE_Students</a:t>
            </a:r>
            <a:endParaRPr lang="en-US" dirty="0"/>
          </a:p>
          <a:p>
            <a:pPr marL="0" indent="0">
              <a:buNone/>
            </a:pPr>
            <a:r>
              <a:rPr lang="en-US" b="1" dirty="0"/>
              <a:t>Result</a:t>
            </a:r>
            <a:r>
              <a:rPr lang="en-US" dirty="0"/>
              <a:t>: Since there are no common students between the two departments, the result will be an </a:t>
            </a:r>
            <a:r>
              <a:rPr lang="en-US" b="1" dirty="0"/>
              <a:t>empty set</a:t>
            </a:r>
            <a:r>
              <a:rPr lang="en-US" dirty="0"/>
              <a:t>.</a:t>
            </a:r>
          </a:p>
          <a:p>
            <a:endParaRPr lang="en-US" dirty="0"/>
          </a:p>
          <a:p>
            <a:pPr marL="0" indent="0" algn="just">
              <a:buNone/>
            </a:pPr>
            <a:endParaRPr lang="en-IN" dirty="0"/>
          </a:p>
        </p:txBody>
      </p:sp>
    </p:spTree>
    <p:extLst>
      <p:ext uri="{BB962C8B-B14F-4D97-AF65-F5344CB8AC3E}">
        <p14:creationId xmlns:p14="http://schemas.microsoft.com/office/powerpoint/2010/main" val="406173153"/>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6">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6">
                                            <p:txEl>
                                              <p:pRg st="1" end="1"/>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grpId="0" nodeType="clickEffect">
                                  <p:stCondLst>
                                    <p:cond delay="0"/>
                                  </p:stCondLst>
                                  <p:childTnLst>
                                    <p:set>
                                      <p:cBhvr>
                                        <p:cTn id="14" dur="1" fill="hold">
                                          <p:stCondLst>
                                            <p:cond delay="0"/>
                                          </p:stCondLst>
                                        </p:cTn>
                                        <p:tgtEl>
                                          <p:spTgt spid="6">
                                            <p:txEl>
                                              <p:pRg st="2" end="2"/>
                                            </p:txEl>
                                          </p:spTgt>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grpId="0" nodeType="clickEffect">
                                  <p:stCondLst>
                                    <p:cond delay="0"/>
                                  </p:stCondLst>
                                  <p:childTnLst>
                                    <p:set>
                                      <p:cBhvr>
                                        <p:cTn id="18" dur="1" fill="hold">
                                          <p:stCondLst>
                                            <p:cond delay="0"/>
                                          </p:stCondLst>
                                        </p:cTn>
                                        <p:tgtEl>
                                          <p:spTgt spid="6">
                                            <p:txEl>
                                              <p:pRg st="3" end="3"/>
                                            </p:txEl>
                                          </p:spTgt>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grpId="0" nodeType="clickEffect">
                                  <p:stCondLst>
                                    <p:cond delay="0"/>
                                  </p:stCondLst>
                                  <p:childTnLst>
                                    <p:set>
                                      <p:cBhvr>
                                        <p:cTn id="22" dur="1" fill="hold">
                                          <p:stCondLst>
                                            <p:cond delay="0"/>
                                          </p:stCondLst>
                                        </p:cTn>
                                        <p:tgtEl>
                                          <p:spTgt spid="6">
                                            <p:txEl>
                                              <p:pRg st="4" end="4"/>
                                            </p:txEl>
                                          </p:spTgt>
                                        </p:tgtEl>
                                        <p:attrNameLst>
                                          <p:attrName>style.visibility</p:attrName>
                                        </p:attrNameLst>
                                      </p:cBhvr>
                                      <p:to>
                                        <p:strVal val="visible"/>
                                      </p:to>
                                    </p:set>
                                  </p:childTnLst>
                                </p:cTn>
                              </p:par>
                            </p:childTnLst>
                          </p:cTn>
                        </p:par>
                      </p:childTnLst>
                    </p:cTn>
                  </p:par>
                  <p:par>
                    <p:cTn id="23" fill="hold">
                      <p:stCondLst>
                        <p:cond delay="indefinite"/>
                      </p:stCondLst>
                      <p:childTnLst>
                        <p:par>
                          <p:cTn id="24" fill="hold">
                            <p:stCondLst>
                              <p:cond delay="0"/>
                            </p:stCondLst>
                            <p:childTnLst>
                              <p:par>
                                <p:cTn id="25" presetID="1" presetClass="entr" presetSubtype="0" fill="hold" grpId="0" nodeType="clickEffect">
                                  <p:stCondLst>
                                    <p:cond delay="0"/>
                                  </p:stCondLst>
                                  <p:childTnLst>
                                    <p:set>
                                      <p:cBhvr>
                                        <p:cTn id="26" dur="1" fill="hold">
                                          <p:stCondLst>
                                            <p:cond delay="0"/>
                                          </p:stCondLst>
                                        </p:cTn>
                                        <p:tgtEl>
                                          <p:spTgt spid="6">
                                            <p:txEl>
                                              <p:pRg st="5" end="5"/>
                                            </p:txEl>
                                          </p:spTgt>
                                        </p:tgtEl>
                                        <p:attrNameLst>
                                          <p:attrName>style.visibility</p:attrName>
                                        </p:attrNameLst>
                                      </p:cBhvr>
                                      <p:to>
                                        <p:strVal val="visible"/>
                                      </p:to>
                                    </p:set>
                                  </p:childTnLst>
                                </p:cTn>
                              </p:par>
                            </p:childTnLst>
                          </p:cTn>
                        </p:par>
                      </p:childTnLst>
                    </p:cTn>
                  </p:par>
                  <p:par>
                    <p:cTn id="27" fill="hold">
                      <p:stCondLst>
                        <p:cond delay="indefinite"/>
                      </p:stCondLst>
                      <p:childTnLst>
                        <p:par>
                          <p:cTn id="28" fill="hold">
                            <p:stCondLst>
                              <p:cond delay="0"/>
                            </p:stCondLst>
                            <p:childTnLst>
                              <p:par>
                                <p:cTn id="29" presetID="1" presetClass="entr" presetSubtype="0" fill="hold" grpId="0" nodeType="clickEffect">
                                  <p:stCondLst>
                                    <p:cond delay="0"/>
                                  </p:stCondLst>
                                  <p:childTnLst>
                                    <p:set>
                                      <p:cBhvr>
                                        <p:cTn id="30" dur="1" fill="hold">
                                          <p:stCondLst>
                                            <p:cond delay="0"/>
                                          </p:stCondLst>
                                        </p:cTn>
                                        <p:tgtEl>
                                          <p:spTgt spid="6">
                                            <p:txEl>
                                              <p:pRg st="6" end="6"/>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6" grpId="0" build="p"/>
    </p:bldLst>
  </p:timing>
</p:sld>
</file>

<file path=ppt/slides/slide13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E45EE69-A83A-1A78-5C89-CDD49C4280BD}"/>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E1E352C2-07CE-9E6B-C23C-993752931CB1}"/>
              </a:ext>
            </a:extLst>
          </p:cNvPr>
          <p:cNvSpPr>
            <a:spLocks noGrp="1"/>
          </p:cNvSpPr>
          <p:nvPr>
            <p:ph type="title"/>
          </p:nvPr>
        </p:nvSpPr>
        <p:spPr>
          <a:xfrm>
            <a:off x="695400" y="395786"/>
            <a:ext cx="9718600" cy="838202"/>
          </a:xfrm>
        </p:spPr>
        <p:txBody>
          <a:bodyPr/>
          <a:lstStyle/>
          <a:p>
            <a:r>
              <a:rPr lang="en-IN" b="1" dirty="0"/>
              <a:t>Relational algebra operations continued..</a:t>
            </a:r>
          </a:p>
        </p:txBody>
      </p:sp>
      <p:sp>
        <p:nvSpPr>
          <p:cNvPr id="6" name="Text Placeholder 5">
            <a:extLst>
              <a:ext uri="{FF2B5EF4-FFF2-40B4-BE49-F238E27FC236}">
                <a16:creationId xmlns:a16="http://schemas.microsoft.com/office/drawing/2014/main" id="{3C2627A4-57EC-7EF7-4219-2826C474615B}"/>
              </a:ext>
            </a:extLst>
          </p:cNvPr>
          <p:cNvSpPr>
            <a:spLocks noGrp="1"/>
          </p:cNvSpPr>
          <p:nvPr>
            <p:ph type="body" sz="quarter" idx="17"/>
          </p:nvPr>
        </p:nvSpPr>
        <p:spPr>
          <a:xfrm>
            <a:off x="479376" y="1143000"/>
            <a:ext cx="11089232" cy="3981603"/>
          </a:xfrm>
          <a:prstGeom prst="rect">
            <a:avLst/>
          </a:prstGeom>
        </p:spPr>
        <p:txBody>
          <a:bodyPr wrap="square">
            <a:spAutoFit/>
          </a:bodyPr>
          <a:lstStyle/>
          <a:p>
            <a:pPr marL="0" indent="0" algn="just">
              <a:buNone/>
            </a:pPr>
            <a:r>
              <a:rPr lang="en-US" b="1" dirty="0"/>
              <a:t>2. </a:t>
            </a:r>
            <a:r>
              <a:rPr lang="en-US" dirty="0"/>
              <a:t>In </a:t>
            </a:r>
            <a:r>
              <a:rPr lang="en-US" b="1" dirty="0"/>
              <a:t>relational algebra</a:t>
            </a:r>
            <a:r>
              <a:rPr lang="en-US" dirty="0"/>
              <a:t>, the </a:t>
            </a:r>
            <a:r>
              <a:rPr lang="en-US" b="1" dirty="0"/>
              <a:t>intersection</a:t>
            </a:r>
            <a:r>
              <a:rPr lang="en-US" dirty="0"/>
              <a:t> operator is used to retrieve the set of tuples that are present in both of two relations (tables). This operator works only when the relations are </a:t>
            </a:r>
            <a:r>
              <a:rPr lang="en-US" b="1" dirty="0"/>
              <a:t>union-compatible</a:t>
            </a:r>
            <a:r>
              <a:rPr lang="en-US" dirty="0"/>
              <a:t>, meaning they have the same schema (i.e., the same attributes and their corresponding domains).</a:t>
            </a:r>
          </a:p>
          <a:p>
            <a:pPr marL="0" indent="0">
              <a:buNone/>
            </a:pPr>
            <a:endParaRPr lang="en-US" dirty="0"/>
          </a:p>
          <a:p>
            <a:pPr marL="0" indent="0">
              <a:buNone/>
            </a:pPr>
            <a:r>
              <a:rPr lang="en-US" dirty="0"/>
              <a:t>Let R and S be two relations.</a:t>
            </a:r>
          </a:p>
          <a:p>
            <a:pPr marL="0" indent="0">
              <a:buNone/>
            </a:pPr>
            <a:r>
              <a:rPr lang="en-US" b="1" dirty="0"/>
              <a:t>R</a:t>
            </a:r>
            <a:r>
              <a:rPr lang="en-US" dirty="0"/>
              <a:t>:</a:t>
            </a:r>
          </a:p>
          <a:p>
            <a:pPr marL="0" indent="0">
              <a:buNone/>
            </a:pPr>
            <a:endParaRPr lang="en-US" dirty="0"/>
          </a:p>
          <a:p>
            <a:pPr marL="0" indent="0" algn="just">
              <a:buNone/>
            </a:pPr>
            <a:endParaRPr lang="en-IN" dirty="0"/>
          </a:p>
        </p:txBody>
      </p:sp>
      <p:graphicFrame>
        <p:nvGraphicFramePr>
          <p:cNvPr id="3" name="Table 2">
            <a:extLst>
              <a:ext uri="{FF2B5EF4-FFF2-40B4-BE49-F238E27FC236}">
                <a16:creationId xmlns:a16="http://schemas.microsoft.com/office/drawing/2014/main" id="{A9E61BE6-F0DE-DB0B-5D08-C276BE294016}"/>
              </a:ext>
            </a:extLst>
          </p:cNvPr>
          <p:cNvGraphicFramePr>
            <a:graphicFrameLocks noGrp="1"/>
          </p:cNvGraphicFramePr>
          <p:nvPr>
            <p:extLst>
              <p:ext uri="{D42A27DB-BD31-4B8C-83A1-F6EECF244321}">
                <p14:modId xmlns:p14="http://schemas.microsoft.com/office/powerpoint/2010/main" val="1091486156"/>
              </p:ext>
            </p:extLst>
          </p:nvPr>
        </p:nvGraphicFramePr>
        <p:xfrm>
          <a:off x="1199456" y="4000376"/>
          <a:ext cx="1219200" cy="1320800"/>
        </p:xfrm>
        <a:graphic>
          <a:graphicData uri="http://schemas.openxmlformats.org/drawingml/2006/table">
            <a:tbl>
              <a:tblPr>
                <a:tableStyleId>{5C22544A-7EE6-4342-B048-85BDC9FD1C3A}</a:tableStyleId>
              </a:tblPr>
              <a:tblGrid>
                <a:gridCol w="609600">
                  <a:extLst>
                    <a:ext uri="{9D8B030D-6E8A-4147-A177-3AD203B41FA5}">
                      <a16:colId xmlns:a16="http://schemas.microsoft.com/office/drawing/2014/main" val="37689265"/>
                    </a:ext>
                  </a:extLst>
                </a:gridCol>
                <a:gridCol w="609600">
                  <a:extLst>
                    <a:ext uri="{9D8B030D-6E8A-4147-A177-3AD203B41FA5}">
                      <a16:colId xmlns:a16="http://schemas.microsoft.com/office/drawing/2014/main" val="1058994234"/>
                    </a:ext>
                  </a:extLst>
                </a:gridCol>
              </a:tblGrid>
              <a:tr h="330200">
                <a:tc>
                  <a:txBody>
                    <a:bodyPr/>
                    <a:lstStyle/>
                    <a:p>
                      <a:pPr algn="ctr" fontAlgn="ctr"/>
                      <a:r>
                        <a:rPr lang="en-IN" sz="2000" u="none" strike="noStrike">
                          <a:effectLst/>
                        </a:rPr>
                        <a:t>A</a:t>
                      </a:r>
                      <a:endParaRPr lang="en-IN" sz="2000" b="0" i="0" u="none" strike="noStrike">
                        <a:solidFill>
                          <a:srgbClr val="000000"/>
                        </a:solidFill>
                        <a:effectLst/>
                        <a:latin typeface="Aptos Narrow" panose="020B0004020202020204" pitchFamily="34" charset="0"/>
                      </a:endParaRPr>
                    </a:p>
                  </a:txBody>
                  <a:tcPr marL="6350" marR="6350" marT="6350" marB="0" anchor="ctr"/>
                </a:tc>
                <a:tc>
                  <a:txBody>
                    <a:bodyPr/>
                    <a:lstStyle/>
                    <a:p>
                      <a:pPr algn="ctr" fontAlgn="ctr"/>
                      <a:r>
                        <a:rPr lang="en-IN" sz="2000" u="none" strike="noStrike">
                          <a:effectLst/>
                        </a:rPr>
                        <a:t>B</a:t>
                      </a:r>
                      <a:endParaRPr lang="en-IN" sz="2000" b="0" i="0" u="none" strike="noStrike">
                        <a:solidFill>
                          <a:srgbClr val="000000"/>
                        </a:solidFill>
                        <a:effectLst/>
                        <a:latin typeface="Aptos Narrow" panose="020B0004020202020204" pitchFamily="34" charset="0"/>
                      </a:endParaRPr>
                    </a:p>
                  </a:txBody>
                  <a:tcPr marL="6350" marR="6350" marT="6350" marB="0" anchor="ctr"/>
                </a:tc>
                <a:extLst>
                  <a:ext uri="{0D108BD9-81ED-4DB2-BD59-A6C34878D82A}">
                    <a16:rowId xmlns:a16="http://schemas.microsoft.com/office/drawing/2014/main" val="3741219006"/>
                  </a:ext>
                </a:extLst>
              </a:tr>
              <a:tr h="330200">
                <a:tc>
                  <a:txBody>
                    <a:bodyPr/>
                    <a:lstStyle/>
                    <a:p>
                      <a:pPr algn="ctr" fontAlgn="ctr"/>
                      <a:r>
                        <a:rPr lang="en-IN" sz="2000" u="none" strike="noStrike">
                          <a:effectLst/>
                        </a:rPr>
                        <a:t>1</a:t>
                      </a:r>
                      <a:endParaRPr lang="en-IN" sz="2000" b="0" i="0" u="none" strike="noStrike">
                        <a:solidFill>
                          <a:srgbClr val="000000"/>
                        </a:solidFill>
                        <a:effectLst/>
                        <a:latin typeface="Aptos Narrow" panose="020B0004020202020204" pitchFamily="34" charset="0"/>
                      </a:endParaRPr>
                    </a:p>
                  </a:txBody>
                  <a:tcPr marL="6350" marR="6350" marT="6350" marB="0" anchor="ctr"/>
                </a:tc>
                <a:tc>
                  <a:txBody>
                    <a:bodyPr/>
                    <a:lstStyle/>
                    <a:p>
                      <a:pPr algn="ctr" fontAlgn="ctr"/>
                      <a:r>
                        <a:rPr lang="en-IN" sz="2000" u="none" strike="noStrike" dirty="0">
                          <a:effectLst/>
                        </a:rPr>
                        <a:t>2</a:t>
                      </a:r>
                      <a:endParaRPr lang="en-IN" sz="2000" b="0" i="0" u="none" strike="noStrike" dirty="0">
                        <a:solidFill>
                          <a:srgbClr val="000000"/>
                        </a:solidFill>
                        <a:effectLst/>
                        <a:latin typeface="Aptos Narrow" panose="020B0004020202020204" pitchFamily="34" charset="0"/>
                      </a:endParaRPr>
                    </a:p>
                  </a:txBody>
                  <a:tcPr marL="6350" marR="6350" marT="6350" marB="0" anchor="ctr"/>
                </a:tc>
                <a:extLst>
                  <a:ext uri="{0D108BD9-81ED-4DB2-BD59-A6C34878D82A}">
                    <a16:rowId xmlns:a16="http://schemas.microsoft.com/office/drawing/2014/main" val="1111703405"/>
                  </a:ext>
                </a:extLst>
              </a:tr>
              <a:tr h="330200">
                <a:tc>
                  <a:txBody>
                    <a:bodyPr/>
                    <a:lstStyle/>
                    <a:p>
                      <a:pPr algn="ctr" fontAlgn="ctr"/>
                      <a:r>
                        <a:rPr lang="en-IN" sz="2000" u="none" strike="noStrike">
                          <a:effectLst/>
                        </a:rPr>
                        <a:t>3</a:t>
                      </a:r>
                      <a:endParaRPr lang="en-IN" sz="2000" b="0" i="0" u="none" strike="noStrike">
                        <a:solidFill>
                          <a:srgbClr val="000000"/>
                        </a:solidFill>
                        <a:effectLst/>
                        <a:latin typeface="Aptos Narrow" panose="020B0004020202020204" pitchFamily="34" charset="0"/>
                      </a:endParaRPr>
                    </a:p>
                  </a:txBody>
                  <a:tcPr marL="6350" marR="6350" marT="6350" marB="0" anchor="ctr"/>
                </a:tc>
                <a:tc>
                  <a:txBody>
                    <a:bodyPr/>
                    <a:lstStyle/>
                    <a:p>
                      <a:pPr algn="ctr" fontAlgn="ctr"/>
                      <a:r>
                        <a:rPr lang="en-IN" sz="2000" u="none" strike="noStrike">
                          <a:effectLst/>
                        </a:rPr>
                        <a:t>4</a:t>
                      </a:r>
                      <a:endParaRPr lang="en-IN" sz="2000" b="0" i="0" u="none" strike="noStrike">
                        <a:solidFill>
                          <a:srgbClr val="000000"/>
                        </a:solidFill>
                        <a:effectLst/>
                        <a:latin typeface="Aptos Narrow" panose="020B0004020202020204" pitchFamily="34" charset="0"/>
                      </a:endParaRPr>
                    </a:p>
                  </a:txBody>
                  <a:tcPr marL="6350" marR="6350" marT="6350" marB="0" anchor="ctr"/>
                </a:tc>
                <a:extLst>
                  <a:ext uri="{0D108BD9-81ED-4DB2-BD59-A6C34878D82A}">
                    <a16:rowId xmlns:a16="http://schemas.microsoft.com/office/drawing/2014/main" val="2047905609"/>
                  </a:ext>
                </a:extLst>
              </a:tr>
              <a:tr h="330200">
                <a:tc>
                  <a:txBody>
                    <a:bodyPr/>
                    <a:lstStyle/>
                    <a:p>
                      <a:pPr algn="ctr" fontAlgn="ctr"/>
                      <a:r>
                        <a:rPr lang="en-IN" sz="2000" u="none" strike="noStrike">
                          <a:effectLst/>
                        </a:rPr>
                        <a:t>5</a:t>
                      </a:r>
                      <a:endParaRPr lang="en-IN" sz="2000" b="0" i="0" u="none" strike="noStrike">
                        <a:solidFill>
                          <a:srgbClr val="000000"/>
                        </a:solidFill>
                        <a:effectLst/>
                        <a:latin typeface="Aptos Narrow" panose="020B0004020202020204" pitchFamily="34" charset="0"/>
                      </a:endParaRPr>
                    </a:p>
                  </a:txBody>
                  <a:tcPr marL="6350" marR="6350" marT="6350" marB="0" anchor="ctr"/>
                </a:tc>
                <a:tc>
                  <a:txBody>
                    <a:bodyPr/>
                    <a:lstStyle/>
                    <a:p>
                      <a:pPr algn="ctr" fontAlgn="ctr"/>
                      <a:r>
                        <a:rPr lang="en-IN" sz="2000" u="none" strike="noStrike" dirty="0">
                          <a:effectLst/>
                        </a:rPr>
                        <a:t>6</a:t>
                      </a:r>
                      <a:endParaRPr lang="en-IN" sz="2000" b="0" i="0" u="none" strike="noStrike" dirty="0">
                        <a:solidFill>
                          <a:srgbClr val="000000"/>
                        </a:solidFill>
                        <a:effectLst/>
                        <a:latin typeface="Aptos Narrow" panose="020B0004020202020204" pitchFamily="34" charset="0"/>
                      </a:endParaRPr>
                    </a:p>
                  </a:txBody>
                  <a:tcPr marL="6350" marR="6350" marT="6350" marB="0" anchor="ctr"/>
                </a:tc>
                <a:extLst>
                  <a:ext uri="{0D108BD9-81ED-4DB2-BD59-A6C34878D82A}">
                    <a16:rowId xmlns:a16="http://schemas.microsoft.com/office/drawing/2014/main" val="881746635"/>
                  </a:ext>
                </a:extLst>
              </a:tr>
            </a:tbl>
          </a:graphicData>
        </a:graphic>
      </p:graphicFrame>
      <p:sp>
        <p:nvSpPr>
          <p:cNvPr id="5" name="TextBox 4">
            <a:extLst>
              <a:ext uri="{FF2B5EF4-FFF2-40B4-BE49-F238E27FC236}">
                <a16:creationId xmlns:a16="http://schemas.microsoft.com/office/drawing/2014/main" id="{F48809AE-0136-DC16-0E87-4430F009DB61}"/>
              </a:ext>
            </a:extLst>
          </p:cNvPr>
          <p:cNvSpPr txBox="1"/>
          <p:nvPr/>
        </p:nvSpPr>
        <p:spPr>
          <a:xfrm>
            <a:off x="2975992" y="3688710"/>
            <a:ext cx="6096000" cy="461665"/>
          </a:xfrm>
          <a:prstGeom prst="rect">
            <a:avLst/>
          </a:prstGeom>
          <a:noFill/>
        </p:spPr>
        <p:txBody>
          <a:bodyPr wrap="square">
            <a:spAutoFit/>
          </a:bodyPr>
          <a:lstStyle/>
          <a:p>
            <a:r>
              <a:rPr lang="en-IN" sz="2400" b="1" dirty="0"/>
              <a:t>S</a:t>
            </a:r>
            <a:r>
              <a:rPr lang="en-IN" sz="2400" dirty="0"/>
              <a:t>:</a:t>
            </a:r>
          </a:p>
        </p:txBody>
      </p:sp>
      <p:graphicFrame>
        <p:nvGraphicFramePr>
          <p:cNvPr id="7" name="Table 6">
            <a:extLst>
              <a:ext uri="{FF2B5EF4-FFF2-40B4-BE49-F238E27FC236}">
                <a16:creationId xmlns:a16="http://schemas.microsoft.com/office/drawing/2014/main" id="{601E9A83-56D8-6654-530C-4AA701426ACC}"/>
              </a:ext>
            </a:extLst>
          </p:cNvPr>
          <p:cNvGraphicFramePr>
            <a:graphicFrameLocks noGrp="1"/>
          </p:cNvGraphicFramePr>
          <p:nvPr>
            <p:extLst>
              <p:ext uri="{D42A27DB-BD31-4B8C-83A1-F6EECF244321}">
                <p14:modId xmlns:p14="http://schemas.microsoft.com/office/powerpoint/2010/main" val="1553740798"/>
              </p:ext>
            </p:extLst>
          </p:nvPr>
        </p:nvGraphicFramePr>
        <p:xfrm>
          <a:off x="3791744" y="3873376"/>
          <a:ext cx="1219200" cy="1447800"/>
        </p:xfrm>
        <a:graphic>
          <a:graphicData uri="http://schemas.openxmlformats.org/drawingml/2006/table">
            <a:tbl>
              <a:tblPr>
                <a:tableStyleId>{5C22544A-7EE6-4342-B048-85BDC9FD1C3A}</a:tableStyleId>
              </a:tblPr>
              <a:tblGrid>
                <a:gridCol w="609600">
                  <a:extLst>
                    <a:ext uri="{9D8B030D-6E8A-4147-A177-3AD203B41FA5}">
                      <a16:colId xmlns:a16="http://schemas.microsoft.com/office/drawing/2014/main" val="1810584591"/>
                    </a:ext>
                  </a:extLst>
                </a:gridCol>
                <a:gridCol w="609600">
                  <a:extLst>
                    <a:ext uri="{9D8B030D-6E8A-4147-A177-3AD203B41FA5}">
                      <a16:colId xmlns:a16="http://schemas.microsoft.com/office/drawing/2014/main" val="4183556250"/>
                    </a:ext>
                  </a:extLst>
                </a:gridCol>
              </a:tblGrid>
              <a:tr h="361950">
                <a:tc>
                  <a:txBody>
                    <a:bodyPr/>
                    <a:lstStyle/>
                    <a:p>
                      <a:pPr algn="ctr" fontAlgn="ctr"/>
                      <a:r>
                        <a:rPr lang="en-IN" sz="2200" u="none" strike="noStrike">
                          <a:effectLst/>
                        </a:rPr>
                        <a:t>A</a:t>
                      </a:r>
                      <a:endParaRPr lang="en-IN" sz="2200" b="1" i="0" u="none" strike="noStrike">
                        <a:solidFill>
                          <a:srgbClr val="000000"/>
                        </a:solidFill>
                        <a:effectLst/>
                        <a:latin typeface="Aptos Narrow" panose="020B0004020202020204" pitchFamily="34" charset="0"/>
                      </a:endParaRPr>
                    </a:p>
                  </a:txBody>
                  <a:tcPr marL="6350" marR="6350" marT="6350" marB="0" anchor="ctr"/>
                </a:tc>
                <a:tc>
                  <a:txBody>
                    <a:bodyPr/>
                    <a:lstStyle/>
                    <a:p>
                      <a:pPr algn="ctr" fontAlgn="ctr"/>
                      <a:r>
                        <a:rPr lang="en-IN" sz="2200" u="none" strike="noStrike">
                          <a:effectLst/>
                        </a:rPr>
                        <a:t>B</a:t>
                      </a:r>
                      <a:endParaRPr lang="en-IN" sz="2200" b="1" i="0" u="none" strike="noStrike">
                        <a:solidFill>
                          <a:srgbClr val="000000"/>
                        </a:solidFill>
                        <a:effectLst/>
                        <a:latin typeface="Aptos Narrow" panose="020B0004020202020204" pitchFamily="34" charset="0"/>
                      </a:endParaRPr>
                    </a:p>
                  </a:txBody>
                  <a:tcPr marL="6350" marR="6350" marT="6350" marB="0" anchor="ctr"/>
                </a:tc>
                <a:extLst>
                  <a:ext uri="{0D108BD9-81ED-4DB2-BD59-A6C34878D82A}">
                    <a16:rowId xmlns:a16="http://schemas.microsoft.com/office/drawing/2014/main" val="3673831759"/>
                  </a:ext>
                </a:extLst>
              </a:tr>
              <a:tr h="361950">
                <a:tc>
                  <a:txBody>
                    <a:bodyPr/>
                    <a:lstStyle/>
                    <a:p>
                      <a:pPr algn="ctr" fontAlgn="ctr"/>
                      <a:r>
                        <a:rPr lang="en-IN" sz="2200" u="none" strike="noStrike">
                          <a:effectLst/>
                        </a:rPr>
                        <a:t>3</a:t>
                      </a:r>
                      <a:endParaRPr lang="en-IN" sz="2200" b="1" i="0" u="none" strike="noStrike">
                        <a:solidFill>
                          <a:srgbClr val="000000"/>
                        </a:solidFill>
                        <a:effectLst/>
                        <a:latin typeface="Aptos Narrow" panose="020B0004020202020204" pitchFamily="34" charset="0"/>
                      </a:endParaRPr>
                    </a:p>
                  </a:txBody>
                  <a:tcPr marL="6350" marR="6350" marT="6350" marB="0" anchor="ctr"/>
                </a:tc>
                <a:tc>
                  <a:txBody>
                    <a:bodyPr/>
                    <a:lstStyle/>
                    <a:p>
                      <a:pPr algn="ctr" fontAlgn="ctr"/>
                      <a:r>
                        <a:rPr lang="en-IN" sz="2200" u="none" strike="noStrike">
                          <a:effectLst/>
                        </a:rPr>
                        <a:t>4</a:t>
                      </a:r>
                      <a:endParaRPr lang="en-IN" sz="2200" b="1" i="0" u="none" strike="noStrike">
                        <a:solidFill>
                          <a:srgbClr val="000000"/>
                        </a:solidFill>
                        <a:effectLst/>
                        <a:latin typeface="Aptos Narrow" panose="020B0004020202020204" pitchFamily="34" charset="0"/>
                      </a:endParaRPr>
                    </a:p>
                  </a:txBody>
                  <a:tcPr marL="6350" marR="6350" marT="6350" marB="0" anchor="ctr"/>
                </a:tc>
                <a:extLst>
                  <a:ext uri="{0D108BD9-81ED-4DB2-BD59-A6C34878D82A}">
                    <a16:rowId xmlns:a16="http://schemas.microsoft.com/office/drawing/2014/main" val="2626270358"/>
                  </a:ext>
                </a:extLst>
              </a:tr>
              <a:tr h="361950">
                <a:tc>
                  <a:txBody>
                    <a:bodyPr/>
                    <a:lstStyle/>
                    <a:p>
                      <a:pPr algn="ctr" fontAlgn="ctr"/>
                      <a:r>
                        <a:rPr lang="en-IN" sz="2200" u="none" strike="noStrike">
                          <a:effectLst/>
                        </a:rPr>
                        <a:t>7</a:t>
                      </a:r>
                      <a:endParaRPr lang="en-IN" sz="2200" b="1" i="0" u="none" strike="noStrike">
                        <a:solidFill>
                          <a:srgbClr val="000000"/>
                        </a:solidFill>
                        <a:effectLst/>
                        <a:latin typeface="Aptos Narrow" panose="020B0004020202020204" pitchFamily="34" charset="0"/>
                      </a:endParaRPr>
                    </a:p>
                  </a:txBody>
                  <a:tcPr marL="6350" marR="6350" marT="6350" marB="0" anchor="ctr"/>
                </a:tc>
                <a:tc>
                  <a:txBody>
                    <a:bodyPr/>
                    <a:lstStyle/>
                    <a:p>
                      <a:pPr algn="ctr" fontAlgn="ctr"/>
                      <a:r>
                        <a:rPr lang="en-IN" sz="2200" u="none" strike="noStrike">
                          <a:effectLst/>
                        </a:rPr>
                        <a:t>8</a:t>
                      </a:r>
                      <a:endParaRPr lang="en-IN" sz="2200" b="1" i="0" u="none" strike="noStrike">
                        <a:solidFill>
                          <a:srgbClr val="000000"/>
                        </a:solidFill>
                        <a:effectLst/>
                        <a:latin typeface="Aptos Narrow" panose="020B0004020202020204" pitchFamily="34" charset="0"/>
                      </a:endParaRPr>
                    </a:p>
                  </a:txBody>
                  <a:tcPr marL="6350" marR="6350" marT="6350" marB="0" anchor="ctr"/>
                </a:tc>
                <a:extLst>
                  <a:ext uri="{0D108BD9-81ED-4DB2-BD59-A6C34878D82A}">
                    <a16:rowId xmlns:a16="http://schemas.microsoft.com/office/drawing/2014/main" val="2451772412"/>
                  </a:ext>
                </a:extLst>
              </a:tr>
              <a:tr h="361950">
                <a:tc>
                  <a:txBody>
                    <a:bodyPr/>
                    <a:lstStyle/>
                    <a:p>
                      <a:pPr algn="ctr" fontAlgn="ctr"/>
                      <a:r>
                        <a:rPr lang="en-IN" sz="2200" u="none" strike="noStrike">
                          <a:effectLst/>
                        </a:rPr>
                        <a:t>5</a:t>
                      </a:r>
                      <a:endParaRPr lang="en-IN" sz="2200" b="1" i="0" u="none" strike="noStrike">
                        <a:solidFill>
                          <a:srgbClr val="000000"/>
                        </a:solidFill>
                        <a:effectLst/>
                        <a:latin typeface="Aptos Narrow" panose="020B0004020202020204" pitchFamily="34" charset="0"/>
                      </a:endParaRPr>
                    </a:p>
                  </a:txBody>
                  <a:tcPr marL="6350" marR="6350" marT="6350" marB="0" anchor="ctr"/>
                </a:tc>
                <a:tc>
                  <a:txBody>
                    <a:bodyPr/>
                    <a:lstStyle/>
                    <a:p>
                      <a:pPr algn="ctr" fontAlgn="ctr"/>
                      <a:r>
                        <a:rPr lang="en-IN" sz="2200" u="none" strike="noStrike" dirty="0">
                          <a:effectLst/>
                        </a:rPr>
                        <a:t>6</a:t>
                      </a:r>
                      <a:endParaRPr lang="en-IN" sz="2200" b="1" i="0" u="none" strike="noStrike" dirty="0">
                        <a:solidFill>
                          <a:srgbClr val="000000"/>
                        </a:solidFill>
                        <a:effectLst/>
                        <a:latin typeface="Aptos Narrow" panose="020B0004020202020204" pitchFamily="34" charset="0"/>
                      </a:endParaRPr>
                    </a:p>
                  </a:txBody>
                  <a:tcPr marL="6350" marR="6350" marT="6350" marB="0" anchor="ctr"/>
                </a:tc>
                <a:extLst>
                  <a:ext uri="{0D108BD9-81ED-4DB2-BD59-A6C34878D82A}">
                    <a16:rowId xmlns:a16="http://schemas.microsoft.com/office/drawing/2014/main" val="1417607396"/>
                  </a:ext>
                </a:extLst>
              </a:tr>
            </a:tbl>
          </a:graphicData>
        </a:graphic>
      </p:graphicFrame>
      <p:sp>
        <p:nvSpPr>
          <p:cNvPr id="9" name="TextBox 8">
            <a:extLst>
              <a:ext uri="{FF2B5EF4-FFF2-40B4-BE49-F238E27FC236}">
                <a16:creationId xmlns:a16="http://schemas.microsoft.com/office/drawing/2014/main" id="{24B21F85-76A0-4156-DC6C-D91D9F63C9BB}"/>
              </a:ext>
            </a:extLst>
          </p:cNvPr>
          <p:cNvSpPr txBox="1"/>
          <p:nvPr/>
        </p:nvSpPr>
        <p:spPr>
          <a:xfrm>
            <a:off x="5426732" y="3829203"/>
            <a:ext cx="6096000" cy="646331"/>
          </a:xfrm>
          <a:prstGeom prst="rect">
            <a:avLst/>
          </a:prstGeom>
          <a:noFill/>
        </p:spPr>
        <p:txBody>
          <a:bodyPr wrap="square">
            <a:spAutoFit/>
          </a:bodyPr>
          <a:lstStyle/>
          <a:p>
            <a:r>
              <a:rPr lang="en-US" b="1" dirty="0"/>
              <a:t>Intersection:</a:t>
            </a:r>
          </a:p>
          <a:p>
            <a:r>
              <a:rPr lang="en-US" dirty="0"/>
              <a:t>The tuples common to both R and S are:</a:t>
            </a:r>
          </a:p>
        </p:txBody>
      </p:sp>
      <p:graphicFrame>
        <p:nvGraphicFramePr>
          <p:cNvPr id="10" name="Table 9">
            <a:extLst>
              <a:ext uri="{FF2B5EF4-FFF2-40B4-BE49-F238E27FC236}">
                <a16:creationId xmlns:a16="http://schemas.microsoft.com/office/drawing/2014/main" id="{58DE2B4F-985F-C017-3358-A8C6414E4A45}"/>
              </a:ext>
            </a:extLst>
          </p:cNvPr>
          <p:cNvGraphicFramePr>
            <a:graphicFrameLocks noGrp="1"/>
          </p:cNvGraphicFramePr>
          <p:nvPr>
            <p:extLst>
              <p:ext uri="{D42A27DB-BD31-4B8C-83A1-F6EECF244321}">
                <p14:modId xmlns:p14="http://schemas.microsoft.com/office/powerpoint/2010/main" val="286009502"/>
              </p:ext>
            </p:extLst>
          </p:nvPr>
        </p:nvGraphicFramePr>
        <p:xfrm>
          <a:off x="9408368" y="4179408"/>
          <a:ext cx="1219200" cy="1085850"/>
        </p:xfrm>
        <a:graphic>
          <a:graphicData uri="http://schemas.openxmlformats.org/drawingml/2006/table">
            <a:tbl>
              <a:tblPr>
                <a:tableStyleId>{5C22544A-7EE6-4342-B048-85BDC9FD1C3A}</a:tableStyleId>
              </a:tblPr>
              <a:tblGrid>
                <a:gridCol w="609600">
                  <a:extLst>
                    <a:ext uri="{9D8B030D-6E8A-4147-A177-3AD203B41FA5}">
                      <a16:colId xmlns:a16="http://schemas.microsoft.com/office/drawing/2014/main" val="1791557237"/>
                    </a:ext>
                  </a:extLst>
                </a:gridCol>
                <a:gridCol w="609600">
                  <a:extLst>
                    <a:ext uri="{9D8B030D-6E8A-4147-A177-3AD203B41FA5}">
                      <a16:colId xmlns:a16="http://schemas.microsoft.com/office/drawing/2014/main" val="3756367869"/>
                    </a:ext>
                  </a:extLst>
                </a:gridCol>
              </a:tblGrid>
              <a:tr h="361950">
                <a:tc>
                  <a:txBody>
                    <a:bodyPr/>
                    <a:lstStyle/>
                    <a:p>
                      <a:pPr algn="ctr" fontAlgn="ctr"/>
                      <a:r>
                        <a:rPr lang="en-IN" sz="2200" u="none" strike="noStrike">
                          <a:effectLst/>
                        </a:rPr>
                        <a:t>A</a:t>
                      </a:r>
                      <a:endParaRPr lang="en-IN" sz="2200" b="1" i="0" u="none" strike="noStrike">
                        <a:solidFill>
                          <a:srgbClr val="000000"/>
                        </a:solidFill>
                        <a:effectLst/>
                        <a:latin typeface="Aptos Narrow" panose="020B0004020202020204" pitchFamily="34" charset="0"/>
                      </a:endParaRPr>
                    </a:p>
                  </a:txBody>
                  <a:tcPr marL="6350" marR="6350" marT="6350" marB="0" anchor="ctr"/>
                </a:tc>
                <a:tc>
                  <a:txBody>
                    <a:bodyPr/>
                    <a:lstStyle/>
                    <a:p>
                      <a:pPr algn="ctr" fontAlgn="ctr"/>
                      <a:r>
                        <a:rPr lang="en-IN" sz="2200" u="none" strike="noStrike">
                          <a:effectLst/>
                        </a:rPr>
                        <a:t>B</a:t>
                      </a:r>
                      <a:endParaRPr lang="en-IN" sz="2200" b="1" i="0" u="none" strike="noStrike">
                        <a:solidFill>
                          <a:srgbClr val="000000"/>
                        </a:solidFill>
                        <a:effectLst/>
                        <a:latin typeface="Aptos Narrow" panose="020B0004020202020204" pitchFamily="34" charset="0"/>
                      </a:endParaRPr>
                    </a:p>
                  </a:txBody>
                  <a:tcPr marL="6350" marR="6350" marT="6350" marB="0" anchor="ctr"/>
                </a:tc>
                <a:extLst>
                  <a:ext uri="{0D108BD9-81ED-4DB2-BD59-A6C34878D82A}">
                    <a16:rowId xmlns:a16="http://schemas.microsoft.com/office/drawing/2014/main" val="3968726716"/>
                  </a:ext>
                </a:extLst>
              </a:tr>
              <a:tr h="361950">
                <a:tc>
                  <a:txBody>
                    <a:bodyPr/>
                    <a:lstStyle/>
                    <a:p>
                      <a:pPr algn="ctr" fontAlgn="ctr"/>
                      <a:r>
                        <a:rPr lang="en-IN" sz="2200" u="none" strike="noStrike">
                          <a:effectLst/>
                        </a:rPr>
                        <a:t>3</a:t>
                      </a:r>
                      <a:endParaRPr lang="en-IN" sz="2200" b="1" i="0" u="none" strike="noStrike">
                        <a:solidFill>
                          <a:srgbClr val="000000"/>
                        </a:solidFill>
                        <a:effectLst/>
                        <a:latin typeface="Aptos Narrow" panose="020B0004020202020204" pitchFamily="34" charset="0"/>
                      </a:endParaRPr>
                    </a:p>
                  </a:txBody>
                  <a:tcPr marL="6350" marR="6350" marT="6350" marB="0" anchor="ctr"/>
                </a:tc>
                <a:tc>
                  <a:txBody>
                    <a:bodyPr/>
                    <a:lstStyle/>
                    <a:p>
                      <a:pPr algn="ctr" fontAlgn="ctr"/>
                      <a:r>
                        <a:rPr lang="en-IN" sz="2200" u="none" strike="noStrike">
                          <a:effectLst/>
                        </a:rPr>
                        <a:t>4</a:t>
                      </a:r>
                      <a:endParaRPr lang="en-IN" sz="2200" b="1" i="0" u="none" strike="noStrike">
                        <a:solidFill>
                          <a:srgbClr val="000000"/>
                        </a:solidFill>
                        <a:effectLst/>
                        <a:latin typeface="Aptos Narrow" panose="020B0004020202020204" pitchFamily="34" charset="0"/>
                      </a:endParaRPr>
                    </a:p>
                  </a:txBody>
                  <a:tcPr marL="6350" marR="6350" marT="6350" marB="0" anchor="ctr"/>
                </a:tc>
                <a:extLst>
                  <a:ext uri="{0D108BD9-81ED-4DB2-BD59-A6C34878D82A}">
                    <a16:rowId xmlns:a16="http://schemas.microsoft.com/office/drawing/2014/main" val="320354257"/>
                  </a:ext>
                </a:extLst>
              </a:tr>
              <a:tr h="361950">
                <a:tc>
                  <a:txBody>
                    <a:bodyPr/>
                    <a:lstStyle/>
                    <a:p>
                      <a:pPr algn="ctr" fontAlgn="ctr"/>
                      <a:r>
                        <a:rPr lang="en-IN" sz="2200" u="none" strike="noStrike">
                          <a:effectLst/>
                        </a:rPr>
                        <a:t>5</a:t>
                      </a:r>
                      <a:endParaRPr lang="en-IN" sz="2200" b="1" i="0" u="none" strike="noStrike">
                        <a:solidFill>
                          <a:srgbClr val="000000"/>
                        </a:solidFill>
                        <a:effectLst/>
                        <a:latin typeface="Aptos Narrow" panose="020B0004020202020204" pitchFamily="34" charset="0"/>
                      </a:endParaRPr>
                    </a:p>
                  </a:txBody>
                  <a:tcPr marL="6350" marR="6350" marT="6350" marB="0" anchor="ctr"/>
                </a:tc>
                <a:tc>
                  <a:txBody>
                    <a:bodyPr/>
                    <a:lstStyle/>
                    <a:p>
                      <a:pPr algn="ctr" fontAlgn="ctr"/>
                      <a:r>
                        <a:rPr lang="en-IN" sz="2200" u="none" strike="noStrike" dirty="0">
                          <a:effectLst/>
                        </a:rPr>
                        <a:t>6</a:t>
                      </a:r>
                      <a:endParaRPr lang="en-IN" sz="2200" b="1" i="0" u="none" strike="noStrike" dirty="0">
                        <a:solidFill>
                          <a:srgbClr val="000000"/>
                        </a:solidFill>
                        <a:effectLst/>
                        <a:latin typeface="Aptos Narrow" panose="020B0004020202020204" pitchFamily="34" charset="0"/>
                      </a:endParaRPr>
                    </a:p>
                  </a:txBody>
                  <a:tcPr marL="6350" marR="6350" marT="6350" marB="0" anchor="ctr"/>
                </a:tc>
                <a:extLst>
                  <a:ext uri="{0D108BD9-81ED-4DB2-BD59-A6C34878D82A}">
                    <a16:rowId xmlns:a16="http://schemas.microsoft.com/office/drawing/2014/main" val="3689536094"/>
                  </a:ext>
                </a:extLst>
              </a:tr>
            </a:tbl>
          </a:graphicData>
        </a:graphic>
      </p:graphicFrame>
    </p:spTree>
    <p:extLst>
      <p:ext uri="{BB962C8B-B14F-4D97-AF65-F5344CB8AC3E}">
        <p14:creationId xmlns:p14="http://schemas.microsoft.com/office/powerpoint/2010/main" val="3524455806"/>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6">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6">
                                            <p:txEl>
                                              <p:pRg st="2" end="2"/>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grpId="0" nodeType="clickEffect">
                                  <p:stCondLst>
                                    <p:cond delay="0"/>
                                  </p:stCondLst>
                                  <p:childTnLst>
                                    <p:set>
                                      <p:cBhvr>
                                        <p:cTn id="14" dur="1" fill="hold">
                                          <p:stCondLst>
                                            <p:cond delay="0"/>
                                          </p:stCondLst>
                                        </p:cTn>
                                        <p:tgtEl>
                                          <p:spTgt spid="6">
                                            <p:txEl>
                                              <p:pRg st="3" end="3"/>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6" grpId="0" build="p"/>
    </p:bldLst>
  </p:timing>
</p:sld>
</file>

<file path=ppt/slides/slide1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695400" y="395786"/>
            <a:ext cx="9972600" cy="838202"/>
          </a:xfrm>
        </p:spPr>
        <p:txBody>
          <a:bodyPr/>
          <a:lstStyle/>
          <a:p>
            <a:r>
              <a:rPr lang="en-IN" b="1" dirty="0"/>
              <a:t>Relational algebra operations continued..</a:t>
            </a:r>
          </a:p>
        </p:txBody>
      </p:sp>
      <p:sp>
        <p:nvSpPr>
          <p:cNvPr id="6" name="Text Placeholder 5"/>
          <p:cNvSpPr>
            <a:spLocks noGrp="1"/>
          </p:cNvSpPr>
          <p:nvPr>
            <p:ph type="body" sz="quarter" idx="17"/>
          </p:nvPr>
        </p:nvSpPr>
        <p:spPr>
          <a:xfrm>
            <a:off x="1270000" y="1143000"/>
            <a:ext cx="9779000" cy="5005473"/>
          </a:xfrm>
          <a:prstGeom prst="rect">
            <a:avLst/>
          </a:prstGeom>
        </p:spPr>
        <p:txBody>
          <a:bodyPr wrap="square">
            <a:spAutoFit/>
          </a:bodyPr>
          <a:lstStyle/>
          <a:p>
            <a:pPr marL="0" indent="0">
              <a:buNone/>
            </a:pPr>
            <a:r>
              <a:rPr lang="en-US" b="1" dirty="0"/>
              <a:t>3. Difference (−)</a:t>
            </a:r>
          </a:p>
          <a:p>
            <a:pPr marL="0" indent="0">
              <a:buNone/>
            </a:pPr>
            <a:r>
              <a:rPr lang="en-US" b="1" dirty="0"/>
              <a:t>Purpose</a:t>
            </a:r>
            <a:r>
              <a:rPr lang="en-US" dirty="0"/>
              <a:t>: Returns the tuples that exist in the first relation but not in the second relation.</a:t>
            </a:r>
          </a:p>
          <a:p>
            <a:pPr marL="0" indent="0">
              <a:buNone/>
            </a:pPr>
            <a:r>
              <a:rPr lang="en-US" b="1" dirty="0"/>
              <a:t>Operation</a:t>
            </a:r>
            <a:r>
              <a:rPr lang="en-US" dirty="0"/>
              <a:t>: The difference operation subtracts tuples in the second relation from the first relation.</a:t>
            </a:r>
          </a:p>
          <a:p>
            <a:pPr marL="0" indent="0">
              <a:buNone/>
            </a:pPr>
            <a:r>
              <a:rPr lang="en-US" b="1" dirty="0"/>
              <a:t>Syntax</a:t>
            </a:r>
            <a:r>
              <a:rPr lang="en-US" dirty="0"/>
              <a:t>: Relation1 − Relation2</a:t>
            </a:r>
          </a:p>
          <a:p>
            <a:pPr marL="0" indent="0">
              <a:buNone/>
            </a:pPr>
            <a:r>
              <a:rPr lang="en-US" b="1" dirty="0"/>
              <a:t>Example</a:t>
            </a:r>
            <a:r>
              <a:rPr lang="en-US" dirty="0"/>
              <a:t>: Find students who are in the </a:t>
            </a:r>
            <a:r>
              <a:rPr lang="en-US" dirty="0" err="1"/>
              <a:t>CS_Students</a:t>
            </a:r>
            <a:r>
              <a:rPr lang="en-US" dirty="0"/>
              <a:t> relation but not in </a:t>
            </a:r>
            <a:r>
              <a:rPr lang="en-US" dirty="0" err="1"/>
              <a:t>EE_Students</a:t>
            </a:r>
            <a:r>
              <a:rPr lang="en-US" dirty="0"/>
              <a:t>:</a:t>
            </a:r>
          </a:p>
          <a:p>
            <a:pPr marL="0" indent="0">
              <a:buNone/>
            </a:pPr>
            <a:r>
              <a:rPr lang="en-US" dirty="0" err="1"/>
              <a:t>CS_Students</a:t>
            </a:r>
            <a:r>
              <a:rPr lang="en-US" dirty="0"/>
              <a:t> − </a:t>
            </a:r>
            <a:r>
              <a:rPr lang="en-US" dirty="0" err="1"/>
              <a:t>EE_Students</a:t>
            </a:r>
            <a:endParaRPr lang="en-US" dirty="0"/>
          </a:p>
          <a:p>
            <a:pPr marL="0" indent="0">
              <a:buNone/>
            </a:pPr>
            <a:r>
              <a:rPr lang="en-GB" b="1" dirty="0"/>
              <a:t>Result</a:t>
            </a:r>
            <a:r>
              <a:rPr lang="en-GB" dirty="0"/>
              <a:t>: </a:t>
            </a:r>
            <a:endParaRPr lang="en-US" dirty="0"/>
          </a:p>
          <a:p>
            <a:pPr algn="just">
              <a:buFont typeface="Arial" panose="020B0604020202020204" pitchFamily="34" charset="0"/>
              <a:buChar char="•"/>
            </a:pPr>
            <a:endParaRPr lang="en-IN" dirty="0"/>
          </a:p>
        </p:txBody>
      </p:sp>
      <p:graphicFrame>
        <p:nvGraphicFramePr>
          <p:cNvPr id="3" name="Table 2"/>
          <p:cNvGraphicFramePr>
            <a:graphicFrameLocks noGrp="1"/>
          </p:cNvGraphicFramePr>
          <p:nvPr/>
        </p:nvGraphicFramePr>
        <p:xfrm>
          <a:off x="5207000" y="5397500"/>
          <a:ext cx="6667500" cy="1143000"/>
        </p:xfrm>
        <a:graphic>
          <a:graphicData uri="http://schemas.openxmlformats.org/drawingml/2006/table">
            <a:tbl>
              <a:tblPr firstRow="1" firstCol="1" bandRow="1">
                <a:tableStyleId>{5C22544A-7EE6-4342-B048-85BDC9FD1C3A}</a:tableStyleId>
              </a:tblPr>
              <a:tblGrid>
                <a:gridCol w="1391478">
                  <a:extLst>
                    <a:ext uri="{9D8B030D-6E8A-4147-A177-3AD203B41FA5}">
                      <a16:colId xmlns:a16="http://schemas.microsoft.com/office/drawing/2014/main" val="20000"/>
                    </a:ext>
                  </a:extLst>
                </a:gridCol>
                <a:gridCol w="1913283">
                  <a:extLst>
                    <a:ext uri="{9D8B030D-6E8A-4147-A177-3AD203B41FA5}">
                      <a16:colId xmlns:a16="http://schemas.microsoft.com/office/drawing/2014/main" val="20001"/>
                    </a:ext>
                  </a:extLst>
                </a:gridCol>
                <a:gridCol w="1391478">
                  <a:extLst>
                    <a:ext uri="{9D8B030D-6E8A-4147-A177-3AD203B41FA5}">
                      <a16:colId xmlns:a16="http://schemas.microsoft.com/office/drawing/2014/main" val="20002"/>
                    </a:ext>
                  </a:extLst>
                </a:gridCol>
                <a:gridCol w="1971261">
                  <a:extLst>
                    <a:ext uri="{9D8B030D-6E8A-4147-A177-3AD203B41FA5}">
                      <a16:colId xmlns:a16="http://schemas.microsoft.com/office/drawing/2014/main" val="20003"/>
                    </a:ext>
                  </a:extLst>
                </a:gridCol>
              </a:tblGrid>
              <a:tr h="381000">
                <a:tc>
                  <a:txBody>
                    <a:bodyPr/>
                    <a:lstStyle/>
                    <a:p>
                      <a:pPr algn="ctr">
                        <a:lnSpc>
                          <a:spcPct val="115000"/>
                        </a:lnSpc>
                        <a:spcAft>
                          <a:spcPts val="0"/>
                        </a:spcAft>
                      </a:pPr>
                      <a:r>
                        <a:rPr lang="en-GB" sz="900">
                          <a:effectLst/>
                        </a:rPr>
                        <a:t>RollNo</a:t>
                      </a:r>
                      <a:endParaRPr lang="en-GB" sz="900">
                        <a:effectLst/>
                        <a:latin typeface="Calibri"/>
                        <a:ea typeface="Calibri"/>
                        <a:cs typeface="Times New Roman"/>
                      </a:endParaRPr>
                    </a:p>
                  </a:txBody>
                  <a:tcPr marL="57150" marR="57150" marT="0" marB="0" anchor="ctr"/>
                </a:tc>
                <a:tc>
                  <a:txBody>
                    <a:bodyPr/>
                    <a:lstStyle/>
                    <a:p>
                      <a:pPr algn="ctr">
                        <a:lnSpc>
                          <a:spcPct val="115000"/>
                        </a:lnSpc>
                        <a:spcAft>
                          <a:spcPts val="0"/>
                        </a:spcAft>
                      </a:pPr>
                      <a:r>
                        <a:rPr lang="en-GB" sz="900">
                          <a:effectLst/>
                        </a:rPr>
                        <a:t>Name</a:t>
                      </a:r>
                      <a:endParaRPr lang="en-GB" sz="900">
                        <a:effectLst/>
                        <a:latin typeface="Calibri"/>
                        <a:ea typeface="Calibri"/>
                        <a:cs typeface="Times New Roman"/>
                      </a:endParaRPr>
                    </a:p>
                  </a:txBody>
                  <a:tcPr marL="57150" marR="57150" marT="0" marB="0" anchor="ctr"/>
                </a:tc>
                <a:tc>
                  <a:txBody>
                    <a:bodyPr/>
                    <a:lstStyle/>
                    <a:p>
                      <a:pPr algn="ctr">
                        <a:lnSpc>
                          <a:spcPct val="115000"/>
                        </a:lnSpc>
                        <a:spcAft>
                          <a:spcPts val="0"/>
                        </a:spcAft>
                      </a:pPr>
                      <a:r>
                        <a:rPr lang="en-GB" sz="900">
                          <a:effectLst/>
                        </a:rPr>
                        <a:t>Age</a:t>
                      </a:r>
                      <a:endParaRPr lang="en-GB" sz="900">
                        <a:effectLst/>
                        <a:latin typeface="Calibri"/>
                        <a:ea typeface="Calibri"/>
                        <a:cs typeface="Times New Roman"/>
                      </a:endParaRPr>
                    </a:p>
                  </a:txBody>
                  <a:tcPr marL="57150" marR="57150" marT="0" marB="0" anchor="ctr"/>
                </a:tc>
                <a:tc>
                  <a:txBody>
                    <a:bodyPr/>
                    <a:lstStyle/>
                    <a:p>
                      <a:pPr algn="ctr">
                        <a:lnSpc>
                          <a:spcPct val="115000"/>
                        </a:lnSpc>
                        <a:spcAft>
                          <a:spcPts val="0"/>
                        </a:spcAft>
                      </a:pPr>
                      <a:r>
                        <a:rPr lang="en-GB" sz="900">
                          <a:effectLst/>
                        </a:rPr>
                        <a:t>Department</a:t>
                      </a:r>
                      <a:endParaRPr lang="en-GB" sz="900">
                        <a:effectLst/>
                        <a:latin typeface="Calibri"/>
                        <a:ea typeface="Calibri"/>
                        <a:cs typeface="Times New Roman"/>
                      </a:endParaRPr>
                    </a:p>
                  </a:txBody>
                  <a:tcPr marL="57150" marR="57150" marT="0" marB="0" anchor="ctr"/>
                </a:tc>
                <a:extLst>
                  <a:ext uri="{0D108BD9-81ED-4DB2-BD59-A6C34878D82A}">
                    <a16:rowId xmlns:a16="http://schemas.microsoft.com/office/drawing/2014/main" val="10000"/>
                  </a:ext>
                </a:extLst>
              </a:tr>
              <a:tr h="381000">
                <a:tc>
                  <a:txBody>
                    <a:bodyPr/>
                    <a:lstStyle/>
                    <a:p>
                      <a:pPr algn="ctr">
                        <a:lnSpc>
                          <a:spcPct val="115000"/>
                        </a:lnSpc>
                        <a:spcAft>
                          <a:spcPts val="0"/>
                        </a:spcAft>
                      </a:pPr>
                      <a:r>
                        <a:rPr lang="en-GB" sz="900">
                          <a:effectLst/>
                        </a:rPr>
                        <a:t>101</a:t>
                      </a:r>
                      <a:endParaRPr lang="en-GB" sz="900">
                        <a:effectLst/>
                        <a:latin typeface="Calibri"/>
                        <a:ea typeface="Calibri"/>
                        <a:cs typeface="Times New Roman"/>
                      </a:endParaRPr>
                    </a:p>
                  </a:txBody>
                  <a:tcPr marL="57150" marR="57150" marT="0" marB="0" anchor="ctr"/>
                </a:tc>
                <a:tc>
                  <a:txBody>
                    <a:bodyPr/>
                    <a:lstStyle/>
                    <a:p>
                      <a:pPr algn="ctr">
                        <a:lnSpc>
                          <a:spcPct val="115000"/>
                        </a:lnSpc>
                        <a:spcAft>
                          <a:spcPts val="0"/>
                        </a:spcAft>
                      </a:pPr>
                      <a:r>
                        <a:rPr lang="en-GB" sz="900">
                          <a:effectLst/>
                        </a:rPr>
                        <a:t>John</a:t>
                      </a:r>
                      <a:endParaRPr lang="en-GB" sz="900">
                        <a:effectLst/>
                        <a:latin typeface="Calibri"/>
                        <a:ea typeface="Calibri"/>
                        <a:cs typeface="Times New Roman"/>
                      </a:endParaRPr>
                    </a:p>
                  </a:txBody>
                  <a:tcPr marL="57150" marR="57150" marT="0" marB="0" anchor="ctr"/>
                </a:tc>
                <a:tc>
                  <a:txBody>
                    <a:bodyPr/>
                    <a:lstStyle/>
                    <a:p>
                      <a:pPr algn="ctr">
                        <a:lnSpc>
                          <a:spcPct val="115000"/>
                        </a:lnSpc>
                        <a:spcAft>
                          <a:spcPts val="0"/>
                        </a:spcAft>
                      </a:pPr>
                      <a:r>
                        <a:rPr lang="en-GB" sz="900">
                          <a:effectLst/>
                        </a:rPr>
                        <a:t>20</a:t>
                      </a:r>
                      <a:endParaRPr lang="en-GB" sz="900">
                        <a:effectLst/>
                        <a:latin typeface="Calibri"/>
                        <a:ea typeface="Calibri"/>
                        <a:cs typeface="Times New Roman"/>
                      </a:endParaRPr>
                    </a:p>
                  </a:txBody>
                  <a:tcPr marL="57150" marR="57150" marT="0" marB="0" anchor="ctr"/>
                </a:tc>
                <a:tc>
                  <a:txBody>
                    <a:bodyPr/>
                    <a:lstStyle/>
                    <a:p>
                      <a:pPr algn="ctr">
                        <a:lnSpc>
                          <a:spcPct val="115000"/>
                        </a:lnSpc>
                        <a:spcAft>
                          <a:spcPts val="0"/>
                        </a:spcAft>
                      </a:pPr>
                      <a:r>
                        <a:rPr lang="en-GB" sz="900">
                          <a:effectLst/>
                        </a:rPr>
                        <a:t>CS</a:t>
                      </a:r>
                      <a:endParaRPr lang="en-GB" sz="900">
                        <a:effectLst/>
                        <a:latin typeface="Calibri"/>
                        <a:ea typeface="Calibri"/>
                        <a:cs typeface="Times New Roman"/>
                      </a:endParaRPr>
                    </a:p>
                  </a:txBody>
                  <a:tcPr marL="57150" marR="57150" marT="0" marB="0" anchor="ctr"/>
                </a:tc>
                <a:extLst>
                  <a:ext uri="{0D108BD9-81ED-4DB2-BD59-A6C34878D82A}">
                    <a16:rowId xmlns:a16="http://schemas.microsoft.com/office/drawing/2014/main" val="10001"/>
                  </a:ext>
                </a:extLst>
              </a:tr>
              <a:tr h="381000">
                <a:tc>
                  <a:txBody>
                    <a:bodyPr/>
                    <a:lstStyle/>
                    <a:p>
                      <a:pPr algn="ctr">
                        <a:lnSpc>
                          <a:spcPct val="115000"/>
                        </a:lnSpc>
                        <a:spcAft>
                          <a:spcPts val="0"/>
                        </a:spcAft>
                      </a:pPr>
                      <a:r>
                        <a:rPr lang="en-GB" sz="900">
                          <a:effectLst/>
                        </a:rPr>
                        <a:t>104</a:t>
                      </a:r>
                      <a:endParaRPr lang="en-GB" sz="900">
                        <a:effectLst/>
                        <a:latin typeface="Calibri"/>
                        <a:ea typeface="Calibri"/>
                        <a:cs typeface="Times New Roman"/>
                      </a:endParaRPr>
                    </a:p>
                  </a:txBody>
                  <a:tcPr marL="57150" marR="57150" marT="0" marB="0" anchor="ctr"/>
                </a:tc>
                <a:tc>
                  <a:txBody>
                    <a:bodyPr/>
                    <a:lstStyle/>
                    <a:p>
                      <a:pPr algn="ctr">
                        <a:lnSpc>
                          <a:spcPct val="115000"/>
                        </a:lnSpc>
                        <a:spcAft>
                          <a:spcPts val="0"/>
                        </a:spcAft>
                      </a:pPr>
                      <a:r>
                        <a:rPr lang="en-GB" sz="900">
                          <a:effectLst/>
                        </a:rPr>
                        <a:t>Carol</a:t>
                      </a:r>
                      <a:endParaRPr lang="en-GB" sz="900">
                        <a:effectLst/>
                        <a:latin typeface="Calibri"/>
                        <a:ea typeface="Calibri"/>
                        <a:cs typeface="Times New Roman"/>
                      </a:endParaRPr>
                    </a:p>
                  </a:txBody>
                  <a:tcPr marL="57150" marR="57150" marT="0" marB="0" anchor="ctr"/>
                </a:tc>
                <a:tc>
                  <a:txBody>
                    <a:bodyPr/>
                    <a:lstStyle/>
                    <a:p>
                      <a:pPr algn="ctr">
                        <a:lnSpc>
                          <a:spcPct val="115000"/>
                        </a:lnSpc>
                        <a:spcAft>
                          <a:spcPts val="0"/>
                        </a:spcAft>
                      </a:pPr>
                      <a:r>
                        <a:rPr lang="en-GB" sz="900">
                          <a:effectLst/>
                        </a:rPr>
                        <a:t>23</a:t>
                      </a:r>
                      <a:endParaRPr lang="en-GB" sz="900">
                        <a:effectLst/>
                        <a:latin typeface="Calibri"/>
                        <a:ea typeface="Calibri"/>
                        <a:cs typeface="Times New Roman"/>
                      </a:endParaRPr>
                    </a:p>
                  </a:txBody>
                  <a:tcPr marL="57150" marR="57150" marT="0" marB="0" anchor="ctr"/>
                </a:tc>
                <a:tc>
                  <a:txBody>
                    <a:bodyPr/>
                    <a:lstStyle/>
                    <a:p>
                      <a:pPr algn="ctr">
                        <a:lnSpc>
                          <a:spcPct val="115000"/>
                        </a:lnSpc>
                        <a:spcAft>
                          <a:spcPts val="0"/>
                        </a:spcAft>
                      </a:pPr>
                      <a:r>
                        <a:rPr lang="en-GB" sz="900" dirty="0">
                          <a:effectLst/>
                        </a:rPr>
                        <a:t>CS</a:t>
                      </a:r>
                      <a:endParaRPr lang="en-GB" sz="900" dirty="0">
                        <a:effectLst/>
                        <a:latin typeface="Calibri"/>
                        <a:ea typeface="Calibri"/>
                        <a:cs typeface="Times New Roman"/>
                      </a:endParaRPr>
                    </a:p>
                  </a:txBody>
                  <a:tcPr marL="57150" marR="57150" marT="0" marB="0" anchor="ctr"/>
                </a:tc>
                <a:extLst>
                  <a:ext uri="{0D108BD9-81ED-4DB2-BD59-A6C34878D82A}">
                    <a16:rowId xmlns:a16="http://schemas.microsoft.com/office/drawing/2014/main" val="10002"/>
                  </a:ext>
                </a:extLst>
              </a:tr>
            </a:tbl>
          </a:graphicData>
        </a:graphic>
      </p:graphicFrame>
    </p:spTree>
    <p:extLst>
      <p:ext uri="{BB962C8B-B14F-4D97-AF65-F5344CB8AC3E}">
        <p14:creationId xmlns:p14="http://schemas.microsoft.com/office/powerpoint/2010/main" val="1320739620"/>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6">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6">
                                            <p:txEl>
                                              <p:pRg st="1" end="1"/>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grpId="0" nodeType="clickEffect">
                                  <p:stCondLst>
                                    <p:cond delay="0"/>
                                  </p:stCondLst>
                                  <p:childTnLst>
                                    <p:set>
                                      <p:cBhvr>
                                        <p:cTn id="14" dur="1" fill="hold">
                                          <p:stCondLst>
                                            <p:cond delay="0"/>
                                          </p:stCondLst>
                                        </p:cTn>
                                        <p:tgtEl>
                                          <p:spTgt spid="6">
                                            <p:txEl>
                                              <p:pRg st="2" end="2"/>
                                            </p:txEl>
                                          </p:spTgt>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grpId="0" nodeType="clickEffect">
                                  <p:stCondLst>
                                    <p:cond delay="0"/>
                                  </p:stCondLst>
                                  <p:childTnLst>
                                    <p:set>
                                      <p:cBhvr>
                                        <p:cTn id="18" dur="1" fill="hold">
                                          <p:stCondLst>
                                            <p:cond delay="0"/>
                                          </p:stCondLst>
                                        </p:cTn>
                                        <p:tgtEl>
                                          <p:spTgt spid="6">
                                            <p:txEl>
                                              <p:pRg st="3" end="3"/>
                                            </p:txEl>
                                          </p:spTgt>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grpId="0" nodeType="clickEffect">
                                  <p:stCondLst>
                                    <p:cond delay="0"/>
                                  </p:stCondLst>
                                  <p:childTnLst>
                                    <p:set>
                                      <p:cBhvr>
                                        <p:cTn id="22" dur="1" fill="hold">
                                          <p:stCondLst>
                                            <p:cond delay="0"/>
                                          </p:stCondLst>
                                        </p:cTn>
                                        <p:tgtEl>
                                          <p:spTgt spid="6">
                                            <p:txEl>
                                              <p:pRg st="4" end="4"/>
                                            </p:txEl>
                                          </p:spTgt>
                                        </p:tgtEl>
                                        <p:attrNameLst>
                                          <p:attrName>style.visibility</p:attrName>
                                        </p:attrNameLst>
                                      </p:cBhvr>
                                      <p:to>
                                        <p:strVal val="visible"/>
                                      </p:to>
                                    </p:set>
                                  </p:childTnLst>
                                </p:cTn>
                              </p:par>
                            </p:childTnLst>
                          </p:cTn>
                        </p:par>
                      </p:childTnLst>
                    </p:cTn>
                  </p:par>
                  <p:par>
                    <p:cTn id="23" fill="hold">
                      <p:stCondLst>
                        <p:cond delay="indefinite"/>
                      </p:stCondLst>
                      <p:childTnLst>
                        <p:par>
                          <p:cTn id="24" fill="hold">
                            <p:stCondLst>
                              <p:cond delay="0"/>
                            </p:stCondLst>
                            <p:childTnLst>
                              <p:par>
                                <p:cTn id="25" presetID="1" presetClass="entr" presetSubtype="0" fill="hold" grpId="0" nodeType="clickEffect">
                                  <p:stCondLst>
                                    <p:cond delay="0"/>
                                  </p:stCondLst>
                                  <p:childTnLst>
                                    <p:set>
                                      <p:cBhvr>
                                        <p:cTn id="26" dur="1" fill="hold">
                                          <p:stCondLst>
                                            <p:cond delay="0"/>
                                          </p:stCondLst>
                                        </p:cTn>
                                        <p:tgtEl>
                                          <p:spTgt spid="6">
                                            <p:txEl>
                                              <p:pRg st="5" end="5"/>
                                            </p:txEl>
                                          </p:spTgt>
                                        </p:tgtEl>
                                        <p:attrNameLst>
                                          <p:attrName>style.visibility</p:attrName>
                                        </p:attrNameLst>
                                      </p:cBhvr>
                                      <p:to>
                                        <p:strVal val="visible"/>
                                      </p:to>
                                    </p:set>
                                  </p:childTnLst>
                                </p:cTn>
                              </p:par>
                            </p:childTnLst>
                          </p:cTn>
                        </p:par>
                      </p:childTnLst>
                    </p:cTn>
                  </p:par>
                  <p:par>
                    <p:cTn id="27" fill="hold">
                      <p:stCondLst>
                        <p:cond delay="indefinite"/>
                      </p:stCondLst>
                      <p:childTnLst>
                        <p:par>
                          <p:cTn id="28" fill="hold">
                            <p:stCondLst>
                              <p:cond delay="0"/>
                            </p:stCondLst>
                            <p:childTnLst>
                              <p:par>
                                <p:cTn id="29" presetID="1" presetClass="entr" presetSubtype="0" fill="hold" grpId="0" nodeType="clickEffect">
                                  <p:stCondLst>
                                    <p:cond delay="0"/>
                                  </p:stCondLst>
                                  <p:childTnLst>
                                    <p:set>
                                      <p:cBhvr>
                                        <p:cTn id="30" dur="1" fill="hold">
                                          <p:stCondLst>
                                            <p:cond delay="0"/>
                                          </p:stCondLst>
                                        </p:cTn>
                                        <p:tgtEl>
                                          <p:spTgt spid="6">
                                            <p:txEl>
                                              <p:pRg st="6" end="6"/>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6" grpId="0" build="p"/>
    </p:bldLst>
  </p:timing>
</p:sld>
</file>

<file path=ppt/slides/slide13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ACAB7C4-015E-D976-E314-6F02CEE42880}"/>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97E0785C-D9B0-C8DA-2F87-C09E737ACB70}"/>
              </a:ext>
            </a:extLst>
          </p:cNvPr>
          <p:cNvSpPr>
            <a:spLocks noGrp="1"/>
          </p:cNvSpPr>
          <p:nvPr>
            <p:ph type="title"/>
          </p:nvPr>
        </p:nvSpPr>
        <p:spPr>
          <a:xfrm>
            <a:off x="695400" y="395786"/>
            <a:ext cx="9972600" cy="838202"/>
          </a:xfrm>
        </p:spPr>
        <p:txBody>
          <a:bodyPr/>
          <a:lstStyle/>
          <a:p>
            <a:r>
              <a:rPr lang="en-IN" b="1" dirty="0"/>
              <a:t>Relational algebra operations continued..</a:t>
            </a:r>
          </a:p>
        </p:txBody>
      </p:sp>
      <p:sp>
        <p:nvSpPr>
          <p:cNvPr id="6" name="Text Placeholder 5">
            <a:extLst>
              <a:ext uri="{FF2B5EF4-FFF2-40B4-BE49-F238E27FC236}">
                <a16:creationId xmlns:a16="http://schemas.microsoft.com/office/drawing/2014/main" id="{B6F01021-3E54-0F93-6ABE-390C615E5511}"/>
              </a:ext>
            </a:extLst>
          </p:cNvPr>
          <p:cNvSpPr>
            <a:spLocks noGrp="1"/>
          </p:cNvSpPr>
          <p:nvPr>
            <p:ph type="body" sz="quarter" idx="17"/>
          </p:nvPr>
        </p:nvSpPr>
        <p:spPr>
          <a:xfrm>
            <a:off x="1270000" y="1143000"/>
            <a:ext cx="9779000" cy="936667"/>
          </a:xfrm>
          <a:prstGeom prst="rect">
            <a:avLst/>
          </a:prstGeom>
        </p:spPr>
        <p:txBody>
          <a:bodyPr wrap="square">
            <a:spAutoFit/>
          </a:bodyPr>
          <a:lstStyle/>
          <a:p>
            <a:pPr marL="0" indent="0">
              <a:buNone/>
            </a:pPr>
            <a:r>
              <a:rPr lang="en-US" b="1" dirty="0"/>
              <a:t>3. Difference (−)</a:t>
            </a:r>
          </a:p>
          <a:p>
            <a:pPr algn="just">
              <a:buFont typeface="Arial" panose="020B0604020202020204" pitchFamily="34" charset="0"/>
              <a:buChar char="•"/>
            </a:pPr>
            <a:r>
              <a:rPr lang="en-IN" dirty="0"/>
              <a:t>Table: </a:t>
            </a:r>
            <a:r>
              <a:rPr lang="en-IN" dirty="0" err="1"/>
              <a:t>Enrolled_Students</a:t>
            </a:r>
            <a:endParaRPr lang="en-IN" dirty="0"/>
          </a:p>
        </p:txBody>
      </p:sp>
      <p:graphicFrame>
        <p:nvGraphicFramePr>
          <p:cNvPr id="4" name="Table 3">
            <a:extLst>
              <a:ext uri="{FF2B5EF4-FFF2-40B4-BE49-F238E27FC236}">
                <a16:creationId xmlns:a16="http://schemas.microsoft.com/office/drawing/2014/main" id="{DEC2314F-E36B-B809-8D08-5B377E2C3F47}"/>
              </a:ext>
            </a:extLst>
          </p:cNvPr>
          <p:cNvGraphicFramePr>
            <a:graphicFrameLocks noGrp="1"/>
          </p:cNvGraphicFramePr>
          <p:nvPr>
            <p:extLst>
              <p:ext uri="{D42A27DB-BD31-4B8C-83A1-F6EECF244321}">
                <p14:modId xmlns:p14="http://schemas.microsoft.com/office/powerpoint/2010/main" val="849855532"/>
              </p:ext>
            </p:extLst>
          </p:nvPr>
        </p:nvGraphicFramePr>
        <p:xfrm>
          <a:off x="1343472" y="2011807"/>
          <a:ext cx="3744416" cy="2636914"/>
        </p:xfrm>
        <a:graphic>
          <a:graphicData uri="http://schemas.openxmlformats.org/drawingml/2006/table">
            <a:tbl>
              <a:tblPr>
                <a:tableStyleId>{5C22544A-7EE6-4342-B048-85BDC9FD1C3A}</a:tableStyleId>
              </a:tblPr>
              <a:tblGrid>
                <a:gridCol w="1281889">
                  <a:extLst>
                    <a:ext uri="{9D8B030D-6E8A-4147-A177-3AD203B41FA5}">
                      <a16:colId xmlns:a16="http://schemas.microsoft.com/office/drawing/2014/main" val="2305950441"/>
                    </a:ext>
                  </a:extLst>
                </a:gridCol>
                <a:gridCol w="904862">
                  <a:extLst>
                    <a:ext uri="{9D8B030D-6E8A-4147-A177-3AD203B41FA5}">
                      <a16:colId xmlns:a16="http://schemas.microsoft.com/office/drawing/2014/main" val="3273187964"/>
                    </a:ext>
                  </a:extLst>
                </a:gridCol>
                <a:gridCol w="1557665">
                  <a:extLst>
                    <a:ext uri="{9D8B030D-6E8A-4147-A177-3AD203B41FA5}">
                      <a16:colId xmlns:a16="http://schemas.microsoft.com/office/drawing/2014/main" val="2534075960"/>
                    </a:ext>
                  </a:extLst>
                </a:gridCol>
              </a:tblGrid>
              <a:tr h="479439">
                <a:tc>
                  <a:txBody>
                    <a:bodyPr/>
                    <a:lstStyle/>
                    <a:p>
                      <a:pPr algn="ctr" fontAlgn="ctr"/>
                      <a:r>
                        <a:rPr lang="en-IN" sz="2200" u="none" strike="noStrike">
                          <a:effectLst/>
                        </a:rPr>
                        <a:t>StudentID</a:t>
                      </a:r>
                      <a:endParaRPr lang="en-IN" sz="2200" b="1" i="0" u="none" strike="noStrike">
                        <a:solidFill>
                          <a:srgbClr val="000000"/>
                        </a:solidFill>
                        <a:effectLst/>
                        <a:latin typeface="Aptos Narrow" panose="020B0004020202020204" pitchFamily="34" charset="0"/>
                      </a:endParaRPr>
                    </a:p>
                  </a:txBody>
                  <a:tcPr marL="6350" marR="6350" marT="6350" marB="0" anchor="ctr"/>
                </a:tc>
                <a:tc>
                  <a:txBody>
                    <a:bodyPr/>
                    <a:lstStyle/>
                    <a:p>
                      <a:pPr algn="ctr" fontAlgn="ctr"/>
                      <a:r>
                        <a:rPr lang="en-IN" sz="2200" u="none" strike="noStrike">
                          <a:effectLst/>
                        </a:rPr>
                        <a:t>Name</a:t>
                      </a:r>
                      <a:endParaRPr lang="en-IN" sz="2200" b="1" i="0" u="none" strike="noStrike">
                        <a:solidFill>
                          <a:srgbClr val="000000"/>
                        </a:solidFill>
                        <a:effectLst/>
                        <a:latin typeface="Aptos Narrow" panose="020B0004020202020204" pitchFamily="34" charset="0"/>
                      </a:endParaRPr>
                    </a:p>
                  </a:txBody>
                  <a:tcPr marL="6350" marR="6350" marT="6350" marB="0" anchor="ctr"/>
                </a:tc>
                <a:tc>
                  <a:txBody>
                    <a:bodyPr/>
                    <a:lstStyle/>
                    <a:p>
                      <a:pPr algn="ctr" fontAlgn="ctr"/>
                      <a:r>
                        <a:rPr lang="en-IN" sz="2200" u="none" strike="noStrike">
                          <a:effectLst/>
                        </a:rPr>
                        <a:t>Course</a:t>
                      </a:r>
                      <a:endParaRPr lang="en-IN" sz="2200" b="1" i="0" u="none" strike="noStrike">
                        <a:solidFill>
                          <a:srgbClr val="000000"/>
                        </a:solidFill>
                        <a:effectLst/>
                        <a:latin typeface="Aptos Narrow" panose="020B0004020202020204" pitchFamily="34" charset="0"/>
                      </a:endParaRPr>
                    </a:p>
                  </a:txBody>
                  <a:tcPr marL="6350" marR="6350" marT="6350" marB="0" anchor="ctr"/>
                </a:tc>
                <a:extLst>
                  <a:ext uri="{0D108BD9-81ED-4DB2-BD59-A6C34878D82A}">
                    <a16:rowId xmlns:a16="http://schemas.microsoft.com/office/drawing/2014/main" val="1615221304"/>
                  </a:ext>
                </a:extLst>
              </a:tr>
              <a:tr h="719158">
                <a:tc>
                  <a:txBody>
                    <a:bodyPr/>
                    <a:lstStyle/>
                    <a:p>
                      <a:pPr algn="ctr" fontAlgn="ctr"/>
                      <a:r>
                        <a:rPr lang="en-IN" sz="2200" u="none" strike="noStrike">
                          <a:effectLst/>
                        </a:rPr>
                        <a:t>101</a:t>
                      </a:r>
                      <a:endParaRPr lang="en-IN" sz="2200" b="0" i="0" u="none" strike="noStrike">
                        <a:solidFill>
                          <a:srgbClr val="000000"/>
                        </a:solidFill>
                        <a:effectLst/>
                        <a:latin typeface="Aptos Narrow" panose="020B0004020202020204" pitchFamily="34" charset="0"/>
                      </a:endParaRPr>
                    </a:p>
                  </a:txBody>
                  <a:tcPr marL="6350" marR="6350" marT="6350" marB="0" anchor="ctr"/>
                </a:tc>
                <a:tc>
                  <a:txBody>
                    <a:bodyPr/>
                    <a:lstStyle/>
                    <a:p>
                      <a:pPr algn="ctr" fontAlgn="ctr"/>
                      <a:r>
                        <a:rPr lang="en-IN" sz="2200" u="none" strike="noStrike">
                          <a:effectLst/>
                        </a:rPr>
                        <a:t>Alice</a:t>
                      </a:r>
                      <a:endParaRPr lang="en-IN" sz="2200" b="0" i="0" u="none" strike="noStrike">
                        <a:solidFill>
                          <a:srgbClr val="000000"/>
                        </a:solidFill>
                        <a:effectLst/>
                        <a:latin typeface="Aptos Narrow" panose="020B0004020202020204" pitchFamily="34" charset="0"/>
                      </a:endParaRPr>
                    </a:p>
                  </a:txBody>
                  <a:tcPr marL="6350" marR="6350" marT="6350" marB="0" anchor="ctr"/>
                </a:tc>
                <a:tc>
                  <a:txBody>
                    <a:bodyPr/>
                    <a:lstStyle/>
                    <a:p>
                      <a:pPr algn="ctr" fontAlgn="ctr"/>
                      <a:r>
                        <a:rPr lang="en-IN" sz="2200" u="none" strike="noStrike">
                          <a:effectLst/>
                        </a:rPr>
                        <a:t>Computer Sci</a:t>
                      </a:r>
                      <a:endParaRPr lang="en-IN" sz="2200" b="0" i="0" u="none" strike="noStrike">
                        <a:solidFill>
                          <a:srgbClr val="000000"/>
                        </a:solidFill>
                        <a:effectLst/>
                        <a:latin typeface="Aptos Narrow" panose="020B0004020202020204" pitchFamily="34" charset="0"/>
                      </a:endParaRPr>
                    </a:p>
                  </a:txBody>
                  <a:tcPr marL="6350" marR="6350" marT="6350" marB="0" anchor="ctr"/>
                </a:tc>
                <a:extLst>
                  <a:ext uri="{0D108BD9-81ED-4DB2-BD59-A6C34878D82A}">
                    <a16:rowId xmlns:a16="http://schemas.microsoft.com/office/drawing/2014/main" val="1235607132"/>
                  </a:ext>
                </a:extLst>
              </a:tr>
              <a:tr h="479439">
                <a:tc>
                  <a:txBody>
                    <a:bodyPr/>
                    <a:lstStyle/>
                    <a:p>
                      <a:pPr algn="ctr" fontAlgn="ctr"/>
                      <a:r>
                        <a:rPr lang="en-IN" sz="2200" u="none" strike="noStrike">
                          <a:effectLst/>
                        </a:rPr>
                        <a:t>102</a:t>
                      </a:r>
                      <a:endParaRPr lang="en-IN" sz="2200" b="0" i="0" u="none" strike="noStrike">
                        <a:solidFill>
                          <a:srgbClr val="000000"/>
                        </a:solidFill>
                        <a:effectLst/>
                        <a:latin typeface="Aptos Narrow" panose="020B0004020202020204" pitchFamily="34" charset="0"/>
                      </a:endParaRPr>
                    </a:p>
                  </a:txBody>
                  <a:tcPr marL="6350" marR="6350" marT="6350" marB="0" anchor="ctr"/>
                </a:tc>
                <a:tc>
                  <a:txBody>
                    <a:bodyPr/>
                    <a:lstStyle/>
                    <a:p>
                      <a:pPr algn="ctr" fontAlgn="ctr"/>
                      <a:r>
                        <a:rPr lang="en-IN" sz="2200" u="none" strike="noStrike">
                          <a:effectLst/>
                        </a:rPr>
                        <a:t>Bob</a:t>
                      </a:r>
                      <a:endParaRPr lang="en-IN" sz="2200" b="0" i="0" u="none" strike="noStrike">
                        <a:solidFill>
                          <a:srgbClr val="000000"/>
                        </a:solidFill>
                        <a:effectLst/>
                        <a:latin typeface="Aptos Narrow" panose="020B0004020202020204" pitchFamily="34" charset="0"/>
                      </a:endParaRPr>
                    </a:p>
                  </a:txBody>
                  <a:tcPr marL="6350" marR="6350" marT="6350" marB="0" anchor="ctr"/>
                </a:tc>
                <a:tc>
                  <a:txBody>
                    <a:bodyPr/>
                    <a:lstStyle/>
                    <a:p>
                      <a:pPr algn="ctr" fontAlgn="ctr"/>
                      <a:r>
                        <a:rPr lang="en-IN" sz="2200" u="none" strike="noStrike">
                          <a:effectLst/>
                        </a:rPr>
                        <a:t>Mathematics</a:t>
                      </a:r>
                      <a:endParaRPr lang="en-IN" sz="2200" b="0" i="0" u="none" strike="noStrike">
                        <a:solidFill>
                          <a:srgbClr val="000000"/>
                        </a:solidFill>
                        <a:effectLst/>
                        <a:latin typeface="Aptos Narrow" panose="020B0004020202020204" pitchFamily="34" charset="0"/>
                      </a:endParaRPr>
                    </a:p>
                  </a:txBody>
                  <a:tcPr marL="6350" marR="6350" marT="6350" marB="0" anchor="ctr"/>
                </a:tc>
                <a:extLst>
                  <a:ext uri="{0D108BD9-81ED-4DB2-BD59-A6C34878D82A}">
                    <a16:rowId xmlns:a16="http://schemas.microsoft.com/office/drawing/2014/main" val="3591269251"/>
                  </a:ext>
                </a:extLst>
              </a:tr>
              <a:tr h="479439">
                <a:tc>
                  <a:txBody>
                    <a:bodyPr/>
                    <a:lstStyle/>
                    <a:p>
                      <a:pPr algn="ctr" fontAlgn="ctr"/>
                      <a:r>
                        <a:rPr lang="en-IN" sz="2200" u="none" strike="noStrike">
                          <a:effectLst/>
                        </a:rPr>
                        <a:t>103</a:t>
                      </a:r>
                      <a:endParaRPr lang="en-IN" sz="2200" b="0" i="0" u="none" strike="noStrike">
                        <a:solidFill>
                          <a:srgbClr val="000000"/>
                        </a:solidFill>
                        <a:effectLst/>
                        <a:latin typeface="Aptos Narrow" panose="020B0004020202020204" pitchFamily="34" charset="0"/>
                      </a:endParaRPr>
                    </a:p>
                  </a:txBody>
                  <a:tcPr marL="6350" marR="6350" marT="6350" marB="0" anchor="ctr"/>
                </a:tc>
                <a:tc>
                  <a:txBody>
                    <a:bodyPr/>
                    <a:lstStyle/>
                    <a:p>
                      <a:pPr algn="ctr" fontAlgn="ctr"/>
                      <a:r>
                        <a:rPr lang="en-IN" sz="2200" u="none" strike="noStrike">
                          <a:effectLst/>
                        </a:rPr>
                        <a:t>Charlie</a:t>
                      </a:r>
                      <a:endParaRPr lang="en-IN" sz="2200" b="0" i="0" u="none" strike="noStrike">
                        <a:solidFill>
                          <a:srgbClr val="000000"/>
                        </a:solidFill>
                        <a:effectLst/>
                        <a:latin typeface="Aptos Narrow" panose="020B0004020202020204" pitchFamily="34" charset="0"/>
                      </a:endParaRPr>
                    </a:p>
                  </a:txBody>
                  <a:tcPr marL="6350" marR="6350" marT="6350" marB="0" anchor="ctr"/>
                </a:tc>
                <a:tc>
                  <a:txBody>
                    <a:bodyPr/>
                    <a:lstStyle/>
                    <a:p>
                      <a:pPr algn="ctr" fontAlgn="ctr"/>
                      <a:r>
                        <a:rPr lang="en-IN" sz="2200" u="none" strike="noStrike">
                          <a:effectLst/>
                        </a:rPr>
                        <a:t>Physics</a:t>
                      </a:r>
                      <a:endParaRPr lang="en-IN" sz="2200" b="0" i="0" u="none" strike="noStrike">
                        <a:solidFill>
                          <a:srgbClr val="000000"/>
                        </a:solidFill>
                        <a:effectLst/>
                        <a:latin typeface="Aptos Narrow" panose="020B0004020202020204" pitchFamily="34" charset="0"/>
                      </a:endParaRPr>
                    </a:p>
                  </a:txBody>
                  <a:tcPr marL="6350" marR="6350" marT="6350" marB="0" anchor="ctr"/>
                </a:tc>
                <a:extLst>
                  <a:ext uri="{0D108BD9-81ED-4DB2-BD59-A6C34878D82A}">
                    <a16:rowId xmlns:a16="http://schemas.microsoft.com/office/drawing/2014/main" val="4229506548"/>
                  </a:ext>
                </a:extLst>
              </a:tr>
              <a:tr h="479439">
                <a:tc>
                  <a:txBody>
                    <a:bodyPr/>
                    <a:lstStyle/>
                    <a:p>
                      <a:pPr algn="ctr" fontAlgn="ctr"/>
                      <a:r>
                        <a:rPr lang="en-IN" sz="2200" u="none" strike="noStrike">
                          <a:effectLst/>
                        </a:rPr>
                        <a:t>104</a:t>
                      </a:r>
                      <a:endParaRPr lang="en-IN" sz="2200" b="0" i="0" u="none" strike="noStrike">
                        <a:solidFill>
                          <a:srgbClr val="000000"/>
                        </a:solidFill>
                        <a:effectLst/>
                        <a:latin typeface="Aptos Narrow" panose="020B0004020202020204" pitchFamily="34" charset="0"/>
                      </a:endParaRPr>
                    </a:p>
                  </a:txBody>
                  <a:tcPr marL="6350" marR="6350" marT="6350" marB="0" anchor="ctr"/>
                </a:tc>
                <a:tc>
                  <a:txBody>
                    <a:bodyPr/>
                    <a:lstStyle/>
                    <a:p>
                      <a:pPr algn="ctr" fontAlgn="ctr"/>
                      <a:r>
                        <a:rPr lang="en-IN" sz="2200" u="none" strike="noStrike">
                          <a:effectLst/>
                        </a:rPr>
                        <a:t>Diana</a:t>
                      </a:r>
                      <a:endParaRPr lang="en-IN" sz="2200" b="0" i="0" u="none" strike="noStrike">
                        <a:solidFill>
                          <a:srgbClr val="000000"/>
                        </a:solidFill>
                        <a:effectLst/>
                        <a:latin typeface="Aptos Narrow" panose="020B0004020202020204" pitchFamily="34" charset="0"/>
                      </a:endParaRPr>
                    </a:p>
                  </a:txBody>
                  <a:tcPr marL="6350" marR="6350" marT="6350" marB="0" anchor="ctr"/>
                </a:tc>
                <a:tc>
                  <a:txBody>
                    <a:bodyPr/>
                    <a:lstStyle/>
                    <a:p>
                      <a:pPr algn="ctr" fontAlgn="ctr"/>
                      <a:r>
                        <a:rPr lang="en-IN" sz="2200" u="none" strike="noStrike" dirty="0">
                          <a:effectLst/>
                        </a:rPr>
                        <a:t>Chemistry</a:t>
                      </a:r>
                      <a:endParaRPr lang="en-IN" sz="2200" b="0" i="0" u="none" strike="noStrike" dirty="0">
                        <a:solidFill>
                          <a:srgbClr val="000000"/>
                        </a:solidFill>
                        <a:effectLst/>
                        <a:latin typeface="Aptos Narrow" panose="020B0004020202020204" pitchFamily="34" charset="0"/>
                      </a:endParaRPr>
                    </a:p>
                  </a:txBody>
                  <a:tcPr marL="6350" marR="6350" marT="6350" marB="0" anchor="ctr"/>
                </a:tc>
                <a:extLst>
                  <a:ext uri="{0D108BD9-81ED-4DB2-BD59-A6C34878D82A}">
                    <a16:rowId xmlns:a16="http://schemas.microsoft.com/office/drawing/2014/main" val="2765327094"/>
                  </a:ext>
                </a:extLst>
              </a:tr>
            </a:tbl>
          </a:graphicData>
        </a:graphic>
      </p:graphicFrame>
      <p:sp>
        <p:nvSpPr>
          <p:cNvPr id="7" name="TextBox 6">
            <a:extLst>
              <a:ext uri="{FF2B5EF4-FFF2-40B4-BE49-F238E27FC236}">
                <a16:creationId xmlns:a16="http://schemas.microsoft.com/office/drawing/2014/main" id="{78EF4189-DC8F-A967-929F-77381D255E62}"/>
              </a:ext>
            </a:extLst>
          </p:cNvPr>
          <p:cNvSpPr txBox="1"/>
          <p:nvPr/>
        </p:nvSpPr>
        <p:spPr>
          <a:xfrm>
            <a:off x="5879976" y="1670453"/>
            <a:ext cx="6096000" cy="369332"/>
          </a:xfrm>
          <a:prstGeom prst="rect">
            <a:avLst/>
          </a:prstGeom>
          <a:noFill/>
        </p:spPr>
        <p:txBody>
          <a:bodyPr wrap="square">
            <a:spAutoFit/>
          </a:bodyPr>
          <a:lstStyle/>
          <a:p>
            <a:r>
              <a:rPr lang="en-IN" dirty="0" err="1"/>
              <a:t>Fee_Paid_Students</a:t>
            </a:r>
            <a:endParaRPr lang="en-IN" dirty="0"/>
          </a:p>
        </p:txBody>
      </p:sp>
      <p:graphicFrame>
        <p:nvGraphicFramePr>
          <p:cNvPr id="8" name="Table 7">
            <a:extLst>
              <a:ext uri="{FF2B5EF4-FFF2-40B4-BE49-F238E27FC236}">
                <a16:creationId xmlns:a16="http://schemas.microsoft.com/office/drawing/2014/main" id="{73906934-2155-41D8-DB44-B899B0B82E65}"/>
              </a:ext>
            </a:extLst>
          </p:cNvPr>
          <p:cNvGraphicFramePr>
            <a:graphicFrameLocks noGrp="1"/>
          </p:cNvGraphicFramePr>
          <p:nvPr>
            <p:extLst>
              <p:ext uri="{D42A27DB-BD31-4B8C-83A1-F6EECF244321}">
                <p14:modId xmlns:p14="http://schemas.microsoft.com/office/powerpoint/2010/main" val="1717955942"/>
              </p:ext>
            </p:extLst>
          </p:nvPr>
        </p:nvGraphicFramePr>
        <p:xfrm>
          <a:off x="6287344" y="2411600"/>
          <a:ext cx="4610100" cy="1085850"/>
        </p:xfrm>
        <a:graphic>
          <a:graphicData uri="http://schemas.openxmlformats.org/drawingml/2006/table">
            <a:tbl>
              <a:tblPr>
                <a:tableStyleId>{5C22544A-7EE6-4342-B048-85BDC9FD1C3A}</a:tableStyleId>
              </a:tblPr>
              <a:tblGrid>
                <a:gridCol w="1346200">
                  <a:extLst>
                    <a:ext uri="{9D8B030D-6E8A-4147-A177-3AD203B41FA5}">
                      <a16:colId xmlns:a16="http://schemas.microsoft.com/office/drawing/2014/main" val="2423290341"/>
                    </a:ext>
                  </a:extLst>
                </a:gridCol>
                <a:gridCol w="1193800">
                  <a:extLst>
                    <a:ext uri="{9D8B030D-6E8A-4147-A177-3AD203B41FA5}">
                      <a16:colId xmlns:a16="http://schemas.microsoft.com/office/drawing/2014/main" val="3387981802"/>
                    </a:ext>
                  </a:extLst>
                </a:gridCol>
                <a:gridCol w="2070100">
                  <a:extLst>
                    <a:ext uri="{9D8B030D-6E8A-4147-A177-3AD203B41FA5}">
                      <a16:colId xmlns:a16="http://schemas.microsoft.com/office/drawing/2014/main" val="2359023907"/>
                    </a:ext>
                  </a:extLst>
                </a:gridCol>
              </a:tblGrid>
              <a:tr h="361950">
                <a:tc>
                  <a:txBody>
                    <a:bodyPr/>
                    <a:lstStyle/>
                    <a:p>
                      <a:pPr algn="ctr" fontAlgn="ctr"/>
                      <a:r>
                        <a:rPr lang="en-IN" sz="2200" u="none" strike="noStrike">
                          <a:effectLst/>
                        </a:rPr>
                        <a:t>StudentID</a:t>
                      </a:r>
                      <a:endParaRPr lang="en-IN" sz="2200" b="1" i="0" u="none" strike="noStrike">
                        <a:solidFill>
                          <a:srgbClr val="000000"/>
                        </a:solidFill>
                        <a:effectLst/>
                        <a:latin typeface="Aptos Narrow" panose="020B0004020202020204" pitchFamily="34" charset="0"/>
                      </a:endParaRPr>
                    </a:p>
                  </a:txBody>
                  <a:tcPr marL="6350" marR="6350" marT="6350" marB="0" anchor="ctr"/>
                </a:tc>
                <a:tc>
                  <a:txBody>
                    <a:bodyPr/>
                    <a:lstStyle/>
                    <a:p>
                      <a:pPr algn="ctr" fontAlgn="ctr"/>
                      <a:r>
                        <a:rPr lang="en-IN" sz="2200" u="none" strike="noStrike">
                          <a:effectLst/>
                        </a:rPr>
                        <a:t>Name</a:t>
                      </a:r>
                      <a:endParaRPr lang="en-IN" sz="2200" b="1" i="0" u="none" strike="noStrike">
                        <a:solidFill>
                          <a:srgbClr val="000000"/>
                        </a:solidFill>
                        <a:effectLst/>
                        <a:latin typeface="Aptos Narrow" panose="020B0004020202020204" pitchFamily="34" charset="0"/>
                      </a:endParaRPr>
                    </a:p>
                  </a:txBody>
                  <a:tcPr marL="6350" marR="6350" marT="6350" marB="0" anchor="ctr"/>
                </a:tc>
                <a:tc>
                  <a:txBody>
                    <a:bodyPr/>
                    <a:lstStyle/>
                    <a:p>
                      <a:pPr algn="ctr" fontAlgn="ctr"/>
                      <a:r>
                        <a:rPr lang="en-IN" sz="2200" u="none" strike="noStrike">
                          <a:effectLst/>
                        </a:rPr>
                        <a:t>Course</a:t>
                      </a:r>
                      <a:endParaRPr lang="en-IN" sz="2200" b="1" i="0" u="none" strike="noStrike">
                        <a:solidFill>
                          <a:srgbClr val="000000"/>
                        </a:solidFill>
                        <a:effectLst/>
                        <a:latin typeface="Aptos Narrow" panose="020B0004020202020204" pitchFamily="34" charset="0"/>
                      </a:endParaRPr>
                    </a:p>
                  </a:txBody>
                  <a:tcPr marL="6350" marR="6350" marT="6350" marB="0" anchor="ctr"/>
                </a:tc>
                <a:extLst>
                  <a:ext uri="{0D108BD9-81ED-4DB2-BD59-A6C34878D82A}">
                    <a16:rowId xmlns:a16="http://schemas.microsoft.com/office/drawing/2014/main" val="3800620831"/>
                  </a:ext>
                </a:extLst>
              </a:tr>
              <a:tr h="361950">
                <a:tc>
                  <a:txBody>
                    <a:bodyPr/>
                    <a:lstStyle/>
                    <a:p>
                      <a:pPr algn="ctr" fontAlgn="ctr"/>
                      <a:r>
                        <a:rPr lang="en-IN" sz="2200" u="none" strike="noStrike">
                          <a:effectLst/>
                        </a:rPr>
                        <a:t>101</a:t>
                      </a:r>
                      <a:endParaRPr lang="en-IN" sz="2200" b="0" i="0" u="none" strike="noStrike">
                        <a:solidFill>
                          <a:srgbClr val="000000"/>
                        </a:solidFill>
                        <a:effectLst/>
                        <a:latin typeface="Aptos Narrow" panose="020B0004020202020204" pitchFamily="34" charset="0"/>
                      </a:endParaRPr>
                    </a:p>
                  </a:txBody>
                  <a:tcPr marL="6350" marR="6350" marT="6350" marB="0" anchor="ctr"/>
                </a:tc>
                <a:tc>
                  <a:txBody>
                    <a:bodyPr/>
                    <a:lstStyle/>
                    <a:p>
                      <a:pPr algn="ctr" fontAlgn="ctr"/>
                      <a:r>
                        <a:rPr lang="en-IN" sz="2200" u="none" strike="noStrike">
                          <a:effectLst/>
                        </a:rPr>
                        <a:t>Alice</a:t>
                      </a:r>
                      <a:endParaRPr lang="en-IN" sz="2200" b="0" i="0" u="none" strike="noStrike">
                        <a:solidFill>
                          <a:srgbClr val="000000"/>
                        </a:solidFill>
                        <a:effectLst/>
                        <a:latin typeface="Aptos Narrow" panose="020B0004020202020204" pitchFamily="34" charset="0"/>
                      </a:endParaRPr>
                    </a:p>
                  </a:txBody>
                  <a:tcPr marL="6350" marR="6350" marT="6350" marB="0" anchor="ctr"/>
                </a:tc>
                <a:tc>
                  <a:txBody>
                    <a:bodyPr/>
                    <a:lstStyle/>
                    <a:p>
                      <a:pPr algn="ctr" fontAlgn="ctr"/>
                      <a:r>
                        <a:rPr lang="en-IN" sz="2200" u="none" strike="noStrike">
                          <a:effectLst/>
                        </a:rPr>
                        <a:t>Computer Sci</a:t>
                      </a:r>
                      <a:endParaRPr lang="en-IN" sz="2200" b="0" i="0" u="none" strike="noStrike">
                        <a:solidFill>
                          <a:srgbClr val="000000"/>
                        </a:solidFill>
                        <a:effectLst/>
                        <a:latin typeface="Aptos Narrow" panose="020B0004020202020204" pitchFamily="34" charset="0"/>
                      </a:endParaRPr>
                    </a:p>
                  </a:txBody>
                  <a:tcPr marL="6350" marR="6350" marT="6350" marB="0" anchor="ctr"/>
                </a:tc>
                <a:extLst>
                  <a:ext uri="{0D108BD9-81ED-4DB2-BD59-A6C34878D82A}">
                    <a16:rowId xmlns:a16="http://schemas.microsoft.com/office/drawing/2014/main" val="982446146"/>
                  </a:ext>
                </a:extLst>
              </a:tr>
              <a:tr h="361950">
                <a:tc>
                  <a:txBody>
                    <a:bodyPr/>
                    <a:lstStyle/>
                    <a:p>
                      <a:pPr algn="ctr" fontAlgn="ctr"/>
                      <a:r>
                        <a:rPr lang="en-IN" sz="2200" u="none" strike="noStrike">
                          <a:effectLst/>
                        </a:rPr>
                        <a:t>103</a:t>
                      </a:r>
                      <a:endParaRPr lang="en-IN" sz="2200" b="0" i="0" u="none" strike="noStrike">
                        <a:solidFill>
                          <a:srgbClr val="000000"/>
                        </a:solidFill>
                        <a:effectLst/>
                        <a:latin typeface="Aptos Narrow" panose="020B0004020202020204" pitchFamily="34" charset="0"/>
                      </a:endParaRPr>
                    </a:p>
                  </a:txBody>
                  <a:tcPr marL="6350" marR="6350" marT="6350" marB="0" anchor="ctr"/>
                </a:tc>
                <a:tc>
                  <a:txBody>
                    <a:bodyPr/>
                    <a:lstStyle/>
                    <a:p>
                      <a:pPr algn="ctr" fontAlgn="ctr"/>
                      <a:r>
                        <a:rPr lang="en-IN" sz="2200" u="none" strike="noStrike">
                          <a:effectLst/>
                        </a:rPr>
                        <a:t>Charlie</a:t>
                      </a:r>
                      <a:endParaRPr lang="en-IN" sz="2200" b="0" i="0" u="none" strike="noStrike">
                        <a:solidFill>
                          <a:srgbClr val="000000"/>
                        </a:solidFill>
                        <a:effectLst/>
                        <a:latin typeface="Aptos Narrow" panose="020B0004020202020204" pitchFamily="34" charset="0"/>
                      </a:endParaRPr>
                    </a:p>
                  </a:txBody>
                  <a:tcPr marL="6350" marR="6350" marT="6350" marB="0" anchor="ctr"/>
                </a:tc>
                <a:tc>
                  <a:txBody>
                    <a:bodyPr/>
                    <a:lstStyle/>
                    <a:p>
                      <a:pPr algn="ctr" fontAlgn="ctr"/>
                      <a:r>
                        <a:rPr lang="en-IN" sz="2200" u="none" strike="noStrike" dirty="0">
                          <a:effectLst/>
                        </a:rPr>
                        <a:t>Physics</a:t>
                      </a:r>
                      <a:endParaRPr lang="en-IN" sz="2200" b="0" i="0" u="none" strike="noStrike" dirty="0">
                        <a:solidFill>
                          <a:srgbClr val="000000"/>
                        </a:solidFill>
                        <a:effectLst/>
                        <a:latin typeface="Aptos Narrow" panose="020B0004020202020204" pitchFamily="34" charset="0"/>
                      </a:endParaRPr>
                    </a:p>
                  </a:txBody>
                  <a:tcPr marL="6350" marR="6350" marT="6350" marB="0" anchor="ctr"/>
                </a:tc>
                <a:extLst>
                  <a:ext uri="{0D108BD9-81ED-4DB2-BD59-A6C34878D82A}">
                    <a16:rowId xmlns:a16="http://schemas.microsoft.com/office/drawing/2014/main" val="1989239344"/>
                  </a:ext>
                </a:extLst>
              </a:tr>
            </a:tbl>
          </a:graphicData>
        </a:graphic>
      </p:graphicFrame>
      <p:sp>
        <p:nvSpPr>
          <p:cNvPr id="9" name="Rectangle 1">
            <a:extLst>
              <a:ext uri="{FF2B5EF4-FFF2-40B4-BE49-F238E27FC236}">
                <a16:creationId xmlns:a16="http://schemas.microsoft.com/office/drawing/2014/main" id="{02CD4218-93FE-338D-6959-477AB5EB7AD3}"/>
              </a:ext>
            </a:extLst>
          </p:cNvPr>
          <p:cNvSpPr>
            <a:spLocks noChangeArrowheads="1"/>
          </p:cNvSpPr>
          <p:nvPr/>
        </p:nvSpPr>
        <p:spPr bwMode="auto">
          <a:xfrm>
            <a:off x="695400" y="4622444"/>
            <a:ext cx="11638699" cy="83099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pPr marL="0" marR="0" lvl="0" indent="0" algn="l" defTabSz="914400" rtl="0" eaLnBrk="0" fontAlgn="base" latinLnBrk="0" hangingPunct="0">
              <a:lnSpc>
                <a:spcPct val="100000"/>
              </a:lnSpc>
              <a:spcBef>
                <a:spcPct val="0"/>
              </a:spcBef>
              <a:spcAft>
                <a:spcPct val="0"/>
              </a:spcAft>
              <a:buClrTx/>
              <a:buSzTx/>
              <a:buFontTx/>
              <a:buNone/>
              <a:tabLst/>
            </a:pPr>
            <a:r>
              <a:rPr kumimoji="0" lang="en-US" altLang="en-US" sz="1600" b="1" i="0" u="none" strike="noStrike" cap="none" normalizeH="0" baseline="0" dirty="0">
                <a:ln>
                  <a:noFill/>
                </a:ln>
                <a:solidFill>
                  <a:schemeClr val="tx1"/>
                </a:solidFill>
                <a:effectLst/>
                <a:latin typeface="Arial" panose="020B0604020202020204" pitchFamily="34" charset="0"/>
              </a:rPr>
              <a:t>Set Difference: </a:t>
            </a:r>
            <a:r>
              <a:rPr kumimoji="0" lang="en-US" altLang="en-US" sz="1600" b="1" i="0" u="none" strike="noStrike" cap="none" normalizeH="0" baseline="0" dirty="0" err="1">
                <a:ln>
                  <a:noFill/>
                </a:ln>
                <a:solidFill>
                  <a:schemeClr val="tx1"/>
                </a:solidFill>
                <a:effectLst/>
                <a:latin typeface="Arial" panose="020B0604020202020204" pitchFamily="34" charset="0"/>
              </a:rPr>
              <a:t>Enrolled_Students</a:t>
            </a:r>
            <a:r>
              <a:rPr kumimoji="0" lang="en-US" altLang="en-US" sz="1600" b="1" i="0" u="none" strike="noStrike" cap="none" normalizeH="0" baseline="0" dirty="0">
                <a:ln>
                  <a:noFill/>
                </a:ln>
                <a:solidFill>
                  <a:schemeClr val="tx1"/>
                </a:solidFill>
                <a:effectLst/>
                <a:latin typeface="Arial" panose="020B0604020202020204" pitchFamily="34" charset="0"/>
              </a:rPr>
              <a:t> - </a:t>
            </a:r>
            <a:r>
              <a:rPr kumimoji="0" lang="en-US" altLang="en-US" sz="1600" b="1" i="0" u="none" strike="noStrike" cap="none" normalizeH="0" baseline="0" dirty="0" err="1">
                <a:ln>
                  <a:noFill/>
                </a:ln>
                <a:solidFill>
                  <a:schemeClr val="tx1"/>
                </a:solidFill>
                <a:effectLst/>
                <a:latin typeface="Arial" panose="020B0604020202020204" pitchFamily="34" charset="0"/>
              </a:rPr>
              <a:t>Fee_Paid_Students</a:t>
            </a:r>
            <a:endParaRPr kumimoji="0" lang="en-US" altLang="en-US" sz="1600" b="1" i="0" u="none" strike="noStrike" cap="none" normalizeH="0" baseline="0" dirty="0">
              <a:ln>
                <a:noFill/>
              </a:ln>
              <a:solidFill>
                <a:schemeClr val="tx1"/>
              </a:solidFill>
              <a:effectLst/>
              <a:latin typeface="Arial" panose="020B0604020202020204" pitchFamily="34" charset="0"/>
            </a:endParaRPr>
          </a:p>
          <a:p>
            <a:pPr marL="0" marR="0" lvl="0" indent="0" algn="l" defTabSz="914400" rtl="0" eaLnBrk="0" fontAlgn="base" latinLnBrk="0" hangingPunct="0">
              <a:lnSpc>
                <a:spcPct val="100000"/>
              </a:lnSpc>
              <a:spcBef>
                <a:spcPct val="0"/>
              </a:spcBef>
              <a:spcAft>
                <a:spcPct val="0"/>
              </a:spcAft>
              <a:buClrTx/>
              <a:buSzTx/>
              <a:buFontTx/>
              <a:buNone/>
              <a:tabLst/>
            </a:pPr>
            <a:r>
              <a:rPr kumimoji="0" lang="en-US" altLang="en-US" sz="1600" b="0" i="0" u="none" strike="noStrike" cap="none" normalizeH="0" baseline="0" dirty="0">
                <a:ln>
                  <a:noFill/>
                </a:ln>
                <a:solidFill>
                  <a:schemeClr val="tx1"/>
                </a:solidFill>
                <a:effectLst/>
                <a:latin typeface="Arial" panose="020B0604020202020204" pitchFamily="34" charset="0"/>
              </a:rPr>
              <a:t>We want to find students who are enrolled but </a:t>
            </a:r>
            <a:r>
              <a:rPr kumimoji="0" lang="en-US" altLang="en-US" sz="1600" b="1" i="0" u="none" strike="noStrike" cap="none" normalizeH="0" baseline="0" dirty="0">
                <a:ln>
                  <a:noFill/>
                </a:ln>
                <a:solidFill>
                  <a:schemeClr val="tx1"/>
                </a:solidFill>
                <a:effectLst/>
                <a:latin typeface="Arial" panose="020B0604020202020204" pitchFamily="34" charset="0"/>
              </a:rPr>
              <a:t>have not paid tuition fees</a:t>
            </a:r>
            <a:r>
              <a:rPr kumimoji="0" lang="en-US" altLang="en-US" sz="1600" b="0" i="0" u="none" strike="noStrike" cap="none" normalizeH="0" baseline="0" dirty="0">
                <a:ln>
                  <a:noFill/>
                </a:ln>
                <a:solidFill>
                  <a:schemeClr val="tx1"/>
                </a:solidFill>
                <a:effectLst/>
                <a:latin typeface="Arial" panose="020B0604020202020204" pitchFamily="34" charset="0"/>
              </a:rPr>
              <a:t>. The result will include tuples in </a:t>
            </a:r>
            <a:r>
              <a:rPr kumimoji="0" lang="en-US" altLang="en-US" sz="1600" b="1" i="0" u="none" strike="noStrike" cap="none" normalizeH="0" baseline="0" dirty="0" err="1">
                <a:ln>
                  <a:noFill/>
                </a:ln>
                <a:solidFill>
                  <a:schemeClr val="tx1"/>
                </a:solidFill>
                <a:effectLst/>
                <a:latin typeface="Arial Unicode MS"/>
              </a:rPr>
              <a:t>Enrolled_Students</a:t>
            </a:r>
            <a:endParaRPr kumimoji="0" lang="en-US" altLang="en-US" sz="1600" b="1" i="0" u="none" strike="noStrike" cap="none" normalizeH="0" baseline="0" dirty="0">
              <a:ln>
                <a:noFill/>
              </a:ln>
              <a:solidFill>
                <a:schemeClr val="tx1"/>
              </a:solidFill>
              <a:effectLst/>
              <a:latin typeface="Arial Unicode MS"/>
            </a:endParaRPr>
          </a:p>
          <a:p>
            <a:pPr marL="0" marR="0" lvl="0" indent="0" algn="l" defTabSz="914400" rtl="0" eaLnBrk="0" fontAlgn="base" latinLnBrk="0" hangingPunct="0">
              <a:lnSpc>
                <a:spcPct val="100000"/>
              </a:lnSpc>
              <a:spcBef>
                <a:spcPct val="0"/>
              </a:spcBef>
              <a:spcAft>
                <a:spcPct val="0"/>
              </a:spcAft>
              <a:buClrTx/>
              <a:buSzTx/>
              <a:buFontTx/>
              <a:buNone/>
              <a:tabLst/>
            </a:pPr>
            <a:r>
              <a:rPr kumimoji="0" lang="en-US" altLang="en-US" sz="1600" b="0" i="0" u="none" strike="noStrike" cap="none" normalizeH="0" baseline="0" dirty="0">
                <a:ln>
                  <a:noFill/>
                </a:ln>
                <a:solidFill>
                  <a:schemeClr val="tx1"/>
                </a:solidFill>
                <a:effectLst/>
              </a:rPr>
              <a:t> that are not in </a:t>
            </a:r>
            <a:r>
              <a:rPr kumimoji="0" lang="en-US" altLang="en-US" sz="1600" b="1" i="0" u="none" strike="noStrike" cap="none" normalizeH="0" baseline="0" dirty="0" err="1">
                <a:ln>
                  <a:noFill/>
                </a:ln>
                <a:solidFill>
                  <a:schemeClr val="tx1"/>
                </a:solidFill>
                <a:effectLst/>
                <a:latin typeface="Arial Unicode MS"/>
              </a:rPr>
              <a:t>Fee_Paid_Students</a:t>
            </a:r>
            <a:r>
              <a:rPr kumimoji="0" lang="en-US" altLang="en-US" sz="1600" b="0" i="0" u="none" strike="noStrike" cap="none" normalizeH="0" baseline="0" dirty="0">
                <a:ln>
                  <a:noFill/>
                </a:ln>
                <a:solidFill>
                  <a:schemeClr val="tx1"/>
                </a:solidFill>
                <a:effectLst/>
              </a:rPr>
              <a:t>.</a:t>
            </a:r>
            <a:endParaRPr kumimoji="0" lang="en-US" altLang="en-US" sz="1600" b="0" i="0" u="none" strike="noStrike" cap="none" normalizeH="0" baseline="0" dirty="0">
              <a:ln>
                <a:noFill/>
              </a:ln>
              <a:solidFill>
                <a:schemeClr val="tx1"/>
              </a:solidFill>
              <a:effectLst/>
              <a:latin typeface="Arial" panose="020B0604020202020204" pitchFamily="34" charset="0"/>
            </a:endParaRPr>
          </a:p>
        </p:txBody>
      </p:sp>
      <p:graphicFrame>
        <p:nvGraphicFramePr>
          <p:cNvPr id="10" name="Table 9">
            <a:extLst>
              <a:ext uri="{FF2B5EF4-FFF2-40B4-BE49-F238E27FC236}">
                <a16:creationId xmlns:a16="http://schemas.microsoft.com/office/drawing/2014/main" id="{95CCFD03-22EA-7239-48F9-2A75EA4472A5}"/>
              </a:ext>
            </a:extLst>
          </p:cNvPr>
          <p:cNvGraphicFramePr>
            <a:graphicFrameLocks noGrp="1"/>
          </p:cNvGraphicFramePr>
          <p:nvPr>
            <p:extLst>
              <p:ext uri="{D42A27DB-BD31-4B8C-83A1-F6EECF244321}">
                <p14:modId xmlns:p14="http://schemas.microsoft.com/office/powerpoint/2010/main" val="2594931776"/>
              </p:ext>
            </p:extLst>
          </p:nvPr>
        </p:nvGraphicFramePr>
        <p:xfrm>
          <a:off x="4297159" y="5278415"/>
          <a:ext cx="4610100" cy="990600"/>
        </p:xfrm>
        <a:graphic>
          <a:graphicData uri="http://schemas.openxmlformats.org/drawingml/2006/table">
            <a:tbl>
              <a:tblPr>
                <a:tableStyleId>{5C22544A-7EE6-4342-B048-85BDC9FD1C3A}</a:tableStyleId>
              </a:tblPr>
              <a:tblGrid>
                <a:gridCol w="1346200">
                  <a:extLst>
                    <a:ext uri="{9D8B030D-6E8A-4147-A177-3AD203B41FA5}">
                      <a16:colId xmlns:a16="http://schemas.microsoft.com/office/drawing/2014/main" val="2769853189"/>
                    </a:ext>
                  </a:extLst>
                </a:gridCol>
                <a:gridCol w="1193800">
                  <a:extLst>
                    <a:ext uri="{9D8B030D-6E8A-4147-A177-3AD203B41FA5}">
                      <a16:colId xmlns:a16="http://schemas.microsoft.com/office/drawing/2014/main" val="226680957"/>
                    </a:ext>
                  </a:extLst>
                </a:gridCol>
                <a:gridCol w="2070100">
                  <a:extLst>
                    <a:ext uri="{9D8B030D-6E8A-4147-A177-3AD203B41FA5}">
                      <a16:colId xmlns:a16="http://schemas.microsoft.com/office/drawing/2014/main" val="3266174770"/>
                    </a:ext>
                  </a:extLst>
                </a:gridCol>
              </a:tblGrid>
              <a:tr h="330200">
                <a:tc>
                  <a:txBody>
                    <a:bodyPr/>
                    <a:lstStyle/>
                    <a:p>
                      <a:pPr algn="ctr" fontAlgn="ctr"/>
                      <a:r>
                        <a:rPr lang="en-IN" sz="2000" u="none" strike="noStrike">
                          <a:effectLst/>
                        </a:rPr>
                        <a:t>StudentID</a:t>
                      </a:r>
                      <a:endParaRPr lang="en-IN" sz="2000" b="1" i="0" u="none" strike="noStrike">
                        <a:solidFill>
                          <a:srgbClr val="000000"/>
                        </a:solidFill>
                        <a:effectLst/>
                        <a:latin typeface="Aptos Narrow" panose="020B0004020202020204" pitchFamily="34" charset="0"/>
                      </a:endParaRPr>
                    </a:p>
                  </a:txBody>
                  <a:tcPr marL="6350" marR="6350" marT="6350" marB="0" anchor="ctr"/>
                </a:tc>
                <a:tc>
                  <a:txBody>
                    <a:bodyPr/>
                    <a:lstStyle/>
                    <a:p>
                      <a:pPr algn="ctr" fontAlgn="ctr"/>
                      <a:r>
                        <a:rPr lang="en-IN" sz="2000" u="none" strike="noStrike">
                          <a:effectLst/>
                        </a:rPr>
                        <a:t>Name</a:t>
                      </a:r>
                      <a:endParaRPr lang="en-IN" sz="2000" b="1" i="0" u="none" strike="noStrike">
                        <a:solidFill>
                          <a:srgbClr val="000000"/>
                        </a:solidFill>
                        <a:effectLst/>
                        <a:latin typeface="Aptos Narrow" panose="020B0004020202020204" pitchFamily="34" charset="0"/>
                      </a:endParaRPr>
                    </a:p>
                  </a:txBody>
                  <a:tcPr marL="6350" marR="6350" marT="6350" marB="0" anchor="ctr"/>
                </a:tc>
                <a:tc>
                  <a:txBody>
                    <a:bodyPr/>
                    <a:lstStyle/>
                    <a:p>
                      <a:pPr algn="ctr" fontAlgn="ctr"/>
                      <a:r>
                        <a:rPr lang="en-IN" sz="2000" u="none" strike="noStrike">
                          <a:effectLst/>
                        </a:rPr>
                        <a:t>Course</a:t>
                      </a:r>
                      <a:endParaRPr lang="en-IN" sz="2000" b="1" i="0" u="none" strike="noStrike">
                        <a:solidFill>
                          <a:srgbClr val="000000"/>
                        </a:solidFill>
                        <a:effectLst/>
                        <a:latin typeface="Aptos Narrow" panose="020B0004020202020204" pitchFamily="34" charset="0"/>
                      </a:endParaRPr>
                    </a:p>
                  </a:txBody>
                  <a:tcPr marL="6350" marR="6350" marT="6350" marB="0" anchor="ctr"/>
                </a:tc>
                <a:extLst>
                  <a:ext uri="{0D108BD9-81ED-4DB2-BD59-A6C34878D82A}">
                    <a16:rowId xmlns:a16="http://schemas.microsoft.com/office/drawing/2014/main" val="3370446033"/>
                  </a:ext>
                </a:extLst>
              </a:tr>
              <a:tr h="330200">
                <a:tc>
                  <a:txBody>
                    <a:bodyPr/>
                    <a:lstStyle/>
                    <a:p>
                      <a:pPr algn="ctr" fontAlgn="ctr"/>
                      <a:r>
                        <a:rPr lang="en-IN" sz="2000" u="none" strike="noStrike">
                          <a:effectLst/>
                        </a:rPr>
                        <a:t>102</a:t>
                      </a:r>
                      <a:endParaRPr lang="en-IN" sz="2000" b="0" i="0" u="none" strike="noStrike">
                        <a:solidFill>
                          <a:srgbClr val="000000"/>
                        </a:solidFill>
                        <a:effectLst/>
                        <a:latin typeface="Aptos Narrow" panose="020B0004020202020204" pitchFamily="34" charset="0"/>
                      </a:endParaRPr>
                    </a:p>
                  </a:txBody>
                  <a:tcPr marL="6350" marR="6350" marT="6350" marB="0" anchor="ctr"/>
                </a:tc>
                <a:tc>
                  <a:txBody>
                    <a:bodyPr/>
                    <a:lstStyle/>
                    <a:p>
                      <a:pPr algn="ctr" fontAlgn="ctr"/>
                      <a:r>
                        <a:rPr lang="en-IN" sz="2000" u="none" strike="noStrike">
                          <a:effectLst/>
                        </a:rPr>
                        <a:t>Bob</a:t>
                      </a:r>
                      <a:endParaRPr lang="en-IN" sz="2000" b="0" i="0" u="none" strike="noStrike">
                        <a:solidFill>
                          <a:srgbClr val="000000"/>
                        </a:solidFill>
                        <a:effectLst/>
                        <a:latin typeface="Aptos Narrow" panose="020B0004020202020204" pitchFamily="34" charset="0"/>
                      </a:endParaRPr>
                    </a:p>
                  </a:txBody>
                  <a:tcPr marL="6350" marR="6350" marT="6350" marB="0" anchor="ctr"/>
                </a:tc>
                <a:tc>
                  <a:txBody>
                    <a:bodyPr/>
                    <a:lstStyle/>
                    <a:p>
                      <a:pPr algn="ctr" fontAlgn="ctr"/>
                      <a:r>
                        <a:rPr lang="en-IN" sz="2000" u="none" strike="noStrike">
                          <a:effectLst/>
                        </a:rPr>
                        <a:t>Mathematics</a:t>
                      </a:r>
                      <a:endParaRPr lang="en-IN" sz="2000" b="0" i="0" u="none" strike="noStrike">
                        <a:solidFill>
                          <a:srgbClr val="000000"/>
                        </a:solidFill>
                        <a:effectLst/>
                        <a:latin typeface="Aptos Narrow" panose="020B0004020202020204" pitchFamily="34" charset="0"/>
                      </a:endParaRPr>
                    </a:p>
                  </a:txBody>
                  <a:tcPr marL="6350" marR="6350" marT="6350" marB="0" anchor="ctr"/>
                </a:tc>
                <a:extLst>
                  <a:ext uri="{0D108BD9-81ED-4DB2-BD59-A6C34878D82A}">
                    <a16:rowId xmlns:a16="http://schemas.microsoft.com/office/drawing/2014/main" val="3512671989"/>
                  </a:ext>
                </a:extLst>
              </a:tr>
              <a:tr h="330200">
                <a:tc>
                  <a:txBody>
                    <a:bodyPr/>
                    <a:lstStyle/>
                    <a:p>
                      <a:pPr algn="ctr" fontAlgn="ctr"/>
                      <a:r>
                        <a:rPr lang="en-IN" sz="2000" u="none" strike="noStrike">
                          <a:effectLst/>
                        </a:rPr>
                        <a:t>104</a:t>
                      </a:r>
                      <a:endParaRPr lang="en-IN" sz="2000" b="0" i="0" u="none" strike="noStrike">
                        <a:solidFill>
                          <a:srgbClr val="000000"/>
                        </a:solidFill>
                        <a:effectLst/>
                        <a:latin typeface="Aptos Narrow" panose="020B0004020202020204" pitchFamily="34" charset="0"/>
                      </a:endParaRPr>
                    </a:p>
                  </a:txBody>
                  <a:tcPr marL="6350" marR="6350" marT="6350" marB="0" anchor="ctr"/>
                </a:tc>
                <a:tc>
                  <a:txBody>
                    <a:bodyPr/>
                    <a:lstStyle/>
                    <a:p>
                      <a:pPr algn="ctr" fontAlgn="ctr"/>
                      <a:r>
                        <a:rPr lang="en-IN" sz="2000" u="none" strike="noStrike">
                          <a:effectLst/>
                        </a:rPr>
                        <a:t>Diana</a:t>
                      </a:r>
                      <a:endParaRPr lang="en-IN" sz="2000" b="0" i="0" u="none" strike="noStrike">
                        <a:solidFill>
                          <a:srgbClr val="000000"/>
                        </a:solidFill>
                        <a:effectLst/>
                        <a:latin typeface="Aptos Narrow" panose="020B0004020202020204" pitchFamily="34" charset="0"/>
                      </a:endParaRPr>
                    </a:p>
                  </a:txBody>
                  <a:tcPr marL="6350" marR="6350" marT="6350" marB="0" anchor="ctr"/>
                </a:tc>
                <a:tc>
                  <a:txBody>
                    <a:bodyPr/>
                    <a:lstStyle/>
                    <a:p>
                      <a:pPr algn="ctr" fontAlgn="ctr"/>
                      <a:r>
                        <a:rPr lang="en-IN" sz="2000" u="none" strike="noStrike" dirty="0">
                          <a:effectLst/>
                        </a:rPr>
                        <a:t>Chemistry</a:t>
                      </a:r>
                      <a:endParaRPr lang="en-IN" sz="2000" b="0" i="0" u="none" strike="noStrike" dirty="0">
                        <a:solidFill>
                          <a:srgbClr val="000000"/>
                        </a:solidFill>
                        <a:effectLst/>
                        <a:latin typeface="Aptos Narrow" panose="020B0004020202020204" pitchFamily="34" charset="0"/>
                      </a:endParaRPr>
                    </a:p>
                  </a:txBody>
                  <a:tcPr marL="6350" marR="6350" marT="6350" marB="0" anchor="ctr"/>
                </a:tc>
                <a:extLst>
                  <a:ext uri="{0D108BD9-81ED-4DB2-BD59-A6C34878D82A}">
                    <a16:rowId xmlns:a16="http://schemas.microsoft.com/office/drawing/2014/main" val="3210561778"/>
                  </a:ext>
                </a:extLst>
              </a:tr>
            </a:tbl>
          </a:graphicData>
        </a:graphic>
      </p:graphicFrame>
    </p:spTree>
    <p:extLst>
      <p:ext uri="{BB962C8B-B14F-4D97-AF65-F5344CB8AC3E}">
        <p14:creationId xmlns:p14="http://schemas.microsoft.com/office/powerpoint/2010/main" val="1863706468"/>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6">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6">
                                            <p:txEl>
                                              <p:pRg st="1" end="1"/>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6" grpId="0" build="p"/>
    </p:bldLst>
  </p:timing>
</p:sld>
</file>

<file path=ppt/slides/slide13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0D279D7-9DA3-23B3-B729-867D68ED2499}"/>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DFBED0D7-BB92-8DC1-A08B-704C9C313AC7}"/>
              </a:ext>
            </a:extLst>
          </p:cNvPr>
          <p:cNvSpPr>
            <a:spLocks noGrp="1"/>
          </p:cNvSpPr>
          <p:nvPr>
            <p:ph type="title"/>
          </p:nvPr>
        </p:nvSpPr>
        <p:spPr>
          <a:xfrm>
            <a:off x="695400" y="395786"/>
            <a:ext cx="9972600" cy="838202"/>
          </a:xfrm>
        </p:spPr>
        <p:txBody>
          <a:bodyPr/>
          <a:lstStyle/>
          <a:p>
            <a:r>
              <a:rPr lang="en-IN" b="1" dirty="0"/>
              <a:t>Relational algebra operations continued..</a:t>
            </a:r>
          </a:p>
        </p:txBody>
      </p:sp>
      <p:sp>
        <p:nvSpPr>
          <p:cNvPr id="6" name="Text Placeholder 5">
            <a:extLst>
              <a:ext uri="{FF2B5EF4-FFF2-40B4-BE49-F238E27FC236}">
                <a16:creationId xmlns:a16="http://schemas.microsoft.com/office/drawing/2014/main" id="{72FDD83D-1FD4-E924-0C4F-C02E3B0331BE}"/>
              </a:ext>
            </a:extLst>
          </p:cNvPr>
          <p:cNvSpPr>
            <a:spLocks noGrp="1"/>
          </p:cNvSpPr>
          <p:nvPr>
            <p:ph type="body" sz="quarter" idx="17"/>
          </p:nvPr>
        </p:nvSpPr>
        <p:spPr>
          <a:xfrm>
            <a:off x="1270000" y="1143000"/>
            <a:ext cx="9779000" cy="2984407"/>
          </a:xfrm>
          <a:prstGeom prst="rect">
            <a:avLst/>
          </a:prstGeom>
        </p:spPr>
        <p:txBody>
          <a:bodyPr wrap="square">
            <a:spAutoFit/>
          </a:bodyPr>
          <a:lstStyle/>
          <a:p>
            <a:pPr marL="0" indent="0">
              <a:buNone/>
            </a:pPr>
            <a:r>
              <a:rPr lang="en-US" b="1" dirty="0"/>
              <a:t>3. SQL Query:</a:t>
            </a:r>
          </a:p>
          <a:p>
            <a:pPr marL="0" indent="0" algn="just">
              <a:buNone/>
            </a:pPr>
            <a:r>
              <a:rPr lang="en-US" dirty="0"/>
              <a:t>SELECT </a:t>
            </a:r>
            <a:r>
              <a:rPr lang="en-US" dirty="0" err="1"/>
              <a:t>StudentID</a:t>
            </a:r>
            <a:r>
              <a:rPr lang="en-US" dirty="0"/>
              <a:t>, Name, Course</a:t>
            </a:r>
          </a:p>
          <a:p>
            <a:pPr marL="0" indent="0" algn="just">
              <a:buNone/>
            </a:pPr>
            <a:r>
              <a:rPr lang="en-US" dirty="0"/>
              <a:t>FROM </a:t>
            </a:r>
            <a:r>
              <a:rPr lang="en-US" dirty="0" err="1"/>
              <a:t>Enrolled_Students</a:t>
            </a:r>
            <a:endParaRPr lang="en-US" dirty="0"/>
          </a:p>
          <a:p>
            <a:pPr marL="0" indent="0" algn="just">
              <a:buNone/>
            </a:pPr>
            <a:r>
              <a:rPr lang="en-US" dirty="0"/>
              <a:t>EXCEPT</a:t>
            </a:r>
          </a:p>
          <a:p>
            <a:pPr marL="0" indent="0" algn="just">
              <a:buNone/>
            </a:pPr>
            <a:r>
              <a:rPr lang="en-US" dirty="0"/>
              <a:t>SELECT </a:t>
            </a:r>
            <a:r>
              <a:rPr lang="en-US" dirty="0" err="1"/>
              <a:t>StudentID</a:t>
            </a:r>
            <a:r>
              <a:rPr lang="en-US" dirty="0"/>
              <a:t>, Name, Course</a:t>
            </a:r>
          </a:p>
          <a:p>
            <a:pPr marL="0" indent="0" algn="just">
              <a:buNone/>
            </a:pPr>
            <a:r>
              <a:rPr lang="en-US" dirty="0"/>
              <a:t>FROM </a:t>
            </a:r>
            <a:r>
              <a:rPr lang="en-US" dirty="0" err="1"/>
              <a:t>Fee_Paid_Students</a:t>
            </a:r>
            <a:r>
              <a:rPr lang="en-US" dirty="0"/>
              <a:t>;</a:t>
            </a:r>
          </a:p>
        </p:txBody>
      </p:sp>
    </p:spTree>
    <p:extLst>
      <p:ext uri="{BB962C8B-B14F-4D97-AF65-F5344CB8AC3E}">
        <p14:creationId xmlns:p14="http://schemas.microsoft.com/office/powerpoint/2010/main" val="1928277184"/>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6">
                                            <p:txEl>
                                              <p:pRg st="0" end="0"/>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6" grpId="0" build="p"/>
    </p:bldLst>
  </p:timing>
</p:sld>
</file>

<file path=ppt/slides/slide1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695400" y="395786"/>
            <a:ext cx="10290100" cy="838202"/>
          </a:xfrm>
        </p:spPr>
        <p:txBody>
          <a:bodyPr/>
          <a:lstStyle/>
          <a:p>
            <a:r>
              <a:rPr lang="en-IN" b="1" dirty="0"/>
              <a:t>Relational algebra operations continued..</a:t>
            </a:r>
          </a:p>
        </p:txBody>
      </p:sp>
      <p:sp>
        <p:nvSpPr>
          <p:cNvPr id="6" name="Text Placeholder 5"/>
          <p:cNvSpPr>
            <a:spLocks noGrp="1"/>
          </p:cNvSpPr>
          <p:nvPr>
            <p:ph type="body" sz="quarter" idx="17"/>
          </p:nvPr>
        </p:nvSpPr>
        <p:spPr>
          <a:xfrm>
            <a:off x="1079500" y="1206500"/>
            <a:ext cx="9779000" cy="3649204"/>
          </a:xfrm>
          <a:prstGeom prst="rect">
            <a:avLst/>
          </a:prstGeom>
        </p:spPr>
        <p:txBody>
          <a:bodyPr wrap="square">
            <a:spAutoFit/>
          </a:bodyPr>
          <a:lstStyle/>
          <a:p>
            <a:pPr marL="0" indent="0">
              <a:buNone/>
            </a:pPr>
            <a:r>
              <a:rPr lang="en-US" b="1" dirty="0"/>
              <a:t>4. Cartesian Product (×)</a:t>
            </a:r>
          </a:p>
          <a:p>
            <a:pPr marL="0" indent="0">
              <a:buNone/>
            </a:pPr>
            <a:r>
              <a:rPr lang="en-US" b="1" dirty="0"/>
              <a:t>Purpose</a:t>
            </a:r>
            <a:r>
              <a:rPr lang="en-US" dirty="0"/>
              <a:t>: Combines every tuple in the first relation with every tuple in the second relation.</a:t>
            </a:r>
          </a:p>
          <a:p>
            <a:pPr marL="0" indent="0">
              <a:buNone/>
            </a:pPr>
            <a:r>
              <a:rPr lang="en-US" b="1" dirty="0"/>
              <a:t>Operation</a:t>
            </a:r>
            <a:r>
              <a:rPr lang="en-US" dirty="0"/>
              <a:t>: The Cartesian product returns the </a:t>
            </a:r>
            <a:r>
              <a:rPr lang="en-US" b="1" dirty="0"/>
              <a:t>concatenation</a:t>
            </a:r>
            <a:r>
              <a:rPr lang="en-US" dirty="0"/>
              <a:t> of every tuple from the first relation with every tuple from the second relation.</a:t>
            </a:r>
          </a:p>
          <a:p>
            <a:pPr marL="0" indent="0">
              <a:buNone/>
            </a:pPr>
            <a:r>
              <a:rPr lang="en-US" b="1" dirty="0"/>
              <a:t>Syntax</a:t>
            </a:r>
            <a:r>
              <a:rPr lang="en-US" dirty="0"/>
              <a:t>: Relation1 × Relation2</a:t>
            </a:r>
          </a:p>
          <a:p>
            <a:pPr marL="0" indent="0">
              <a:buNone/>
            </a:pPr>
            <a:endParaRPr lang="en-US" dirty="0"/>
          </a:p>
          <a:p>
            <a:pPr marL="0" indent="0" algn="just">
              <a:buNone/>
            </a:pPr>
            <a:endParaRPr lang="en-IN" dirty="0"/>
          </a:p>
        </p:txBody>
      </p:sp>
    </p:spTree>
    <p:extLst>
      <p:ext uri="{BB962C8B-B14F-4D97-AF65-F5344CB8AC3E}">
        <p14:creationId xmlns:p14="http://schemas.microsoft.com/office/powerpoint/2010/main" val="2177145061"/>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6">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6">
                                            <p:txEl>
                                              <p:pRg st="1" end="1"/>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grpId="0" nodeType="clickEffect">
                                  <p:stCondLst>
                                    <p:cond delay="0"/>
                                  </p:stCondLst>
                                  <p:childTnLst>
                                    <p:set>
                                      <p:cBhvr>
                                        <p:cTn id="14" dur="1" fill="hold">
                                          <p:stCondLst>
                                            <p:cond delay="0"/>
                                          </p:stCondLst>
                                        </p:cTn>
                                        <p:tgtEl>
                                          <p:spTgt spid="6">
                                            <p:txEl>
                                              <p:pRg st="2" end="2"/>
                                            </p:txEl>
                                          </p:spTgt>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grpId="0" nodeType="clickEffect">
                                  <p:stCondLst>
                                    <p:cond delay="0"/>
                                  </p:stCondLst>
                                  <p:childTnLst>
                                    <p:set>
                                      <p:cBhvr>
                                        <p:cTn id="18" dur="1" fill="hold">
                                          <p:stCondLst>
                                            <p:cond delay="0"/>
                                          </p:stCondLst>
                                        </p:cTn>
                                        <p:tgtEl>
                                          <p:spTgt spid="6">
                                            <p:txEl>
                                              <p:pRg st="3" end="3"/>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6" grpId="0" build="p"/>
    </p:bldLst>
  </p:timing>
</p:sld>
</file>

<file path=ppt/slides/slide1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695400" y="395786"/>
            <a:ext cx="9591600" cy="838202"/>
          </a:xfrm>
        </p:spPr>
        <p:txBody>
          <a:bodyPr/>
          <a:lstStyle/>
          <a:p>
            <a:r>
              <a:rPr lang="en-IN" b="1" dirty="0"/>
              <a:t>Relational algebra Operations continued..</a:t>
            </a:r>
          </a:p>
        </p:txBody>
      </p:sp>
      <p:sp>
        <p:nvSpPr>
          <p:cNvPr id="6" name="Text Placeholder 5"/>
          <p:cNvSpPr>
            <a:spLocks noGrp="1"/>
          </p:cNvSpPr>
          <p:nvPr>
            <p:ph type="body" sz="quarter" idx="17"/>
          </p:nvPr>
        </p:nvSpPr>
        <p:spPr>
          <a:xfrm>
            <a:off x="1524000" y="1778000"/>
            <a:ext cx="9779000" cy="4008277"/>
          </a:xfrm>
          <a:prstGeom prst="rect">
            <a:avLst/>
          </a:prstGeom>
        </p:spPr>
        <p:txBody>
          <a:bodyPr wrap="square">
            <a:spAutoFit/>
          </a:bodyPr>
          <a:lstStyle/>
          <a:p>
            <a:pPr marL="0" indent="0" algn="just">
              <a:buNone/>
            </a:pPr>
            <a:r>
              <a:rPr lang="en-US" b="1" dirty="0"/>
              <a:t>Example</a:t>
            </a:r>
            <a:r>
              <a:rPr lang="en-US" dirty="0"/>
              <a:t>: Consider two relations Courses and Instructors:</a:t>
            </a:r>
          </a:p>
          <a:p>
            <a:pPr marL="0" indent="0" algn="just">
              <a:buNone/>
            </a:pPr>
            <a:endParaRPr lang="en-US" dirty="0"/>
          </a:p>
          <a:p>
            <a:pPr marL="0" indent="0" algn="just">
              <a:buNone/>
            </a:pPr>
            <a:endParaRPr lang="en-US" dirty="0"/>
          </a:p>
          <a:p>
            <a:pPr marL="0" indent="0" algn="just">
              <a:buNone/>
            </a:pPr>
            <a:endParaRPr lang="en-US" dirty="0"/>
          </a:p>
          <a:p>
            <a:pPr marL="0" indent="0" algn="just">
              <a:buNone/>
            </a:pPr>
            <a:endParaRPr lang="en-US" dirty="0"/>
          </a:p>
          <a:p>
            <a:pPr marL="0" indent="0" algn="just">
              <a:buNone/>
            </a:pPr>
            <a:r>
              <a:rPr lang="en-US" b="1" dirty="0"/>
              <a:t>Query</a:t>
            </a:r>
            <a:r>
              <a:rPr lang="en-US" dirty="0"/>
              <a:t>: Find the Cartesian product of Courses and Instructors:</a:t>
            </a:r>
          </a:p>
          <a:p>
            <a:pPr marL="0" indent="0" algn="just">
              <a:buNone/>
            </a:pPr>
            <a:r>
              <a:rPr lang="en-IN" dirty="0"/>
              <a:t>Courses × Instructors</a:t>
            </a:r>
          </a:p>
          <a:p>
            <a:pPr marL="0" indent="0" algn="just">
              <a:buNone/>
            </a:pPr>
            <a:r>
              <a:rPr lang="en-GB" b="1" dirty="0"/>
              <a:t>Result</a:t>
            </a:r>
            <a:r>
              <a:rPr lang="en-GB" dirty="0"/>
              <a:t>:</a:t>
            </a:r>
            <a:endParaRPr lang="en-IN" dirty="0"/>
          </a:p>
        </p:txBody>
      </p:sp>
      <p:graphicFrame>
        <p:nvGraphicFramePr>
          <p:cNvPr id="3" name="Table 2"/>
          <p:cNvGraphicFramePr>
            <a:graphicFrameLocks noGrp="1"/>
          </p:cNvGraphicFramePr>
          <p:nvPr/>
        </p:nvGraphicFramePr>
        <p:xfrm>
          <a:off x="1651000" y="2603501"/>
          <a:ext cx="3937000" cy="1587500"/>
        </p:xfrm>
        <a:graphic>
          <a:graphicData uri="http://schemas.openxmlformats.org/drawingml/2006/table">
            <a:tbl>
              <a:tblPr firstRow="1" firstCol="1" bandRow="1">
                <a:tableStyleId>{5C22544A-7EE6-4342-B048-85BDC9FD1C3A}</a:tableStyleId>
              </a:tblPr>
              <a:tblGrid>
                <a:gridCol w="1657684">
                  <a:extLst>
                    <a:ext uri="{9D8B030D-6E8A-4147-A177-3AD203B41FA5}">
                      <a16:colId xmlns:a16="http://schemas.microsoft.com/office/drawing/2014/main" val="20000"/>
                    </a:ext>
                  </a:extLst>
                </a:gridCol>
                <a:gridCol w="2279316">
                  <a:extLst>
                    <a:ext uri="{9D8B030D-6E8A-4147-A177-3AD203B41FA5}">
                      <a16:colId xmlns:a16="http://schemas.microsoft.com/office/drawing/2014/main" val="20001"/>
                    </a:ext>
                  </a:extLst>
                </a:gridCol>
              </a:tblGrid>
              <a:tr h="786676">
                <a:tc>
                  <a:txBody>
                    <a:bodyPr/>
                    <a:lstStyle/>
                    <a:p>
                      <a:pPr algn="ctr">
                        <a:lnSpc>
                          <a:spcPct val="115000"/>
                        </a:lnSpc>
                        <a:spcAft>
                          <a:spcPts val="0"/>
                        </a:spcAft>
                      </a:pPr>
                      <a:r>
                        <a:rPr lang="en-GB" sz="900" dirty="0" err="1">
                          <a:effectLst/>
                        </a:rPr>
                        <a:t>CourseID</a:t>
                      </a:r>
                      <a:endParaRPr lang="en-GB" sz="900" dirty="0">
                        <a:effectLst/>
                        <a:latin typeface="Calibri"/>
                        <a:ea typeface="Calibri"/>
                        <a:cs typeface="Times New Roman"/>
                      </a:endParaRPr>
                    </a:p>
                  </a:txBody>
                  <a:tcPr marL="57150" marR="57150" marT="0" marB="0" anchor="ctr"/>
                </a:tc>
                <a:tc>
                  <a:txBody>
                    <a:bodyPr/>
                    <a:lstStyle/>
                    <a:p>
                      <a:pPr algn="ctr">
                        <a:lnSpc>
                          <a:spcPct val="115000"/>
                        </a:lnSpc>
                        <a:spcAft>
                          <a:spcPts val="0"/>
                        </a:spcAft>
                      </a:pPr>
                      <a:r>
                        <a:rPr lang="en-GB" sz="900" dirty="0" err="1">
                          <a:effectLst/>
                        </a:rPr>
                        <a:t>CourseName</a:t>
                      </a:r>
                      <a:endParaRPr lang="en-GB" sz="900" dirty="0">
                        <a:effectLst/>
                        <a:latin typeface="Calibri"/>
                        <a:ea typeface="Calibri"/>
                        <a:cs typeface="Times New Roman"/>
                      </a:endParaRPr>
                    </a:p>
                  </a:txBody>
                  <a:tcPr marL="57150" marR="57150" marT="0" marB="0" anchor="ctr"/>
                </a:tc>
                <a:extLst>
                  <a:ext uri="{0D108BD9-81ED-4DB2-BD59-A6C34878D82A}">
                    <a16:rowId xmlns:a16="http://schemas.microsoft.com/office/drawing/2014/main" val="10000"/>
                  </a:ext>
                </a:extLst>
              </a:tr>
              <a:tr h="400412">
                <a:tc>
                  <a:txBody>
                    <a:bodyPr/>
                    <a:lstStyle/>
                    <a:p>
                      <a:pPr>
                        <a:lnSpc>
                          <a:spcPct val="115000"/>
                        </a:lnSpc>
                        <a:spcAft>
                          <a:spcPts val="0"/>
                        </a:spcAft>
                      </a:pPr>
                      <a:r>
                        <a:rPr lang="en-GB" sz="900">
                          <a:effectLst/>
                        </a:rPr>
                        <a:t>C101</a:t>
                      </a:r>
                      <a:endParaRPr lang="en-GB" sz="900">
                        <a:effectLst/>
                        <a:latin typeface="Calibri"/>
                        <a:ea typeface="Calibri"/>
                        <a:cs typeface="Times New Roman"/>
                      </a:endParaRPr>
                    </a:p>
                  </a:txBody>
                  <a:tcPr marL="57150" marR="57150" marT="0" marB="0" anchor="ctr"/>
                </a:tc>
                <a:tc>
                  <a:txBody>
                    <a:bodyPr/>
                    <a:lstStyle/>
                    <a:p>
                      <a:pPr>
                        <a:lnSpc>
                          <a:spcPct val="115000"/>
                        </a:lnSpc>
                        <a:spcAft>
                          <a:spcPts val="0"/>
                        </a:spcAft>
                      </a:pPr>
                      <a:r>
                        <a:rPr lang="en-GB" sz="900">
                          <a:effectLst/>
                        </a:rPr>
                        <a:t>DBMS</a:t>
                      </a:r>
                      <a:endParaRPr lang="en-GB" sz="900">
                        <a:effectLst/>
                        <a:latin typeface="Calibri"/>
                        <a:ea typeface="Calibri"/>
                        <a:cs typeface="Times New Roman"/>
                      </a:endParaRPr>
                    </a:p>
                  </a:txBody>
                  <a:tcPr marL="57150" marR="57150" marT="0" marB="0" anchor="ctr"/>
                </a:tc>
                <a:extLst>
                  <a:ext uri="{0D108BD9-81ED-4DB2-BD59-A6C34878D82A}">
                    <a16:rowId xmlns:a16="http://schemas.microsoft.com/office/drawing/2014/main" val="10001"/>
                  </a:ext>
                </a:extLst>
              </a:tr>
              <a:tr h="400412">
                <a:tc>
                  <a:txBody>
                    <a:bodyPr/>
                    <a:lstStyle/>
                    <a:p>
                      <a:pPr>
                        <a:lnSpc>
                          <a:spcPct val="115000"/>
                        </a:lnSpc>
                        <a:spcAft>
                          <a:spcPts val="0"/>
                        </a:spcAft>
                      </a:pPr>
                      <a:r>
                        <a:rPr lang="en-GB" sz="900">
                          <a:effectLst/>
                        </a:rPr>
                        <a:t>C102</a:t>
                      </a:r>
                      <a:endParaRPr lang="en-GB" sz="900">
                        <a:effectLst/>
                        <a:latin typeface="Calibri"/>
                        <a:ea typeface="Calibri"/>
                        <a:cs typeface="Times New Roman"/>
                      </a:endParaRPr>
                    </a:p>
                  </a:txBody>
                  <a:tcPr marL="57150" marR="57150" marT="0" marB="0" anchor="ctr"/>
                </a:tc>
                <a:tc>
                  <a:txBody>
                    <a:bodyPr/>
                    <a:lstStyle/>
                    <a:p>
                      <a:pPr>
                        <a:lnSpc>
                          <a:spcPct val="115000"/>
                        </a:lnSpc>
                        <a:spcAft>
                          <a:spcPts val="0"/>
                        </a:spcAft>
                      </a:pPr>
                      <a:r>
                        <a:rPr lang="en-GB" sz="900" dirty="0">
                          <a:effectLst/>
                        </a:rPr>
                        <a:t>OS</a:t>
                      </a:r>
                      <a:endParaRPr lang="en-GB" sz="900" dirty="0">
                        <a:effectLst/>
                        <a:latin typeface="Calibri"/>
                        <a:ea typeface="Calibri"/>
                        <a:cs typeface="Times New Roman"/>
                      </a:endParaRPr>
                    </a:p>
                  </a:txBody>
                  <a:tcPr marL="57150" marR="57150" marT="0" marB="0" anchor="ctr"/>
                </a:tc>
                <a:extLst>
                  <a:ext uri="{0D108BD9-81ED-4DB2-BD59-A6C34878D82A}">
                    <a16:rowId xmlns:a16="http://schemas.microsoft.com/office/drawing/2014/main" val="10002"/>
                  </a:ext>
                </a:extLst>
              </a:tr>
            </a:tbl>
          </a:graphicData>
        </a:graphic>
      </p:graphicFrame>
      <p:graphicFrame>
        <p:nvGraphicFramePr>
          <p:cNvPr id="4" name="Table 3"/>
          <p:cNvGraphicFramePr>
            <a:graphicFrameLocks noGrp="1"/>
          </p:cNvGraphicFramePr>
          <p:nvPr/>
        </p:nvGraphicFramePr>
        <p:xfrm>
          <a:off x="5969000" y="2667000"/>
          <a:ext cx="4635500" cy="1587500"/>
        </p:xfrm>
        <a:graphic>
          <a:graphicData uri="http://schemas.openxmlformats.org/drawingml/2006/table">
            <a:tbl>
              <a:tblPr firstRow="1" firstCol="1" bandRow="1">
                <a:tableStyleId>{5C22544A-7EE6-4342-B048-85BDC9FD1C3A}</a:tableStyleId>
              </a:tblPr>
              <a:tblGrid>
                <a:gridCol w="1941898">
                  <a:extLst>
                    <a:ext uri="{9D8B030D-6E8A-4147-A177-3AD203B41FA5}">
                      <a16:colId xmlns:a16="http://schemas.microsoft.com/office/drawing/2014/main" val="20000"/>
                    </a:ext>
                  </a:extLst>
                </a:gridCol>
                <a:gridCol w="2693602">
                  <a:extLst>
                    <a:ext uri="{9D8B030D-6E8A-4147-A177-3AD203B41FA5}">
                      <a16:colId xmlns:a16="http://schemas.microsoft.com/office/drawing/2014/main" val="20001"/>
                    </a:ext>
                  </a:extLst>
                </a:gridCol>
              </a:tblGrid>
              <a:tr h="793750">
                <a:tc>
                  <a:txBody>
                    <a:bodyPr/>
                    <a:lstStyle/>
                    <a:p>
                      <a:pPr algn="ctr">
                        <a:lnSpc>
                          <a:spcPct val="115000"/>
                        </a:lnSpc>
                        <a:spcAft>
                          <a:spcPts val="0"/>
                        </a:spcAft>
                      </a:pPr>
                      <a:r>
                        <a:rPr lang="en-GB" sz="900">
                          <a:effectLst/>
                        </a:rPr>
                        <a:t>InstructorID</a:t>
                      </a:r>
                      <a:endParaRPr lang="en-GB" sz="900">
                        <a:effectLst/>
                        <a:latin typeface="Calibri"/>
                        <a:ea typeface="Calibri"/>
                        <a:cs typeface="Times New Roman"/>
                      </a:endParaRPr>
                    </a:p>
                  </a:txBody>
                  <a:tcPr marL="57150" marR="57150" marT="0" marB="0" anchor="ctr"/>
                </a:tc>
                <a:tc>
                  <a:txBody>
                    <a:bodyPr/>
                    <a:lstStyle/>
                    <a:p>
                      <a:pPr algn="ctr">
                        <a:lnSpc>
                          <a:spcPct val="115000"/>
                        </a:lnSpc>
                        <a:spcAft>
                          <a:spcPts val="0"/>
                        </a:spcAft>
                      </a:pPr>
                      <a:r>
                        <a:rPr lang="en-GB" sz="900">
                          <a:effectLst/>
                        </a:rPr>
                        <a:t>InstructorName</a:t>
                      </a:r>
                      <a:endParaRPr lang="en-GB" sz="900">
                        <a:effectLst/>
                        <a:latin typeface="Calibri"/>
                        <a:ea typeface="Calibri"/>
                        <a:cs typeface="Times New Roman"/>
                      </a:endParaRPr>
                    </a:p>
                  </a:txBody>
                  <a:tcPr marL="57150" marR="57150" marT="0" marB="0" anchor="ctr"/>
                </a:tc>
                <a:extLst>
                  <a:ext uri="{0D108BD9-81ED-4DB2-BD59-A6C34878D82A}">
                    <a16:rowId xmlns:a16="http://schemas.microsoft.com/office/drawing/2014/main" val="10000"/>
                  </a:ext>
                </a:extLst>
              </a:tr>
              <a:tr h="396875">
                <a:tc>
                  <a:txBody>
                    <a:bodyPr/>
                    <a:lstStyle/>
                    <a:p>
                      <a:pPr>
                        <a:lnSpc>
                          <a:spcPct val="115000"/>
                        </a:lnSpc>
                        <a:spcAft>
                          <a:spcPts val="0"/>
                        </a:spcAft>
                      </a:pPr>
                      <a:r>
                        <a:rPr lang="en-GB" sz="900">
                          <a:effectLst/>
                        </a:rPr>
                        <a:t>I201</a:t>
                      </a:r>
                      <a:endParaRPr lang="en-GB" sz="900">
                        <a:effectLst/>
                        <a:latin typeface="Calibri"/>
                        <a:ea typeface="Calibri"/>
                        <a:cs typeface="Times New Roman"/>
                      </a:endParaRPr>
                    </a:p>
                  </a:txBody>
                  <a:tcPr marL="57150" marR="57150" marT="0" marB="0" anchor="ctr"/>
                </a:tc>
                <a:tc>
                  <a:txBody>
                    <a:bodyPr/>
                    <a:lstStyle/>
                    <a:p>
                      <a:pPr>
                        <a:lnSpc>
                          <a:spcPct val="115000"/>
                        </a:lnSpc>
                        <a:spcAft>
                          <a:spcPts val="0"/>
                        </a:spcAft>
                      </a:pPr>
                      <a:r>
                        <a:rPr lang="en-GB" sz="900">
                          <a:effectLst/>
                        </a:rPr>
                        <a:t>Dr. Smith</a:t>
                      </a:r>
                      <a:endParaRPr lang="en-GB" sz="900">
                        <a:effectLst/>
                        <a:latin typeface="Calibri"/>
                        <a:ea typeface="Calibri"/>
                        <a:cs typeface="Times New Roman"/>
                      </a:endParaRPr>
                    </a:p>
                  </a:txBody>
                  <a:tcPr marL="57150" marR="57150" marT="0" marB="0" anchor="ctr"/>
                </a:tc>
                <a:extLst>
                  <a:ext uri="{0D108BD9-81ED-4DB2-BD59-A6C34878D82A}">
                    <a16:rowId xmlns:a16="http://schemas.microsoft.com/office/drawing/2014/main" val="10001"/>
                  </a:ext>
                </a:extLst>
              </a:tr>
              <a:tr h="396875">
                <a:tc>
                  <a:txBody>
                    <a:bodyPr/>
                    <a:lstStyle/>
                    <a:p>
                      <a:pPr>
                        <a:lnSpc>
                          <a:spcPct val="115000"/>
                        </a:lnSpc>
                        <a:spcAft>
                          <a:spcPts val="0"/>
                        </a:spcAft>
                      </a:pPr>
                      <a:r>
                        <a:rPr lang="en-GB" sz="900">
                          <a:effectLst/>
                        </a:rPr>
                        <a:t>I202</a:t>
                      </a:r>
                      <a:endParaRPr lang="en-GB" sz="900">
                        <a:effectLst/>
                        <a:latin typeface="Calibri"/>
                        <a:ea typeface="Calibri"/>
                        <a:cs typeface="Times New Roman"/>
                      </a:endParaRPr>
                    </a:p>
                  </a:txBody>
                  <a:tcPr marL="57150" marR="57150" marT="0" marB="0" anchor="ctr"/>
                </a:tc>
                <a:tc>
                  <a:txBody>
                    <a:bodyPr/>
                    <a:lstStyle/>
                    <a:p>
                      <a:pPr>
                        <a:lnSpc>
                          <a:spcPct val="115000"/>
                        </a:lnSpc>
                        <a:spcAft>
                          <a:spcPts val="0"/>
                        </a:spcAft>
                      </a:pPr>
                      <a:r>
                        <a:rPr lang="en-GB" sz="900" dirty="0" err="1">
                          <a:effectLst/>
                        </a:rPr>
                        <a:t>Dr.</a:t>
                      </a:r>
                      <a:r>
                        <a:rPr lang="en-GB" sz="900" dirty="0">
                          <a:effectLst/>
                        </a:rPr>
                        <a:t> Jones</a:t>
                      </a:r>
                      <a:endParaRPr lang="en-GB" sz="900" dirty="0">
                        <a:effectLst/>
                        <a:latin typeface="Calibri"/>
                        <a:ea typeface="Calibri"/>
                        <a:cs typeface="Times New Roman"/>
                      </a:endParaRPr>
                    </a:p>
                  </a:txBody>
                  <a:tcPr marL="57150" marR="57150" marT="0" marB="0" anchor="ctr"/>
                </a:tc>
                <a:extLst>
                  <a:ext uri="{0D108BD9-81ED-4DB2-BD59-A6C34878D82A}">
                    <a16:rowId xmlns:a16="http://schemas.microsoft.com/office/drawing/2014/main" val="10002"/>
                  </a:ext>
                </a:extLst>
              </a:tr>
            </a:tbl>
          </a:graphicData>
        </a:graphic>
      </p:graphicFrame>
      <p:graphicFrame>
        <p:nvGraphicFramePr>
          <p:cNvPr id="5" name="Table 4"/>
          <p:cNvGraphicFramePr>
            <a:graphicFrameLocks noGrp="1"/>
          </p:cNvGraphicFramePr>
          <p:nvPr/>
        </p:nvGraphicFramePr>
        <p:xfrm>
          <a:off x="4826001" y="4889500"/>
          <a:ext cx="6667500" cy="1841501"/>
        </p:xfrm>
        <a:graphic>
          <a:graphicData uri="http://schemas.openxmlformats.org/drawingml/2006/table">
            <a:tbl>
              <a:tblPr firstRow="1" firstCol="1" bandRow="1">
                <a:tableStyleId>{5C22544A-7EE6-4342-B048-85BDC9FD1C3A}</a:tableStyleId>
              </a:tblPr>
              <a:tblGrid>
                <a:gridCol w="1373372">
                  <a:extLst>
                    <a:ext uri="{9D8B030D-6E8A-4147-A177-3AD203B41FA5}">
                      <a16:colId xmlns:a16="http://schemas.microsoft.com/office/drawing/2014/main" val="20000"/>
                    </a:ext>
                  </a:extLst>
                </a:gridCol>
                <a:gridCol w="1905000">
                  <a:extLst>
                    <a:ext uri="{9D8B030D-6E8A-4147-A177-3AD203B41FA5}">
                      <a16:colId xmlns:a16="http://schemas.microsoft.com/office/drawing/2014/main" val="20001"/>
                    </a:ext>
                  </a:extLst>
                </a:gridCol>
                <a:gridCol w="1439825">
                  <a:extLst>
                    <a:ext uri="{9D8B030D-6E8A-4147-A177-3AD203B41FA5}">
                      <a16:colId xmlns:a16="http://schemas.microsoft.com/office/drawing/2014/main" val="20002"/>
                    </a:ext>
                  </a:extLst>
                </a:gridCol>
                <a:gridCol w="1949303">
                  <a:extLst>
                    <a:ext uri="{9D8B030D-6E8A-4147-A177-3AD203B41FA5}">
                      <a16:colId xmlns:a16="http://schemas.microsoft.com/office/drawing/2014/main" val="20003"/>
                    </a:ext>
                  </a:extLst>
                </a:gridCol>
              </a:tblGrid>
              <a:tr h="606561">
                <a:tc>
                  <a:txBody>
                    <a:bodyPr/>
                    <a:lstStyle/>
                    <a:p>
                      <a:pPr algn="ctr">
                        <a:lnSpc>
                          <a:spcPct val="115000"/>
                        </a:lnSpc>
                        <a:spcAft>
                          <a:spcPts val="0"/>
                        </a:spcAft>
                      </a:pPr>
                      <a:r>
                        <a:rPr lang="en-GB" sz="900">
                          <a:effectLst/>
                        </a:rPr>
                        <a:t>CourseID</a:t>
                      </a:r>
                      <a:endParaRPr lang="en-GB" sz="900">
                        <a:effectLst/>
                        <a:latin typeface="Calibri"/>
                        <a:ea typeface="Calibri"/>
                        <a:cs typeface="Times New Roman"/>
                      </a:endParaRPr>
                    </a:p>
                  </a:txBody>
                  <a:tcPr marL="57150" marR="57150" marT="0" marB="0" anchor="ctr"/>
                </a:tc>
                <a:tc>
                  <a:txBody>
                    <a:bodyPr/>
                    <a:lstStyle/>
                    <a:p>
                      <a:pPr algn="ctr">
                        <a:lnSpc>
                          <a:spcPct val="115000"/>
                        </a:lnSpc>
                        <a:spcAft>
                          <a:spcPts val="0"/>
                        </a:spcAft>
                      </a:pPr>
                      <a:r>
                        <a:rPr lang="en-GB" sz="900">
                          <a:effectLst/>
                        </a:rPr>
                        <a:t>CourseName</a:t>
                      </a:r>
                      <a:endParaRPr lang="en-GB" sz="900">
                        <a:effectLst/>
                        <a:latin typeface="Calibri"/>
                        <a:ea typeface="Calibri"/>
                        <a:cs typeface="Times New Roman"/>
                      </a:endParaRPr>
                    </a:p>
                  </a:txBody>
                  <a:tcPr marL="57150" marR="57150" marT="0" marB="0" anchor="ctr"/>
                </a:tc>
                <a:tc>
                  <a:txBody>
                    <a:bodyPr/>
                    <a:lstStyle/>
                    <a:p>
                      <a:pPr algn="ctr">
                        <a:lnSpc>
                          <a:spcPct val="115000"/>
                        </a:lnSpc>
                        <a:spcAft>
                          <a:spcPts val="0"/>
                        </a:spcAft>
                      </a:pPr>
                      <a:r>
                        <a:rPr lang="en-GB" sz="900">
                          <a:effectLst/>
                        </a:rPr>
                        <a:t>InstructorID</a:t>
                      </a:r>
                      <a:endParaRPr lang="en-GB" sz="900">
                        <a:effectLst/>
                        <a:latin typeface="Calibri"/>
                        <a:ea typeface="Calibri"/>
                        <a:cs typeface="Times New Roman"/>
                      </a:endParaRPr>
                    </a:p>
                  </a:txBody>
                  <a:tcPr marL="57150" marR="57150" marT="0" marB="0" anchor="ctr"/>
                </a:tc>
                <a:tc>
                  <a:txBody>
                    <a:bodyPr/>
                    <a:lstStyle/>
                    <a:p>
                      <a:pPr algn="ctr">
                        <a:lnSpc>
                          <a:spcPct val="115000"/>
                        </a:lnSpc>
                        <a:spcAft>
                          <a:spcPts val="0"/>
                        </a:spcAft>
                      </a:pPr>
                      <a:r>
                        <a:rPr lang="en-GB" sz="900">
                          <a:effectLst/>
                        </a:rPr>
                        <a:t>InstructorName</a:t>
                      </a:r>
                      <a:endParaRPr lang="en-GB" sz="900">
                        <a:effectLst/>
                        <a:latin typeface="Calibri"/>
                        <a:ea typeface="Calibri"/>
                        <a:cs typeface="Times New Roman"/>
                      </a:endParaRPr>
                    </a:p>
                  </a:txBody>
                  <a:tcPr marL="57150" marR="57150" marT="0" marB="0" anchor="ctr"/>
                </a:tc>
                <a:extLst>
                  <a:ext uri="{0D108BD9-81ED-4DB2-BD59-A6C34878D82A}">
                    <a16:rowId xmlns:a16="http://schemas.microsoft.com/office/drawing/2014/main" val="10000"/>
                  </a:ext>
                </a:extLst>
              </a:tr>
              <a:tr h="308735">
                <a:tc>
                  <a:txBody>
                    <a:bodyPr/>
                    <a:lstStyle/>
                    <a:p>
                      <a:pPr algn="ctr">
                        <a:lnSpc>
                          <a:spcPct val="115000"/>
                        </a:lnSpc>
                        <a:spcAft>
                          <a:spcPts val="0"/>
                        </a:spcAft>
                      </a:pPr>
                      <a:r>
                        <a:rPr lang="en-GB" sz="900">
                          <a:effectLst/>
                        </a:rPr>
                        <a:t>C101</a:t>
                      </a:r>
                      <a:endParaRPr lang="en-GB" sz="900">
                        <a:effectLst/>
                        <a:latin typeface="Calibri"/>
                        <a:ea typeface="Calibri"/>
                        <a:cs typeface="Times New Roman"/>
                      </a:endParaRPr>
                    </a:p>
                  </a:txBody>
                  <a:tcPr marL="57150" marR="57150" marT="0" marB="0" anchor="ctr"/>
                </a:tc>
                <a:tc>
                  <a:txBody>
                    <a:bodyPr/>
                    <a:lstStyle/>
                    <a:p>
                      <a:pPr algn="ctr">
                        <a:lnSpc>
                          <a:spcPct val="115000"/>
                        </a:lnSpc>
                        <a:spcAft>
                          <a:spcPts val="0"/>
                        </a:spcAft>
                      </a:pPr>
                      <a:r>
                        <a:rPr lang="en-GB" sz="900">
                          <a:effectLst/>
                        </a:rPr>
                        <a:t>DBMS</a:t>
                      </a:r>
                      <a:endParaRPr lang="en-GB" sz="900">
                        <a:effectLst/>
                        <a:latin typeface="Calibri"/>
                        <a:ea typeface="Calibri"/>
                        <a:cs typeface="Times New Roman"/>
                      </a:endParaRPr>
                    </a:p>
                  </a:txBody>
                  <a:tcPr marL="57150" marR="57150" marT="0" marB="0" anchor="ctr"/>
                </a:tc>
                <a:tc>
                  <a:txBody>
                    <a:bodyPr/>
                    <a:lstStyle/>
                    <a:p>
                      <a:pPr algn="ctr">
                        <a:lnSpc>
                          <a:spcPct val="115000"/>
                        </a:lnSpc>
                        <a:spcAft>
                          <a:spcPts val="0"/>
                        </a:spcAft>
                      </a:pPr>
                      <a:r>
                        <a:rPr lang="en-GB" sz="900">
                          <a:effectLst/>
                        </a:rPr>
                        <a:t>I201</a:t>
                      </a:r>
                      <a:endParaRPr lang="en-GB" sz="900">
                        <a:effectLst/>
                        <a:latin typeface="Calibri"/>
                        <a:ea typeface="Calibri"/>
                        <a:cs typeface="Times New Roman"/>
                      </a:endParaRPr>
                    </a:p>
                  </a:txBody>
                  <a:tcPr marL="57150" marR="57150" marT="0" marB="0" anchor="ctr"/>
                </a:tc>
                <a:tc>
                  <a:txBody>
                    <a:bodyPr/>
                    <a:lstStyle/>
                    <a:p>
                      <a:pPr algn="ctr">
                        <a:lnSpc>
                          <a:spcPct val="115000"/>
                        </a:lnSpc>
                        <a:spcAft>
                          <a:spcPts val="0"/>
                        </a:spcAft>
                      </a:pPr>
                      <a:r>
                        <a:rPr lang="en-GB" sz="900">
                          <a:effectLst/>
                        </a:rPr>
                        <a:t>Dr. Smith</a:t>
                      </a:r>
                      <a:endParaRPr lang="en-GB" sz="900">
                        <a:effectLst/>
                        <a:latin typeface="Calibri"/>
                        <a:ea typeface="Calibri"/>
                        <a:cs typeface="Times New Roman"/>
                      </a:endParaRPr>
                    </a:p>
                  </a:txBody>
                  <a:tcPr marL="57150" marR="57150" marT="0" marB="0" anchor="ctr"/>
                </a:tc>
                <a:extLst>
                  <a:ext uri="{0D108BD9-81ED-4DB2-BD59-A6C34878D82A}">
                    <a16:rowId xmlns:a16="http://schemas.microsoft.com/office/drawing/2014/main" val="10001"/>
                  </a:ext>
                </a:extLst>
              </a:tr>
              <a:tr h="308735">
                <a:tc>
                  <a:txBody>
                    <a:bodyPr/>
                    <a:lstStyle/>
                    <a:p>
                      <a:pPr algn="ctr">
                        <a:lnSpc>
                          <a:spcPct val="115000"/>
                        </a:lnSpc>
                        <a:spcAft>
                          <a:spcPts val="0"/>
                        </a:spcAft>
                      </a:pPr>
                      <a:r>
                        <a:rPr lang="en-GB" sz="900">
                          <a:effectLst/>
                        </a:rPr>
                        <a:t>C101</a:t>
                      </a:r>
                      <a:endParaRPr lang="en-GB" sz="900">
                        <a:effectLst/>
                        <a:latin typeface="Calibri"/>
                        <a:ea typeface="Calibri"/>
                        <a:cs typeface="Times New Roman"/>
                      </a:endParaRPr>
                    </a:p>
                  </a:txBody>
                  <a:tcPr marL="57150" marR="57150" marT="0" marB="0" anchor="ctr"/>
                </a:tc>
                <a:tc>
                  <a:txBody>
                    <a:bodyPr/>
                    <a:lstStyle/>
                    <a:p>
                      <a:pPr algn="ctr">
                        <a:lnSpc>
                          <a:spcPct val="115000"/>
                        </a:lnSpc>
                        <a:spcAft>
                          <a:spcPts val="0"/>
                        </a:spcAft>
                      </a:pPr>
                      <a:r>
                        <a:rPr lang="en-GB" sz="900">
                          <a:effectLst/>
                        </a:rPr>
                        <a:t>DBMS</a:t>
                      </a:r>
                      <a:endParaRPr lang="en-GB" sz="900">
                        <a:effectLst/>
                        <a:latin typeface="Calibri"/>
                        <a:ea typeface="Calibri"/>
                        <a:cs typeface="Times New Roman"/>
                      </a:endParaRPr>
                    </a:p>
                  </a:txBody>
                  <a:tcPr marL="57150" marR="57150" marT="0" marB="0" anchor="ctr"/>
                </a:tc>
                <a:tc>
                  <a:txBody>
                    <a:bodyPr/>
                    <a:lstStyle/>
                    <a:p>
                      <a:pPr algn="ctr">
                        <a:lnSpc>
                          <a:spcPct val="115000"/>
                        </a:lnSpc>
                        <a:spcAft>
                          <a:spcPts val="0"/>
                        </a:spcAft>
                      </a:pPr>
                      <a:r>
                        <a:rPr lang="en-GB" sz="900">
                          <a:effectLst/>
                        </a:rPr>
                        <a:t>I202</a:t>
                      </a:r>
                      <a:endParaRPr lang="en-GB" sz="900">
                        <a:effectLst/>
                        <a:latin typeface="Calibri"/>
                        <a:ea typeface="Calibri"/>
                        <a:cs typeface="Times New Roman"/>
                      </a:endParaRPr>
                    </a:p>
                  </a:txBody>
                  <a:tcPr marL="57150" marR="57150" marT="0" marB="0" anchor="ctr"/>
                </a:tc>
                <a:tc>
                  <a:txBody>
                    <a:bodyPr/>
                    <a:lstStyle/>
                    <a:p>
                      <a:pPr algn="ctr">
                        <a:lnSpc>
                          <a:spcPct val="115000"/>
                        </a:lnSpc>
                        <a:spcAft>
                          <a:spcPts val="0"/>
                        </a:spcAft>
                      </a:pPr>
                      <a:r>
                        <a:rPr lang="en-GB" sz="900">
                          <a:effectLst/>
                        </a:rPr>
                        <a:t>Dr. Jones</a:t>
                      </a:r>
                      <a:endParaRPr lang="en-GB" sz="900">
                        <a:effectLst/>
                        <a:latin typeface="Calibri"/>
                        <a:ea typeface="Calibri"/>
                        <a:cs typeface="Times New Roman"/>
                      </a:endParaRPr>
                    </a:p>
                  </a:txBody>
                  <a:tcPr marL="57150" marR="57150" marT="0" marB="0" anchor="ctr"/>
                </a:tc>
                <a:extLst>
                  <a:ext uri="{0D108BD9-81ED-4DB2-BD59-A6C34878D82A}">
                    <a16:rowId xmlns:a16="http://schemas.microsoft.com/office/drawing/2014/main" val="10002"/>
                  </a:ext>
                </a:extLst>
              </a:tr>
              <a:tr h="308735">
                <a:tc>
                  <a:txBody>
                    <a:bodyPr/>
                    <a:lstStyle/>
                    <a:p>
                      <a:pPr algn="ctr">
                        <a:lnSpc>
                          <a:spcPct val="115000"/>
                        </a:lnSpc>
                        <a:spcAft>
                          <a:spcPts val="0"/>
                        </a:spcAft>
                      </a:pPr>
                      <a:r>
                        <a:rPr lang="en-GB" sz="900">
                          <a:effectLst/>
                        </a:rPr>
                        <a:t>C102</a:t>
                      </a:r>
                      <a:endParaRPr lang="en-GB" sz="900">
                        <a:effectLst/>
                        <a:latin typeface="Calibri"/>
                        <a:ea typeface="Calibri"/>
                        <a:cs typeface="Times New Roman"/>
                      </a:endParaRPr>
                    </a:p>
                  </a:txBody>
                  <a:tcPr marL="57150" marR="57150" marT="0" marB="0" anchor="ctr"/>
                </a:tc>
                <a:tc>
                  <a:txBody>
                    <a:bodyPr/>
                    <a:lstStyle/>
                    <a:p>
                      <a:pPr algn="ctr">
                        <a:lnSpc>
                          <a:spcPct val="115000"/>
                        </a:lnSpc>
                        <a:spcAft>
                          <a:spcPts val="0"/>
                        </a:spcAft>
                      </a:pPr>
                      <a:r>
                        <a:rPr lang="en-GB" sz="900">
                          <a:effectLst/>
                        </a:rPr>
                        <a:t>OS</a:t>
                      </a:r>
                      <a:endParaRPr lang="en-GB" sz="900">
                        <a:effectLst/>
                        <a:latin typeface="Calibri"/>
                        <a:ea typeface="Calibri"/>
                        <a:cs typeface="Times New Roman"/>
                      </a:endParaRPr>
                    </a:p>
                  </a:txBody>
                  <a:tcPr marL="57150" marR="57150" marT="0" marB="0" anchor="ctr"/>
                </a:tc>
                <a:tc>
                  <a:txBody>
                    <a:bodyPr/>
                    <a:lstStyle/>
                    <a:p>
                      <a:pPr algn="ctr">
                        <a:lnSpc>
                          <a:spcPct val="115000"/>
                        </a:lnSpc>
                        <a:spcAft>
                          <a:spcPts val="0"/>
                        </a:spcAft>
                      </a:pPr>
                      <a:r>
                        <a:rPr lang="en-GB" sz="900">
                          <a:effectLst/>
                        </a:rPr>
                        <a:t>I201</a:t>
                      </a:r>
                      <a:endParaRPr lang="en-GB" sz="900">
                        <a:effectLst/>
                        <a:latin typeface="Calibri"/>
                        <a:ea typeface="Calibri"/>
                        <a:cs typeface="Times New Roman"/>
                      </a:endParaRPr>
                    </a:p>
                  </a:txBody>
                  <a:tcPr marL="57150" marR="57150" marT="0" marB="0" anchor="ctr"/>
                </a:tc>
                <a:tc>
                  <a:txBody>
                    <a:bodyPr/>
                    <a:lstStyle/>
                    <a:p>
                      <a:pPr algn="ctr">
                        <a:lnSpc>
                          <a:spcPct val="115000"/>
                        </a:lnSpc>
                        <a:spcAft>
                          <a:spcPts val="0"/>
                        </a:spcAft>
                      </a:pPr>
                      <a:r>
                        <a:rPr lang="en-GB" sz="900">
                          <a:effectLst/>
                        </a:rPr>
                        <a:t>Dr. Smith</a:t>
                      </a:r>
                      <a:endParaRPr lang="en-GB" sz="900">
                        <a:effectLst/>
                        <a:latin typeface="Calibri"/>
                        <a:ea typeface="Calibri"/>
                        <a:cs typeface="Times New Roman"/>
                      </a:endParaRPr>
                    </a:p>
                  </a:txBody>
                  <a:tcPr marL="57150" marR="57150" marT="0" marB="0" anchor="ctr"/>
                </a:tc>
                <a:extLst>
                  <a:ext uri="{0D108BD9-81ED-4DB2-BD59-A6C34878D82A}">
                    <a16:rowId xmlns:a16="http://schemas.microsoft.com/office/drawing/2014/main" val="10003"/>
                  </a:ext>
                </a:extLst>
              </a:tr>
              <a:tr h="308735">
                <a:tc>
                  <a:txBody>
                    <a:bodyPr/>
                    <a:lstStyle/>
                    <a:p>
                      <a:pPr algn="ctr">
                        <a:lnSpc>
                          <a:spcPct val="115000"/>
                        </a:lnSpc>
                        <a:spcAft>
                          <a:spcPts val="0"/>
                        </a:spcAft>
                      </a:pPr>
                      <a:r>
                        <a:rPr lang="en-GB" sz="900">
                          <a:effectLst/>
                        </a:rPr>
                        <a:t>C102</a:t>
                      </a:r>
                      <a:endParaRPr lang="en-GB" sz="900">
                        <a:effectLst/>
                        <a:latin typeface="Calibri"/>
                        <a:ea typeface="Calibri"/>
                        <a:cs typeface="Times New Roman"/>
                      </a:endParaRPr>
                    </a:p>
                  </a:txBody>
                  <a:tcPr marL="57150" marR="57150" marT="0" marB="0" anchor="ctr"/>
                </a:tc>
                <a:tc>
                  <a:txBody>
                    <a:bodyPr/>
                    <a:lstStyle/>
                    <a:p>
                      <a:pPr algn="ctr">
                        <a:lnSpc>
                          <a:spcPct val="115000"/>
                        </a:lnSpc>
                        <a:spcAft>
                          <a:spcPts val="0"/>
                        </a:spcAft>
                      </a:pPr>
                      <a:r>
                        <a:rPr lang="en-GB" sz="900">
                          <a:effectLst/>
                        </a:rPr>
                        <a:t>OS</a:t>
                      </a:r>
                      <a:endParaRPr lang="en-GB" sz="900">
                        <a:effectLst/>
                        <a:latin typeface="Calibri"/>
                        <a:ea typeface="Calibri"/>
                        <a:cs typeface="Times New Roman"/>
                      </a:endParaRPr>
                    </a:p>
                  </a:txBody>
                  <a:tcPr marL="57150" marR="57150" marT="0" marB="0" anchor="ctr"/>
                </a:tc>
                <a:tc>
                  <a:txBody>
                    <a:bodyPr/>
                    <a:lstStyle/>
                    <a:p>
                      <a:pPr algn="ctr">
                        <a:lnSpc>
                          <a:spcPct val="115000"/>
                        </a:lnSpc>
                        <a:spcAft>
                          <a:spcPts val="0"/>
                        </a:spcAft>
                      </a:pPr>
                      <a:r>
                        <a:rPr lang="en-GB" sz="900">
                          <a:effectLst/>
                        </a:rPr>
                        <a:t>I202</a:t>
                      </a:r>
                      <a:endParaRPr lang="en-GB" sz="900">
                        <a:effectLst/>
                        <a:latin typeface="Calibri"/>
                        <a:ea typeface="Calibri"/>
                        <a:cs typeface="Times New Roman"/>
                      </a:endParaRPr>
                    </a:p>
                  </a:txBody>
                  <a:tcPr marL="57150" marR="57150" marT="0" marB="0" anchor="ctr"/>
                </a:tc>
                <a:tc>
                  <a:txBody>
                    <a:bodyPr/>
                    <a:lstStyle/>
                    <a:p>
                      <a:pPr algn="ctr">
                        <a:lnSpc>
                          <a:spcPct val="115000"/>
                        </a:lnSpc>
                        <a:spcAft>
                          <a:spcPts val="0"/>
                        </a:spcAft>
                      </a:pPr>
                      <a:r>
                        <a:rPr lang="en-GB" sz="900" dirty="0" err="1">
                          <a:effectLst/>
                        </a:rPr>
                        <a:t>Dr.</a:t>
                      </a:r>
                      <a:r>
                        <a:rPr lang="en-GB" sz="900" dirty="0">
                          <a:effectLst/>
                        </a:rPr>
                        <a:t> Jones</a:t>
                      </a:r>
                      <a:endParaRPr lang="en-GB" sz="900" dirty="0">
                        <a:effectLst/>
                        <a:latin typeface="Calibri"/>
                        <a:ea typeface="Calibri"/>
                        <a:cs typeface="Times New Roman"/>
                      </a:endParaRPr>
                    </a:p>
                  </a:txBody>
                  <a:tcPr marL="57150" marR="57150" marT="0" marB="0" anchor="ctr"/>
                </a:tc>
                <a:extLst>
                  <a:ext uri="{0D108BD9-81ED-4DB2-BD59-A6C34878D82A}">
                    <a16:rowId xmlns:a16="http://schemas.microsoft.com/office/drawing/2014/main" val="10004"/>
                  </a:ext>
                </a:extLst>
              </a:tr>
            </a:tbl>
          </a:graphicData>
        </a:graphic>
      </p:graphicFrame>
    </p:spTree>
    <p:extLst>
      <p:ext uri="{BB962C8B-B14F-4D97-AF65-F5344CB8AC3E}">
        <p14:creationId xmlns:p14="http://schemas.microsoft.com/office/powerpoint/2010/main" val="152611380"/>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6">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6">
                                            <p:txEl>
                                              <p:pRg st="5" end="5"/>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grpId="0" nodeType="clickEffect">
                                  <p:stCondLst>
                                    <p:cond delay="0"/>
                                  </p:stCondLst>
                                  <p:childTnLst>
                                    <p:set>
                                      <p:cBhvr>
                                        <p:cTn id="14" dur="1" fill="hold">
                                          <p:stCondLst>
                                            <p:cond delay="0"/>
                                          </p:stCondLst>
                                        </p:cTn>
                                        <p:tgtEl>
                                          <p:spTgt spid="6">
                                            <p:txEl>
                                              <p:pRg st="6" end="6"/>
                                            </p:txEl>
                                          </p:spTgt>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grpId="0" nodeType="clickEffect">
                                  <p:stCondLst>
                                    <p:cond delay="0"/>
                                  </p:stCondLst>
                                  <p:childTnLst>
                                    <p:set>
                                      <p:cBhvr>
                                        <p:cTn id="18" dur="1" fill="hold">
                                          <p:stCondLst>
                                            <p:cond delay="0"/>
                                          </p:stCondLst>
                                        </p:cTn>
                                        <p:tgtEl>
                                          <p:spTgt spid="6">
                                            <p:txEl>
                                              <p:pRg st="7" end="7"/>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6" grpId="0" build="p"/>
    </p:bldLst>
  </p:timing>
</p:sld>
</file>

<file path=ppt/slides/slide1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 Placeholder 2"/>
          <p:cNvSpPr>
            <a:spLocks noGrp="1"/>
          </p:cNvSpPr>
          <p:nvPr>
            <p:ph type="body" sz="quarter" idx="17"/>
          </p:nvPr>
        </p:nvSpPr>
        <p:spPr>
          <a:xfrm>
            <a:off x="1143000" y="1651000"/>
            <a:ext cx="10801201" cy="3365500"/>
          </a:xfrm>
        </p:spPr>
        <p:txBody>
          <a:bodyPr/>
          <a:lstStyle/>
          <a:p>
            <a:pPr marL="0" indent="0">
              <a:buNone/>
            </a:pPr>
            <a:r>
              <a:rPr lang="en-US" b="1" dirty="0"/>
              <a:t>5. Join Operation (⋈)</a:t>
            </a:r>
          </a:p>
          <a:p>
            <a:pPr marL="0" indent="0">
              <a:buNone/>
            </a:pPr>
            <a:r>
              <a:rPr lang="en-US" b="1" dirty="0"/>
              <a:t>Purpose</a:t>
            </a:r>
            <a:r>
              <a:rPr lang="en-US" dirty="0"/>
              <a:t>: Combines related tuples from two relations based on a common attribute (usually a foreign key relationship).</a:t>
            </a:r>
          </a:p>
          <a:p>
            <a:pPr marL="0" indent="0">
              <a:buNone/>
            </a:pPr>
            <a:r>
              <a:rPr lang="en-US" b="1" dirty="0"/>
              <a:t>Operation</a:t>
            </a:r>
            <a:r>
              <a:rPr lang="en-US" dirty="0"/>
              <a:t>: The join operation is used to combine rows from two or more tables based on a related column.</a:t>
            </a:r>
          </a:p>
          <a:p>
            <a:pPr marL="0" indent="0">
              <a:buNone/>
            </a:pPr>
            <a:r>
              <a:rPr lang="en-US" b="1" dirty="0"/>
              <a:t>Syntax</a:t>
            </a:r>
            <a:r>
              <a:rPr lang="en-US" dirty="0"/>
              <a:t>: Relation1 ⋈ Condition(Relation2)</a:t>
            </a:r>
          </a:p>
          <a:p>
            <a:pPr marL="0" indent="0">
              <a:buNone/>
            </a:pPr>
            <a:r>
              <a:rPr lang="en-US" b="1" dirty="0"/>
              <a:t>Example</a:t>
            </a:r>
            <a:r>
              <a:rPr lang="en-US" dirty="0"/>
              <a:t>: Given Courses and Instructors relations, suppose there is a Teaching relation that links them:</a:t>
            </a:r>
          </a:p>
          <a:p>
            <a:pPr marL="0" indent="0">
              <a:buNone/>
            </a:pPr>
            <a:endParaRPr lang="en-US" dirty="0"/>
          </a:p>
        </p:txBody>
      </p:sp>
      <p:sp>
        <p:nvSpPr>
          <p:cNvPr id="4" name="Title 1"/>
          <p:cNvSpPr>
            <a:spLocks noGrp="1"/>
          </p:cNvSpPr>
          <p:nvPr>
            <p:ph type="title"/>
          </p:nvPr>
        </p:nvSpPr>
        <p:spPr>
          <a:xfrm>
            <a:off x="695401" y="395786"/>
            <a:ext cx="9210599" cy="747214"/>
          </a:xfrm>
        </p:spPr>
        <p:txBody>
          <a:bodyPr/>
          <a:lstStyle/>
          <a:p>
            <a:r>
              <a:rPr lang="en-IN" b="1" dirty="0"/>
              <a:t>Relational algebra operations continued..</a:t>
            </a:r>
            <a:endParaRPr lang="en-IN" dirty="0"/>
          </a:p>
        </p:txBody>
      </p:sp>
      <p:graphicFrame>
        <p:nvGraphicFramePr>
          <p:cNvPr id="5" name="Table 4"/>
          <p:cNvGraphicFramePr>
            <a:graphicFrameLocks noGrp="1"/>
          </p:cNvGraphicFramePr>
          <p:nvPr/>
        </p:nvGraphicFramePr>
        <p:xfrm>
          <a:off x="2159000" y="5588000"/>
          <a:ext cx="3302000" cy="1079499"/>
        </p:xfrm>
        <a:graphic>
          <a:graphicData uri="http://schemas.openxmlformats.org/drawingml/2006/table">
            <a:tbl>
              <a:tblPr firstRow="1" firstCol="1" bandRow="1">
                <a:tableStyleId>{5C22544A-7EE6-4342-B048-85BDC9FD1C3A}</a:tableStyleId>
              </a:tblPr>
              <a:tblGrid>
                <a:gridCol w="1383270">
                  <a:extLst>
                    <a:ext uri="{9D8B030D-6E8A-4147-A177-3AD203B41FA5}">
                      <a16:colId xmlns:a16="http://schemas.microsoft.com/office/drawing/2014/main" val="20000"/>
                    </a:ext>
                  </a:extLst>
                </a:gridCol>
                <a:gridCol w="1918730">
                  <a:extLst>
                    <a:ext uri="{9D8B030D-6E8A-4147-A177-3AD203B41FA5}">
                      <a16:colId xmlns:a16="http://schemas.microsoft.com/office/drawing/2014/main" val="20001"/>
                    </a:ext>
                  </a:extLst>
                </a:gridCol>
              </a:tblGrid>
              <a:tr h="359833">
                <a:tc>
                  <a:txBody>
                    <a:bodyPr/>
                    <a:lstStyle/>
                    <a:p>
                      <a:pPr algn="ctr">
                        <a:lnSpc>
                          <a:spcPct val="115000"/>
                        </a:lnSpc>
                        <a:spcAft>
                          <a:spcPts val="0"/>
                        </a:spcAft>
                      </a:pPr>
                      <a:r>
                        <a:rPr lang="en-GB" sz="900">
                          <a:effectLst/>
                        </a:rPr>
                        <a:t>CourseID</a:t>
                      </a:r>
                      <a:endParaRPr lang="en-GB" sz="900">
                        <a:effectLst/>
                        <a:latin typeface="Calibri"/>
                        <a:ea typeface="Calibri"/>
                        <a:cs typeface="Times New Roman"/>
                      </a:endParaRPr>
                    </a:p>
                  </a:txBody>
                  <a:tcPr marL="57150" marR="57150" marT="0" marB="0" anchor="ctr"/>
                </a:tc>
                <a:tc>
                  <a:txBody>
                    <a:bodyPr/>
                    <a:lstStyle/>
                    <a:p>
                      <a:pPr algn="ctr">
                        <a:lnSpc>
                          <a:spcPct val="115000"/>
                        </a:lnSpc>
                        <a:spcAft>
                          <a:spcPts val="0"/>
                        </a:spcAft>
                      </a:pPr>
                      <a:r>
                        <a:rPr lang="en-GB" sz="900">
                          <a:effectLst/>
                        </a:rPr>
                        <a:t>InstructorID</a:t>
                      </a:r>
                      <a:endParaRPr lang="en-GB" sz="900">
                        <a:effectLst/>
                        <a:latin typeface="Calibri"/>
                        <a:ea typeface="Calibri"/>
                        <a:cs typeface="Times New Roman"/>
                      </a:endParaRPr>
                    </a:p>
                  </a:txBody>
                  <a:tcPr marL="57150" marR="57150" marT="0" marB="0" anchor="ctr"/>
                </a:tc>
                <a:extLst>
                  <a:ext uri="{0D108BD9-81ED-4DB2-BD59-A6C34878D82A}">
                    <a16:rowId xmlns:a16="http://schemas.microsoft.com/office/drawing/2014/main" val="10000"/>
                  </a:ext>
                </a:extLst>
              </a:tr>
              <a:tr h="359833">
                <a:tc>
                  <a:txBody>
                    <a:bodyPr/>
                    <a:lstStyle/>
                    <a:p>
                      <a:pPr>
                        <a:lnSpc>
                          <a:spcPct val="115000"/>
                        </a:lnSpc>
                        <a:spcAft>
                          <a:spcPts val="0"/>
                        </a:spcAft>
                      </a:pPr>
                      <a:r>
                        <a:rPr lang="en-GB" sz="900">
                          <a:effectLst/>
                        </a:rPr>
                        <a:t>C101</a:t>
                      </a:r>
                      <a:endParaRPr lang="en-GB" sz="900">
                        <a:effectLst/>
                        <a:latin typeface="Calibri"/>
                        <a:ea typeface="Calibri"/>
                        <a:cs typeface="Times New Roman"/>
                      </a:endParaRPr>
                    </a:p>
                  </a:txBody>
                  <a:tcPr marL="57150" marR="57150" marT="0" marB="0" anchor="ctr"/>
                </a:tc>
                <a:tc>
                  <a:txBody>
                    <a:bodyPr/>
                    <a:lstStyle/>
                    <a:p>
                      <a:pPr>
                        <a:lnSpc>
                          <a:spcPct val="115000"/>
                        </a:lnSpc>
                        <a:spcAft>
                          <a:spcPts val="0"/>
                        </a:spcAft>
                      </a:pPr>
                      <a:r>
                        <a:rPr lang="en-GB" sz="900">
                          <a:effectLst/>
                        </a:rPr>
                        <a:t>I201</a:t>
                      </a:r>
                      <a:endParaRPr lang="en-GB" sz="900">
                        <a:effectLst/>
                        <a:latin typeface="Calibri"/>
                        <a:ea typeface="Calibri"/>
                        <a:cs typeface="Times New Roman"/>
                      </a:endParaRPr>
                    </a:p>
                  </a:txBody>
                  <a:tcPr marL="57150" marR="57150" marT="0" marB="0" anchor="ctr"/>
                </a:tc>
                <a:extLst>
                  <a:ext uri="{0D108BD9-81ED-4DB2-BD59-A6C34878D82A}">
                    <a16:rowId xmlns:a16="http://schemas.microsoft.com/office/drawing/2014/main" val="10001"/>
                  </a:ext>
                </a:extLst>
              </a:tr>
              <a:tr h="359833">
                <a:tc>
                  <a:txBody>
                    <a:bodyPr/>
                    <a:lstStyle/>
                    <a:p>
                      <a:pPr>
                        <a:lnSpc>
                          <a:spcPct val="115000"/>
                        </a:lnSpc>
                        <a:spcAft>
                          <a:spcPts val="0"/>
                        </a:spcAft>
                      </a:pPr>
                      <a:r>
                        <a:rPr lang="en-GB" sz="900">
                          <a:effectLst/>
                        </a:rPr>
                        <a:t>C102</a:t>
                      </a:r>
                      <a:endParaRPr lang="en-GB" sz="900">
                        <a:effectLst/>
                        <a:latin typeface="Calibri"/>
                        <a:ea typeface="Calibri"/>
                        <a:cs typeface="Times New Roman"/>
                      </a:endParaRPr>
                    </a:p>
                  </a:txBody>
                  <a:tcPr marL="57150" marR="57150" marT="0" marB="0" anchor="ctr"/>
                </a:tc>
                <a:tc>
                  <a:txBody>
                    <a:bodyPr/>
                    <a:lstStyle/>
                    <a:p>
                      <a:pPr>
                        <a:lnSpc>
                          <a:spcPct val="115000"/>
                        </a:lnSpc>
                        <a:spcAft>
                          <a:spcPts val="0"/>
                        </a:spcAft>
                      </a:pPr>
                      <a:r>
                        <a:rPr lang="en-GB" sz="900" dirty="0">
                          <a:effectLst/>
                        </a:rPr>
                        <a:t>I202</a:t>
                      </a:r>
                      <a:endParaRPr lang="en-GB" sz="900" dirty="0">
                        <a:effectLst/>
                        <a:latin typeface="Calibri"/>
                        <a:ea typeface="Calibri"/>
                        <a:cs typeface="Times New Roman"/>
                      </a:endParaRPr>
                    </a:p>
                  </a:txBody>
                  <a:tcPr marL="57150" marR="57150" marT="0" marB="0" anchor="ctr"/>
                </a:tc>
                <a:extLst>
                  <a:ext uri="{0D108BD9-81ED-4DB2-BD59-A6C34878D82A}">
                    <a16:rowId xmlns:a16="http://schemas.microsoft.com/office/drawing/2014/main" val="10002"/>
                  </a:ext>
                </a:extLst>
              </a:tr>
            </a:tbl>
          </a:graphicData>
        </a:graphic>
      </p:graphicFrame>
    </p:spTree>
    <p:extLst>
      <p:ext uri="{BB962C8B-B14F-4D97-AF65-F5344CB8AC3E}">
        <p14:creationId xmlns:p14="http://schemas.microsoft.com/office/powerpoint/2010/main" val="2683584319"/>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3">
                                            <p:txEl>
                                              <p:pRg st="1" end="1"/>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grpId="0" nodeType="clickEffect">
                                  <p:stCondLst>
                                    <p:cond delay="0"/>
                                  </p:stCondLst>
                                  <p:childTnLst>
                                    <p:set>
                                      <p:cBhvr>
                                        <p:cTn id="14" dur="1" fill="hold">
                                          <p:stCondLst>
                                            <p:cond delay="0"/>
                                          </p:stCondLst>
                                        </p:cTn>
                                        <p:tgtEl>
                                          <p:spTgt spid="3">
                                            <p:txEl>
                                              <p:pRg st="2" end="2"/>
                                            </p:txEl>
                                          </p:spTgt>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grpId="0" nodeType="clickEffect">
                                  <p:stCondLst>
                                    <p:cond delay="0"/>
                                  </p:stCondLst>
                                  <p:childTnLst>
                                    <p:set>
                                      <p:cBhvr>
                                        <p:cTn id="18" dur="1" fill="hold">
                                          <p:stCondLst>
                                            <p:cond delay="0"/>
                                          </p:stCondLst>
                                        </p:cTn>
                                        <p:tgtEl>
                                          <p:spTgt spid="3">
                                            <p:txEl>
                                              <p:pRg st="3" end="3"/>
                                            </p:txEl>
                                          </p:spTgt>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grpId="0" nodeType="clickEffect">
                                  <p:stCondLst>
                                    <p:cond delay="0"/>
                                  </p:stCondLst>
                                  <p:childTnLst>
                                    <p:set>
                                      <p:cBhvr>
                                        <p:cTn id="22" dur="1" fill="hold">
                                          <p:stCondLst>
                                            <p:cond delay="0"/>
                                          </p:stCondLst>
                                        </p:cTn>
                                        <p:tgtEl>
                                          <p:spTgt spid="3">
                                            <p:txEl>
                                              <p:pRg st="4" end="4"/>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build="p"/>
    </p:bldLst>
  </p:timing>
</p:sld>
</file>

<file path=ppt/slides/slide13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 Placeholder 2"/>
          <p:cNvSpPr>
            <a:spLocks noGrp="1"/>
          </p:cNvSpPr>
          <p:nvPr>
            <p:ph type="body" sz="quarter" idx="17"/>
          </p:nvPr>
        </p:nvSpPr>
        <p:spPr>
          <a:xfrm>
            <a:off x="698500" y="1079500"/>
            <a:ext cx="11245701" cy="3937000"/>
          </a:xfrm>
        </p:spPr>
        <p:txBody>
          <a:bodyPr/>
          <a:lstStyle/>
          <a:p>
            <a:pPr marL="0" indent="0">
              <a:buNone/>
            </a:pPr>
            <a:r>
              <a:rPr lang="en-US" b="1" dirty="0"/>
              <a:t>Join operator</a:t>
            </a:r>
          </a:p>
          <a:p>
            <a:pPr marL="0" indent="0">
              <a:buNone/>
            </a:pPr>
            <a:r>
              <a:rPr lang="en-US" dirty="0"/>
              <a:t>Join operator denoted by </a:t>
            </a:r>
            <a:r>
              <a:rPr lang="en-US" b="1" dirty="0"/>
              <a:t>⨝</a:t>
            </a:r>
            <a:r>
              <a:rPr lang="en-US" dirty="0"/>
              <a:t>. A Join operation combines related tuples from different relations.</a:t>
            </a:r>
          </a:p>
          <a:p>
            <a:pPr marL="0" indent="0">
              <a:buNone/>
            </a:pPr>
            <a:r>
              <a:rPr lang="en-US" dirty="0"/>
              <a:t>Join operators can apply, if and only if there must be some common attributes in two relations, It is used when we need to access data from more than one Relations.</a:t>
            </a:r>
          </a:p>
          <a:p>
            <a:pPr marL="0" indent="0">
              <a:buNone/>
            </a:pPr>
            <a:r>
              <a:rPr lang="en-US" b="1" dirty="0"/>
              <a:t>Join operator = cross product + condition</a:t>
            </a:r>
            <a:endParaRPr lang="en-US" dirty="0"/>
          </a:p>
          <a:p>
            <a:pPr marL="0" indent="0">
              <a:buNone/>
            </a:pPr>
            <a:r>
              <a:rPr lang="en-US" b="1" dirty="0"/>
              <a:t>Types of JOINs:</a:t>
            </a:r>
          </a:p>
          <a:p>
            <a:pPr marL="0" indent="0">
              <a:buNone/>
            </a:pPr>
            <a:r>
              <a:rPr lang="en-US" b="1" dirty="0"/>
              <a:t>1. Inner Join     (Natural Join)</a:t>
            </a:r>
          </a:p>
          <a:p>
            <a:pPr marL="0" indent="0">
              <a:buNone/>
            </a:pPr>
            <a:r>
              <a:rPr lang="en-US" b="1" dirty="0"/>
              <a:t>2. </a:t>
            </a:r>
            <a:r>
              <a:rPr lang="en-US" b="1" dirty="0" err="1"/>
              <a:t>Outter</a:t>
            </a:r>
            <a:r>
              <a:rPr lang="en-US" b="1" dirty="0"/>
              <a:t> Join     (Left </a:t>
            </a:r>
            <a:r>
              <a:rPr lang="en-US" b="1" dirty="0" err="1"/>
              <a:t>Outter</a:t>
            </a:r>
            <a:r>
              <a:rPr lang="en-US" b="1" dirty="0"/>
              <a:t> Join     Right </a:t>
            </a:r>
            <a:r>
              <a:rPr lang="en-US" b="1" dirty="0" err="1"/>
              <a:t>Outter</a:t>
            </a:r>
            <a:r>
              <a:rPr lang="en-US" b="1" dirty="0"/>
              <a:t> Join     Full </a:t>
            </a:r>
            <a:r>
              <a:rPr lang="en-US" b="1" dirty="0" err="1"/>
              <a:t>Outter</a:t>
            </a:r>
            <a:r>
              <a:rPr lang="en-US" b="1" dirty="0"/>
              <a:t> Join)</a:t>
            </a:r>
          </a:p>
        </p:txBody>
      </p:sp>
      <p:sp>
        <p:nvSpPr>
          <p:cNvPr id="4" name="Title 1"/>
          <p:cNvSpPr>
            <a:spLocks noGrp="1"/>
          </p:cNvSpPr>
          <p:nvPr>
            <p:ph type="title"/>
          </p:nvPr>
        </p:nvSpPr>
        <p:spPr>
          <a:xfrm>
            <a:off x="695401" y="395786"/>
            <a:ext cx="9210599" cy="747214"/>
          </a:xfrm>
        </p:spPr>
        <p:txBody>
          <a:bodyPr/>
          <a:lstStyle/>
          <a:p>
            <a:r>
              <a:rPr lang="en-IN" b="1" dirty="0"/>
              <a:t>Relational algebra operations continued..</a:t>
            </a:r>
            <a:endParaRPr lang="en-IN" dirty="0"/>
          </a:p>
        </p:txBody>
      </p:sp>
    </p:spTree>
    <p:extLst>
      <p:ext uri="{BB962C8B-B14F-4D97-AF65-F5344CB8AC3E}">
        <p14:creationId xmlns:p14="http://schemas.microsoft.com/office/powerpoint/2010/main" val="4083652817"/>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3">
                                            <p:txEl>
                                              <p:pRg st="1" end="1"/>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grpId="0" nodeType="clickEffect">
                                  <p:stCondLst>
                                    <p:cond delay="0"/>
                                  </p:stCondLst>
                                  <p:childTnLst>
                                    <p:set>
                                      <p:cBhvr>
                                        <p:cTn id="14" dur="1" fill="hold">
                                          <p:stCondLst>
                                            <p:cond delay="0"/>
                                          </p:stCondLst>
                                        </p:cTn>
                                        <p:tgtEl>
                                          <p:spTgt spid="3">
                                            <p:txEl>
                                              <p:pRg st="2" end="2"/>
                                            </p:txEl>
                                          </p:spTgt>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grpId="0" nodeType="clickEffect">
                                  <p:stCondLst>
                                    <p:cond delay="0"/>
                                  </p:stCondLst>
                                  <p:childTnLst>
                                    <p:set>
                                      <p:cBhvr>
                                        <p:cTn id="18" dur="1" fill="hold">
                                          <p:stCondLst>
                                            <p:cond delay="0"/>
                                          </p:stCondLst>
                                        </p:cTn>
                                        <p:tgtEl>
                                          <p:spTgt spid="3">
                                            <p:txEl>
                                              <p:pRg st="3" end="3"/>
                                            </p:txEl>
                                          </p:spTgt>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grpId="0" nodeType="clickEffect">
                                  <p:stCondLst>
                                    <p:cond delay="0"/>
                                  </p:stCondLst>
                                  <p:childTnLst>
                                    <p:set>
                                      <p:cBhvr>
                                        <p:cTn id="22" dur="1" fill="hold">
                                          <p:stCondLst>
                                            <p:cond delay="0"/>
                                          </p:stCondLst>
                                        </p:cTn>
                                        <p:tgtEl>
                                          <p:spTgt spid="3">
                                            <p:txEl>
                                              <p:pRg st="4" end="4"/>
                                            </p:txEl>
                                          </p:spTgt>
                                        </p:tgtEl>
                                        <p:attrNameLst>
                                          <p:attrName>style.visibility</p:attrName>
                                        </p:attrNameLst>
                                      </p:cBhvr>
                                      <p:to>
                                        <p:strVal val="visible"/>
                                      </p:to>
                                    </p:set>
                                  </p:childTnLst>
                                </p:cTn>
                              </p:par>
                            </p:childTnLst>
                          </p:cTn>
                        </p:par>
                      </p:childTnLst>
                    </p:cTn>
                  </p:par>
                  <p:par>
                    <p:cTn id="23" fill="hold">
                      <p:stCondLst>
                        <p:cond delay="indefinite"/>
                      </p:stCondLst>
                      <p:childTnLst>
                        <p:par>
                          <p:cTn id="24" fill="hold">
                            <p:stCondLst>
                              <p:cond delay="0"/>
                            </p:stCondLst>
                            <p:childTnLst>
                              <p:par>
                                <p:cTn id="25" presetID="1" presetClass="entr" presetSubtype="0" fill="hold" grpId="0" nodeType="clickEffect">
                                  <p:stCondLst>
                                    <p:cond delay="0"/>
                                  </p:stCondLst>
                                  <p:childTnLst>
                                    <p:set>
                                      <p:cBhvr>
                                        <p:cTn id="26" dur="1" fill="hold">
                                          <p:stCondLst>
                                            <p:cond delay="0"/>
                                          </p:stCondLst>
                                        </p:cTn>
                                        <p:tgtEl>
                                          <p:spTgt spid="3">
                                            <p:txEl>
                                              <p:pRg st="5" end="5"/>
                                            </p:txEl>
                                          </p:spTgt>
                                        </p:tgtEl>
                                        <p:attrNameLst>
                                          <p:attrName>style.visibility</p:attrName>
                                        </p:attrNameLst>
                                      </p:cBhvr>
                                      <p:to>
                                        <p:strVal val="visible"/>
                                      </p:to>
                                    </p:set>
                                  </p:childTnLst>
                                </p:cTn>
                              </p:par>
                            </p:childTnLst>
                          </p:cTn>
                        </p:par>
                      </p:childTnLst>
                    </p:cTn>
                  </p:par>
                  <p:par>
                    <p:cTn id="27" fill="hold">
                      <p:stCondLst>
                        <p:cond delay="indefinite"/>
                      </p:stCondLst>
                      <p:childTnLst>
                        <p:par>
                          <p:cTn id="28" fill="hold">
                            <p:stCondLst>
                              <p:cond delay="0"/>
                            </p:stCondLst>
                            <p:childTnLst>
                              <p:par>
                                <p:cTn id="29" presetID="1" presetClass="entr" presetSubtype="0" fill="hold" grpId="0" nodeType="clickEffect">
                                  <p:stCondLst>
                                    <p:cond delay="0"/>
                                  </p:stCondLst>
                                  <p:childTnLst>
                                    <p:set>
                                      <p:cBhvr>
                                        <p:cTn id="30" dur="1" fill="hold">
                                          <p:stCondLst>
                                            <p:cond delay="0"/>
                                          </p:stCondLst>
                                        </p:cTn>
                                        <p:tgtEl>
                                          <p:spTgt spid="3">
                                            <p:txEl>
                                              <p:pRg st="6" end="6"/>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build="p"/>
    </p:bldLst>
  </p:timing>
</p:sld>
</file>

<file path=ppt/slides/slide13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 Placeholder 2"/>
          <p:cNvSpPr>
            <a:spLocks noGrp="1"/>
          </p:cNvSpPr>
          <p:nvPr>
            <p:ph type="body" sz="quarter" idx="17"/>
          </p:nvPr>
        </p:nvSpPr>
        <p:spPr>
          <a:xfrm>
            <a:off x="698500" y="1079500"/>
            <a:ext cx="11245701" cy="3937000"/>
          </a:xfrm>
        </p:spPr>
        <p:txBody>
          <a:bodyPr/>
          <a:lstStyle/>
          <a:p>
            <a:pPr marL="0" indent="0">
              <a:buNone/>
            </a:pPr>
            <a:r>
              <a:rPr lang="en-US" b="1" dirty="0"/>
              <a:t>Join operator</a:t>
            </a:r>
          </a:p>
          <a:p>
            <a:pPr marL="0" indent="0">
              <a:buNone/>
            </a:pPr>
            <a:r>
              <a:rPr lang="en-US" b="1" dirty="0"/>
              <a:t>1. Inner Join</a:t>
            </a:r>
          </a:p>
          <a:p>
            <a:pPr marL="0" indent="0">
              <a:buNone/>
            </a:pPr>
            <a:r>
              <a:rPr lang="en-US" dirty="0"/>
              <a:t>In an inner join, only those tuples that satisfy the matching criteria are included, while the rest are excluded. </a:t>
            </a:r>
          </a:p>
          <a:p>
            <a:pPr marL="0" indent="0">
              <a:buNone/>
            </a:pPr>
            <a:r>
              <a:rPr lang="en-US" b="1" dirty="0"/>
              <a:t>Natural Join</a:t>
            </a:r>
          </a:p>
          <a:p>
            <a:pPr marL="0" indent="0">
              <a:buNone/>
            </a:pPr>
            <a:r>
              <a:rPr lang="en-US" dirty="0"/>
              <a:t>Natural join can only be performed if there is a common attribute (column) between the relations. The name and type of the attribute must be same(one as a primary key and other as foreign key).</a:t>
            </a:r>
          </a:p>
          <a:p>
            <a:pPr marL="0" indent="0">
              <a:buNone/>
            </a:pPr>
            <a:r>
              <a:rPr lang="en-US" b="1" i="1" dirty="0"/>
              <a:t>Syntax :     </a:t>
            </a:r>
            <a:r>
              <a:rPr lang="en-US" b="1" dirty="0"/>
              <a:t>R1 ⨝ R2</a:t>
            </a:r>
          </a:p>
          <a:p>
            <a:pPr marL="0" indent="0">
              <a:buNone/>
            </a:pPr>
            <a:endParaRPr lang="en-US" b="1" dirty="0"/>
          </a:p>
        </p:txBody>
      </p:sp>
      <p:sp>
        <p:nvSpPr>
          <p:cNvPr id="4" name="Title 1"/>
          <p:cNvSpPr>
            <a:spLocks noGrp="1"/>
          </p:cNvSpPr>
          <p:nvPr>
            <p:ph type="title"/>
          </p:nvPr>
        </p:nvSpPr>
        <p:spPr>
          <a:xfrm>
            <a:off x="695401" y="395786"/>
            <a:ext cx="9210599" cy="747214"/>
          </a:xfrm>
        </p:spPr>
        <p:txBody>
          <a:bodyPr/>
          <a:lstStyle/>
          <a:p>
            <a:r>
              <a:rPr lang="en-IN" b="1" dirty="0"/>
              <a:t>Relational algebra operations continued..</a:t>
            </a:r>
            <a:endParaRPr lang="en-IN" dirty="0"/>
          </a:p>
        </p:txBody>
      </p:sp>
    </p:spTree>
    <p:extLst>
      <p:ext uri="{BB962C8B-B14F-4D97-AF65-F5344CB8AC3E}">
        <p14:creationId xmlns:p14="http://schemas.microsoft.com/office/powerpoint/2010/main" val="375766861"/>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3">
                                            <p:txEl>
                                              <p:pRg st="1" end="1"/>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grpId="0" nodeType="clickEffect">
                                  <p:stCondLst>
                                    <p:cond delay="0"/>
                                  </p:stCondLst>
                                  <p:childTnLst>
                                    <p:set>
                                      <p:cBhvr>
                                        <p:cTn id="14" dur="1" fill="hold">
                                          <p:stCondLst>
                                            <p:cond delay="0"/>
                                          </p:stCondLst>
                                        </p:cTn>
                                        <p:tgtEl>
                                          <p:spTgt spid="3">
                                            <p:txEl>
                                              <p:pRg st="2" end="2"/>
                                            </p:txEl>
                                          </p:spTgt>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grpId="0" nodeType="clickEffect">
                                  <p:stCondLst>
                                    <p:cond delay="0"/>
                                  </p:stCondLst>
                                  <p:childTnLst>
                                    <p:set>
                                      <p:cBhvr>
                                        <p:cTn id="18" dur="1" fill="hold">
                                          <p:stCondLst>
                                            <p:cond delay="0"/>
                                          </p:stCondLst>
                                        </p:cTn>
                                        <p:tgtEl>
                                          <p:spTgt spid="3">
                                            <p:txEl>
                                              <p:pRg st="3" end="3"/>
                                            </p:txEl>
                                          </p:spTgt>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grpId="0" nodeType="clickEffect">
                                  <p:stCondLst>
                                    <p:cond delay="0"/>
                                  </p:stCondLst>
                                  <p:childTnLst>
                                    <p:set>
                                      <p:cBhvr>
                                        <p:cTn id="22" dur="1" fill="hold">
                                          <p:stCondLst>
                                            <p:cond delay="0"/>
                                          </p:stCondLst>
                                        </p:cTn>
                                        <p:tgtEl>
                                          <p:spTgt spid="3">
                                            <p:txEl>
                                              <p:pRg st="4" end="4"/>
                                            </p:txEl>
                                          </p:spTgt>
                                        </p:tgtEl>
                                        <p:attrNameLst>
                                          <p:attrName>style.visibility</p:attrName>
                                        </p:attrNameLst>
                                      </p:cBhvr>
                                      <p:to>
                                        <p:strVal val="visible"/>
                                      </p:to>
                                    </p:set>
                                  </p:childTnLst>
                                </p:cTn>
                              </p:par>
                            </p:childTnLst>
                          </p:cTn>
                        </p:par>
                      </p:childTnLst>
                    </p:cTn>
                  </p:par>
                  <p:par>
                    <p:cTn id="23" fill="hold">
                      <p:stCondLst>
                        <p:cond delay="indefinite"/>
                      </p:stCondLst>
                      <p:childTnLst>
                        <p:par>
                          <p:cTn id="24" fill="hold">
                            <p:stCondLst>
                              <p:cond delay="0"/>
                            </p:stCondLst>
                            <p:childTnLst>
                              <p:par>
                                <p:cTn id="25" presetID="1" presetClass="entr" presetSubtype="0" fill="hold" grpId="0" nodeType="clickEffect">
                                  <p:stCondLst>
                                    <p:cond delay="0"/>
                                  </p:stCondLst>
                                  <p:childTnLst>
                                    <p:set>
                                      <p:cBhvr>
                                        <p:cTn id="26" dur="1" fill="hold">
                                          <p:stCondLst>
                                            <p:cond delay="0"/>
                                          </p:stCondLst>
                                        </p:cTn>
                                        <p:tgtEl>
                                          <p:spTgt spid="3">
                                            <p:txEl>
                                              <p:pRg st="5" end="5"/>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build="p"/>
    </p:bldLst>
  </p:timing>
</p:sld>
</file>

<file path=ppt/slides/slide14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 Placeholder 2"/>
          <p:cNvSpPr>
            <a:spLocks noGrp="1"/>
          </p:cNvSpPr>
          <p:nvPr>
            <p:ph type="body" sz="quarter" idx="17"/>
          </p:nvPr>
        </p:nvSpPr>
        <p:spPr>
          <a:xfrm>
            <a:off x="698500" y="1079500"/>
            <a:ext cx="11245701" cy="3937000"/>
          </a:xfrm>
        </p:spPr>
        <p:txBody>
          <a:bodyPr/>
          <a:lstStyle/>
          <a:p>
            <a:pPr marL="0" indent="0">
              <a:buNone/>
            </a:pPr>
            <a:r>
              <a:rPr lang="en-US" b="1" dirty="0"/>
              <a:t>Join operator</a:t>
            </a:r>
          </a:p>
          <a:p>
            <a:pPr marL="0" indent="0">
              <a:buNone/>
            </a:pPr>
            <a:r>
              <a:rPr lang="en-GB" b="1" dirty="0"/>
              <a:t>2. </a:t>
            </a:r>
            <a:r>
              <a:rPr lang="en-GB" b="1" dirty="0" err="1"/>
              <a:t>Outter</a:t>
            </a:r>
            <a:r>
              <a:rPr lang="en-GB" b="1" dirty="0"/>
              <a:t> Join</a:t>
            </a:r>
          </a:p>
          <a:p>
            <a:pPr marL="0" indent="0">
              <a:buNone/>
            </a:pPr>
            <a:r>
              <a:rPr lang="en-GB" dirty="0"/>
              <a:t>In an outer join, along with tuples that satisfy the matching criteria, we also include some or all tuples that do not match the criteria.</a:t>
            </a:r>
            <a:r>
              <a:rPr lang="en-US" dirty="0"/>
              <a:t> There are </a:t>
            </a:r>
            <a:r>
              <a:rPr lang="en-US" b="1" dirty="0"/>
              <a:t>three types </a:t>
            </a:r>
            <a:r>
              <a:rPr lang="en-US" dirty="0"/>
              <a:t>of outer joins:</a:t>
            </a:r>
            <a:endParaRPr lang="en-GB" dirty="0"/>
          </a:p>
          <a:p>
            <a:pPr lvl="1"/>
            <a:r>
              <a:rPr lang="en-GB" b="1" dirty="0"/>
              <a:t>Left </a:t>
            </a:r>
            <a:r>
              <a:rPr lang="en-GB" b="1" dirty="0" err="1"/>
              <a:t>Outter</a:t>
            </a:r>
            <a:r>
              <a:rPr lang="en-GB" b="1" dirty="0"/>
              <a:t> Join (⟕):</a:t>
            </a:r>
          </a:p>
          <a:p>
            <a:pPr marL="242879" lvl="1" indent="0">
              <a:buNone/>
            </a:pPr>
            <a:r>
              <a:rPr lang="en-US" b="1" dirty="0"/>
              <a:t>  </a:t>
            </a:r>
            <a:r>
              <a:rPr lang="en-US" dirty="0"/>
              <a:t>Returns all rows from the left table and the matching rows from the right table. If there is no match, NULL values are returned for columns from the right table.</a:t>
            </a:r>
            <a:endParaRPr lang="en-GB" b="1" dirty="0"/>
          </a:p>
          <a:p>
            <a:pPr marL="242879" lvl="1" indent="0">
              <a:buNone/>
            </a:pPr>
            <a:r>
              <a:rPr lang="en-GB" i="1" dirty="0"/>
              <a:t>                 </a:t>
            </a:r>
            <a:r>
              <a:rPr lang="en-GB" b="1" i="1" dirty="0"/>
              <a:t>Syntax:  </a:t>
            </a:r>
            <a:r>
              <a:rPr lang="en-GB" b="1" dirty="0"/>
              <a:t>R1 ⟕ R2</a:t>
            </a:r>
            <a:br>
              <a:rPr lang="en-GB" dirty="0"/>
            </a:br>
            <a:endParaRPr lang="en-US" b="1" dirty="0"/>
          </a:p>
        </p:txBody>
      </p:sp>
      <p:sp>
        <p:nvSpPr>
          <p:cNvPr id="4" name="Title 1"/>
          <p:cNvSpPr>
            <a:spLocks noGrp="1"/>
          </p:cNvSpPr>
          <p:nvPr>
            <p:ph type="title"/>
          </p:nvPr>
        </p:nvSpPr>
        <p:spPr>
          <a:xfrm>
            <a:off x="695401" y="395786"/>
            <a:ext cx="9210599" cy="747214"/>
          </a:xfrm>
        </p:spPr>
        <p:txBody>
          <a:bodyPr/>
          <a:lstStyle/>
          <a:p>
            <a:r>
              <a:rPr lang="en-IN" b="1" dirty="0"/>
              <a:t>Relational algebra operations continued..</a:t>
            </a:r>
            <a:endParaRPr lang="en-IN" dirty="0"/>
          </a:p>
        </p:txBody>
      </p:sp>
    </p:spTree>
    <p:extLst>
      <p:ext uri="{BB962C8B-B14F-4D97-AF65-F5344CB8AC3E}">
        <p14:creationId xmlns:p14="http://schemas.microsoft.com/office/powerpoint/2010/main" val="1434927787"/>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3">
                                            <p:txEl>
                                              <p:pRg st="1" end="1"/>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grpId="0" nodeType="clickEffect">
                                  <p:stCondLst>
                                    <p:cond delay="0"/>
                                  </p:stCondLst>
                                  <p:childTnLst>
                                    <p:set>
                                      <p:cBhvr>
                                        <p:cTn id="14" dur="1" fill="hold">
                                          <p:stCondLst>
                                            <p:cond delay="0"/>
                                          </p:stCondLst>
                                        </p:cTn>
                                        <p:tgtEl>
                                          <p:spTgt spid="3">
                                            <p:txEl>
                                              <p:pRg st="2" end="2"/>
                                            </p:txEl>
                                          </p:spTgt>
                                        </p:tgtEl>
                                        <p:attrNameLst>
                                          <p:attrName>style.visibility</p:attrName>
                                        </p:attrNameLst>
                                      </p:cBhvr>
                                      <p:to>
                                        <p:strVal val="visible"/>
                                      </p:to>
                                    </p:set>
                                  </p:childTnLst>
                                </p:cTn>
                              </p:par>
                              <p:par>
                                <p:cTn id="15" presetID="1" presetClass="entr" presetSubtype="0" fill="hold" grpId="0" nodeType="withEffect">
                                  <p:stCondLst>
                                    <p:cond delay="0"/>
                                  </p:stCondLst>
                                  <p:childTnLst>
                                    <p:set>
                                      <p:cBhvr>
                                        <p:cTn id="16" dur="1" fill="hold">
                                          <p:stCondLst>
                                            <p:cond delay="0"/>
                                          </p:stCondLst>
                                        </p:cTn>
                                        <p:tgtEl>
                                          <p:spTgt spid="3">
                                            <p:txEl>
                                              <p:pRg st="3" end="3"/>
                                            </p:txEl>
                                          </p:spTgt>
                                        </p:tgtEl>
                                        <p:attrNameLst>
                                          <p:attrName>style.visibility</p:attrName>
                                        </p:attrNameLst>
                                      </p:cBhvr>
                                      <p:to>
                                        <p:strVal val="visible"/>
                                      </p:to>
                                    </p:set>
                                  </p:childTnLst>
                                </p:cTn>
                              </p:par>
                              <p:par>
                                <p:cTn id="17" presetID="1" presetClass="entr" presetSubtype="0" fill="hold" grpId="0" nodeType="withEffect">
                                  <p:stCondLst>
                                    <p:cond delay="0"/>
                                  </p:stCondLst>
                                  <p:childTnLst>
                                    <p:set>
                                      <p:cBhvr>
                                        <p:cTn id="18" dur="1" fill="hold">
                                          <p:stCondLst>
                                            <p:cond delay="0"/>
                                          </p:stCondLst>
                                        </p:cTn>
                                        <p:tgtEl>
                                          <p:spTgt spid="3">
                                            <p:txEl>
                                              <p:pRg st="4" end="4"/>
                                            </p:txEl>
                                          </p:spTgt>
                                        </p:tgtEl>
                                        <p:attrNameLst>
                                          <p:attrName>style.visibility</p:attrName>
                                        </p:attrNameLst>
                                      </p:cBhvr>
                                      <p:to>
                                        <p:strVal val="visible"/>
                                      </p:to>
                                    </p:set>
                                  </p:childTnLst>
                                </p:cTn>
                              </p:par>
                              <p:par>
                                <p:cTn id="19" presetID="1" presetClass="entr" presetSubtype="0" fill="hold" grpId="0" nodeType="withEffect">
                                  <p:stCondLst>
                                    <p:cond delay="0"/>
                                  </p:stCondLst>
                                  <p:childTnLst>
                                    <p:set>
                                      <p:cBhvr>
                                        <p:cTn id="20" dur="1" fill="hold">
                                          <p:stCondLst>
                                            <p:cond delay="0"/>
                                          </p:stCondLst>
                                        </p:cTn>
                                        <p:tgtEl>
                                          <p:spTgt spid="3">
                                            <p:txEl>
                                              <p:pRg st="5" end="5"/>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build="p"/>
    </p:bldLst>
  </p:timing>
</p:sld>
</file>

<file path=ppt/slides/slide14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 Placeholder 2"/>
          <p:cNvSpPr>
            <a:spLocks noGrp="1"/>
          </p:cNvSpPr>
          <p:nvPr>
            <p:ph type="body" sz="quarter" idx="17"/>
          </p:nvPr>
        </p:nvSpPr>
        <p:spPr>
          <a:xfrm>
            <a:off x="698500" y="1079500"/>
            <a:ext cx="11245701" cy="3937000"/>
          </a:xfrm>
        </p:spPr>
        <p:txBody>
          <a:bodyPr/>
          <a:lstStyle/>
          <a:p>
            <a:pPr marL="0" indent="0">
              <a:buNone/>
            </a:pPr>
            <a:r>
              <a:rPr lang="en-US" b="1" dirty="0"/>
              <a:t>Join operator</a:t>
            </a:r>
          </a:p>
          <a:p>
            <a:pPr marL="242879" lvl="1" indent="0">
              <a:buNone/>
            </a:pPr>
            <a:r>
              <a:rPr lang="en-GB" b="1" dirty="0"/>
              <a:t>2. Right </a:t>
            </a:r>
            <a:r>
              <a:rPr lang="en-GB" b="1" dirty="0" err="1"/>
              <a:t>Outter</a:t>
            </a:r>
            <a:r>
              <a:rPr lang="en-GB" b="1" dirty="0"/>
              <a:t> Join (⟖)</a:t>
            </a:r>
          </a:p>
          <a:p>
            <a:pPr marL="242879" lvl="1" indent="0">
              <a:buNone/>
            </a:pPr>
            <a:r>
              <a:rPr lang="en-US" dirty="0"/>
              <a:t>Returns all rows from the right table and the matching rows from the left table. If there is no match, NULL values are returned for columns from the left table.</a:t>
            </a:r>
            <a:endParaRPr lang="en-GB" b="1" dirty="0"/>
          </a:p>
          <a:p>
            <a:pPr marL="242879" lvl="1" indent="0">
              <a:buNone/>
            </a:pPr>
            <a:r>
              <a:rPr lang="en-GB" i="1" dirty="0"/>
              <a:t>                 </a:t>
            </a:r>
            <a:r>
              <a:rPr lang="en-GB" b="1" i="1" dirty="0"/>
              <a:t>Syntax :  </a:t>
            </a:r>
            <a:r>
              <a:rPr lang="en-GB" b="1" dirty="0"/>
              <a:t>R1 ⟖ R2</a:t>
            </a:r>
          </a:p>
          <a:p>
            <a:pPr marL="242879" lvl="1" indent="0">
              <a:buNone/>
            </a:pPr>
            <a:br>
              <a:rPr lang="en-GB" dirty="0"/>
            </a:br>
            <a:r>
              <a:rPr lang="en-GB" b="1" dirty="0"/>
              <a:t>3</a:t>
            </a:r>
            <a:r>
              <a:rPr lang="en-GB" dirty="0"/>
              <a:t>.</a:t>
            </a:r>
            <a:r>
              <a:rPr lang="en-GB" b="1" dirty="0"/>
              <a:t>Full </a:t>
            </a:r>
            <a:r>
              <a:rPr lang="en-GB" b="1" dirty="0" err="1"/>
              <a:t>Outter</a:t>
            </a:r>
            <a:r>
              <a:rPr lang="en-GB" b="1" dirty="0"/>
              <a:t> Join (⟗)</a:t>
            </a:r>
          </a:p>
          <a:p>
            <a:pPr marL="242879" lvl="1" indent="0">
              <a:buNone/>
            </a:pPr>
            <a:r>
              <a:rPr lang="en-US" dirty="0"/>
              <a:t>Returns all rows when there is a match in either table. If there is no match, NULL values are returned for columns that don't have a match in either table.</a:t>
            </a:r>
            <a:endParaRPr lang="en-GB" b="1" dirty="0"/>
          </a:p>
          <a:p>
            <a:pPr marL="242879" lvl="1" indent="0">
              <a:buNone/>
            </a:pPr>
            <a:r>
              <a:rPr lang="en-GB" i="1" dirty="0"/>
              <a:t>                </a:t>
            </a:r>
            <a:r>
              <a:rPr lang="en-GB" b="1" i="1" dirty="0"/>
              <a:t>Syntax:  </a:t>
            </a:r>
            <a:r>
              <a:rPr lang="en-GB" b="1" dirty="0"/>
              <a:t>R1 ⟗ R2</a:t>
            </a:r>
            <a:endParaRPr lang="en-US" b="1" dirty="0"/>
          </a:p>
          <a:p>
            <a:pPr marL="242879" lvl="1" indent="0">
              <a:buNone/>
            </a:pPr>
            <a:br>
              <a:rPr lang="en-GB" dirty="0"/>
            </a:br>
            <a:endParaRPr lang="en-US" b="1" dirty="0"/>
          </a:p>
        </p:txBody>
      </p:sp>
      <p:sp>
        <p:nvSpPr>
          <p:cNvPr id="4" name="Title 1"/>
          <p:cNvSpPr>
            <a:spLocks noGrp="1"/>
          </p:cNvSpPr>
          <p:nvPr>
            <p:ph type="title"/>
          </p:nvPr>
        </p:nvSpPr>
        <p:spPr>
          <a:xfrm>
            <a:off x="695401" y="395786"/>
            <a:ext cx="9210599" cy="747214"/>
          </a:xfrm>
        </p:spPr>
        <p:txBody>
          <a:bodyPr/>
          <a:lstStyle/>
          <a:p>
            <a:r>
              <a:rPr lang="en-IN" b="1" dirty="0"/>
              <a:t>Relational algebra operations continued..</a:t>
            </a:r>
            <a:endParaRPr lang="en-IN" dirty="0"/>
          </a:p>
        </p:txBody>
      </p:sp>
    </p:spTree>
    <p:extLst>
      <p:ext uri="{BB962C8B-B14F-4D97-AF65-F5344CB8AC3E}">
        <p14:creationId xmlns:p14="http://schemas.microsoft.com/office/powerpoint/2010/main" val="2524541627"/>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childTnLst>
                                </p:cTn>
                              </p:par>
                              <p:par>
                                <p:cTn id="7" presetID="1" presetClass="entr" presetSubtype="0" fill="hold" grpId="0" nodeType="withEffect">
                                  <p:stCondLst>
                                    <p:cond delay="0"/>
                                  </p:stCondLst>
                                  <p:childTnLst>
                                    <p:set>
                                      <p:cBhvr>
                                        <p:cTn id="8" dur="1" fill="hold">
                                          <p:stCondLst>
                                            <p:cond delay="0"/>
                                          </p:stCondLst>
                                        </p:cTn>
                                        <p:tgtEl>
                                          <p:spTgt spid="3">
                                            <p:txEl>
                                              <p:pRg st="1" end="1"/>
                                            </p:txEl>
                                          </p:spTgt>
                                        </p:tgtEl>
                                        <p:attrNameLst>
                                          <p:attrName>style.visibility</p:attrName>
                                        </p:attrNameLst>
                                      </p:cBhvr>
                                      <p:to>
                                        <p:strVal val="visible"/>
                                      </p:to>
                                    </p:set>
                                  </p:childTnLst>
                                </p:cTn>
                              </p:par>
                              <p:par>
                                <p:cTn id="9" presetID="1" presetClass="entr" presetSubtype="0" fill="hold" grpId="0" nodeType="withEffect">
                                  <p:stCondLst>
                                    <p:cond delay="0"/>
                                  </p:stCondLst>
                                  <p:childTnLst>
                                    <p:set>
                                      <p:cBhvr>
                                        <p:cTn id="10" dur="1" fill="hold">
                                          <p:stCondLst>
                                            <p:cond delay="0"/>
                                          </p:stCondLst>
                                        </p:cTn>
                                        <p:tgtEl>
                                          <p:spTgt spid="3">
                                            <p:txEl>
                                              <p:pRg st="2" end="2"/>
                                            </p:txEl>
                                          </p:spTgt>
                                        </p:tgtEl>
                                        <p:attrNameLst>
                                          <p:attrName>style.visibility</p:attrName>
                                        </p:attrNameLst>
                                      </p:cBhvr>
                                      <p:to>
                                        <p:strVal val="visible"/>
                                      </p:to>
                                    </p:set>
                                  </p:childTnLst>
                                </p:cTn>
                              </p:par>
                              <p:par>
                                <p:cTn id="11" presetID="1" presetClass="entr" presetSubtype="0" fill="hold" grpId="0" nodeType="withEffect">
                                  <p:stCondLst>
                                    <p:cond delay="0"/>
                                  </p:stCondLst>
                                  <p:childTnLst>
                                    <p:set>
                                      <p:cBhvr>
                                        <p:cTn id="12" dur="1" fill="hold">
                                          <p:stCondLst>
                                            <p:cond delay="0"/>
                                          </p:stCondLst>
                                        </p:cTn>
                                        <p:tgtEl>
                                          <p:spTgt spid="3">
                                            <p:txEl>
                                              <p:pRg st="3" end="3"/>
                                            </p:txEl>
                                          </p:spTgt>
                                        </p:tgtEl>
                                        <p:attrNameLst>
                                          <p:attrName>style.visibility</p:attrName>
                                        </p:attrNameLst>
                                      </p:cBhvr>
                                      <p:to>
                                        <p:strVal val="visible"/>
                                      </p:to>
                                    </p:set>
                                  </p:childTnLst>
                                </p:cTn>
                              </p:par>
                              <p:par>
                                <p:cTn id="13" presetID="1" presetClass="entr" presetSubtype="0" fill="hold" grpId="0" nodeType="withEffect">
                                  <p:stCondLst>
                                    <p:cond delay="0"/>
                                  </p:stCondLst>
                                  <p:childTnLst>
                                    <p:set>
                                      <p:cBhvr>
                                        <p:cTn id="14" dur="1" fill="hold">
                                          <p:stCondLst>
                                            <p:cond delay="0"/>
                                          </p:stCondLst>
                                        </p:cTn>
                                        <p:tgtEl>
                                          <p:spTgt spid="3">
                                            <p:txEl>
                                              <p:pRg st="4" end="4"/>
                                            </p:txEl>
                                          </p:spTgt>
                                        </p:tgtEl>
                                        <p:attrNameLst>
                                          <p:attrName>style.visibility</p:attrName>
                                        </p:attrNameLst>
                                      </p:cBhvr>
                                      <p:to>
                                        <p:strVal val="visible"/>
                                      </p:to>
                                    </p:set>
                                  </p:childTnLst>
                                </p:cTn>
                              </p:par>
                              <p:par>
                                <p:cTn id="15" presetID="1" presetClass="entr" presetSubtype="0" fill="hold" grpId="0" nodeType="withEffect">
                                  <p:stCondLst>
                                    <p:cond delay="0"/>
                                  </p:stCondLst>
                                  <p:childTnLst>
                                    <p:set>
                                      <p:cBhvr>
                                        <p:cTn id="16" dur="1" fill="hold">
                                          <p:stCondLst>
                                            <p:cond delay="0"/>
                                          </p:stCondLst>
                                        </p:cTn>
                                        <p:tgtEl>
                                          <p:spTgt spid="3">
                                            <p:txEl>
                                              <p:pRg st="5" end="5"/>
                                            </p:txEl>
                                          </p:spTgt>
                                        </p:tgtEl>
                                        <p:attrNameLst>
                                          <p:attrName>style.visibility</p:attrName>
                                        </p:attrNameLst>
                                      </p:cBhvr>
                                      <p:to>
                                        <p:strVal val="visible"/>
                                      </p:to>
                                    </p:set>
                                  </p:childTnLst>
                                </p:cTn>
                              </p:par>
                              <p:par>
                                <p:cTn id="17" presetID="1" presetClass="entr" presetSubtype="0" fill="hold" grpId="0" nodeType="withEffect">
                                  <p:stCondLst>
                                    <p:cond delay="0"/>
                                  </p:stCondLst>
                                  <p:childTnLst>
                                    <p:set>
                                      <p:cBhvr>
                                        <p:cTn id="18" dur="1" fill="hold">
                                          <p:stCondLst>
                                            <p:cond delay="0"/>
                                          </p:stCondLst>
                                        </p:cTn>
                                        <p:tgtEl>
                                          <p:spTgt spid="3">
                                            <p:txEl>
                                              <p:pRg st="6" end="6"/>
                                            </p:txEl>
                                          </p:spTgt>
                                        </p:tgtEl>
                                        <p:attrNameLst>
                                          <p:attrName>style.visibility</p:attrName>
                                        </p:attrNameLst>
                                      </p:cBhvr>
                                      <p:to>
                                        <p:strVal val="visible"/>
                                      </p:to>
                                    </p:set>
                                  </p:childTnLst>
                                </p:cTn>
                              </p:par>
                              <p:par>
                                <p:cTn id="19" presetID="1" presetClass="entr" presetSubtype="0" fill="hold" grpId="0" nodeType="withEffect">
                                  <p:stCondLst>
                                    <p:cond delay="0"/>
                                  </p:stCondLst>
                                  <p:childTnLst>
                                    <p:set>
                                      <p:cBhvr>
                                        <p:cTn id="20" dur="1" fill="hold">
                                          <p:stCondLst>
                                            <p:cond delay="0"/>
                                          </p:stCondLst>
                                        </p:cTn>
                                        <p:tgtEl>
                                          <p:spTgt spid="3">
                                            <p:txEl>
                                              <p:pRg st="7" end="7"/>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build="p"/>
    </p:bldLst>
  </p:timing>
</p:sld>
</file>

<file path=ppt/slides/slide14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Number Placeholder 1"/>
          <p:cNvSpPr>
            <a:spLocks noGrp="1"/>
          </p:cNvSpPr>
          <p:nvPr>
            <p:ph type="sldNum" sz="quarter" idx="14"/>
          </p:nvPr>
        </p:nvSpPr>
        <p:spPr/>
        <p:txBody>
          <a:bodyPr/>
          <a:lstStyle/>
          <a:p>
            <a:fld id="{45A3C14A-F937-4231-B6F1-40B429FAFB2F}" type="slidenum">
              <a:rPr lang="en-NZ" smtClean="0"/>
              <a:pPr/>
              <a:t>142</a:t>
            </a:fld>
            <a:endParaRPr lang="en-NZ" dirty="0"/>
          </a:p>
        </p:txBody>
      </p:sp>
      <p:sp>
        <p:nvSpPr>
          <p:cNvPr id="3" name="Title 2"/>
          <p:cNvSpPr>
            <a:spLocks noGrp="1"/>
          </p:cNvSpPr>
          <p:nvPr>
            <p:ph type="title"/>
          </p:nvPr>
        </p:nvSpPr>
        <p:spPr/>
        <p:txBody>
          <a:bodyPr/>
          <a:lstStyle/>
          <a:p>
            <a:r>
              <a:rPr lang="en-US" dirty="0"/>
              <a:t>1. Domain constraints</a:t>
            </a:r>
            <a:br>
              <a:rPr lang="en-US" dirty="0"/>
            </a:br>
            <a:endParaRPr lang="en-US" dirty="0"/>
          </a:p>
        </p:txBody>
      </p:sp>
      <p:sp>
        <p:nvSpPr>
          <p:cNvPr id="4" name="Text Placeholder 3"/>
          <p:cNvSpPr>
            <a:spLocks noGrp="1"/>
          </p:cNvSpPr>
          <p:nvPr>
            <p:ph type="body" sz="quarter" idx="17"/>
          </p:nvPr>
        </p:nvSpPr>
        <p:spPr/>
        <p:txBody>
          <a:bodyPr/>
          <a:lstStyle/>
          <a:p>
            <a:pPr>
              <a:buFont typeface="Arial" panose="020B0604020202020204" pitchFamily="34" charset="0"/>
              <a:buChar char="•"/>
            </a:pPr>
            <a:r>
              <a:rPr lang="en-US" dirty="0"/>
              <a:t>Domain constraints can be defined as the definition of a valid set of values for an attribute.</a:t>
            </a:r>
          </a:p>
          <a:p>
            <a:pPr>
              <a:buFont typeface="Arial" panose="020B0604020202020204" pitchFamily="34" charset="0"/>
              <a:buChar char="•"/>
            </a:pPr>
            <a:r>
              <a:rPr lang="en-US" dirty="0"/>
              <a:t>The data type of domain includes string, character, integer, time, date, currency, etc. The value of the attribute must be available in the corresponding domain.</a:t>
            </a:r>
          </a:p>
          <a:p>
            <a:endParaRPr lang="en-US" dirty="0"/>
          </a:p>
        </p:txBody>
      </p:sp>
      <p:pic>
        <p:nvPicPr>
          <p:cNvPr id="6" name="Picture 5"/>
          <p:cNvPicPr>
            <a:picLocks noChangeAspect="1"/>
          </p:cNvPicPr>
          <p:nvPr/>
        </p:nvPicPr>
        <p:blipFill>
          <a:blip r:embed="rId2"/>
          <a:stretch>
            <a:fillRect/>
          </a:stretch>
        </p:blipFill>
        <p:spPr>
          <a:xfrm>
            <a:off x="2639616" y="3901519"/>
            <a:ext cx="5905500" cy="1990725"/>
          </a:xfrm>
          <a:prstGeom prst="rect">
            <a:avLst/>
          </a:prstGeom>
        </p:spPr>
      </p:pic>
    </p:spTree>
    <p:extLst>
      <p:ext uri="{BB962C8B-B14F-4D97-AF65-F5344CB8AC3E}">
        <p14:creationId xmlns:p14="http://schemas.microsoft.com/office/powerpoint/2010/main" val="1722371966"/>
      </p:ext>
    </p:extLst>
  </p:cSld>
  <p:clrMapOvr>
    <a:masterClrMapping/>
  </p:clrMapOvr>
</p:sld>
</file>

<file path=ppt/slides/slide14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Number Placeholder 1"/>
          <p:cNvSpPr>
            <a:spLocks noGrp="1"/>
          </p:cNvSpPr>
          <p:nvPr>
            <p:ph type="sldNum" sz="quarter" idx="14"/>
          </p:nvPr>
        </p:nvSpPr>
        <p:spPr/>
        <p:txBody>
          <a:bodyPr/>
          <a:lstStyle/>
          <a:p>
            <a:fld id="{45A3C14A-F937-4231-B6F1-40B429FAFB2F}" type="slidenum">
              <a:rPr lang="en-NZ" smtClean="0"/>
              <a:pPr/>
              <a:t>143</a:t>
            </a:fld>
            <a:endParaRPr lang="en-NZ" dirty="0"/>
          </a:p>
        </p:txBody>
      </p:sp>
      <p:sp>
        <p:nvSpPr>
          <p:cNvPr id="3" name="Title 2"/>
          <p:cNvSpPr>
            <a:spLocks noGrp="1"/>
          </p:cNvSpPr>
          <p:nvPr>
            <p:ph type="title"/>
          </p:nvPr>
        </p:nvSpPr>
        <p:spPr/>
        <p:txBody>
          <a:bodyPr/>
          <a:lstStyle/>
          <a:p>
            <a:r>
              <a:rPr lang="en-US" b="1" dirty="0"/>
              <a:t>Entity integrity constraints</a:t>
            </a:r>
            <a:br>
              <a:rPr lang="en-US" b="1" dirty="0"/>
            </a:br>
            <a:endParaRPr lang="en-US" b="1" dirty="0"/>
          </a:p>
        </p:txBody>
      </p:sp>
      <p:sp>
        <p:nvSpPr>
          <p:cNvPr id="4" name="Text Placeholder 3"/>
          <p:cNvSpPr>
            <a:spLocks noGrp="1"/>
          </p:cNvSpPr>
          <p:nvPr>
            <p:ph type="body" sz="quarter" idx="17"/>
          </p:nvPr>
        </p:nvSpPr>
        <p:spPr>
          <a:xfrm>
            <a:off x="555871" y="1199383"/>
            <a:ext cx="10801201" cy="4320480"/>
          </a:xfrm>
        </p:spPr>
        <p:txBody>
          <a:bodyPr/>
          <a:lstStyle/>
          <a:p>
            <a:pPr>
              <a:buFont typeface="Arial" panose="020B0604020202020204" pitchFamily="34" charset="0"/>
              <a:buChar char="•"/>
            </a:pPr>
            <a:r>
              <a:rPr lang="en-US" dirty="0"/>
              <a:t>The entity integrity constraint states that primary key value can't be null.</a:t>
            </a:r>
          </a:p>
          <a:p>
            <a:pPr>
              <a:buFont typeface="Arial" panose="020B0604020202020204" pitchFamily="34" charset="0"/>
              <a:buChar char="•"/>
            </a:pPr>
            <a:r>
              <a:rPr lang="en-US" dirty="0"/>
              <a:t>This is because the primary key value is used to identify individual rows in relation and if the primary key has a null value, then we can't identify those rows.</a:t>
            </a:r>
          </a:p>
          <a:p>
            <a:pPr>
              <a:buFont typeface="Arial" panose="020B0604020202020204" pitchFamily="34" charset="0"/>
              <a:buChar char="•"/>
            </a:pPr>
            <a:r>
              <a:rPr lang="en-US" dirty="0"/>
              <a:t>A table can contain a null value other than the primary key field.</a:t>
            </a:r>
          </a:p>
          <a:p>
            <a:endParaRPr lang="en-US" dirty="0"/>
          </a:p>
        </p:txBody>
      </p:sp>
      <p:pic>
        <p:nvPicPr>
          <p:cNvPr id="4098" name="Picture 2" descr="DBMS Integrity Constraints"/>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3570458" y="3492473"/>
            <a:ext cx="4772025" cy="2000251"/>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949273298"/>
      </p:ext>
    </p:extLst>
  </p:cSld>
  <p:clrMapOvr>
    <a:masterClrMapping/>
  </p:clrMapOvr>
</p:sld>
</file>

<file path=ppt/slides/slide14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Number Placeholder 1"/>
          <p:cNvSpPr>
            <a:spLocks noGrp="1"/>
          </p:cNvSpPr>
          <p:nvPr>
            <p:ph type="sldNum" sz="quarter" idx="14"/>
          </p:nvPr>
        </p:nvSpPr>
        <p:spPr/>
        <p:txBody>
          <a:bodyPr/>
          <a:lstStyle/>
          <a:p>
            <a:fld id="{45A3C14A-F937-4231-B6F1-40B429FAFB2F}" type="slidenum">
              <a:rPr lang="en-NZ" smtClean="0"/>
              <a:pPr/>
              <a:t>144</a:t>
            </a:fld>
            <a:endParaRPr lang="en-NZ" dirty="0"/>
          </a:p>
        </p:txBody>
      </p:sp>
      <p:sp>
        <p:nvSpPr>
          <p:cNvPr id="3" name="Title 2"/>
          <p:cNvSpPr>
            <a:spLocks noGrp="1"/>
          </p:cNvSpPr>
          <p:nvPr>
            <p:ph type="title"/>
          </p:nvPr>
        </p:nvSpPr>
        <p:spPr>
          <a:xfrm>
            <a:off x="695400" y="395786"/>
            <a:ext cx="8064896" cy="838202"/>
          </a:xfrm>
        </p:spPr>
        <p:txBody>
          <a:bodyPr/>
          <a:lstStyle/>
          <a:p>
            <a:r>
              <a:rPr lang="en-US" b="1" dirty="0"/>
              <a:t>Referential Integrity Constraints</a:t>
            </a:r>
            <a:br>
              <a:rPr lang="en-US" dirty="0"/>
            </a:br>
            <a:endParaRPr lang="en-US" dirty="0"/>
          </a:p>
        </p:txBody>
      </p:sp>
      <p:sp>
        <p:nvSpPr>
          <p:cNvPr id="4" name="Text Placeholder 3"/>
          <p:cNvSpPr>
            <a:spLocks noGrp="1"/>
          </p:cNvSpPr>
          <p:nvPr>
            <p:ph type="body" sz="quarter" idx="17"/>
          </p:nvPr>
        </p:nvSpPr>
        <p:spPr>
          <a:xfrm>
            <a:off x="695400" y="1773936"/>
            <a:ext cx="5832647" cy="4320480"/>
          </a:xfrm>
        </p:spPr>
        <p:txBody>
          <a:bodyPr/>
          <a:lstStyle/>
          <a:p>
            <a:pPr>
              <a:buFont typeface="Arial" panose="020B0604020202020204" pitchFamily="34" charset="0"/>
              <a:buChar char="•"/>
            </a:pPr>
            <a:r>
              <a:rPr lang="en-US" dirty="0"/>
              <a:t>A referential integrity constraint is specified between two tables.</a:t>
            </a:r>
          </a:p>
          <a:p>
            <a:pPr>
              <a:buFont typeface="Arial" panose="020B0604020202020204" pitchFamily="34" charset="0"/>
              <a:buChar char="•"/>
            </a:pPr>
            <a:r>
              <a:rPr lang="en-US" dirty="0"/>
              <a:t>In the Referential integrity constraints, if a foreign key in Table 1 refers to the Primary Key of Table 2, then every value of the Foreign Key in Table 1 must be null or be available in Table 2.</a:t>
            </a:r>
          </a:p>
          <a:p>
            <a:endParaRPr lang="en-US" dirty="0"/>
          </a:p>
        </p:txBody>
      </p:sp>
      <p:pic>
        <p:nvPicPr>
          <p:cNvPr id="5" name="Picture 4"/>
          <p:cNvPicPr>
            <a:picLocks noChangeAspect="1"/>
          </p:cNvPicPr>
          <p:nvPr/>
        </p:nvPicPr>
        <p:blipFill>
          <a:blip r:embed="rId2"/>
          <a:stretch>
            <a:fillRect/>
          </a:stretch>
        </p:blipFill>
        <p:spPr>
          <a:xfrm>
            <a:off x="6672064" y="1628800"/>
            <a:ext cx="4819650" cy="3676650"/>
          </a:xfrm>
          <a:prstGeom prst="rect">
            <a:avLst/>
          </a:prstGeom>
        </p:spPr>
      </p:pic>
    </p:spTree>
    <p:extLst>
      <p:ext uri="{BB962C8B-B14F-4D97-AF65-F5344CB8AC3E}">
        <p14:creationId xmlns:p14="http://schemas.microsoft.com/office/powerpoint/2010/main" val="3166184366"/>
      </p:ext>
    </p:extLst>
  </p:cSld>
  <p:clrMapOvr>
    <a:masterClrMapping/>
  </p:clrMapOvr>
</p:sld>
</file>

<file path=ppt/slides/slide14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Number Placeholder 1"/>
          <p:cNvSpPr>
            <a:spLocks noGrp="1"/>
          </p:cNvSpPr>
          <p:nvPr>
            <p:ph type="sldNum" sz="quarter" idx="14"/>
          </p:nvPr>
        </p:nvSpPr>
        <p:spPr/>
        <p:txBody>
          <a:bodyPr/>
          <a:lstStyle/>
          <a:p>
            <a:fld id="{45A3C14A-F937-4231-B6F1-40B429FAFB2F}" type="slidenum">
              <a:rPr lang="en-NZ" smtClean="0"/>
              <a:pPr/>
              <a:t>145</a:t>
            </a:fld>
            <a:endParaRPr lang="en-NZ" dirty="0"/>
          </a:p>
        </p:txBody>
      </p:sp>
      <p:sp>
        <p:nvSpPr>
          <p:cNvPr id="3" name="Title 2"/>
          <p:cNvSpPr>
            <a:spLocks noGrp="1"/>
          </p:cNvSpPr>
          <p:nvPr>
            <p:ph type="title"/>
          </p:nvPr>
        </p:nvSpPr>
        <p:spPr/>
        <p:txBody>
          <a:bodyPr/>
          <a:lstStyle/>
          <a:p>
            <a:r>
              <a:rPr lang="en-US" b="1" dirty="0"/>
              <a:t>Key constraints</a:t>
            </a:r>
            <a:br>
              <a:rPr lang="en-US" b="1" dirty="0"/>
            </a:br>
            <a:endParaRPr lang="en-US" b="1" dirty="0"/>
          </a:p>
        </p:txBody>
      </p:sp>
      <p:sp>
        <p:nvSpPr>
          <p:cNvPr id="4" name="Text Placeholder 3"/>
          <p:cNvSpPr>
            <a:spLocks noGrp="1"/>
          </p:cNvSpPr>
          <p:nvPr>
            <p:ph type="body" sz="quarter" idx="17"/>
          </p:nvPr>
        </p:nvSpPr>
        <p:spPr>
          <a:xfrm>
            <a:off x="532342" y="1236625"/>
            <a:ext cx="10801201" cy="4320480"/>
          </a:xfrm>
        </p:spPr>
        <p:txBody>
          <a:bodyPr/>
          <a:lstStyle/>
          <a:p>
            <a:pPr>
              <a:buFont typeface="Arial" panose="020B0604020202020204" pitchFamily="34" charset="0"/>
              <a:buChar char="•"/>
            </a:pPr>
            <a:r>
              <a:rPr lang="en-US" dirty="0"/>
              <a:t>Keys are the entity set that is used to identify an entity within its entity set uniquely.</a:t>
            </a:r>
          </a:p>
          <a:p>
            <a:pPr>
              <a:buFont typeface="Arial" panose="020B0604020202020204" pitchFamily="34" charset="0"/>
              <a:buChar char="•"/>
            </a:pPr>
            <a:r>
              <a:rPr lang="en-US" dirty="0"/>
              <a:t>An entity set can have multiple keys, but out of which one key will be the primary key. A primary key can contain a unique and null value in the relational table.</a:t>
            </a:r>
          </a:p>
          <a:p>
            <a:endParaRPr lang="en-US" dirty="0"/>
          </a:p>
        </p:txBody>
      </p:sp>
      <p:pic>
        <p:nvPicPr>
          <p:cNvPr id="5122" name="Picture 2" descr="DBMS Integrity Constraints"/>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3595292" y="3140968"/>
            <a:ext cx="5643214" cy="2361432"/>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2383856566"/>
      </p:ext>
    </p:extLst>
  </p:cSld>
  <p:clrMapOvr>
    <a:masterClrMapping/>
  </p:clrMapOvr>
</p:sld>
</file>

<file path=ppt/slides/slide14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4196B79-DBF0-4845-4B12-1692944AD223}"/>
            </a:ext>
          </a:extLst>
        </p:cNvPr>
        <p:cNvGrpSpPr/>
        <p:nvPr/>
      </p:nvGrpSpPr>
      <p:grpSpPr>
        <a:xfrm>
          <a:off x="0" y="0"/>
          <a:ext cx="0" cy="0"/>
          <a:chOff x="0" y="0"/>
          <a:chExt cx="0" cy="0"/>
        </a:xfrm>
      </p:grpSpPr>
      <p:sp>
        <p:nvSpPr>
          <p:cNvPr id="2" name="Slide Number Placeholder 1">
            <a:extLst>
              <a:ext uri="{FF2B5EF4-FFF2-40B4-BE49-F238E27FC236}">
                <a16:creationId xmlns:a16="http://schemas.microsoft.com/office/drawing/2014/main" id="{44E28C1F-93F0-E0D6-F650-0CBD1C8A8FD1}"/>
              </a:ext>
            </a:extLst>
          </p:cNvPr>
          <p:cNvSpPr>
            <a:spLocks noGrp="1"/>
          </p:cNvSpPr>
          <p:nvPr>
            <p:ph type="sldNum" sz="quarter" idx="14"/>
          </p:nvPr>
        </p:nvSpPr>
        <p:spPr/>
        <p:txBody>
          <a:bodyPr/>
          <a:lstStyle/>
          <a:p>
            <a:fld id="{45A3C14A-F937-4231-B6F1-40B429FAFB2F}" type="slidenum">
              <a:rPr lang="en-NZ" smtClean="0"/>
              <a:pPr/>
              <a:t>146</a:t>
            </a:fld>
            <a:endParaRPr lang="en-NZ" dirty="0"/>
          </a:p>
        </p:txBody>
      </p:sp>
      <p:sp>
        <p:nvSpPr>
          <p:cNvPr id="3" name="Title 2">
            <a:extLst>
              <a:ext uri="{FF2B5EF4-FFF2-40B4-BE49-F238E27FC236}">
                <a16:creationId xmlns:a16="http://schemas.microsoft.com/office/drawing/2014/main" id="{042487C7-3954-BF7A-BB1F-89FC1CC3EA04}"/>
              </a:ext>
            </a:extLst>
          </p:cNvPr>
          <p:cNvSpPr>
            <a:spLocks noGrp="1"/>
          </p:cNvSpPr>
          <p:nvPr>
            <p:ph type="title"/>
          </p:nvPr>
        </p:nvSpPr>
        <p:spPr>
          <a:xfrm>
            <a:off x="695400" y="395786"/>
            <a:ext cx="9001000" cy="838202"/>
          </a:xfrm>
        </p:spPr>
        <p:txBody>
          <a:bodyPr/>
          <a:lstStyle/>
          <a:p>
            <a:r>
              <a:rPr lang="en-IN" b="1" kern="100" dirty="0">
                <a:solidFill>
                  <a:srgbClr val="FF0000"/>
                </a:solidFill>
                <a:effectLst/>
                <a:latin typeface="Aptos" panose="020B0004020202020204" pitchFamily="34" charset="0"/>
                <a:ea typeface="Aptos" panose="020B0004020202020204" pitchFamily="34" charset="0"/>
                <a:cs typeface="Times New Roman" panose="02020603050405020304" pitchFamily="18" charset="0"/>
              </a:rPr>
              <a:t>Centralized</a:t>
            </a:r>
            <a:r>
              <a:rPr lang="en-IN" kern="100" dirty="0">
                <a:solidFill>
                  <a:srgbClr val="FF0000"/>
                </a:solidFill>
                <a:effectLst/>
                <a:latin typeface="Aptos" panose="020B0004020202020204" pitchFamily="34" charset="0"/>
                <a:ea typeface="Aptos" panose="020B0004020202020204" pitchFamily="34" charset="0"/>
                <a:cs typeface="Times New Roman" panose="02020603050405020304" pitchFamily="18" charset="0"/>
              </a:rPr>
              <a:t> and </a:t>
            </a:r>
            <a:r>
              <a:rPr lang="en-IN" b="1" kern="100" dirty="0">
                <a:solidFill>
                  <a:srgbClr val="FF0000"/>
                </a:solidFill>
                <a:effectLst/>
                <a:latin typeface="Aptos" panose="020B0004020202020204" pitchFamily="34" charset="0"/>
                <a:ea typeface="Aptos" panose="020B0004020202020204" pitchFamily="34" charset="0"/>
                <a:cs typeface="Times New Roman" panose="02020603050405020304" pitchFamily="18" charset="0"/>
              </a:rPr>
              <a:t>Client-Server Architectures</a:t>
            </a:r>
            <a:br>
              <a:rPr lang="en-IN" sz="1800" kern="100" dirty="0">
                <a:effectLst/>
                <a:latin typeface="Aptos" panose="020B0004020202020204" pitchFamily="34" charset="0"/>
                <a:ea typeface="Aptos" panose="020B0004020202020204" pitchFamily="34" charset="0"/>
                <a:cs typeface="Times New Roman" panose="02020603050405020304" pitchFamily="18" charset="0"/>
              </a:rPr>
            </a:br>
            <a:br>
              <a:rPr lang="en-US" b="1" dirty="0"/>
            </a:br>
            <a:endParaRPr lang="en-US" b="1" dirty="0"/>
          </a:p>
        </p:txBody>
      </p:sp>
      <p:sp>
        <p:nvSpPr>
          <p:cNvPr id="4" name="Text Placeholder 3">
            <a:extLst>
              <a:ext uri="{FF2B5EF4-FFF2-40B4-BE49-F238E27FC236}">
                <a16:creationId xmlns:a16="http://schemas.microsoft.com/office/drawing/2014/main" id="{32D31ED5-71DF-5A44-EED4-2BA9366FB61A}"/>
              </a:ext>
            </a:extLst>
          </p:cNvPr>
          <p:cNvSpPr>
            <a:spLocks noGrp="1"/>
          </p:cNvSpPr>
          <p:nvPr>
            <p:ph type="body" sz="quarter" idx="17"/>
          </p:nvPr>
        </p:nvSpPr>
        <p:spPr>
          <a:xfrm>
            <a:off x="546066" y="820966"/>
            <a:ext cx="10801201" cy="4320480"/>
          </a:xfrm>
        </p:spPr>
        <p:txBody>
          <a:bodyPr/>
          <a:lstStyle/>
          <a:p>
            <a:pPr marL="0" indent="0" algn="just">
              <a:lnSpc>
                <a:spcPct val="115000"/>
              </a:lnSpc>
              <a:spcAft>
                <a:spcPts val="800"/>
              </a:spcAft>
              <a:buNone/>
            </a:pPr>
            <a:r>
              <a:rPr lang="en-IN" kern="100" dirty="0">
                <a:solidFill>
                  <a:schemeClr val="tx1"/>
                </a:solidFill>
                <a:effectLst/>
                <a:latin typeface="Aptos" panose="020B0004020202020204" pitchFamily="34" charset="0"/>
                <a:ea typeface="Aptos" panose="020B0004020202020204" pitchFamily="34" charset="0"/>
                <a:cs typeface="Times New Roman" panose="02020603050405020304" pitchFamily="18" charset="0"/>
              </a:rPr>
              <a:t>In Database Management Systems (DBMS), </a:t>
            </a:r>
            <a:r>
              <a:rPr lang="en-IN" b="1" kern="100" dirty="0">
                <a:solidFill>
                  <a:schemeClr val="tx1"/>
                </a:solidFill>
                <a:effectLst/>
                <a:latin typeface="Aptos" panose="020B0004020202020204" pitchFamily="34" charset="0"/>
                <a:ea typeface="Aptos" panose="020B0004020202020204" pitchFamily="34" charset="0"/>
                <a:cs typeface="Times New Roman" panose="02020603050405020304" pitchFamily="18" charset="0"/>
              </a:rPr>
              <a:t>centralized</a:t>
            </a:r>
            <a:r>
              <a:rPr lang="en-IN" kern="100" dirty="0">
                <a:solidFill>
                  <a:schemeClr val="tx1"/>
                </a:solidFill>
                <a:effectLst/>
                <a:latin typeface="Aptos" panose="020B0004020202020204" pitchFamily="34" charset="0"/>
                <a:ea typeface="Aptos" panose="020B0004020202020204" pitchFamily="34" charset="0"/>
                <a:cs typeface="Times New Roman" panose="02020603050405020304" pitchFamily="18" charset="0"/>
              </a:rPr>
              <a:t> and </a:t>
            </a:r>
            <a:r>
              <a:rPr lang="en-IN" b="1" kern="100" dirty="0">
                <a:solidFill>
                  <a:schemeClr val="tx1"/>
                </a:solidFill>
                <a:effectLst/>
                <a:latin typeface="Aptos" panose="020B0004020202020204" pitchFamily="34" charset="0"/>
                <a:ea typeface="Aptos" panose="020B0004020202020204" pitchFamily="34" charset="0"/>
                <a:cs typeface="Times New Roman" panose="02020603050405020304" pitchFamily="18" charset="0"/>
              </a:rPr>
              <a:t>client-server architectures</a:t>
            </a:r>
            <a:r>
              <a:rPr lang="en-IN" kern="100" dirty="0">
                <a:solidFill>
                  <a:schemeClr val="tx1"/>
                </a:solidFill>
                <a:effectLst/>
                <a:latin typeface="Aptos" panose="020B0004020202020204" pitchFamily="34" charset="0"/>
                <a:ea typeface="Aptos" panose="020B0004020202020204" pitchFamily="34" charset="0"/>
                <a:cs typeface="Times New Roman" panose="02020603050405020304" pitchFamily="18" charset="0"/>
              </a:rPr>
              <a:t> represent two distinct approaches to data management, each with its own set of characteristics, advantages, and disadvantages.</a:t>
            </a:r>
          </a:p>
          <a:p>
            <a:pPr algn="just">
              <a:lnSpc>
                <a:spcPct val="115000"/>
              </a:lnSpc>
              <a:spcAft>
                <a:spcPts val="800"/>
              </a:spcAft>
            </a:pPr>
            <a:r>
              <a:rPr lang="en-IN" b="1" kern="100" dirty="0">
                <a:solidFill>
                  <a:srgbClr val="FF0000"/>
                </a:solidFill>
                <a:effectLst/>
                <a:latin typeface="Aptos" panose="020B0004020202020204" pitchFamily="34" charset="0"/>
                <a:ea typeface="Aptos" panose="020B0004020202020204" pitchFamily="34" charset="0"/>
                <a:cs typeface="Times New Roman" panose="02020603050405020304" pitchFamily="18" charset="0"/>
              </a:rPr>
              <a:t>Centralized Architecture:</a:t>
            </a:r>
            <a:endParaRPr lang="en-IN" kern="100" dirty="0">
              <a:solidFill>
                <a:srgbClr val="FF0000"/>
              </a:solidFill>
              <a:effectLst/>
              <a:latin typeface="Aptos" panose="020B0004020202020204" pitchFamily="34" charset="0"/>
              <a:ea typeface="Aptos" panose="020B0004020202020204" pitchFamily="34" charset="0"/>
              <a:cs typeface="Times New Roman" panose="02020603050405020304" pitchFamily="18" charset="0"/>
            </a:endParaRPr>
          </a:p>
          <a:p>
            <a:pPr marL="0" indent="0" algn="just">
              <a:lnSpc>
                <a:spcPct val="115000"/>
              </a:lnSpc>
              <a:spcAft>
                <a:spcPts val="800"/>
              </a:spcAft>
              <a:buNone/>
            </a:pPr>
            <a:r>
              <a:rPr lang="en-IN" kern="100" dirty="0">
                <a:solidFill>
                  <a:schemeClr val="tx1"/>
                </a:solidFill>
                <a:effectLst/>
                <a:latin typeface="Aptos" panose="020B0004020202020204" pitchFamily="34" charset="0"/>
                <a:ea typeface="Aptos" panose="020B0004020202020204" pitchFamily="34" charset="0"/>
                <a:cs typeface="Times New Roman" panose="02020603050405020304" pitchFamily="18" charset="0"/>
              </a:rPr>
              <a:t>In a centralized architecture, all database resources are located and maintained in a single, central location, typically on a mainframe or a central server. Users access the database through terminals or networked computers that connect to this central system.</a:t>
            </a:r>
          </a:p>
          <a:p>
            <a:pPr marL="0" indent="0" algn="just">
              <a:lnSpc>
                <a:spcPct val="115000"/>
              </a:lnSpc>
              <a:spcAft>
                <a:spcPts val="800"/>
              </a:spcAft>
              <a:buNone/>
            </a:pPr>
            <a:r>
              <a:rPr lang="en-IN" kern="100" dirty="0">
                <a:solidFill>
                  <a:schemeClr val="tx1"/>
                </a:solidFill>
                <a:effectLst/>
                <a:latin typeface="Aptos" panose="020B0004020202020204" pitchFamily="34" charset="0"/>
                <a:ea typeface="Aptos" panose="020B0004020202020204" pitchFamily="34" charset="0"/>
                <a:cs typeface="Times New Roman" panose="02020603050405020304" pitchFamily="18" charset="0"/>
              </a:rPr>
              <a:t>In a </a:t>
            </a:r>
            <a:r>
              <a:rPr lang="en-IN" b="1" kern="100" dirty="0">
                <a:solidFill>
                  <a:schemeClr val="tx1"/>
                </a:solidFill>
                <a:effectLst/>
                <a:latin typeface="Aptos" panose="020B0004020202020204" pitchFamily="34" charset="0"/>
                <a:ea typeface="Aptos" panose="020B0004020202020204" pitchFamily="34" charset="0"/>
                <a:cs typeface="Times New Roman" panose="02020603050405020304" pitchFamily="18" charset="0"/>
              </a:rPr>
              <a:t>centralized database system</a:t>
            </a:r>
            <a:r>
              <a:rPr lang="en-IN" kern="100" dirty="0">
                <a:solidFill>
                  <a:schemeClr val="tx1"/>
                </a:solidFill>
                <a:effectLst/>
                <a:latin typeface="Aptos" panose="020B0004020202020204" pitchFamily="34" charset="0"/>
                <a:ea typeface="Aptos" panose="020B0004020202020204" pitchFamily="34" charset="0"/>
                <a:cs typeface="Times New Roman" panose="02020603050405020304" pitchFamily="18" charset="0"/>
              </a:rPr>
              <a:t>, all the database management is done on a single central server or mainframe. The database and DBMS software are stored on this server, and users access it through terminals or computers.</a:t>
            </a:r>
          </a:p>
        </p:txBody>
      </p:sp>
    </p:spTree>
    <p:extLst>
      <p:ext uri="{BB962C8B-B14F-4D97-AF65-F5344CB8AC3E}">
        <p14:creationId xmlns:p14="http://schemas.microsoft.com/office/powerpoint/2010/main" val="818764136"/>
      </p:ext>
    </p:extLst>
  </p:cSld>
  <p:clrMapOvr>
    <a:masterClrMapping/>
  </p:clrMapOvr>
</p:sld>
</file>

<file path=ppt/slides/slide14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0856880-BCB0-1883-858F-2BBA409BCF67}"/>
            </a:ext>
          </a:extLst>
        </p:cNvPr>
        <p:cNvGrpSpPr/>
        <p:nvPr/>
      </p:nvGrpSpPr>
      <p:grpSpPr>
        <a:xfrm>
          <a:off x="0" y="0"/>
          <a:ext cx="0" cy="0"/>
          <a:chOff x="0" y="0"/>
          <a:chExt cx="0" cy="0"/>
        </a:xfrm>
      </p:grpSpPr>
      <p:sp>
        <p:nvSpPr>
          <p:cNvPr id="2" name="Slide Number Placeholder 1">
            <a:extLst>
              <a:ext uri="{FF2B5EF4-FFF2-40B4-BE49-F238E27FC236}">
                <a16:creationId xmlns:a16="http://schemas.microsoft.com/office/drawing/2014/main" id="{62CEB5D4-E093-982F-2E0F-C6D5D3D08B09}"/>
              </a:ext>
            </a:extLst>
          </p:cNvPr>
          <p:cNvSpPr>
            <a:spLocks noGrp="1"/>
          </p:cNvSpPr>
          <p:nvPr>
            <p:ph type="sldNum" sz="quarter" idx="14"/>
          </p:nvPr>
        </p:nvSpPr>
        <p:spPr/>
        <p:txBody>
          <a:bodyPr/>
          <a:lstStyle/>
          <a:p>
            <a:fld id="{45A3C14A-F937-4231-B6F1-40B429FAFB2F}" type="slidenum">
              <a:rPr lang="en-NZ" smtClean="0"/>
              <a:pPr/>
              <a:t>147</a:t>
            </a:fld>
            <a:endParaRPr lang="en-NZ" dirty="0"/>
          </a:p>
        </p:txBody>
      </p:sp>
      <p:sp>
        <p:nvSpPr>
          <p:cNvPr id="3" name="Title 2">
            <a:extLst>
              <a:ext uri="{FF2B5EF4-FFF2-40B4-BE49-F238E27FC236}">
                <a16:creationId xmlns:a16="http://schemas.microsoft.com/office/drawing/2014/main" id="{EF9CAC4F-CEBD-2A6E-185E-FA1D1B47C26D}"/>
              </a:ext>
            </a:extLst>
          </p:cNvPr>
          <p:cNvSpPr>
            <a:spLocks noGrp="1"/>
          </p:cNvSpPr>
          <p:nvPr>
            <p:ph type="title"/>
          </p:nvPr>
        </p:nvSpPr>
        <p:spPr>
          <a:xfrm>
            <a:off x="695400" y="395786"/>
            <a:ext cx="9001000" cy="838202"/>
          </a:xfrm>
        </p:spPr>
        <p:txBody>
          <a:bodyPr/>
          <a:lstStyle/>
          <a:p>
            <a:r>
              <a:rPr lang="en-IN" b="1" kern="100" dirty="0">
                <a:solidFill>
                  <a:srgbClr val="FF0000"/>
                </a:solidFill>
                <a:effectLst/>
                <a:latin typeface="Aptos" panose="020B0004020202020204" pitchFamily="34" charset="0"/>
                <a:ea typeface="Aptos" panose="020B0004020202020204" pitchFamily="34" charset="0"/>
                <a:cs typeface="Times New Roman" panose="02020603050405020304" pitchFamily="18" charset="0"/>
              </a:rPr>
              <a:t>Centralized</a:t>
            </a:r>
            <a:r>
              <a:rPr lang="en-IN" kern="100" dirty="0">
                <a:solidFill>
                  <a:srgbClr val="FF0000"/>
                </a:solidFill>
                <a:effectLst/>
                <a:latin typeface="Aptos" panose="020B0004020202020204" pitchFamily="34" charset="0"/>
                <a:ea typeface="Aptos" panose="020B0004020202020204" pitchFamily="34" charset="0"/>
                <a:cs typeface="Times New Roman" panose="02020603050405020304" pitchFamily="18" charset="0"/>
              </a:rPr>
              <a:t> and </a:t>
            </a:r>
            <a:r>
              <a:rPr lang="en-IN" b="1" kern="100" dirty="0">
                <a:solidFill>
                  <a:srgbClr val="FF0000"/>
                </a:solidFill>
                <a:effectLst/>
                <a:latin typeface="Aptos" panose="020B0004020202020204" pitchFamily="34" charset="0"/>
                <a:ea typeface="Aptos" panose="020B0004020202020204" pitchFamily="34" charset="0"/>
                <a:cs typeface="Times New Roman" panose="02020603050405020304" pitchFamily="18" charset="0"/>
              </a:rPr>
              <a:t>Client-Server Architectures</a:t>
            </a:r>
            <a:br>
              <a:rPr lang="en-IN" sz="1800" kern="100" dirty="0">
                <a:effectLst/>
                <a:latin typeface="Aptos" panose="020B0004020202020204" pitchFamily="34" charset="0"/>
                <a:ea typeface="Aptos" panose="020B0004020202020204" pitchFamily="34" charset="0"/>
                <a:cs typeface="Times New Roman" panose="02020603050405020304" pitchFamily="18" charset="0"/>
              </a:rPr>
            </a:br>
            <a:br>
              <a:rPr lang="en-US" b="1" dirty="0"/>
            </a:br>
            <a:endParaRPr lang="en-US" b="1" dirty="0"/>
          </a:p>
        </p:txBody>
      </p:sp>
      <p:sp>
        <p:nvSpPr>
          <p:cNvPr id="4" name="Text Placeholder 3">
            <a:extLst>
              <a:ext uri="{FF2B5EF4-FFF2-40B4-BE49-F238E27FC236}">
                <a16:creationId xmlns:a16="http://schemas.microsoft.com/office/drawing/2014/main" id="{41EAD0CD-4D5C-4A4D-C394-FB7235DDFD17}"/>
              </a:ext>
            </a:extLst>
          </p:cNvPr>
          <p:cNvSpPr>
            <a:spLocks noGrp="1"/>
          </p:cNvSpPr>
          <p:nvPr>
            <p:ph type="body" sz="quarter" idx="17"/>
          </p:nvPr>
        </p:nvSpPr>
        <p:spPr>
          <a:xfrm>
            <a:off x="558670" y="814887"/>
            <a:ext cx="11297970" cy="4320480"/>
          </a:xfrm>
        </p:spPr>
        <p:txBody>
          <a:bodyPr/>
          <a:lstStyle/>
          <a:p>
            <a:pPr marL="0" indent="0" algn="just">
              <a:lnSpc>
                <a:spcPct val="115000"/>
              </a:lnSpc>
              <a:spcAft>
                <a:spcPts val="800"/>
              </a:spcAft>
              <a:buNone/>
            </a:pPr>
            <a:r>
              <a:rPr lang="en-IN" sz="2000" b="1" kern="100" dirty="0">
                <a:solidFill>
                  <a:srgbClr val="FF0000"/>
                </a:solidFill>
                <a:effectLst/>
                <a:latin typeface="Aptos" panose="020B0004020202020204" pitchFamily="34" charset="0"/>
                <a:ea typeface="Aptos" panose="020B0004020202020204" pitchFamily="34" charset="0"/>
                <a:cs typeface="Times New Roman" panose="02020603050405020304" pitchFamily="18" charset="0"/>
              </a:rPr>
              <a:t>Features of Centralized DBMS:</a:t>
            </a:r>
            <a:endParaRPr lang="en-IN" sz="2000" kern="100" dirty="0">
              <a:solidFill>
                <a:srgbClr val="FF0000"/>
              </a:solidFill>
              <a:effectLst/>
              <a:latin typeface="Aptos" panose="020B0004020202020204" pitchFamily="34" charset="0"/>
              <a:ea typeface="Aptos" panose="020B0004020202020204" pitchFamily="34" charset="0"/>
              <a:cs typeface="Times New Roman" panose="02020603050405020304" pitchFamily="18" charset="0"/>
            </a:endParaRPr>
          </a:p>
          <a:p>
            <a:pPr marL="342900" lvl="0" indent="-342900" algn="just">
              <a:lnSpc>
                <a:spcPct val="115000"/>
              </a:lnSpc>
              <a:spcAft>
                <a:spcPts val="800"/>
              </a:spcAft>
              <a:buSzPts val="1000"/>
              <a:buFont typeface="Symbol" panose="05050102010706020507" pitchFamily="18" charset="2"/>
              <a:buChar char=""/>
              <a:tabLst>
                <a:tab pos="457200" algn="l"/>
              </a:tabLst>
            </a:pPr>
            <a:r>
              <a:rPr lang="en-IN" sz="2000" kern="100" dirty="0">
                <a:solidFill>
                  <a:schemeClr val="tx1"/>
                </a:solidFill>
                <a:effectLst/>
                <a:latin typeface="Aptos" panose="020B0004020202020204" pitchFamily="34" charset="0"/>
                <a:ea typeface="Aptos" panose="020B0004020202020204" pitchFamily="34" charset="0"/>
                <a:cs typeface="Times New Roman" panose="02020603050405020304" pitchFamily="18" charset="0"/>
              </a:rPr>
              <a:t>The central server handles all processing, from query processing to data retrieval.</a:t>
            </a:r>
          </a:p>
          <a:p>
            <a:pPr marL="342900" lvl="0" indent="-342900" algn="just">
              <a:lnSpc>
                <a:spcPct val="115000"/>
              </a:lnSpc>
              <a:spcAft>
                <a:spcPts val="800"/>
              </a:spcAft>
              <a:buSzPts val="1000"/>
              <a:buFont typeface="Symbol" panose="05050102010706020507" pitchFamily="18" charset="2"/>
              <a:buChar char=""/>
              <a:tabLst>
                <a:tab pos="457200" algn="l"/>
              </a:tabLst>
            </a:pPr>
            <a:r>
              <a:rPr lang="en-IN" sz="2000" kern="100" dirty="0">
                <a:solidFill>
                  <a:schemeClr val="tx1"/>
                </a:solidFill>
                <a:effectLst/>
                <a:latin typeface="Aptos" panose="020B0004020202020204" pitchFamily="34" charset="0"/>
                <a:ea typeface="Aptos" panose="020B0004020202020204" pitchFamily="34" charset="0"/>
                <a:cs typeface="Times New Roman" panose="02020603050405020304" pitchFamily="18" charset="0"/>
              </a:rPr>
              <a:t>End-users interact with the database through simple interfaces (e.g., terminals or web-based UIs).</a:t>
            </a:r>
          </a:p>
          <a:p>
            <a:pPr marL="0" indent="0" algn="just">
              <a:lnSpc>
                <a:spcPct val="115000"/>
              </a:lnSpc>
              <a:spcAft>
                <a:spcPts val="800"/>
              </a:spcAft>
              <a:buNone/>
            </a:pPr>
            <a:r>
              <a:rPr lang="en-IN" sz="2000" b="1" kern="100" dirty="0">
                <a:solidFill>
                  <a:srgbClr val="FF0000"/>
                </a:solidFill>
                <a:effectLst/>
                <a:latin typeface="Aptos" panose="020B0004020202020204" pitchFamily="34" charset="0"/>
                <a:ea typeface="Aptos" panose="020B0004020202020204" pitchFamily="34" charset="0"/>
                <a:cs typeface="Times New Roman" panose="02020603050405020304" pitchFamily="18" charset="0"/>
              </a:rPr>
              <a:t>Advantages:</a:t>
            </a:r>
            <a:endParaRPr lang="en-IN" sz="2000" kern="100" dirty="0">
              <a:solidFill>
                <a:srgbClr val="FF0000"/>
              </a:solidFill>
              <a:effectLst/>
              <a:latin typeface="Aptos" panose="020B0004020202020204" pitchFamily="34" charset="0"/>
              <a:ea typeface="Aptos" panose="020B0004020202020204" pitchFamily="34" charset="0"/>
              <a:cs typeface="Times New Roman" panose="02020603050405020304" pitchFamily="18" charset="0"/>
            </a:endParaRPr>
          </a:p>
          <a:p>
            <a:pPr marL="342900" lvl="0" indent="-342900" algn="just">
              <a:lnSpc>
                <a:spcPct val="115000"/>
              </a:lnSpc>
              <a:spcAft>
                <a:spcPts val="800"/>
              </a:spcAft>
              <a:buFont typeface="+mj-lt"/>
              <a:buAutoNum type="arabicPeriod"/>
              <a:tabLst>
                <a:tab pos="457200" algn="l"/>
              </a:tabLst>
            </a:pPr>
            <a:r>
              <a:rPr lang="en-IN" sz="2000" b="1" kern="100" dirty="0">
                <a:solidFill>
                  <a:schemeClr val="tx1"/>
                </a:solidFill>
                <a:effectLst/>
                <a:latin typeface="Aptos" panose="020B0004020202020204" pitchFamily="34" charset="0"/>
                <a:ea typeface="Aptos" panose="020B0004020202020204" pitchFamily="34" charset="0"/>
                <a:cs typeface="Times New Roman" panose="02020603050405020304" pitchFamily="18" charset="0"/>
              </a:rPr>
              <a:t>Simplicity</a:t>
            </a:r>
            <a:r>
              <a:rPr lang="en-IN" sz="2000" kern="100" dirty="0">
                <a:solidFill>
                  <a:schemeClr val="tx1"/>
                </a:solidFill>
                <a:effectLst/>
                <a:latin typeface="Aptos" panose="020B0004020202020204" pitchFamily="34" charset="0"/>
                <a:ea typeface="Aptos" panose="020B0004020202020204" pitchFamily="34" charset="0"/>
                <a:cs typeface="Times New Roman" panose="02020603050405020304" pitchFamily="18" charset="0"/>
              </a:rPr>
              <a:t>: Centralized control ensures consistency, as all data resides in a single location.</a:t>
            </a:r>
          </a:p>
          <a:p>
            <a:pPr marL="342900" lvl="0" indent="-342900" algn="just">
              <a:lnSpc>
                <a:spcPct val="115000"/>
              </a:lnSpc>
              <a:spcAft>
                <a:spcPts val="800"/>
              </a:spcAft>
              <a:buFont typeface="+mj-lt"/>
              <a:buAutoNum type="arabicPeriod"/>
              <a:tabLst>
                <a:tab pos="457200" algn="l"/>
              </a:tabLst>
            </a:pPr>
            <a:r>
              <a:rPr lang="en-IN" sz="2000" b="1" kern="100" dirty="0">
                <a:solidFill>
                  <a:schemeClr val="tx1"/>
                </a:solidFill>
                <a:effectLst/>
                <a:latin typeface="Aptos" panose="020B0004020202020204" pitchFamily="34" charset="0"/>
                <a:ea typeface="Aptos" panose="020B0004020202020204" pitchFamily="34" charset="0"/>
                <a:cs typeface="Times New Roman" panose="02020603050405020304" pitchFamily="18" charset="0"/>
              </a:rPr>
              <a:t>Data Security</a:t>
            </a:r>
            <a:r>
              <a:rPr lang="en-IN" sz="2000" kern="100" dirty="0">
                <a:solidFill>
                  <a:schemeClr val="tx1"/>
                </a:solidFill>
                <a:effectLst/>
                <a:latin typeface="Aptos" panose="020B0004020202020204" pitchFamily="34" charset="0"/>
                <a:ea typeface="Aptos" panose="020B0004020202020204" pitchFamily="34" charset="0"/>
                <a:cs typeface="Times New Roman" panose="02020603050405020304" pitchFamily="18" charset="0"/>
              </a:rPr>
              <a:t>: Only one point of access needs to be secured.</a:t>
            </a:r>
          </a:p>
          <a:p>
            <a:pPr marL="342900" lvl="0" indent="-342900" algn="just">
              <a:lnSpc>
                <a:spcPct val="115000"/>
              </a:lnSpc>
              <a:spcAft>
                <a:spcPts val="800"/>
              </a:spcAft>
              <a:buFont typeface="+mj-lt"/>
              <a:buAutoNum type="arabicPeriod"/>
              <a:tabLst>
                <a:tab pos="457200" algn="l"/>
              </a:tabLst>
            </a:pPr>
            <a:r>
              <a:rPr lang="en-IN" sz="2000" b="1" kern="100" dirty="0">
                <a:solidFill>
                  <a:schemeClr val="tx1"/>
                </a:solidFill>
                <a:effectLst/>
                <a:latin typeface="Aptos" panose="020B0004020202020204" pitchFamily="34" charset="0"/>
                <a:ea typeface="Aptos" panose="020B0004020202020204" pitchFamily="34" charset="0"/>
                <a:cs typeface="Times New Roman" panose="02020603050405020304" pitchFamily="18" charset="0"/>
              </a:rPr>
              <a:t>Ease of Administration</a:t>
            </a:r>
            <a:r>
              <a:rPr lang="en-IN" sz="2000" kern="100" dirty="0">
                <a:solidFill>
                  <a:schemeClr val="tx1"/>
                </a:solidFill>
                <a:effectLst/>
                <a:latin typeface="Aptos" panose="020B0004020202020204" pitchFamily="34" charset="0"/>
                <a:ea typeface="Aptos" panose="020B0004020202020204" pitchFamily="34" charset="0"/>
                <a:cs typeface="Times New Roman" panose="02020603050405020304" pitchFamily="18" charset="0"/>
              </a:rPr>
              <a:t>: Backup, maintenance, and software updates are easier to manage.</a:t>
            </a:r>
          </a:p>
          <a:p>
            <a:pPr marL="457200" algn="just">
              <a:lnSpc>
                <a:spcPct val="115000"/>
              </a:lnSpc>
              <a:spcAft>
                <a:spcPts val="800"/>
              </a:spcAft>
            </a:pPr>
            <a:r>
              <a:rPr lang="en-IN" sz="2000" b="1" kern="100" dirty="0">
                <a:solidFill>
                  <a:schemeClr val="tx1"/>
                </a:solidFill>
                <a:effectLst/>
                <a:latin typeface="Aptos" panose="020B0004020202020204" pitchFamily="34" charset="0"/>
                <a:ea typeface="Aptos" panose="020B0004020202020204" pitchFamily="34" charset="0"/>
                <a:cs typeface="Times New Roman" panose="02020603050405020304" pitchFamily="18" charset="0"/>
              </a:rPr>
              <a:t>4.Data Integrity and Consistency:</a:t>
            </a:r>
            <a:r>
              <a:rPr lang="en-IN" sz="2000" kern="100" dirty="0">
                <a:solidFill>
                  <a:schemeClr val="tx1"/>
                </a:solidFill>
                <a:effectLst/>
                <a:latin typeface="Aptos" panose="020B0004020202020204" pitchFamily="34" charset="0"/>
                <a:ea typeface="Aptos" panose="020B0004020202020204" pitchFamily="34" charset="0"/>
                <a:cs typeface="Times New Roman" panose="02020603050405020304" pitchFamily="18" charset="0"/>
              </a:rPr>
              <a:t> With all data stored in one location, it's easier to maintain data integrity and consistency, as there is a single source of truth.</a:t>
            </a:r>
          </a:p>
          <a:p>
            <a:pPr marL="457200" algn="just">
              <a:lnSpc>
                <a:spcPct val="115000"/>
              </a:lnSpc>
              <a:spcAft>
                <a:spcPts val="800"/>
              </a:spcAft>
            </a:pPr>
            <a:r>
              <a:rPr lang="en-IN" sz="2000" b="1" kern="100" dirty="0">
                <a:solidFill>
                  <a:schemeClr val="tx1"/>
                </a:solidFill>
                <a:effectLst/>
                <a:latin typeface="Aptos" panose="020B0004020202020204" pitchFamily="34" charset="0"/>
                <a:ea typeface="Aptos" panose="020B0004020202020204" pitchFamily="34" charset="0"/>
                <a:cs typeface="Times New Roman" panose="02020603050405020304" pitchFamily="18" charset="0"/>
              </a:rPr>
              <a:t>5.Simplified Management:</a:t>
            </a:r>
            <a:r>
              <a:rPr lang="en-IN" sz="2000" kern="100" dirty="0">
                <a:solidFill>
                  <a:schemeClr val="tx1"/>
                </a:solidFill>
                <a:effectLst/>
                <a:latin typeface="Aptos" panose="020B0004020202020204" pitchFamily="34" charset="0"/>
                <a:ea typeface="Aptos" panose="020B0004020202020204" pitchFamily="34" charset="0"/>
                <a:cs typeface="Times New Roman" panose="02020603050405020304" pitchFamily="18" charset="0"/>
              </a:rPr>
              <a:t> Centralized control simplifies database administration tasks such as backups, updates, and security management.</a:t>
            </a:r>
          </a:p>
        </p:txBody>
      </p:sp>
    </p:spTree>
    <p:extLst>
      <p:ext uri="{BB962C8B-B14F-4D97-AF65-F5344CB8AC3E}">
        <p14:creationId xmlns:p14="http://schemas.microsoft.com/office/powerpoint/2010/main" val="1623716413"/>
      </p:ext>
    </p:extLst>
  </p:cSld>
  <p:clrMapOvr>
    <a:masterClrMapping/>
  </p:clrMapOvr>
</p:sld>
</file>

<file path=ppt/slides/slide14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2220950-4156-1F8C-A107-703B65F69F5C}"/>
            </a:ext>
          </a:extLst>
        </p:cNvPr>
        <p:cNvGrpSpPr/>
        <p:nvPr/>
      </p:nvGrpSpPr>
      <p:grpSpPr>
        <a:xfrm>
          <a:off x="0" y="0"/>
          <a:ext cx="0" cy="0"/>
          <a:chOff x="0" y="0"/>
          <a:chExt cx="0" cy="0"/>
        </a:xfrm>
      </p:grpSpPr>
      <p:sp>
        <p:nvSpPr>
          <p:cNvPr id="2" name="Slide Number Placeholder 1">
            <a:extLst>
              <a:ext uri="{FF2B5EF4-FFF2-40B4-BE49-F238E27FC236}">
                <a16:creationId xmlns:a16="http://schemas.microsoft.com/office/drawing/2014/main" id="{66BB6349-EC10-B92A-9E73-9D160DC280DE}"/>
              </a:ext>
            </a:extLst>
          </p:cNvPr>
          <p:cNvSpPr>
            <a:spLocks noGrp="1"/>
          </p:cNvSpPr>
          <p:nvPr>
            <p:ph type="sldNum" sz="quarter" idx="14"/>
          </p:nvPr>
        </p:nvSpPr>
        <p:spPr/>
        <p:txBody>
          <a:bodyPr/>
          <a:lstStyle/>
          <a:p>
            <a:fld id="{45A3C14A-F937-4231-B6F1-40B429FAFB2F}" type="slidenum">
              <a:rPr lang="en-NZ" smtClean="0"/>
              <a:pPr/>
              <a:t>148</a:t>
            </a:fld>
            <a:endParaRPr lang="en-NZ" dirty="0"/>
          </a:p>
        </p:txBody>
      </p:sp>
      <p:sp>
        <p:nvSpPr>
          <p:cNvPr id="3" name="Title 2">
            <a:extLst>
              <a:ext uri="{FF2B5EF4-FFF2-40B4-BE49-F238E27FC236}">
                <a16:creationId xmlns:a16="http://schemas.microsoft.com/office/drawing/2014/main" id="{AE81C291-C246-184F-C46D-76AB395C308F}"/>
              </a:ext>
            </a:extLst>
          </p:cNvPr>
          <p:cNvSpPr>
            <a:spLocks noGrp="1"/>
          </p:cNvSpPr>
          <p:nvPr>
            <p:ph type="title"/>
          </p:nvPr>
        </p:nvSpPr>
        <p:spPr>
          <a:xfrm>
            <a:off x="695400" y="395786"/>
            <a:ext cx="9001000" cy="838202"/>
          </a:xfrm>
        </p:spPr>
        <p:txBody>
          <a:bodyPr/>
          <a:lstStyle/>
          <a:p>
            <a:r>
              <a:rPr lang="en-IN" b="1" kern="100" dirty="0">
                <a:solidFill>
                  <a:srgbClr val="FF0000"/>
                </a:solidFill>
                <a:effectLst/>
                <a:latin typeface="Aptos" panose="020B0004020202020204" pitchFamily="34" charset="0"/>
                <a:ea typeface="Aptos" panose="020B0004020202020204" pitchFamily="34" charset="0"/>
                <a:cs typeface="Times New Roman" panose="02020603050405020304" pitchFamily="18" charset="0"/>
              </a:rPr>
              <a:t>Centralized</a:t>
            </a:r>
            <a:r>
              <a:rPr lang="en-IN" kern="100" dirty="0">
                <a:solidFill>
                  <a:srgbClr val="FF0000"/>
                </a:solidFill>
                <a:effectLst/>
                <a:latin typeface="Aptos" panose="020B0004020202020204" pitchFamily="34" charset="0"/>
                <a:ea typeface="Aptos" panose="020B0004020202020204" pitchFamily="34" charset="0"/>
                <a:cs typeface="Times New Roman" panose="02020603050405020304" pitchFamily="18" charset="0"/>
              </a:rPr>
              <a:t> and </a:t>
            </a:r>
            <a:r>
              <a:rPr lang="en-IN" b="1" kern="100" dirty="0">
                <a:solidFill>
                  <a:srgbClr val="FF0000"/>
                </a:solidFill>
                <a:effectLst/>
                <a:latin typeface="Aptos" panose="020B0004020202020204" pitchFamily="34" charset="0"/>
                <a:ea typeface="Aptos" panose="020B0004020202020204" pitchFamily="34" charset="0"/>
                <a:cs typeface="Times New Roman" panose="02020603050405020304" pitchFamily="18" charset="0"/>
              </a:rPr>
              <a:t>Client-Server Architectures</a:t>
            </a:r>
            <a:br>
              <a:rPr lang="en-IN" sz="1800" kern="100" dirty="0">
                <a:effectLst/>
                <a:latin typeface="Aptos" panose="020B0004020202020204" pitchFamily="34" charset="0"/>
                <a:ea typeface="Aptos" panose="020B0004020202020204" pitchFamily="34" charset="0"/>
                <a:cs typeface="Times New Roman" panose="02020603050405020304" pitchFamily="18" charset="0"/>
              </a:rPr>
            </a:br>
            <a:br>
              <a:rPr lang="en-US" b="1" dirty="0"/>
            </a:br>
            <a:endParaRPr lang="en-US" b="1" dirty="0"/>
          </a:p>
        </p:txBody>
      </p:sp>
      <p:sp>
        <p:nvSpPr>
          <p:cNvPr id="4" name="Text Placeholder 3">
            <a:extLst>
              <a:ext uri="{FF2B5EF4-FFF2-40B4-BE49-F238E27FC236}">
                <a16:creationId xmlns:a16="http://schemas.microsoft.com/office/drawing/2014/main" id="{A42998D1-0214-ECE7-1AF6-6A589A730A38}"/>
              </a:ext>
            </a:extLst>
          </p:cNvPr>
          <p:cNvSpPr>
            <a:spLocks noGrp="1"/>
          </p:cNvSpPr>
          <p:nvPr>
            <p:ph type="body" sz="quarter" idx="17"/>
          </p:nvPr>
        </p:nvSpPr>
        <p:spPr>
          <a:xfrm>
            <a:off x="532342" y="1236625"/>
            <a:ext cx="10801201" cy="4320480"/>
          </a:xfrm>
        </p:spPr>
        <p:txBody>
          <a:bodyPr/>
          <a:lstStyle/>
          <a:p>
            <a:pPr marL="0" indent="0" algn="just">
              <a:lnSpc>
                <a:spcPct val="115000"/>
              </a:lnSpc>
              <a:spcAft>
                <a:spcPts val="800"/>
              </a:spcAft>
              <a:buNone/>
            </a:pPr>
            <a:r>
              <a:rPr lang="en-IN" b="1" i="1" kern="100" dirty="0">
                <a:solidFill>
                  <a:srgbClr val="FF0000"/>
                </a:solidFill>
                <a:effectLst/>
                <a:latin typeface="Aptos" panose="020B0004020202020204" pitchFamily="34" charset="0"/>
                <a:ea typeface="Aptos" panose="020B0004020202020204" pitchFamily="34" charset="0"/>
                <a:cs typeface="Times New Roman" panose="02020603050405020304" pitchFamily="18" charset="0"/>
              </a:rPr>
              <a:t>Disadvantages:</a:t>
            </a:r>
            <a:endParaRPr lang="en-IN" b="1" kern="100" dirty="0">
              <a:solidFill>
                <a:srgbClr val="FF0000"/>
              </a:solidFill>
              <a:effectLst/>
              <a:latin typeface="Aptos" panose="020B0004020202020204" pitchFamily="34" charset="0"/>
              <a:ea typeface="Aptos" panose="020B0004020202020204" pitchFamily="34" charset="0"/>
              <a:cs typeface="Times New Roman" panose="02020603050405020304" pitchFamily="18" charset="0"/>
            </a:endParaRPr>
          </a:p>
          <a:p>
            <a:pPr marL="342900" lvl="0" indent="-342900" algn="just">
              <a:lnSpc>
                <a:spcPct val="115000"/>
              </a:lnSpc>
              <a:spcAft>
                <a:spcPts val="800"/>
              </a:spcAft>
              <a:buSzPts val="1000"/>
              <a:buFont typeface="Symbol" panose="05050102010706020507" pitchFamily="18" charset="2"/>
              <a:buChar char=""/>
              <a:tabLst>
                <a:tab pos="457200" algn="l"/>
              </a:tabLst>
            </a:pPr>
            <a:r>
              <a:rPr lang="en-IN" b="1" kern="100" dirty="0">
                <a:solidFill>
                  <a:schemeClr val="tx1"/>
                </a:solidFill>
                <a:effectLst/>
                <a:latin typeface="Aptos" panose="020B0004020202020204" pitchFamily="34" charset="0"/>
                <a:ea typeface="Aptos" panose="020B0004020202020204" pitchFamily="34" charset="0"/>
                <a:cs typeface="Times New Roman" panose="02020603050405020304" pitchFamily="18" charset="0"/>
              </a:rPr>
              <a:t>Single Point of Failure:</a:t>
            </a:r>
            <a:r>
              <a:rPr lang="en-IN" kern="100" dirty="0">
                <a:solidFill>
                  <a:schemeClr val="tx1"/>
                </a:solidFill>
                <a:effectLst/>
                <a:latin typeface="Aptos" panose="020B0004020202020204" pitchFamily="34" charset="0"/>
                <a:ea typeface="Aptos" panose="020B0004020202020204" pitchFamily="34" charset="0"/>
                <a:cs typeface="Times New Roman" panose="02020603050405020304" pitchFamily="18" charset="0"/>
              </a:rPr>
              <a:t> The central server represents a single point of failure; if it goes down, all users lose access to the database.</a:t>
            </a:r>
          </a:p>
          <a:p>
            <a:pPr marL="342900" lvl="0" indent="-342900" algn="just">
              <a:lnSpc>
                <a:spcPct val="115000"/>
              </a:lnSpc>
              <a:spcAft>
                <a:spcPts val="800"/>
              </a:spcAft>
              <a:buSzPts val="1000"/>
              <a:buFont typeface="Symbol" panose="05050102010706020507" pitchFamily="18" charset="2"/>
              <a:buChar char=""/>
              <a:tabLst>
                <a:tab pos="457200" algn="l"/>
              </a:tabLst>
            </a:pPr>
            <a:r>
              <a:rPr lang="en-IN" b="1" kern="100" dirty="0">
                <a:solidFill>
                  <a:schemeClr val="tx1"/>
                </a:solidFill>
                <a:effectLst/>
                <a:latin typeface="Aptos" panose="020B0004020202020204" pitchFamily="34" charset="0"/>
                <a:ea typeface="Aptos" panose="020B0004020202020204" pitchFamily="34" charset="0"/>
                <a:cs typeface="Times New Roman" panose="02020603050405020304" pitchFamily="18" charset="0"/>
              </a:rPr>
              <a:t>Scalability Limitations:</a:t>
            </a:r>
            <a:r>
              <a:rPr lang="en-IN" kern="100" dirty="0">
                <a:solidFill>
                  <a:schemeClr val="tx1"/>
                </a:solidFill>
                <a:effectLst/>
                <a:latin typeface="Aptos" panose="020B0004020202020204" pitchFamily="34" charset="0"/>
                <a:ea typeface="Aptos" panose="020B0004020202020204" pitchFamily="34" charset="0"/>
                <a:cs typeface="Times New Roman" panose="02020603050405020304" pitchFamily="18" charset="0"/>
              </a:rPr>
              <a:t> As the number of users grows, the central system may become a bottleneck, leading to performance issues.</a:t>
            </a:r>
          </a:p>
          <a:p>
            <a:pPr marL="0" indent="0" algn="just">
              <a:lnSpc>
                <a:spcPct val="115000"/>
              </a:lnSpc>
              <a:spcAft>
                <a:spcPts val="800"/>
              </a:spcAft>
              <a:buNone/>
            </a:pPr>
            <a:r>
              <a:rPr lang="en-IN" b="1" kern="100" dirty="0">
                <a:solidFill>
                  <a:srgbClr val="FF0000"/>
                </a:solidFill>
                <a:effectLst/>
                <a:latin typeface="Aptos" panose="020B0004020202020204" pitchFamily="34" charset="0"/>
                <a:ea typeface="Aptos" panose="020B0004020202020204" pitchFamily="34" charset="0"/>
                <a:cs typeface="Times New Roman" panose="02020603050405020304" pitchFamily="18" charset="0"/>
              </a:rPr>
              <a:t>Example of Centralized system:</a:t>
            </a:r>
            <a:r>
              <a:rPr lang="en-IN" kern="100" dirty="0">
                <a:solidFill>
                  <a:srgbClr val="FF0000"/>
                </a:solidFill>
                <a:effectLst/>
                <a:latin typeface="Aptos" panose="020B0004020202020204" pitchFamily="34" charset="0"/>
                <a:ea typeface="Aptos" panose="020B0004020202020204" pitchFamily="34" charset="0"/>
                <a:cs typeface="Times New Roman" panose="02020603050405020304" pitchFamily="18" charset="0"/>
              </a:rPr>
              <a:t> </a:t>
            </a:r>
          </a:p>
          <a:p>
            <a:pPr marL="0" indent="0" algn="just">
              <a:lnSpc>
                <a:spcPct val="115000"/>
              </a:lnSpc>
              <a:spcAft>
                <a:spcPts val="800"/>
              </a:spcAft>
              <a:buNone/>
            </a:pPr>
            <a:r>
              <a:rPr lang="en-IN" kern="100" dirty="0">
                <a:solidFill>
                  <a:schemeClr val="tx1"/>
                </a:solidFill>
                <a:effectLst/>
                <a:latin typeface="Aptos" panose="020B0004020202020204" pitchFamily="34" charset="0"/>
                <a:ea typeface="Aptos" panose="020B0004020202020204" pitchFamily="34" charset="0"/>
                <a:cs typeface="Times New Roman" panose="02020603050405020304" pitchFamily="18" charset="0"/>
              </a:rPr>
              <a:t>A university's student records system where all data is stored on a central server, and administrative staff access it through networked terminals.</a:t>
            </a:r>
          </a:p>
        </p:txBody>
      </p:sp>
    </p:spTree>
    <p:extLst>
      <p:ext uri="{BB962C8B-B14F-4D97-AF65-F5344CB8AC3E}">
        <p14:creationId xmlns:p14="http://schemas.microsoft.com/office/powerpoint/2010/main" val="3923728278"/>
      </p:ext>
    </p:extLst>
  </p:cSld>
  <p:clrMapOvr>
    <a:masterClrMapping/>
  </p:clrMapOvr>
</p:sld>
</file>

<file path=ppt/slides/slide14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D760C2C-A9AA-CB6C-3986-20928D42BD81}"/>
            </a:ext>
          </a:extLst>
        </p:cNvPr>
        <p:cNvGrpSpPr/>
        <p:nvPr/>
      </p:nvGrpSpPr>
      <p:grpSpPr>
        <a:xfrm>
          <a:off x="0" y="0"/>
          <a:ext cx="0" cy="0"/>
          <a:chOff x="0" y="0"/>
          <a:chExt cx="0" cy="0"/>
        </a:xfrm>
      </p:grpSpPr>
      <p:sp>
        <p:nvSpPr>
          <p:cNvPr id="2" name="Slide Number Placeholder 1">
            <a:extLst>
              <a:ext uri="{FF2B5EF4-FFF2-40B4-BE49-F238E27FC236}">
                <a16:creationId xmlns:a16="http://schemas.microsoft.com/office/drawing/2014/main" id="{E8F284D8-7AED-8ACD-CB86-FB56259BF628}"/>
              </a:ext>
            </a:extLst>
          </p:cNvPr>
          <p:cNvSpPr>
            <a:spLocks noGrp="1"/>
          </p:cNvSpPr>
          <p:nvPr>
            <p:ph type="sldNum" sz="quarter" idx="14"/>
          </p:nvPr>
        </p:nvSpPr>
        <p:spPr/>
        <p:txBody>
          <a:bodyPr/>
          <a:lstStyle/>
          <a:p>
            <a:fld id="{45A3C14A-F937-4231-B6F1-40B429FAFB2F}" type="slidenum">
              <a:rPr lang="en-NZ" smtClean="0"/>
              <a:pPr/>
              <a:t>149</a:t>
            </a:fld>
            <a:endParaRPr lang="en-NZ" dirty="0"/>
          </a:p>
        </p:txBody>
      </p:sp>
      <p:sp>
        <p:nvSpPr>
          <p:cNvPr id="3" name="Title 2">
            <a:extLst>
              <a:ext uri="{FF2B5EF4-FFF2-40B4-BE49-F238E27FC236}">
                <a16:creationId xmlns:a16="http://schemas.microsoft.com/office/drawing/2014/main" id="{3F14ADE8-FCB0-F5E7-A7FD-539D3A00994C}"/>
              </a:ext>
            </a:extLst>
          </p:cNvPr>
          <p:cNvSpPr>
            <a:spLocks noGrp="1"/>
          </p:cNvSpPr>
          <p:nvPr>
            <p:ph type="title"/>
          </p:nvPr>
        </p:nvSpPr>
        <p:spPr>
          <a:xfrm>
            <a:off x="695400" y="395786"/>
            <a:ext cx="9001000" cy="838202"/>
          </a:xfrm>
        </p:spPr>
        <p:txBody>
          <a:bodyPr/>
          <a:lstStyle/>
          <a:p>
            <a:r>
              <a:rPr lang="en-IN" b="1" kern="100" dirty="0">
                <a:solidFill>
                  <a:srgbClr val="FF0000"/>
                </a:solidFill>
                <a:effectLst/>
                <a:latin typeface="Aptos" panose="020B0004020202020204" pitchFamily="34" charset="0"/>
                <a:ea typeface="Aptos" panose="020B0004020202020204" pitchFamily="34" charset="0"/>
                <a:cs typeface="Times New Roman" panose="02020603050405020304" pitchFamily="18" charset="0"/>
              </a:rPr>
              <a:t>Centralized</a:t>
            </a:r>
            <a:r>
              <a:rPr lang="en-IN" kern="100" dirty="0">
                <a:solidFill>
                  <a:srgbClr val="FF0000"/>
                </a:solidFill>
                <a:effectLst/>
                <a:latin typeface="Aptos" panose="020B0004020202020204" pitchFamily="34" charset="0"/>
                <a:ea typeface="Aptos" panose="020B0004020202020204" pitchFamily="34" charset="0"/>
                <a:cs typeface="Times New Roman" panose="02020603050405020304" pitchFamily="18" charset="0"/>
              </a:rPr>
              <a:t> and </a:t>
            </a:r>
            <a:r>
              <a:rPr lang="en-IN" b="1" kern="100" dirty="0">
                <a:solidFill>
                  <a:srgbClr val="FF0000"/>
                </a:solidFill>
                <a:effectLst/>
                <a:latin typeface="Aptos" panose="020B0004020202020204" pitchFamily="34" charset="0"/>
                <a:ea typeface="Aptos" panose="020B0004020202020204" pitchFamily="34" charset="0"/>
                <a:cs typeface="Times New Roman" panose="02020603050405020304" pitchFamily="18" charset="0"/>
              </a:rPr>
              <a:t>Client-Server Architectures</a:t>
            </a:r>
            <a:br>
              <a:rPr lang="en-IN" sz="1800" kern="100" dirty="0">
                <a:effectLst/>
                <a:latin typeface="Aptos" panose="020B0004020202020204" pitchFamily="34" charset="0"/>
                <a:ea typeface="Aptos" panose="020B0004020202020204" pitchFamily="34" charset="0"/>
                <a:cs typeface="Times New Roman" panose="02020603050405020304" pitchFamily="18" charset="0"/>
              </a:rPr>
            </a:br>
            <a:br>
              <a:rPr lang="en-US" b="1" dirty="0"/>
            </a:br>
            <a:endParaRPr lang="en-US" b="1" dirty="0"/>
          </a:p>
        </p:txBody>
      </p:sp>
      <p:sp>
        <p:nvSpPr>
          <p:cNvPr id="4" name="Text Placeholder 3">
            <a:extLst>
              <a:ext uri="{FF2B5EF4-FFF2-40B4-BE49-F238E27FC236}">
                <a16:creationId xmlns:a16="http://schemas.microsoft.com/office/drawing/2014/main" id="{4D51540F-3A67-914B-EF4F-27C4E3A1A0E8}"/>
              </a:ext>
            </a:extLst>
          </p:cNvPr>
          <p:cNvSpPr>
            <a:spLocks noGrp="1"/>
          </p:cNvSpPr>
          <p:nvPr>
            <p:ph type="body" sz="quarter" idx="17"/>
          </p:nvPr>
        </p:nvSpPr>
        <p:spPr>
          <a:xfrm>
            <a:off x="479376" y="692696"/>
            <a:ext cx="11377264" cy="4320480"/>
          </a:xfrm>
        </p:spPr>
        <p:txBody>
          <a:bodyPr/>
          <a:lstStyle/>
          <a:p>
            <a:pPr marL="0" indent="0" algn="just">
              <a:lnSpc>
                <a:spcPct val="115000"/>
              </a:lnSpc>
              <a:spcAft>
                <a:spcPts val="800"/>
              </a:spcAft>
              <a:buNone/>
            </a:pPr>
            <a:r>
              <a:rPr lang="en-IN" sz="2000" b="1" kern="100" dirty="0">
                <a:solidFill>
                  <a:srgbClr val="FF0000"/>
                </a:solidFill>
                <a:effectLst/>
                <a:latin typeface="Aptos" panose="020B0004020202020204" pitchFamily="34" charset="0"/>
                <a:ea typeface="Aptos" panose="020B0004020202020204" pitchFamily="34" charset="0"/>
                <a:cs typeface="Times New Roman" panose="02020603050405020304" pitchFamily="18" charset="0"/>
              </a:rPr>
              <a:t>Client-Server Architecture:</a:t>
            </a:r>
            <a:endParaRPr lang="en-IN" sz="2000" kern="100" dirty="0">
              <a:solidFill>
                <a:srgbClr val="FF0000"/>
              </a:solidFill>
              <a:effectLst/>
              <a:latin typeface="Aptos" panose="020B0004020202020204" pitchFamily="34" charset="0"/>
              <a:ea typeface="Aptos" panose="020B0004020202020204" pitchFamily="34" charset="0"/>
              <a:cs typeface="Times New Roman" panose="02020603050405020304" pitchFamily="18" charset="0"/>
            </a:endParaRPr>
          </a:p>
          <a:p>
            <a:pPr marL="0" indent="0" algn="just">
              <a:lnSpc>
                <a:spcPct val="115000"/>
              </a:lnSpc>
              <a:spcAft>
                <a:spcPts val="800"/>
              </a:spcAft>
              <a:buNone/>
            </a:pPr>
            <a:r>
              <a:rPr lang="en-IN" sz="2000" kern="100" dirty="0">
                <a:solidFill>
                  <a:schemeClr val="tx1"/>
                </a:solidFill>
                <a:effectLst/>
                <a:latin typeface="Aptos" panose="020B0004020202020204" pitchFamily="34" charset="0"/>
                <a:ea typeface="Aptos" panose="020B0004020202020204" pitchFamily="34" charset="0"/>
                <a:cs typeface="Times New Roman" panose="02020603050405020304" pitchFamily="18" charset="0"/>
              </a:rPr>
              <a:t>In a client-server architecture, the database system is divided into two parts: the client and the server. The server hosts the database and handles data storage and management, while clients are applications or interfaces through which users interact with the database.</a:t>
            </a:r>
          </a:p>
          <a:p>
            <a:pPr marL="0" indent="0" algn="just">
              <a:lnSpc>
                <a:spcPct val="115000"/>
              </a:lnSpc>
              <a:spcAft>
                <a:spcPts val="800"/>
              </a:spcAft>
              <a:buNone/>
            </a:pPr>
            <a:r>
              <a:rPr lang="en-IN" sz="2000" kern="100" dirty="0">
                <a:solidFill>
                  <a:schemeClr val="tx1"/>
                </a:solidFill>
                <a:effectLst/>
                <a:latin typeface="Aptos" panose="020B0004020202020204" pitchFamily="34" charset="0"/>
                <a:ea typeface="Aptos" panose="020B0004020202020204" pitchFamily="34" charset="0"/>
                <a:cs typeface="Times New Roman" panose="02020603050405020304" pitchFamily="18" charset="0"/>
              </a:rPr>
              <a:t>In </a:t>
            </a:r>
            <a:r>
              <a:rPr lang="en-IN" sz="2000" b="1" kern="100" dirty="0">
                <a:solidFill>
                  <a:schemeClr val="tx1"/>
                </a:solidFill>
                <a:effectLst/>
                <a:latin typeface="Aptos" panose="020B0004020202020204" pitchFamily="34" charset="0"/>
                <a:ea typeface="Aptos" panose="020B0004020202020204" pitchFamily="34" charset="0"/>
                <a:cs typeface="Times New Roman" panose="02020603050405020304" pitchFamily="18" charset="0"/>
              </a:rPr>
              <a:t>client-server architecture</a:t>
            </a:r>
            <a:r>
              <a:rPr lang="en-IN" sz="2000" kern="100" dirty="0">
                <a:solidFill>
                  <a:schemeClr val="tx1"/>
                </a:solidFill>
                <a:effectLst/>
                <a:latin typeface="Aptos" panose="020B0004020202020204" pitchFamily="34" charset="0"/>
                <a:ea typeface="Aptos" panose="020B0004020202020204" pitchFamily="34" charset="0"/>
                <a:cs typeface="Times New Roman" panose="02020603050405020304" pitchFamily="18" charset="0"/>
              </a:rPr>
              <a:t>, the database system is divided into two components:</a:t>
            </a:r>
          </a:p>
          <a:p>
            <a:pPr marL="342900" lvl="0" indent="-342900" algn="just">
              <a:lnSpc>
                <a:spcPct val="115000"/>
              </a:lnSpc>
              <a:spcAft>
                <a:spcPts val="800"/>
              </a:spcAft>
              <a:buSzPts val="1000"/>
              <a:buFont typeface="Symbol" panose="05050102010706020507" pitchFamily="18" charset="2"/>
              <a:buChar char=""/>
              <a:tabLst>
                <a:tab pos="457200" algn="l"/>
              </a:tabLst>
            </a:pPr>
            <a:r>
              <a:rPr lang="en-IN" sz="2000" b="1" kern="100" dirty="0">
                <a:solidFill>
                  <a:srgbClr val="FF0000"/>
                </a:solidFill>
                <a:effectLst/>
                <a:latin typeface="Aptos" panose="020B0004020202020204" pitchFamily="34" charset="0"/>
                <a:ea typeface="Aptos" panose="020B0004020202020204" pitchFamily="34" charset="0"/>
                <a:cs typeface="Times New Roman" panose="02020603050405020304" pitchFamily="18" charset="0"/>
              </a:rPr>
              <a:t>Client</a:t>
            </a:r>
            <a:r>
              <a:rPr lang="en-IN" sz="2000" kern="100" dirty="0">
                <a:solidFill>
                  <a:srgbClr val="FF0000"/>
                </a:solidFill>
                <a:effectLst/>
                <a:latin typeface="Aptos" panose="020B0004020202020204" pitchFamily="34" charset="0"/>
                <a:ea typeface="Aptos" panose="020B0004020202020204" pitchFamily="34" charset="0"/>
                <a:cs typeface="Times New Roman" panose="02020603050405020304" pitchFamily="18" charset="0"/>
              </a:rPr>
              <a:t>:</a:t>
            </a:r>
            <a:r>
              <a:rPr lang="en-IN" sz="2000" kern="100" dirty="0">
                <a:solidFill>
                  <a:schemeClr val="tx1"/>
                </a:solidFill>
                <a:effectLst/>
                <a:latin typeface="Aptos" panose="020B0004020202020204" pitchFamily="34" charset="0"/>
                <a:ea typeface="Aptos" panose="020B0004020202020204" pitchFamily="34" charset="0"/>
                <a:cs typeface="Times New Roman" panose="02020603050405020304" pitchFamily="18" charset="0"/>
              </a:rPr>
              <a:t> The front-end application that handles user interaction and some local processing (e.g., a desktop or mobile app).</a:t>
            </a:r>
          </a:p>
          <a:p>
            <a:pPr marL="342900" lvl="0" indent="-342900" algn="just">
              <a:lnSpc>
                <a:spcPct val="115000"/>
              </a:lnSpc>
              <a:spcAft>
                <a:spcPts val="800"/>
              </a:spcAft>
              <a:buSzPts val="1000"/>
              <a:buFont typeface="Symbol" panose="05050102010706020507" pitchFamily="18" charset="2"/>
              <a:buChar char=""/>
              <a:tabLst>
                <a:tab pos="457200" algn="l"/>
              </a:tabLst>
            </a:pPr>
            <a:r>
              <a:rPr lang="en-IN" sz="2000" b="1" kern="100" dirty="0">
                <a:solidFill>
                  <a:srgbClr val="FF0000"/>
                </a:solidFill>
                <a:effectLst/>
                <a:latin typeface="Aptos" panose="020B0004020202020204" pitchFamily="34" charset="0"/>
                <a:ea typeface="Aptos" panose="020B0004020202020204" pitchFamily="34" charset="0"/>
                <a:cs typeface="Times New Roman" panose="02020603050405020304" pitchFamily="18" charset="0"/>
              </a:rPr>
              <a:t>Server</a:t>
            </a:r>
            <a:r>
              <a:rPr lang="en-IN" sz="2000" kern="100" dirty="0">
                <a:solidFill>
                  <a:srgbClr val="FF0000"/>
                </a:solidFill>
                <a:effectLst/>
                <a:latin typeface="Aptos" panose="020B0004020202020204" pitchFamily="34" charset="0"/>
                <a:ea typeface="Aptos" panose="020B0004020202020204" pitchFamily="34" charset="0"/>
                <a:cs typeface="Times New Roman" panose="02020603050405020304" pitchFamily="18" charset="0"/>
              </a:rPr>
              <a:t>:</a:t>
            </a:r>
            <a:r>
              <a:rPr lang="en-IN" sz="2000" kern="100" dirty="0">
                <a:solidFill>
                  <a:schemeClr val="tx1"/>
                </a:solidFill>
                <a:effectLst/>
                <a:latin typeface="Aptos" panose="020B0004020202020204" pitchFamily="34" charset="0"/>
                <a:ea typeface="Aptos" panose="020B0004020202020204" pitchFamily="34" charset="0"/>
                <a:cs typeface="Times New Roman" panose="02020603050405020304" pitchFamily="18" charset="0"/>
              </a:rPr>
              <a:t> The back-end system that stores and manages the database and processes queries from clients.</a:t>
            </a:r>
          </a:p>
          <a:p>
            <a:pPr marL="0" indent="0" algn="just">
              <a:lnSpc>
                <a:spcPct val="115000"/>
              </a:lnSpc>
              <a:spcAft>
                <a:spcPts val="800"/>
              </a:spcAft>
              <a:buNone/>
            </a:pPr>
            <a:r>
              <a:rPr lang="en-IN" sz="2000" b="1" kern="100" dirty="0">
                <a:solidFill>
                  <a:srgbClr val="FF0000"/>
                </a:solidFill>
                <a:effectLst/>
                <a:latin typeface="Aptos" panose="020B0004020202020204" pitchFamily="34" charset="0"/>
                <a:ea typeface="Aptos" panose="020B0004020202020204" pitchFamily="34" charset="0"/>
                <a:cs typeface="Times New Roman" panose="02020603050405020304" pitchFamily="18" charset="0"/>
              </a:rPr>
              <a:t>Features of Client-Server DBMS:</a:t>
            </a:r>
            <a:endParaRPr lang="en-IN" sz="2000" kern="100" dirty="0">
              <a:solidFill>
                <a:srgbClr val="FF0000"/>
              </a:solidFill>
              <a:effectLst/>
              <a:latin typeface="Aptos" panose="020B0004020202020204" pitchFamily="34" charset="0"/>
              <a:ea typeface="Aptos" panose="020B0004020202020204" pitchFamily="34" charset="0"/>
              <a:cs typeface="Times New Roman" panose="02020603050405020304" pitchFamily="18" charset="0"/>
            </a:endParaRPr>
          </a:p>
          <a:p>
            <a:pPr marL="342900" lvl="0" indent="-342900" algn="just">
              <a:lnSpc>
                <a:spcPct val="115000"/>
              </a:lnSpc>
              <a:spcAft>
                <a:spcPts val="800"/>
              </a:spcAft>
              <a:buSzPts val="1000"/>
              <a:buFont typeface="Symbol" panose="05050102010706020507" pitchFamily="18" charset="2"/>
              <a:buChar char=""/>
              <a:tabLst>
                <a:tab pos="457200" algn="l"/>
              </a:tabLst>
            </a:pPr>
            <a:r>
              <a:rPr lang="en-IN" sz="2000" kern="100" dirty="0">
                <a:solidFill>
                  <a:schemeClr val="tx1"/>
                </a:solidFill>
                <a:effectLst/>
                <a:latin typeface="Aptos" panose="020B0004020202020204" pitchFamily="34" charset="0"/>
                <a:ea typeface="Aptos" panose="020B0004020202020204" pitchFamily="34" charset="0"/>
                <a:cs typeface="Times New Roman" panose="02020603050405020304" pitchFamily="18" charset="0"/>
              </a:rPr>
              <a:t>The client submits requests (SQL queries), and the server processes these and sends results back.</a:t>
            </a:r>
          </a:p>
          <a:p>
            <a:pPr marL="342900" lvl="0" indent="-342900" algn="just">
              <a:lnSpc>
                <a:spcPct val="115000"/>
              </a:lnSpc>
              <a:spcAft>
                <a:spcPts val="800"/>
              </a:spcAft>
              <a:buSzPts val="1000"/>
              <a:buFont typeface="Symbol" panose="05050102010706020507" pitchFamily="18" charset="2"/>
              <a:buChar char=""/>
              <a:tabLst>
                <a:tab pos="457200" algn="l"/>
              </a:tabLst>
            </a:pPr>
            <a:r>
              <a:rPr lang="en-IN" sz="2000" kern="100" dirty="0">
                <a:solidFill>
                  <a:schemeClr val="tx1"/>
                </a:solidFill>
                <a:effectLst/>
                <a:latin typeface="Aptos" panose="020B0004020202020204" pitchFamily="34" charset="0"/>
                <a:ea typeface="Aptos" panose="020B0004020202020204" pitchFamily="34" charset="0"/>
                <a:cs typeface="Times New Roman" panose="02020603050405020304" pitchFamily="18" charset="0"/>
              </a:rPr>
              <a:t>It supports distributed computing, where processing can happen on both client and server sides.</a:t>
            </a:r>
          </a:p>
        </p:txBody>
      </p:sp>
    </p:spTree>
    <p:extLst>
      <p:ext uri="{BB962C8B-B14F-4D97-AF65-F5344CB8AC3E}">
        <p14:creationId xmlns:p14="http://schemas.microsoft.com/office/powerpoint/2010/main" val="3078902368"/>
      </p:ext>
    </p:extLst>
  </p:cSld>
  <p:clrMapOvr>
    <a:masterClrMapping/>
  </p:clrMapOvr>
</p:sld>
</file>

<file path=ppt/slides/slide15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37CF7BF-4BEB-E3A2-A0E4-C2759A7758FB}"/>
            </a:ext>
          </a:extLst>
        </p:cNvPr>
        <p:cNvGrpSpPr/>
        <p:nvPr/>
      </p:nvGrpSpPr>
      <p:grpSpPr>
        <a:xfrm>
          <a:off x="0" y="0"/>
          <a:ext cx="0" cy="0"/>
          <a:chOff x="0" y="0"/>
          <a:chExt cx="0" cy="0"/>
        </a:xfrm>
      </p:grpSpPr>
      <p:sp>
        <p:nvSpPr>
          <p:cNvPr id="2" name="Slide Number Placeholder 1">
            <a:extLst>
              <a:ext uri="{FF2B5EF4-FFF2-40B4-BE49-F238E27FC236}">
                <a16:creationId xmlns:a16="http://schemas.microsoft.com/office/drawing/2014/main" id="{8EF348A5-986C-91D4-12BE-2C3E6B3BE48D}"/>
              </a:ext>
            </a:extLst>
          </p:cNvPr>
          <p:cNvSpPr>
            <a:spLocks noGrp="1"/>
          </p:cNvSpPr>
          <p:nvPr>
            <p:ph type="sldNum" sz="quarter" idx="14"/>
          </p:nvPr>
        </p:nvSpPr>
        <p:spPr/>
        <p:txBody>
          <a:bodyPr/>
          <a:lstStyle/>
          <a:p>
            <a:fld id="{45A3C14A-F937-4231-B6F1-40B429FAFB2F}" type="slidenum">
              <a:rPr lang="en-NZ" smtClean="0"/>
              <a:pPr/>
              <a:t>150</a:t>
            </a:fld>
            <a:endParaRPr lang="en-NZ" dirty="0"/>
          </a:p>
        </p:txBody>
      </p:sp>
      <p:sp>
        <p:nvSpPr>
          <p:cNvPr id="3" name="Title 2">
            <a:extLst>
              <a:ext uri="{FF2B5EF4-FFF2-40B4-BE49-F238E27FC236}">
                <a16:creationId xmlns:a16="http://schemas.microsoft.com/office/drawing/2014/main" id="{2D59509A-0D9B-45F5-9F99-D82ED87D18AB}"/>
              </a:ext>
            </a:extLst>
          </p:cNvPr>
          <p:cNvSpPr>
            <a:spLocks noGrp="1"/>
          </p:cNvSpPr>
          <p:nvPr>
            <p:ph type="title"/>
          </p:nvPr>
        </p:nvSpPr>
        <p:spPr>
          <a:xfrm>
            <a:off x="695400" y="395786"/>
            <a:ext cx="9001000" cy="838202"/>
          </a:xfrm>
        </p:spPr>
        <p:txBody>
          <a:bodyPr/>
          <a:lstStyle/>
          <a:p>
            <a:r>
              <a:rPr lang="en-IN" b="1" kern="100" dirty="0">
                <a:solidFill>
                  <a:srgbClr val="FF0000"/>
                </a:solidFill>
                <a:effectLst/>
                <a:latin typeface="Aptos" panose="020B0004020202020204" pitchFamily="34" charset="0"/>
                <a:ea typeface="Aptos" panose="020B0004020202020204" pitchFamily="34" charset="0"/>
                <a:cs typeface="Times New Roman" panose="02020603050405020304" pitchFamily="18" charset="0"/>
              </a:rPr>
              <a:t>Centralized</a:t>
            </a:r>
            <a:r>
              <a:rPr lang="en-IN" kern="100" dirty="0">
                <a:solidFill>
                  <a:srgbClr val="FF0000"/>
                </a:solidFill>
                <a:effectLst/>
                <a:latin typeface="Aptos" panose="020B0004020202020204" pitchFamily="34" charset="0"/>
                <a:ea typeface="Aptos" panose="020B0004020202020204" pitchFamily="34" charset="0"/>
                <a:cs typeface="Times New Roman" panose="02020603050405020304" pitchFamily="18" charset="0"/>
              </a:rPr>
              <a:t> and </a:t>
            </a:r>
            <a:r>
              <a:rPr lang="en-IN" b="1" kern="100" dirty="0">
                <a:solidFill>
                  <a:srgbClr val="FF0000"/>
                </a:solidFill>
                <a:effectLst/>
                <a:latin typeface="Aptos" panose="020B0004020202020204" pitchFamily="34" charset="0"/>
                <a:ea typeface="Aptos" panose="020B0004020202020204" pitchFamily="34" charset="0"/>
                <a:cs typeface="Times New Roman" panose="02020603050405020304" pitchFamily="18" charset="0"/>
              </a:rPr>
              <a:t>Client-Server Architectures</a:t>
            </a:r>
            <a:br>
              <a:rPr lang="en-IN" sz="1800" kern="100" dirty="0">
                <a:effectLst/>
                <a:latin typeface="Aptos" panose="020B0004020202020204" pitchFamily="34" charset="0"/>
                <a:ea typeface="Aptos" panose="020B0004020202020204" pitchFamily="34" charset="0"/>
                <a:cs typeface="Times New Roman" panose="02020603050405020304" pitchFamily="18" charset="0"/>
              </a:rPr>
            </a:br>
            <a:br>
              <a:rPr lang="en-US" b="1" dirty="0"/>
            </a:br>
            <a:endParaRPr lang="en-US" b="1" dirty="0"/>
          </a:p>
        </p:txBody>
      </p:sp>
      <p:sp>
        <p:nvSpPr>
          <p:cNvPr id="4" name="Text Placeholder 3">
            <a:extLst>
              <a:ext uri="{FF2B5EF4-FFF2-40B4-BE49-F238E27FC236}">
                <a16:creationId xmlns:a16="http://schemas.microsoft.com/office/drawing/2014/main" id="{5EBBDCDE-881E-8CA4-FD3C-B371CDEFE9C1}"/>
              </a:ext>
            </a:extLst>
          </p:cNvPr>
          <p:cNvSpPr>
            <a:spLocks noGrp="1"/>
          </p:cNvSpPr>
          <p:nvPr>
            <p:ph type="body" sz="quarter" idx="17"/>
          </p:nvPr>
        </p:nvSpPr>
        <p:spPr>
          <a:xfrm>
            <a:off x="530339" y="764704"/>
            <a:ext cx="11433061" cy="4320480"/>
          </a:xfrm>
        </p:spPr>
        <p:txBody>
          <a:bodyPr/>
          <a:lstStyle/>
          <a:p>
            <a:pPr marL="0" indent="0" algn="just">
              <a:lnSpc>
                <a:spcPct val="115000"/>
              </a:lnSpc>
              <a:spcAft>
                <a:spcPts val="800"/>
              </a:spcAft>
              <a:buNone/>
            </a:pPr>
            <a:r>
              <a:rPr lang="en-IN" sz="2000" b="1" i="1" kern="100" dirty="0">
                <a:solidFill>
                  <a:srgbClr val="FF0000"/>
                </a:solidFill>
                <a:effectLst/>
                <a:latin typeface="Aptos" panose="020B0004020202020204" pitchFamily="34" charset="0"/>
                <a:ea typeface="Aptos" panose="020B0004020202020204" pitchFamily="34" charset="0"/>
                <a:cs typeface="Times New Roman" panose="02020603050405020304" pitchFamily="18" charset="0"/>
              </a:rPr>
              <a:t>Advantages:</a:t>
            </a:r>
            <a:endParaRPr lang="en-IN" sz="2000" b="1" kern="100" dirty="0">
              <a:solidFill>
                <a:srgbClr val="FF0000"/>
              </a:solidFill>
              <a:effectLst/>
              <a:latin typeface="Aptos" panose="020B0004020202020204" pitchFamily="34" charset="0"/>
              <a:ea typeface="Aptos" panose="020B0004020202020204" pitchFamily="34" charset="0"/>
              <a:cs typeface="Times New Roman" panose="02020603050405020304" pitchFamily="18" charset="0"/>
            </a:endParaRPr>
          </a:p>
          <a:p>
            <a:pPr marL="342900" lvl="0" indent="-342900" algn="just">
              <a:lnSpc>
                <a:spcPct val="115000"/>
              </a:lnSpc>
              <a:spcAft>
                <a:spcPts val="800"/>
              </a:spcAft>
              <a:buSzPts val="1000"/>
              <a:buFont typeface="Symbol" panose="05050102010706020507" pitchFamily="18" charset="2"/>
              <a:buChar char=""/>
              <a:tabLst>
                <a:tab pos="457200" algn="l"/>
              </a:tabLst>
            </a:pPr>
            <a:r>
              <a:rPr lang="en-IN" sz="2000" b="1" kern="100" dirty="0">
                <a:solidFill>
                  <a:schemeClr val="tx1"/>
                </a:solidFill>
                <a:effectLst/>
                <a:latin typeface="Aptos" panose="020B0004020202020204" pitchFamily="34" charset="0"/>
                <a:ea typeface="Aptos" panose="020B0004020202020204" pitchFamily="34" charset="0"/>
                <a:cs typeface="Times New Roman" panose="02020603050405020304" pitchFamily="18" charset="0"/>
              </a:rPr>
              <a:t>Improved Performance:</a:t>
            </a:r>
            <a:r>
              <a:rPr lang="en-IN" sz="2000" kern="100" dirty="0">
                <a:solidFill>
                  <a:schemeClr val="tx1"/>
                </a:solidFill>
                <a:effectLst/>
                <a:latin typeface="Aptos" panose="020B0004020202020204" pitchFamily="34" charset="0"/>
                <a:ea typeface="Aptos" panose="020B0004020202020204" pitchFamily="34" charset="0"/>
                <a:cs typeface="Times New Roman" panose="02020603050405020304" pitchFamily="18" charset="0"/>
              </a:rPr>
              <a:t> Clients can perform some processing tasks locally, reducing the load on the server and improving overall system performance.</a:t>
            </a:r>
          </a:p>
          <a:p>
            <a:pPr marL="342900" lvl="0" indent="-342900" algn="just">
              <a:lnSpc>
                <a:spcPct val="115000"/>
              </a:lnSpc>
              <a:spcAft>
                <a:spcPts val="800"/>
              </a:spcAft>
              <a:buSzPts val="1000"/>
              <a:buFont typeface="Symbol" panose="05050102010706020507" pitchFamily="18" charset="2"/>
              <a:buChar char=""/>
              <a:tabLst>
                <a:tab pos="457200" algn="l"/>
              </a:tabLst>
            </a:pPr>
            <a:r>
              <a:rPr lang="en-IN" sz="2000" b="1" kern="100" dirty="0">
                <a:solidFill>
                  <a:schemeClr val="tx1"/>
                </a:solidFill>
                <a:effectLst/>
                <a:latin typeface="Aptos" panose="020B0004020202020204" pitchFamily="34" charset="0"/>
                <a:ea typeface="Aptos" panose="020B0004020202020204" pitchFamily="34" charset="0"/>
                <a:cs typeface="Times New Roman" panose="02020603050405020304" pitchFamily="18" charset="0"/>
              </a:rPr>
              <a:t>Scalability:</a:t>
            </a:r>
            <a:r>
              <a:rPr lang="en-IN" sz="2000" kern="100" dirty="0">
                <a:solidFill>
                  <a:schemeClr val="tx1"/>
                </a:solidFill>
                <a:effectLst/>
                <a:latin typeface="Aptos" panose="020B0004020202020204" pitchFamily="34" charset="0"/>
                <a:ea typeface="Aptos" panose="020B0004020202020204" pitchFamily="34" charset="0"/>
                <a:cs typeface="Times New Roman" panose="02020603050405020304" pitchFamily="18" charset="0"/>
              </a:rPr>
              <a:t> It's easier to add more clients to the system without significantly affecting the server's performance.</a:t>
            </a:r>
          </a:p>
          <a:p>
            <a:pPr marL="0" indent="0" algn="just">
              <a:lnSpc>
                <a:spcPct val="115000"/>
              </a:lnSpc>
              <a:spcAft>
                <a:spcPts val="800"/>
              </a:spcAft>
              <a:buNone/>
            </a:pPr>
            <a:r>
              <a:rPr lang="en-IN" sz="2000" b="1" i="1" kern="100" dirty="0">
                <a:solidFill>
                  <a:srgbClr val="FF0000"/>
                </a:solidFill>
                <a:effectLst/>
                <a:latin typeface="Aptos" panose="020B0004020202020204" pitchFamily="34" charset="0"/>
                <a:ea typeface="Aptos" panose="020B0004020202020204" pitchFamily="34" charset="0"/>
                <a:cs typeface="Times New Roman" panose="02020603050405020304" pitchFamily="18" charset="0"/>
              </a:rPr>
              <a:t>Disadvantages:</a:t>
            </a:r>
            <a:endParaRPr lang="en-IN" sz="2000" b="1" kern="100" dirty="0">
              <a:solidFill>
                <a:srgbClr val="FF0000"/>
              </a:solidFill>
              <a:effectLst/>
              <a:latin typeface="Aptos" panose="020B0004020202020204" pitchFamily="34" charset="0"/>
              <a:ea typeface="Aptos" panose="020B0004020202020204" pitchFamily="34" charset="0"/>
              <a:cs typeface="Times New Roman" panose="02020603050405020304" pitchFamily="18" charset="0"/>
            </a:endParaRPr>
          </a:p>
          <a:p>
            <a:pPr marL="342900" lvl="0" indent="-342900" algn="just">
              <a:lnSpc>
                <a:spcPct val="115000"/>
              </a:lnSpc>
              <a:spcAft>
                <a:spcPts val="800"/>
              </a:spcAft>
              <a:buSzPts val="1000"/>
              <a:buFont typeface="Symbol" panose="05050102010706020507" pitchFamily="18" charset="2"/>
              <a:buChar char=""/>
              <a:tabLst>
                <a:tab pos="457200" algn="l"/>
              </a:tabLst>
            </a:pPr>
            <a:r>
              <a:rPr lang="en-IN" sz="2000" b="1" kern="100" dirty="0">
                <a:solidFill>
                  <a:schemeClr val="tx1"/>
                </a:solidFill>
                <a:effectLst/>
                <a:latin typeface="Aptos" panose="020B0004020202020204" pitchFamily="34" charset="0"/>
                <a:ea typeface="Aptos" panose="020B0004020202020204" pitchFamily="34" charset="0"/>
                <a:cs typeface="Times New Roman" panose="02020603050405020304" pitchFamily="18" charset="0"/>
              </a:rPr>
              <a:t>Complexity:</a:t>
            </a:r>
            <a:r>
              <a:rPr lang="en-IN" sz="2000" kern="100" dirty="0">
                <a:solidFill>
                  <a:schemeClr val="tx1"/>
                </a:solidFill>
                <a:effectLst/>
                <a:latin typeface="Aptos" panose="020B0004020202020204" pitchFamily="34" charset="0"/>
                <a:ea typeface="Aptos" panose="020B0004020202020204" pitchFamily="34" charset="0"/>
                <a:cs typeface="Times New Roman" panose="02020603050405020304" pitchFamily="18" charset="0"/>
              </a:rPr>
              <a:t> The system is more complex to design and maintain due to the need for effective communication between clients and the server.</a:t>
            </a:r>
          </a:p>
          <a:p>
            <a:pPr marL="342900" lvl="0" indent="-342900" algn="just">
              <a:lnSpc>
                <a:spcPct val="115000"/>
              </a:lnSpc>
              <a:spcAft>
                <a:spcPts val="800"/>
              </a:spcAft>
              <a:buSzPts val="1000"/>
              <a:buFont typeface="Symbol" panose="05050102010706020507" pitchFamily="18" charset="2"/>
              <a:buChar char=""/>
              <a:tabLst>
                <a:tab pos="457200" algn="l"/>
              </a:tabLst>
            </a:pPr>
            <a:r>
              <a:rPr lang="en-IN" sz="2000" b="1" kern="100" dirty="0">
                <a:solidFill>
                  <a:schemeClr val="tx1"/>
                </a:solidFill>
                <a:effectLst/>
                <a:latin typeface="Aptos" panose="020B0004020202020204" pitchFamily="34" charset="0"/>
                <a:ea typeface="Aptos" panose="020B0004020202020204" pitchFamily="34" charset="0"/>
                <a:cs typeface="Times New Roman" panose="02020603050405020304" pitchFamily="18" charset="0"/>
              </a:rPr>
              <a:t>Network Dependency:</a:t>
            </a:r>
            <a:r>
              <a:rPr lang="en-IN" sz="2000" kern="100" dirty="0">
                <a:solidFill>
                  <a:schemeClr val="tx1"/>
                </a:solidFill>
                <a:effectLst/>
                <a:latin typeface="Aptos" panose="020B0004020202020204" pitchFamily="34" charset="0"/>
                <a:ea typeface="Aptos" panose="020B0004020202020204" pitchFamily="34" charset="0"/>
                <a:cs typeface="Times New Roman" panose="02020603050405020304" pitchFamily="18" charset="0"/>
              </a:rPr>
              <a:t> The performance of the system heavily depends on the reliability and speed of the network connecting clients and the server.</a:t>
            </a:r>
          </a:p>
          <a:p>
            <a:pPr marL="0" indent="0" algn="just">
              <a:lnSpc>
                <a:spcPct val="115000"/>
              </a:lnSpc>
              <a:spcAft>
                <a:spcPts val="800"/>
              </a:spcAft>
              <a:buNone/>
            </a:pPr>
            <a:r>
              <a:rPr lang="en-IN" sz="2000" b="1" kern="100" dirty="0">
                <a:solidFill>
                  <a:srgbClr val="FF0000"/>
                </a:solidFill>
                <a:effectLst/>
                <a:latin typeface="Aptos" panose="020B0004020202020204" pitchFamily="34" charset="0"/>
                <a:ea typeface="Aptos" panose="020B0004020202020204" pitchFamily="34" charset="0"/>
                <a:cs typeface="Times New Roman" panose="02020603050405020304" pitchFamily="18" charset="0"/>
              </a:rPr>
              <a:t>Example of client server architecture:</a:t>
            </a:r>
            <a:r>
              <a:rPr lang="en-IN" sz="2000" kern="100" dirty="0">
                <a:solidFill>
                  <a:srgbClr val="FF0000"/>
                </a:solidFill>
                <a:effectLst/>
                <a:latin typeface="Aptos" panose="020B0004020202020204" pitchFamily="34" charset="0"/>
                <a:ea typeface="Aptos" panose="020B0004020202020204" pitchFamily="34" charset="0"/>
                <a:cs typeface="Times New Roman" panose="02020603050405020304" pitchFamily="18" charset="0"/>
              </a:rPr>
              <a:t> </a:t>
            </a:r>
            <a:r>
              <a:rPr lang="en-IN" sz="2000" kern="100" dirty="0">
                <a:solidFill>
                  <a:schemeClr val="tx1"/>
                </a:solidFill>
                <a:effectLst/>
                <a:latin typeface="Aptos" panose="020B0004020202020204" pitchFamily="34" charset="0"/>
                <a:ea typeface="Aptos" panose="020B0004020202020204" pitchFamily="34" charset="0"/>
                <a:cs typeface="Times New Roman" panose="02020603050405020304" pitchFamily="18" charset="0"/>
              </a:rPr>
              <a:t>An online banking system where the central database server manages account information, and customers access their accounts through client applications on their computers or mobile devices.</a:t>
            </a:r>
          </a:p>
        </p:txBody>
      </p:sp>
    </p:spTree>
    <p:extLst>
      <p:ext uri="{BB962C8B-B14F-4D97-AF65-F5344CB8AC3E}">
        <p14:creationId xmlns:p14="http://schemas.microsoft.com/office/powerpoint/2010/main" val="1569290363"/>
      </p:ext>
    </p:extLst>
  </p:cSld>
  <p:clrMapOvr>
    <a:masterClrMapping/>
  </p:clrMapOvr>
</p:sld>
</file>

<file path=ppt/slides/slide15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E749B57-9D34-3EAE-338C-D11D53BF8190}"/>
            </a:ext>
          </a:extLst>
        </p:cNvPr>
        <p:cNvGrpSpPr/>
        <p:nvPr/>
      </p:nvGrpSpPr>
      <p:grpSpPr>
        <a:xfrm>
          <a:off x="0" y="0"/>
          <a:ext cx="0" cy="0"/>
          <a:chOff x="0" y="0"/>
          <a:chExt cx="0" cy="0"/>
        </a:xfrm>
      </p:grpSpPr>
      <p:sp>
        <p:nvSpPr>
          <p:cNvPr id="2" name="Slide Number Placeholder 1">
            <a:extLst>
              <a:ext uri="{FF2B5EF4-FFF2-40B4-BE49-F238E27FC236}">
                <a16:creationId xmlns:a16="http://schemas.microsoft.com/office/drawing/2014/main" id="{7C34F9C5-D865-372A-6D78-640595470AB8}"/>
              </a:ext>
            </a:extLst>
          </p:cNvPr>
          <p:cNvSpPr>
            <a:spLocks noGrp="1"/>
          </p:cNvSpPr>
          <p:nvPr>
            <p:ph type="sldNum" sz="quarter" idx="14"/>
          </p:nvPr>
        </p:nvSpPr>
        <p:spPr/>
        <p:txBody>
          <a:bodyPr/>
          <a:lstStyle/>
          <a:p>
            <a:fld id="{45A3C14A-F937-4231-B6F1-40B429FAFB2F}" type="slidenum">
              <a:rPr lang="en-NZ" smtClean="0"/>
              <a:pPr/>
              <a:t>151</a:t>
            </a:fld>
            <a:endParaRPr lang="en-NZ" dirty="0"/>
          </a:p>
        </p:txBody>
      </p:sp>
      <p:sp>
        <p:nvSpPr>
          <p:cNvPr id="3" name="Title 2">
            <a:extLst>
              <a:ext uri="{FF2B5EF4-FFF2-40B4-BE49-F238E27FC236}">
                <a16:creationId xmlns:a16="http://schemas.microsoft.com/office/drawing/2014/main" id="{269C6E25-928D-931A-274A-FE46781B970B}"/>
              </a:ext>
            </a:extLst>
          </p:cNvPr>
          <p:cNvSpPr>
            <a:spLocks noGrp="1"/>
          </p:cNvSpPr>
          <p:nvPr>
            <p:ph type="title"/>
          </p:nvPr>
        </p:nvSpPr>
        <p:spPr>
          <a:xfrm>
            <a:off x="695400" y="395786"/>
            <a:ext cx="6696744" cy="838202"/>
          </a:xfrm>
        </p:spPr>
        <p:txBody>
          <a:bodyPr/>
          <a:lstStyle/>
          <a:p>
            <a:r>
              <a:rPr lang="en-US" b="1" dirty="0">
                <a:solidFill>
                  <a:srgbClr val="FF0000"/>
                </a:solidFill>
              </a:rPr>
              <a:t>Classification of DBMS</a:t>
            </a:r>
            <a:br>
              <a:rPr lang="en-US" b="1" dirty="0"/>
            </a:br>
            <a:br>
              <a:rPr lang="en-US" b="1" dirty="0"/>
            </a:br>
            <a:endParaRPr lang="en-US" b="1" dirty="0"/>
          </a:p>
        </p:txBody>
      </p:sp>
      <p:sp>
        <p:nvSpPr>
          <p:cNvPr id="4" name="Text Placeholder 3">
            <a:extLst>
              <a:ext uri="{FF2B5EF4-FFF2-40B4-BE49-F238E27FC236}">
                <a16:creationId xmlns:a16="http://schemas.microsoft.com/office/drawing/2014/main" id="{897DB6DB-1C24-A6D0-D73A-CA75F191A60B}"/>
              </a:ext>
            </a:extLst>
          </p:cNvPr>
          <p:cNvSpPr>
            <a:spLocks noGrp="1"/>
          </p:cNvSpPr>
          <p:nvPr>
            <p:ph type="body" sz="quarter" idx="17"/>
          </p:nvPr>
        </p:nvSpPr>
        <p:spPr>
          <a:xfrm>
            <a:off x="479376" y="838384"/>
            <a:ext cx="10801201" cy="4320480"/>
          </a:xfrm>
        </p:spPr>
        <p:txBody>
          <a:bodyPr/>
          <a:lstStyle/>
          <a:p>
            <a:pPr marL="0" indent="0" algn="just">
              <a:buNone/>
            </a:pPr>
            <a:r>
              <a:rPr lang="en-US" dirty="0">
                <a:solidFill>
                  <a:schemeClr val="tx1"/>
                </a:solidFill>
              </a:rPr>
              <a:t>A Database Management System (DBMS) is software used to store, retrieve, and manage data in databases. DBMS can be classified based on several factors such as the type of data it handles, the architecture it follows, or the model it supports.</a:t>
            </a:r>
          </a:p>
          <a:p>
            <a:pPr marL="0" indent="0" algn="just">
              <a:buNone/>
            </a:pPr>
            <a:r>
              <a:rPr lang="en-US" dirty="0">
                <a:solidFill>
                  <a:srgbClr val="FF0000"/>
                </a:solidFill>
              </a:rPr>
              <a:t>DBMS may be classified into various ways.</a:t>
            </a:r>
          </a:p>
          <a:p>
            <a:pPr algn="just"/>
            <a:r>
              <a:rPr lang="en-IN" dirty="0">
                <a:solidFill>
                  <a:schemeClr val="tx1"/>
                </a:solidFill>
              </a:rPr>
              <a:t>Classification Based on Data Model</a:t>
            </a:r>
            <a:endParaRPr lang="en-US" dirty="0">
              <a:solidFill>
                <a:schemeClr val="tx1"/>
              </a:solidFill>
            </a:endParaRPr>
          </a:p>
          <a:p>
            <a:pPr marL="0" indent="0" algn="just">
              <a:buNone/>
            </a:pPr>
            <a:r>
              <a:rPr lang="en-IN" dirty="0">
                <a:solidFill>
                  <a:schemeClr val="tx1"/>
                </a:solidFill>
              </a:rPr>
              <a:t>2. Classification Based on Database Distribution</a:t>
            </a:r>
          </a:p>
          <a:p>
            <a:pPr marL="0" indent="0" algn="just">
              <a:buNone/>
            </a:pPr>
            <a:r>
              <a:rPr lang="en-US" dirty="0">
                <a:solidFill>
                  <a:schemeClr val="tx1"/>
                </a:solidFill>
              </a:rPr>
              <a:t>3. Classification Based on User Count</a:t>
            </a:r>
            <a:endParaRPr lang="en-IN" dirty="0">
              <a:solidFill>
                <a:schemeClr val="tx1"/>
              </a:solidFill>
            </a:endParaRPr>
          </a:p>
          <a:p>
            <a:pPr marL="0" indent="0" algn="just">
              <a:buNone/>
            </a:pPr>
            <a:r>
              <a:rPr lang="en-IN" dirty="0">
                <a:solidFill>
                  <a:schemeClr val="tx1"/>
                </a:solidFill>
              </a:rPr>
              <a:t>4. Classification Based on Usage</a:t>
            </a:r>
          </a:p>
          <a:p>
            <a:pPr marL="0" indent="0" algn="just">
              <a:buNone/>
            </a:pPr>
            <a:r>
              <a:rPr lang="en-US" dirty="0">
                <a:solidFill>
                  <a:schemeClr val="tx1"/>
                </a:solidFill>
              </a:rPr>
              <a:t>5. Classification Based on Access</a:t>
            </a:r>
          </a:p>
        </p:txBody>
      </p:sp>
    </p:spTree>
    <p:extLst>
      <p:ext uri="{BB962C8B-B14F-4D97-AF65-F5344CB8AC3E}">
        <p14:creationId xmlns:p14="http://schemas.microsoft.com/office/powerpoint/2010/main" val="174166408"/>
      </p:ext>
    </p:extLst>
  </p:cSld>
  <p:clrMapOvr>
    <a:masterClrMapping/>
  </p:clrMapOvr>
</p:sld>
</file>

<file path=ppt/slides/slide15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9588351-A5C9-418C-2FEC-1AF9CF873107}"/>
            </a:ext>
          </a:extLst>
        </p:cNvPr>
        <p:cNvGrpSpPr/>
        <p:nvPr/>
      </p:nvGrpSpPr>
      <p:grpSpPr>
        <a:xfrm>
          <a:off x="0" y="0"/>
          <a:ext cx="0" cy="0"/>
          <a:chOff x="0" y="0"/>
          <a:chExt cx="0" cy="0"/>
        </a:xfrm>
      </p:grpSpPr>
      <p:sp>
        <p:nvSpPr>
          <p:cNvPr id="2" name="Slide Number Placeholder 1">
            <a:extLst>
              <a:ext uri="{FF2B5EF4-FFF2-40B4-BE49-F238E27FC236}">
                <a16:creationId xmlns:a16="http://schemas.microsoft.com/office/drawing/2014/main" id="{73B5E7FB-EB3B-45D7-EF6D-E32118E3CECB}"/>
              </a:ext>
            </a:extLst>
          </p:cNvPr>
          <p:cNvSpPr>
            <a:spLocks noGrp="1"/>
          </p:cNvSpPr>
          <p:nvPr>
            <p:ph type="sldNum" sz="quarter" idx="14"/>
          </p:nvPr>
        </p:nvSpPr>
        <p:spPr/>
        <p:txBody>
          <a:bodyPr/>
          <a:lstStyle/>
          <a:p>
            <a:fld id="{45A3C14A-F937-4231-B6F1-40B429FAFB2F}" type="slidenum">
              <a:rPr lang="en-NZ" smtClean="0"/>
              <a:pPr/>
              <a:t>152</a:t>
            </a:fld>
            <a:endParaRPr lang="en-NZ" dirty="0"/>
          </a:p>
        </p:txBody>
      </p:sp>
      <p:sp>
        <p:nvSpPr>
          <p:cNvPr id="3" name="Title 2">
            <a:extLst>
              <a:ext uri="{FF2B5EF4-FFF2-40B4-BE49-F238E27FC236}">
                <a16:creationId xmlns:a16="http://schemas.microsoft.com/office/drawing/2014/main" id="{C1D761BF-EF01-A445-F47E-1DFE076FBD06}"/>
              </a:ext>
            </a:extLst>
          </p:cNvPr>
          <p:cNvSpPr>
            <a:spLocks noGrp="1"/>
          </p:cNvSpPr>
          <p:nvPr>
            <p:ph type="title"/>
          </p:nvPr>
        </p:nvSpPr>
        <p:spPr>
          <a:xfrm>
            <a:off x="695400" y="395786"/>
            <a:ext cx="6696744" cy="838202"/>
          </a:xfrm>
        </p:spPr>
        <p:txBody>
          <a:bodyPr/>
          <a:lstStyle/>
          <a:p>
            <a:r>
              <a:rPr lang="en-US" b="1" dirty="0">
                <a:solidFill>
                  <a:srgbClr val="FF0000"/>
                </a:solidFill>
              </a:rPr>
              <a:t>Classification of DBMS</a:t>
            </a:r>
            <a:br>
              <a:rPr lang="en-US" b="1" dirty="0"/>
            </a:br>
            <a:br>
              <a:rPr lang="en-US" b="1" dirty="0"/>
            </a:br>
            <a:endParaRPr lang="en-US" b="1" dirty="0"/>
          </a:p>
        </p:txBody>
      </p:sp>
      <p:sp>
        <p:nvSpPr>
          <p:cNvPr id="4" name="Text Placeholder 3">
            <a:extLst>
              <a:ext uri="{FF2B5EF4-FFF2-40B4-BE49-F238E27FC236}">
                <a16:creationId xmlns:a16="http://schemas.microsoft.com/office/drawing/2014/main" id="{A05BE70A-F5D2-F88C-ADEE-F7563340F606}"/>
              </a:ext>
            </a:extLst>
          </p:cNvPr>
          <p:cNvSpPr>
            <a:spLocks noGrp="1"/>
          </p:cNvSpPr>
          <p:nvPr>
            <p:ph type="body" sz="quarter" idx="17"/>
          </p:nvPr>
        </p:nvSpPr>
        <p:spPr>
          <a:xfrm>
            <a:off x="479376" y="692696"/>
            <a:ext cx="11324298" cy="4320480"/>
          </a:xfrm>
        </p:spPr>
        <p:txBody>
          <a:bodyPr/>
          <a:lstStyle/>
          <a:p>
            <a:pPr marL="0" indent="0" algn="just">
              <a:buNone/>
            </a:pPr>
            <a:r>
              <a:rPr lang="en-US" b="1" dirty="0">
                <a:solidFill>
                  <a:srgbClr val="FF0000"/>
                </a:solidFill>
              </a:rPr>
              <a:t>1. Classification Based on Data Model</a:t>
            </a:r>
          </a:p>
          <a:p>
            <a:pPr marL="0" indent="0" algn="just">
              <a:buNone/>
            </a:pPr>
            <a:r>
              <a:rPr lang="en-US" dirty="0">
                <a:solidFill>
                  <a:schemeClr val="tx1"/>
                </a:solidFill>
              </a:rPr>
              <a:t>The data model defines how data is organized, stored, and manipulated. The major types of DBMS based on data models are:</a:t>
            </a:r>
          </a:p>
          <a:p>
            <a:pPr marL="0" indent="0" algn="just">
              <a:buNone/>
            </a:pPr>
            <a:r>
              <a:rPr lang="en-US" b="1" dirty="0">
                <a:solidFill>
                  <a:srgbClr val="FF0000"/>
                </a:solidFill>
              </a:rPr>
              <a:t>a. Hierarchical DBMS</a:t>
            </a:r>
          </a:p>
          <a:p>
            <a:pPr algn="just">
              <a:buFont typeface="Arial" panose="020B0604020202020204" pitchFamily="34" charset="0"/>
              <a:buChar char="•"/>
            </a:pPr>
            <a:r>
              <a:rPr lang="en-US" dirty="0">
                <a:solidFill>
                  <a:schemeClr val="tx1"/>
                </a:solidFill>
              </a:rPr>
              <a:t>In a hierarchical DBMS, data is organized in a tree-like structure where a parent node can have multiple child nodes, but a child node will have only one parent. Relationships are represented as one-to-many.</a:t>
            </a:r>
          </a:p>
          <a:p>
            <a:pPr algn="just">
              <a:buFont typeface="Arial" panose="020B0604020202020204" pitchFamily="34" charset="0"/>
              <a:buChar char="•"/>
            </a:pPr>
            <a:r>
              <a:rPr lang="en-US" b="1" dirty="0">
                <a:solidFill>
                  <a:srgbClr val="FF0000"/>
                </a:solidFill>
              </a:rPr>
              <a:t>Example</a:t>
            </a:r>
            <a:r>
              <a:rPr lang="en-US" dirty="0">
                <a:solidFill>
                  <a:srgbClr val="FF0000"/>
                </a:solidFill>
              </a:rPr>
              <a:t>: </a:t>
            </a:r>
            <a:r>
              <a:rPr lang="en-US" dirty="0">
                <a:solidFill>
                  <a:schemeClr val="tx1"/>
                </a:solidFill>
              </a:rPr>
              <a:t>Information Management System (IMS)</a:t>
            </a:r>
          </a:p>
          <a:p>
            <a:pPr algn="just">
              <a:buFont typeface="Arial" panose="020B0604020202020204" pitchFamily="34" charset="0"/>
              <a:buChar char="•"/>
            </a:pPr>
            <a:r>
              <a:rPr lang="en-US" dirty="0">
                <a:solidFill>
                  <a:schemeClr val="tx1"/>
                </a:solidFill>
              </a:rPr>
              <a:t>Managing data in applications like banking and telecommunications.</a:t>
            </a:r>
          </a:p>
          <a:p>
            <a:pPr algn="just">
              <a:buFont typeface="Arial" panose="020B0604020202020204" pitchFamily="34" charset="0"/>
              <a:buChar char="•"/>
            </a:pPr>
            <a:r>
              <a:rPr lang="en-US" dirty="0">
                <a:solidFill>
                  <a:schemeClr val="tx1"/>
                </a:solidFill>
              </a:rPr>
              <a:t>Example: A</a:t>
            </a:r>
            <a:r>
              <a:rPr lang="en-US" dirty="0"/>
              <a:t> </a:t>
            </a:r>
            <a:r>
              <a:rPr lang="en-US" dirty="0">
                <a:solidFill>
                  <a:schemeClr val="tx1"/>
                </a:solidFill>
              </a:rPr>
              <a:t>company can have multiple employees and departments, but each employee or department belongs to one company.</a:t>
            </a:r>
          </a:p>
        </p:txBody>
      </p:sp>
    </p:spTree>
    <p:extLst>
      <p:ext uri="{BB962C8B-B14F-4D97-AF65-F5344CB8AC3E}">
        <p14:creationId xmlns:p14="http://schemas.microsoft.com/office/powerpoint/2010/main" val="2078230739"/>
      </p:ext>
    </p:extLst>
  </p:cSld>
  <p:clrMapOvr>
    <a:masterClrMapping/>
  </p:clrMapOvr>
</p:sld>
</file>

<file path=ppt/slides/slide15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6B19A91-B671-3E8A-95F1-22A6A278C317}"/>
            </a:ext>
          </a:extLst>
        </p:cNvPr>
        <p:cNvGrpSpPr/>
        <p:nvPr/>
      </p:nvGrpSpPr>
      <p:grpSpPr>
        <a:xfrm>
          <a:off x="0" y="0"/>
          <a:ext cx="0" cy="0"/>
          <a:chOff x="0" y="0"/>
          <a:chExt cx="0" cy="0"/>
        </a:xfrm>
      </p:grpSpPr>
      <p:sp>
        <p:nvSpPr>
          <p:cNvPr id="2" name="Slide Number Placeholder 1">
            <a:extLst>
              <a:ext uri="{FF2B5EF4-FFF2-40B4-BE49-F238E27FC236}">
                <a16:creationId xmlns:a16="http://schemas.microsoft.com/office/drawing/2014/main" id="{7AF4EE3E-63F7-643F-5B65-7F48BCDDB84C}"/>
              </a:ext>
            </a:extLst>
          </p:cNvPr>
          <p:cNvSpPr>
            <a:spLocks noGrp="1"/>
          </p:cNvSpPr>
          <p:nvPr>
            <p:ph type="sldNum" sz="quarter" idx="14"/>
          </p:nvPr>
        </p:nvSpPr>
        <p:spPr/>
        <p:txBody>
          <a:bodyPr/>
          <a:lstStyle/>
          <a:p>
            <a:fld id="{45A3C14A-F937-4231-B6F1-40B429FAFB2F}" type="slidenum">
              <a:rPr lang="en-NZ" smtClean="0"/>
              <a:pPr/>
              <a:t>153</a:t>
            </a:fld>
            <a:endParaRPr lang="en-NZ" dirty="0"/>
          </a:p>
        </p:txBody>
      </p:sp>
      <p:sp>
        <p:nvSpPr>
          <p:cNvPr id="3" name="Title 2">
            <a:extLst>
              <a:ext uri="{FF2B5EF4-FFF2-40B4-BE49-F238E27FC236}">
                <a16:creationId xmlns:a16="http://schemas.microsoft.com/office/drawing/2014/main" id="{95F49538-11C3-2F57-A3F7-A9A8171DBA26}"/>
              </a:ext>
            </a:extLst>
          </p:cNvPr>
          <p:cNvSpPr>
            <a:spLocks noGrp="1"/>
          </p:cNvSpPr>
          <p:nvPr>
            <p:ph type="title"/>
          </p:nvPr>
        </p:nvSpPr>
        <p:spPr>
          <a:xfrm>
            <a:off x="695400" y="395786"/>
            <a:ext cx="6696744" cy="838202"/>
          </a:xfrm>
        </p:spPr>
        <p:txBody>
          <a:bodyPr/>
          <a:lstStyle/>
          <a:p>
            <a:r>
              <a:rPr lang="en-US" b="1" dirty="0">
                <a:solidFill>
                  <a:srgbClr val="FF0000"/>
                </a:solidFill>
              </a:rPr>
              <a:t>Classification of DBMS</a:t>
            </a:r>
            <a:br>
              <a:rPr lang="en-US" b="1" dirty="0"/>
            </a:br>
            <a:br>
              <a:rPr lang="en-US" b="1" dirty="0"/>
            </a:br>
            <a:endParaRPr lang="en-US" b="1" dirty="0"/>
          </a:p>
        </p:txBody>
      </p:sp>
      <p:sp>
        <p:nvSpPr>
          <p:cNvPr id="4" name="Text Placeholder 3">
            <a:extLst>
              <a:ext uri="{FF2B5EF4-FFF2-40B4-BE49-F238E27FC236}">
                <a16:creationId xmlns:a16="http://schemas.microsoft.com/office/drawing/2014/main" id="{E59D4901-C14E-1C87-D615-49338A8C2B24}"/>
              </a:ext>
            </a:extLst>
          </p:cNvPr>
          <p:cNvSpPr>
            <a:spLocks noGrp="1"/>
          </p:cNvSpPr>
          <p:nvPr>
            <p:ph type="body" sz="quarter" idx="17"/>
          </p:nvPr>
        </p:nvSpPr>
        <p:spPr>
          <a:xfrm>
            <a:off x="532342" y="1236625"/>
            <a:ext cx="10801201" cy="4320480"/>
          </a:xfrm>
        </p:spPr>
        <p:txBody>
          <a:bodyPr/>
          <a:lstStyle/>
          <a:p>
            <a:pPr marL="0" indent="0">
              <a:buNone/>
            </a:pPr>
            <a:r>
              <a:rPr lang="en-US" b="1" dirty="0">
                <a:solidFill>
                  <a:srgbClr val="FF0000"/>
                </a:solidFill>
              </a:rPr>
              <a:t>b. Network DBMS</a:t>
            </a:r>
          </a:p>
          <a:p>
            <a:pPr>
              <a:buFont typeface="Arial" panose="020B0604020202020204" pitchFamily="34" charset="0"/>
              <a:buChar char="•"/>
            </a:pPr>
            <a:r>
              <a:rPr lang="en-US" dirty="0">
                <a:solidFill>
                  <a:schemeClr val="tx1"/>
                </a:solidFill>
              </a:rPr>
              <a:t>The network model represents data as records (nodes) connected by relationships (edges). It allows many-to-many relationships.</a:t>
            </a:r>
          </a:p>
          <a:p>
            <a:pPr>
              <a:buFont typeface="Arial" panose="020B0604020202020204" pitchFamily="34" charset="0"/>
              <a:buChar char="•"/>
            </a:pPr>
            <a:r>
              <a:rPr lang="en-US" b="1" dirty="0">
                <a:solidFill>
                  <a:schemeClr val="tx1"/>
                </a:solidFill>
              </a:rPr>
              <a:t>Example</a:t>
            </a:r>
            <a:r>
              <a:rPr lang="en-US" dirty="0">
                <a:solidFill>
                  <a:schemeClr val="tx1"/>
                </a:solidFill>
              </a:rPr>
              <a:t>: Handling complex relationships, such as supply chain management.</a:t>
            </a:r>
          </a:p>
          <a:p>
            <a:pPr marL="0" indent="0">
              <a:buNone/>
            </a:pPr>
            <a:r>
              <a:rPr lang="en-IN" b="1" dirty="0">
                <a:solidFill>
                  <a:schemeClr val="tx1"/>
                </a:solidFill>
              </a:rPr>
              <a:t>Example Structure</a:t>
            </a:r>
            <a:r>
              <a:rPr lang="en-IN" dirty="0">
                <a:solidFill>
                  <a:schemeClr val="tx1"/>
                </a:solidFill>
              </a:rPr>
              <a:t>:</a:t>
            </a:r>
            <a:endParaRPr lang="en-US" dirty="0">
              <a:solidFill>
                <a:schemeClr val="tx1"/>
              </a:solidFill>
            </a:endParaRPr>
          </a:p>
          <a:p>
            <a:pPr marL="0" indent="0">
              <a:buNone/>
            </a:pPr>
            <a:r>
              <a:rPr lang="en-US" dirty="0">
                <a:solidFill>
                  <a:schemeClr val="tx1"/>
                </a:solidFill>
              </a:rPr>
              <a:t>Employees</a:t>
            </a:r>
          </a:p>
          <a:p>
            <a:pPr marL="0" indent="0">
              <a:buNone/>
            </a:pPr>
            <a:r>
              <a:rPr lang="en-US" dirty="0">
                <a:solidFill>
                  <a:schemeClr val="tx1"/>
                </a:solidFill>
              </a:rPr>
              <a:t> ├── </a:t>
            </a:r>
            <a:r>
              <a:rPr lang="en-US" dirty="0" err="1">
                <a:solidFill>
                  <a:schemeClr val="tx1"/>
                </a:solidFill>
              </a:rPr>
              <a:t>Works_in</a:t>
            </a:r>
            <a:endParaRPr lang="en-US" dirty="0">
              <a:solidFill>
                <a:schemeClr val="tx1"/>
              </a:solidFill>
            </a:endParaRPr>
          </a:p>
          <a:p>
            <a:pPr marL="0" indent="0">
              <a:buNone/>
            </a:pPr>
            <a:r>
              <a:rPr lang="en-US" dirty="0">
                <a:solidFill>
                  <a:schemeClr val="tx1"/>
                </a:solidFill>
              </a:rPr>
              <a:t> └── Projects</a:t>
            </a:r>
          </a:p>
          <a:p>
            <a:pPr marL="0" indent="0">
              <a:buNone/>
            </a:pPr>
            <a:r>
              <a:rPr lang="en-US" dirty="0">
                <a:solidFill>
                  <a:schemeClr val="tx1"/>
                </a:solidFill>
              </a:rPr>
              <a:t>      └── Departments</a:t>
            </a:r>
          </a:p>
          <a:p>
            <a:pPr>
              <a:buFont typeface="Arial" panose="020B0604020202020204" pitchFamily="34" charset="0"/>
              <a:buChar char="•"/>
            </a:pPr>
            <a:endParaRPr lang="en-US" dirty="0"/>
          </a:p>
        </p:txBody>
      </p:sp>
    </p:spTree>
    <p:extLst>
      <p:ext uri="{BB962C8B-B14F-4D97-AF65-F5344CB8AC3E}">
        <p14:creationId xmlns:p14="http://schemas.microsoft.com/office/powerpoint/2010/main" val="3053385182"/>
      </p:ext>
    </p:extLst>
  </p:cSld>
  <p:clrMapOvr>
    <a:masterClrMapping/>
  </p:clrMapOvr>
</p:sld>
</file>

<file path=ppt/slides/slide15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2877A3F-C0D5-84E2-681A-FAB08902EC3A}"/>
            </a:ext>
          </a:extLst>
        </p:cNvPr>
        <p:cNvGrpSpPr/>
        <p:nvPr/>
      </p:nvGrpSpPr>
      <p:grpSpPr>
        <a:xfrm>
          <a:off x="0" y="0"/>
          <a:ext cx="0" cy="0"/>
          <a:chOff x="0" y="0"/>
          <a:chExt cx="0" cy="0"/>
        </a:xfrm>
      </p:grpSpPr>
      <p:sp>
        <p:nvSpPr>
          <p:cNvPr id="2" name="Slide Number Placeholder 1">
            <a:extLst>
              <a:ext uri="{FF2B5EF4-FFF2-40B4-BE49-F238E27FC236}">
                <a16:creationId xmlns:a16="http://schemas.microsoft.com/office/drawing/2014/main" id="{C8BDA02C-4A14-A87E-38AC-0A399B19BC4D}"/>
              </a:ext>
            </a:extLst>
          </p:cNvPr>
          <p:cNvSpPr>
            <a:spLocks noGrp="1"/>
          </p:cNvSpPr>
          <p:nvPr>
            <p:ph type="sldNum" sz="quarter" idx="14"/>
          </p:nvPr>
        </p:nvSpPr>
        <p:spPr/>
        <p:txBody>
          <a:bodyPr/>
          <a:lstStyle/>
          <a:p>
            <a:fld id="{45A3C14A-F937-4231-B6F1-40B429FAFB2F}" type="slidenum">
              <a:rPr lang="en-NZ" smtClean="0"/>
              <a:pPr/>
              <a:t>154</a:t>
            </a:fld>
            <a:endParaRPr lang="en-NZ" dirty="0"/>
          </a:p>
        </p:txBody>
      </p:sp>
      <p:sp>
        <p:nvSpPr>
          <p:cNvPr id="3" name="Title 2">
            <a:extLst>
              <a:ext uri="{FF2B5EF4-FFF2-40B4-BE49-F238E27FC236}">
                <a16:creationId xmlns:a16="http://schemas.microsoft.com/office/drawing/2014/main" id="{EC63E4BA-A5CF-8D47-AC1F-20E4D2B1184D}"/>
              </a:ext>
            </a:extLst>
          </p:cNvPr>
          <p:cNvSpPr>
            <a:spLocks noGrp="1"/>
          </p:cNvSpPr>
          <p:nvPr>
            <p:ph type="title"/>
          </p:nvPr>
        </p:nvSpPr>
        <p:spPr>
          <a:xfrm>
            <a:off x="695400" y="395786"/>
            <a:ext cx="6696744" cy="838202"/>
          </a:xfrm>
        </p:spPr>
        <p:txBody>
          <a:bodyPr/>
          <a:lstStyle/>
          <a:p>
            <a:r>
              <a:rPr lang="en-US" b="1" dirty="0">
                <a:solidFill>
                  <a:srgbClr val="FF0000"/>
                </a:solidFill>
              </a:rPr>
              <a:t>Classification of DBMS</a:t>
            </a:r>
            <a:br>
              <a:rPr lang="en-US" b="1" dirty="0"/>
            </a:br>
            <a:br>
              <a:rPr lang="en-US" b="1" dirty="0"/>
            </a:br>
            <a:endParaRPr lang="en-US" b="1" dirty="0"/>
          </a:p>
        </p:txBody>
      </p:sp>
      <p:sp>
        <p:nvSpPr>
          <p:cNvPr id="4" name="Text Placeholder 3">
            <a:extLst>
              <a:ext uri="{FF2B5EF4-FFF2-40B4-BE49-F238E27FC236}">
                <a16:creationId xmlns:a16="http://schemas.microsoft.com/office/drawing/2014/main" id="{85ECAD56-9357-828A-3F8D-040308B9FAA8}"/>
              </a:ext>
            </a:extLst>
          </p:cNvPr>
          <p:cNvSpPr>
            <a:spLocks noGrp="1"/>
          </p:cNvSpPr>
          <p:nvPr>
            <p:ph type="body" sz="quarter" idx="17"/>
          </p:nvPr>
        </p:nvSpPr>
        <p:spPr>
          <a:xfrm>
            <a:off x="532342" y="1236625"/>
            <a:ext cx="10801201" cy="4320480"/>
          </a:xfrm>
        </p:spPr>
        <p:txBody>
          <a:bodyPr/>
          <a:lstStyle/>
          <a:p>
            <a:pPr marL="0" indent="0">
              <a:buNone/>
            </a:pPr>
            <a:r>
              <a:rPr lang="en-US" b="1" dirty="0" err="1">
                <a:solidFill>
                  <a:srgbClr val="FF0000"/>
                </a:solidFill>
              </a:rPr>
              <a:t>C.Relational</a:t>
            </a:r>
            <a:r>
              <a:rPr lang="en-US" b="1" dirty="0">
                <a:solidFill>
                  <a:srgbClr val="FF0000"/>
                </a:solidFill>
              </a:rPr>
              <a:t> DBMS (RDBMS)</a:t>
            </a:r>
          </a:p>
          <a:p>
            <a:pPr marL="0" indent="0" algn="just">
              <a:buNone/>
            </a:pPr>
            <a:r>
              <a:rPr lang="en-US" dirty="0">
                <a:solidFill>
                  <a:schemeClr val="tx1"/>
                </a:solidFill>
              </a:rPr>
              <a:t>Data is organized into tables (relations) consisting of rows (records) and columns (attributes). Relationships between tables are defined using keys.</a:t>
            </a:r>
          </a:p>
          <a:p>
            <a:pPr marL="0" indent="0" algn="just">
              <a:buNone/>
            </a:pPr>
            <a:r>
              <a:rPr lang="en-US" b="1" dirty="0">
                <a:solidFill>
                  <a:schemeClr val="tx1"/>
                </a:solidFill>
              </a:rPr>
              <a:t>Example</a:t>
            </a:r>
            <a:r>
              <a:rPr lang="en-US" dirty="0">
                <a:solidFill>
                  <a:schemeClr val="tx1"/>
                </a:solidFill>
              </a:rPr>
              <a:t>: MySQL, PostgreSQL, Oracle DB</a:t>
            </a:r>
          </a:p>
          <a:p>
            <a:pPr marL="0" indent="0" algn="just">
              <a:buNone/>
            </a:pPr>
            <a:r>
              <a:rPr lang="en-US" dirty="0">
                <a:solidFill>
                  <a:schemeClr val="tx1"/>
                </a:solidFill>
              </a:rPr>
              <a:t> Widely used in most applications like e-commerce, finance, and healthcare.</a:t>
            </a:r>
          </a:p>
          <a:p>
            <a:pPr marL="0" indent="0" algn="just">
              <a:buNone/>
            </a:pPr>
            <a:r>
              <a:rPr lang="en-US" b="1" dirty="0">
                <a:solidFill>
                  <a:srgbClr val="FF0000"/>
                </a:solidFill>
              </a:rPr>
              <a:t>d. Object-Oriented DBMS (OODBMS)</a:t>
            </a:r>
          </a:p>
          <a:p>
            <a:pPr marL="0" indent="0" algn="just">
              <a:buNone/>
            </a:pPr>
            <a:r>
              <a:rPr lang="en-US" dirty="0">
                <a:solidFill>
                  <a:schemeClr val="tx1"/>
                </a:solidFill>
              </a:rPr>
              <a:t>Combines the features of object-oriented programming with database principles. Data is stored as objects, and relationships are represented using references.</a:t>
            </a:r>
          </a:p>
          <a:p>
            <a:pPr marL="0" indent="0">
              <a:buNone/>
            </a:pPr>
            <a:endParaRPr lang="en-US" dirty="0"/>
          </a:p>
        </p:txBody>
      </p:sp>
    </p:spTree>
    <p:extLst>
      <p:ext uri="{BB962C8B-B14F-4D97-AF65-F5344CB8AC3E}">
        <p14:creationId xmlns:p14="http://schemas.microsoft.com/office/powerpoint/2010/main" val="3326601179"/>
      </p:ext>
    </p:extLst>
  </p:cSld>
  <p:clrMapOvr>
    <a:masterClrMapping/>
  </p:clrMapOvr>
</p:sld>
</file>

<file path=ppt/slides/slide15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A8A2353-B172-0619-6980-4477CF1293AE}"/>
            </a:ext>
          </a:extLst>
        </p:cNvPr>
        <p:cNvGrpSpPr/>
        <p:nvPr/>
      </p:nvGrpSpPr>
      <p:grpSpPr>
        <a:xfrm>
          <a:off x="0" y="0"/>
          <a:ext cx="0" cy="0"/>
          <a:chOff x="0" y="0"/>
          <a:chExt cx="0" cy="0"/>
        </a:xfrm>
      </p:grpSpPr>
      <p:sp>
        <p:nvSpPr>
          <p:cNvPr id="2" name="Slide Number Placeholder 1">
            <a:extLst>
              <a:ext uri="{FF2B5EF4-FFF2-40B4-BE49-F238E27FC236}">
                <a16:creationId xmlns:a16="http://schemas.microsoft.com/office/drawing/2014/main" id="{D8D3FD27-B0DB-AB1E-DEC4-7198DB6D3440}"/>
              </a:ext>
            </a:extLst>
          </p:cNvPr>
          <p:cNvSpPr>
            <a:spLocks noGrp="1"/>
          </p:cNvSpPr>
          <p:nvPr>
            <p:ph type="sldNum" sz="quarter" idx="14"/>
          </p:nvPr>
        </p:nvSpPr>
        <p:spPr/>
        <p:txBody>
          <a:bodyPr/>
          <a:lstStyle/>
          <a:p>
            <a:fld id="{45A3C14A-F937-4231-B6F1-40B429FAFB2F}" type="slidenum">
              <a:rPr lang="en-NZ" smtClean="0"/>
              <a:pPr/>
              <a:t>155</a:t>
            </a:fld>
            <a:endParaRPr lang="en-NZ" dirty="0"/>
          </a:p>
        </p:txBody>
      </p:sp>
      <p:sp>
        <p:nvSpPr>
          <p:cNvPr id="3" name="Title 2">
            <a:extLst>
              <a:ext uri="{FF2B5EF4-FFF2-40B4-BE49-F238E27FC236}">
                <a16:creationId xmlns:a16="http://schemas.microsoft.com/office/drawing/2014/main" id="{001BDA08-147D-07AE-82B1-7AB5B9FFF91A}"/>
              </a:ext>
            </a:extLst>
          </p:cNvPr>
          <p:cNvSpPr>
            <a:spLocks noGrp="1"/>
          </p:cNvSpPr>
          <p:nvPr>
            <p:ph type="title"/>
          </p:nvPr>
        </p:nvSpPr>
        <p:spPr>
          <a:xfrm>
            <a:off x="695400" y="395786"/>
            <a:ext cx="6696744" cy="838202"/>
          </a:xfrm>
        </p:spPr>
        <p:txBody>
          <a:bodyPr/>
          <a:lstStyle/>
          <a:p>
            <a:r>
              <a:rPr lang="en-US" b="1" dirty="0">
                <a:solidFill>
                  <a:srgbClr val="FF0000"/>
                </a:solidFill>
              </a:rPr>
              <a:t>Classification of DBMS</a:t>
            </a:r>
            <a:br>
              <a:rPr lang="en-US" b="1" dirty="0"/>
            </a:br>
            <a:br>
              <a:rPr lang="en-US" b="1" dirty="0"/>
            </a:br>
            <a:endParaRPr lang="en-US" b="1" dirty="0"/>
          </a:p>
        </p:txBody>
      </p:sp>
      <p:sp>
        <p:nvSpPr>
          <p:cNvPr id="4" name="Text Placeholder 3">
            <a:extLst>
              <a:ext uri="{FF2B5EF4-FFF2-40B4-BE49-F238E27FC236}">
                <a16:creationId xmlns:a16="http://schemas.microsoft.com/office/drawing/2014/main" id="{E9A7FB01-EE3B-EE30-DC6D-FAB9C31D69A2}"/>
              </a:ext>
            </a:extLst>
          </p:cNvPr>
          <p:cNvSpPr>
            <a:spLocks noGrp="1"/>
          </p:cNvSpPr>
          <p:nvPr>
            <p:ph type="body" sz="quarter" idx="17"/>
          </p:nvPr>
        </p:nvSpPr>
        <p:spPr>
          <a:xfrm>
            <a:off x="532342" y="1236625"/>
            <a:ext cx="10801201" cy="4320480"/>
          </a:xfrm>
        </p:spPr>
        <p:txBody>
          <a:bodyPr/>
          <a:lstStyle/>
          <a:p>
            <a:pPr marL="0" indent="0">
              <a:buNone/>
            </a:pPr>
            <a:r>
              <a:rPr lang="en-US" b="1" dirty="0">
                <a:solidFill>
                  <a:srgbClr val="FF0000"/>
                </a:solidFill>
              </a:rPr>
              <a:t>2. Classification Based on Database Distribution</a:t>
            </a:r>
          </a:p>
          <a:p>
            <a:pPr marL="0" indent="0">
              <a:buNone/>
            </a:pPr>
            <a:r>
              <a:rPr lang="en-US" b="1" dirty="0">
                <a:solidFill>
                  <a:srgbClr val="FF0000"/>
                </a:solidFill>
              </a:rPr>
              <a:t>a. Centralized DBMS</a:t>
            </a:r>
          </a:p>
          <a:p>
            <a:pPr marL="0" indent="0">
              <a:buNone/>
            </a:pPr>
            <a:r>
              <a:rPr lang="en-US" dirty="0">
                <a:solidFill>
                  <a:schemeClr val="tx1"/>
                </a:solidFill>
              </a:rPr>
              <a:t> Data is stored and managed in a single central location, and users access it over a network.</a:t>
            </a:r>
          </a:p>
          <a:p>
            <a:pPr marL="0" indent="0">
              <a:buNone/>
            </a:pPr>
            <a:r>
              <a:rPr lang="en-US" b="1" dirty="0">
                <a:solidFill>
                  <a:srgbClr val="FF0000"/>
                </a:solidFill>
              </a:rPr>
              <a:t>Example</a:t>
            </a:r>
            <a:r>
              <a:rPr lang="en-US" dirty="0">
                <a:solidFill>
                  <a:srgbClr val="FF0000"/>
                </a:solidFill>
              </a:rPr>
              <a:t>: </a:t>
            </a:r>
            <a:r>
              <a:rPr lang="en-US" dirty="0">
                <a:solidFill>
                  <a:schemeClr val="tx1"/>
                </a:solidFill>
              </a:rPr>
              <a:t>A university database storing all records in one server.</a:t>
            </a:r>
          </a:p>
          <a:p>
            <a:pPr marL="0" indent="0">
              <a:buNone/>
            </a:pPr>
            <a:r>
              <a:rPr lang="en-US" b="1" dirty="0">
                <a:solidFill>
                  <a:srgbClr val="FF0000"/>
                </a:solidFill>
              </a:rPr>
              <a:t>Advantages</a:t>
            </a:r>
            <a:r>
              <a:rPr lang="en-US" dirty="0">
                <a:solidFill>
                  <a:srgbClr val="FF0000"/>
                </a:solidFill>
              </a:rPr>
              <a:t>: </a:t>
            </a:r>
            <a:r>
              <a:rPr lang="en-US" dirty="0">
                <a:solidFill>
                  <a:schemeClr val="tx1"/>
                </a:solidFill>
              </a:rPr>
              <a:t>Easy to maintain and secure.</a:t>
            </a:r>
          </a:p>
          <a:p>
            <a:pPr marL="0" indent="0">
              <a:buNone/>
            </a:pPr>
            <a:r>
              <a:rPr lang="en-US" b="1" dirty="0">
                <a:solidFill>
                  <a:srgbClr val="FF0000"/>
                </a:solidFill>
              </a:rPr>
              <a:t>Disadvantages</a:t>
            </a:r>
            <a:r>
              <a:rPr lang="en-US" dirty="0">
                <a:solidFill>
                  <a:srgbClr val="FF0000"/>
                </a:solidFill>
              </a:rPr>
              <a:t>:</a:t>
            </a:r>
            <a:r>
              <a:rPr lang="en-US" dirty="0">
                <a:solidFill>
                  <a:schemeClr val="tx1"/>
                </a:solidFill>
              </a:rPr>
              <a:t> High dependency(More </a:t>
            </a:r>
            <a:r>
              <a:rPr lang="en-US" dirty="0" err="1">
                <a:solidFill>
                  <a:schemeClr val="tx1"/>
                </a:solidFill>
              </a:rPr>
              <a:t>no.of</a:t>
            </a:r>
            <a:r>
              <a:rPr lang="en-US" dirty="0">
                <a:solidFill>
                  <a:schemeClr val="tx1"/>
                </a:solidFill>
              </a:rPr>
              <a:t> users) on the central server, which can cause bottlenecks.</a:t>
            </a:r>
          </a:p>
        </p:txBody>
      </p:sp>
    </p:spTree>
    <p:extLst>
      <p:ext uri="{BB962C8B-B14F-4D97-AF65-F5344CB8AC3E}">
        <p14:creationId xmlns:p14="http://schemas.microsoft.com/office/powerpoint/2010/main" val="4148344622"/>
      </p:ext>
    </p:extLst>
  </p:cSld>
  <p:clrMapOvr>
    <a:masterClrMapping/>
  </p:clrMapOvr>
</p:sld>
</file>

<file path=ppt/slides/slide15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B3C808A-1EFC-F5B7-D902-ADE687A46368}"/>
            </a:ext>
          </a:extLst>
        </p:cNvPr>
        <p:cNvGrpSpPr/>
        <p:nvPr/>
      </p:nvGrpSpPr>
      <p:grpSpPr>
        <a:xfrm>
          <a:off x="0" y="0"/>
          <a:ext cx="0" cy="0"/>
          <a:chOff x="0" y="0"/>
          <a:chExt cx="0" cy="0"/>
        </a:xfrm>
      </p:grpSpPr>
      <p:sp>
        <p:nvSpPr>
          <p:cNvPr id="2" name="Slide Number Placeholder 1">
            <a:extLst>
              <a:ext uri="{FF2B5EF4-FFF2-40B4-BE49-F238E27FC236}">
                <a16:creationId xmlns:a16="http://schemas.microsoft.com/office/drawing/2014/main" id="{2C6AF2E5-E802-5431-784D-FAA7B895CAA3}"/>
              </a:ext>
            </a:extLst>
          </p:cNvPr>
          <p:cNvSpPr>
            <a:spLocks noGrp="1"/>
          </p:cNvSpPr>
          <p:nvPr>
            <p:ph type="sldNum" sz="quarter" idx="14"/>
          </p:nvPr>
        </p:nvSpPr>
        <p:spPr/>
        <p:txBody>
          <a:bodyPr/>
          <a:lstStyle/>
          <a:p>
            <a:fld id="{45A3C14A-F937-4231-B6F1-40B429FAFB2F}" type="slidenum">
              <a:rPr lang="en-NZ" smtClean="0"/>
              <a:pPr/>
              <a:t>156</a:t>
            </a:fld>
            <a:endParaRPr lang="en-NZ" dirty="0"/>
          </a:p>
        </p:txBody>
      </p:sp>
      <p:sp>
        <p:nvSpPr>
          <p:cNvPr id="3" name="Title 2">
            <a:extLst>
              <a:ext uri="{FF2B5EF4-FFF2-40B4-BE49-F238E27FC236}">
                <a16:creationId xmlns:a16="http://schemas.microsoft.com/office/drawing/2014/main" id="{9B004342-EB43-2287-302F-4AD50874B807}"/>
              </a:ext>
            </a:extLst>
          </p:cNvPr>
          <p:cNvSpPr>
            <a:spLocks noGrp="1"/>
          </p:cNvSpPr>
          <p:nvPr>
            <p:ph type="title"/>
          </p:nvPr>
        </p:nvSpPr>
        <p:spPr>
          <a:xfrm>
            <a:off x="695400" y="395786"/>
            <a:ext cx="6696744" cy="838202"/>
          </a:xfrm>
        </p:spPr>
        <p:txBody>
          <a:bodyPr/>
          <a:lstStyle/>
          <a:p>
            <a:r>
              <a:rPr lang="en-US" b="1" dirty="0">
                <a:solidFill>
                  <a:srgbClr val="FF0000"/>
                </a:solidFill>
              </a:rPr>
              <a:t>Classification of DBMS</a:t>
            </a:r>
            <a:br>
              <a:rPr lang="en-US" b="1" dirty="0"/>
            </a:br>
            <a:br>
              <a:rPr lang="en-US" b="1" dirty="0"/>
            </a:br>
            <a:endParaRPr lang="en-US" b="1" dirty="0"/>
          </a:p>
        </p:txBody>
      </p:sp>
      <p:sp>
        <p:nvSpPr>
          <p:cNvPr id="4" name="Text Placeholder 3">
            <a:extLst>
              <a:ext uri="{FF2B5EF4-FFF2-40B4-BE49-F238E27FC236}">
                <a16:creationId xmlns:a16="http://schemas.microsoft.com/office/drawing/2014/main" id="{E9389318-772E-01D8-2666-F44702B6C995}"/>
              </a:ext>
            </a:extLst>
          </p:cNvPr>
          <p:cNvSpPr>
            <a:spLocks noGrp="1"/>
          </p:cNvSpPr>
          <p:nvPr>
            <p:ph type="body" sz="quarter" idx="17"/>
          </p:nvPr>
        </p:nvSpPr>
        <p:spPr>
          <a:xfrm>
            <a:off x="565945" y="692696"/>
            <a:ext cx="11506719" cy="4320480"/>
          </a:xfrm>
        </p:spPr>
        <p:txBody>
          <a:bodyPr/>
          <a:lstStyle/>
          <a:p>
            <a:pPr marL="0" indent="0" algn="just">
              <a:buNone/>
            </a:pPr>
            <a:r>
              <a:rPr lang="en-US" b="1" dirty="0">
                <a:solidFill>
                  <a:srgbClr val="FF0000"/>
                </a:solidFill>
              </a:rPr>
              <a:t>2. Classification Based on Database Distribution</a:t>
            </a:r>
          </a:p>
          <a:p>
            <a:pPr marL="0" indent="0" algn="just">
              <a:buNone/>
            </a:pPr>
            <a:r>
              <a:rPr lang="en-US" b="1" dirty="0">
                <a:solidFill>
                  <a:srgbClr val="FF0000"/>
                </a:solidFill>
              </a:rPr>
              <a:t>b. Distributed DBMS (DDBMS)</a:t>
            </a:r>
          </a:p>
          <a:p>
            <a:pPr marL="0" indent="0" algn="just">
              <a:buNone/>
            </a:pPr>
            <a:r>
              <a:rPr lang="en-US" dirty="0">
                <a:solidFill>
                  <a:schemeClr val="tx1"/>
                </a:solidFill>
              </a:rPr>
              <a:t>Data is distributed across multiple locations, connected by a network, but the system behaves as a single database to users.</a:t>
            </a:r>
          </a:p>
          <a:p>
            <a:pPr marL="0" indent="0" algn="just">
              <a:buNone/>
            </a:pPr>
            <a:r>
              <a:rPr lang="en-US" b="1" dirty="0">
                <a:solidFill>
                  <a:schemeClr val="tx1"/>
                </a:solidFill>
              </a:rPr>
              <a:t>Advantages</a:t>
            </a:r>
            <a:r>
              <a:rPr lang="en-US" dirty="0">
                <a:solidFill>
                  <a:schemeClr val="tx1"/>
                </a:solidFill>
              </a:rPr>
              <a:t>: High availability and fault tolerance.</a:t>
            </a:r>
          </a:p>
          <a:p>
            <a:pPr marL="0" indent="0" algn="just">
              <a:buNone/>
            </a:pPr>
            <a:r>
              <a:rPr lang="en-US" b="1" dirty="0">
                <a:solidFill>
                  <a:schemeClr val="tx1"/>
                </a:solidFill>
              </a:rPr>
              <a:t>Disadvantages</a:t>
            </a:r>
            <a:r>
              <a:rPr lang="en-US" dirty="0">
                <a:solidFill>
                  <a:schemeClr val="tx1"/>
                </a:solidFill>
              </a:rPr>
              <a:t>: Complexity in synchronization and consistency.</a:t>
            </a:r>
          </a:p>
          <a:p>
            <a:pPr marL="0" indent="0" algn="just">
              <a:buNone/>
            </a:pPr>
            <a:r>
              <a:rPr lang="en-US" b="1" dirty="0">
                <a:solidFill>
                  <a:srgbClr val="FF0000"/>
                </a:solidFill>
              </a:rPr>
              <a:t>C. Federated DBMS(Multi database system):</a:t>
            </a:r>
          </a:p>
          <a:p>
            <a:pPr marL="0" indent="0" algn="just">
              <a:buNone/>
            </a:pPr>
            <a:r>
              <a:rPr lang="en-US" dirty="0">
                <a:solidFill>
                  <a:schemeClr val="tx1"/>
                </a:solidFill>
              </a:rPr>
              <a:t> Combines multiple databases into a single system without physically merging them.</a:t>
            </a:r>
          </a:p>
          <a:p>
            <a:pPr marL="0" indent="0" algn="just">
              <a:buNone/>
            </a:pPr>
            <a:r>
              <a:rPr lang="en-US" b="1" dirty="0">
                <a:solidFill>
                  <a:schemeClr val="tx1"/>
                </a:solidFill>
              </a:rPr>
              <a:t>Example</a:t>
            </a:r>
            <a:r>
              <a:rPr lang="en-US" dirty="0">
                <a:solidFill>
                  <a:schemeClr val="tx1"/>
                </a:solidFill>
              </a:rPr>
              <a:t>: A global organization managing regional databases in different countries.</a:t>
            </a:r>
          </a:p>
        </p:txBody>
      </p:sp>
    </p:spTree>
    <p:extLst>
      <p:ext uri="{BB962C8B-B14F-4D97-AF65-F5344CB8AC3E}">
        <p14:creationId xmlns:p14="http://schemas.microsoft.com/office/powerpoint/2010/main" val="3206402616"/>
      </p:ext>
    </p:extLst>
  </p:cSld>
  <p:clrMapOvr>
    <a:masterClrMapping/>
  </p:clrMapOvr>
</p:sld>
</file>

<file path=ppt/slides/slide15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0DC2C3A-F7DC-C00D-DC6D-3C446BB6447E}"/>
            </a:ext>
          </a:extLst>
        </p:cNvPr>
        <p:cNvGrpSpPr/>
        <p:nvPr/>
      </p:nvGrpSpPr>
      <p:grpSpPr>
        <a:xfrm>
          <a:off x="0" y="0"/>
          <a:ext cx="0" cy="0"/>
          <a:chOff x="0" y="0"/>
          <a:chExt cx="0" cy="0"/>
        </a:xfrm>
      </p:grpSpPr>
      <p:sp>
        <p:nvSpPr>
          <p:cNvPr id="2" name="Slide Number Placeholder 1">
            <a:extLst>
              <a:ext uri="{FF2B5EF4-FFF2-40B4-BE49-F238E27FC236}">
                <a16:creationId xmlns:a16="http://schemas.microsoft.com/office/drawing/2014/main" id="{6B3FB899-DF21-1D0F-EF71-7F1582DDAF2F}"/>
              </a:ext>
            </a:extLst>
          </p:cNvPr>
          <p:cNvSpPr>
            <a:spLocks noGrp="1"/>
          </p:cNvSpPr>
          <p:nvPr>
            <p:ph type="sldNum" sz="quarter" idx="14"/>
          </p:nvPr>
        </p:nvSpPr>
        <p:spPr/>
        <p:txBody>
          <a:bodyPr/>
          <a:lstStyle/>
          <a:p>
            <a:fld id="{45A3C14A-F937-4231-B6F1-40B429FAFB2F}" type="slidenum">
              <a:rPr lang="en-NZ" smtClean="0"/>
              <a:pPr/>
              <a:t>157</a:t>
            </a:fld>
            <a:endParaRPr lang="en-NZ" dirty="0"/>
          </a:p>
        </p:txBody>
      </p:sp>
      <p:sp>
        <p:nvSpPr>
          <p:cNvPr id="3" name="Title 2">
            <a:extLst>
              <a:ext uri="{FF2B5EF4-FFF2-40B4-BE49-F238E27FC236}">
                <a16:creationId xmlns:a16="http://schemas.microsoft.com/office/drawing/2014/main" id="{F8E56765-DD6D-F40E-A36E-095AD2C028AC}"/>
              </a:ext>
            </a:extLst>
          </p:cNvPr>
          <p:cNvSpPr>
            <a:spLocks noGrp="1"/>
          </p:cNvSpPr>
          <p:nvPr>
            <p:ph type="title"/>
          </p:nvPr>
        </p:nvSpPr>
        <p:spPr>
          <a:xfrm>
            <a:off x="695400" y="395786"/>
            <a:ext cx="7704856" cy="838202"/>
          </a:xfrm>
        </p:spPr>
        <p:txBody>
          <a:bodyPr/>
          <a:lstStyle/>
          <a:p>
            <a:r>
              <a:rPr lang="en-US" b="1" dirty="0">
                <a:solidFill>
                  <a:srgbClr val="FF0000"/>
                </a:solidFill>
              </a:rPr>
              <a:t>3. Classification Based on User Count</a:t>
            </a:r>
            <a:br>
              <a:rPr lang="en-US" b="1" dirty="0"/>
            </a:br>
            <a:br>
              <a:rPr lang="en-US" b="1" dirty="0"/>
            </a:br>
            <a:endParaRPr lang="en-US" b="1" dirty="0"/>
          </a:p>
        </p:txBody>
      </p:sp>
      <p:sp>
        <p:nvSpPr>
          <p:cNvPr id="4" name="Text Placeholder 3">
            <a:extLst>
              <a:ext uri="{FF2B5EF4-FFF2-40B4-BE49-F238E27FC236}">
                <a16:creationId xmlns:a16="http://schemas.microsoft.com/office/drawing/2014/main" id="{93D3A9FE-901D-4743-EF67-1B9C584943A5}"/>
              </a:ext>
            </a:extLst>
          </p:cNvPr>
          <p:cNvSpPr>
            <a:spLocks noGrp="1"/>
          </p:cNvSpPr>
          <p:nvPr>
            <p:ph type="body" sz="quarter" idx="17"/>
          </p:nvPr>
        </p:nvSpPr>
        <p:spPr>
          <a:xfrm>
            <a:off x="532342" y="1236625"/>
            <a:ext cx="10801201" cy="4320480"/>
          </a:xfrm>
        </p:spPr>
        <p:txBody>
          <a:bodyPr/>
          <a:lstStyle/>
          <a:p>
            <a:pPr marL="0" indent="0">
              <a:buNone/>
            </a:pPr>
            <a:r>
              <a:rPr lang="en-US" b="1" dirty="0">
                <a:solidFill>
                  <a:srgbClr val="FF0000"/>
                </a:solidFill>
              </a:rPr>
              <a:t>a. Single-User DBMS</a:t>
            </a:r>
          </a:p>
          <a:p>
            <a:pPr>
              <a:buFont typeface="Arial" panose="020B0604020202020204" pitchFamily="34" charset="0"/>
              <a:buChar char="•"/>
            </a:pPr>
            <a:r>
              <a:rPr lang="en-US" b="1" dirty="0">
                <a:solidFill>
                  <a:schemeClr val="tx1"/>
                </a:solidFill>
              </a:rPr>
              <a:t>Description</a:t>
            </a:r>
            <a:r>
              <a:rPr lang="en-US" dirty="0">
                <a:solidFill>
                  <a:schemeClr val="tx1"/>
                </a:solidFill>
              </a:rPr>
              <a:t>: Designed for one user at a time.</a:t>
            </a:r>
          </a:p>
          <a:p>
            <a:pPr>
              <a:buFont typeface="Arial" panose="020B0604020202020204" pitchFamily="34" charset="0"/>
              <a:buChar char="•"/>
            </a:pPr>
            <a:r>
              <a:rPr lang="en-US" b="1" dirty="0">
                <a:solidFill>
                  <a:schemeClr val="tx1"/>
                </a:solidFill>
              </a:rPr>
              <a:t>Example</a:t>
            </a:r>
            <a:r>
              <a:rPr lang="en-US" dirty="0">
                <a:solidFill>
                  <a:schemeClr val="tx1"/>
                </a:solidFill>
              </a:rPr>
              <a:t>: Microsoft Access</a:t>
            </a:r>
          </a:p>
          <a:p>
            <a:pPr>
              <a:buFont typeface="Arial" panose="020B0604020202020204" pitchFamily="34" charset="0"/>
              <a:buChar char="•"/>
            </a:pPr>
            <a:r>
              <a:rPr lang="en-US" b="1" dirty="0">
                <a:solidFill>
                  <a:schemeClr val="tx1"/>
                </a:solidFill>
              </a:rPr>
              <a:t>Use Case</a:t>
            </a:r>
            <a:r>
              <a:rPr lang="en-US" dirty="0">
                <a:solidFill>
                  <a:schemeClr val="tx1"/>
                </a:solidFill>
              </a:rPr>
              <a:t>: Personal or small business use.</a:t>
            </a:r>
          </a:p>
          <a:p>
            <a:pPr marL="0" indent="0">
              <a:buNone/>
            </a:pPr>
            <a:r>
              <a:rPr lang="en-US" b="1" dirty="0">
                <a:solidFill>
                  <a:srgbClr val="FF0000"/>
                </a:solidFill>
              </a:rPr>
              <a:t>b. Multi-User DBMS</a:t>
            </a:r>
          </a:p>
          <a:p>
            <a:pPr>
              <a:buFont typeface="Arial" panose="020B0604020202020204" pitchFamily="34" charset="0"/>
              <a:buChar char="•"/>
            </a:pPr>
            <a:r>
              <a:rPr lang="en-US" b="1" dirty="0">
                <a:solidFill>
                  <a:schemeClr val="tx1"/>
                </a:solidFill>
              </a:rPr>
              <a:t>Description</a:t>
            </a:r>
            <a:r>
              <a:rPr lang="en-US" dirty="0">
                <a:solidFill>
                  <a:schemeClr val="tx1"/>
                </a:solidFill>
              </a:rPr>
              <a:t>: Allows multiple users to access and manipulate the database simultaneously.</a:t>
            </a:r>
          </a:p>
          <a:p>
            <a:pPr>
              <a:buFont typeface="Arial" panose="020B0604020202020204" pitchFamily="34" charset="0"/>
              <a:buChar char="•"/>
            </a:pPr>
            <a:r>
              <a:rPr lang="en-US" b="1" dirty="0">
                <a:solidFill>
                  <a:schemeClr val="tx1"/>
                </a:solidFill>
              </a:rPr>
              <a:t>Example</a:t>
            </a:r>
            <a:r>
              <a:rPr lang="en-US" dirty="0">
                <a:solidFill>
                  <a:schemeClr val="tx1"/>
                </a:solidFill>
              </a:rPr>
              <a:t>: MySQL, Oracle</a:t>
            </a:r>
          </a:p>
          <a:p>
            <a:pPr>
              <a:buFont typeface="Arial" panose="020B0604020202020204" pitchFamily="34" charset="0"/>
              <a:buChar char="•"/>
            </a:pPr>
            <a:r>
              <a:rPr lang="en-US" b="1" dirty="0">
                <a:solidFill>
                  <a:schemeClr val="tx1"/>
                </a:solidFill>
              </a:rPr>
              <a:t>Use Case</a:t>
            </a:r>
            <a:r>
              <a:rPr lang="en-US" dirty="0">
                <a:solidFill>
                  <a:schemeClr val="tx1"/>
                </a:solidFill>
              </a:rPr>
              <a:t>: Enterprise-level applications.</a:t>
            </a:r>
          </a:p>
        </p:txBody>
      </p:sp>
    </p:spTree>
    <p:extLst>
      <p:ext uri="{BB962C8B-B14F-4D97-AF65-F5344CB8AC3E}">
        <p14:creationId xmlns:p14="http://schemas.microsoft.com/office/powerpoint/2010/main" val="123858700"/>
      </p:ext>
    </p:extLst>
  </p:cSld>
  <p:clrMapOvr>
    <a:masterClrMapping/>
  </p:clrMapOvr>
</p:sld>
</file>

<file path=ppt/slides/slide15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7B3C28E-EDCA-A576-8C8B-77B529566F18}"/>
            </a:ext>
          </a:extLst>
        </p:cNvPr>
        <p:cNvGrpSpPr/>
        <p:nvPr/>
      </p:nvGrpSpPr>
      <p:grpSpPr>
        <a:xfrm>
          <a:off x="0" y="0"/>
          <a:ext cx="0" cy="0"/>
          <a:chOff x="0" y="0"/>
          <a:chExt cx="0" cy="0"/>
        </a:xfrm>
      </p:grpSpPr>
      <p:sp>
        <p:nvSpPr>
          <p:cNvPr id="2" name="Slide Number Placeholder 1">
            <a:extLst>
              <a:ext uri="{FF2B5EF4-FFF2-40B4-BE49-F238E27FC236}">
                <a16:creationId xmlns:a16="http://schemas.microsoft.com/office/drawing/2014/main" id="{E54F2BFD-9365-4BA1-CD77-06B4E7B2AC74}"/>
              </a:ext>
            </a:extLst>
          </p:cNvPr>
          <p:cNvSpPr>
            <a:spLocks noGrp="1"/>
          </p:cNvSpPr>
          <p:nvPr>
            <p:ph type="sldNum" sz="quarter" idx="14"/>
          </p:nvPr>
        </p:nvSpPr>
        <p:spPr/>
        <p:txBody>
          <a:bodyPr/>
          <a:lstStyle/>
          <a:p>
            <a:fld id="{45A3C14A-F937-4231-B6F1-40B429FAFB2F}" type="slidenum">
              <a:rPr lang="en-NZ" smtClean="0"/>
              <a:pPr/>
              <a:t>158</a:t>
            </a:fld>
            <a:endParaRPr lang="en-NZ" dirty="0"/>
          </a:p>
        </p:txBody>
      </p:sp>
      <p:sp>
        <p:nvSpPr>
          <p:cNvPr id="3" name="Title 2">
            <a:extLst>
              <a:ext uri="{FF2B5EF4-FFF2-40B4-BE49-F238E27FC236}">
                <a16:creationId xmlns:a16="http://schemas.microsoft.com/office/drawing/2014/main" id="{B021B108-0066-92F9-B3AF-0492C4B6C16F}"/>
              </a:ext>
            </a:extLst>
          </p:cNvPr>
          <p:cNvSpPr>
            <a:spLocks noGrp="1"/>
          </p:cNvSpPr>
          <p:nvPr>
            <p:ph type="title"/>
          </p:nvPr>
        </p:nvSpPr>
        <p:spPr>
          <a:xfrm>
            <a:off x="335360" y="188640"/>
            <a:ext cx="7704856" cy="838202"/>
          </a:xfrm>
        </p:spPr>
        <p:txBody>
          <a:bodyPr/>
          <a:lstStyle/>
          <a:p>
            <a:r>
              <a:rPr lang="en-IN" b="1" dirty="0">
                <a:solidFill>
                  <a:srgbClr val="FF0000"/>
                </a:solidFill>
              </a:rPr>
              <a:t>4. Classification Based on Usage</a:t>
            </a:r>
            <a:br>
              <a:rPr lang="en-US" b="1" dirty="0"/>
            </a:br>
            <a:br>
              <a:rPr lang="en-US" b="1" dirty="0"/>
            </a:br>
            <a:endParaRPr lang="en-US" b="1" dirty="0"/>
          </a:p>
        </p:txBody>
      </p:sp>
      <p:sp>
        <p:nvSpPr>
          <p:cNvPr id="4" name="Text Placeholder 3">
            <a:extLst>
              <a:ext uri="{FF2B5EF4-FFF2-40B4-BE49-F238E27FC236}">
                <a16:creationId xmlns:a16="http://schemas.microsoft.com/office/drawing/2014/main" id="{13A3A8DD-9C33-5A04-DC0B-C603FF84FD65}"/>
              </a:ext>
            </a:extLst>
          </p:cNvPr>
          <p:cNvSpPr>
            <a:spLocks noGrp="1"/>
          </p:cNvSpPr>
          <p:nvPr>
            <p:ph type="body" sz="quarter" idx="17"/>
          </p:nvPr>
        </p:nvSpPr>
        <p:spPr>
          <a:xfrm>
            <a:off x="470463" y="476672"/>
            <a:ext cx="11521280" cy="4320480"/>
          </a:xfrm>
        </p:spPr>
        <p:txBody>
          <a:bodyPr/>
          <a:lstStyle/>
          <a:p>
            <a:pPr marL="0" indent="0" algn="just">
              <a:buNone/>
            </a:pPr>
            <a:r>
              <a:rPr lang="en-IN" sz="1800" b="1" dirty="0">
                <a:solidFill>
                  <a:srgbClr val="FF0000"/>
                </a:solidFill>
              </a:rPr>
              <a:t>a. OLTP (Online Transaction Processing)</a:t>
            </a:r>
          </a:p>
          <a:p>
            <a:pPr marL="0" indent="0">
              <a:lnSpc>
                <a:spcPct val="115000"/>
              </a:lnSpc>
              <a:spcAft>
                <a:spcPts val="800"/>
              </a:spcAft>
              <a:buNone/>
            </a:pPr>
            <a:r>
              <a:rPr lang="en-IN" sz="1800" kern="100" dirty="0">
                <a:solidFill>
                  <a:schemeClr val="tx1"/>
                </a:solidFill>
                <a:effectLst/>
              </a:rPr>
              <a:t>OLTP stands for Online Transaction Processing. OLTP has the work to administer day-to-day transactions in any organization. The main goal of OLTP is data processing not data analysis.</a:t>
            </a:r>
          </a:p>
          <a:p>
            <a:pPr marL="0" indent="0">
              <a:lnSpc>
                <a:spcPct val="115000"/>
              </a:lnSpc>
              <a:spcAft>
                <a:spcPts val="800"/>
              </a:spcAft>
              <a:buNone/>
            </a:pPr>
            <a:r>
              <a:rPr lang="en-IN" sz="1800" kern="100" dirty="0">
                <a:solidFill>
                  <a:schemeClr val="tx1"/>
                </a:solidFill>
                <a:effectLst/>
              </a:rPr>
              <a:t>Online Transaction Processing, commonly known as OLTP, is a data processing approach emphasizing real-time execution of transactions. </a:t>
            </a:r>
          </a:p>
          <a:p>
            <a:pPr marL="0" indent="0">
              <a:lnSpc>
                <a:spcPct val="115000"/>
              </a:lnSpc>
              <a:spcAft>
                <a:spcPts val="800"/>
              </a:spcAft>
              <a:buNone/>
            </a:pPr>
            <a:r>
              <a:rPr lang="en-IN" sz="1800" kern="100" dirty="0">
                <a:solidFill>
                  <a:schemeClr val="tx1"/>
                </a:solidFill>
                <a:effectLst/>
              </a:rPr>
              <a:t>The majority of OLTP systems are meant to manage numerous short atomic operations that keep databases in line. </a:t>
            </a:r>
          </a:p>
          <a:p>
            <a:pPr marL="0" indent="0">
              <a:lnSpc>
                <a:spcPct val="115000"/>
              </a:lnSpc>
              <a:spcAft>
                <a:spcPts val="800"/>
              </a:spcAft>
              <a:buNone/>
            </a:pPr>
            <a:r>
              <a:rPr lang="en-IN" sz="1800" kern="100" dirty="0">
                <a:solidFill>
                  <a:schemeClr val="tx1"/>
                </a:solidFill>
                <a:effectLst/>
              </a:rPr>
              <a:t>To maintain transaction integrity and reliability, these systems support ACID (Atomicity, Consistency, Isolation, Durability) properties. </a:t>
            </a:r>
          </a:p>
          <a:p>
            <a:pPr marL="0" indent="0">
              <a:lnSpc>
                <a:spcPct val="115000"/>
              </a:lnSpc>
              <a:spcAft>
                <a:spcPts val="800"/>
              </a:spcAft>
              <a:buNone/>
            </a:pPr>
            <a:r>
              <a:rPr lang="en-IN" sz="1800" kern="100" dirty="0">
                <a:solidFill>
                  <a:schemeClr val="tx1"/>
                </a:solidFill>
                <a:effectLst/>
              </a:rPr>
              <a:t>It is through this that numerous unavoidable applications run their critical courses like online banking, reservation systems etc.</a:t>
            </a:r>
          </a:p>
          <a:p>
            <a:pPr marL="0" indent="0">
              <a:lnSpc>
                <a:spcPct val="115000"/>
              </a:lnSpc>
              <a:spcAft>
                <a:spcPts val="800"/>
              </a:spcAft>
              <a:buNone/>
            </a:pPr>
            <a:endParaRPr lang="en-IN" sz="1800" kern="100" dirty="0">
              <a:solidFill>
                <a:schemeClr val="tx1"/>
              </a:solidFill>
              <a:effectLst/>
            </a:endParaRPr>
          </a:p>
          <a:p>
            <a:pPr marL="0" indent="0">
              <a:lnSpc>
                <a:spcPct val="115000"/>
              </a:lnSpc>
              <a:spcAft>
                <a:spcPts val="800"/>
              </a:spcAft>
              <a:buNone/>
            </a:pPr>
            <a:endParaRPr lang="en-IN" sz="1800" kern="100" dirty="0">
              <a:solidFill>
                <a:schemeClr val="tx1"/>
              </a:solidFill>
              <a:effectLst/>
              <a:latin typeface="Aptos" panose="020B0004020202020204" pitchFamily="34" charset="0"/>
              <a:ea typeface="Aptos" panose="020B0004020202020204" pitchFamily="34" charset="0"/>
              <a:cs typeface="Times New Roman" panose="02020603050405020304" pitchFamily="18" charset="0"/>
            </a:endParaRPr>
          </a:p>
          <a:p>
            <a:pPr marL="0" indent="0">
              <a:buNone/>
            </a:pPr>
            <a:endParaRPr lang="en-US" dirty="0">
              <a:solidFill>
                <a:schemeClr val="tx1"/>
              </a:solidFill>
            </a:endParaRPr>
          </a:p>
        </p:txBody>
      </p:sp>
    </p:spTree>
    <p:extLst>
      <p:ext uri="{BB962C8B-B14F-4D97-AF65-F5344CB8AC3E}">
        <p14:creationId xmlns:p14="http://schemas.microsoft.com/office/powerpoint/2010/main" val="789176637"/>
      </p:ext>
    </p:extLst>
  </p:cSld>
  <p:clrMapOvr>
    <a:masterClrMapping/>
  </p:clrMapOvr>
</p:sld>
</file>

<file path=ppt/slides/slide15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2DD77FD-547A-DDC8-F7A3-47617F758610}"/>
            </a:ext>
          </a:extLst>
        </p:cNvPr>
        <p:cNvGrpSpPr/>
        <p:nvPr/>
      </p:nvGrpSpPr>
      <p:grpSpPr>
        <a:xfrm>
          <a:off x="0" y="0"/>
          <a:ext cx="0" cy="0"/>
          <a:chOff x="0" y="0"/>
          <a:chExt cx="0" cy="0"/>
        </a:xfrm>
      </p:grpSpPr>
      <p:sp>
        <p:nvSpPr>
          <p:cNvPr id="2" name="Slide Number Placeholder 1">
            <a:extLst>
              <a:ext uri="{FF2B5EF4-FFF2-40B4-BE49-F238E27FC236}">
                <a16:creationId xmlns:a16="http://schemas.microsoft.com/office/drawing/2014/main" id="{17612E8C-A334-273B-F579-F7C84123A288}"/>
              </a:ext>
            </a:extLst>
          </p:cNvPr>
          <p:cNvSpPr>
            <a:spLocks noGrp="1"/>
          </p:cNvSpPr>
          <p:nvPr>
            <p:ph type="sldNum" sz="quarter" idx="14"/>
          </p:nvPr>
        </p:nvSpPr>
        <p:spPr/>
        <p:txBody>
          <a:bodyPr/>
          <a:lstStyle/>
          <a:p>
            <a:fld id="{45A3C14A-F937-4231-B6F1-40B429FAFB2F}" type="slidenum">
              <a:rPr lang="en-NZ" smtClean="0"/>
              <a:pPr/>
              <a:t>159</a:t>
            </a:fld>
            <a:endParaRPr lang="en-NZ" dirty="0"/>
          </a:p>
        </p:txBody>
      </p:sp>
      <p:sp>
        <p:nvSpPr>
          <p:cNvPr id="3" name="Title 2">
            <a:extLst>
              <a:ext uri="{FF2B5EF4-FFF2-40B4-BE49-F238E27FC236}">
                <a16:creationId xmlns:a16="http://schemas.microsoft.com/office/drawing/2014/main" id="{35BC2A2D-B4E9-5271-F80B-DE035CBB0436}"/>
              </a:ext>
            </a:extLst>
          </p:cNvPr>
          <p:cNvSpPr>
            <a:spLocks noGrp="1"/>
          </p:cNvSpPr>
          <p:nvPr>
            <p:ph type="title"/>
          </p:nvPr>
        </p:nvSpPr>
        <p:spPr>
          <a:xfrm>
            <a:off x="335360" y="188640"/>
            <a:ext cx="7704856" cy="838202"/>
          </a:xfrm>
        </p:spPr>
        <p:txBody>
          <a:bodyPr/>
          <a:lstStyle/>
          <a:p>
            <a:r>
              <a:rPr lang="en-IN" b="1" dirty="0">
                <a:solidFill>
                  <a:srgbClr val="FF0000"/>
                </a:solidFill>
              </a:rPr>
              <a:t>4. Classification Based on Usage</a:t>
            </a:r>
            <a:br>
              <a:rPr lang="en-US" b="1" dirty="0"/>
            </a:br>
            <a:br>
              <a:rPr lang="en-US" b="1" dirty="0"/>
            </a:br>
            <a:endParaRPr lang="en-US" b="1" dirty="0"/>
          </a:p>
        </p:txBody>
      </p:sp>
      <p:sp>
        <p:nvSpPr>
          <p:cNvPr id="4" name="Text Placeholder 3">
            <a:extLst>
              <a:ext uri="{FF2B5EF4-FFF2-40B4-BE49-F238E27FC236}">
                <a16:creationId xmlns:a16="http://schemas.microsoft.com/office/drawing/2014/main" id="{A639EC87-9E42-2AF0-A6CE-A0FBE6CFA8EA}"/>
              </a:ext>
            </a:extLst>
          </p:cNvPr>
          <p:cNvSpPr>
            <a:spLocks noGrp="1"/>
          </p:cNvSpPr>
          <p:nvPr>
            <p:ph type="body" sz="quarter" idx="17"/>
          </p:nvPr>
        </p:nvSpPr>
        <p:spPr>
          <a:xfrm>
            <a:off x="470463" y="476672"/>
            <a:ext cx="11521280" cy="4320480"/>
          </a:xfrm>
        </p:spPr>
        <p:txBody>
          <a:bodyPr/>
          <a:lstStyle/>
          <a:p>
            <a:pPr marL="0" indent="0" algn="just">
              <a:buNone/>
            </a:pPr>
            <a:r>
              <a:rPr lang="en-IN" sz="1800" b="1" dirty="0">
                <a:solidFill>
                  <a:srgbClr val="FF0000"/>
                </a:solidFill>
              </a:rPr>
              <a:t>a. OLTP (Online Transaction Processing)</a:t>
            </a:r>
          </a:p>
          <a:p>
            <a:pPr marL="0" indent="0" algn="just">
              <a:buNone/>
            </a:pPr>
            <a:r>
              <a:rPr lang="en-US" sz="1800" b="1" dirty="0">
                <a:solidFill>
                  <a:srgbClr val="FF0000"/>
                </a:solidFill>
              </a:rPr>
              <a:t>Key Features of OLTP:</a:t>
            </a:r>
          </a:p>
          <a:p>
            <a:pPr algn="just">
              <a:buFont typeface="+mj-lt"/>
              <a:buAutoNum type="arabicPeriod"/>
            </a:pPr>
            <a:r>
              <a:rPr lang="en-US" sz="1800" b="1" dirty="0">
                <a:solidFill>
                  <a:schemeClr val="tx1"/>
                </a:solidFill>
              </a:rPr>
              <a:t>Transactional Workloads</a:t>
            </a:r>
            <a:r>
              <a:rPr lang="en-US" sz="1800" dirty="0">
                <a:solidFill>
                  <a:schemeClr val="tx1"/>
                </a:solidFill>
              </a:rPr>
              <a:t>: Focuses on short, fast, and frequent transactions.</a:t>
            </a:r>
          </a:p>
          <a:p>
            <a:pPr algn="just">
              <a:buFont typeface="+mj-lt"/>
              <a:buAutoNum type="arabicPeriod"/>
            </a:pPr>
            <a:r>
              <a:rPr lang="en-US" sz="1800" b="1" dirty="0">
                <a:solidFill>
                  <a:schemeClr val="tx1"/>
                </a:solidFill>
              </a:rPr>
              <a:t>Data Modification</a:t>
            </a:r>
            <a:r>
              <a:rPr lang="en-US" sz="1800" dirty="0">
                <a:solidFill>
                  <a:schemeClr val="tx1"/>
                </a:solidFill>
              </a:rPr>
              <a:t>: Involves real-time data updates and changes.</a:t>
            </a:r>
          </a:p>
          <a:p>
            <a:pPr algn="just">
              <a:buFont typeface="+mj-lt"/>
              <a:buAutoNum type="arabicPeriod"/>
            </a:pPr>
            <a:r>
              <a:rPr lang="en-US" sz="1800" b="1" dirty="0">
                <a:solidFill>
                  <a:schemeClr val="tx1"/>
                </a:solidFill>
              </a:rPr>
              <a:t>Normalized Database Design</a:t>
            </a:r>
            <a:r>
              <a:rPr lang="en-US" sz="1800" dirty="0">
                <a:solidFill>
                  <a:schemeClr val="tx1"/>
                </a:solidFill>
              </a:rPr>
              <a:t>: Data is highly normalized (split into multiple related tables) to reduce redundancy.</a:t>
            </a:r>
          </a:p>
          <a:p>
            <a:pPr algn="just">
              <a:buFont typeface="+mj-lt"/>
              <a:buAutoNum type="arabicPeriod"/>
            </a:pPr>
            <a:r>
              <a:rPr lang="en-US" sz="1800" b="1" dirty="0">
                <a:solidFill>
                  <a:schemeClr val="tx1"/>
                </a:solidFill>
              </a:rPr>
              <a:t>High Concurrency</a:t>
            </a:r>
            <a:r>
              <a:rPr lang="en-US" sz="1800" dirty="0">
                <a:solidFill>
                  <a:schemeClr val="tx1"/>
                </a:solidFill>
              </a:rPr>
              <a:t>: Allows multiple users to perform transactions simultaneously.</a:t>
            </a:r>
          </a:p>
          <a:p>
            <a:pPr algn="just">
              <a:buFont typeface="+mj-lt"/>
              <a:buAutoNum type="arabicPeriod"/>
            </a:pPr>
            <a:r>
              <a:rPr lang="en-US" sz="1800" b="1" dirty="0">
                <a:solidFill>
                  <a:schemeClr val="tx1"/>
                </a:solidFill>
              </a:rPr>
              <a:t>Low Latency</a:t>
            </a:r>
            <a:r>
              <a:rPr lang="en-US" sz="1800" dirty="0">
                <a:solidFill>
                  <a:schemeClr val="tx1"/>
                </a:solidFill>
              </a:rPr>
              <a:t>: Transactions are quick, typically completed in milliseconds.</a:t>
            </a:r>
          </a:p>
          <a:p>
            <a:pPr algn="just">
              <a:buFont typeface="Arial" panose="020B0604020202020204" pitchFamily="34" charset="0"/>
              <a:buChar char="•"/>
            </a:pPr>
            <a:endParaRPr lang="en-US" sz="1800" dirty="0">
              <a:solidFill>
                <a:schemeClr val="tx1"/>
              </a:solidFill>
            </a:endParaRPr>
          </a:p>
          <a:p>
            <a:pPr marL="0" indent="0">
              <a:buNone/>
            </a:pPr>
            <a:endParaRPr lang="en-US" dirty="0">
              <a:solidFill>
                <a:schemeClr val="tx1"/>
              </a:solidFill>
            </a:endParaRPr>
          </a:p>
        </p:txBody>
      </p:sp>
    </p:spTree>
    <p:extLst>
      <p:ext uri="{BB962C8B-B14F-4D97-AF65-F5344CB8AC3E}">
        <p14:creationId xmlns:p14="http://schemas.microsoft.com/office/powerpoint/2010/main" val="470968833"/>
      </p:ext>
    </p:extLst>
  </p:cSld>
  <p:clrMapOvr>
    <a:masterClrMapping/>
  </p:clrMapOvr>
</p:sld>
</file>

<file path=ppt/slides/slide16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45B8869-5900-0C86-ACEF-8DCEEC400AB5}"/>
            </a:ext>
          </a:extLst>
        </p:cNvPr>
        <p:cNvGrpSpPr/>
        <p:nvPr/>
      </p:nvGrpSpPr>
      <p:grpSpPr>
        <a:xfrm>
          <a:off x="0" y="0"/>
          <a:ext cx="0" cy="0"/>
          <a:chOff x="0" y="0"/>
          <a:chExt cx="0" cy="0"/>
        </a:xfrm>
      </p:grpSpPr>
      <p:sp>
        <p:nvSpPr>
          <p:cNvPr id="2" name="Slide Number Placeholder 1">
            <a:extLst>
              <a:ext uri="{FF2B5EF4-FFF2-40B4-BE49-F238E27FC236}">
                <a16:creationId xmlns:a16="http://schemas.microsoft.com/office/drawing/2014/main" id="{5399E53E-FC43-DC36-DBDE-8CE5A16C8C31}"/>
              </a:ext>
            </a:extLst>
          </p:cNvPr>
          <p:cNvSpPr>
            <a:spLocks noGrp="1"/>
          </p:cNvSpPr>
          <p:nvPr>
            <p:ph type="sldNum" sz="quarter" idx="14"/>
          </p:nvPr>
        </p:nvSpPr>
        <p:spPr/>
        <p:txBody>
          <a:bodyPr/>
          <a:lstStyle/>
          <a:p>
            <a:fld id="{45A3C14A-F937-4231-B6F1-40B429FAFB2F}" type="slidenum">
              <a:rPr lang="en-NZ" smtClean="0"/>
              <a:pPr/>
              <a:t>160</a:t>
            </a:fld>
            <a:endParaRPr lang="en-NZ" dirty="0"/>
          </a:p>
        </p:txBody>
      </p:sp>
      <p:sp>
        <p:nvSpPr>
          <p:cNvPr id="3" name="Title 2">
            <a:extLst>
              <a:ext uri="{FF2B5EF4-FFF2-40B4-BE49-F238E27FC236}">
                <a16:creationId xmlns:a16="http://schemas.microsoft.com/office/drawing/2014/main" id="{6990DE72-7B7A-42B1-7B07-6FAC6DB1BB5B}"/>
              </a:ext>
            </a:extLst>
          </p:cNvPr>
          <p:cNvSpPr>
            <a:spLocks noGrp="1"/>
          </p:cNvSpPr>
          <p:nvPr>
            <p:ph type="title"/>
          </p:nvPr>
        </p:nvSpPr>
        <p:spPr>
          <a:xfrm>
            <a:off x="335360" y="188640"/>
            <a:ext cx="7704856" cy="838202"/>
          </a:xfrm>
        </p:spPr>
        <p:txBody>
          <a:bodyPr/>
          <a:lstStyle/>
          <a:p>
            <a:r>
              <a:rPr lang="en-IN" b="1" dirty="0">
                <a:solidFill>
                  <a:srgbClr val="FF0000"/>
                </a:solidFill>
              </a:rPr>
              <a:t>4. Classification Based on Usage</a:t>
            </a:r>
            <a:br>
              <a:rPr lang="en-US" b="1" dirty="0"/>
            </a:br>
            <a:br>
              <a:rPr lang="en-US" b="1" dirty="0"/>
            </a:br>
            <a:endParaRPr lang="en-US" b="1" dirty="0"/>
          </a:p>
        </p:txBody>
      </p:sp>
      <p:sp>
        <p:nvSpPr>
          <p:cNvPr id="4" name="Text Placeholder 3">
            <a:extLst>
              <a:ext uri="{FF2B5EF4-FFF2-40B4-BE49-F238E27FC236}">
                <a16:creationId xmlns:a16="http://schemas.microsoft.com/office/drawing/2014/main" id="{CF1CCE7B-583B-0B7F-8642-77DD57BBCFE6}"/>
              </a:ext>
            </a:extLst>
          </p:cNvPr>
          <p:cNvSpPr>
            <a:spLocks noGrp="1"/>
          </p:cNvSpPr>
          <p:nvPr>
            <p:ph type="body" sz="quarter" idx="17"/>
          </p:nvPr>
        </p:nvSpPr>
        <p:spPr>
          <a:xfrm>
            <a:off x="470463" y="476672"/>
            <a:ext cx="11521280" cy="4320480"/>
          </a:xfrm>
        </p:spPr>
        <p:txBody>
          <a:bodyPr/>
          <a:lstStyle/>
          <a:p>
            <a:pPr marL="0" indent="0" algn="just">
              <a:buNone/>
            </a:pPr>
            <a:r>
              <a:rPr lang="en-IN" sz="1800" b="1" dirty="0">
                <a:solidFill>
                  <a:srgbClr val="FF0000"/>
                </a:solidFill>
              </a:rPr>
              <a:t>a. OLTP (Online Transaction Processing)</a:t>
            </a:r>
          </a:p>
          <a:p>
            <a:pPr marL="0" indent="0">
              <a:lnSpc>
                <a:spcPct val="115000"/>
              </a:lnSpc>
              <a:spcAft>
                <a:spcPts val="800"/>
              </a:spcAft>
              <a:buNone/>
            </a:pPr>
            <a:r>
              <a:rPr lang="en-IN" sz="1800" b="1" kern="100" dirty="0">
                <a:solidFill>
                  <a:srgbClr val="FF0000"/>
                </a:solidFill>
                <a:effectLst/>
              </a:rPr>
              <a:t>Benefits of OLTP Services</a:t>
            </a:r>
            <a:endParaRPr lang="en-IN" sz="1800" kern="100" dirty="0">
              <a:solidFill>
                <a:srgbClr val="FF0000"/>
              </a:solidFill>
              <a:effectLst/>
            </a:endParaRPr>
          </a:p>
          <a:p>
            <a:pPr marL="342900" lvl="0" indent="-342900">
              <a:lnSpc>
                <a:spcPct val="115000"/>
              </a:lnSpc>
              <a:spcAft>
                <a:spcPts val="800"/>
              </a:spcAft>
              <a:buSzPts val="1000"/>
              <a:buFont typeface="Symbol" panose="05050102010706020507" pitchFamily="18" charset="2"/>
              <a:buChar char=""/>
              <a:tabLst>
                <a:tab pos="457200" algn="l"/>
              </a:tabLst>
            </a:pPr>
            <a:r>
              <a:rPr lang="en-IN" sz="1800" kern="100" dirty="0">
                <a:solidFill>
                  <a:schemeClr val="tx1"/>
                </a:solidFill>
                <a:effectLst/>
              </a:rPr>
              <a:t>OLTP services allow users to read, write and delete data operations quickly.</a:t>
            </a:r>
          </a:p>
          <a:p>
            <a:pPr marL="342900" lvl="0" indent="-342900">
              <a:lnSpc>
                <a:spcPct val="115000"/>
              </a:lnSpc>
              <a:spcAft>
                <a:spcPts val="800"/>
              </a:spcAft>
              <a:buSzPts val="1000"/>
              <a:buFont typeface="Symbol" panose="05050102010706020507" pitchFamily="18" charset="2"/>
              <a:buChar char=""/>
              <a:tabLst>
                <a:tab pos="457200" algn="l"/>
              </a:tabLst>
            </a:pPr>
            <a:r>
              <a:rPr lang="en-IN" sz="1800" kern="100" dirty="0">
                <a:solidFill>
                  <a:schemeClr val="tx1"/>
                </a:solidFill>
                <a:effectLst/>
              </a:rPr>
              <a:t>OLTP services help in increasing users and transactions which helps in real-time access to data.</a:t>
            </a:r>
          </a:p>
          <a:p>
            <a:pPr marL="342900" lvl="0" indent="-342900">
              <a:lnSpc>
                <a:spcPct val="115000"/>
              </a:lnSpc>
              <a:spcAft>
                <a:spcPts val="800"/>
              </a:spcAft>
              <a:buSzPts val="1000"/>
              <a:buFont typeface="Symbol" panose="05050102010706020507" pitchFamily="18" charset="2"/>
              <a:buChar char=""/>
              <a:tabLst>
                <a:tab pos="457200" algn="l"/>
              </a:tabLst>
            </a:pPr>
            <a:r>
              <a:rPr lang="en-IN" sz="1800" kern="100" dirty="0">
                <a:solidFill>
                  <a:schemeClr val="tx1"/>
                </a:solidFill>
                <a:effectLst/>
              </a:rPr>
              <a:t>OLTP services help to provide better security by applying multiple security features.</a:t>
            </a:r>
          </a:p>
          <a:p>
            <a:pPr marL="342900" lvl="0" indent="-342900">
              <a:lnSpc>
                <a:spcPct val="115000"/>
              </a:lnSpc>
              <a:spcAft>
                <a:spcPts val="800"/>
              </a:spcAft>
              <a:buSzPts val="1000"/>
              <a:buFont typeface="Symbol" panose="05050102010706020507" pitchFamily="18" charset="2"/>
              <a:buChar char=""/>
              <a:tabLst>
                <a:tab pos="457200" algn="l"/>
              </a:tabLst>
            </a:pPr>
            <a:r>
              <a:rPr lang="en-IN" sz="1800" kern="100" dirty="0">
                <a:solidFill>
                  <a:schemeClr val="tx1"/>
                </a:solidFill>
                <a:effectLst/>
              </a:rPr>
              <a:t>OLTP services help in making better decision making by providing accurate data or current data.</a:t>
            </a:r>
          </a:p>
          <a:p>
            <a:pPr marL="342900" lvl="0" indent="-342900">
              <a:lnSpc>
                <a:spcPct val="115000"/>
              </a:lnSpc>
              <a:spcAft>
                <a:spcPts val="800"/>
              </a:spcAft>
              <a:buSzPts val="1000"/>
              <a:buFont typeface="Symbol" panose="05050102010706020507" pitchFamily="18" charset="2"/>
              <a:buChar char=""/>
              <a:tabLst>
                <a:tab pos="457200" algn="l"/>
              </a:tabLst>
            </a:pPr>
            <a:r>
              <a:rPr lang="en-IN" sz="1800" kern="100" dirty="0">
                <a:solidFill>
                  <a:schemeClr val="tx1"/>
                </a:solidFill>
                <a:effectLst/>
              </a:rPr>
              <a:t>OLTP Services provide Data Integrity, Consistency, and High Availability to the data.</a:t>
            </a:r>
          </a:p>
          <a:p>
            <a:pPr marL="0" indent="0">
              <a:lnSpc>
                <a:spcPct val="115000"/>
              </a:lnSpc>
              <a:spcAft>
                <a:spcPts val="800"/>
              </a:spcAft>
              <a:buNone/>
            </a:pPr>
            <a:r>
              <a:rPr lang="en-IN" sz="1800" b="1" kern="100" dirty="0">
                <a:solidFill>
                  <a:srgbClr val="FF0000"/>
                </a:solidFill>
                <a:effectLst/>
              </a:rPr>
              <a:t>Drawbacks of OLTP Services</a:t>
            </a:r>
            <a:endParaRPr lang="en-IN" sz="1800" kern="100" dirty="0">
              <a:solidFill>
                <a:srgbClr val="FF0000"/>
              </a:solidFill>
              <a:effectLst/>
            </a:endParaRPr>
          </a:p>
          <a:p>
            <a:pPr marL="342900" lvl="0" indent="-342900">
              <a:lnSpc>
                <a:spcPct val="115000"/>
              </a:lnSpc>
              <a:spcAft>
                <a:spcPts val="800"/>
              </a:spcAft>
              <a:buSzPts val="1000"/>
              <a:buFont typeface="Symbol" panose="05050102010706020507" pitchFamily="18" charset="2"/>
              <a:buChar char=""/>
              <a:tabLst>
                <a:tab pos="457200" algn="l"/>
              </a:tabLst>
            </a:pPr>
            <a:r>
              <a:rPr lang="en-IN" sz="1800" kern="100" dirty="0">
                <a:solidFill>
                  <a:schemeClr val="tx1"/>
                </a:solidFill>
                <a:effectLst/>
              </a:rPr>
              <a:t>OLTP has limited analysis capability as they are not capable of intending complex analysis or reporting.</a:t>
            </a:r>
          </a:p>
          <a:p>
            <a:pPr marL="342900" lvl="0" indent="-342900">
              <a:lnSpc>
                <a:spcPct val="115000"/>
              </a:lnSpc>
              <a:spcAft>
                <a:spcPts val="800"/>
              </a:spcAft>
              <a:buSzPts val="1000"/>
              <a:buFont typeface="Symbol" panose="05050102010706020507" pitchFamily="18" charset="2"/>
              <a:buChar char=""/>
              <a:tabLst>
                <a:tab pos="457200" algn="l"/>
              </a:tabLst>
            </a:pPr>
            <a:r>
              <a:rPr lang="en-IN" sz="1800" kern="100" dirty="0">
                <a:solidFill>
                  <a:schemeClr val="tx1"/>
                </a:solidFill>
                <a:effectLst/>
              </a:rPr>
              <a:t>OLTP has high maintenance costs because of frequent maintenance, backups, and recovery.</a:t>
            </a:r>
          </a:p>
          <a:p>
            <a:pPr marL="342900" lvl="0" indent="-342900">
              <a:lnSpc>
                <a:spcPct val="115000"/>
              </a:lnSpc>
              <a:spcAft>
                <a:spcPts val="800"/>
              </a:spcAft>
              <a:buSzPts val="1000"/>
              <a:buFont typeface="Symbol" panose="05050102010706020507" pitchFamily="18" charset="2"/>
              <a:buChar char=""/>
              <a:tabLst>
                <a:tab pos="457200" algn="l"/>
              </a:tabLst>
            </a:pPr>
            <a:r>
              <a:rPr lang="en-IN" sz="1800" kern="100" dirty="0">
                <a:solidFill>
                  <a:schemeClr val="tx1"/>
                </a:solidFill>
                <a:effectLst/>
              </a:rPr>
              <a:t>OLTP Services get hampered in the case whenever there is a hardware failure which leads to the failure of online transactions.</a:t>
            </a:r>
          </a:p>
          <a:p>
            <a:pPr marL="342900" lvl="0" indent="-342900">
              <a:lnSpc>
                <a:spcPct val="115000"/>
              </a:lnSpc>
              <a:spcAft>
                <a:spcPts val="800"/>
              </a:spcAft>
              <a:buSzPts val="1000"/>
              <a:buFont typeface="Symbol" panose="05050102010706020507" pitchFamily="18" charset="2"/>
              <a:buChar char=""/>
              <a:tabLst>
                <a:tab pos="457200" algn="l"/>
              </a:tabLst>
            </a:pPr>
            <a:r>
              <a:rPr lang="en-IN" sz="1800" kern="100" dirty="0">
                <a:solidFill>
                  <a:schemeClr val="tx1"/>
                </a:solidFill>
                <a:effectLst/>
              </a:rPr>
              <a:t>OLTP Services many times experience issues such as duplicate or inconsistent data.</a:t>
            </a:r>
          </a:p>
          <a:p>
            <a:pPr algn="just">
              <a:buFont typeface="Arial" panose="020B0604020202020204" pitchFamily="34" charset="0"/>
              <a:buChar char="•"/>
            </a:pPr>
            <a:endParaRPr lang="en-US" sz="1800" dirty="0">
              <a:solidFill>
                <a:schemeClr val="tx1"/>
              </a:solidFill>
            </a:endParaRPr>
          </a:p>
          <a:p>
            <a:pPr marL="0" indent="0">
              <a:buNone/>
            </a:pPr>
            <a:endParaRPr lang="en-US" dirty="0">
              <a:solidFill>
                <a:schemeClr val="tx1"/>
              </a:solidFill>
            </a:endParaRPr>
          </a:p>
        </p:txBody>
      </p:sp>
    </p:spTree>
    <p:extLst>
      <p:ext uri="{BB962C8B-B14F-4D97-AF65-F5344CB8AC3E}">
        <p14:creationId xmlns:p14="http://schemas.microsoft.com/office/powerpoint/2010/main" val="4012015086"/>
      </p:ext>
    </p:extLst>
  </p:cSld>
  <p:clrMapOvr>
    <a:masterClrMapping/>
  </p:clrMapOvr>
</p:sld>
</file>

<file path=ppt/slides/slide16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2038B66-997B-B7A1-7254-FD321640F63D}"/>
            </a:ext>
          </a:extLst>
        </p:cNvPr>
        <p:cNvGrpSpPr/>
        <p:nvPr/>
      </p:nvGrpSpPr>
      <p:grpSpPr>
        <a:xfrm>
          <a:off x="0" y="0"/>
          <a:ext cx="0" cy="0"/>
          <a:chOff x="0" y="0"/>
          <a:chExt cx="0" cy="0"/>
        </a:xfrm>
      </p:grpSpPr>
      <p:sp>
        <p:nvSpPr>
          <p:cNvPr id="2" name="Slide Number Placeholder 1">
            <a:extLst>
              <a:ext uri="{FF2B5EF4-FFF2-40B4-BE49-F238E27FC236}">
                <a16:creationId xmlns:a16="http://schemas.microsoft.com/office/drawing/2014/main" id="{2C79A97D-55BC-DD76-3A63-D378E7856A76}"/>
              </a:ext>
            </a:extLst>
          </p:cNvPr>
          <p:cNvSpPr>
            <a:spLocks noGrp="1"/>
          </p:cNvSpPr>
          <p:nvPr>
            <p:ph type="sldNum" sz="quarter" idx="14"/>
          </p:nvPr>
        </p:nvSpPr>
        <p:spPr/>
        <p:txBody>
          <a:bodyPr/>
          <a:lstStyle/>
          <a:p>
            <a:fld id="{45A3C14A-F937-4231-B6F1-40B429FAFB2F}" type="slidenum">
              <a:rPr lang="en-NZ" smtClean="0"/>
              <a:pPr/>
              <a:t>161</a:t>
            </a:fld>
            <a:endParaRPr lang="en-NZ" dirty="0"/>
          </a:p>
        </p:txBody>
      </p:sp>
      <p:sp>
        <p:nvSpPr>
          <p:cNvPr id="3" name="Title 2">
            <a:extLst>
              <a:ext uri="{FF2B5EF4-FFF2-40B4-BE49-F238E27FC236}">
                <a16:creationId xmlns:a16="http://schemas.microsoft.com/office/drawing/2014/main" id="{99EEED9D-73D0-C292-A014-2B9AAC12908C}"/>
              </a:ext>
            </a:extLst>
          </p:cNvPr>
          <p:cNvSpPr>
            <a:spLocks noGrp="1"/>
          </p:cNvSpPr>
          <p:nvPr>
            <p:ph type="title"/>
          </p:nvPr>
        </p:nvSpPr>
        <p:spPr>
          <a:xfrm>
            <a:off x="335360" y="188640"/>
            <a:ext cx="7704856" cy="838202"/>
          </a:xfrm>
        </p:spPr>
        <p:txBody>
          <a:bodyPr/>
          <a:lstStyle/>
          <a:p>
            <a:r>
              <a:rPr lang="en-IN" b="1" dirty="0">
                <a:solidFill>
                  <a:srgbClr val="FF0000"/>
                </a:solidFill>
              </a:rPr>
              <a:t>4. Classification Based on Usage</a:t>
            </a:r>
            <a:br>
              <a:rPr lang="en-US" b="1" dirty="0"/>
            </a:br>
            <a:br>
              <a:rPr lang="en-US" b="1" dirty="0"/>
            </a:br>
            <a:endParaRPr lang="en-US" b="1" dirty="0"/>
          </a:p>
        </p:txBody>
      </p:sp>
      <p:sp>
        <p:nvSpPr>
          <p:cNvPr id="4" name="Text Placeholder 3">
            <a:extLst>
              <a:ext uri="{FF2B5EF4-FFF2-40B4-BE49-F238E27FC236}">
                <a16:creationId xmlns:a16="http://schemas.microsoft.com/office/drawing/2014/main" id="{7D45E2EA-099C-3403-7F3C-AE44DE62C515}"/>
              </a:ext>
            </a:extLst>
          </p:cNvPr>
          <p:cNvSpPr>
            <a:spLocks noGrp="1"/>
          </p:cNvSpPr>
          <p:nvPr>
            <p:ph type="body" sz="quarter" idx="17"/>
          </p:nvPr>
        </p:nvSpPr>
        <p:spPr>
          <a:xfrm>
            <a:off x="470463" y="476672"/>
            <a:ext cx="11521280" cy="4320480"/>
          </a:xfrm>
        </p:spPr>
        <p:txBody>
          <a:bodyPr/>
          <a:lstStyle/>
          <a:p>
            <a:pPr marL="0" indent="0" algn="just">
              <a:buNone/>
            </a:pPr>
            <a:r>
              <a:rPr lang="en-IN" sz="1800" b="1" dirty="0">
                <a:solidFill>
                  <a:srgbClr val="FF0000"/>
                </a:solidFill>
              </a:rPr>
              <a:t>a. OLTP (Online Transaction Processing)</a:t>
            </a:r>
          </a:p>
          <a:p>
            <a:pPr marL="0" indent="0" algn="just">
              <a:buNone/>
            </a:pPr>
            <a:r>
              <a:rPr lang="en-US" sz="1800" b="1" dirty="0">
                <a:solidFill>
                  <a:srgbClr val="FF0000"/>
                </a:solidFill>
              </a:rPr>
              <a:t>Example Use Cases:</a:t>
            </a:r>
          </a:p>
          <a:p>
            <a:pPr algn="just">
              <a:buFont typeface="Arial" panose="020B0604020202020204" pitchFamily="34" charset="0"/>
              <a:buChar char="•"/>
            </a:pPr>
            <a:r>
              <a:rPr lang="en-US" sz="1800" b="1" dirty="0">
                <a:solidFill>
                  <a:schemeClr val="tx1"/>
                </a:solidFill>
              </a:rPr>
              <a:t>Banking</a:t>
            </a:r>
            <a:r>
              <a:rPr lang="en-US" sz="1800" dirty="0">
                <a:solidFill>
                  <a:schemeClr val="tx1"/>
                </a:solidFill>
              </a:rPr>
              <a:t>: Managing deposits, withdrawals, and fund transfers.</a:t>
            </a:r>
          </a:p>
          <a:p>
            <a:pPr algn="just">
              <a:buFont typeface="Arial" panose="020B0604020202020204" pitchFamily="34" charset="0"/>
              <a:buChar char="•"/>
            </a:pPr>
            <a:r>
              <a:rPr lang="en-US" sz="1800" b="1" dirty="0">
                <a:solidFill>
                  <a:schemeClr val="tx1"/>
                </a:solidFill>
              </a:rPr>
              <a:t>E-commerce</a:t>
            </a:r>
            <a:r>
              <a:rPr lang="en-US" sz="1800" dirty="0">
                <a:solidFill>
                  <a:schemeClr val="tx1"/>
                </a:solidFill>
              </a:rPr>
              <a:t>: Recording orders, payments, and customer details.</a:t>
            </a:r>
          </a:p>
          <a:p>
            <a:pPr algn="just">
              <a:buFont typeface="Arial" panose="020B0604020202020204" pitchFamily="34" charset="0"/>
              <a:buChar char="•"/>
            </a:pPr>
            <a:r>
              <a:rPr lang="en-US" sz="1800" b="1" dirty="0">
                <a:solidFill>
                  <a:schemeClr val="tx1"/>
                </a:solidFill>
              </a:rPr>
              <a:t>Retail</a:t>
            </a:r>
            <a:r>
              <a:rPr lang="en-US" sz="1800" dirty="0">
                <a:solidFill>
                  <a:schemeClr val="tx1"/>
                </a:solidFill>
              </a:rPr>
              <a:t>: Updating inventory and processing sales.</a:t>
            </a:r>
          </a:p>
          <a:p>
            <a:pPr marL="0" indent="0" algn="just">
              <a:lnSpc>
                <a:spcPct val="115000"/>
              </a:lnSpc>
              <a:spcAft>
                <a:spcPts val="800"/>
              </a:spcAft>
              <a:buNone/>
            </a:pPr>
            <a:r>
              <a:rPr lang="en-IN" sz="2000" kern="100" dirty="0">
                <a:solidFill>
                  <a:schemeClr val="tx1"/>
                </a:solidFill>
                <a:effectLst/>
              </a:rPr>
              <a:t>An example considered for OLTP System is ATM </a:t>
            </a:r>
            <a:r>
              <a:rPr lang="en-IN" sz="2000" kern="100" dirty="0" err="1">
                <a:solidFill>
                  <a:schemeClr val="tx1"/>
                </a:solidFill>
                <a:effectLst/>
              </a:rPr>
              <a:t>Center</a:t>
            </a:r>
            <a:r>
              <a:rPr lang="en-IN" sz="2000" kern="100" dirty="0">
                <a:solidFill>
                  <a:schemeClr val="tx1"/>
                </a:solidFill>
                <a:effectLst/>
              </a:rPr>
              <a:t> a person who authenticates first will receive the amount first and the condition is that the amount to be withdrawn must be present in the ATM. The uses of the OLTP System are described below.</a:t>
            </a:r>
          </a:p>
          <a:p>
            <a:pPr marL="342900" lvl="0" indent="-342900" algn="just">
              <a:lnSpc>
                <a:spcPct val="115000"/>
              </a:lnSpc>
              <a:spcAft>
                <a:spcPts val="800"/>
              </a:spcAft>
              <a:buSzPts val="1000"/>
              <a:buFont typeface="Symbol" panose="05050102010706020507" pitchFamily="18" charset="2"/>
              <a:buChar char=""/>
              <a:tabLst>
                <a:tab pos="457200" algn="l"/>
              </a:tabLst>
            </a:pPr>
            <a:r>
              <a:rPr lang="en-IN" sz="2000" kern="100" dirty="0">
                <a:solidFill>
                  <a:schemeClr val="tx1"/>
                </a:solidFill>
                <a:effectLst/>
              </a:rPr>
              <a:t>ATM </a:t>
            </a:r>
            <a:r>
              <a:rPr lang="en-IN" sz="2000" kern="100" dirty="0" err="1">
                <a:solidFill>
                  <a:schemeClr val="tx1"/>
                </a:solidFill>
                <a:effectLst/>
              </a:rPr>
              <a:t>center</a:t>
            </a:r>
            <a:r>
              <a:rPr lang="en-IN" sz="2000" kern="100" dirty="0">
                <a:solidFill>
                  <a:schemeClr val="tx1"/>
                </a:solidFill>
                <a:effectLst/>
              </a:rPr>
              <a:t> is an OLTP application.</a:t>
            </a:r>
          </a:p>
          <a:p>
            <a:pPr marL="342900" lvl="0" indent="-342900" algn="just">
              <a:lnSpc>
                <a:spcPct val="115000"/>
              </a:lnSpc>
              <a:spcAft>
                <a:spcPts val="800"/>
              </a:spcAft>
              <a:buSzPts val="1000"/>
              <a:buFont typeface="Symbol" panose="05050102010706020507" pitchFamily="18" charset="2"/>
              <a:buChar char=""/>
              <a:tabLst>
                <a:tab pos="457200" algn="l"/>
              </a:tabLst>
            </a:pPr>
            <a:r>
              <a:rPr lang="en-IN" sz="2000" kern="100" dirty="0">
                <a:solidFill>
                  <a:schemeClr val="tx1"/>
                </a:solidFill>
                <a:effectLst/>
              </a:rPr>
              <a:t>OLTP handles the ACID properties during data transactions via the application.</a:t>
            </a:r>
          </a:p>
          <a:p>
            <a:pPr marL="342900" lvl="0" indent="-342900" algn="just">
              <a:lnSpc>
                <a:spcPct val="115000"/>
              </a:lnSpc>
              <a:spcAft>
                <a:spcPts val="800"/>
              </a:spcAft>
              <a:buSzPts val="1000"/>
              <a:buFont typeface="Symbol" panose="05050102010706020507" pitchFamily="18" charset="2"/>
              <a:buChar char=""/>
              <a:tabLst>
                <a:tab pos="457200" algn="l"/>
              </a:tabLst>
            </a:pPr>
            <a:r>
              <a:rPr lang="en-IN" sz="2000" kern="100" dirty="0">
                <a:solidFill>
                  <a:schemeClr val="tx1"/>
                </a:solidFill>
                <a:effectLst/>
              </a:rPr>
              <a:t>It’s also used for Online banking, Online airline ticket booking, sending a text message, add a book to the shopping cart.</a:t>
            </a:r>
          </a:p>
          <a:p>
            <a:pPr algn="just">
              <a:buFont typeface="Arial" panose="020B0604020202020204" pitchFamily="34" charset="0"/>
              <a:buChar char="•"/>
            </a:pPr>
            <a:endParaRPr lang="en-US" sz="1800" dirty="0">
              <a:solidFill>
                <a:schemeClr val="tx1"/>
              </a:solidFill>
            </a:endParaRPr>
          </a:p>
          <a:p>
            <a:pPr marL="0" indent="0">
              <a:buNone/>
            </a:pPr>
            <a:endParaRPr lang="en-US" dirty="0">
              <a:solidFill>
                <a:schemeClr val="tx1"/>
              </a:solidFill>
            </a:endParaRPr>
          </a:p>
        </p:txBody>
      </p:sp>
    </p:spTree>
    <p:extLst>
      <p:ext uri="{BB962C8B-B14F-4D97-AF65-F5344CB8AC3E}">
        <p14:creationId xmlns:p14="http://schemas.microsoft.com/office/powerpoint/2010/main" val="3575876355"/>
      </p:ext>
    </p:extLst>
  </p:cSld>
  <p:clrMapOvr>
    <a:masterClrMapping/>
  </p:clrMapOvr>
</p:sld>
</file>

<file path=ppt/slides/slide16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29E85F4-413D-413A-77FC-C195FB1C21BE}"/>
            </a:ext>
          </a:extLst>
        </p:cNvPr>
        <p:cNvGrpSpPr/>
        <p:nvPr/>
      </p:nvGrpSpPr>
      <p:grpSpPr>
        <a:xfrm>
          <a:off x="0" y="0"/>
          <a:ext cx="0" cy="0"/>
          <a:chOff x="0" y="0"/>
          <a:chExt cx="0" cy="0"/>
        </a:xfrm>
      </p:grpSpPr>
      <p:sp>
        <p:nvSpPr>
          <p:cNvPr id="2" name="Slide Number Placeholder 1">
            <a:extLst>
              <a:ext uri="{FF2B5EF4-FFF2-40B4-BE49-F238E27FC236}">
                <a16:creationId xmlns:a16="http://schemas.microsoft.com/office/drawing/2014/main" id="{945A3A21-583E-94C6-9553-772EA2D61462}"/>
              </a:ext>
            </a:extLst>
          </p:cNvPr>
          <p:cNvSpPr>
            <a:spLocks noGrp="1"/>
          </p:cNvSpPr>
          <p:nvPr>
            <p:ph type="sldNum" sz="quarter" idx="14"/>
          </p:nvPr>
        </p:nvSpPr>
        <p:spPr/>
        <p:txBody>
          <a:bodyPr/>
          <a:lstStyle/>
          <a:p>
            <a:fld id="{45A3C14A-F937-4231-B6F1-40B429FAFB2F}" type="slidenum">
              <a:rPr lang="en-NZ" smtClean="0"/>
              <a:pPr/>
              <a:t>162</a:t>
            </a:fld>
            <a:endParaRPr lang="en-NZ" dirty="0"/>
          </a:p>
        </p:txBody>
      </p:sp>
      <p:sp>
        <p:nvSpPr>
          <p:cNvPr id="3" name="Title 2">
            <a:extLst>
              <a:ext uri="{FF2B5EF4-FFF2-40B4-BE49-F238E27FC236}">
                <a16:creationId xmlns:a16="http://schemas.microsoft.com/office/drawing/2014/main" id="{D392D025-923F-83D0-4FD8-64964E461716}"/>
              </a:ext>
            </a:extLst>
          </p:cNvPr>
          <p:cNvSpPr>
            <a:spLocks noGrp="1"/>
          </p:cNvSpPr>
          <p:nvPr>
            <p:ph type="title"/>
          </p:nvPr>
        </p:nvSpPr>
        <p:spPr>
          <a:xfrm>
            <a:off x="695400" y="395786"/>
            <a:ext cx="7704856" cy="838202"/>
          </a:xfrm>
        </p:spPr>
        <p:txBody>
          <a:bodyPr/>
          <a:lstStyle/>
          <a:p>
            <a:r>
              <a:rPr lang="en-IN" b="1" dirty="0">
                <a:solidFill>
                  <a:srgbClr val="FF0000"/>
                </a:solidFill>
              </a:rPr>
              <a:t>4. Classification Based on Usage</a:t>
            </a:r>
            <a:br>
              <a:rPr lang="en-US" b="1" dirty="0"/>
            </a:br>
            <a:br>
              <a:rPr lang="en-US" b="1" dirty="0"/>
            </a:br>
            <a:endParaRPr lang="en-US" b="1" dirty="0"/>
          </a:p>
        </p:txBody>
      </p:sp>
      <p:sp>
        <p:nvSpPr>
          <p:cNvPr id="4" name="Text Placeholder 3">
            <a:extLst>
              <a:ext uri="{FF2B5EF4-FFF2-40B4-BE49-F238E27FC236}">
                <a16:creationId xmlns:a16="http://schemas.microsoft.com/office/drawing/2014/main" id="{B2465C68-3B4B-BDFA-F150-E8F9E54EB7E1}"/>
              </a:ext>
            </a:extLst>
          </p:cNvPr>
          <p:cNvSpPr>
            <a:spLocks noGrp="1"/>
          </p:cNvSpPr>
          <p:nvPr>
            <p:ph type="body" sz="quarter" idx="17"/>
          </p:nvPr>
        </p:nvSpPr>
        <p:spPr>
          <a:xfrm>
            <a:off x="479376" y="692696"/>
            <a:ext cx="10801201" cy="4896544"/>
          </a:xfrm>
        </p:spPr>
        <p:txBody>
          <a:bodyPr/>
          <a:lstStyle/>
          <a:p>
            <a:pPr marL="0" indent="0">
              <a:buNone/>
            </a:pPr>
            <a:r>
              <a:rPr lang="en-IN" sz="2000" b="1" dirty="0">
                <a:solidFill>
                  <a:srgbClr val="FF0000"/>
                </a:solidFill>
              </a:rPr>
              <a:t>b. OLAP (Online Analytical Processing)</a:t>
            </a:r>
          </a:p>
          <a:p>
            <a:pPr marL="0" indent="0" algn="just">
              <a:buNone/>
            </a:pPr>
            <a:r>
              <a:rPr lang="en-IN" sz="2000" kern="100" dirty="0">
                <a:solidFill>
                  <a:schemeClr val="tx1"/>
                </a:solidFill>
                <a:effectLst/>
              </a:rPr>
              <a:t>OLAP Stands for Online Analytical Processing. OLAP systems have the capability to </a:t>
            </a:r>
            <a:r>
              <a:rPr lang="en-IN" sz="2000" kern="100" dirty="0" err="1">
                <a:solidFill>
                  <a:schemeClr val="tx1"/>
                </a:solidFill>
                <a:effectLst/>
              </a:rPr>
              <a:t>analyze</a:t>
            </a:r>
            <a:r>
              <a:rPr lang="en-IN" sz="2000" kern="100" dirty="0">
                <a:solidFill>
                  <a:schemeClr val="tx1"/>
                </a:solidFill>
                <a:effectLst/>
              </a:rPr>
              <a:t> database information of multiple systems at the current time. </a:t>
            </a:r>
          </a:p>
          <a:p>
            <a:pPr marL="0" indent="0" algn="just">
              <a:buNone/>
            </a:pPr>
            <a:r>
              <a:rPr lang="en-IN" sz="2000" kern="100" dirty="0">
                <a:solidFill>
                  <a:schemeClr val="tx1"/>
                </a:solidFill>
                <a:effectLst/>
              </a:rPr>
              <a:t>The primary goal of OLAP Service is data analysis and not data processing.</a:t>
            </a:r>
          </a:p>
          <a:p>
            <a:pPr marL="0" indent="0" algn="just">
              <a:buNone/>
            </a:pPr>
            <a:r>
              <a:rPr lang="en-IN" sz="2000" kern="100" dirty="0">
                <a:solidFill>
                  <a:schemeClr val="tx1"/>
                </a:solidFill>
                <a:effectLst/>
              </a:rPr>
              <a:t>Online Analytical Processing (OLAP) refers to software tools used for the analysis of data in business decision-making processes. </a:t>
            </a:r>
          </a:p>
          <a:p>
            <a:pPr marL="0" indent="0" algn="just">
              <a:buNone/>
            </a:pPr>
            <a:r>
              <a:rPr lang="en-IN" sz="2000" kern="100" dirty="0">
                <a:solidFill>
                  <a:schemeClr val="tx1"/>
                </a:solidFill>
                <a:effectLst/>
              </a:rPr>
              <a:t>OLAP systems generally allow users to extract and view data from various perspectives, many times they do this in a multidimensional format which is necessary for understanding complex interrelations in the data. </a:t>
            </a:r>
          </a:p>
          <a:p>
            <a:pPr marL="0" indent="0" algn="just">
              <a:buNone/>
            </a:pPr>
            <a:r>
              <a:rPr lang="en-IN" sz="2000" kern="100" dirty="0">
                <a:solidFill>
                  <a:schemeClr val="tx1"/>
                </a:solidFill>
                <a:effectLst/>
              </a:rPr>
              <a:t>These systems are part of data warehousing and business intelligence, enabling users to do things like trend analysis, financial forecasting, and any other form of in-depth data analysis.</a:t>
            </a:r>
          </a:p>
        </p:txBody>
      </p:sp>
    </p:spTree>
    <p:extLst>
      <p:ext uri="{BB962C8B-B14F-4D97-AF65-F5344CB8AC3E}">
        <p14:creationId xmlns:p14="http://schemas.microsoft.com/office/powerpoint/2010/main" val="725945653"/>
      </p:ext>
    </p:extLst>
  </p:cSld>
  <p:clrMapOvr>
    <a:masterClrMapping/>
  </p:clrMapOvr>
</p:sld>
</file>

<file path=ppt/slides/slide16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349B033-5D6B-CBEB-07FE-1EB2B2E2133D}"/>
            </a:ext>
          </a:extLst>
        </p:cNvPr>
        <p:cNvGrpSpPr/>
        <p:nvPr/>
      </p:nvGrpSpPr>
      <p:grpSpPr>
        <a:xfrm>
          <a:off x="0" y="0"/>
          <a:ext cx="0" cy="0"/>
          <a:chOff x="0" y="0"/>
          <a:chExt cx="0" cy="0"/>
        </a:xfrm>
      </p:grpSpPr>
      <p:sp>
        <p:nvSpPr>
          <p:cNvPr id="2" name="Slide Number Placeholder 1">
            <a:extLst>
              <a:ext uri="{FF2B5EF4-FFF2-40B4-BE49-F238E27FC236}">
                <a16:creationId xmlns:a16="http://schemas.microsoft.com/office/drawing/2014/main" id="{603F06DF-3795-A1F0-94FD-E2F4B3651D90}"/>
              </a:ext>
            </a:extLst>
          </p:cNvPr>
          <p:cNvSpPr>
            <a:spLocks noGrp="1"/>
          </p:cNvSpPr>
          <p:nvPr>
            <p:ph type="sldNum" sz="quarter" idx="14"/>
          </p:nvPr>
        </p:nvSpPr>
        <p:spPr/>
        <p:txBody>
          <a:bodyPr/>
          <a:lstStyle/>
          <a:p>
            <a:fld id="{45A3C14A-F937-4231-B6F1-40B429FAFB2F}" type="slidenum">
              <a:rPr lang="en-NZ" smtClean="0"/>
              <a:pPr/>
              <a:t>163</a:t>
            </a:fld>
            <a:endParaRPr lang="en-NZ" dirty="0"/>
          </a:p>
        </p:txBody>
      </p:sp>
      <p:sp>
        <p:nvSpPr>
          <p:cNvPr id="3" name="Title 2">
            <a:extLst>
              <a:ext uri="{FF2B5EF4-FFF2-40B4-BE49-F238E27FC236}">
                <a16:creationId xmlns:a16="http://schemas.microsoft.com/office/drawing/2014/main" id="{09655274-45A4-25DC-96D8-394EFB66812E}"/>
              </a:ext>
            </a:extLst>
          </p:cNvPr>
          <p:cNvSpPr>
            <a:spLocks noGrp="1"/>
          </p:cNvSpPr>
          <p:nvPr>
            <p:ph type="title"/>
          </p:nvPr>
        </p:nvSpPr>
        <p:spPr>
          <a:xfrm>
            <a:off x="695400" y="395786"/>
            <a:ext cx="7704856" cy="838202"/>
          </a:xfrm>
        </p:spPr>
        <p:txBody>
          <a:bodyPr/>
          <a:lstStyle/>
          <a:p>
            <a:r>
              <a:rPr lang="en-IN" b="1" dirty="0">
                <a:solidFill>
                  <a:srgbClr val="FF0000"/>
                </a:solidFill>
              </a:rPr>
              <a:t>4. Classification Based on Usage</a:t>
            </a:r>
            <a:br>
              <a:rPr lang="en-US" b="1" dirty="0"/>
            </a:br>
            <a:br>
              <a:rPr lang="en-US" b="1" dirty="0"/>
            </a:br>
            <a:endParaRPr lang="en-US" b="1" dirty="0"/>
          </a:p>
        </p:txBody>
      </p:sp>
      <p:sp>
        <p:nvSpPr>
          <p:cNvPr id="4" name="Text Placeholder 3">
            <a:extLst>
              <a:ext uri="{FF2B5EF4-FFF2-40B4-BE49-F238E27FC236}">
                <a16:creationId xmlns:a16="http://schemas.microsoft.com/office/drawing/2014/main" id="{8B2D9410-EBB8-3021-EDB8-4F08486F1EEB}"/>
              </a:ext>
            </a:extLst>
          </p:cNvPr>
          <p:cNvSpPr>
            <a:spLocks noGrp="1"/>
          </p:cNvSpPr>
          <p:nvPr>
            <p:ph type="body" sz="quarter" idx="17"/>
          </p:nvPr>
        </p:nvSpPr>
        <p:spPr>
          <a:xfrm>
            <a:off x="479376" y="692696"/>
            <a:ext cx="11484024" cy="4896544"/>
          </a:xfrm>
        </p:spPr>
        <p:txBody>
          <a:bodyPr/>
          <a:lstStyle/>
          <a:p>
            <a:pPr marL="0" indent="0">
              <a:buNone/>
            </a:pPr>
            <a:r>
              <a:rPr lang="en-IN" sz="2000" b="1" dirty="0">
                <a:solidFill>
                  <a:srgbClr val="FF0000"/>
                </a:solidFill>
              </a:rPr>
              <a:t>b. OLAP (Online Analytical Processing)</a:t>
            </a:r>
          </a:p>
          <a:p>
            <a:pPr marL="0" indent="0">
              <a:lnSpc>
                <a:spcPct val="115000"/>
              </a:lnSpc>
              <a:spcAft>
                <a:spcPts val="800"/>
              </a:spcAft>
              <a:buNone/>
            </a:pPr>
            <a:r>
              <a:rPr lang="en-IN" sz="1800" b="1" kern="100" dirty="0">
                <a:solidFill>
                  <a:srgbClr val="FF0000"/>
                </a:solidFill>
                <a:effectLst/>
              </a:rPr>
              <a:t>Benefits of OLAP Services</a:t>
            </a:r>
            <a:endParaRPr lang="en-IN" sz="1800" kern="100" dirty="0">
              <a:solidFill>
                <a:srgbClr val="FF0000"/>
              </a:solidFill>
              <a:effectLst/>
            </a:endParaRPr>
          </a:p>
          <a:p>
            <a:pPr marL="342900" lvl="0" indent="-342900">
              <a:lnSpc>
                <a:spcPct val="115000"/>
              </a:lnSpc>
              <a:spcAft>
                <a:spcPts val="800"/>
              </a:spcAft>
              <a:buSzPts val="1000"/>
              <a:buFont typeface="Symbol" panose="05050102010706020507" pitchFamily="18" charset="2"/>
              <a:buChar char=""/>
              <a:tabLst>
                <a:tab pos="457200" algn="l"/>
              </a:tabLst>
            </a:pPr>
            <a:r>
              <a:rPr lang="en-IN" sz="1800" kern="100" dirty="0">
                <a:solidFill>
                  <a:schemeClr val="tx1"/>
                </a:solidFill>
                <a:effectLst/>
              </a:rPr>
              <a:t>OLAP services help in keeping consistency and calculation.</a:t>
            </a:r>
          </a:p>
          <a:p>
            <a:pPr marL="342900" lvl="0" indent="-342900">
              <a:lnSpc>
                <a:spcPct val="115000"/>
              </a:lnSpc>
              <a:spcAft>
                <a:spcPts val="800"/>
              </a:spcAft>
              <a:buSzPts val="1000"/>
              <a:buFont typeface="Symbol" panose="05050102010706020507" pitchFamily="18" charset="2"/>
              <a:buChar char=""/>
              <a:tabLst>
                <a:tab pos="457200" algn="l"/>
              </a:tabLst>
            </a:pPr>
            <a:r>
              <a:rPr lang="en-IN" sz="1800" kern="100" dirty="0">
                <a:solidFill>
                  <a:schemeClr val="tx1"/>
                </a:solidFill>
                <a:effectLst/>
              </a:rPr>
              <a:t>We can store planning, analysis, and budgeting for business analytics within one platform.</a:t>
            </a:r>
          </a:p>
          <a:p>
            <a:pPr marL="342900" lvl="0" indent="-342900">
              <a:lnSpc>
                <a:spcPct val="115000"/>
              </a:lnSpc>
              <a:spcAft>
                <a:spcPts val="800"/>
              </a:spcAft>
              <a:buSzPts val="1000"/>
              <a:buFont typeface="Symbol" panose="05050102010706020507" pitchFamily="18" charset="2"/>
              <a:buChar char=""/>
              <a:tabLst>
                <a:tab pos="457200" algn="l"/>
              </a:tabLst>
            </a:pPr>
            <a:r>
              <a:rPr lang="en-IN" sz="1800" kern="100" dirty="0">
                <a:solidFill>
                  <a:schemeClr val="tx1"/>
                </a:solidFill>
                <a:effectLst/>
              </a:rPr>
              <a:t>OLAP services help in handling large volumes of data, which helps in enterprise-level business applications.</a:t>
            </a:r>
          </a:p>
          <a:p>
            <a:pPr marL="342900" lvl="0" indent="-342900">
              <a:lnSpc>
                <a:spcPct val="115000"/>
              </a:lnSpc>
              <a:spcAft>
                <a:spcPts val="800"/>
              </a:spcAft>
              <a:buSzPts val="1000"/>
              <a:buFont typeface="Symbol" panose="05050102010706020507" pitchFamily="18" charset="2"/>
              <a:buChar char=""/>
              <a:tabLst>
                <a:tab pos="457200" algn="l"/>
              </a:tabLst>
            </a:pPr>
            <a:r>
              <a:rPr lang="en-IN" sz="1800" kern="100" dirty="0">
                <a:solidFill>
                  <a:schemeClr val="tx1"/>
                </a:solidFill>
                <a:effectLst/>
              </a:rPr>
              <a:t>OLAP services help in applying security restrictions for data protection.</a:t>
            </a:r>
          </a:p>
          <a:p>
            <a:pPr marL="342900" lvl="0" indent="-342900">
              <a:lnSpc>
                <a:spcPct val="115000"/>
              </a:lnSpc>
              <a:spcAft>
                <a:spcPts val="800"/>
              </a:spcAft>
              <a:buSzPts val="1000"/>
              <a:buFont typeface="Symbol" panose="05050102010706020507" pitchFamily="18" charset="2"/>
              <a:buChar char=""/>
              <a:tabLst>
                <a:tab pos="457200" algn="l"/>
              </a:tabLst>
            </a:pPr>
            <a:r>
              <a:rPr lang="en-IN" sz="1800" kern="100" dirty="0">
                <a:solidFill>
                  <a:schemeClr val="tx1"/>
                </a:solidFill>
                <a:effectLst/>
              </a:rPr>
              <a:t>OLAP services provide a multidimensional view of data, which helps in applying operations on data in various ways.</a:t>
            </a:r>
          </a:p>
          <a:p>
            <a:pPr marL="0" indent="0">
              <a:lnSpc>
                <a:spcPct val="115000"/>
              </a:lnSpc>
              <a:spcAft>
                <a:spcPts val="800"/>
              </a:spcAft>
              <a:buNone/>
            </a:pPr>
            <a:r>
              <a:rPr lang="en-IN" sz="1800" b="1" kern="100" dirty="0">
                <a:solidFill>
                  <a:srgbClr val="FF0000"/>
                </a:solidFill>
                <a:effectLst/>
              </a:rPr>
              <a:t>Drawbacks of OLAP Services</a:t>
            </a:r>
            <a:endParaRPr lang="en-IN" sz="1800" kern="100" dirty="0">
              <a:solidFill>
                <a:srgbClr val="FF0000"/>
              </a:solidFill>
              <a:effectLst/>
            </a:endParaRPr>
          </a:p>
          <a:p>
            <a:pPr marL="342900" lvl="0" indent="-342900">
              <a:lnSpc>
                <a:spcPct val="115000"/>
              </a:lnSpc>
              <a:spcAft>
                <a:spcPts val="800"/>
              </a:spcAft>
              <a:buSzPts val="1000"/>
              <a:buFont typeface="Symbol" panose="05050102010706020507" pitchFamily="18" charset="2"/>
              <a:buChar char=""/>
              <a:tabLst>
                <a:tab pos="457200" algn="l"/>
              </a:tabLst>
            </a:pPr>
            <a:r>
              <a:rPr lang="en-IN" sz="1800" kern="100" dirty="0">
                <a:solidFill>
                  <a:schemeClr val="tx1"/>
                </a:solidFill>
                <a:effectLst/>
              </a:rPr>
              <a:t>OLAP Services requires professionals to handle the data because of its complex </a:t>
            </a:r>
            <a:r>
              <a:rPr lang="en-IN" sz="1800" kern="100" dirty="0" err="1">
                <a:solidFill>
                  <a:schemeClr val="tx1"/>
                </a:solidFill>
                <a:effectLst/>
              </a:rPr>
              <a:t>modeling</a:t>
            </a:r>
            <a:r>
              <a:rPr lang="en-IN" sz="1800" kern="100" dirty="0">
                <a:solidFill>
                  <a:schemeClr val="tx1"/>
                </a:solidFill>
                <a:effectLst/>
              </a:rPr>
              <a:t> procedure.</a:t>
            </a:r>
          </a:p>
          <a:p>
            <a:pPr marL="342900" lvl="0" indent="-342900">
              <a:lnSpc>
                <a:spcPct val="115000"/>
              </a:lnSpc>
              <a:spcAft>
                <a:spcPts val="800"/>
              </a:spcAft>
              <a:buSzPts val="1000"/>
              <a:buFont typeface="Symbol" panose="05050102010706020507" pitchFamily="18" charset="2"/>
              <a:buChar char=""/>
              <a:tabLst>
                <a:tab pos="457200" algn="l"/>
              </a:tabLst>
            </a:pPr>
            <a:r>
              <a:rPr lang="en-IN" sz="1800" kern="100" dirty="0">
                <a:solidFill>
                  <a:schemeClr val="tx1"/>
                </a:solidFill>
                <a:effectLst/>
              </a:rPr>
              <a:t>OLAP services are expensive to implement and maintain in cases when datasets are large.</a:t>
            </a:r>
          </a:p>
          <a:p>
            <a:pPr marL="342900" lvl="0" indent="-342900">
              <a:lnSpc>
                <a:spcPct val="115000"/>
              </a:lnSpc>
              <a:spcAft>
                <a:spcPts val="800"/>
              </a:spcAft>
              <a:buSzPts val="1000"/>
              <a:buFont typeface="Symbol" panose="05050102010706020507" pitchFamily="18" charset="2"/>
              <a:buChar char=""/>
              <a:tabLst>
                <a:tab pos="457200" algn="l"/>
              </a:tabLst>
            </a:pPr>
            <a:r>
              <a:rPr lang="en-IN" sz="1800" kern="100" dirty="0">
                <a:solidFill>
                  <a:schemeClr val="tx1"/>
                </a:solidFill>
                <a:effectLst/>
              </a:rPr>
              <a:t>We can perform an analysis of data only after extraction and transformation of data in the case of OLAP which delays the system.</a:t>
            </a:r>
          </a:p>
          <a:p>
            <a:pPr marL="342900" lvl="0" indent="-342900">
              <a:lnSpc>
                <a:spcPct val="115000"/>
              </a:lnSpc>
              <a:spcAft>
                <a:spcPts val="800"/>
              </a:spcAft>
              <a:buSzPts val="1000"/>
              <a:buFont typeface="Symbol" panose="05050102010706020507" pitchFamily="18" charset="2"/>
              <a:buChar char=""/>
              <a:tabLst>
                <a:tab pos="457200" algn="l"/>
              </a:tabLst>
            </a:pPr>
            <a:r>
              <a:rPr lang="en-IN" sz="1800" kern="100" dirty="0">
                <a:solidFill>
                  <a:schemeClr val="tx1"/>
                </a:solidFill>
                <a:effectLst/>
              </a:rPr>
              <a:t>OLAP services are not efficient for decision-making, as it is updated on a periodic basis.</a:t>
            </a:r>
          </a:p>
        </p:txBody>
      </p:sp>
    </p:spTree>
    <p:extLst>
      <p:ext uri="{BB962C8B-B14F-4D97-AF65-F5344CB8AC3E}">
        <p14:creationId xmlns:p14="http://schemas.microsoft.com/office/powerpoint/2010/main" val="760775370"/>
      </p:ext>
    </p:extLst>
  </p:cSld>
  <p:clrMapOvr>
    <a:masterClrMapping/>
  </p:clrMapOvr>
</p:sld>
</file>

<file path=ppt/slides/slide16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BF6B8B3-FBF8-4B6C-D322-A94E27E52EB6}"/>
            </a:ext>
          </a:extLst>
        </p:cNvPr>
        <p:cNvGrpSpPr/>
        <p:nvPr/>
      </p:nvGrpSpPr>
      <p:grpSpPr>
        <a:xfrm>
          <a:off x="0" y="0"/>
          <a:ext cx="0" cy="0"/>
          <a:chOff x="0" y="0"/>
          <a:chExt cx="0" cy="0"/>
        </a:xfrm>
      </p:grpSpPr>
      <p:sp>
        <p:nvSpPr>
          <p:cNvPr id="2" name="Slide Number Placeholder 1">
            <a:extLst>
              <a:ext uri="{FF2B5EF4-FFF2-40B4-BE49-F238E27FC236}">
                <a16:creationId xmlns:a16="http://schemas.microsoft.com/office/drawing/2014/main" id="{B8343833-0B04-9E86-BC3F-84038FCB3061}"/>
              </a:ext>
            </a:extLst>
          </p:cNvPr>
          <p:cNvSpPr>
            <a:spLocks noGrp="1"/>
          </p:cNvSpPr>
          <p:nvPr>
            <p:ph type="sldNum" sz="quarter" idx="14"/>
          </p:nvPr>
        </p:nvSpPr>
        <p:spPr/>
        <p:txBody>
          <a:bodyPr/>
          <a:lstStyle/>
          <a:p>
            <a:fld id="{45A3C14A-F937-4231-B6F1-40B429FAFB2F}" type="slidenum">
              <a:rPr lang="en-NZ" smtClean="0"/>
              <a:pPr/>
              <a:t>164</a:t>
            </a:fld>
            <a:endParaRPr lang="en-NZ" dirty="0"/>
          </a:p>
        </p:txBody>
      </p:sp>
      <p:sp>
        <p:nvSpPr>
          <p:cNvPr id="3" name="Title 2">
            <a:extLst>
              <a:ext uri="{FF2B5EF4-FFF2-40B4-BE49-F238E27FC236}">
                <a16:creationId xmlns:a16="http://schemas.microsoft.com/office/drawing/2014/main" id="{B3DAA70D-5D73-E6DD-60E5-F12D9028B72A}"/>
              </a:ext>
            </a:extLst>
          </p:cNvPr>
          <p:cNvSpPr>
            <a:spLocks noGrp="1"/>
          </p:cNvSpPr>
          <p:nvPr>
            <p:ph type="title"/>
          </p:nvPr>
        </p:nvSpPr>
        <p:spPr>
          <a:xfrm>
            <a:off x="695400" y="395786"/>
            <a:ext cx="7704856" cy="838202"/>
          </a:xfrm>
        </p:spPr>
        <p:txBody>
          <a:bodyPr/>
          <a:lstStyle/>
          <a:p>
            <a:r>
              <a:rPr lang="en-IN" b="1" dirty="0">
                <a:solidFill>
                  <a:srgbClr val="FF0000"/>
                </a:solidFill>
              </a:rPr>
              <a:t>4. Classification Based on Usage</a:t>
            </a:r>
            <a:br>
              <a:rPr lang="en-US" b="1" dirty="0"/>
            </a:br>
            <a:br>
              <a:rPr lang="en-US" b="1" dirty="0"/>
            </a:br>
            <a:endParaRPr lang="en-US" b="1" dirty="0"/>
          </a:p>
        </p:txBody>
      </p:sp>
      <p:sp>
        <p:nvSpPr>
          <p:cNvPr id="4" name="Text Placeholder 3">
            <a:extLst>
              <a:ext uri="{FF2B5EF4-FFF2-40B4-BE49-F238E27FC236}">
                <a16:creationId xmlns:a16="http://schemas.microsoft.com/office/drawing/2014/main" id="{324FB388-4DB8-BEBB-7756-73DFF5716A6C}"/>
              </a:ext>
            </a:extLst>
          </p:cNvPr>
          <p:cNvSpPr>
            <a:spLocks noGrp="1"/>
          </p:cNvSpPr>
          <p:nvPr>
            <p:ph type="body" sz="quarter" idx="17"/>
          </p:nvPr>
        </p:nvSpPr>
        <p:spPr>
          <a:xfrm>
            <a:off x="119336" y="548680"/>
            <a:ext cx="11953328" cy="4320480"/>
          </a:xfrm>
        </p:spPr>
        <p:txBody>
          <a:bodyPr/>
          <a:lstStyle/>
          <a:p>
            <a:pPr marL="0" indent="0">
              <a:buNone/>
            </a:pPr>
            <a:r>
              <a:rPr lang="en-IN" sz="2000" b="1" dirty="0">
                <a:solidFill>
                  <a:srgbClr val="FF0000"/>
                </a:solidFill>
              </a:rPr>
              <a:t>b. OLAP (Online Analytical Processing)</a:t>
            </a:r>
          </a:p>
          <a:p>
            <a:pPr marL="0" indent="0">
              <a:buNone/>
            </a:pPr>
            <a:r>
              <a:rPr lang="en-US" sz="2000" b="1" dirty="0">
                <a:solidFill>
                  <a:srgbClr val="FF0000"/>
                </a:solidFill>
              </a:rPr>
              <a:t>Example Use Cases:</a:t>
            </a:r>
          </a:p>
          <a:p>
            <a:pPr>
              <a:buFont typeface="Arial" panose="020B0604020202020204" pitchFamily="34" charset="0"/>
              <a:buChar char="•"/>
            </a:pPr>
            <a:r>
              <a:rPr lang="en-US" sz="2000" b="1" dirty="0">
                <a:solidFill>
                  <a:schemeClr val="tx1"/>
                </a:solidFill>
              </a:rPr>
              <a:t>Business Intelligence</a:t>
            </a:r>
            <a:r>
              <a:rPr lang="en-US" sz="2000" dirty="0">
                <a:solidFill>
                  <a:schemeClr val="tx1"/>
                </a:solidFill>
              </a:rPr>
              <a:t>: Generating sales trends or analyzing customer behavior.</a:t>
            </a:r>
          </a:p>
          <a:p>
            <a:pPr>
              <a:buFont typeface="Arial" panose="020B0604020202020204" pitchFamily="34" charset="0"/>
              <a:buChar char="•"/>
            </a:pPr>
            <a:r>
              <a:rPr lang="en-US" sz="2000" b="1" dirty="0">
                <a:solidFill>
                  <a:schemeClr val="tx1"/>
                </a:solidFill>
              </a:rPr>
              <a:t>Data Warehousing</a:t>
            </a:r>
            <a:r>
              <a:rPr lang="en-US" sz="2000" dirty="0">
                <a:solidFill>
                  <a:schemeClr val="tx1"/>
                </a:solidFill>
              </a:rPr>
              <a:t>: Consolidating data from multiple sources for reporting and analysis.</a:t>
            </a:r>
          </a:p>
          <a:p>
            <a:pPr>
              <a:buFont typeface="Arial" panose="020B0604020202020204" pitchFamily="34" charset="0"/>
              <a:buChar char="•"/>
            </a:pPr>
            <a:r>
              <a:rPr lang="en-US" sz="2000" b="1" dirty="0">
                <a:solidFill>
                  <a:schemeClr val="tx1"/>
                </a:solidFill>
              </a:rPr>
              <a:t>Forecasting</a:t>
            </a:r>
            <a:r>
              <a:rPr lang="en-US" sz="2000" dirty="0">
                <a:solidFill>
                  <a:schemeClr val="tx1"/>
                </a:solidFill>
              </a:rPr>
              <a:t>: Predicting future sales based on historical data.</a:t>
            </a:r>
          </a:p>
          <a:p>
            <a:pPr marL="0" indent="0">
              <a:buNone/>
            </a:pPr>
            <a:r>
              <a:rPr lang="en-US" sz="2000" b="1" dirty="0">
                <a:solidFill>
                  <a:srgbClr val="FF0000"/>
                </a:solidFill>
              </a:rPr>
              <a:t>OLAP Example:</a:t>
            </a:r>
          </a:p>
          <a:p>
            <a:pPr marL="0" indent="0">
              <a:lnSpc>
                <a:spcPct val="115000"/>
              </a:lnSpc>
              <a:spcAft>
                <a:spcPts val="800"/>
              </a:spcAft>
              <a:buNone/>
            </a:pPr>
            <a:r>
              <a:rPr lang="en-IN" sz="1800" kern="100" dirty="0">
                <a:solidFill>
                  <a:schemeClr val="tx1"/>
                </a:solidFill>
                <a:effectLst/>
              </a:rPr>
              <a:t>Any type of Data Warehouse System is an OLAP system. The uses of the OLAP System are described below.</a:t>
            </a:r>
          </a:p>
          <a:p>
            <a:pPr>
              <a:buFont typeface="Arial" panose="020B0604020202020204" pitchFamily="34" charset="0"/>
              <a:buChar char="•"/>
            </a:pPr>
            <a:r>
              <a:rPr lang="en-US" sz="1800" dirty="0">
                <a:solidFill>
                  <a:schemeClr val="tx1"/>
                </a:solidFill>
              </a:rPr>
              <a:t>Query the total sales amount by region and month.</a:t>
            </a:r>
          </a:p>
          <a:p>
            <a:pPr>
              <a:buFont typeface="Arial" panose="020B0604020202020204" pitchFamily="34" charset="0"/>
              <a:buChar char="•"/>
            </a:pPr>
            <a:r>
              <a:rPr lang="en-US" sz="1800" dirty="0">
                <a:solidFill>
                  <a:schemeClr val="tx1"/>
                </a:solidFill>
              </a:rPr>
              <a:t>Identify the top-performing products for the last quarter.</a:t>
            </a:r>
          </a:p>
          <a:p>
            <a:pPr algn="just">
              <a:buFont typeface="Arial" panose="020B0604020202020204" pitchFamily="34" charset="0"/>
              <a:buChar char="•"/>
            </a:pPr>
            <a:r>
              <a:rPr lang="en-US" sz="1800" dirty="0">
                <a:solidFill>
                  <a:schemeClr val="tx1"/>
                </a:solidFill>
              </a:rPr>
              <a:t> analyzing data rather than modifying it.</a:t>
            </a:r>
          </a:p>
          <a:p>
            <a:pPr marL="342900" lvl="0" indent="-342900">
              <a:lnSpc>
                <a:spcPct val="115000"/>
              </a:lnSpc>
              <a:spcAft>
                <a:spcPts val="800"/>
              </a:spcAft>
              <a:buSzPts val="1000"/>
              <a:buFont typeface="Symbol" panose="05050102010706020507" pitchFamily="18" charset="2"/>
              <a:buChar char=""/>
              <a:tabLst>
                <a:tab pos="457200" algn="l"/>
              </a:tabLst>
            </a:pPr>
            <a:r>
              <a:rPr lang="en-IN" sz="1800" kern="100" dirty="0">
                <a:solidFill>
                  <a:schemeClr val="tx1"/>
                </a:solidFill>
                <a:effectLst/>
              </a:rPr>
              <a:t>Spotify </a:t>
            </a:r>
            <a:r>
              <a:rPr lang="en-IN" sz="1800" kern="100" dirty="0" err="1">
                <a:solidFill>
                  <a:schemeClr val="tx1"/>
                </a:solidFill>
                <a:effectLst/>
              </a:rPr>
              <a:t>analyzed</a:t>
            </a:r>
            <a:r>
              <a:rPr lang="en-IN" sz="1800" kern="100" dirty="0">
                <a:solidFill>
                  <a:schemeClr val="tx1"/>
                </a:solidFill>
                <a:effectLst/>
              </a:rPr>
              <a:t> songs by users to come up with a personalized homepage of their songs and playlists.</a:t>
            </a:r>
          </a:p>
          <a:p>
            <a:pPr marL="342900" lvl="0" indent="-342900">
              <a:lnSpc>
                <a:spcPct val="115000"/>
              </a:lnSpc>
              <a:spcAft>
                <a:spcPts val="800"/>
              </a:spcAft>
              <a:buSzPts val="1000"/>
              <a:buFont typeface="Symbol" panose="05050102010706020507" pitchFamily="18" charset="2"/>
              <a:buChar char=""/>
              <a:tabLst>
                <a:tab pos="457200" algn="l"/>
              </a:tabLst>
            </a:pPr>
            <a:r>
              <a:rPr lang="en-IN" sz="1800" kern="100" dirty="0">
                <a:solidFill>
                  <a:schemeClr val="tx1"/>
                </a:solidFill>
                <a:effectLst/>
              </a:rPr>
              <a:t>Netflix movie recommendation system.</a:t>
            </a:r>
          </a:p>
          <a:p>
            <a:pPr algn="just">
              <a:buFont typeface="Arial" panose="020B0604020202020204" pitchFamily="34" charset="0"/>
              <a:buChar char="•"/>
            </a:pPr>
            <a:endParaRPr lang="en-US" sz="2000" dirty="0">
              <a:solidFill>
                <a:schemeClr val="tx1"/>
              </a:solidFill>
            </a:endParaRPr>
          </a:p>
        </p:txBody>
      </p:sp>
    </p:spTree>
    <p:extLst>
      <p:ext uri="{BB962C8B-B14F-4D97-AF65-F5344CB8AC3E}">
        <p14:creationId xmlns:p14="http://schemas.microsoft.com/office/powerpoint/2010/main" val="2119933536"/>
      </p:ext>
    </p:extLst>
  </p:cSld>
  <p:clrMapOvr>
    <a:masterClrMapping/>
  </p:clrMapOvr>
</p:sld>
</file>

<file path=ppt/slides/slide16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C74819E-0EAD-45C5-EC1A-4AF7FC9F4B98}"/>
            </a:ext>
          </a:extLst>
        </p:cNvPr>
        <p:cNvGrpSpPr/>
        <p:nvPr/>
      </p:nvGrpSpPr>
      <p:grpSpPr>
        <a:xfrm>
          <a:off x="0" y="0"/>
          <a:ext cx="0" cy="0"/>
          <a:chOff x="0" y="0"/>
          <a:chExt cx="0" cy="0"/>
        </a:xfrm>
      </p:grpSpPr>
      <p:sp>
        <p:nvSpPr>
          <p:cNvPr id="2" name="Slide Number Placeholder 1">
            <a:extLst>
              <a:ext uri="{FF2B5EF4-FFF2-40B4-BE49-F238E27FC236}">
                <a16:creationId xmlns:a16="http://schemas.microsoft.com/office/drawing/2014/main" id="{42740BCD-29C3-573E-3D7B-9F2A0CCE164C}"/>
              </a:ext>
            </a:extLst>
          </p:cNvPr>
          <p:cNvSpPr>
            <a:spLocks noGrp="1"/>
          </p:cNvSpPr>
          <p:nvPr>
            <p:ph type="sldNum" sz="quarter" idx="14"/>
          </p:nvPr>
        </p:nvSpPr>
        <p:spPr/>
        <p:txBody>
          <a:bodyPr/>
          <a:lstStyle/>
          <a:p>
            <a:fld id="{45A3C14A-F937-4231-B6F1-40B429FAFB2F}" type="slidenum">
              <a:rPr lang="en-NZ" smtClean="0"/>
              <a:pPr/>
              <a:t>165</a:t>
            </a:fld>
            <a:endParaRPr lang="en-NZ" dirty="0"/>
          </a:p>
        </p:txBody>
      </p:sp>
      <p:sp>
        <p:nvSpPr>
          <p:cNvPr id="3" name="Title 2">
            <a:extLst>
              <a:ext uri="{FF2B5EF4-FFF2-40B4-BE49-F238E27FC236}">
                <a16:creationId xmlns:a16="http://schemas.microsoft.com/office/drawing/2014/main" id="{64F198D4-E62C-1634-ACCB-8F4CC0576448}"/>
              </a:ext>
            </a:extLst>
          </p:cNvPr>
          <p:cNvSpPr>
            <a:spLocks noGrp="1"/>
          </p:cNvSpPr>
          <p:nvPr>
            <p:ph type="title"/>
          </p:nvPr>
        </p:nvSpPr>
        <p:spPr>
          <a:xfrm>
            <a:off x="695400" y="395786"/>
            <a:ext cx="7704856" cy="838202"/>
          </a:xfrm>
        </p:spPr>
        <p:txBody>
          <a:bodyPr/>
          <a:lstStyle/>
          <a:p>
            <a:r>
              <a:rPr kumimoji="0" lang="en-US" altLang="en-US" sz="2800" b="1" i="0" u="none" strike="noStrike" cap="none" normalizeH="0" baseline="0" dirty="0">
                <a:ln>
                  <a:noFill/>
                </a:ln>
                <a:solidFill>
                  <a:srgbClr val="FF0000"/>
                </a:solidFill>
                <a:effectLst/>
                <a:latin typeface="Aptos" panose="020B0004020202020204" pitchFamily="34" charset="0"/>
                <a:ea typeface="Aptos" panose="020B0004020202020204" pitchFamily="34" charset="0"/>
                <a:cs typeface="Times New Roman" panose="02020603050405020304" pitchFamily="18" charset="0"/>
              </a:rPr>
              <a:t>Difference Between OLAP and OLTP</a:t>
            </a:r>
            <a:br>
              <a:rPr kumimoji="0" lang="en-US" altLang="en-US" sz="4000" b="0" i="0" u="none" strike="noStrike" cap="none" normalizeH="0" baseline="0" dirty="0">
                <a:ln>
                  <a:noFill/>
                </a:ln>
                <a:solidFill>
                  <a:schemeClr val="tx1"/>
                </a:solidFill>
                <a:effectLst/>
                <a:latin typeface="Arial" panose="020B0604020202020204" pitchFamily="34" charset="0"/>
              </a:rPr>
            </a:br>
            <a:br>
              <a:rPr lang="en-US" b="1" dirty="0"/>
            </a:br>
            <a:br>
              <a:rPr lang="en-US" b="1" dirty="0"/>
            </a:br>
            <a:endParaRPr lang="en-US" b="1" dirty="0"/>
          </a:p>
        </p:txBody>
      </p:sp>
      <p:sp>
        <p:nvSpPr>
          <p:cNvPr id="4" name="Text Placeholder 3">
            <a:extLst>
              <a:ext uri="{FF2B5EF4-FFF2-40B4-BE49-F238E27FC236}">
                <a16:creationId xmlns:a16="http://schemas.microsoft.com/office/drawing/2014/main" id="{119BE259-60CF-1C1F-2950-3DC4E48664FE}"/>
              </a:ext>
            </a:extLst>
          </p:cNvPr>
          <p:cNvSpPr>
            <a:spLocks noGrp="1"/>
          </p:cNvSpPr>
          <p:nvPr>
            <p:ph type="body" sz="quarter" idx="17"/>
          </p:nvPr>
        </p:nvSpPr>
        <p:spPr>
          <a:xfrm>
            <a:off x="119336" y="548680"/>
            <a:ext cx="11953328" cy="4320480"/>
          </a:xfrm>
        </p:spPr>
        <p:txBody>
          <a:bodyPr/>
          <a:lstStyle/>
          <a:p>
            <a:pPr marL="0" indent="0">
              <a:buNone/>
            </a:pPr>
            <a:r>
              <a:rPr lang="en-IN" sz="2000" b="1" dirty="0">
                <a:solidFill>
                  <a:srgbClr val="FF0000"/>
                </a:solidFill>
              </a:rPr>
              <a:t> </a:t>
            </a:r>
            <a:endParaRPr lang="en-US" sz="2000" dirty="0">
              <a:solidFill>
                <a:schemeClr val="tx1"/>
              </a:solidFill>
            </a:endParaRPr>
          </a:p>
        </p:txBody>
      </p:sp>
      <p:graphicFrame>
        <p:nvGraphicFramePr>
          <p:cNvPr id="5" name="Table 4">
            <a:extLst>
              <a:ext uri="{FF2B5EF4-FFF2-40B4-BE49-F238E27FC236}">
                <a16:creationId xmlns:a16="http://schemas.microsoft.com/office/drawing/2014/main" id="{71DE7378-A56C-0398-D240-A1A7084A032B}"/>
              </a:ext>
            </a:extLst>
          </p:cNvPr>
          <p:cNvGraphicFramePr>
            <a:graphicFrameLocks noGrp="1"/>
          </p:cNvGraphicFramePr>
          <p:nvPr>
            <p:extLst>
              <p:ext uri="{D42A27DB-BD31-4B8C-83A1-F6EECF244321}">
                <p14:modId xmlns:p14="http://schemas.microsoft.com/office/powerpoint/2010/main" val="4255534675"/>
              </p:ext>
            </p:extLst>
          </p:nvPr>
        </p:nvGraphicFramePr>
        <p:xfrm>
          <a:off x="623392" y="1033090"/>
          <a:ext cx="11017224" cy="5122946"/>
        </p:xfrm>
        <a:graphic>
          <a:graphicData uri="http://schemas.openxmlformats.org/drawingml/2006/table">
            <a:tbl>
              <a:tblPr firstRow="1" firstCol="1" bandRow="1">
                <a:tableStyleId>{5C22544A-7EE6-4342-B048-85BDC9FD1C3A}</a:tableStyleId>
              </a:tblPr>
              <a:tblGrid>
                <a:gridCol w="3672408">
                  <a:extLst>
                    <a:ext uri="{9D8B030D-6E8A-4147-A177-3AD203B41FA5}">
                      <a16:colId xmlns:a16="http://schemas.microsoft.com/office/drawing/2014/main" val="1292076540"/>
                    </a:ext>
                  </a:extLst>
                </a:gridCol>
                <a:gridCol w="3672408">
                  <a:extLst>
                    <a:ext uri="{9D8B030D-6E8A-4147-A177-3AD203B41FA5}">
                      <a16:colId xmlns:a16="http://schemas.microsoft.com/office/drawing/2014/main" val="2169445367"/>
                    </a:ext>
                  </a:extLst>
                </a:gridCol>
                <a:gridCol w="3672408">
                  <a:extLst>
                    <a:ext uri="{9D8B030D-6E8A-4147-A177-3AD203B41FA5}">
                      <a16:colId xmlns:a16="http://schemas.microsoft.com/office/drawing/2014/main" val="3395912460"/>
                    </a:ext>
                  </a:extLst>
                </a:gridCol>
              </a:tblGrid>
              <a:tr h="563604">
                <a:tc>
                  <a:txBody>
                    <a:bodyPr/>
                    <a:lstStyle/>
                    <a:p>
                      <a:pPr>
                        <a:lnSpc>
                          <a:spcPct val="115000"/>
                        </a:lnSpc>
                        <a:spcAft>
                          <a:spcPts val="800"/>
                        </a:spcAft>
                      </a:pPr>
                      <a:r>
                        <a:rPr lang="en-IN" sz="1600" kern="100" dirty="0">
                          <a:effectLst/>
                        </a:rPr>
                        <a:t>Category</a:t>
                      </a:r>
                      <a:endParaRPr lang="en-IN" sz="1600" kern="100" dirty="0">
                        <a:effectLst/>
                        <a:latin typeface="Aptos" panose="020B0004020202020204" pitchFamily="34" charset="0"/>
                        <a:ea typeface="Aptos" panose="020B0004020202020204" pitchFamily="34" charset="0"/>
                        <a:cs typeface="Times New Roman" panose="02020603050405020304" pitchFamily="18" charset="0"/>
                      </a:endParaRPr>
                    </a:p>
                  </a:txBody>
                  <a:tcPr marL="38100" marR="38100" marT="95250" marB="95250" anchor="b"/>
                </a:tc>
                <a:tc>
                  <a:txBody>
                    <a:bodyPr/>
                    <a:lstStyle/>
                    <a:p>
                      <a:pPr>
                        <a:lnSpc>
                          <a:spcPct val="115000"/>
                        </a:lnSpc>
                        <a:spcAft>
                          <a:spcPts val="800"/>
                        </a:spcAft>
                      </a:pPr>
                      <a:r>
                        <a:rPr lang="en-IN" sz="1600" kern="100">
                          <a:effectLst/>
                        </a:rPr>
                        <a:t>OLAP (Online Analytical Processing)</a:t>
                      </a:r>
                      <a:endParaRPr lang="en-IN" sz="1600" kern="100">
                        <a:effectLst/>
                        <a:latin typeface="Aptos" panose="020B0004020202020204" pitchFamily="34" charset="0"/>
                        <a:ea typeface="Aptos" panose="020B0004020202020204" pitchFamily="34" charset="0"/>
                        <a:cs typeface="Times New Roman" panose="02020603050405020304" pitchFamily="18" charset="0"/>
                      </a:endParaRPr>
                    </a:p>
                  </a:txBody>
                  <a:tcPr marL="95250" marR="95250" marT="95250" marB="95250" anchor="b"/>
                </a:tc>
                <a:tc>
                  <a:txBody>
                    <a:bodyPr/>
                    <a:lstStyle/>
                    <a:p>
                      <a:pPr>
                        <a:lnSpc>
                          <a:spcPct val="115000"/>
                        </a:lnSpc>
                        <a:spcAft>
                          <a:spcPts val="800"/>
                        </a:spcAft>
                      </a:pPr>
                      <a:r>
                        <a:rPr lang="en-IN" sz="1600" kern="100">
                          <a:effectLst/>
                        </a:rPr>
                        <a:t>OLTP (Online Transaction Processing)</a:t>
                      </a:r>
                      <a:endParaRPr lang="en-IN" sz="1600" kern="100">
                        <a:effectLst/>
                        <a:latin typeface="Aptos" panose="020B0004020202020204" pitchFamily="34" charset="0"/>
                        <a:ea typeface="Aptos" panose="020B0004020202020204" pitchFamily="34" charset="0"/>
                        <a:cs typeface="Times New Roman" panose="02020603050405020304" pitchFamily="18" charset="0"/>
                      </a:endParaRPr>
                    </a:p>
                  </a:txBody>
                  <a:tcPr marL="95250" marR="95250" marT="95250" marB="95250" anchor="b"/>
                </a:tc>
                <a:extLst>
                  <a:ext uri="{0D108BD9-81ED-4DB2-BD59-A6C34878D82A}">
                    <a16:rowId xmlns:a16="http://schemas.microsoft.com/office/drawing/2014/main" val="488158652"/>
                  </a:ext>
                </a:extLst>
              </a:tr>
              <a:tr h="977702">
                <a:tc>
                  <a:txBody>
                    <a:bodyPr/>
                    <a:lstStyle/>
                    <a:p>
                      <a:pPr>
                        <a:lnSpc>
                          <a:spcPct val="115000"/>
                        </a:lnSpc>
                        <a:spcAft>
                          <a:spcPts val="800"/>
                        </a:spcAft>
                      </a:pPr>
                      <a:r>
                        <a:rPr lang="en-IN" sz="1600" kern="100" dirty="0">
                          <a:effectLst/>
                        </a:rPr>
                        <a:t>Definition</a:t>
                      </a:r>
                      <a:endParaRPr lang="en-IN" sz="1600" kern="100" dirty="0">
                        <a:effectLst/>
                        <a:latin typeface="Aptos" panose="020B0004020202020204" pitchFamily="34" charset="0"/>
                        <a:ea typeface="Aptos" panose="020B0004020202020204" pitchFamily="34" charset="0"/>
                        <a:cs typeface="Times New Roman" panose="02020603050405020304" pitchFamily="18" charset="0"/>
                      </a:endParaRPr>
                    </a:p>
                  </a:txBody>
                  <a:tcPr marL="95250" marR="95250" marT="133350" marB="133350" anchor="ctr"/>
                </a:tc>
                <a:tc>
                  <a:txBody>
                    <a:bodyPr/>
                    <a:lstStyle/>
                    <a:p>
                      <a:pPr>
                        <a:lnSpc>
                          <a:spcPct val="115000"/>
                        </a:lnSpc>
                        <a:spcAft>
                          <a:spcPts val="800"/>
                        </a:spcAft>
                      </a:pPr>
                      <a:r>
                        <a:rPr lang="en-IN" sz="1600" kern="100">
                          <a:effectLst/>
                        </a:rPr>
                        <a:t>It is well-known as an online database query management system.</a:t>
                      </a:r>
                      <a:endParaRPr lang="en-IN" sz="1600" kern="100">
                        <a:effectLst/>
                        <a:latin typeface="Aptos" panose="020B0004020202020204" pitchFamily="34" charset="0"/>
                        <a:ea typeface="Aptos" panose="020B0004020202020204" pitchFamily="34" charset="0"/>
                        <a:cs typeface="Times New Roman" panose="02020603050405020304" pitchFamily="18" charset="0"/>
                      </a:endParaRPr>
                    </a:p>
                  </a:txBody>
                  <a:tcPr marL="95250" marR="95250" marT="133350" marB="133350" anchor="ctr"/>
                </a:tc>
                <a:tc>
                  <a:txBody>
                    <a:bodyPr/>
                    <a:lstStyle/>
                    <a:p>
                      <a:pPr>
                        <a:lnSpc>
                          <a:spcPct val="115000"/>
                        </a:lnSpc>
                        <a:spcAft>
                          <a:spcPts val="800"/>
                        </a:spcAft>
                      </a:pPr>
                      <a:r>
                        <a:rPr lang="en-IN" sz="1600" kern="100">
                          <a:effectLst/>
                        </a:rPr>
                        <a:t>It is well-known as an online database modifying system.</a:t>
                      </a:r>
                      <a:endParaRPr lang="en-IN" sz="1600" kern="100">
                        <a:effectLst/>
                        <a:latin typeface="Aptos" panose="020B0004020202020204" pitchFamily="34" charset="0"/>
                        <a:ea typeface="Aptos" panose="020B0004020202020204" pitchFamily="34" charset="0"/>
                        <a:cs typeface="Times New Roman" panose="02020603050405020304" pitchFamily="18" charset="0"/>
                      </a:endParaRPr>
                    </a:p>
                  </a:txBody>
                  <a:tcPr marL="95250" marR="95250" marT="133350" marB="133350" anchor="ctr"/>
                </a:tc>
                <a:extLst>
                  <a:ext uri="{0D108BD9-81ED-4DB2-BD59-A6C34878D82A}">
                    <a16:rowId xmlns:a16="http://schemas.microsoft.com/office/drawing/2014/main" val="3307913114"/>
                  </a:ext>
                </a:extLst>
              </a:tr>
              <a:tr h="673736">
                <a:tc>
                  <a:txBody>
                    <a:bodyPr/>
                    <a:lstStyle/>
                    <a:p>
                      <a:pPr>
                        <a:lnSpc>
                          <a:spcPct val="115000"/>
                        </a:lnSpc>
                        <a:spcAft>
                          <a:spcPts val="800"/>
                        </a:spcAft>
                      </a:pPr>
                      <a:r>
                        <a:rPr lang="en-IN" sz="1600" kern="100">
                          <a:effectLst/>
                        </a:rPr>
                        <a:t>Data source</a:t>
                      </a:r>
                      <a:endParaRPr lang="en-IN" sz="1600" kern="100">
                        <a:effectLst/>
                        <a:latin typeface="Aptos" panose="020B0004020202020204" pitchFamily="34" charset="0"/>
                        <a:ea typeface="Aptos" panose="020B0004020202020204" pitchFamily="34" charset="0"/>
                        <a:cs typeface="Times New Roman" panose="02020603050405020304" pitchFamily="18" charset="0"/>
                      </a:endParaRPr>
                    </a:p>
                  </a:txBody>
                  <a:tcPr marL="95250" marR="95250" marT="133350" marB="133350" anchor="ctr"/>
                </a:tc>
                <a:tc>
                  <a:txBody>
                    <a:bodyPr/>
                    <a:lstStyle/>
                    <a:p>
                      <a:pPr>
                        <a:lnSpc>
                          <a:spcPct val="115000"/>
                        </a:lnSpc>
                        <a:spcAft>
                          <a:spcPts val="800"/>
                        </a:spcAft>
                      </a:pPr>
                      <a:r>
                        <a:rPr lang="en-IN" sz="1600" kern="100">
                          <a:effectLst/>
                        </a:rPr>
                        <a:t>Consists of historical data from various Databases.</a:t>
                      </a:r>
                      <a:endParaRPr lang="en-IN" sz="1600" kern="100">
                        <a:effectLst/>
                        <a:latin typeface="Aptos" panose="020B0004020202020204" pitchFamily="34" charset="0"/>
                        <a:ea typeface="Aptos" panose="020B0004020202020204" pitchFamily="34" charset="0"/>
                        <a:cs typeface="Times New Roman" panose="02020603050405020304" pitchFamily="18" charset="0"/>
                      </a:endParaRPr>
                    </a:p>
                  </a:txBody>
                  <a:tcPr marL="95250" marR="95250" marT="133350" marB="133350" anchor="ctr"/>
                </a:tc>
                <a:tc>
                  <a:txBody>
                    <a:bodyPr/>
                    <a:lstStyle/>
                    <a:p>
                      <a:pPr>
                        <a:lnSpc>
                          <a:spcPct val="115000"/>
                        </a:lnSpc>
                        <a:spcAft>
                          <a:spcPts val="800"/>
                        </a:spcAft>
                      </a:pPr>
                      <a:r>
                        <a:rPr lang="en-IN" sz="1600" kern="100">
                          <a:effectLst/>
                        </a:rPr>
                        <a:t>Consists of only operational current data. </a:t>
                      </a:r>
                      <a:endParaRPr lang="en-IN" sz="1600" kern="100">
                        <a:effectLst/>
                        <a:latin typeface="Aptos" panose="020B0004020202020204" pitchFamily="34" charset="0"/>
                        <a:ea typeface="Aptos" panose="020B0004020202020204" pitchFamily="34" charset="0"/>
                        <a:cs typeface="Times New Roman" panose="02020603050405020304" pitchFamily="18" charset="0"/>
                      </a:endParaRPr>
                    </a:p>
                  </a:txBody>
                  <a:tcPr marL="95250" marR="95250" marT="133350" marB="133350" anchor="ctr"/>
                </a:tc>
                <a:extLst>
                  <a:ext uri="{0D108BD9-81ED-4DB2-BD59-A6C34878D82A}">
                    <a16:rowId xmlns:a16="http://schemas.microsoft.com/office/drawing/2014/main" val="1921117231"/>
                  </a:ext>
                </a:extLst>
              </a:tr>
              <a:tr h="977702">
                <a:tc>
                  <a:txBody>
                    <a:bodyPr/>
                    <a:lstStyle/>
                    <a:p>
                      <a:pPr>
                        <a:lnSpc>
                          <a:spcPct val="115000"/>
                        </a:lnSpc>
                        <a:spcAft>
                          <a:spcPts val="800"/>
                        </a:spcAft>
                      </a:pPr>
                      <a:r>
                        <a:rPr lang="en-IN" sz="1600" kern="100">
                          <a:effectLst/>
                        </a:rPr>
                        <a:t>Method used</a:t>
                      </a:r>
                      <a:endParaRPr lang="en-IN" sz="1600" kern="100">
                        <a:effectLst/>
                        <a:latin typeface="Aptos" panose="020B0004020202020204" pitchFamily="34" charset="0"/>
                        <a:ea typeface="Aptos" panose="020B0004020202020204" pitchFamily="34" charset="0"/>
                        <a:cs typeface="Times New Roman" panose="02020603050405020304" pitchFamily="18" charset="0"/>
                      </a:endParaRPr>
                    </a:p>
                  </a:txBody>
                  <a:tcPr marL="95250" marR="95250" marT="133350" marB="133350" anchor="ctr"/>
                </a:tc>
                <a:tc>
                  <a:txBody>
                    <a:bodyPr/>
                    <a:lstStyle/>
                    <a:p>
                      <a:pPr>
                        <a:lnSpc>
                          <a:spcPct val="115000"/>
                        </a:lnSpc>
                        <a:spcAft>
                          <a:spcPts val="800"/>
                        </a:spcAft>
                      </a:pPr>
                      <a:r>
                        <a:rPr lang="en-IN" sz="1600" kern="100">
                          <a:effectLst/>
                        </a:rPr>
                        <a:t>It makes use of a data warehouse.</a:t>
                      </a:r>
                      <a:endParaRPr lang="en-IN" sz="1600" kern="100">
                        <a:effectLst/>
                        <a:latin typeface="Aptos" panose="020B0004020202020204" pitchFamily="34" charset="0"/>
                        <a:ea typeface="Aptos" panose="020B0004020202020204" pitchFamily="34" charset="0"/>
                        <a:cs typeface="Times New Roman" panose="02020603050405020304" pitchFamily="18" charset="0"/>
                      </a:endParaRPr>
                    </a:p>
                  </a:txBody>
                  <a:tcPr marL="95250" marR="95250" marT="133350" marB="133350" anchor="ctr"/>
                </a:tc>
                <a:tc>
                  <a:txBody>
                    <a:bodyPr/>
                    <a:lstStyle/>
                    <a:p>
                      <a:pPr>
                        <a:lnSpc>
                          <a:spcPct val="115000"/>
                        </a:lnSpc>
                        <a:spcAft>
                          <a:spcPts val="800"/>
                        </a:spcAft>
                      </a:pPr>
                      <a:r>
                        <a:rPr lang="en-IN" sz="1600" kern="100">
                          <a:effectLst/>
                        </a:rPr>
                        <a:t>It makes use of a standard </a:t>
                      </a:r>
                      <a:r>
                        <a:rPr lang="en-IN" sz="1600" u="sng" kern="100">
                          <a:effectLst/>
                          <a:hlinkClick r:id="rId2"/>
                        </a:rPr>
                        <a:t>database management system (DBMS).</a:t>
                      </a:r>
                      <a:endParaRPr lang="en-IN" sz="1600" kern="100">
                        <a:effectLst/>
                        <a:latin typeface="Aptos" panose="020B0004020202020204" pitchFamily="34" charset="0"/>
                        <a:ea typeface="Aptos" panose="020B0004020202020204" pitchFamily="34" charset="0"/>
                        <a:cs typeface="Times New Roman" panose="02020603050405020304" pitchFamily="18" charset="0"/>
                      </a:endParaRPr>
                    </a:p>
                  </a:txBody>
                  <a:tcPr marL="95250" marR="95250" marT="133350" marB="133350" anchor="ctr"/>
                </a:tc>
                <a:extLst>
                  <a:ext uri="{0D108BD9-81ED-4DB2-BD59-A6C34878D82A}">
                    <a16:rowId xmlns:a16="http://schemas.microsoft.com/office/drawing/2014/main" val="667722836"/>
                  </a:ext>
                </a:extLst>
              </a:tr>
              <a:tr h="977702">
                <a:tc>
                  <a:txBody>
                    <a:bodyPr/>
                    <a:lstStyle/>
                    <a:p>
                      <a:pPr>
                        <a:lnSpc>
                          <a:spcPct val="115000"/>
                        </a:lnSpc>
                        <a:spcAft>
                          <a:spcPts val="800"/>
                        </a:spcAft>
                      </a:pPr>
                      <a:r>
                        <a:rPr lang="en-IN" sz="1600" kern="100">
                          <a:effectLst/>
                        </a:rPr>
                        <a:t>Application</a:t>
                      </a:r>
                      <a:endParaRPr lang="en-IN" sz="1600" kern="100">
                        <a:effectLst/>
                        <a:latin typeface="Aptos" panose="020B0004020202020204" pitchFamily="34" charset="0"/>
                        <a:ea typeface="Aptos" panose="020B0004020202020204" pitchFamily="34" charset="0"/>
                        <a:cs typeface="Times New Roman" panose="02020603050405020304" pitchFamily="18" charset="0"/>
                      </a:endParaRPr>
                    </a:p>
                  </a:txBody>
                  <a:tcPr marL="95250" marR="95250" marT="133350" marB="133350" anchor="ctr"/>
                </a:tc>
                <a:tc>
                  <a:txBody>
                    <a:bodyPr/>
                    <a:lstStyle/>
                    <a:p>
                      <a:pPr>
                        <a:lnSpc>
                          <a:spcPct val="115000"/>
                        </a:lnSpc>
                        <a:spcAft>
                          <a:spcPts val="800"/>
                        </a:spcAft>
                      </a:pPr>
                      <a:r>
                        <a:rPr lang="en-IN" sz="1600" kern="100">
                          <a:effectLst/>
                        </a:rPr>
                        <a:t>It is subject-oriented. Used for </a:t>
                      </a:r>
                      <a:r>
                        <a:rPr lang="en-IN" sz="1600" u="sng" kern="100">
                          <a:effectLst/>
                          <a:hlinkClick r:id="rId3"/>
                        </a:rPr>
                        <a:t>Data Mining</a:t>
                      </a:r>
                      <a:r>
                        <a:rPr lang="en-IN" sz="1600" kern="100">
                          <a:effectLst/>
                        </a:rPr>
                        <a:t>, Analytics, Decisions making, etc.</a:t>
                      </a:r>
                      <a:endParaRPr lang="en-IN" sz="1600" kern="100">
                        <a:effectLst/>
                        <a:latin typeface="Aptos" panose="020B0004020202020204" pitchFamily="34" charset="0"/>
                        <a:ea typeface="Aptos" panose="020B0004020202020204" pitchFamily="34" charset="0"/>
                        <a:cs typeface="Times New Roman" panose="02020603050405020304" pitchFamily="18" charset="0"/>
                      </a:endParaRPr>
                    </a:p>
                  </a:txBody>
                  <a:tcPr marL="95250" marR="95250" marT="133350" marB="133350" anchor="ctr"/>
                </a:tc>
                <a:tc>
                  <a:txBody>
                    <a:bodyPr/>
                    <a:lstStyle/>
                    <a:p>
                      <a:pPr>
                        <a:lnSpc>
                          <a:spcPct val="115000"/>
                        </a:lnSpc>
                        <a:spcAft>
                          <a:spcPts val="800"/>
                        </a:spcAft>
                      </a:pPr>
                      <a:r>
                        <a:rPr lang="en-IN" sz="1600" kern="100">
                          <a:effectLst/>
                        </a:rPr>
                        <a:t>It is application-oriented. Used for business tasks.</a:t>
                      </a:r>
                      <a:endParaRPr lang="en-IN" sz="1600" kern="100">
                        <a:effectLst/>
                        <a:latin typeface="Aptos" panose="020B0004020202020204" pitchFamily="34" charset="0"/>
                        <a:ea typeface="Aptos" panose="020B0004020202020204" pitchFamily="34" charset="0"/>
                        <a:cs typeface="Times New Roman" panose="02020603050405020304" pitchFamily="18" charset="0"/>
                      </a:endParaRPr>
                    </a:p>
                  </a:txBody>
                  <a:tcPr marL="95250" marR="95250" marT="133350" marB="133350" anchor="ctr"/>
                </a:tc>
                <a:extLst>
                  <a:ext uri="{0D108BD9-81ED-4DB2-BD59-A6C34878D82A}">
                    <a16:rowId xmlns:a16="http://schemas.microsoft.com/office/drawing/2014/main" val="1204774540"/>
                  </a:ext>
                </a:extLst>
              </a:tr>
              <a:tr h="673736">
                <a:tc>
                  <a:txBody>
                    <a:bodyPr/>
                    <a:lstStyle/>
                    <a:p>
                      <a:pPr>
                        <a:lnSpc>
                          <a:spcPct val="115000"/>
                        </a:lnSpc>
                        <a:spcAft>
                          <a:spcPts val="800"/>
                        </a:spcAft>
                      </a:pPr>
                      <a:r>
                        <a:rPr lang="en-IN" sz="1600" kern="100">
                          <a:effectLst/>
                        </a:rPr>
                        <a:t>Normalized</a:t>
                      </a:r>
                      <a:endParaRPr lang="en-IN" sz="1600" kern="100">
                        <a:effectLst/>
                        <a:latin typeface="Aptos" panose="020B0004020202020204" pitchFamily="34" charset="0"/>
                        <a:ea typeface="Aptos" panose="020B0004020202020204" pitchFamily="34" charset="0"/>
                        <a:cs typeface="Times New Roman" panose="02020603050405020304" pitchFamily="18" charset="0"/>
                      </a:endParaRPr>
                    </a:p>
                  </a:txBody>
                  <a:tcPr marL="95250" marR="95250" marT="133350" marB="133350" anchor="ctr"/>
                </a:tc>
                <a:tc>
                  <a:txBody>
                    <a:bodyPr/>
                    <a:lstStyle/>
                    <a:p>
                      <a:pPr>
                        <a:lnSpc>
                          <a:spcPct val="115000"/>
                        </a:lnSpc>
                        <a:spcAft>
                          <a:spcPts val="800"/>
                        </a:spcAft>
                      </a:pPr>
                      <a:r>
                        <a:rPr lang="en-IN" sz="1600" kern="100">
                          <a:effectLst/>
                        </a:rPr>
                        <a:t>In an OLAP database, tables are not normalized.</a:t>
                      </a:r>
                      <a:endParaRPr lang="en-IN" sz="1600" kern="100">
                        <a:effectLst/>
                        <a:latin typeface="Aptos" panose="020B0004020202020204" pitchFamily="34" charset="0"/>
                        <a:ea typeface="Aptos" panose="020B0004020202020204" pitchFamily="34" charset="0"/>
                        <a:cs typeface="Times New Roman" panose="02020603050405020304" pitchFamily="18" charset="0"/>
                      </a:endParaRPr>
                    </a:p>
                  </a:txBody>
                  <a:tcPr marL="95250" marR="95250" marT="133350" marB="133350" anchor="ctr"/>
                </a:tc>
                <a:tc>
                  <a:txBody>
                    <a:bodyPr/>
                    <a:lstStyle/>
                    <a:p>
                      <a:pPr>
                        <a:lnSpc>
                          <a:spcPct val="115000"/>
                        </a:lnSpc>
                        <a:spcAft>
                          <a:spcPts val="800"/>
                        </a:spcAft>
                      </a:pPr>
                      <a:r>
                        <a:rPr lang="en-IN" sz="1600" kern="100" dirty="0">
                          <a:effectLst/>
                        </a:rPr>
                        <a:t>In an OLTP database, tables are </a:t>
                      </a:r>
                      <a:r>
                        <a:rPr lang="en-IN" sz="1600" u="sng" kern="100" dirty="0">
                          <a:effectLst/>
                          <a:hlinkClick r:id="rId4"/>
                        </a:rPr>
                        <a:t>normalized (3NF)</a:t>
                      </a:r>
                      <a:r>
                        <a:rPr lang="en-IN" sz="1600" kern="100" dirty="0">
                          <a:effectLst/>
                        </a:rPr>
                        <a:t>.</a:t>
                      </a:r>
                      <a:endParaRPr lang="en-IN" sz="1600" kern="100" dirty="0">
                        <a:effectLst/>
                        <a:latin typeface="Aptos" panose="020B0004020202020204" pitchFamily="34" charset="0"/>
                        <a:ea typeface="Aptos" panose="020B0004020202020204" pitchFamily="34" charset="0"/>
                        <a:cs typeface="Times New Roman" panose="02020603050405020304" pitchFamily="18" charset="0"/>
                      </a:endParaRPr>
                    </a:p>
                  </a:txBody>
                  <a:tcPr marL="95250" marR="95250" marT="133350" marB="133350" anchor="ctr"/>
                </a:tc>
                <a:extLst>
                  <a:ext uri="{0D108BD9-81ED-4DB2-BD59-A6C34878D82A}">
                    <a16:rowId xmlns:a16="http://schemas.microsoft.com/office/drawing/2014/main" val="1628729868"/>
                  </a:ext>
                </a:extLst>
              </a:tr>
            </a:tbl>
          </a:graphicData>
        </a:graphic>
      </p:graphicFrame>
    </p:spTree>
    <p:extLst>
      <p:ext uri="{BB962C8B-B14F-4D97-AF65-F5344CB8AC3E}">
        <p14:creationId xmlns:p14="http://schemas.microsoft.com/office/powerpoint/2010/main" val="955031597"/>
      </p:ext>
    </p:extLst>
  </p:cSld>
  <p:clrMapOvr>
    <a:masterClrMapping/>
  </p:clrMapOvr>
</p:sld>
</file>

<file path=ppt/slides/slide16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9AD0C8A-57D8-07D6-1733-7B3A944F370E}"/>
            </a:ext>
          </a:extLst>
        </p:cNvPr>
        <p:cNvGrpSpPr/>
        <p:nvPr/>
      </p:nvGrpSpPr>
      <p:grpSpPr>
        <a:xfrm>
          <a:off x="0" y="0"/>
          <a:ext cx="0" cy="0"/>
          <a:chOff x="0" y="0"/>
          <a:chExt cx="0" cy="0"/>
        </a:xfrm>
      </p:grpSpPr>
      <p:sp>
        <p:nvSpPr>
          <p:cNvPr id="2" name="Slide Number Placeholder 1">
            <a:extLst>
              <a:ext uri="{FF2B5EF4-FFF2-40B4-BE49-F238E27FC236}">
                <a16:creationId xmlns:a16="http://schemas.microsoft.com/office/drawing/2014/main" id="{B2F3282B-993A-5D74-4096-38B031E16475}"/>
              </a:ext>
            </a:extLst>
          </p:cNvPr>
          <p:cNvSpPr>
            <a:spLocks noGrp="1"/>
          </p:cNvSpPr>
          <p:nvPr>
            <p:ph type="sldNum" sz="quarter" idx="14"/>
          </p:nvPr>
        </p:nvSpPr>
        <p:spPr/>
        <p:txBody>
          <a:bodyPr/>
          <a:lstStyle/>
          <a:p>
            <a:fld id="{45A3C14A-F937-4231-B6F1-40B429FAFB2F}" type="slidenum">
              <a:rPr lang="en-NZ" smtClean="0"/>
              <a:pPr/>
              <a:t>166</a:t>
            </a:fld>
            <a:endParaRPr lang="en-NZ" dirty="0"/>
          </a:p>
        </p:txBody>
      </p:sp>
      <p:sp>
        <p:nvSpPr>
          <p:cNvPr id="3" name="Title 2">
            <a:extLst>
              <a:ext uri="{FF2B5EF4-FFF2-40B4-BE49-F238E27FC236}">
                <a16:creationId xmlns:a16="http://schemas.microsoft.com/office/drawing/2014/main" id="{3056FA6D-F804-D949-0CB2-62F8635BA811}"/>
              </a:ext>
            </a:extLst>
          </p:cNvPr>
          <p:cNvSpPr>
            <a:spLocks noGrp="1"/>
          </p:cNvSpPr>
          <p:nvPr>
            <p:ph type="title"/>
          </p:nvPr>
        </p:nvSpPr>
        <p:spPr>
          <a:xfrm>
            <a:off x="695400" y="395786"/>
            <a:ext cx="7704856" cy="838202"/>
          </a:xfrm>
        </p:spPr>
        <p:txBody>
          <a:bodyPr/>
          <a:lstStyle/>
          <a:p>
            <a:r>
              <a:rPr kumimoji="0" lang="en-US" altLang="en-US" sz="2800" b="1" i="0" u="none" strike="noStrike" cap="none" normalizeH="0" baseline="0" dirty="0">
                <a:ln>
                  <a:noFill/>
                </a:ln>
                <a:solidFill>
                  <a:srgbClr val="FF0000"/>
                </a:solidFill>
                <a:effectLst/>
                <a:latin typeface="Aptos" panose="020B0004020202020204" pitchFamily="34" charset="0"/>
                <a:ea typeface="Aptos" panose="020B0004020202020204" pitchFamily="34" charset="0"/>
                <a:cs typeface="Times New Roman" panose="02020603050405020304" pitchFamily="18" charset="0"/>
              </a:rPr>
              <a:t>Difference Between OLAP and OLTP</a:t>
            </a:r>
            <a:br>
              <a:rPr kumimoji="0" lang="en-US" altLang="en-US" sz="4000" b="0" i="0" u="none" strike="noStrike" cap="none" normalizeH="0" baseline="0" dirty="0">
                <a:ln>
                  <a:noFill/>
                </a:ln>
                <a:solidFill>
                  <a:schemeClr val="tx1"/>
                </a:solidFill>
                <a:effectLst/>
                <a:latin typeface="Arial" panose="020B0604020202020204" pitchFamily="34" charset="0"/>
              </a:rPr>
            </a:br>
            <a:br>
              <a:rPr lang="en-US" b="1" dirty="0"/>
            </a:br>
            <a:br>
              <a:rPr lang="en-US" b="1" dirty="0"/>
            </a:br>
            <a:endParaRPr lang="en-US" b="1" dirty="0"/>
          </a:p>
        </p:txBody>
      </p:sp>
      <p:sp>
        <p:nvSpPr>
          <p:cNvPr id="4" name="Text Placeholder 3">
            <a:extLst>
              <a:ext uri="{FF2B5EF4-FFF2-40B4-BE49-F238E27FC236}">
                <a16:creationId xmlns:a16="http://schemas.microsoft.com/office/drawing/2014/main" id="{3E0539FE-C82F-0F4D-68A3-9D779E862FA4}"/>
              </a:ext>
            </a:extLst>
          </p:cNvPr>
          <p:cNvSpPr>
            <a:spLocks noGrp="1"/>
          </p:cNvSpPr>
          <p:nvPr>
            <p:ph type="body" sz="quarter" idx="17"/>
          </p:nvPr>
        </p:nvSpPr>
        <p:spPr>
          <a:xfrm>
            <a:off x="119336" y="548680"/>
            <a:ext cx="11953328" cy="4320480"/>
          </a:xfrm>
        </p:spPr>
        <p:txBody>
          <a:bodyPr/>
          <a:lstStyle/>
          <a:p>
            <a:pPr marL="0" indent="0">
              <a:buNone/>
            </a:pPr>
            <a:r>
              <a:rPr lang="en-IN" sz="2000" b="1" dirty="0">
                <a:solidFill>
                  <a:srgbClr val="FF0000"/>
                </a:solidFill>
              </a:rPr>
              <a:t> </a:t>
            </a:r>
            <a:endParaRPr lang="en-US" sz="2000" dirty="0">
              <a:solidFill>
                <a:schemeClr val="tx1"/>
              </a:solidFill>
            </a:endParaRPr>
          </a:p>
        </p:txBody>
      </p:sp>
      <p:graphicFrame>
        <p:nvGraphicFramePr>
          <p:cNvPr id="6" name="Table 5">
            <a:extLst>
              <a:ext uri="{FF2B5EF4-FFF2-40B4-BE49-F238E27FC236}">
                <a16:creationId xmlns:a16="http://schemas.microsoft.com/office/drawing/2014/main" id="{270E75E7-78BE-9EAE-DFF7-C28A0ACA919C}"/>
              </a:ext>
            </a:extLst>
          </p:cNvPr>
          <p:cNvGraphicFramePr>
            <a:graphicFrameLocks noGrp="1"/>
          </p:cNvGraphicFramePr>
          <p:nvPr>
            <p:extLst>
              <p:ext uri="{D42A27DB-BD31-4B8C-83A1-F6EECF244321}">
                <p14:modId xmlns:p14="http://schemas.microsoft.com/office/powerpoint/2010/main" val="1016237099"/>
              </p:ext>
            </p:extLst>
          </p:nvPr>
        </p:nvGraphicFramePr>
        <p:xfrm>
          <a:off x="623393" y="424940"/>
          <a:ext cx="10873209" cy="6100170"/>
        </p:xfrm>
        <a:graphic>
          <a:graphicData uri="http://schemas.openxmlformats.org/drawingml/2006/table">
            <a:tbl>
              <a:tblPr firstRow="1" firstCol="1" bandRow="1">
                <a:tableStyleId>{5C22544A-7EE6-4342-B048-85BDC9FD1C3A}</a:tableStyleId>
              </a:tblPr>
              <a:tblGrid>
                <a:gridCol w="3624403">
                  <a:extLst>
                    <a:ext uri="{9D8B030D-6E8A-4147-A177-3AD203B41FA5}">
                      <a16:colId xmlns:a16="http://schemas.microsoft.com/office/drawing/2014/main" val="3149001328"/>
                    </a:ext>
                  </a:extLst>
                </a:gridCol>
                <a:gridCol w="3624403">
                  <a:extLst>
                    <a:ext uri="{9D8B030D-6E8A-4147-A177-3AD203B41FA5}">
                      <a16:colId xmlns:a16="http://schemas.microsoft.com/office/drawing/2014/main" val="3792007916"/>
                    </a:ext>
                  </a:extLst>
                </a:gridCol>
                <a:gridCol w="3624403">
                  <a:extLst>
                    <a:ext uri="{9D8B030D-6E8A-4147-A177-3AD203B41FA5}">
                      <a16:colId xmlns:a16="http://schemas.microsoft.com/office/drawing/2014/main" val="2560877139"/>
                    </a:ext>
                  </a:extLst>
                </a:gridCol>
              </a:tblGrid>
              <a:tr h="754000">
                <a:tc>
                  <a:txBody>
                    <a:bodyPr/>
                    <a:lstStyle/>
                    <a:p>
                      <a:pPr>
                        <a:lnSpc>
                          <a:spcPct val="115000"/>
                        </a:lnSpc>
                        <a:spcAft>
                          <a:spcPts val="800"/>
                        </a:spcAft>
                      </a:pPr>
                      <a:r>
                        <a:rPr lang="en-IN" sz="1600" kern="100">
                          <a:effectLst/>
                        </a:rPr>
                        <a:t>Usage of data</a:t>
                      </a:r>
                      <a:endParaRPr lang="en-IN" sz="1600" kern="100">
                        <a:effectLst/>
                        <a:latin typeface="Aptos" panose="020B0004020202020204" pitchFamily="34" charset="0"/>
                        <a:ea typeface="Aptos" panose="020B0004020202020204" pitchFamily="34" charset="0"/>
                        <a:cs typeface="Times New Roman" panose="02020603050405020304" pitchFamily="18" charset="0"/>
                      </a:endParaRPr>
                    </a:p>
                  </a:txBody>
                  <a:tcPr marL="87470" marR="87470" marT="122458" marB="122458" anchor="ctr"/>
                </a:tc>
                <a:tc>
                  <a:txBody>
                    <a:bodyPr/>
                    <a:lstStyle/>
                    <a:p>
                      <a:pPr>
                        <a:lnSpc>
                          <a:spcPct val="115000"/>
                        </a:lnSpc>
                        <a:spcAft>
                          <a:spcPts val="800"/>
                        </a:spcAft>
                      </a:pPr>
                      <a:r>
                        <a:rPr lang="en-IN" sz="1600" kern="100">
                          <a:effectLst/>
                        </a:rPr>
                        <a:t>The data is used in planning, problem-solving, and decision-making.</a:t>
                      </a:r>
                      <a:endParaRPr lang="en-IN" sz="1600" kern="100">
                        <a:effectLst/>
                        <a:latin typeface="Aptos" panose="020B0004020202020204" pitchFamily="34" charset="0"/>
                        <a:ea typeface="Aptos" panose="020B0004020202020204" pitchFamily="34" charset="0"/>
                        <a:cs typeface="Times New Roman" panose="02020603050405020304" pitchFamily="18" charset="0"/>
                      </a:endParaRPr>
                    </a:p>
                  </a:txBody>
                  <a:tcPr marL="87470" marR="87470" marT="122458" marB="122458" anchor="ctr"/>
                </a:tc>
                <a:tc>
                  <a:txBody>
                    <a:bodyPr/>
                    <a:lstStyle/>
                    <a:p>
                      <a:pPr>
                        <a:lnSpc>
                          <a:spcPct val="115000"/>
                        </a:lnSpc>
                        <a:spcAft>
                          <a:spcPts val="800"/>
                        </a:spcAft>
                      </a:pPr>
                      <a:r>
                        <a:rPr lang="en-IN" sz="1600" kern="100">
                          <a:effectLst/>
                        </a:rPr>
                        <a:t>The data is used to perform day-to-day fundamental operations.</a:t>
                      </a:r>
                      <a:endParaRPr lang="en-IN" sz="1600" kern="100">
                        <a:effectLst/>
                        <a:latin typeface="Aptos" panose="020B0004020202020204" pitchFamily="34" charset="0"/>
                        <a:ea typeface="Aptos" panose="020B0004020202020204" pitchFamily="34" charset="0"/>
                        <a:cs typeface="Times New Roman" panose="02020603050405020304" pitchFamily="18" charset="0"/>
                      </a:endParaRPr>
                    </a:p>
                  </a:txBody>
                  <a:tcPr marL="87470" marR="87470" marT="122458" marB="122458" anchor="ctr"/>
                </a:tc>
                <a:extLst>
                  <a:ext uri="{0D108BD9-81ED-4DB2-BD59-A6C34878D82A}">
                    <a16:rowId xmlns:a16="http://schemas.microsoft.com/office/drawing/2014/main" val="195478004"/>
                  </a:ext>
                </a:extLst>
              </a:tr>
              <a:tr h="754000">
                <a:tc>
                  <a:txBody>
                    <a:bodyPr/>
                    <a:lstStyle/>
                    <a:p>
                      <a:pPr>
                        <a:lnSpc>
                          <a:spcPct val="115000"/>
                        </a:lnSpc>
                        <a:spcAft>
                          <a:spcPts val="800"/>
                        </a:spcAft>
                      </a:pPr>
                      <a:r>
                        <a:rPr lang="en-IN" sz="1600" kern="100">
                          <a:effectLst/>
                        </a:rPr>
                        <a:t>Task</a:t>
                      </a:r>
                      <a:endParaRPr lang="en-IN" sz="1600" kern="100">
                        <a:effectLst/>
                        <a:latin typeface="Aptos" panose="020B0004020202020204" pitchFamily="34" charset="0"/>
                        <a:ea typeface="Aptos" panose="020B0004020202020204" pitchFamily="34" charset="0"/>
                        <a:cs typeface="Times New Roman" panose="02020603050405020304" pitchFamily="18" charset="0"/>
                      </a:endParaRPr>
                    </a:p>
                  </a:txBody>
                  <a:tcPr marL="87470" marR="87470" marT="122458" marB="122458" anchor="ctr"/>
                </a:tc>
                <a:tc>
                  <a:txBody>
                    <a:bodyPr/>
                    <a:lstStyle/>
                    <a:p>
                      <a:pPr>
                        <a:lnSpc>
                          <a:spcPct val="115000"/>
                        </a:lnSpc>
                        <a:spcAft>
                          <a:spcPts val="800"/>
                        </a:spcAft>
                      </a:pPr>
                      <a:r>
                        <a:rPr lang="en-IN" sz="1600" kern="100">
                          <a:effectLst/>
                        </a:rPr>
                        <a:t>It provides a multi-dimensional view of different business tasks.</a:t>
                      </a:r>
                      <a:endParaRPr lang="en-IN" sz="1600" kern="100">
                        <a:effectLst/>
                        <a:latin typeface="Aptos" panose="020B0004020202020204" pitchFamily="34" charset="0"/>
                        <a:ea typeface="Aptos" panose="020B0004020202020204" pitchFamily="34" charset="0"/>
                        <a:cs typeface="Times New Roman" panose="02020603050405020304" pitchFamily="18" charset="0"/>
                      </a:endParaRPr>
                    </a:p>
                  </a:txBody>
                  <a:tcPr marL="87470" marR="87470" marT="122458" marB="122458" anchor="ctr"/>
                </a:tc>
                <a:tc>
                  <a:txBody>
                    <a:bodyPr/>
                    <a:lstStyle/>
                    <a:p>
                      <a:pPr>
                        <a:lnSpc>
                          <a:spcPct val="115000"/>
                        </a:lnSpc>
                        <a:spcAft>
                          <a:spcPts val="800"/>
                        </a:spcAft>
                      </a:pPr>
                      <a:r>
                        <a:rPr lang="en-IN" sz="1600" kern="100">
                          <a:effectLst/>
                        </a:rPr>
                        <a:t>It reveals a snapshot of present business tasks.</a:t>
                      </a:r>
                      <a:endParaRPr lang="en-IN" sz="1600" kern="100">
                        <a:effectLst/>
                        <a:latin typeface="Aptos" panose="020B0004020202020204" pitchFamily="34" charset="0"/>
                        <a:ea typeface="Aptos" panose="020B0004020202020204" pitchFamily="34" charset="0"/>
                        <a:cs typeface="Times New Roman" panose="02020603050405020304" pitchFamily="18" charset="0"/>
                      </a:endParaRPr>
                    </a:p>
                  </a:txBody>
                  <a:tcPr marL="87470" marR="87470" marT="122458" marB="122458" anchor="ctr"/>
                </a:tc>
                <a:extLst>
                  <a:ext uri="{0D108BD9-81ED-4DB2-BD59-A6C34878D82A}">
                    <a16:rowId xmlns:a16="http://schemas.microsoft.com/office/drawing/2014/main" val="665246093"/>
                  </a:ext>
                </a:extLst>
              </a:tr>
              <a:tr h="1021186">
                <a:tc>
                  <a:txBody>
                    <a:bodyPr/>
                    <a:lstStyle/>
                    <a:p>
                      <a:pPr>
                        <a:lnSpc>
                          <a:spcPct val="115000"/>
                        </a:lnSpc>
                        <a:spcAft>
                          <a:spcPts val="800"/>
                        </a:spcAft>
                      </a:pPr>
                      <a:r>
                        <a:rPr lang="en-IN" sz="1600" kern="100">
                          <a:effectLst/>
                        </a:rPr>
                        <a:t>Purpose</a:t>
                      </a:r>
                      <a:endParaRPr lang="en-IN" sz="1600" kern="100">
                        <a:effectLst/>
                        <a:latin typeface="Aptos" panose="020B0004020202020204" pitchFamily="34" charset="0"/>
                        <a:ea typeface="Aptos" panose="020B0004020202020204" pitchFamily="34" charset="0"/>
                        <a:cs typeface="Times New Roman" panose="02020603050405020304" pitchFamily="18" charset="0"/>
                      </a:endParaRPr>
                    </a:p>
                  </a:txBody>
                  <a:tcPr marL="87470" marR="87470" marT="122458" marB="122458" anchor="ctr"/>
                </a:tc>
                <a:tc>
                  <a:txBody>
                    <a:bodyPr/>
                    <a:lstStyle/>
                    <a:p>
                      <a:pPr>
                        <a:lnSpc>
                          <a:spcPct val="115000"/>
                        </a:lnSpc>
                        <a:spcAft>
                          <a:spcPts val="800"/>
                        </a:spcAft>
                      </a:pPr>
                      <a:r>
                        <a:rPr lang="en-IN" sz="1600" kern="100">
                          <a:effectLst/>
                        </a:rPr>
                        <a:t>It serves the purpose to extract information for analysis and decision-making.</a:t>
                      </a:r>
                      <a:endParaRPr lang="en-IN" sz="1600" kern="100">
                        <a:effectLst/>
                        <a:latin typeface="Aptos" panose="020B0004020202020204" pitchFamily="34" charset="0"/>
                        <a:ea typeface="Aptos" panose="020B0004020202020204" pitchFamily="34" charset="0"/>
                        <a:cs typeface="Times New Roman" panose="02020603050405020304" pitchFamily="18" charset="0"/>
                      </a:endParaRPr>
                    </a:p>
                  </a:txBody>
                  <a:tcPr marL="87470" marR="87470" marT="122458" marB="122458" anchor="ctr"/>
                </a:tc>
                <a:tc>
                  <a:txBody>
                    <a:bodyPr/>
                    <a:lstStyle/>
                    <a:p>
                      <a:pPr>
                        <a:lnSpc>
                          <a:spcPct val="115000"/>
                        </a:lnSpc>
                        <a:spcAft>
                          <a:spcPts val="800"/>
                        </a:spcAft>
                      </a:pPr>
                      <a:r>
                        <a:rPr lang="en-IN" sz="1600" kern="100">
                          <a:effectLst/>
                        </a:rPr>
                        <a:t>It serves the purpose to Insert, Update, and Delete information from the database.</a:t>
                      </a:r>
                      <a:endParaRPr lang="en-IN" sz="1600" kern="100">
                        <a:effectLst/>
                        <a:latin typeface="Aptos" panose="020B0004020202020204" pitchFamily="34" charset="0"/>
                        <a:ea typeface="Aptos" panose="020B0004020202020204" pitchFamily="34" charset="0"/>
                        <a:cs typeface="Times New Roman" panose="02020603050405020304" pitchFamily="18" charset="0"/>
                      </a:endParaRPr>
                    </a:p>
                  </a:txBody>
                  <a:tcPr marL="87470" marR="87470" marT="122458" marB="122458" anchor="ctr"/>
                </a:tc>
                <a:extLst>
                  <a:ext uri="{0D108BD9-81ED-4DB2-BD59-A6C34878D82A}">
                    <a16:rowId xmlns:a16="http://schemas.microsoft.com/office/drawing/2014/main" val="3910002824"/>
                  </a:ext>
                </a:extLst>
              </a:tr>
              <a:tr h="1021186">
                <a:tc>
                  <a:txBody>
                    <a:bodyPr/>
                    <a:lstStyle/>
                    <a:p>
                      <a:pPr>
                        <a:lnSpc>
                          <a:spcPct val="115000"/>
                        </a:lnSpc>
                        <a:spcAft>
                          <a:spcPts val="800"/>
                        </a:spcAft>
                      </a:pPr>
                      <a:r>
                        <a:rPr lang="en-IN" sz="1600" kern="100">
                          <a:effectLst/>
                        </a:rPr>
                        <a:t>Volume of data</a:t>
                      </a:r>
                      <a:endParaRPr lang="en-IN" sz="1600" kern="100">
                        <a:effectLst/>
                        <a:latin typeface="Aptos" panose="020B0004020202020204" pitchFamily="34" charset="0"/>
                        <a:ea typeface="Aptos" panose="020B0004020202020204" pitchFamily="34" charset="0"/>
                        <a:cs typeface="Times New Roman" panose="02020603050405020304" pitchFamily="18" charset="0"/>
                      </a:endParaRPr>
                    </a:p>
                  </a:txBody>
                  <a:tcPr marL="87470" marR="87470" marT="122458" marB="122458" anchor="ctr"/>
                </a:tc>
                <a:tc>
                  <a:txBody>
                    <a:bodyPr/>
                    <a:lstStyle/>
                    <a:p>
                      <a:pPr>
                        <a:lnSpc>
                          <a:spcPct val="115000"/>
                        </a:lnSpc>
                        <a:spcAft>
                          <a:spcPts val="800"/>
                        </a:spcAft>
                      </a:pPr>
                      <a:r>
                        <a:rPr lang="en-IN" sz="1600" kern="100">
                          <a:effectLst/>
                        </a:rPr>
                        <a:t>A large amount of data is stored typically in TB, PB</a:t>
                      </a:r>
                      <a:endParaRPr lang="en-IN" sz="1600" kern="100">
                        <a:effectLst/>
                        <a:latin typeface="Aptos" panose="020B0004020202020204" pitchFamily="34" charset="0"/>
                        <a:ea typeface="Aptos" panose="020B0004020202020204" pitchFamily="34" charset="0"/>
                        <a:cs typeface="Times New Roman" panose="02020603050405020304" pitchFamily="18" charset="0"/>
                      </a:endParaRPr>
                    </a:p>
                  </a:txBody>
                  <a:tcPr marL="87470" marR="87470" marT="122458" marB="122458" anchor="ctr"/>
                </a:tc>
                <a:tc>
                  <a:txBody>
                    <a:bodyPr/>
                    <a:lstStyle/>
                    <a:p>
                      <a:pPr>
                        <a:lnSpc>
                          <a:spcPct val="115000"/>
                        </a:lnSpc>
                        <a:spcAft>
                          <a:spcPts val="800"/>
                        </a:spcAft>
                      </a:pPr>
                      <a:r>
                        <a:rPr lang="en-IN" sz="1600" kern="100">
                          <a:effectLst/>
                        </a:rPr>
                        <a:t>The size of the data is relatively small as the historical data is archived in MB, and GB.</a:t>
                      </a:r>
                      <a:endParaRPr lang="en-IN" sz="1600" kern="100">
                        <a:effectLst/>
                        <a:latin typeface="Aptos" panose="020B0004020202020204" pitchFamily="34" charset="0"/>
                        <a:ea typeface="Aptos" panose="020B0004020202020204" pitchFamily="34" charset="0"/>
                        <a:cs typeface="Times New Roman" panose="02020603050405020304" pitchFamily="18" charset="0"/>
                      </a:endParaRPr>
                    </a:p>
                  </a:txBody>
                  <a:tcPr marL="87470" marR="87470" marT="122458" marB="122458" anchor="ctr"/>
                </a:tc>
                <a:extLst>
                  <a:ext uri="{0D108BD9-81ED-4DB2-BD59-A6C34878D82A}">
                    <a16:rowId xmlns:a16="http://schemas.microsoft.com/office/drawing/2014/main" val="2744918129"/>
                  </a:ext>
                </a:extLst>
              </a:tr>
              <a:tr h="754000">
                <a:tc>
                  <a:txBody>
                    <a:bodyPr/>
                    <a:lstStyle/>
                    <a:p>
                      <a:pPr>
                        <a:lnSpc>
                          <a:spcPct val="115000"/>
                        </a:lnSpc>
                        <a:spcAft>
                          <a:spcPts val="800"/>
                        </a:spcAft>
                      </a:pPr>
                      <a:r>
                        <a:rPr lang="en-IN" sz="1600" kern="100" dirty="0">
                          <a:effectLst/>
                        </a:rPr>
                        <a:t>Queries</a:t>
                      </a:r>
                      <a:endParaRPr lang="en-IN" sz="1600" kern="100" dirty="0">
                        <a:effectLst/>
                        <a:latin typeface="Aptos" panose="020B0004020202020204" pitchFamily="34" charset="0"/>
                        <a:ea typeface="Aptos" panose="020B0004020202020204" pitchFamily="34" charset="0"/>
                        <a:cs typeface="Times New Roman" panose="02020603050405020304" pitchFamily="18" charset="0"/>
                      </a:endParaRPr>
                    </a:p>
                  </a:txBody>
                  <a:tcPr marL="87470" marR="87470" marT="122458" marB="122458" anchor="ctr"/>
                </a:tc>
                <a:tc>
                  <a:txBody>
                    <a:bodyPr/>
                    <a:lstStyle/>
                    <a:p>
                      <a:pPr>
                        <a:lnSpc>
                          <a:spcPct val="115000"/>
                        </a:lnSpc>
                        <a:spcAft>
                          <a:spcPts val="800"/>
                        </a:spcAft>
                      </a:pPr>
                      <a:r>
                        <a:rPr lang="en-IN" sz="1600" kern="100">
                          <a:effectLst/>
                        </a:rPr>
                        <a:t>Relatively slow as the amount of data involved is large. Queries may take hours.</a:t>
                      </a:r>
                      <a:endParaRPr lang="en-IN" sz="1600" kern="100">
                        <a:effectLst/>
                        <a:latin typeface="Aptos" panose="020B0004020202020204" pitchFamily="34" charset="0"/>
                        <a:ea typeface="Aptos" panose="020B0004020202020204" pitchFamily="34" charset="0"/>
                        <a:cs typeface="Times New Roman" panose="02020603050405020304" pitchFamily="18" charset="0"/>
                      </a:endParaRPr>
                    </a:p>
                  </a:txBody>
                  <a:tcPr marL="87470" marR="87470" marT="122458" marB="122458" anchor="ctr"/>
                </a:tc>
                <a:tc>
                  <a:txBody>
                    <a:bodyPr/>
                    <a:lstStyle/>
                    <a:p>
                      <a:pPr>
                        <a:lnSpc>
                          <a:spcPct val="115000"/>
                        </a:lnSpc>
                        <a:spcAft>
                          <a:spcPts val="800"/>
                        </a:spcAft>
                      </a:pPr>
                      <a:r>
                        <a:rPr lang="en-IN" sz="1600" kern="100">
                          <a:effectLst/>
                        </a:rPr>
                        <a:t>Very Fast as the queries operate on 5% of the data.</a:t>
                      </a:r>
                      <a:endParaRPr lang="en-IN" sz="1600" kern="100">
                        <a:effectLst/>
                        <a:latin typeface="Aptos" panose="020B0004020202020204" pitchFamily="34" charset="0"/>
                        <a:ea typeface="Aptos" panose="020B0004020202020204" pitchFamily="34" charset="0"/>
                        <a:cs typeface="Times New Roman" panose="02020603050405020304" pitchFamily="18" charset="0"/>
                      </a:endParaRPr>
                    </a:p>
                  </a:txBody>
                  <a:tcPr marL="87470" marR="87470" marT="122458" marB="122458" anchor="ctr"/>
                </a:tc>
                <a:extLst>
                  <a:ext uri="{0D108BD9-81ED-4DB2-BD59-A6C34878D82A}">
                    <a16:rowId xmlns:a16="http://schemas.microsoft.com/office/drawing/2014/main" val="2681868734"/>
                  </a:ext>
                </a:extLst>
              </a:tr>
              <a:tr h="754000">
                <a:tc>
                  <a:txBody>
                    <a:bodyPr/>
                    <a:lstStyle/>
                    <a:p>
                      <a:pPr>
                        <a:lnSpc>
                          <a:spcPct val="115000"/>
                        </a:lnSpc>
                        <a:spcAft>
                          <a:spcPts val="800"/>
                        </a:spcAft>
                      </a:pPr>
                      <a:r>
                        <a:rPr lang="en-IN" sz="1600" kern="100">
                          <a:effectLst/>
                        </a:rPr>
                        <a:t>Update</a:t>
                      </a:r>
                      <a:endParaRPr lang="en-IN" sz="1600" kern="100">
                        <a:effectLst/>
                        <a:latin typeface="Aptos" panose="020B0004020202020204" pitchFamily="34" charset="0"/>
                        <a:ea typeface="Aptos" panose="020B0004020202020204" pitchFamily="34" charset="0"/>
                        <a:cs typeface="Times New Roman" panose="02020603050405020304" pitchFamily="18" charset="0"/>
                      </a:endParaRPr>
                    </a:p>
                  </a:txBody>
                  <a:tcPr marL="87470" marR="87470" marT="122458" marB="122458" anchor="ctr"/>
                </a:tc>
                <a:tc>
                  <a:txBody>
                    <a:bodyPr/>
                    <a:lstStyle/>
                    <a:p>
                      <a:pPr>
                        <a:lnSpc>
                          <a:spcPct val="115000"/>
                        </a:lnSpc>
                        <a:spcAft>
                          <a:spcPts val="800"/>
                        </a:spcAft>
                      </a:pPr>
                      <a:r>
                        <a:rPr lang="en-IN" sz="1600" kern="100">
                          <a:effectLst/>
                        </a:rPr>
                        <a:t> The </a:t>
                      </a:r>
                      <a:r>
                        <a:rPr lang="en-IN" sz="1600" u="sng" kern="100">
                          <a:effectLst/>
                          <a:hlinkClick r:id="rId2"/>
                        </a:rPr>
                        <a:t>OLAP database</a:t>
                      </a:r>
                      <a:r>
                        <a:rPr lang="en-IN" sz="1600" kern="100">
                          <a:effectLst/>
                        </a:rPr>
                        <a:t> is not often updated. As a result, data integrity is unaffected.</a:t>
                      </a:r>
                      <a:endParaRPr lang="en-IN" sz="1600" kern="100">
                        <a:effectLst/>
                        <a:latin typeface="Aptos" panose="020B0004020202020204" pitchFamily="34" charset="0"/>
                        <a:ea typeface="Aptos" panose="020B0004020202020204" pitchFamily="34" charset="0"/>
                        <a:cs typeface="Times New Roman" panose="02020603050405020304" pitchFamily="18" charset="0"/>
                      </a:endParaRPr>
                    </a:p>
                  </a:txBody>
                  <a:tcPr marL="87470" marR="87470" marT="122458" marB="122458" anchor="ctr"/>
                </a:tc>
                <a:tc>
                  <a:txBody>
                    <a:bodyPr/>
                    <a:lstStyle/>
                    <a:p>
                      <a:pPr>
                        <a:lnSpc>
                          <a:spcPct val="115000"/>
                        </a:lnSpc>
                        <a:spcAft>
                          <a:spcPts val="800"/>
                        </a:spcAft>
                      </a:pPr>
                      <a:r>
                        <a:rPr lang="en-IN" sz="1600" kern="100">
                          <a:effectLst/>
                        </a:rPr>
                        <a:t>The data integrity constraint must be maintained in an </a:t>
                      </a:r>
                      <a:r>
                        <a:rPr lang="en-IN" sz="1600" u="sng" kern="100">
                          <a:effectLst/>
                          <a:hlinkClick r:id="rId3"/>
                        </a:rPr>
                        <a:t>OLTP database</a:t>
                      </a:r>
                      <a:r>
                        <a:rPr lang="en-IN" sz="1600" kern="100">
                          <a:effectLst/>
                        </a:rPr>
                        <a:t>.</a:t>
                      </a:r>
                      <a:endParaRPr lang="en-IN" sz="1600" kern="100">
                        <a:effectLst/>
                        <a:latin typeface="Aptos" panose="020B0004020202020204" pitchFamily="34" charset="0"/>
                        <a:ea typeface="Aptos" panose="020B0004020202020204" pitchFamily="34" charset="0"/>
                        <a:cs typeface="Times New Roman" panose="02020603050405020304" pitchFamily="18" charset="0"/>
                      </a:endParaRPr>
                    </a:p>
                  </a:txBody>
                  <a:tcPr marL="87470" marR="87470" marT="122458" marB="122458" anchor="ctr"/>
                </a:tc>
                <a:extLst>
                  <a:ext uri="{0D108BD9-81ED-4DB2-BD59-A6C34878D82A}">
                    <a16:rowId xmlns:a16="http://schemas.microsoft.com/office/drawing/2014/main" val="2064176889"/>
                  </a:ext>
                </a:extLst>
              </a:tr>
              <a:tr h="754000">
                <a:tc>
                  <a:txBody>
                    <a:bodyPr/>
                    <a:lstStyle/>
                    <a:p>
                      <a:pPr>
                        <a:lnSpc>
                          <a:spcPct val="115000"/>
                        </a:lnSpc>
                        <a:spcAft>
                          <a:spcPts val="800"/>
                        </a:spcAft>
                      </a:pPr>
                      <a:r>
                        <a:rPr lang="en-IN" sz="1600" kern="100">
                          <a:effectLst/>
                        </a:rPr>
                        <a:t>Backup and Recovery</a:t>
                      </a:r>
                      <a:endParaRPr lang="en-IN" sz="1600" kern="100">
                        <a:effectLst/>
                        <a:latin typeface="Aptos" panose="020B0004020202020204" pitchFamily="34" charset="0"/>
                        <a:ea typeface="Aptos" panose="020B0004020202020204" pitchFamily="34" charset="0"/>
                        <a:cs typeface="Times New Roman" panose="02020603050405020304" pitchFamily="18" charset="0"/>
                      </a:endParaRPr>
                    </a:p>
                  </a:txBody>
                  <a:tcPr marL="87470" marR="87470" marT="122458" marB="122458" anchor="ctr"/>
                </a:tc>
                <a:tc>
                  <a:txBody>
                    <a:bodyPr/>
                    <a:lstStyle/>
                    <a:p>
                      <a:pPr>
                        <a:lnSpc>
                          <a:spcPct val="115000"/>
                        </a:lnSpc>
                        <a:spcAft>
                          <a:spcPts val="800"/>
                        </a:spcAft>
                      </a:pPr>
                      <a:r>
                        <a:rPr lang="en-IN" sz="1600" kern="100">
                          <a:effectLst/>
                        </a:rPr>
                        <a:t>It only needs backup from time to time as compared to OLTP.</a:t>
                      </a:r>
                      <a:endParaRPr lang="en-IN" sz="1600" kern="100">
                        <a:effectLst/>
                        <a:latin typeface="Aptos" panose="020B0004020202020204" pitchFamily="34" charset="0"/>
                        <a:ea typeface="Aptos" panose="020B0004020202020204" pitchFamily="34" charset="0"/>
                        <a:cs typeface="Times New Roman" panose="02020603050405020304" pitchFamily="18" charset="0"/>
                      </a:endParaRPr>
                    </a:p>
                  </a:txBody>
                  <a:tcPr marL="87470" marR="87470" marT="122458" marB="122458" anchor="ctr"/>
                </a:tc>
                <a:tc>
                  <a:txBody>
                    <a:bodyPr/>
                    <a:lstStyle/>
                    <a:p>
                      <a:pPr>
                        <a:lnSpc>
                          <a:spcPct val="115000"/>
                        </a:lnSpc>
                        <a:spcAft>
                          <a:spcPts val="800"/>
                        </a:spcAft>
                      </a:pPr>
                      <a:r>
                        <a:rPr lang="en-IN" sz="1600" kern="100" dirty="0">
                          <a:effectLst/>
                        </a:rPr>
                        <a:t>The backup and recovery process is maintained rigorously</a:t>
                      </a:r>
                      <a:endParaRPr lang="en-IN" sz="1600" kern="100" dirty="0">
                        <a:effectLst/>
                        <a:latin typeface="Aptos" panose="020B0004020202020204" pitchFamily="34" charset="0"/>
                        <a:ea typeface="Aptos" panose="020B0004020202020204" pitchFamily="34" charset="0"/>
                        <a:cs typeface="Times New Roman" panose="02020603050405020304" pitchFamily="18" charset="0"/>
                      </a:endParaRPr>
                    </a:p>
                  </a:txBody>
                  <a:tcPr marL="87470" marR="87470" marT="122458" marB="122458" anchor="ctr"/>
                </a:tc>
                <a:extLst>
                  <a:ext uri="{0D108BD9-81ED-4DB2-BD59-A6C34878D82A}">
                    <a16:rowId xmlns:a16="http://schemas.microsoft.com/office/drawing/2014/main" val="2738802478"/>
                  </a:ext>
                </a:extLst>
              </a:tr>
            </a:tbl>
          </a:graphicData>
        </a:graphic>
      </p:graphicFrame>
    </p:spTree>
    <p:extLst>
      <p:ext uri="{BB962C8B-B14F-4D97-AF65-F5344CB8AC3E}">
        <p14:creationId xmlns:p14="http://schemas.microsoft.com/office/powerpoint/2010/main" val="1569248309"/>
      </p:ext>
    </p:extLst>
  </p:cSld>
  <p:clrMapOvr>
    <a:masterClrMapping/>
  </p:clrMapOvr>
</p:sld>
</file>

<file path=ppt/slides/slide16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F8E96D0-379E-B1E7-1935-165E285993B0}"/>
            </a:ext>
          </a:extLst>
        </p:cNvPr>
        <p:cNvGrpSpPr/>
        <p:nvPr/>
      </p:nvGrpSpPr>
      <p:grpSpPr>
        <a:xfrm>
          <a:off x="0" y="0"/>
          <a:ext cx="0" cy="0"/>
          <a:chOff x="0" y="0"/>
          <a:chExt cx="0" cy="0"/>
        </a:xfrm>
      </p:grpSpPr>
      <p:sp>
        <p:nvSpPr>
          <p:cNvPr id="2" name="Slide Number Placeholder 1">
            <a:extLst>
              <a:ext uri="{FF2B5EF4-FFF2-40B4-BE49-F238E27FC236}">
                <a16:creationId xmlns:a16="http://schemas.microsoft.com/office/drawing/2014/main" id="{A0CAD790-0295-B5CD-EAAC-CFDE65680C32}"/>
              </a:ext>
            </a:extLst>
          </p:cNvPr>
          <p:cNvSpPr>
            <a:spLocks noGrp="1"/>
          </p:cNvSpPr>
          <p:nvPr>
            <p:ph type="sldNum" sz="quarter" idx="14"/>
          </p:nvPr>
        </p:nvSpPr>
        <p:spPr/>
        <p:txBody>
          <a:bodyPr/>
          <a:lstStyle/>
          <a:p>
            <a:fld id="{45A3C14A-F937-4231-B6F1-40B429FAFB2F}" type="slidenum">
              <a:rPr lang="en-NZ" smtClean="0"/>
              <a:pPr/>
              <a:t>167</a:t>
            </a:fld>
            <a:endParaRPr lang="en-NZ" dirty="0"/>
          </a:p>
        </p:txBody>
      </p:sp>
      <p:sp>
        <p:nvSpPr>
          <p:cNvPr id="3" name="Title 2">
            <a:extLst>
              <a:ext uri="{FF2B5EF4-FFF2-40B4-BE49-F238E27FC236}">
                <a16:creationId xmlns:a16="http://schemas.microsoft.com/office/drawing/2014/main" id="{45EA9FD8-9E43-39E1-6C59-B19070CC09BC}"/>
              </a:ext>
            </a:extLst>
          </p:cNvPr>
          <p:cNvSpPr>
            <a:spLocks noGrp="1"/>
          </p:cNvSpPr>
          <p:nvPr>
            <p:ph type="title"/>
          </p:nvPr>
        </p:nvSpPr>
        <p:spPr>
          <a:xfrm>
            <a:off x="695400" y="395786"/>
            <a:ext cx="7704856" cy="838202"/>
          </a:xfrm>
        </p:spPr>
        <p:txBody>
          <a:bodyPr/>
          <a:lstStyle/>
          <a:p>
            <a:br>
              <a:rPr lang="fr-FR" b="1" i="0" dirty="0">
                <a:solidFill>
                  <a:srgbClr val="273239"/>
                </a:solidFill>
                <a:effectLst/>
                <a:latin typeface="Source Sans 3"/>
              </a:rPr>
            </a:br>
            <a:br>
              <a:rPr lang="fr-FR" b="1" i="0" dirty="0">
                <a:solidFill>
                  <a:srgbClr val="273239"/>
                </a:solidFill>
                <a:effectLst/>
                <a:latin typeface="Source Sans 3"/>
              </a:rPr>
            </a:br>
            <a:br>
              <a:rPr lang="fr-FR" b="1" i="0" dirty="0">
                <a:solidFill>
                  <a:srgbClr val="273239"/>
                </a:solidFill>
                <a:effectLst/>
                <a:latin typeface="Source Sans 3"/>
              </a:rPr>
            </a:br>
            <a:br>
              <a:rPr lang="fr-FR" b="1" i="0" dirty="0">
                <a:solidFill>
                  <a:srgbClr val="273239"/>
                </a:solidFill>
                <a:effectLst/>
                <a:latin typeface="Source Sans 3"/>
              </a:rPr>
            </a:br>
            <a:r>
              <a:rPr lang="fr-FR" b="1" i="0" dirty="0" err="1">
                <a:solidFill>
                  <a:srgbClr val="FF0000"/>
                </a:solidFill>
                <a:effectLst/>
                <a:latin typeface="Source Sans 3"/>
              </a:rPr>
              <a:t>Constraints</a:t>
            </a:r>
            <a:r>
              <a:rPr lang="fr-FR" b="1" i="0" dirty="0">
                <a:solidFill>
                  <a:srgbClr val="FF0000"/>
                </a:solidFill>
                <a:effectLst/>
                <a:latin typeface="Source Sans 3"/>
              </a:rPr>
              <a:t> on </a:t>
            </a:r>
            <a:r>
              <a:rPr lang="fr-FR" b="1" i="0" dirty="0" err="1">
                <a:solidFill>
                  <a:srgbClr val="FF0000"/>
                </a:solidFill>
                <a:effectLst/>
                <a:latin typeface="Source Sans 3"/>
              </a:rPr>
              <a:t>Relational</a:t>
            </a:r>
            <a:r>
              <a:rPr lang="fr-FR" b="1" i="0" dirty="0">
                <a:solidFill>
                  <a:srgbClr val="FF0000"/>
                </a:solidFill>
                <a:effectLst/>
                <a:latin typeface="Source Sans 3"/>
              </a:rPr>
              <a:t> </a:t>
            </a:r>
            <a:r>
              <a:rPr lang="fr-FR" b="1" i="0" dirty="0" err="1">
                <a:solidFill>
                  <a:srgbClr val="FF0000"/>
                </a:solidFill>
                <a:effectLst/>
                <a:latin typeface="Source Sans 3"/>
              </a:rPr>
              <a:t>Database</a:t>
            </a:r>
            <a:r>
              <a:rPr lang="fr-FR" b="1" i="0" dirty="0">
                <a:solidFill>
                  <a:srgbClr val="FF0000"/>
                </a:solidFill>
                <a:effectLst/>
                <a:latin typeface="Source Sans 3"/>
              </a:rPr>
              <a:t> Model</a:t>
            </a:r>
            <a:br>
              <a:rPr lang="fr-FR" b="1" i="0" dirty="0">
                <a:solidFill>
                  <a:srgbClr val="FF0000"/>
                </a:solidFill>
                <a:effectLst/>
                <a:latin typeface="Source Sans 3"/>
              </a:rPr>
            </a:br>
            <a:br>
              <a:rPr kumimoji="0" lang="en-US" altLang="en-US" sz="4000" b="0" i="0" u="none" strike="noStrike" cap="none" normalizeH="0" baseline="0" dirty="0">
                <a:ln>
                  <a:noFill/>
                </a:ln>
                <a:solidFill>
                  <a:srgbClr val="FF0000"/>
                </a:solidFill>
                <a:effectLst/>
                <a:latin typeface="Arial" panose="020B0604020202020204" pitchFamily="34" charset="0"/>
              </a:rPr>
            </a:br>
            <a:br>
              <a:rPr lang="en-US" b="1" dirty="0">
                <a:solidFill>
                  <a:srgbClr val="FF0000"/>
                </a:solidFill>
              </a:rPr>
            </a:br>
            <a:br>
              <a:rPr lang="en-US" b="1" dirty="0"/>
            </a:br>
            <a:endParaRPr lang="en-US" b="1" dirty="0"/>
          </a:p>
        </p:txBody>
      </p:sp>
      <p:sp>
        <p:nvSpPr>
          <p:cNvPr id="4" name="Text Placeholder 3">
            <a:extLst>
              <a:ext uri="{FF2B5EF4-FFF2-40B4-BE49-F238E27FC236}">
                <a16:creationId xmlns:a16="http://schemas.microsoft.com/office/drawing/2014/main" id="{8B66D45E-33DA-5C06-022B-F63E661950CE}"/>
              </a:ext>
            </a:extLst>
          </p:cNvPr>
          <p:cNvSpPr>
            <a:spLocks noGrp="1"/>
          </p:cNvSpPr>
          <p:nvPr>
            <p:ph type="body" sz="quarter" idx="17"/>
          </p:nvPr>
        </p:nvSpPr>
        <p:spPr>
          <a:xfrm>
            <a:off x="119336" y="548680"/>
            <a:ext cx="11953328" cy="4320480"/>
          </a:xfrm>
        </p:spPr>
        <p:txBody>
          <a:bodyPr/>
          <a:lstStyle/>
          <a:p>
            <a:pPr algn="just" rtl="0" fontAlgn="base">
              <a:spcAft>
                <a:spcPts val="750"/>
              </a:spcAft>
            </a:pPr>
            <a:endParaRPr lang="en-IN" sz="2000" b="1" dirty="0">
              <a:solidFill>
                <a:srgbClr val="FF0000"/>
              </a:solidFill>
            </a:endParaRPr>
          </a:p>
          <a:p>
            <a:pPr algn="just" rtl="0" fontAlgn="base">
              <a:spcAft>
                <a:spcPts val="750"/>
              </a:spcAft>
            </a:pPr>
            <a:endParaRPr lang="en-IN" sz="2000" b="1" dirty="0">
              <a:solidFill>
                <a:srgbClr val="FF0000"/>
              </a:solidFill>
            </a:endParaRPr>
          </a:p>
          <a:p>
            <a:pPr marL="342900" indent="-342900" algn="just" rtl="0" fontAlgn="base">
              <a:spcAft>
                <a:spcPts val="750"/>
              </a:spcAft>
              <a:buFont typeface="Arial" panose="020B0604020202020204" pitchFamily="34" charset="0"/>
              <a:buChar char="•"/>
            </a:pPr>
            <a:r>
              <a:rPr lang="en-IN" sz="2000" b="1" dirty="0">
                <a:solidFill>
                  <a:schemeClr val="tx1"/>
                </a:solidFill>
              </a:rPr>
              <a:t>I</a:t>
            </a:r>
            <a:r>
              <a:rPr lang="en-US" sz="2000" b="0" i="0" dirty="0">
                <a:solidFill>
                  <a:schemeClr val="tx1"/>
                </a:solidFill>
                <a:effectLst/>
              </a:rPr>
              <a:t>n modeling the design of the relational database we can put some restrictions like what values are allowed to be inserted in the relation, and what kind of modifications and deletions are allowed in the relation. These are the restrictions we impose on the relational database. </a:t>
            </a:r>
          </a:p>
          <a:p>
            <a:pPr marL="342900" indent="-342900" algn="just" fontAlgn="base">
              <a:spcAft>
                <a:spcPts val="750"/>
              </a:spcAft>
              <a:buFont typeface="Arial" panose="020B0604020202020204" pitchFamily="34" charset="0"/>
              <a:buChar char="•"/>
            </a:pPr>
            <a:r>
              <a:rPr lang="en-US" sz="2000" b="0" i="0" dirty="0">
                <a:solidFill>
                  <a:schemeClr val="tx1"/>
                </a:solidFill>
                <a:effectLst/>
              </a:rPr>
              <a:t>In models like Entity-Relationship models, we did not have such features. </a:t>
            </a:r>
          </a:p>
          <a:p>
            <a:pPr marL="342900" indent="-342900" algn="just" fontAlgn="base">
              <a:spcAft>
                <a:spcPts val="750"/>
              </a:spcAft>
              <a:buFont typeface="Arial" panose="020B0604020202020204" pitchFamily="34" charset="0"/>
              <a:buChar char="•"/>
            </a:pPr>
            <a:r>
              <a:rPr lang="en-US" sz="2000" b="0" i="0" dirty="0">
                <a:solidFill>
                  <a:srgbClr val="FF0000"/>
                </a:solidFill>
                <a:effectLst/>
              </a:rPr>
              <a:t>Database Constraints can be categorized into 3 main categories: </a:t>
            </a:r>
          </a:p>
          <a:p>
            <a:pPr algn="just" fontAlgn="base">
              <a:spcAft>
                <a:spcPts val="1800"/>
              </a:spcAft>
              <a:buFont typeface="+mj-lt"/>
              <a:buAutoNum type="arabicPeriod"/>
            </a:pPr>
            <a:r>
              <a:rPr lang="en-US" sz="2000" b="0" i="0" dirty="0">
                <a:solidFill>
                  <a:schemeClr val="tx1"/>
                </a:solidFill>
                <a:effectLst/>
              </a:rPr>
              <a:t>Constraints that are applied in the data model are called </a:t>
            </a:r>
            <a:r>
              <a:rPr lang="en-US" sz="2000" b="1" i="0" dirty="0">
                <a:solidFill>
                  <a:srgbClr val="FF0000"/>
                </a:solidFill>
                <a:effectLst/>
              </a:rPr>
              <a:t>Implicit Constraints</a:t>
            </a:r>
            <a:r>
              <a:rPr lang="en-US" sz="2000" b="0" i="0" dirty="0">
                <a:solidFill>
                  <a:srgbClr val="FF0000"/>
                </a:solidFill>
                <a:effectLst/>
              </a:rPr>
              <a:t>.</a:t>
            </a:r>
          </a:p>
          <a:p>
            <a:pPr algn="just" fontAlgn="base">
              <a:spcAft>
                <a:spcPts val="1800"/>
              </a:spcAft>
              <a:buFont typeface="+mj-lt"/>
              <a:buAutoNum type="arabicPeriod" startAt="2"/>
            </a:pPr>
            <a:r>
              <a:rPr lang="en-US" sz="2000" b="0" i="0" dirty="0">
                <a:solidFill>
                  <a:schemeClr val="tx1"/>
                </a:solidFill>
                <a:effectLst/>
              </a:rPr>
              <a:t>Constraints that are directly applied in the schemas of the data model, by specifying them in the </a:t>
            </a:r>
            <a:r>
              <a:rPr lang="en-US" sz="2000" b="0" i="0" u="sng" dirty="0">
                <a:solidFill>
                  <a:schemeClr val="tx1"/>
                </a:solidFill>
                <a:effectLst/>
                <a:hlinkClick r:id="rId2">
                  <a:extLst>
                    <a:ext uri="{A12FA001-AC4F-418D-AE19-62706E023703}">
                      <ahyp:hlinkClr xmlns:ahyp="http://schemas.microsoft.com/office/drawing/2018/hyperlinkcolor" val="tx"/>
                    </a:ext>
                  </a:extLst>
                </a:hlinkClick>
              </a:rPr>
              <a:t>DDL(Data Definition Language)</a:t>
            </a:r>
            <a:r>
              <a:rPr lang="en-US" sz="2000" b="0" i="0" dirty="0">
                <a:solidFill>
                  <a:schemeClr val="tx1"/>
                </a:solidFill>
                <a:effectLst/>
              </a:rPr>
              <a:t>. These are called </a:t>
            </a:r>
            <a:r>
              <a:rPr lang="en-US" sz="2000" b="1" i="0" dirty="0">
                <a:solidFill>
                  <a:srgbClr val="FF0000"/>
                </a:solidFill>
                <a:effectLst/>
              </a:rPr>
              <a:t>Schema-Based Constraints or Explicit Constraints</a:t>
            </a:r>
            <a:r>
              <a:rPr lang="en-US" sz="2000" b="0" i="0" dirty="0">
                <a:solidFill>
                  <a:srgbClr val="FF0000"/>
                </a:solidFill>
                <a:effectLst/>
              </a:rPr>
              <a:t>.</a:t>
            </a:r>
          </a:p>
          <a:p>
            <a:pPr algn="just" fontAlgn="base">
              <a:spcAft>
                <a:spcPts val="1800"/>
              </a:spcAft>
              <a:buFont typeface="+mj-lt"/>
              <a:buAutoNum type="arabicPeriod" startAt="3"/>
            </a:pPr>
            <a:r>
              <a:rPr lang="en-US" sz="2000" b="0" i="0" dirty="0">
                <a:solidFill>
                  <a:schemeClr val="tx1"/>
                </a:solidFill>
                <a:effectLst/>
              </a:rPr>
              <a:t>Constraints that cannot be directly applied in the schemas of the data model. We call these </a:t>
            </a:r>
            <a:r>
              <a:rPr lang="en-US" sz="2000" b="0" i="0" dirty="0">
                <a:solidFill>
                  <a:srgbClr val="FF0000"/>
                </a:solidFill>
                <a:effectLst/>
              </a:rPr>
              <a:t>Application-based or </a:t>
            </a:r>
            <a:r>
              <a:rPr lang="en-US" sz="2000" b="1" i="0" dirty="0">
                <a:solidFill>
                  <a:srgbClr val="FF0000"/>
                </a:solidFill>
                <a:effectLst/>
              </a:rPr>
              <a:t>Semantic Constraints</a:t>
            </a:r>
            <a:r>
              <a:rPr lang="en-US" sz="2000" b="0" i="0" dirty="0">
                <a:solidFill>
                  <a:srgbClr val="FF0000"/>
                </a:solidFill>
                <a:effectLst/>
              </a:rPr>
              <a:t>.</a:t>
            </a:r>
          </a:p>
          <a:p>
            <a:pPr marL="0" indent="0">
              <a:buNone/>
            </a:pPr>
            <a:endParaRPr lang="en-US" sz="2000" dirty="0">
              <a:solidFill>
                <a:schemeClr val="tx1"/>
              </a:solidFill>
            </a:endParaRPr>
          </a:p>
        </p:txBody>
      </p:sp>
    </p:spTree>
    <p:extLst>
      <p:ext uri="{BB962C8B-B14F-4D97-AF65-F5344CB8AC3E}">
        <p14:creationId xmlns:p14="http://schemas.microsoft.com/office/powerpoint/2010/main" val="1429388077"/>
      </p:ext>
    </p:extLst>
  </p:cSld>
  <p:clrMapOvr>
    <a:masterClrMapping/>
  </p:clrMapOvr>
</p:sld>
</file>

<file path=ppt/slides/slide16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41F0259-60F7-C496-EB7C-C7E93D587454}"/>
            </a:ext>
          </a:extLst>
        </p:cNvPr>
        <p:cNvGrpSpPr/>
        <p:nvPr/>
      </p:nvGrpSpPr>
      <p:grpSpPr>
        <a:xfrm>
          <a:off x="0" y="0"/>
          <a:ext cx="0" cy="0"/>
          <a:chOff x="0" y="0"/>
          <a:chExt cx="0" cy="0"/>
        </a:xfrm>
      </p:grpSpPr>
      <p:sp>
        <p:nvSpPr>
          <p:cNvPr id="2" name="Slide Number Placeholder 1">
            <a:extLst>
              <a:ext uri="{FF2B5EF4-FFF2-40B4-BE49-F238E27FC236}">
                <a16:creationId xmlns:a16="http://schemas.microsoft.com/office/drawing/2014/main" id="{2653C7AF-C824-8CB2-99AF-93723F366B1C}"/>
              </a:ext>
            </a:extLst>
          </p:cNvPr>
          <p:cNvSpPr>
            <a:spLocks noGrp="1"/>
          </p:cNvSpPr>
          <p:nvPr>
            <p:ph type="sldNum" sz="quarter" idx="14"/>
          </p:nvPr>
        </p:nvSpPr>
        <p:spPr/>
        <p:txBody>
          <a:bodyPr/>
          <a:lstStyle/>
          <a:p>
            <a:fld id="{45A3C14A-F937-4231-B6F1-40B429FAFB2F}" type="slidenum">
              <a:rPr lang="en-NZ" smtClean="0"/>
              <a:pPr/>
              <a:t>168</a:t>
            </a:fld>
            <a:endParaRPr lang="en-NZ" dirty="0"/>
          </a:p>
        </p:txBody>
      </p:sp>
      <p:sp>
        <p:nvSpPr>
          <p:cNvPr id="3" name="Title 2">
            <a:extLst>
              <a:ext uri="{FF2B5EF4-FFF2-40B4-BE49-F238E27FC236}">
                <a16:creationId xmlns:a16="http://schemas.microsoft.com/office/drawing/2014/main" id="{ACF40771-A428-487F-D946-49D5D2750E95}"/>
              </a:ext>
            </a:extLst>
          </p:cNvPr>
          <p:cNvSpPr>
            <a:spLocks noGrp="1"/>
          </p:cNvSpPr>
          <p:nvPr>
            <p:ph type="title"/>
          </p:nvPr>
        </p:nvSpPr>
        <p:spPr>
          <a:xfrm>
            <a:off x="695400" y="395786"/>
            <a:ext cx="7704856" cy="838202"/>
          </a:xfrm>
        </p:spPr>
        <p:txBody>
          <a:bodyPr/>
          <a:lstStyle/>
          <a:p>
            <a:br>
              <a:rPr lang="fr-FR" b="1" i="0" dirty="0">
                <a:solidFill>
                  <a:srgbClr val="273239"/>
                </a:solidFill>
                <a:effectLst/>
                <a:latin typeface="Source Sans 3"/>
              </a:rPr>
            </a:br>
            <a:br>
              <a:rPr lang="fr-FR" b="1" i="0" dirty="0">
                <a:solidFill>
                  <a:srgbClr val="273239"/>
                </a:solidFill>
                <a:effectLst/>
                <a:latin typeface="Source Sans 3"/>
              </a:rPr>
            </a:br>
            <a:br>
              <a:rPr lang="fr-FR" b="1" i="0" dirty="0">
                <a:solidFill>
                  <a:srgbClr val="273239"/>
                </a:solidFill>
                <a:effectLst/>
                <a:latin typeface="Source Sans 3"/>
              </a:rPr>
            </a:br>
            <a:br>
              <a:rPr lang="fr-FR" b="1" i="0" dirty="0">
                <a:solidFill>
                  <a:srgbClr val="273239"/>
                </a:solidFill>
                <a:effectLst/>
                <a:latin typeface="Source Sans 3"/>
              </a:rPr>
            </a:br>
            <a:r>
              <a:rPr lang="fr-FR" b="1" i="0" dirty="0" err="1">
                <a:solidFill>
                  <a:srgbClr val="FF0000"/>
                </a:solidFill>
                <a:effectLst/>
                <a:latin typeface="Source Sans 3"/>
              </a:rPr>
              <a:t>Constraints</a:t>
            </a:r>
            <a:r>
              <a:rPr lang="fr-FR" b="1" i="0" dirty="0">
                <a:solidFill>
                  <a:srgbClr val="FF0000"/>
                </a:solidFill>
                <a:effectLst/>
                <a:latin typeface="Source Sans 3"/>
              </a:rPr>
              <a:t> on </a:t>
            </a:r>
            <a:r>
              <a:rPr lang="fr-FR" b="1" i="0" dirty="0" err="1">
                <a:solidFill>
                  <a:srgbClr val="FF0000"/>
                </a:solidFill>
                <a:effectLst/>
                <a:latin typeface="Source Sans 3"/>
              </a:rPr>
              <a:t>Relational</a:t>
            </a:r>
            <a:r>
              <a:rPr lang="fr-FR" b="1" i="0" dirty="0">
                <a:solidFill>
                  <a:srgbClr val="FF0000"/>
                </a:solidFill>
                <a:effectLst/>
                <a:latin typeface="Source Sans 3"/>
              </a:rPr>
              <a:t> </a:t>
            </a:r>
            <a:r>
              <a:rPr lang="fr-FR" b="1" i="0" dirty="0" err="1">
                <a:solidFill>
                  <a:srgbClr val="FF0000"/>
                </a:solidFill>
                <a:effectLst/>
                <a:latin typeface="Source Sans 3"/>
              </a:rPr>
              <a:t>Database</a:t>
            </a:r>
            <a:r>
              <a:rPr lang="fr-FR" b="1" i="0" dirty="0">
                <a:solidFill>
                  <a:srgbClr val="FF0000"/>
                </a:solidFill>
                <a:effectLst/>
                <a:latin typeface="Source Sans 3"/>
              </a:rPr>
              <a:t> Model</a:t>
            </a:r>
            <a:br>
              <a:rPr lang="fr-FR" b="1" i="0" dirty="0">
                <a:solidFill>
                  <a:srgbClr val="FF0000"/>
                </a:solidFill>
                <a:effectLst/>
                <a:latin typeface="Source Sans 3"/>
              </a:rPr>
            </a:br>
            <a:br>
              <a:rPr kumimoji="0" lang="en-US" altLang="en-US" sz="4000" b="0" i="0" u="none" strike="noStrike" cap="none" normalizeH="0" baseline="0" dirty="0">
                <a:ln>
                  <a:noFill/>
                </a:ln>
                <a:solidFill>
                  <a:srgbClr val="FF0000"/>
                </a:solidFill>
                <a:effectLst/>
                <a:latin typeface="Arial" panose="020B0604020202020204" pitchFamily="34" charset="0"/>
              </a:rPr>
            </a:br>
            <a:br>
              <a:rPr lang="en-US" b="1" dirty="0">
                <a:solidFill>
                  <a:srgbClr val="FF0000"/>
                </a:solidFill>
              </a:rPr>
            </a:br>
            <a:br>
              <a:rPr lang="en-US" b="1" dirty="0"/>
            </a:br>
            <a:endParaRPr lang="en-US" b="1" dirty="0"/>
          </a:p>
        </p:txBody>
      </p:sp>
      <p:sp>
        <p:nvSpPr>
          <p:cNvPr id="4" name="Text Placeholder 3">
            <a:extLst>
              <a:ext uri="{FF2B5EF4-FFF2-40B4-BE49-F238E27FC236}">
                <a16:creationId xmlns:a16="http://schemas.microsoft.com/office/drawing/2014/main" id="{7DC24FBB-75B2-A501-6EEA-2124A11000E7}"/>
              </a:ext>
            </a:extLst>
          </p:cNvPr>
          <p:cNvSpPr>
            <a:spLocks noGrp="1"/>
          </p:cNvSpPr>
          <p:nvPr>
            <p:ph type="body" sz="quarter" idx="17"/>
          </p:nvPr>
        </p:nvSpPr>
        <p:spPr>
          <a:xfrm>
            <a:off x="119336" y="548680"/>
            <a:ext cx="11953328" cy="4320480"/>
          </a:xfrm>
        </p:spPr>
        <p:txBody>
          <a:bodyPr/>
          <a:lstStyle/>
          <a:p>
            <a:pPr algn="just" rtl="0" fontAlgn="base">
              <a:spcAft>
                <a:spcPts val="750"/>
              </a:spcAft>
            </a:pPr>
            <a:endParaRPr lang="en-IN" sz="2000" b="1" dirty="0">
              <a:solidFill>
                <a:srgbClr val="FF0000"/>
              </a:solidFill>
            </a:endParaRPr>
          </a:p>
          <a:p>
            <a:pPr algn="just" rtl="0" fontAlgn="base">
              <a:spcAft>
                <a:spcPts val="750"/>
              </a:spcAft>
            </a:pPr>
            <a:endParaRPr lang="en-IN" sz="2000" b="1" dirty="0">
              <a:solidFill>
                <a:srgbClr val="FF0000"/>
              </a:solidFill>
            </a:endParaRPr>
          </a:p>
          <a:p>
            <a:pPr marL="0" indent="0" algn="l" fontAlgn="base">
              <a:buNone/>
            </a:pPr>
            <a:r>
              <a:rPr lang="en-US" sz="2000" b="1" i="0" dirty="0">
                <a:solidFill>
                  <a:srgbClr val="FF0000"/>
                </a:solidFill>
                <a:effectLst/>
              </a:rPr>
              <a:t>Relational Constraints</a:t>
            </a:r>
          </a:p>
          <a:p>
            <a:pPr marL="285750" indent="-285750" algn="just" rtl="0" fontAlgn="base">
              <a:spcAft>
                <a:spcPts val="750"/>
              </a:spcAft>
              <a:buFont typeface="Arial" panose="020B0604020202020204" pitchFamily="34" charset="0"/>
              <a:buChar char="•"/>
            </a:pPr>
            <a:r>
              <a:rPr lang="en-US" sz="2000" b="0" i="0" dirty="0">
                <a:solidFill>
                  <a:srgbClr val="273239"/>
                </a:solidFill>
                <a:effectLst/>
              </a:rPr>
              <a:t>These are the restrictions or sets of rules imposed on the database contents. </a:t>
            </a:r>
          </a:p>
          <a:p>
            <a:pPr marL="285750" indent="-285750" algn="just" rtl="0" fontAlgn="base">
              <a:spcAft>
                <a:spcPts val="750"/>
              </a:spcAft>
              <a:buFont typeface="Arial" panose="020B0604020202020204" pitchFamily="34" charset="0"/>
              <a:buChar char="•"/>
            </a:pPr>
            <a:r>
              <a:rPr lang="en-US" sz="2000" b="0" i="0" dirty="0">
                <a:solidFill>
                  <a:srgbClr val="273239"/>
                </a:solidFill>
                <a:effectLst/>
              </a:rPr>
              <a:t>It validates the quality of the database. It validates the various operations like data insertion, </a:t>
            </a:r>
            <a:r>
              <a:rPr lang="en-US" sz="2000" b="0" i="0" dirty="0" err="1">
                <a:solidFill>
                  <a:srgbClr val="273239"/>
                </a:solidFill>
                <a:effectLst/>
              </a:rPr>
              <a:t>updation</a:t>
            </a:r>
            <a:r>
              <a:rPr lang="en-US" sz="2000" b="0" i="0" dirty="0">
                <a:solidFill>
                  <a:srgbClr val="273239"/>
                </a:solidFill>
                <a:effectLst/>
              </a:rPr>
              <a:t>, and other processes that have to be performed without affecting the integrity of the data. </a:t>
            </a:r>
          </a:p>
          <a:p>
            <a:pPr marL="285750" indent="-285750" algn="just" rtl="0" fontAlgn="base">
              <a:spcAft>
                <a:spcPts val="750"/>
              </a:spcAft>
              <a:buFont typeface="Arial" panose="020B0604020202020204" pitchFamily="34" charset="0"/>
              <a:buChar char="•"/>
            </a:pPr>
            <a:r>
              <a:rPr lang="en-US" sz="2000" b="0" i="0" dirty="0">
                <a:solidFill>
                  <a:srgbClr val="273239"/>
                </a:solidFill>
                <a:effectLst/>
              </a:rPr>
              <a:t>It protects us against threats/damages to the database.</a:t>
            </a:r>
          </a:p>
          <a:p>
            <a:pPr marL="285750" indent="-285750" algn="just" rtl="0" fontAlgn="base">
              <a:spcAft>
                <a:spcPts val="750"/>
              </a:spcAft>
              <a:buFont typeface="Arial" panose="020B0604020202020204" pitchFamily="34" charset="0"/>
              <a:buChar char="•"/>
            </a:pPr>
            <a:r>
              <a:rPr lang="en-US" sz="2000" b="0" i="0" dirty="0">
                <a:solidFill>
                  <a:srgbClr val="273239"/>
                </a:solidFill>
                <a:effectLst/>
              </a:rPr>
              <a:t> </a:t>
            </a:r>
            <a:r>
              <a:rPr lang="en-US" sz="2000" b="0" i="0" dirty="0">
                <a:solidFill>
                  <a:srgbClr val="FF0000"/>
                </a:solidFill>
                <a:effectLst/>
              </a:rPr>
              <a:t>Mainly Constraints on the relational database are of 4 types</a:t>
            </a:r>
          </a:p>
          <a:p>
            <a:pPr lvl="1" fontAlgn="base">
              <a:spcAft>
                <a:spcPts val="1800"/>
              </a:spcAft>
            </a:pPr>
            <a:r>
              <a:rPr lang="en-US" b="0" i="0" dirty="0">
                <a:solidFill>
                  <a:srgbClr val="273239"/>
                </a:solidFill>
                <a:effectLst/>
              </a:rPr>
              <a:t>Domain constraints</a:t>
            </a:r>
          </a:p>
          <a:p>
            <a:pPr lvl="1" fontAlgn="base">
              <a:spcAft>
                <a:spcPts val="1800"/>
              </a:spcAft>
            </a:pPr>
            <a:r>
              <a:rPr lang="en-US" b="0" i="0" dirty="0">
                <a:solidFill>
                  <a:srgbClr val="273239"/>
                </a:solidFill>
                <a:effectLst/>
              </a:rPr>
              <a:t>Key constraints or Uniqueness Constraints</a:t>
            </a:r>
          </a:p>
          <a:p>
            <a:pPr lvl="1" fontAlgn="base">
              <a:spcAft>
                <a:spcPts val="1800"/>
              </a:spcAft>
            </a:pPr>
            <a:r>
              <a:rPr lang="en-US" b="0" i="0" dirty="0">
                <a:solidFill>
                  <a:srgbClr val="273239"/>
                </a:solidFill>
                <a:effectLst/>
              </a:rPr>
              <a:t>Entity Integrity constraints</a:t>
            </a:r>
          </a:p>
          <a:p>
            <a:pPr lvl="1" fontAlgn="base">
              <a:spcAft>
                <a:spcPts val="1800"/>
              </a:spcAft>
            </a:pPr>
            <a:r>
              <a:rPr lang="en-US" b="0" i="0" dirty="0">
                <a:solidFill>
                  <a:srgbClr val="273239"/>
                </a:solidFill>
                <a:effectLst/>
              </a:rPr>
              <a:t>Referential integrity constraints</a:t>
            </a:r>
          </a:p>
          <a:p>
            <a:pPr marL="0" indent="0">
              <a:buNone/>
            </a:pPr>
            <a:endParaRPr lang="en-US" sz="2000" dirty="0">
              <a:solidFill>
                <a:schemeClr val="tx1"/>
              </a:solidFill>
            </a:endParaRPr>
          </a:p>
        </p:txBody>
      </p:sp>
      <p:pic>
        <p:nvPicPr>
          <p:cNvPr id="3074" name="Picture 2" descr="Lightbox">
            <a:extLst>
              <a:ext uri="{FF2B5EF4-FFF2-40B4-BE49-F238E27FC236}">
                <a16:creationId xmlns:a16="http://schemas.microsoft.com/office/drawing/2014/main" id="{86AACFBA-0A7B-8867-8716-A85C76ACAE1F}"/>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7012160" y="3604034"/>
            <a:ext cx="5060504" cy="2530252"/>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1570218048"/>
      </p:ext>
    </p:extLst>
  </p:cSld>
  <p:clrMapOvr>
    <a:masterClrMapping/>
  </p:clrMapOvr>
</p:sld>
</file>

<file path=ppt/slides/slide16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Number Placeholder 1">
            <a:extLst>
              <a:ext uri="{FF2B5EF4-FFF2-40B4-BE49-F238E27FC236}">
                <a16:creationId xmlns:a16="http://schemas.microsoft.com/office/drawing/2014/main" id="{A24A8B59-1A69-3772-B4C0-6905B9B5CEE0}"/>
              </a:ext>
            </a:extLst>
          </p:cNvPr>
          <p:cNvSpPr>
            <a:spLocks noGrp="1"/>
          </p:cNvSpPr>
          <p:nvPr>
            <p:ph type="sldNum" sz="quarter" idx="14"/>
          </p:nvPr>
        </p:nvSpPr>
        <p:spPr/>
        <p:txBody>
          <a:bodyPr/>
          <a:lstStyle/>
          <a:p>
            <a:fld id="{45A3C14A-F937-4231-B6F1-40B429FAFB2F}" type="slidenum">
              <a:rPr lang="en-NZ" smtClean="0"/>
              <a:pPr/>
              <a:t>169</a:t>
            </a:fld>
            <a:endParaRPr lang="en-NZ" dirty="0"/>
          </a:p>
        </p:txBody>
      </p:sp>
      <p:sp>
        <p:nvSpPr>
          <p:cNvPr id="4" name="Text Placeholder 3">
            <a:extLst>
              <a:ext uri="{FF2B5EF4-FFF2-40B4-BE49-F238E27FC236}">
                <a16:creationId xmlns:a16="http://schemas.microsoft.com/office/drawing/2014/main" id="{33ACC3DD-B57F-15D0-9BF4-1E823DCFA62D}"/>
              </a:ext>
            </a:extLst>
          </p:cNvPr>
          <p:cNvSpPr>
            <a:spLocks noGrp="1"/>
          </p:cNvSpPr>
          <p:nvPr>
            <p:ph type="body" sz="quarter" idx="17"/>
          </p:nvPr>
        </p:nvSpPr>
        <p:spPr>
          <a:xfrm>
            <a:off x="672200" y="1190394"/>
            <a:ext cx="10801201" cy="4320480"/>
          </a:xfrm>
        </p:spPr>
        <p:txBody>
          <a:bodyPr/>
          <a:lstStyle/>
          <a:p>
            <a:pPr marL="342900" lvl="0" indent="-342900">
              <a:lnSpc>
                <a:spcPct val="115000"/>
              </a:lnSpc>
              <a:spcAft>
                <a:spcPts val="800"/>
              </a:spcAft>
              <a:buSzPts val="1000"/>
              <a:buFont typeface="Symbol" panose="05050102010706020507" pitchFamily="18" charset="2"/>
              <a:buChar char=""/>
              <a:tabLst>
                <a:tab pos="457200" algn="l"/>
              </a:tabLst>
            </a:pPr>
            <a:r>
              <a:rPr lang="en-IN" sz="2000" kern="100" dirty="0">
                <a:solidFill>
                  <a:schemeClr val="tx1"/>
                </a:solidFill>
                <a:effectLst/>
              </a:rPr>
              <a:t>Every domain must contain atomic values(smallest indivisible units) which means composite and multi-valued attributes are not allowed.</a:t>
            </a:r>
          </a:p>
          <a:p>
            <a:pPr marL="342900" lvl="0" indent="-342900">
              <a:lnSpc>
                <a:spcPct val="115000"/>
              </a:lnSpc>
              <a:spcAft>
                <a:spcPts val="800"/>
              </a:spcAft>
              <a:buSzPts val="1000"/>
              <a:buFont typeface="Symbol" panose="05050102010706020507" pitchFamily="18" charset="2"/>
              <a:buChar char=""/>
              <a:tabLst>
                <a:tab pos="457200" algn="l"/>
              </a:tabLst>
            </a:pPr>
            <a:r>
              <a:rPr lang="en-IN" sz="2000" kern="100" dirty="0">
                <a:solidFill>
                  <a:schemeClr val="tx1"/>
                </a:solidFill>
                <a:effectLst/>
              </a:rPr>
              <a:t>We perform a datatype check here, which means when we assign a data type to a column we limit the values that it can contain.</a:t>
            </a:r>
          </a:p>
          <a:p>
            <a:pPr marL="342900" lvl="0" indent="-342900">
              <a:lnSpc>
                <a:spcPct val="115000"/>
              </a:lnSpc>
              <a:spcAft>
                <a:spcPts val="800"/>
              </a:spcAft>
              <a:buSzPts val="1000"/>
              <a:buFont typeface="Symbol" panose="05050102010706020507" pitchFamily="18" charset="2"/>
              <a:buChar char=""/>
              <a:tabLst>
                <a:tab pos="457200" algn="l"/>
              </a:tabLst>
            </a:pPr>
            <a:r>
              <a:rPr lang="en-IN" sz="2000" kern="100" dirty="0">
                <a:solidFill>
                  <a:schemeClr val="tx1"/>
                </a:solidFill>
                <a:effectLst/>
              </a:rPr>
              <a:t> </a:t>
            </a:r>
            <a:r>
              <a:rPr lang="en-IN" sz="2000" kern="100" dirty="0" err="1">
                <a:solidFill>
                  <a:schemeClr val="tx1"/>
                </a:solidFill>
                <a:effectLst/>
              </a:rPr>
              <a:t>Eg.</a:t>
            </a:r>
            <a:r>
              <a:rPr lang="en-IN" sz="2000" kern="100" dirty="0">
                <a:solidFill>
                  <a:schemeClr val="tx1"/>
                </a:solidFill>
                <a:effectLst/>
              </a:rPr>
              <a:t> If we assign the datatype of attribute age as int, we can’t give it values other than int datatype.</a:t>
            </a:r>
          </a:p>
          <a:p>
            <a:pPr marL="0" indent="0">
              <a:buNone/>
            </a:pPr>
            <a:r>
              <a:rPr lang="en-IN" sz="1800" b="1" kern="100" dirty="0">
                <a:solidFill>
                  <a:srgbClr val="FF0000"/>
                </a:solidFill>
                <a:effectLst/>
                <a:latin typeface="Aptos" panose="020B0004020202020204" pitchFamily="34" charset="0"/>
                <a:ea typeface="Aptos" panose="020B0004020202020204" pitchFamily="34" charset="0"/>
                <a:cs typeface="Times New Roman" panose="02020603050405020304" pitchFamily="18" charset="0"/>
              </a:rPr>
              <a:t>Example:</a:t>
            </a:r>
            <a:r>
              <a:rPr lang="en-IN" sz="1800" kern="100" dirty="0">
                <a:solidFill>
                  <a:srgbClr val="FF0000"/>
                </a:solidFill>
                <a:effectLst/>
                <a:latin typeface="Aptos" panose="020B0004020202020204" pitchFamily="34" charset="0"/>
                <a:ea typeface="Aptos" panose="020B0004020202020204" pitchFamily="34" charset="0"/>
                <a:cs typeface="Times New Roman" panose="02020603050405020304" pitchFamily="18" charset="0"/>
              </a:rPr>
              <a:t> </a:t>
            </a:r>
          </a:p>
          <a:p>
            <a:endParaRPr lang="en-IN" dirty="0"/>
          </a:p>
        </p:txBody>
      </p:sp>
      <p:sp>
        <p:nvSpPr>
          <p:cNvPr id="6" name="Text Placeholder 3">
            <a:extLst>
              <a:ext uri="{FF2B5EF4-FFF2-40B4-BE49-F238E27FC236}">
                <a16:creationId xmlns:a16="http://schemas.microsoft.com/office/drawing/2014/main" id="{1CE2AC5A-EDFD-572A-0386-CFE4A403947A}"/>
              </a:ext>
            </a:extLst>
          </p:cNvPr>
          <p:cNvSpPr>
            <a:spLocks noGrp="1"/>
          </p:cNvSpPr>
          <p:nvPr>
            <p:ph type="title"/>
          </p:nvPr>
        </p:nvSpPr>
        <p:spPr>
          <a:xfrm>
            <a:off x="695325" y="395288"/>
            <a:ext cx="6211888" cy="838200"/>
          </a:xfrm>
        </p:spPr>
        <p:txBody>
          <a:bodyPr/>
          <a:lstStyle/>
          <a:p>
            <a:pPr algn="just" rtl="0" fontAlgn="base">
              <a:spcAft>
                <a:spcPts val="750"/>
              </a:spcAft>
            </a:pPr>
            <a:endParaRPr lang="en-IN" sz="2000" b="1" dirty="0">
              <a:solidFill>
                <a:srgbClr val="FF0000"/>
              </a:solidFill>
            </a:endParaRPr>
          </a:p>
          <a:p>
            <a:pPr algn="just" rtl="0" fontAlgn="base">
              <a:spcAft>
                <a:spcPts val="750"/>
              </a:spcAft>
            </a:pPr>
            <a:endParaRPr lang="en-IN" sz="2000" b="1" dirty="0">
              <a:solidFill>
                <a:srgbClr val="FF0000"/>
              </a:solidFill>
            </a:endParaRPr>
          </a:p>
          <a:p>
            <a:pPr lvl="1" fontAlgn="base">
              <a:spcAft>
                <a:spcPts val="1800"/>
              </a:spcAft>
            </a:pPr>
            <a:r>
              <a:rPr lang="en-US" sz="3200" b="0" i="0" dirty="0">
                <a:solidFill>
                  <a:srgbClr val="FF0000"/>
                </a:solidFill>
                <a:effectLst/>
                <a:latin typeface="Roboto Medium" panose="02000000000000000000" pitchFamily="2" charset="0"/>
                <a:ea typeface="Roboto Medium" panose="02000000000000000000" pitchFamily="2" charset="0"/>
                <a:cs typeface="Roboto Medium" panose="02000000000000000000" pitchFamily="2" charset="0"/>
              </a:rPr>
              <a:t>1.Domain constraints</a:t>
            </a:r>
          </a:p>
          <a:p>
            <a:pPr marL="242888" lvl="1" indent="0" fontAlgn="base">
              <a:spcAft>
                <a:spcPts val="1800"/>
              </a:spcAft>
              <a:buNone/>
            </a:pPr>
            <a:endParaRPr lang="en-US" b="0" i="0" dirty="0">
              <a:solidFill>
                <a:srgbClr val="273239"/>
              </a:solidFill>
              <a:effectLst/>
            </a:endParaRPr>
          </a:p>
          <a:p>
            <a:pPr marL="0" indent="0">
              <a:buNone/>
            </a:pPr>
            <a:endParaRPr lang="en-US" sz="2000" dirty="0">
              <a:solidFill>
                <a:schemeClr val="tx1"/>
              </a:solidFill>
            </a:endParaRPr>
          </a:p>
        </p:txBody>
      </p:sp>
      <p:graphicFrame>
        <p:nvGraphicFramePr>
          <p:cNvPr id="7" name="Table 6">
            <a:extLst>
              <a:ext uri="{FF2B5EF4-FFF2-40B4-BE49-F238E27FC236}">
                <a16:creationId xmlns:a16="http://schemas.microsoft.com/office/drawing/2014/main" id="{00E1056D-D421-60D6-4CAC-A9973221C106}"/>
              </a:ext>
            </a:extLst>
          </p:cNvPr>
          <p:cNvGraphicFramePr>
            <a:graphicFrameLocks noGrp="1"/>
          </p:cNvGraphicFramePr>
          <p:nvPr>
            <p:extLst>
              <p:ext uri="{D42A27DB-BD31-4B8C-83A1-F6EECF244321}">
                <p14:modId xmlns:p14="http://schemas.microsoft.com/office/powerpoint/2010/main" val="3150899623"/>
              </p:ext>
            </p:extLst>
          </p:nvPr>
        </p:nvGraphicFramePr>
        <p:xfrm>
          <a:off x="2783632" y="3629132"/>
          <a:ext cx="4897761" cy="1168020"/>
        </p:xfrm>
        <a:graphic>
          <a:graphicData uri="http://schemas.openxmlformats.org/drawingml/2006/table">
            <a:tbl>
              <a:tblPr firstRow="1" firstCol="1" bandRow="1">
                <a:tableStyleId>{5C22544A-7EE6-4342-B048-85BDC9FD1C3A}</a:tableStyleId>
              </a:tblPr>
              <a:tblGrid>
                <a:gridCol w="1632587">
                  <a:extLst>
                    <a:ext uri="{9D8B030D-6E8A-4147-A177-3AD203B41FA5}">
                      <a16:colId xmlns:a16="http://schemas.microsoft.com/office/drawing/2014/main" val="1614448317"/>
                    </a:ext>
                  </a:extLst>
                </a:gridCol>
                <a:gridCol w="1632587">
                  <a:extLst>
                    <a:ext uri="{9D8B030D-6E8A-4147-A177-3AD203B41FA5}">
                      <a16:colId xmlns:a16="http://schemas.microsoft.com/office/drawing/2014/main" val="1691619964"/>
                    </a:ext>
                  </a:extLst>
                </a:gridCol>
                <a:gridCol w="1632587">
                  <a:extLst>
                    <a:ext uri="{9D8B030D-6E8A-4147-A177-3AD203B41FA5}">
                      <a16:colId xmlns:a16="http://schemas.microsoft.com/office/drawing/2014/main" val="4230521175"/>
                    </a:ext>
                  </a:extLst>
                </a:gridCol>
              </a:tblGrid>
              <a:tr h="340627">
                <a:tc>
                  <a:txBody>
                    <a:bodyPr/>
                    <a:lstStyle/>
                    <a:p>
                      <a:pPr>
                        <a:lnSpc>
                          <a:spcPct val="115000"/>
                        </a:lnSpc>
                        <a:spcAft>
                          <a:spcPts val="800"/>
                        </a:spcAft>
                      </a:pPr>
                      <a:r>
                        <a:rPr lang="en-IN" sz="1200" kern="100" dirty="0">
                          <a:effectLst/>
                        </a:rPr>
                        <a:t>EID      </a:t>
                      </a:r>
                      <a:endParaRPr lang="en-IN" sz="1200" kern="100" dirty="0">
                        <a:effectLst/>
                        <a:latin typeface="Aptos" panose="020B0004020202020204" pitchFamily="34" charset="0"/>
                        <a:ea typeface="Aptos" panose="020B0004020202020204" pitchFamily="34" charset="0"/>
                        <a:cs typeface="Times New Roman" panose="02020603050405020304" pitchFamily="18" charset="0"/>
                      </a:endParaRPr>
                    </a:p>
                  </a:txBody>
                  <a:tcPr marL="38100" marR="38100" marT="95250" marB="95250" anchor="b"/>
                </a:tc>
                <a:tc>
                  <a:txBody>
                    <a:bodyPr/>
                    <a:lstStyle/>
                    <a:p>
                      <a:pPr>
                        <a:lnSpc>
                          <a:spcPct val="115000"/>
                        </a:lnSpc>
                        <a:spcAft>
                          <a:spcPts val="800"/>
                        </a:spcAft>
                      </a:pPr>
                      <a:r>
                        <a:rPr lang="en-IN" sz="1200" kern="100">
                          <a:effectLst/>
                        </a:rPr>
                        <a:t>Name                  </a:t>
                      </a:r>
                      <a:endParaRPr lang="en-IN" sz="1200" kern="100">
                        <a:effectLst/>
                        <a:latin typeface="Aptos" panose="020B0004020202020204" pitchFamily="34" charset="0"/>
                        <a:ea typeface="Aptos" panose="020B0004020202020204" pitchFamily="34" charset="0"/>
                        <a:cs typeface="Times New Roman" panose="02020603050405020304" pitchFamily="18" charset="0"/>
                      </a:endParaRPr>
                    </a:p>
                  </a:txBody>
                  <a:tcPr marL="95250" marR="95250" marT="95250" marB="95250" anchor="b"/>
                </a:tc>
                <a:tc>
                  <a:txBody>
                    <a:bodyPr/>
                    <a:lstStyle/>
                    <a:p>
                      <a:pPr>
                        <a:lnSpc>
                          <a:spcPct val="115000"/>
                        </a:lnSpc>
                        <a:spcAft>
                          <a:spcPts val="800"/>
                        </a:spcAft>
                      </a:pPr>
                      <a:r>
                        <a:rPr lang="en-IN" sz="1200" kern="100">
                          <a:effectLst/>
                        </a:rPr>
                        <a:t>Phone                 </a:t>
                      </a:r>
                      <a:endParaRPr lang="en-IN" sz="1200" kern="100">
                        <a:effectLst/>
                        <a:latin typeface="Aptos" panose="020B0004020202020204" pitchFamily="34" charset="0"/>
                        <a:ea typeface="Aptos" panose="020B0004020202020204" pitchFamily="34" charset="0"/>
                        <a:cs typeface="Times New Roman" panose="02020603050405020304" pitchFamily="18" charset="0"/>
                      </a:endParaRPr>
                    </a:p>
                  </a:txBody>
                  <a:tcPr marL="95250" marR="95250" marT="95250" marB="95250" anchor="b"/>
                </a:tc>
                <a:extLst>
                  <a:ext uri="{0D108BD9-81ED-4DB2-BD59-A6C34878D82A}">
                    <a16:rowId xmlns:a16="http://schemas.microsoft.com/office/drawing/2014/main" val="3346113140"/>
                  </a:ext>
                </a:extLst>
              </a:tr>
              <a:tr h="679645">
                <a:tc>
                  <a:txBody>
                    <a:bodyPr/>
                    <a:lstStyle/>
                    <a:p>
                      <a:pPr>
                        <a:lnSpc>
                          <a:spcPct val="115000"/>
                        </a:lnSpc>
                        <a:spcAft>
                          <a:spcPts val="800"/>
                        </a:spcAft>
                      </a:pPr>
                      <a:r>
                        <a:rPr lang="en-IN" sz="1200" kern="100">
                          <a:effectLst/>
                        </a:rPr>
                        <a:t>01</a:t>
                      </a:r>
                      <a:endParaRPr lang="en-IN" sz="1200" kern="100">
                        <a:effectLst/>
                        <a:latin typeface="Aptos" panose="020B0004020202020204" pitchFamily="34" charset="0"/>
                        <a:ea typeface="Aptos" panose="020B0004020202020204" pitchFamily="34" charset="0"/>
                        <a:cs typeface="Times New Roman" panose="02020603050405020304" pitchFamily="18" charset="0"/>
                      </a:endParaRPr>
                    </a:p>
                  </a:txBody>
                  <a:tcPr marL="95250" marR="95250" marT="133350" marB="133350" anchor="ctr"/>
                </a:tc>
                <a:tc>
                  <a:txBody>
                    <a:bodyPr/>
                    <a:lstStyle/>
                    <a:p>
                      <a:pPr>
                        <a:lnSpc>
                          <a:spcPct val="115000"/>
                        </a:lnSpc>
                        <a:spcAft>
                          <a:spcPts val="800"/>
                        </a:spcAft>
                      </a:pPr>
                      <a:r>
                        <a:rPr lang="en-IN" sz="1200" kern="100">
                          <a:effectLst/>
                        </a:rPr>
                        <a:t>Bikash Dutta</a:t>
                      </a:r>
                      <a:endParaRPr lang="en-IN" sz="1200" kern="100">
                        <a:effectLst/>
                        <a:latin typeface="Aptos" panose="020B0004020202020204" pitchFamily="34" charset="0"/>
                        <a:ea typeface="Aptos" panose="020B0004020202020204" pitchFamily="34" charset="0"/>
                        <a:cs typeface="Times New Roman" panose="02020603050405020304" pitchFamily="18" charset="0"/>
                      </a:endParaRPr>
                    </a:p>
                  </a:txBody>
                  <a:tcPr marL="95250" marR="95250" marT="133350" marB="133350" anchor="ctr"/>
                </a:tc>
                <a:tc>
                  <a:txBody>
                    <a:bodyPr/>
                    <a:lstStyle/>
                    <a:p>
                      <a:pPr>
                        <a:lnSpc>
                          <a:spcPct val="115000"/>
                        </a:lnSpc>
                        <a:spcAft>
                          <a:spcPts val="800"/>
                        </a:spcAft>
                      </a:pPr>
                      <a:r>
                        <a:rPr lang="en-IN" sz="1200" kern="100" dirty="0">
                          <a:effectLst/>
                        </a:rPr>
                        <a:t>123456789</a:t>
                      </a:r>
                    </a:p>
                    <a:p>
                      <a:pPr>
                        <a:lnSpc>
                          <a:spcPct val="115000"/>
                        </a:lnSpc>
                        <a:spcAft>
                          <a:spcPts val="800"/>
                        </a:spcAft>
                      </a:pPr>
                      <a:r>
                        <a:rPr lang="en-IN" sz="1200" kern="100" dirty="0">
                          <a:effectLst/>
                        </a:rPr>
                        <a:t>234456678</a:t>
                      </a:r>
                      <a:endParaRPr lang="en-IN" sz="1200" kern="100" dirty="0">
                        <a:effectLst/>
                        <a:latin typeface="Aptos" panose="020B0004020202020204" pitchFamily="34" charset="0"/>
                        <a:ea typeface="Aptos" panose="020B0004020202020204" pitchFamily="34" charset="0"/>
                        <a:cs typeface="Times New Roman" panose="02020603050405020304" pitchFamily="18" charset="0"/>
                      </a:endParaRPr>
                    </a:p>
                  </a:txBody>
                  <a:tcPr marL="95250" marR="95250" marT="133350" marB="133350" anchor="ctr"/>
                </a:tc>
                <a:extLst>
                  <a:ext uri="{0D108BD9-81ED-4DB2-BD59-A6C34878D82A}">
                    <a16:rowId xmlns:a16="http://schemas.microsoft.com/office/drawing/2014/main" val="443145614"/>
                  </a:ext>
                </a:extLst>
              </a:tr>
            </a:tbl>
          </a:graphicData>
        </a:graphic>
      </p:graphicFrame>
      <p:sp>
        <p:nvSpPr>
          <p:cNvPr id="9" name="TextBox 8">
            <a:extLst>
              <a:ext uri="{FF2B5EF4-FFF2-40B4-BE49-F238E27FC236}">
                <a16:creationId xmlns:a16="http://schemas.microsoft.com/office/drawing/2014/main" id="{1EEEDEEB-EA12-2608-2CD7-BCECCEC3202D}"/>
              </a:ext>
            </a:extLst>
          </p:cNvPr>
          <p:cNvSpPr txBox="1"/>
          <p:nvPr/>
        </p:nvSpPr>
        <p:spPr>
          <a:xfrm>
            <a:off x="623392" y="4797152"/>
            <a:ext cx="11340008" cy="775853"/>
          </a:xfrm>
          <a:prstGeom prst="rect">
            <a:avLst/>
          </a:prstGeom>
          <a:noFill/>
        </p:spPr>
        <p:txBody>
          <a:bodyPr wrap="square">
            <a:spAutoFit/>
          </a:bodyPr>
          <a:lstStyle/>
          <a:p>
            <a:pPr>
              <a:lnSpc>
                <a:spcPct val="115000"/>
              </a:lnSpc>
              <a:spcAft>
                <a:spcPts val="800"/>
              </a:spcAft>
            </a:pPr>
            <a:r>
              <a:rPr lang="en-IN" sz="2000" kern="100" dirty="0">
                <a:effectLst/>
                <a:latin typeface="Roboto Medium" panose="02000000000000000000" pitchFamily="2" charset="0"/>
                <a:ea typeface="Roboto Medium" panose="02000000000000000000" pitchFamily="2" charset="0"/>
                <a:cs typeface="Roboto Medium" panose="02000000000000000000" pitchFamily="2" charset="0"/>
              </a:rPr>
              <a:t>In the above relation, Name is a composite attribute and Phone is a multi-values attribute, so it is violating domain constraint. </a:t>
            </a:r>
          </a:p>
        </p:txBody>
      </p:sp>
    </p:spTree>
    <p:extLst>
      <p:ext uri="{BB962C8B-B14F-4D97-AF65-F5344CB8AC3E}">
        <p14:creationId xmlns:p14="http://schemas.microsoft.com/office/powerpoint/2010/main" val="1554560817"/>
      </p:ext>
    </p:extLst>
  </p:cSld>
  <p:clrMapOvr>
    <a:masterClrMapping/>
  </p:clrMapOvr>
</p:sld>
</file>

<file path=ppt/slides/slide17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Number Placeholder 1">
            <a:extLst>
              <a:ext uri="{FF2B5EF4-FFF2-40B4-BE49-F238E27FC236}">
                <a16:creationId xmlns:a16="http://schemas.microsoft.com/office/drawing/2014/main" id="{F7C0B8AD-07D2-28D4-889C-CAF3C599549F}"/>
              </a:ext>
            </a:extLst>
          </p:cNvPr>
          <p:cNvSpPr>
            <a:spLocks noGrp="1"/>
          </p:cNvSpPr>
          <p:nvPr>
            <p:ph type="sldNum" sz="quarter" idx="14"/>
          </p:nvPr>
        </p:nvSpPr>
        <p:spPr/>
        <p:txBody>
          <a:bodyPr/>
          <a:lstStyle/>
          <a:p>
            <a:fld id="{45A3C14A-F937-4231-B6F1-40B429FAFB2F}" type="slidenum">
              <a:rPr lang="en-NZ" smtClean="0"/>
              <a:pPr/>
              <a:t>170</a:t>
            </a:fld>
            <a:endParaRPr lang="en-NZ" dirty="0"/>
          </a:p>
        </p:txBody>
      </p:sp>
      <p:sp>
        <p:nvSpPr>
          <p:cNvPr id="3" name="Title 2">
            <a:extLst>
              <a:ext uri="{FF2B5EF4-FFF2-40B4-BE49-F238E27FC236}">
                <a16:creationId xmlns:a16="http://schemas.microsoft.com/office/drawing/2014/main" id="{1AF1CB0B-BAF5-851A-672B-CFC5DCD3AFBE}"/>
              </a:ext>
            </a:extLst>
          </p:cNvPr>
          <p:cNvSpPr>
            <a:spLocks noGrp="1"/>
          </p:cNvSpPr>
          <p:nvPr>
            <p:ph type="title"/>
          </p:nvPr>
        </p:nvSpPr>
        <p:spPr>
          <a:xfrm>
            <a:off x="695400" y="395786"/>
            <a:ext cx="8640960" cy="838202"/>
          </a:xfrm>
        </p:spPr>
        <p:txBody>
          <a:bodyPr/>
          <a:lstStyle/>
          <a:p>
            <a:r>
              <a:rPr lang="en-IN" sz="2400" b="1" kern="100" dirty="0">
                <a:solidFill>
                  <a:srgbClr val="FF0000"/>
                </a:solidFill>
                <a:effectLst/>
              </a:rPr>
              <a:t>2. Key Constraints or Uniqueness Constraints</a:t>
            </a:r>
            <a:br>
              <a:rPr lang="en-IN" sz="1800" kern="100" dirty="0">
                <a:solidFill>
                  <a:srgbClr val="FF0000"/>
                </a:solidFill>
                <a:effectLst/>
                <a:latin typeface="Aptos" panose="020B0004020202020204" pitchFamily="34" charset="0"/>
                <a:ea typeface="Aptos" panose="020B0004020202020204" pitchFamily="34" charset="0"/>
                <a:cs typeface="Times New Roman" panose="02020603050405020304" pitchFamily="18" charset="0"/>
              </a:rPr>
            </a:br>
            <a:endParaRPr lang="en-IN" dirty="0">
              <a:solidFill>
                <a:srgbClr val="FF0000"/>
              </a:solidFill>
            </a:endParaRPr>
          </a:p>
        </p:txBody>
      </p:sp>
      <p:sp>
        <p:nvSpPr>
          <p:cNvPr id="4" name="Text Placeholder 3">
            <a:extLst>
              <a:ext uri="{FF2B5EF4-FFF2-40B4-BE49-F238E27FC236}">
                <a16:creationId xmlns:a16="http://schemas.microsoft.com/office/drawing/2014/main" id="{4EC75918-1023-1ECB-411B-F632B61564B1}"/>
              </a:ext>
            </a:extLst>
          </p:cNvPr>
          <p:cNvSpPr>
            <a:spLocks noGrp="1"/>
          </p:cNvSpPr>
          <p:nvPr>
            <p:ph type="body" sz="quarter" idx="17"/>
          </p:nvPr>
        </p:nvSpPr>
        <p:spPr>
          <a:xfrm>
            <a:off x="565945" y="929415"/>
            <a:ext cx="10801201" cy="4320480"/>
          </a:xfrm>
        </p:spPr>
        <p:txBody>
          <a:bodyPr/>
          <a:lstStyle/>
          <a:p>
            <a:pPr marL="342900" lvl="0" indent="-342900">
              <a:lnSpc>
                <a:spcPct val="115000"/>
              </a:lnSpc>
              <a:spcAft>
                <a:spcPts val="800"/>
              </a:spcAft>
              <a:buSzPts val="1000"/>
              <a:buFont typeface="Symbol" panose="05050102010706020507" pitchFamily="18" charset="2"/>
              <a:buChar char=""/>
              <a:tabLst>
                <a:tab pos="457200" algn="l"/>
              </a:tabLst>
            </a:pPr>
            <a:r>
              <a:rPr lang="en-IN" sz="2000" kern="100" dirty="0">
                <a:solidFill>
                  <a:schemeClr val="tx1"/>
                </a:solidFill>
                <a:effectLst/>
              </a:rPr>
              <a:t>These are called uniqueness constraints since it ensures that every tuple in the relation should be unique.</a:t>
            </a:r>
          </a:p>
          <a:p>
            <a:pPr marL="342900" lvl="0" indent="-342900">
              <a:lnSpc>
                <a:spcPct val="115000"/>
              </a:lnSpc>
              <a:spcAft>
                <a:spcPts val="800"/>
              </a:spcAft>
              <a:buSzPts val="1000"/>
              <a:buFont typeface="Symbol" panose="05050102010706020507" pitchFamily="18" charset="2"/>
              <a:buChar char=""/>
              <a:tabLst>
                <a:tab pos="457200" algn="l"/>
              </a:tabLst>
            </a:pPr>
            <a:r>
              <a:rPr lang="en-IN" sz="2000" kern="100" dirty="0">
                <a:solidFill>
                  <a:schemeClr val="tx1"/>
                </a:solidFill>
                <a:effectLst/>
              </a:rPr>
              <a:t>A relation can have multiple keys or candidate keys(minimal </a:t>
            </a:r>
            <a:r>
              <a:rPr lang="en-IN" sz="2000" kern="100" dirty="0" err="1">
                <a:solidFill>
                  <a:schemeClr val="tx1"/>
                </a:solidFill>
                <a:effectLst/>
              </a:rPr>
              <a:t>superkey</a:t>
            </a:r>
            <a:r>
              <a:rPr lang="en-IN" sz="2000" kern="100" dirty="0">
                <a:solidFill>
                  <a:schemeClr val="tx1"/>
                </a:solidFill>
                <a:effectLst/>
              </a:rPr>
              <a:t>), out of which we choose one of the keys as the primary key, we don’t have any restriction on choosing the primary key out of candidate keys, but it is suggested to go with the </a:t>
            </a:r>
            <a:r>
              <a:rPr lang="en-IN" sz="2000" u="sng" kern="100" dirty="0">
                <a:solidFill>
                  <a:schemeClr val="tx1"/>
                </a:solidFill>
                <a:effectLst/>
                <a:hlinkClick r:id="rId2">
                  <a:extLst>
                    <a:ext uri="{A12FA001-AC4F-418D-AE19-62706E023703}">
                      <ahyp:hlinkClr xmlns:ahyp="http://schemas.microsoft.com/office/drawing/2018/hyperlinkcolor" val="tx"/>
                    </a:ext>
                  </a:extLst>
                </a:hlinkClick>
              </a:rPr>
              <a:t>candidate key</a:t>
            </a:r>
            <a:r>
              <a:rPr lang="en-IN" sz="2000" kern="100" dirty="0">
                <a:solidFill>
                  <a:schemeClr val="tx1"/>
                </a:solidFill>
                <a:effectLst/>
              </a:rPr>
              <a:t> with less number of attributes.</a:t>
            </a:r>
          </a:p>
          <a:p>
            <a:pPr marL="342900" lvl="0" indent="-342900">
              <a:lnSpc>
                <a:spcPct val="115000"/>
              </a:lnSpc>
              <a:spcAft>
                <a:spcPts val="800"/>
              </a:spcAft>
              <a:buSzPts val="1000"/>
              <a:buFont typeface="Symbol" panose="05050102010706020507" pitchFamily="18" charset="2"/>
              <a:buChar char=""/>
              <a:tabLst>
                <a:tab pos="457200" algn="l"/>
              </a:tabLst>
            </a:pPr>
            <a:r>
              <a:rPr lang="en-IN" sz="2000" kern="100" dirty="0">
                <a:solidFill>
                  <a:schemeClr val="tx1"/>
                </a:solidFill>
                <a:effectLst/>
              </a:rPr>
              <a:t>Null values are not allowed in the primary key, hence Not Null constraint is also part of the key constraint.</a:t>
            </a:r>
          </a:p>
          <a:p>
            <a:pPr marL="0" indent="0">
              <a:lnSpc>
                <a:spcPct val="115000"/>
              </a:lnSpc>
              <a:spcAft>
                <a:spcPts val="800"/>
              </a:spcAft>
              <a:buNone/>
            </a:pPr>
            <a:r>
              <a:rPr lang="en-IN" sz="2000" b="1" kern="100" dirty="0">
                <a:solidFill>
                  <a:srgbClr val="FF0000"/>
                </a:solidFill>
                <a:effectLst/>
              </a:rPr>
              <a:t>Example: </a:t>
            </a:r>
          </a:p>
          <a:p>
            <a:pPr>
              <a:lnSpc>
                <a:spcPct val="115000"/>
              </a:lnSpc>
              <a:spcAft>
                <a:spcPts val="800"/>
              </a:spcAft>
            </a:pPr>
            <a:endParaRPr lang="en-IN" sz="1800" kern="100" dirty="0">
              <a:effectLst/>
              <a:latin typeface="Aptos" panose="020B0004020202020204" pitchFamily="34" charset="0"/>
              <a:ea typeface="Aptos" panose="020B0004020202020204" pitchFamily="34" charset="0"/>
              <a:cs typeface="Times New Roman" panose="02020603050405020304" pitchFamily="18" charset="0"/>
            </a:endParaRPr>
          </a:p>
          <a:p>
            <a:endParaRPr lang="en-IN" dirty="0"/>
          </a:p>
        </p:txBody>
      </p:sp>
      <p:graphicFrame>
        <p:nvGraphicFramePr>
          <p:cNvPr id="5" name="Table 4">
            <a:extLst>
              <a:ext uri="{FF2B5EF4-FFF2-40B4-BE49-F238E27FC236}">
                <a16:creationId xmlns:a16="http://schemas.microsoft.com/office/drawing/2014/main" id="{E017B58C-ADD8-71DE-9995-C1E1ED037E86}"/>
              </a:ext>
            </a:extLst>
          </p:cNvPr>
          <p:cNvGraphicFramePr>
            <a:graphicFrameLocks noGrp="1"/>
          </p:cNvGraphicFramePr>
          <p:nvPr>
            <p:extLst>
              <p:ext uri="{D42A27DB-BD31-4B8C-83A1-F6EECF244321}">
                <p14:modId xmlns:p14="http://schemas.microsoft.com/office/powerpoint/2010/main" val="3203551837"/>
              </p:ext>
            </p:extLst>
          </p:nvPr>
        </p:nvGraphicFramePr>
        <p:xfrm>
          <a:off x="5813687" y="3934176"/>
          <a:ext cx="5869260" cy="2054608"/>
        </p:xfrm>
        <a:graphic>
          <a:graphicData uri="http://schemas.openxmlformats.org/drawingml/2006/table">
            <a:tbl>
              <a:tblPr firstRow="1" firstCol="1" bandRow="1">
                <a:tableStyleId>{5C22544A-7EE6-4342-B048-85BDC9FD1C3A}</a:tableStyleId>
              </a:tblPr>
              <a:tblGrid>
                <a:gridCol w="1956420">
                  <a:extLst>
                    <a:ext uri="{9D8B030D-6E8A-4147-A177-3AD203B41FA5}">
                      <a16:colId xmlns:a16="http://schemas.microsoft.com/office/drawing/2014/main" val="9839789"/>
                    </a:ext>
                  </a:extLst>
                </a:gridCol>
                <a:gridCol w="1956420">
                  <a:extLst>
                    <a:ext uri="{9D8B030D-6E8A-4147-A177-3AD203B41FA5}">
                      <a16:colId xmlns:a16="http://schemas.microsoft.com/office/drawing/2014/main" val="4247708950"/>
                    </a:ext>
                  </a:extLst>
                </a:gridCol>
                <a:gridCol w="1956420">
                  <a:extLst>
                    <a:ext uri="{9D8B030D-6E8A-4147-A177-3AD203B41FA5}">
                      <a16:colId xmlns:a16="http://schemas.microsoft.com/office/drawing/2014/main" val="1291454476"/>
                    </a:ext>
                  </a:extLst>
                </a:gridCol>
              </a:tblGrid>
              <a:tr h="329475">
                <a:tc>
                  <a:txBody>
                    <a:bodyPr/>
                    <a:lstStyle/>
                    <a:p>
                      <a:pPr>
                        <a:lnSpc>
                          <a:spcPct val="115000"/>
                        </a:lnSpc>
                        <a:spcAft>
                          <a:spcPts val="800"/>
                        </a:spcAft>
                      </a:pPr>
                      <a:r>
                        <a:rPr lang="en-IN" sz="1600" kern="100">
                          <a:effectLst/>
                        </a:rPr>
                        <a:t>EID      </a:t>
                      </a:r>
                      <a:endParaRPr lang="en-IN" sz="1600" kern="100">
                        <a:effectLst/>
                        <a:latin typeface="Aptos" panose="020B0004020202020204" pitchFamily="34" charset="0"/>
                        <a:ea typeface="Aptos" panose="020B0004020202020204" pitchFamily="34" charset="0"/>
                        <a:cs typeface="Times New Roman" panose="02020603050405020304" pitchFamily="18" charset="0"/>
                      </a:endParaRPr>
                    </a:p>
                  </a:txBody>
                  <a:tcPr marL="38100" marR="38100" marT="95250" marB="95250" anchor="b"/>
                </a:tc>
                <a:tc>
                  <a:txBody>
                    <a:bodyPr/>
                    <a:lstStyle/>
                    <a:p>
                      <a:pPr>
                        <a:lnSpc>
                          <a:spcPct val="115000"/>
                        </a:lnSpc>
                        <a:spcAft>
                          <a:spcPts val="800"/>
                        </a:spcAft>
                      </a:pPr>
                      <a:r>
                        <a:rPr lang="en-IN" sz="1600" kern="100" dirty="0">
                          <a:effectLst/>
                        </a:rPr>
                        <a:t>Name            </a:t>
                      </a:r>
                      <a:endParaRPr lang="en-IN" sz="1600" kern="100" dirty="0">
                        <a:effectLst/>
                        <a:latin typeface="Aptos" panose="020B0004020202020204" pitchFamily="34" charset="0"/>
                        <a:ea typeface="Aptos" panose="020B0004020202020204" pitchFamily="34" charset="0"/>
                        <a:cs typeface="Times New Roman" panose="02020603050405020304" pitchFamily="18" charset="0"/>
                      </a:endParaRPr>
                    </a:p>
                  </a:txBody>
                  <a:tcPr marL="95250" marR="95250" marT="95250" marB="95250" anchor="b"/>
                </a:tc>
                <a:tc>
                  <a:txBody>
                    <a:bodyPr/>
                    <a:lstStyle/>
                    <a:p>
                      <a:pPr>
                        <a:lnSpc>
                          <a:spcPct val="115000"/>
                        </a:lnSpc>
                        <a:spcAft>
                          <a:spcPts val="800"/>
                        </a:spcAft>
                      </a:pPr>
                      <a:r>
                        <a:rPr lang="en-IN" sz="1600" kern="100">
                          <a:effectLst/>
                        </a:rPr>
                        <a:t>Phone                      </a:t>
                      </a:r>
                      <a:endParaRPr lang="en-IN" sz="1600" kern="100">
                        <a:effectLst/>
                        <a:latin typeface="Aptos" panose="020B0004020202020204" pitchFamily="34" charset="0"/>
                        <a:ea typeface="Aptos" panose="020B0004020202020204" pitchFamily="34" charset="0"/>
                        <a:cs typeface="Times New Roman" panose="02020603050405020304" pitchFamily="18" charset="0"/>
                      </a:endParaRPr>
                    </a:p>
                  </a:txBody>
                  <a:tcPr marL="95250" marR="95250" marT="95250" marB="95250" anchor="b"/>
                </a:tc>
                <a:extLst>
                  <a:ext uri="{0D108BD9-81ED-4DB2-BD59-A6C34878D82A}">
                    <a16:rowId xmlns:a16="http://schemas.microsoft.com/office/drawing/2014/main" val="2798076433"/>
                  </a:ext>
                </a:extLst>
              </a:tr>
              <a:tr h="393858">
                <a:tc>
                  <a:txBody>
                    <a:bodyPr/>
                    <a:lstStyle/>
                    <a:p>
                      <a:pPr>
                        <a:lnSpc>
                          <a:spcPct val="115000"/>
                        </a:lnSpc>
                        <a:spcAft>
                          <a:spcPts val="800"/>
                        </a:spcAft>
                      </a:pPr>
                      <a:r>
                        <a:rPr lang="en-IN" sz="1600" kern="100">
                          <a:effectLst/>
                        </a:rPr>
                        <a:t>01</a:t>
                      </a:r>
                      <a:endParaRPr lang="en-IN" sz="1600" kern="100">
                        <a:effectLst/>
                        <a:latin typeface="Aptos" panose="020B0004020202020204" pitchFamily="34" charset="0"/>
                        <a:ea typeface="Aptos" panose="020B0004020202020204" pitchFamily="34" charset="0"/>
                        <a:cs typeface="Times New Roman" panose="02020603050405020304" pitchFamily="18" charset="0"/>
                      </a:endParaRPr>
                    </a:p>
                  </a:txBody>
                  <a:tcPr marL="95250" marR="95250" marT="133350" marB="133350" anchor="ctr"/>
                </a:tc>
                <a:tc>
                  <a:txBody>
                    <a:bodyPr/>
                    <a:lstStyle/>
                    <a:p>
                      <a:pPr>
                        <a:lnSpc>
                          <a:spcPct val="115000"/>
                        </a:lnSpc>
                        <a:spcAft>
                          <a:spcPts val="800"/>
                        </a:spcAft>
                      </a:pPr>
                      <a:r>
                        <a:rPr lang="en-IN" sz="1600" kern="100">
                          <a:effectLst/>
                        </a:rPr>
                        <a:t>Bikash</a:t>
                      </a:r>
                      <a:endParaRPr lang="en-IN" sz="1600" kern="100">
                        <a:effectLst/>
                        <a:latin typeface="Aptos" panose="020B0004020202020204" pitchFamily="34" charset="0"/>
                        <a:ea typeface="Aptos" panose="020B0004020202020204" pitchFamily="34" charset="0"/>
                        <a:cs typeface="Times New Roman" panose="02020603050405020304" pitchFamily="18" charset="0"/>
                      </a:endParaRPr>
                    </a:p>
                  </a:txBody>
                  <a:tcPr marL="95250" marR="95250" marT="133350" marB="133350" anchor="ctr"/>
                </a:tc>
                <a:tc>
                  <a:txBody>
                    <a:bodyPr/>
                    <a:lstStyle/>
                    <a:p>
                      <a:pPr>
                        <a:lnSpc>
                          <a:spcPct val="115000"/>
                        </a:lnSpc>
                        <a:spcAft>
                          <a:spcPts val="800"/>
                        </a:spcAft>
                      </a:pPr>
                      <a:r>
                        <a:rPr lang="en-IN" sz="1600" kern="100">
                          <a:effectLst/>
                        </a:rPr>
                        <a:t>6000000009</a:t>
                      </a:r>
                      <a:endParaRPr lang="en-IN" sz="1600" kern="100">
                        <a:effectLst/>
                        <a:latin typeface="Aptos" panose="020B0004020202020204" pitchFamily="34" charset="0"/>
                        <a:ea typeface="Aptos" panose="020B0004020202020204" pitchFamily="34" charset="0"/>
                        <a:cs typeface="Times New Roman" panose="02020603050405020304" pitchFamily="18" charset="0"/>
                      </a:endParaRPr>
                    </a:p>
                  </a:txBody>
                  <a:tcPr marL="95250" marR="95250" marT="133350" marB="133350" anchor="ctr"/>
                </a:tc>
                <a:extLst>
                  <a:ext uri="{0D108BD9-81ED-4DB2-BD59-A6C34878D82A}">
                    <a16:rowId xmlns:a16="http://schemas.microsoft.com/office/drawing/2014/main" val="1302331332"/>
                  </a:ext>
                </a:extLst>
              </a:tr>
              <a:tr h="393858">
                <a:tc>
                  <a:txBody>
                    <a:bodyPr/>
                    <a:lstStyle/>
                    <a:p>
                      <a:pPr>
                        <a:lnSpc>
                          <a:spcPct val="115000"/>
                        </a:lnSpc>
                        <a:spcAft>
                          <a:spcPts val="800"/>
                        </a:spcAft>
                      </a:pPr>
                      <a:r>
                        <a:rPr lang="en-IN" sz="1600" kern="100">
                          <a:effectLst/>
                        </a:rPr>
                        <a:t>02</a:t>
                      </a:r>
                      <a:endParaRPr lang="en-IN" sz="1600" kern="100">
                        <a:effectLst/>
                        <a:latin typeface="Aptos" panose="020B0004020202020204" pitchFamily="34" charset="0"/>
                        <a:ea typeface="Aptos" panose="020B0004020202020204" pitchFamily="34" charset="0"/>
                        <a:cs typeface="Times New Roman" panose="02020603050405020304" pitchFamily="18" charset="0"/>
                      </a:endParaRPr>
                    </a:p>
                  </a:txBody>
                  <a:tcPr marL="95250" marR="95250" marT="133350" marB="133350" anchor="ctr"/>
                </a:tc>
                <a:tc>
                  <a:txBody>
                    <a:bodyPr/>
                    <a:lstStyle/>
                    <a:p>
                      <a:pPr>
                        <a:lnSpc>
                          <a:spcPct val="115000"/>
                        </a:lnSpc>
                        <a:spcAft>
                          <a:spcPts val="800"/>
                        </a:spcAft>
                      </a:pPr>
                      <a:r>
                        <a:rPr lang="en-IN" sz="1600" kern="100">
                          <a:effectLst/>
                        </a:rPr>
                        <a:t>Paul</a:t>
                      </a:r>
                      <a:endParaRPr lang="en-IN" sz="1600" kern="100">
                        <a:effectLst/>
                        <a:latin typeface="Aptos" panose="020B0004020202020204" pitchFamily="34" charset="0"/>
                        <a:ea typeface="Aptos" panose="020B0004020202020204" pitchFamily="34" charset="0"/>
                        <a:cs typeface="Times New Roman" panose="02020603050405020304" pitchFamily="18" charset="0"/>
                      </a:endParaRPr>
                    </a:p>
                  </a:txBody>
                  <a:tcPr marL="95250" marR="95250" marT="133350" marB="133350" anchor="ctr"/>
                </a:tc>
                <a:tc>
                  <a:txBody>
                    <a:bodyPr/>
                    <a:lstStyle/>
                    <a:p>
                      <a:pPr>
                        <a:lnSpc>
                          <a:spcPct val="115000"/>
                        </a:lnSpc>
                        <a:spcAft>
                          <a:spcPts val="800"/>
                        </a:spcAft>
                      </a:pPr>
                      <a:r>
                        <a:rPr lang="en-IN" sz="1600" kern="100">
                          <a:effectLst/>
                        </a:rPr>
                        <a:t>9000090009</a:t>
                      </a:r>
                      <a:endParaRPr lang="en-IN" sz="1600" kern="100">
                        <a:effectLst/>
                        <a:latin typeface="Aptos" panose="020B0004020202020204" pitchFamily="34" charset="0"/>
                        <a:ea typeface="Aptos" panose="020B0004020202020204" pitchFamily="34" charset="0"/>
                        <a:cs typeface="Times New Roman" panose="02020603050405020304" pitchFamily="18" charset="0"/>
                      </a:endParaRPr>
                    </a:p>
                  </a:txBody>
                  <a:tcPr marL="95250" marR="95250" marT="133350" marB="133350" anchor="ctr"/>
                </a:tc>
                <a:extLst>
                  <a:ext uri="{0D108BD9-81ED-4DB2-BD59-A6C34878D82A}">
                    <a16:rowId xmlns:a16="http://schemas.microsoft.com/office/drawing/2014/main" val="2225672623"/>
                  </a:ext>
                </a:extLst>
              </a:tr>
              <a:tr h="393858">
                <a:tc>
                  <a:txBody>
                    <a:bodyPr/>
                    <a:lstStyle/>
                    <a:p>
                      <a:pPr>
                        <a:lnSpc>
                          <a:spcPct val="115000"/>
                        </a:lnSpc>
                        <a:spcAft>
                          <a:spcPts val="800"/>
                        </a:spcAft>
                      </a:pPr>
                      <a:r>
                        <a:rPr lang="en-IN" sz="1600" kern="100">
                          <a:effectLst/>
                        </a:rPr>
                        <a:t>01</a:t>
                      </a:r>
                      <a:endParaRPr lang="en-IN" sz="1600" kern="100">
                        <a:effectLst/>
                        <a:latin typeface="Aptos" panose="020B0004020202020204" pitchFamily="34" charset="0"/>
                        <a:ea typeface="Aptos" panose="020B0004020202020204" pitchFamily="34" charset="0"/>
                        <a:cs typeface="Times New Roman" panose="02020603050405020304" pitchFamily="18" charset="0"/>
                      </a:endParaRPr>
                    </a:p>
                  </a:txBody>
                  <a:tcPr marL="95250" marR="95250" marT="133350" marB="133350" anchor="ctr"/>
                </a:tc>
                <a:tc>
                  <a:txBody>
                    <a:bodyPr/>
                    <a:lstStyle/>
                    <a:p>
                      <a:pPr>
                        <a:lnSpc>
                          <a:spcPct val="115000"/>
                        </a:lnSpc>
                        <a:spcAft>
                          <a:spcPts val="800"/>
                        </a:spcAft>
                      </a:pPr>
                      <a:r>
                        <a:rPr lang="en-IN" sz="1600" kern="100">
                          <a:effectLst/>
                        </a:rPr>
                        <a:t>Tuhin</a:t>
                      </a:r>
                      <a:endParaRPr lang="en-IN" sz="1600" kern="100">
                        <a:effectLst/>
                        <a:latin typeface="Aptos" panose="020B0004020202020204" pitchFamily="34" charset="0"/>
                        <a:ea typeface="Aptos" panose="020B0004020202020204" pitchFamily="34" charset="0"/>
                        <a:cs typeface="Times New Roman" panose="02020603050405020304" pitchFamily="18" charset="0"/>
                      </a:endParaRPr>
                    </a:p>
                  </a:txBody>
                  <a:tcPr marL="95250" marR="95250" marT="133350" marB="133350" anchor="ctr"/>
                </a:tc>
                <a:tc>
                  <a:txBody>
                    <a:bodyPr/>
                    <a:lstStyle/>
                    <a:p>
                      <a:pPr>
                        <a:lnSpc>
                          <a:spcPct val="115000"/>
                        </a:lnSpc>
                        <a:spcAft>
                          <a:spcPts val="800"/>
                        </a:spcAft>
                      </a:pPr>
                      <a:r>
                        <a:rPr lang="en-IN" sz="1600" kern="100" dirty="0">
                          <a:effectLst/>
                        </a:rPr>
                        <a:t>9234567892</a:t>
                      </a:r>
                      <a:endParaRPr lang="en-IN" sz="1600" kern="100" dirty="0">
                        <a:effectLst/>
                        <a:latin typeface="Aptos" panose="020B0004020202020204" pitchFamily="34" charset="0"/>
                        <a:ea typeface="Aptos" panose="020B0004020202020204" pitchFamily="34" charset="0"/>
                        <a:cs typeface="Times New Roman" panose="02020603050405020304" pitchFamily="18" charset="0"/>
                      </a:endParaRPr>
                    </a:p>
                  </a:txBody>
                  <a:tcPr marL="95250" marR="95250" marT="133350" marB="133350" anchor="ctr"/>
                </a:tc>
                <a:extLst>
                  <a:ext uri="{0D108BD9-81ED-4DB2-BD59-A6C34878D82A}">
                    <a16:rowId xmlns:a16="http://schemas.microsoft.com/office/drawing/2014/main" val="4196013260"/>
                  </a:ext>
                </a:extLst>
              </a:tr>
            </a:tbl>
          </a:graphicData>
        </a:graphic>
      </p:graphicFrame>
      <p:sp>
        <p:nvSpPr>
          <p:cNvPr id="7" name="TextBox 6">
            <a:extLst>
              <a:ext uri="{FF2B5EF4-FFF2-40B4-BE49-F238E27FC236}">
                <a16:creationId xmlns:a16="http://schemas.microsoft.com/office/drawing/2014/main" id="{DD88B9D2-B09A-80D7-C8D9-EF205C017A4C}"/>
              </a:ext>
            </a:extLst>
          </p:cNvPr>
          <p:cNvSpPr txBox="1"/>
          <p:nvPr/>
        </p:nvSpPr>
        <p:spPr>
          <a:xfrm>
            <a:off x="1055440" y="4437112"/>
            <a:ext cx="4464496" cy="1200329"/>
          </a:xfrm>
          <a:prstGeom prst="rect">
            <a:avLst/>
          </a:prstGeom>
          <a:noFill/>
        </p:spPr>
        <p:txBody>
          <a:bodyPr wrap="square">
            <a:spAutoFit/>
          </a:bodyPr>
          <a:lstStyle/>
          <a:p>
            <a:pPr algn="just"/>
            <a:r>
              <a:rPr lang="en-IN" sz="1800" dirty="0">
                <a:effectLst/>
                <a:latin typeface="Roboto Medium" panose="02000000000000000000" pitchFamily="2" charset="0"/>
                <a:ea typeface="Roboto Medium" panose="02000000000000000000" pitchFamily="2" charset="0"/>
                <a:cs typeface="Roboto Medium" panose="02000000000000000000" pitchFamily="2" charset="0"/>
              </a:rPr>
              <a:t>In this table, EID is the primary key, and the first and the last tuple have the same value in EID </a:t>
            </a:r>
            <a:r>
              <a:rPr lang="en-IN" sz="1800" dirty="0" err="1">
                <a:effectLst/>
                <a:latin typeface="Roboto Medium" panose="02000000000000000000" pitchFamily="2" charset="0"/>
                <a:ea typeface="Roboto Medium" panose="02000000000000000000" pitchFamily="2" charset="0"/>
                <a:cs typeface="Roboto Medium" panose="02000000000000000000" pitchFamily="2" charset="0"/>
              </a:rPr>
              <a:t>ie</a:t>
            </a:r>
            <a:r>
              <a:rPr lang="en-IN" sz="1800" dirty="0">
                <a:effectLst/>
                <a:latin typeface="Roboto Medium" panose="02000000000000000000" pitchFamily="2" charset="0"/>
                <a:ea typeface="Roboto Medium" panose="02000000000000000000" pitchFamily="2" charset="0"/>
                <a:cs typeface="Roboto Medium" panose="02000000000000000000" pitchFamily="2" charset="0"/>
              </a:rPr>
              <a:t> 01, so it is violating the key constraint. </a:t>
            </a:r>
            <a:endParaRPr lang="en-IN" dirty="0">
              <a:latin typeface="Roboto Medium" panose="02000000000000000000" pitchFamily="2" charset="0"/>
              <a:ea typeface="Roboto Medium" panose="02000000000000000000" pitchFamily="2" charset="0"/>
              <a:cs typeface="Roboto Medium" panose="02000000000000000000" pitchFamily="2" charset="0"/>
            </a:endParaRPr>
          </a:p>
        </p:txBody>
      </p:sp>
    </p:spTree>
    <p:extLst>
      <p:ext uri="{BB962C8B-B14F-4D97-AF65-F5344CB8AC3E}">
        <p14:creationId xmlns:p14="http://schemas.microsoft.com/office/powerpoint/2010/main" val="3472510521"/>
      </p:ext>
    </p:extLst>
  </p:cSld>
  <p:clrMapOvr>
    <a:masterClrMapping/>
  </p:clrMapOvr>
</p:sld>
</file>

<file path=ppt/slides/slide17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Number Placeholder 1">
            <a:extLst>
              <a:ext uri="{FF2B5EF4-FFF2-40B4-BE49-F238E27FC236}">
                <a16:creationId xmlns:a16="http://schemas.microsoft.com/office/drawing/2014/main" id="{8DF1826D-875D-B592-9F1E-B01E8E60244E}"/>
              </a:ext>
            </a:extLst>
          </p:cNvPr>
          <p:cNvSpPr>
            <a:spLocks noGrp="1"/>
          </p:cNvSpPr>
          <p:nvPr>
            <p:ph type="sldNum" sz="quarter" idx="14"/>
          </p:nvPr>
        </p:nvSpPr>
        <p:spPr/>
        <p:txBody>
          <a:bodyPr/>
          <a:lstStyle/>
          <a:p>
            <a:fld id="{45A3C14A-F937-4231-B6F1-40B429FAFB2F}" type="slidenum">
              <a:rPr lang="en-NZ" smtClean="0"/>
              <a:pPr/>
              <a:t>171</a:t>
            </a:fld>
            <a:endParaRPr lang="en-NZ" dirty="0"/>
          </a:p>
        </p:txBody>
      </p:sp>
      <p:sp>
        <p:nvSpPr>
          <p:cNvPr id="3" name="Title 2">
            <a:extLst>
              <a:ext uri="{FF2B5EF4-FFF2-40B4-BE49-F238E27FC236}">
                <a16:creationId xmlns:a16="http://schemas.microsoft.com/office/drawing/2014/main" id="{1C9C566F-0703-901C-C20D-2E4453D5429A}"/>
              </a:ext>
            </a:extLst>
          </p:cNvPr>
          <p:cNvSpPr>
            <a:spLocks noGrp="1"/>
          </p:cNvSpPr>
          <p:nvPr>
            <p:ph type="title"/>
          </p:nvPr>
        </p:nvSpPr>
        <p:spPr/>
        <p:txBody>
          <a:bodyPr/>
          <a:lstStyle/>
          <a:p>
            <a:r>
              <a:rPr lang="en-IN" sz="2400" b="1" kern="100" dirty="0">
                <a:solidFill>
                  <a:srgbClr val="FF0000"/>
                </a:solidFill>
                <a:effectLst/>
              </a:rPr>
              <a:t>3. Entity Integrity Constraints</a:t>
            </a:r>
            <a:br>
              <a:rPr lang="en-IN" sz="1800" kern="100" dirty="0">
                <a:effectLst/>
                <a:latin typeface="Aptos" panose="020B0004020202020204" pitchFamily="34" charset="0"/>
                <a:ea typeface="Aptos" panose="020B0004020202020204" pitchFamily="34" charset="0"/>
                <a:cs typeface="Times New Roman" panose="02020603050405020304" pitchFamily="18" charset="0"/>
              </a:rPr>
            </a:br>
            <a:endParaRPr lang="en-IN" dirty="0"/>
          </a:p>
        </p:txBody>
      </p:sp>
      <p:sp>
        <p:nvSpPr>
          <p:cNvPr id="4" name="Text Placeholder 3">
            <a:extLst>
              <a:ext uri="{FF2B5EF4-FFF2-40B4-BE49-F238E27FC236}">
                <a16:creationId xmlns:a16="http://schemas.microsoft.com/office/drawing/2014/main" id="{B883BC9F-31AC-D3A7-E1EA-E59EF32605BC}"/>
              </a:ext>
            </a:extLst>
          </p:cNvPr>
          <p:cNvSpPr>
            <a:spLocks noGrp="1"/>
          </p:cNvSpPr>
          <p:nvPr>
            <p:ph type="body" sz="quarter" idx="17"/>
          </p:nvPr>
        </p:nvSpPr>
        <p:spPr>
          <a:xfrm>
            <a:off x="587404" y="1052736"/>
            <a:ext cx="10801201" cy="4320480"/>
          </a:xfrm>
        </p:spPr>
        <p:txBody>
          <a:bodyPr/>
          <a:lstStyle/>
          <a:p>
            <a:pPr marL="0" indent="0">
              <a:buNone/>
            </a:pPr>
            <a:r>
              <a:rPr lang="en-IN" sz="2000" kern="100" dirty="0">
                <a:solidFill>
                  <a:schemeClr val="tx1"/>
                </a:solidFill>
                <a:effectLst/>
              </a:rPr>
              <a:t>Entity Integrity constraints say that no primary key can take a NULL value, since using the </a:t>
            </a:r>
            <a:r>
              <a:rPr lang="en-IN" sz="2000" u="sng" kern="100" dirty="0">
                <a:solidFill>
                  <a:schemeClr val="tx1"/>
                </a:solidFill>
                <a:effectLst/>
                <a:hlinkClick r:id="rId2">
                  <a:extLst>
                    <a:ext uri="{A12FA001-AC4F-418D-AE19-62706E023703}">
                      <ahyp:hlinkClr xmlns:ahyp="http://schemas.microsoft.com/office/drawing/2018/hyperlinkcolor" val="tx"/>
                    </a:ext>
                  </a:extLst>
                </a:hlinkClick>
              </a:rPr>
              <a:t>primary key</a:t>
            </a:r>
            <a:r>
              <a:rPr lang="en-IN" sz="2000" kern="100" dirty="0">
                <a:solidFill>
                  <a:schemeClr val="tx1"/>
                </a:solidFill>
                <a:effectLst/>
              </a:rPr>
              <a:t> we identify each tuple uniquely in a  relation.</a:t>
            </a:r>
          </a:p>
          <a:p>
            <a:pPr marL="0" indent="0">
              <a:buNone/>
            </a:pPr>
            <a:r>
              <a:rPr lang="en-IN" sz="1800" b="1" kern="100" dirty="0">
                <a:solidFill>
                  <a:srgbClr val="FF0000"/>
                </a:solidFill>
                <a:effectLst/>
              </a:rPr>
              <a:t>Example:</a:t>
            </a:r>
            <a:r>
              <a:rPr lang="en-IN" sz="1800" kern="100" dirty="0">
                <a:solidFill>
                  <a:srgbClr val="FF0000"/>
                </a:solidFill>
                <a:effectLst/>
              </a:rPr>
              <a:t> </a:t>
            </a:r>
          </a:p>
          <a:p>
            <a:r>
              <a:rPr lang="en-IN" sz="1800" kern="100" dirty="0">
                <a:solidFill>
                  <a:schemeClr val="tx1"/>
                </a:solidFill>
                <a:effectLst/>
              </a:rPr>
              <a:t>In this relation, EID is made the primary key, and the primary key can’t take NULL values but in the third tuple, the primary key is null, so it is violating Entity Integrity constraints. </a:t>
            </a:r>
          </a:p>
          <a:p>
            <a:endParaRPr lang="en-IN" dirty="0"/>
          </a:p>
        </p:txBody>
      </p:sp>
      <p:graphicFrame>
        <p:nvGraphicFramePr>
          <p:cNvPr id="5" name="Table 4">
            <a:extLst>
              <a:ext uri="{FF2B5EF4-FFF2-40B4-BE49-F238E27FC236}">
                <a16:creationId xmlns:a16="http://schemas.microsoft.com/office/drawing/2014/main" id="{5E56DD8B-DFC0-F6BA-A86D-B48635235BAE}"/>
              </a:ext>
            </a:extLst>
          </p:cNvPr>
          <p:cNvGraphicFramePr>
            <a:graphicFrameLocks noGrp="1"/>
          </p:cNvGraphicFramePr>
          <p:nvPr>
            <p:extLst>
              <p:ext uri="{D42A27DB-BD31-4B8C-83A1-F6EECF244321}">
                <p14:modId xmlns:p14="http://schemas.microsoft.com/office/powerpoint/2010/main" val="2238099867"/>
              </p:ext>
            </p:extLst>
          </p:nvPr>
        </p:nvGraphicFramePr>
        <p:xfrm>
          <a:off x="2855640" y="3200143"/>
          <a:ext cx="4969767" cy="2035048"/>
        </p:xfrm>
        <a:graphic>
          <a:graphicData uri="http://schemas.openxmlformats.org/drawingml/2006/table">
            <a:tbl>
              <a:tblPr firstRow="1" firstCol="1" bandRow="1">
                <a:tableStyleId>{5C22544A-7EE6-4342-B048-85BDC9FD1C3A}</a:tableStyleId>
              </a:tblPr>
              <a:tblGrid>
                <a:gridCol w="1656589">
                  <a:extLst>
                    <a:ext uri="{9D8B030D-6E8A-4147-A177-3AD203B41FA5}">
                      <a16:colId xmlns:a16="http://schemas.microsoft.com/office/drawing/2014/main" val="2471592589"/>
                    </a:ext>
                  </a:extLst>
                </a:gridCol>
                <a:gridCol w="1656589">
                  <a:extLst>
                    <a:ext uri="{9D8B030D-6E8A-4147-A177-3AD203B41FA5}">
                      <a16:colId xmlns:a16="http://schemas.microsoft.com/office/drawing/2014/main" val="36606907"/>
                    </a:ext>
                  </a:extLst>
                </a:gridCol>
                <a:gridCol w="1656589">
                  <a:extLst>
                    <a:ext uri="{9D8B030D-6E8A-4147-A177-3AD203B41FA5}">
                      <a16:colId xmlns:a16="http://schemas.microsoft.com/office/drawing/2014/main" val="723010183"/>
                    </a:ext>
                  </a:extLst>
                </a:gridCol>
              </a:tblGrid>
              <a:tr h="353002">
                <a:tc>
                  <a:txBody>
                    <a:bodyPr/>
                    <a:lstStyle/>
                    <a:p>
                      <a:pPr>
                        <a:lnSpc>
                          <a:spcPct val="115000"/>
                        </a:lnSpc>
                        <a:spcAft>
                          <a:spcPts val="800"/>
                        </a:spcAft>
                      </a:pPr>
                      <a:r>
                        <a:rPr lang="en-IN" sz="1600" kern="100">
                          <a:effectLst/>
                          <a:latin typeface="Roboto Medium" panose="02000000000000000000" pitchFamily="2" charset="0"/>
                          <a:ea typeface="Roboto Medium" panose="02000000000000000000" pitchFamily="2" charset="0"/>
                          <a:cs typeface="Roboto Medium" panose="02000000000000000000" pitchFamily="2" charset="0"/>
                        </a:rPr>
                        <a:t>EID       </a:t>
                      </a:r>
                    </a:p>
                  </a:txBody>
                  <a:tcPr marL="38100" marR="38100" marT="95250" marB="95250" anchor="b"/>
                </a:tc>
                <a:tc>
                  <a:txBody>
                    <a:bodyPr/>
                    <a:lstStyle/>
                    <a:p>
                      <a:pPr>
                        <a:lnSpc>
                          <a:spcPct val="115000"/>
                        </a:lnSpc>
                        <a:spcAft>
                          <a:spcPts val="800"/>
                        </a:spcAft>
                      </a:pPr>
                      <a:r>
                        <a:rPr lang="en-IN" sz="1600" kern="100">
                          <a:effectLst/>
                          <a:latin typeface="Roboto Medium" panose="02000000000000000000" pitchFamily="2" charset="0"/>
                          <a:ea typeface="Roboto Medium" panose="02000000000000000000" pitchFamily="2" charset="0"/>
                          <a:cs typeface="Roboto Medium" panose="02000000000000000000" pitchFamily="2" charset="0"/>
                        </a:rPr>
                        <a:t>Name            </a:t>
                      </a:r>
                    </a:p>
                  </a:txBody>
                  <a:tcPr marL="95250" marR="95250" marT="95250" marB="95250" anchor="b"/>
                </a:tc>
                <a:tc>
                  <a:txBody>
                    <a:bodyPr/>
                    <a:lstStyle/>
                    <a:p>
                      <a:pPr>
                        <a:lnSpc>
                          <a:spcPct val="115000"/>
                        </a:lnSpc>
                        <a:spcAft>
                          <a:spcPts val="800"/>
                        </a:spcAft>
                      </a:pPr>
                      <a:r>
                        <a:rPr lang="en-IN" sz="1600" kern="100">
                          <a:effectLst/>
                          <a:latin typeface="Roboto Medium" panose="02000000000000000000" pitchFamily="2" charset="0"/>
                          <a:ea typeface="Roboto Medium" panose="02000000000000000000" pitchFamily="2" charset="0"/>
                          <a:cs typeface="Roboto Medium" panose="02000000000000000000" pitchFamily="2" charset="0"/>
                        </a:rPr>
                        <a:t>Phone              </a:t>
                      </a:r>
                    </a:p>
                  </a:txBody>
                  <a:tcPr marL="95250" marR="95250" marT="95250" marB="95250" anchor="b"/>
                </a:tc>
                <a:extLst>
                  <a:ext uri="{0D108BD9-81ED-4DB2-BD59-A6C34878D82A}">
                    <a16:rowId xmlns:a16="http://schemas.microsoft.com/office/drawing/2014/main" val="3680204521"/>
                  </a:ext>
                </a:extLst>
              </a:tr>
              <a:tr h="421981">
                <a:tc>
                  <a:txBody>
                    <a:bodyPr/>
                    <a:lstStyle/>
                    <a:p>
                      <a:pPr>
                        <a:lnSpc>
                          <a:spcPct val="115000"/>
                        </a:lnSpc>
                        <a:spcAft>
                          <a:spcPts val="800"/>
                        </a:spcAft>
                      </a:pPr>
                      <a:r>
                        <a:rPr lang="en-IN" sz="1600" kern="100">
                          <a:effectLst/>
                          <a:latin typeface="Roboto Medium" panose="02000000000000000000" pitchFamily="2" charset="0"/>
                          <a:ea typeface="Roboto Medium" panose="02000000000000000000" pitchFamily="2" charset="0"/>
                          <a:cs typeface="Roboto Medium" panose="02000000000000000000" pitchFamily="2" charset="0"/>
                        </a:rPr>
                        <a:t>01</a:t>
                      </a:r>
                    </a:p>
                  </a:txBody>
                  <a:tcPr marL="95250" marR="95250" marT="133350" marB="133350" anchor="ctr"/>
                </a:tc>
                <a:tc>
                  <a:txBody>
                    <a:bodyPr/>
                    <a:lstStyle/>
                    <a:p>
                      <a:pPr>
                        <a:lnSpc>
                          <a:spcPct val="115000"/>
                        </a:lnSpc>
                        <a:spcAft>
                          <a:spcPts val="800"/>
                        </a:spcAft>
                      </a:pPr>
                      <a:r>
                        <a:rPr lang="en-IN" sz="1600" kern="100">
                          <a:effectLst/>
                          <a:latin typeface="Roboto Medium" panose="02000000000000000000" pitchFamily="2" charset="0"/>
                          <a:ea typeface="Roboto Medium" panose="02000000000000000000" pitchFamily="2" charset="0"/>
                          <a:cs typeface="Roboto Medium" panose="02000000000000000000" pitchFamily="2" charset="0"/>
                        </a:rPr>
                        <a:t>Bikash</a:t>
                      </a:r>
                    </a:p>
                  </a:txBody>
                  <a:tcPr marL="95250" marR="95250" marT="133350" marB="133350" anchor="ctr"/>
                </a:tc>
                <a:tc>
                  <a:txBody>
                    <a:bodyPr/>
                    <a:lstStyle/>
                    <a:p>
                      <a:pPr>
                        <a:lnSpc>
                          <a:spcPct val="115000"/>
                        </a:lnSpc>
                        <a:spcAft>
                          <a:spcPts val="800"/>
                        </a:spcAft>
                      </a:pPr>
                      <a:r>
                        <a:rPr lang="en-IN" sz="1600" kern="100">
                          <a:effectLst/>
                          <a:latin typeface="Roboto Medium" panose="02000000000000000000" pitchFamily="2" charset="0"/>
                          <a:ea typeface="Roboto Medium" panose="02000000000000000000" pitchFamily="2" charset="0"/>
                          <a:cs typeface="Roboto Medium" panose="02000000000000000000" pitchFamily="2" charset="0"/>
                        </a:rPr>
                        <a:t>9000900099</a:t>
                      </a:r>
                    </a:p>
                  </a:txBody>
                  <a:tcPr marL="95250" marR="95250" marT="133350" marB="133350" anchor="ctr"/>
                </a:tc>
                <a:extLst>
                  <a:ext uri="{0D108BD9-81ED-4DB2-BD59-A6C34878D82A}">
                    <a16:rowId xmlns:a16="http://schemas.microsoft.com/office/drawing/2014/main" val="600551724"/>
                  </a:ext>
                </a:extLst>
              </a:tr>
              <a:tr h="421981">
                <a:tc>
                  <a:txBody>
                    <a:bodyPr/>
                    <a:lstStyle/>
                    <a:p>
                      <a:pPr>
                        <a:lnSpc>
                          <a:spcPct val="115000"/>
                        </a:lnSpc>
                        <a:spcAft>
                          <a:spcPts val="800"/>
                        </a:spcAft>
                      </a:pPr>
                      <a:r>
                        <a:rPr lang="en-IN" sz="1600" kern="100">
                          <a:effectLst/>
                          <a:latin typeface="Roboto Medium" panose="02000000000000000000" pitchFamily="2" charset="0"/>
                          <a:ea typeface="Roboto Medium" panose="02000000000000000000" pitchFamily="2" charset="0"/>
                          <a:cs typeface="Roboto Medium" panose="02000000000000000000" pitchFamily="2" charset="0"/>
                        </a:rPr>
                        <a:t>02</a:t>
                      </a:r>
                    </a:p>
                  </a:txBody>
                  <a:tcPr marL="95250" marR="95250" marT="133350" marB="133350" anchor="ctr"/>
                </a:tc>
                <a:tc>
                  <a:txBody>
                    <a:bodyPr/>
                    <a:lstStyle/>
                    <a:p>
                      <a:pPr>
                        <a:lnSpc>
                          <a:spcPct val="115000"/>
                        </a:lnSpc>
                        <a:spcAft>
                          <a:spcPts val="800"/>
                        </a:spcAft>
                      </a:pPr>
                      <a:r>
                        <a:rPr lang="en-IN" sz="1600" kern="100">
                          <a:effectLst/>
                          <a:latin typeface="Roboto Medium" panose="02000000000000000000" pitchFamily="2" charset="0"/>
                          <a:ea typeface="Roboto Medium" panose="02000000000000000000" pitchFamily="2" charset="0"/>
                          <a:cs typeface="Roboto Medium" panose="02000000000000000000" pitchFamily="2" charset="0"/>
                        </a:rPr>
                        <a:t>Paul</a:t>
                      </a:r>
                    </a:p>
                  </a:txBody>
                  <a:tcPr marL="95250" marR="95250" marT="133350" marB="133350" anchor="ctr"/>
                </a:tc>
                <a:tc>
                  <a:txBody>
                    <a:bodyPr/>
                    <a:lstStyle/>
                    <a:p>
                      <a:pPr>
                        <a:lnSpc>
                          <a:spcPct val="115000"/>
                        </a:lnSpc>
                        <a:spcAft>
                          <a:spcPts val="800"/>
                        </a:spcAft>
                      </a:pPr>
                      <a:r>
                        <a:rPr lang="en-IN" sz="1600" kern="100">
                          <a:effectLst/>
                          <a:latin typeface="Roboto Medium" panose="02000000000000000000" pitchFamily="2" charset="0"/>
                          <a:ea typeface="Roboto Medium" panose="02000000000000000000" pitchFamily="2" charset="0"/>
                          <a:cs typeface="Roboto Medium" panose="02000000000000000000" pitchFamily="2" charset="0"/>
                        </a:rPr>
                        <a:t>600000009</a:t>
                      </a:r>
                    </a:p>
                  </a:txBody>
                  <a:tcPr marL="95250" marR="95250" marT="133350" marB="133350" anchor="ctr"/>
                </a:tc>
                <a:extLst>
                  <a:ext uri="{0D108BD9-81ED-4DB2-BD59-A6C34878D82A}">
                    <a16:rowId xmlns:a16="http://schemas.microsoft.com/office/drawing/2014/main" val="1114108222"/>
                  </a:ext>
                </a:extLst>
              </a:tr>
              <a:tr h="421981">
                <a:tc>
                  <a:txBody>
                    <a:bodyPr/>
                    <a:lstStyle/>
                    <a:p>
                      <a:pPr>
                        <a:lnSpc>
                          <a:spcPct val="115000"/>
                        </a:lnSpc>
                        <a:spcAft>
                          <a:spcPts val="800"/>
                        </a:spcAft>
                      </a:pPr>
                      <a:r>
                        <a:rPr lang="en-IN" sz="1600" kern="100">
                          <a:effectLst/>
                          <a:latin typeface="Roboto Medium" panose="02000000000000000000" pitchFamily="2" charset="0"/>
                          <a:ea typeface="Roboto Medium" panose="02000000000000000000" pitchFamily="2" charset="0"/>
                          <a:cs typeface="Roboto Medium" panose="02000000000000000000" pitchFamily="2" charset="0"/>
                        </a:rPr>
                        <a:t>NULL</a:t>
                      </a:r>
                    </a:p>
                  </a:txBody>
                  <a:tcPr marL="95250" marR="95250" marT="133350" marB="133350" anchor="ctr"/>
                </a:tc>
                <a:tc>
                  <a:txBody>
                    <a:bodyPr/>
                    <a:lstStyle/>
                    <a:p>
                      <a:pPr>
                        <a:lnSpc>
                          <a:spcPct val="115000"/>
                        </a:lnSpc>
                        <a:spcAft>
                          <a:spcPts val="800"/>
                        </a:spcAft>
                      </a:pPr>
                      <a:r>
                        <a:rPr lang="en-IN" sz="1600" kern="100">
                          <a:effectLst/>
                          <a:latin typeface="Roboto Medium" panose="02000000000000000000" pitchFamily="2" charset="0"/>
                          <a:ea typeface="Roboto Medium" panose="02000000000000000000" pitchFamily="2" charset="0"/>
                          <a:cs typeface="Roboto Medium" panose="02000000000000000000" pitchFamily="2" charset="0"/>
                        </a:rPr>
                        <a:t>Sony</a:t>
                      </a:r>
                    </a:p>
                  </a:txBody>
                  <a:tcPr marL="95250" marR="95250" marT="133350" marB="133350" anchor="ctr"/>
                </a:tc>
                <a:tc>
                  <a:txBody>
                    <a:bodyPr/>
                    <a:lstStyle/>
                    <a:p>
                      <a:pPr>
                        <a:lnSpc>
                          <a:spcPct val="115000"/>
                        </a:lnSpc>
                        <a:spcAft>
                          <a:spcPts val="800"/>
                        </a:spcAft>
                      </a:pPr>
                      <a:r>
                        <a:rPr lang="en-IN" sz="1600" kern="100" dirty="0">
                          <a:effectLst/>
                          <a:latin typeface="Roboto Medium" panose="02000000000000000000" pitchFamily="2" charset="0"/>
                          <a:ea typeface="Roboto Medium" panose="02000000000000000000" pitchFamily="2" charset="0"/>
                          <a:cs typeface="Roboto Medium" panose="02000000000000000000" pitchFamily="2" charset="0"/>
                        </a:rPr>
                        <a:t>9234567892</a:t>
                      </a:r>
                    </a:p>
                  </a:txBody>
                  <a:tcPr marL="95250" marR="95250" marT="133350" marB="133350" anchor="ctr"/>
                </a:tc>
                <a:extLst>
                  <a:ext uri="{0D108BD9-81ED-4DB2-BD59-A6C34878D82A}">
                    <a16:rowId xmlns:a16="http://schemas.microsoft.com/office/drawing/2014/main" val="2425684514"/>
                  </a:ext>
                </a:extLst>
              </a:tr>
            </a:tbl>
          </a:graphicData>
        </a:graphic>
      </p:graphicFrame>
    </p:spTree>
    <p:extLst>
      <p:ext uri="{BB962C8B-B14F-4D97-AF65-F5344CB8AC3E}">
        <p14:creationId xmlns:p14="http://schemas.microsoft.com/office/powerpoint/2010/main" val="495292266"/>
      </p:ext>
    </p:extLst>
  </p:cSld>
  <p:clrMapOvr>
    <a:masterClrMapping/>
  </p:clrMapOvr>
</p:sld>
</file>

<file path=ppt/slides/slide17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Number Placeholder 1">
            <a:extLst>
              <a:ext uri="{FF2B5EF4-FFF2-40B4-BE49-F238E27FC236}">
                <a16:creationId xmlns:a16="http://schemas.microsoft.com/office/drawing/2014/main" id="{8473D362-B44D-F627-064C-7D602FC3EDF0}"/>
              </a:ext>
            </a:extLst>
          </p:cNvPr>
          <p:cNvSpPr>
            <a:spLocks noGrp="1"/>
          </p:cNvSpPr>
          <p:nvPr>
            <p:ph type="sldNum" sz="quarter" idx="14"/>
          </p:nvPr>
        </p:nvSpPr>
        <p:spPr/>
        <p:txBody>
          <a:bodyPr/>
          <a:lstStyle/>
          <a:p>
            <a:fld id="{45A3C14A-F937-4231-B6F1-40B429FAFB2F}" type="slidenum">
              <a:rPr lang="en-NZ" smtClean="0"/>
              <a:pPr/>
              <a:t>172</a:t>
            </a:fld>
            <a:endParaRPr lang="en-NZ" dirty="0"/>
          </a:p>
        </p:txBody>
      </p:sp>
      <p:sp>
        <p:nvSpPr>
          <p:cNvPr id="3" name="Title 2">
            <a:extLst>
              <a:ext uri="{FF2B5EF4-FFF2-40B4-BE49-F238E27FC236}">
                <a16:creationId xmlns:a16="http://schemas.microsoft.com/office/drawing/2014/main" id="{CFA57E57-565B-D325-842D-D62B4C987251}"/>
              </a:ext>
            </a:extLst>
          </p:cNvPr>
          <p:cNvSpPr>
            <a:spLocks noGrp="1"/>
          </p:cNvSpPr>
          <p:nvPr>
            <p:ph type="title"/>
          </p:nvPr>
        </p:nvSpPr>
        <p:spPr/>
        <p:txBody>
          <a:bodyPr/>
          <a:lstStyle/>
          <a:p>
            <a:r>
              <a:rPr lang="en-IN" sz="2000" b="1" kern="100" dirty="0">
                <a:solidFill>
                  <a:srgbClr val="FF0000"/>
                </a:solidFill>
                <a:effectLst/>
              </a:rPr>
              <a:t>4. Referential Integrity Constraints</a:t>
            </a:r>
            <a:br>
              <a:rPr lang="en-IN" sz="1800" kern="100" dirty="0">
                <a:effectLst/>
                <a:latin typeface="Aptos" panose="020B0004020202020204" pitchFamily="34" charset="0"/>
                <a:ea typeface="Aptos" panose="020B0004020202020204" pitchFamily="34" charset="0"/>
                <a:cs typeface="Times New Roman" panose="02020603050405020304" pitchFamily="18" charset="0"/>
              </a:rPr>
            </a:br>
            <a:endParaRPr lang="en-IN" dirty="0"/>
          </a:p>
        </p:txBody>
      </p:sp>
      <p:sp>
        <p:nvSpPr>
          <p:cNvPr id="4" name="Text Placeholder 3">
            <a:extLst>
              <a:ext uri="{FF2B5EF4-FFF2-40B4-BE49-F238E27FC236}">
                <a16:creationId xmlns:a16="http://schemas.microsoft.com/office/drawing/2014/main" id="{32E08505-36D3-07F4-21C9-C01961AEB4B6}"/>
              </a:ext>
            </a:extLst>
          </p:cNvPr>
          <p:cNvSpPr>
            <a:spLocks noGrp="1"/>
          </p:cNvSpPr>
          <p:nvPr>
            <p:ph type="body" sz="quarter" idx="17"/>
          </p:nvPr>
        </p:nvSpPr>
        <p:spPr>
          <a:xfrm>
            <a:off x="565945" y="714425"/>
            <a:ext cx="10801201" cy="4320480"/>
          </a:xfrm>
        </p:spPr>
        <p:txBody>
          <a:bodyPr/>
          <a:lstStyle/>
          <a:p>
            <a:pPr marL="342900" lvl="0" indent="-342900" algn="just">
              <a:lnSpc>
                <a:spcPct val="115000"/>
              </a:lnSpc>
              <a:spcAft>
                <a:spcPts val="800"/>
              </a:spcAft>
              <a:buSzPts val="1000"/>
              <a:buFont typeface="Symbol" panose="05050102010706020507" pitchFamily="18" charset="2"/>
              <a:buChar char=""/>
              <a:tabLst>
                <a:tab pos="457200" algn="l"/>
              </a:tabLst>
            </a:pPr>
            <a:r>
              <a:rPr lang="en-IN" sz="2000" kern="100" dirty="0">
                <a:solidFill>
                  <a:schemeClr val="tx1"/>
                </a:solidFill>
                <a:effectLst/>
              </a:rPr>
              <a:t>The Referential integrity constraint is specified between two relations or tables and used to maintain the consistency among the tuples in two relations.</a:t>
            </a:r>
          </a:p>
          <a:p>
            <a:pPr marL="342900" lvl="0" indent="-342900" algn="just">
              <a:lnSpc>
                <a:spcPct val="115000"/>
              </a:lnSpc>
              <a:spcAft>
                <a:spcPts val="800"/>
              </a:spcAft>
              <a:buSzPts val="1000"/>
              <a:buFont typeface="Symbol" panose="05050102010706020507" pitchFamily="18" charset="2"/>
              <a:buChar char=""/>
              <a:tabLst>
                <a:tab pos="457200" algn="l"/>
              </a:tabLst>
            </a:pPr>
            <a:r>
              <a:rPr lang="en-IN" sz="2000" kern="100" dirty="0">
                <a:solidFill>
                  <a:schemeClr val="tx1"/>
                </a:solidFill>
                <a:effectLst/>
              </a:rPr>
              <a:t>This constraint is enforced through a foreign key, when an attribute in the foreign key of relation R1 has the same domain(s) as the primary key of relation R2, then the foreign key of R1 is said to reference or refer to the primary key of relation R2.</a:t>
            </a:r>
          </a:p>
          <a:p>
            <a:pPr marL="342900" lvl="0" indent="-342900" algn="just">
              <a:lnSpc>
                <a:spcPct val="115000"/>
              </a:lnSpc>
              <a:spcAft>
                <a:spcPts val="800"/>
              </a:spcAft>
              <a:buSzPts val="1000"/>
              <a:buFont typeface="Symbol" panose="05050102010706020507" pitchFamily="18" charset="2"/>
              <a:buChar char=""/>
              <a:tabLst>
                <a:tab pos="457200" algn="l"/>
              </a:tabLst>
            </a:pPr>
            <a:r>
              <a:rPr lang="en-IN" sz="2000" kern="100" dirty="0">
                <a:solidFill>
                  <a:schemeClr val="tx1"/>
                </a:solidFill>
                <a:effectLst/>
              </a:rPr>
              <a:t>The values of the foreign key in a tuple of relation R1 can either take the values of the primary key for some tuple in relation R2, or can take NULL values, but can’t be empty.</a:t>
            </a:r>
          </a:p>
          <a:p>
            <a:pPr algn="just">
              <a:lnSpc>
                <a:spcPct val="115000"/>
              </a:lnSpc>
              <a:spcAft>
                <a:spcPts val="800"/>
              </a:spcAft>
            </a:pPr>
            <a:r>
              <a:rPr lang="en-IN" sz="2000" b="1" kern="100" dirty="0">
                <a:solidFill>
                  <a:schemeClr val="tx1"/>
                </a:solidFill>
                <a:effectLst/>
              </a:rPr>
              <a:t>Example:</a:t>
            </a:r>
            <a:endParaRPr lang="en-IN" sz="2000" kern="100" dirty="0">
              <a:solidFill>
                <a:schemeClr val="tx1"/>
              </a:solidFill>
              <a:effectLst/>
            </a:endParaRPr>
          </a:p>
          <a:p>
            <a:endParaRPr lang="en-IN" dirty="0"/>
          </a:p>
        </p:txBody>
      </p:sp>
      <p:graphicFrame>
        <p:nvGraphicFramePr>
          <p:cNvPr id="5" name="Table 4">
            <a:extLst>
              <a:ext uri="{FF2B5EF4-FFF2-40B4-BE49-F238E27FC236}">
                <a16:creationId xmlns:a16="http://schemas.microsoft.com/office/drawing/2014/main" id="{811DCAC6-1B29-080C-CBBA-07B6167C2DFD}"/>
              </a:ext>
            </a:extLst>
          </p:cNvPr>
          <p:cNvGraphicFramePr>
            <a:graphicFrameLocks noGrp="1"/>
          </p:cNvGraphicFramePr>
          <p:nvPr>
            <p:extLst>
              <p:ext uri="{D42A27DB-BD31-4B8C-83A1-F6EECF244321}">
                <p14:modId xmlns:p14="http://schemas.microsoft.com/office/powerpoint/2010/main" val="2046240428"/>
              </p:ext>
            </p:extLst>
          </p:nvPr>
        </p:nvGraphicFramePr>
        <p:xfrm>
          <a:off x="2423593" y="3400539"/>
          <a:ext cx="4105671" cy="1788416"/>
        </p:xfrm>
        <a:graphic>
          <a:graphicData uri="http://schemas.openxmlformats.org/drawingml/2006/table">
            <a:tbl>
              <a:tblPr firstRow="1" firstCol="1" bandRow="1">
                <a:tableStyleId>{5C22544A-7EE6-4342-B048-85BDC9FD1C3A}</a:tableStyleId>
              </a:tblPr>
              <a:tblGrid>
                <a:gridCol w="1368557">
                  <a:extLst>
                    <a:ext uri="{9D8B030D-6E8A-4147-A177-3AD203B41FA5}">
                      <a16:colId xmlns:a16="http://schemas.microsoft.com/office/drawing/2014/main" val="1031935433"/>
                    </a:ext>
                  </a:extLst>
                </a:gridCol>
                <a:gridCol w="1368557">
                  <a:extLst>
                    <a:ext uri="{9D8B030D-6E8A-4147-A177-3AD203B41FA5}">
                      <a16:colId xmlns:a16="http://schemas.microsoft.com/office/drawing/2014/main" val="2281593903"/>
                    </a:ext>
                  </a:extLst>
                </a:gridCol>
                <a:gridCol w="1368557">
                  <a:extLst>
                    <a:ext uri="{9D8B030D-6E8A-4147-A177-3AD203B41FA5}">
                      <a16:colId xmlns:a16="http://schemas.microsoft.com/office/drawing/2014/main" val="1739302071"/>
                    </a:ext>
                  </a:extLst>
                </a:gridCol>
              </a:tblGrid>
              <a:tr h="258796">
                <a:tc>
                  <a:txBody>
                    <a:bodyPr/>
                    <a:lstStyle/>
                    <a:p>
                      <a:pPr>
                        <a:lnSpc>
                          <a:spcPct val="115000"/>
                        </a:lnSpc>
                        <a:spcAft>
                          <a:spcPts val="800"/>
                        </a:spcAft>
                      </a:pPr>
                      <a:r>
                        <a:rPr lang="en-IN" sz="1200" kern="100" dirty="0">
                          <a:effectLst/>
                        </a:rPr>
                        <a:t>EID       </a:t>
                      </a:r>
                      <a:endParaRPr lang="en-IN" sz="1200" kern="100" dirty="0">
                        <a:effectLst/>
                        <a:latin typeface="Aptos" panose="020B0004020202020204" pitchFamily="34" charset="0"/>
                        <a:ea typeface="Aptos" panose="020B0004020202020204" pitchFamily="34" charset="0"/>
                        <a:cs typeface="Times New Roman" panose="02020603050405020304" pitchFamily="18" charset="0"/>
                      </a:endParaRPr>
                    </a:p>
                  </a:txBody>
                  <a:tcPr marL="38100" marR="38100" marT="95250" marB="95250" anchor="b"/>
                </a:tc>
                <a:tc>
                  <a:txBody>
                    <a:bodyPr/>
                    <a:lstStyle/>
                    <a:p>
                      <a:pPr>
                        <a:lnSpc>
                          <a:spcPct val="115000"/>
                        </a:lnSpc>
                        <a:spcAft>
                          <a:spcPts val="800"/>
                        </a:spcAft>
                      </a:pPr>
                      <a:r>
                        <a:rPr lang="en-IN" sz="1200" kern="100" dirty="0">
                          <a:effectLst/>
                        </a:rPr>
                        <a:t>Name        </a:t>
                      </a:r>
                      <a:endParaRPr lang="en-IN" sz="1200" kern="100" dirty="0">
                        <a:effectLst/>
                        <a:latin typeface="Aptos" panose="020B0004020202020204" pitchFamily="34" charset="0"/>
                        <a:ea typeface="Aptos" panose="020B0004020202020204" pitchFamily="34" charset="0"/>
                        <a:cs typeface="Times New Roman" panose="02020603050405020304" pitchFamily="18" charset="0"/>
                      </a:endParaRPr>
                    </a:p>
                  </a:txBody>
                  <a:tcPr marL="95250" marR="95250" marT="95250" marB="95250" anchor="b"/>
                </a:tc>
                <a:tc>
                  <a:txBody>
                    <a:bodyPr/>
                    <a:lstStyle/>
                    <a:p>
                      <a:pPr>
                        <a:lnSpc>
                          <a:spcPct val="115000"/>
                        </a:lnSpc>
                        <a:spcAft>
                          <a:spcPts val="800"/>
                        </a:spcAft>
                      </a:pPr>
                      <a:r>
                        <a:rPr lang="en-IN" sz="1200" kern="100">
                          <a:effectLst/>
                        </a:rPr>
                        <a:t>DNO     </a:t>
                      </a:r>
                      <a:endParaRPr lang="en-IN" sz="1200" kern="100">
                        <a:effectLst/>
                        <a:latin typeface="Aptos" panose="020B0004020202020204" pitchFamily="34" charset="0"/>
                        <a:ea typeface="Aptos" panose="020B0004020202020204" pitchFamily="34" charset="0"/>
                        <a:cs typeface="Times New Roman" panose="02020603050405020304" pitchFamily="18" charset="0"/>
                      </a:endParaRPr>
                    </a:p>
                  </a:txBody>
                  <a:tcPr marL="95250" marR="95250" marT="95250" marB="95250" anchor="b"/>
                </a:tc>
                <a:extLst>
                  <a:ext uri="{0D108BD9-81ED-4DB2-BD59-A6C34878D82A}">
                    <a16:rowId xmlns:a16="http://schemas.microsoft.com/office/drawing/2014/main" val="2462391498"/>
                  </a:ext>
                </a:extLst>
              </a:tr>
              <a:tr h="309367">
                <a:tc>
                  <a:txBody>
                    <a:bodyPr/>
                    <a:lstStyle/>
                    <a:p>
                      <a:pPr>
                        <a:lnSpc>
                          <a:spcPct val="115000"/>
                        </a:lnSpc>
                        <a:spcAft>
                          <a:spcPts val="800"/>
                        </a:spcAft>
                      </a:pPr>
                      <a:r>
                        <a:rPr lang="en-IN" sz="1200" kern="100">
                          <a:effectLst/>
                        </a:rPr>
                        <a:t>01</a:t>
                      </a:r>
                      <a:endParaRPr lang="en-IN" sz="1200" kern="100">
                        <a:effectLst/>
                        <a:latin typeface="Aptos" panose="020B0004020202020204" pitchFamily="34" charset="0"/>
                        <a:ea typeface="Aptos" panose="020B0004020202020204" pitchFamily="34" charset="0"/>
                        <a:cs typeface="Times New Roman" panose="02020603050405020304" pitchFamily="18" charset="0"/>
                      </a:endParaRPr>
                    </a:p>
                  </a:txBody>
                  <a:tcPr marL="95250" marR="95250" marT="133350" marB="133350" anchor="ctr"/>
                </a:tc>
                <a:tc>
                  <a:txBody>
                    <a:bodyPr/>
                    <a:lstStyle/>
                    <a:p>
                      <a:pPr>
                        <a:lnSpc>
                          <a:spcPct val="115000"/>
                        </a:lnSpc>
                        <a:spcAft>
                          <a:spcPts val="800"/>
                        </a:spcAft>
                      </a:pPr>
                      <a:r>
                        <a:rPr lang="en-IN" sz="1200" kern="100">
                          <a:effectLst/>
                        </a:rPr>
                        <a:t>Divine</a:t>
                      </a:r>
                      <a:endParaRPr lang="en-IN" sz="1200" kern="100">
                        <a:effectLst/>
                        <a:latin typeface="Aptos" panose="020B0004020202020204" pitchFamily="34" charset="0"/>
                        <a:ea typeface="Aptos" panose="020B0004020202020204" pitchFamily="34" charset="0"/>
                        <a:cs typeface="Times New Roman" panose="02020603050405020304" pitchFamily="18" charset="0"/>
                      </a:endParaRPr>
                    </a:p>
                  </a:txBody>
                  <a:tcPr marL="95250" marR="95250" marT="133350" marB="133350" anchor="ctr"/>
                </a:tc>
                <a:tc>
                  <a:txBody>
                    <a:bodyPr/>
                    <a:lstStyle/>
                    <a:p>
                      <a:pPr>
                        <a:lnSpc>
                          <a:spcPct val="115000"/>
                        </a:lnSpc>
                        <a:spcAft>
                          <a:spcPts val="800"/>
                        </a:spcAft>
                      </a:pPr>
                      <a:r>
                        <a:rPr lang="en-IN" sz="1200" kern="100">
                          <a:effectLst/>
                        </a:rPr>
                        <a:t>12</a:t>
                      </a:r>
                      <a:endParaRPr lang="en-IN" sz="1200" kern="100">
                        <a:effectLst/>
                        <a:latin typeface="Aptos" panose="020B0004020202020204" pitchFamily="34" charset="0"/>
                        <a:ea typeface="Aptos" panose="020B0004020202020204" pitchFamily="34" charset="0"/>
                        <a:cs typeface="Times New Roman" panose="02020603050405020304" pitchFamily="18" charset="0"/>
                      </a:endParaRPr>
                    </a:p>
                  </a:txBody>
                  <a:tcPr marL="95250" marR="95250" marT="133350" marB="133350" anchor="ctr"/>
                </a:tc>
                <a:extLst>
                  <a:ext uri="{0D108BD9-81ED-4DB2-BD59-A6C34878D82A}">
                    <a16:rowId xmlns:a16="http://schemas.microsoft.com/office/drawing/2014/main" val="648501092"/>
                  </a:ext>
                </a:extLst>
              </a:tr>
              <a:tr h="309367">
                <a:tc>
                  <a:txBody>
                    <a:bodyPr/>
                    <a:lstStyle/>
                    <a:p>
                      <a:pPr>
                        <a:lnSpc>
                          <a:spcPct val="115000"/>
                        </a:lnSpc>
                        <a:spcAft>
                          <a:spcPts val="800"/>
                        </a:spcAft>
                      </a:pPr>
                      <a:r>
                        <a:rPr lang="en-IN" sz="1200" kern="100">
                          <a:effectLst/>
                        </a:rPr>
                        <a:t>02</a:t>
                      </a:r>
                      <a:endParaRPr lang="en-IN" sz="1200" kern="100">
                        <a:effectLst/>
                        <a:latin typeface="Aptos" panose="020B0004020202020204" pitchFamily="34" charset="0"/>
                        <a:ea typeface="Aptos" panose="020B0004020202020204" pitchFamily="34" charset="0"/>
                        <a:cs typeface="Times New Roman" panose="02020603050405020304" pitchFamily="18" charset="0"/>
                      </a:endParaRPr>
                    </a:p>
                  </a:txBody>
                  <a:tcPr marL="95250" marR="95250" marT="133350" marB="133350" anchor="ctr"/>
                </a:tc>
                <a:tc>
                  <a:txBody>
                    <a:bodyPr/>
                    <a:lstStyle/>
                    <a:p>
                      <a:pPr>
                        <a:lnSpc>
                          <a:spcPct val="115000"/>
                        </a:lnSpc>
                        <a:spcAft>
                          <a:spcPts val="800"/>
                        </a:spcAft>
                      </a:pPr>
                      <a:r>
                        <a:rPr lang="en-IN" sz="1200" kern="100">
                          <a:effectLst/>
                        </a:rPr>
                        <a:t>Dino</a:t>
                      </a:r>
                      <a:endParaRPr lang="en-IN" sz="1200" kern="100">
                        <a:effectLst/>
                        <a:latin typeface="Aptos" panose="020B0004020202020204" pitchFamily="34" charset="0"/>
                        <a:ea typeface="Aptos" panose="020B0004020202020204" pitchFamily="34" charset="0"/>
                        <a:cs typeface="Times New Roman" panose="02020603050405020304" pitchFamily="18" charset="0"/>
                      </a:endParaRPr>
                    </a:p>
                  </a:txBody>
                  <a:tcPr marL="95250" marR="95250" marT="133350" marB="133350" anchor="ctr"/>
                </a:tc>
                <a:tc>
                  <a:txBody>
                    <a:bodyPr/>
                    <a:lstStyle/>
                    <a:p>
                      <a:pPr>
                        <a:lnSpc>
                          <a:spcPct val="115000"/>
                        </a:lnSpc>
                        <a:spcAft>
                          <a:spcPts val="800"/>
                        </a:spcAft>
                      </a:pPr>
                      <a:r>
                        <a:rPr lang="en-IN" sz="1200" kern="100">
                          <a:effectLst/>
                        </a:rPr>
                        <a:t>22</a:t>
                      </a:r>
                      <a:endParaRPr lang="en-IN" sz="1200" kern="100">
                        <a:effectLst/>
                        <a:latin typeface="Aptos" panose="020B0004020202020204" pitchFamily="34" charset="0"/>
                        <a:ea typeface="Aptos" panose="020B0004020202020204" pitchFamily="34" charset="0"/>
                        <a:cs typeface="Times New Roman" panose="02020603050405020304" pitchFamily="18" charset="0"/>
                      </a:endParaRPr>
                    </a:p>
                  </a:txBody>
                  <a:tcPr marL="95250" marR="95250" marT="133350" marB="133350" anchor="ctr"/>
                </a:tc>
                <a:extLst>
                  <a:ext uri="{0D108BD9-81ED-4DB2-BD59-A6C34878D82A}">
                    <a16:rowId xmlns:a16="http://schemas.microsoft.com/office/drawing/2014/main" val="1678979475"/>
                  </a:ext>
                </a:extLst>
              </a:tr>
              <a:tr h="309367">
                <a:tc>
                  <a:txBody>
                    <a:bodyPr/>
                    <a:lstStyle/>
                    <a:p>
                      <a:pPr>
                        <a:lnSpc>
                          <a:spcPct val="115000"/>
                        </a:lnSpc>
                        <a:spcAft>
                          <a:spcPts val="800"/>
                        </a:spcAft>
                      </a:pPr>
                      <a:r>
                        <a:rPr lang="en-IN" sz="1200" kern="100">
                          <a:effectLst/>
                        </a:rPr>
                        <a:t>04</a:t>
                      </a:r>
                      <a:endParaRPr lang="en-IN" sz="1200" kern="100">
                        <a:effectLst/>
                        <a:latin typeface="Aptos" panose="020B0004020202020204" pitchFamily="34" charset="0"/>
                        <a:ea typeface="Aptos" panose="020B0004020202020204" pitchFamily="34" charset="0"/>
                        <a:cs typeface="Times New Roman" panose="02020603050405020304" pitchFamily="18" charset="0"/>
                      </a:endParaRPr>
                    </a:p>
                  </a:txBody>
                  <a:tcPr marL="95250" marR="95250" marT="133350" marB="133350" anchor="ctr"/>
                </a:tc>
                <a:tc>
                  <a:txBody>
                    <a:bodyPr/>
                    <a:lstStyle/>
                    <a:p>
                      <a:pPr>
                        <a:lnSpc>
                          <a:spcPct val="115000"/>
                        </a:lnSpc>
                        <a:spcAft>
                          <a:spcPts val="800"/>
                        </a:spcAft>
                      </a:pPr>
                      <a:r>
                        <a:rPr lang="en-IN" sz="1200" kern="100">
                          <a:effectLst/>
                        </a:rPr>
                        <a:t>Vivian</a:t>
                      </a:r>
                      <a:endParaRPr lang="en-IN" sz="1200" kern="100">
                        <a:effectLst/>
                        <a:latin typeface="Aptos" panose="020B0004020202020204" pitchFamily="34" charset="0"/>
                        <a:ea typeface="Aptos" panose="020B0004020202020204" pitchFamily="34" charset="0"/>
                        <a:cs typeface="Times New Roman" panose="02020603050405020304" pitchFamily="18" charset="0"/>
                      </a:endParaRPr>
                    </a:p>
                  </a:txBody>
                  <a:tcPr marL="95250" marR="95250" marT="133350" marB="133350" anchor="ctr"/>
                </a:tc>
                <a:tc>
                  <a:txBody>
                    <a:bodyPr/>
                    <a:lstStyle/>
                    <a:p>
                      <a:pPr>
                        <a:lnSpc>
                          <a:spcPct val="115000"/>
                        </a:lnSpc>
                        <a:spcAft>
                          <a:spcPts val="800"/>
                        </a:spcAft>
                      </a:pPr>
                      <a:r>
                        <a:rPr lang="en-IN" sz="1200" kern="100" dirty="0">
                          <a:effectLst/>
                        </a:rPr>
                        <a:t>14</a:t>
                      </a:r>
                      <a:endParaRPr lang="en-IN" sz="1200" kern="100" dirty="0">
                        <a:effectLst/>
                        <a:latin typeface="Aptos" panose="020B0004020202020204" pitchFamily="34" charset="0"/>
                        <a:ea typeface="Aptos" panose="020B0004020202020204" pitchFamily="34" charset="0"/>
                        <a:cs typeface="Times New Roman" panose="02020603050405020304" pitchFamily="18" charset="0"/>
                      </a:endParaRPr>
                    </a:p>
                  </a:txBody>
                  <a:tcPr marL="95250" marR="95250" marT="133350" marB="133350" anchor="ctr"/>
                </a:tc>
                <a:extLst>
                  <a:ext uri="{0D108BD9-81ED-4DB2-BD59-A6C34878D82A}">
                    <a16:rowId xmlns:a16="http://schemas.microsoft.com/office/drawing/2014/main" val="827541210"/>
                  </a:ext>
                </a:extLst>
              </a:tr>
            </a:tbl>
          </a:graphicData>
        </a:graphic>
      </p:graphicFrame>
      <p:graphicFrame>
        <p:nvGraphicFramePr>
          <p:cNvPr id="6" name="Table 5">
            <a:extLst>
              <a:ext uri="{FF2B5EF4-FFF2-40B4-BE49-F238E27FC236}">
                <a16:creationId xmlns:a16="http://schemas.microsoft.com/office/drawing/2014/main" id="{ED30B249-BA98-BE01-F701-E479AA0A3C96}"/>
              </a:ext>
            </a:extLst>
          </p:cNvPr>
          <p:cNvGraphicFramePr>
            <a:graphicFrameLocks noGrp="1"/>
          </p:cNvGraphicFramePr>
          <p:nvPr>
            <p:extLst>
              <p:ext uri="{D42A27DB-BD31-4B8C-83A1-F6EECF244321}">
                <p14:modId xmlns:p14="http://schemas.microsoft.com/office/powerpoint/2010/main" val="3937065176"/>
              </p:ext>
            </p:extLst>
          </p:nvPr>
        </p:nvGraphicFramePr>
        <p:xfrm>
          <a:off x="6816080" y="3400539"/>
          <a:ext cx="4105672" cy="1788416"/>
        </p:xfrm>
        <a:graphic>
          <a:graphicData uri="http://schemas.openxmlformats.org/drawingml/2006/table">
            <a:tbl>
              <a:tblPr firstRow="1" firstCol="1" bandRow="1">
                <a:tableStyleId>{5C22544A-7EE6-4342-B048-85BDC9FD1C3A}</a:tableStyleId>
              </a:tblPr>
              <a:tblGrid>
                <a:gridCol w="2052836">
                  <a:extLst>
                    <a:ext uri="{9D8B030D-6E8A-4147-A177-3AD203B41FA5}">
                      <a16:colId xmlns:a16="http://schemas.microsoft.com/office/drawing/2014/main" val="2151038313"/>
                    </a:ext>
                  </a:extLst>
                </a:gridCol>
                <a:gridCol w="2052836">
                  <a:extLst>
                    <a:ext uri="{9D8B030D-6E8A-4147-A177-3AD203B41FA5}">
                      <a16:colId xmlns:a16="http://schemas.microsoft.com/office/drawing/2014/main" val="4087018747"/>
                    </a:ext>
                  </a:extLst>
                </a:gridCol>
              </a:tblGrid>
              <a:tr h="298318">
                <a:tc>
                  <a:txBody>
                    <a:bodyPr/>
                    <a:lstStyle/>
                    <a:p>
                      <a:pPr>
                        <a:lnSpc>
                          <a:spcPct val="115000"/>
                        </a:lnSpc>
                        <a:spcAft>
                          <a:spcPts val="800"/>
                        </a:spcAft>
                      </a:pPr>
                      <a:r>
                        <a:rPr lang="en-IN" sz="1200" kern="100" dirty="0">
                          <a:effectLst/>
                        </a:rPr>
                        <a:t>DNO       </a:t>
                      </a:r>
                      <a:endParaRPr lang="en-IN" sz="1200" kern="100" dirty="0">
                        <a:effectLst/>
                        <a:latin typeface="Aptos" panose="020B0004020202020204" pitchFamily="34" charset="0"/>
                        <a:ea typeface="Aptos" panose="020B0004020202020204" pitchFamily="34" charset="0"/>
                        <a:cs typeface="Times New Roman" panose="02020603050405020304" pitchFamily="18" charset="0"/>
                      </a:endParaRPr>
                    </a:p>
                  </a:txBody>
                  <a:tcPr marL="38100" marR="38100" marT="95250" marB="95250" anchor="b"/>
                </a:tc>
                <a:tc>
                  <a:txBody>
                    <a:bodyPr/>
                    <a:lstStyle/>
                    <a:p>
                      <a:pPr>
                        <a:lnSpc>
                          <a:spcPct val="115000"/>
                        </a:lnSpc>
                        <a:spcAft>
                          <a:spcPts val="800"/>
                        </a:spcAft>
                      </a:pPr>
                      <a:r>
                        <a:rPr lang="en-IN" sz="1200" kern="100">
                          <a:effectLst/>
                        </a:rPr>
                        <a:t>Place          </a:t>
                      </a:r>
                      <a:endParaRPr lang="en-IN" sz="1200" kern="100">
                        <a:effectLst/>
                        <a:latin typeface="Aptos" panose="020B0004020202020204" pitchFamily="34" charset="0"/>
                        <a:ea typeface="Aptos" panose="020B0004020202020204" pitchFamily="34" charset="0"/>
                        <a:cs typeface="Times New Roman" panose="02020603050405020304" pitchFamily="18" charset="0"/>
                      </a:endParaRPr>
                    </a:p>
                  </a:txBody>
                  <a:tcPr marL="95250" marR="95250" marT="95250" marB="95250" anchor="b"/>
                </a:tc>
                <a:extLst>
                  <a:ext uri="{0D108BD9-81ED-4DB2-BD59-A6C34878D82A}">
                    <a16:rowId xmlns:a16="http://schemas.microsoft.com/office/drawing/2014/main" val="3484245215"/>
                  </a:ext>
                </a:extLst>
              </a:tr>
              <a:tr h="356611">
                <a:tc>
                  <a:txBody>
                    <a:bodyPr/>
                    <a:lstStyle/>
                    <a:p>
                      <a:pPr>
                        <a:lnSpc>
                          <a:spcPct val="115000"/>
                        </a:lnSpc>
                        <a:spcAft>
                          <a:spcPts val="800"/>
                        </a:spcAft>
                      </a:pPr>
                      <a:r>
                        <a:rPr lang="en-IN" sz="1200" kern="100">
                          <a:effectLst/>
                        </a:rPr>
                        <a:t>12</a:t>
                      </a:r>
                      <a:endParaRPr lang="en-IN" sz="1200" kern="100">
                        <a:effectLst/>
                        <a:latin typeface="Aptos" panose="020B0004020202020204" pitchFamily="34" charset="0"/>
                        <a:ea typeface="Aptos" panose="020B0004020202020204" pitchFamily="34" charset="0"/>
                        <a:cs typeface="Times New Roman" panose="02020603050405020304" pitchFamily="18" charset="0"/>
                      </a:endParaRPr>
                    </a:p>
                  </a:txBody>
                  <a:tcPr marL="95250" marR="95250" marT="133350" marB="133350" anchor="ctr"/>
                </a:tc>
                <a:tc>
                  <a:txBody>
                    <a:bodyPr/>
                    <a:lstStyle/>
                    <a:p>
                      <a:pPr>
                        <a:lnSpc>
                          <a:spcPct val="115000"/>
                        </a:lnSpc>
                        <a:spcAft>
                          <a:spcPts val="800"/>
                        </a:spcAft>
                      </a:pPr>
                      <a:r>
                        <a:rPr lang="en-IN" sz="1200" kern="100">
                          <a:effectLst/>
                        </a:rPr>
                        <a:t>Jaipur</a:t>
                      </a:r>
                      <a:endParaRPr lang="en-IN" sz="1200" kern="100">
                        <a:effectLst/>
                        <a:latin typeface="Aptos" panose="020B0004020202020204" pitchFamily="34" charset="0"/>
                        <a:ea typeface="Aptos" panose="020B0004020202020204" pitchFamily="34" charset="0"/>
                        <a:cs typeface="Times New Roman" panose="02020603050405020304" pitchFamily="18" charset="0"/>
                      </a:endParaRPr>
                    </a:p>
                  </a:txBody>
                  <a:tcPr marL="95250" marR="95250" marT="133350" marB="133350" anchor="ctr"/>
                </a:tc>
                <a:extLst>
                  <a:ext uri="{0D108BD9-81ED-4DB2-BD59-A6C34878D82A}">
                    <a16:rowId xmlns:a16="http://schemas.microsoft.com/office/drawing/2014/main" val="1464891177"/>
                  </a:ext>
                </a:extLst>
              </a:tr>
              <a:tr h="356611">
                <a:tc>
                  <a:txBody>
                    <a:bodyPr/>
                    <a:lstStyle/>
                    <a:p>
                      <a:pPr>
                        <a:lnSpc>
                          <a:spcPct val="115000"/>
                        </a:lnSpc>
                        <a:spcAft>
                          <a:spcPts val="800"/>
                        </a:spcAft>
                      </a:pPr>
                      <a:r>
                        <a:rPr lang="en-IN" sz="1200" kern="100">
                          <a:effectLst/>
                        </a:rPr>
                        <a:t>13</a:t>
                      </a:r>
                      <a:endParaRPr lang="en-IN" sz="1200" kern="100">
                        <a:effectLst/>
                        <a:latin typeface="Aptos" panose="020B0004020202020204" pitchFamily="34" charset="0"/>
                        <a:ea typeface="Aptos" panose="020B0004020202020204" pitchFamily="34" charset="0"/>
                        <a:cs typeface="Times New Roman" panose="02020603050405020304" pitchFamily="18" charset="0"/>
                      </a:endParaRPr>
                    </a:p>
                  </a:txBody>
                  <a:tcPr marL="95250" marR="95250" marT="133350" marB="133350" anchor="ctr"/>
                </a:tc>
                <a:tc>
                  <a:txBody>
                    <a:bodyPr/>
                    <a:lstStyle/>
                    <a:p>
                      <a:pPr>
                        <a:lnSpc>
                          <a:spcPct val="115000"/>
                        </a:lnSpc>
                        <a:spcAft>
                          <a:spcPts val="800"/>
                        </a:spcAft>
                      </a:pPr>
                      <a:r>
                        <a:rPr lang="en-IN" sz="1200" kern="100">
                          <a:effectLst/>
                        </a:rPr>
                        <a:t>Mumbai</a:t>
                      </a:r>
                      <a:endParaRPr lang="en-IN" sz="1200" kern="100">
                        <a:effectLst/>
                        <a:latin typeface="Aptos" panose="020B0004020202020204" pitchFamily="34" charset="0"/>
                        <a:ea typeface="Aptos" panose="020B0004020202020204" pitchFamily="34" charset="0"/>
                        <a:cs typeface="Times New Roman" panose="02020603050405020304" pitchFamily="18" charset="0"/>
                      </a:endParaRPr>
                    </a:p>
                  </a:txBody>
                  <a:tcPr marL="95250" marR="95250" marT="133350" marB="133350" anchor="ctr"/>
                </a:tc>
                <a:extLst>
                  <a:ext uri="{0D108BD9-81ED-4DB2-BD59-A6C34878D82A}">
                    <a16:rowId xmlns:a16="http://schemas.microsoft.com/office/drawing/2014/main" val="4131271420"/>
                  </a:ext>
                </a:extLst>
              </a:tr>
              <a:tr h="356611">
                <a:tc>
                  <a:txBody>
                    <a:bodyPr/>
                    <a:lstStyle/>
                    <a:p>
                      <a:pPr>
                        <a:lnSpc>
                          <a:spcPct val="115000"/>
                        </a:lnSpc>
                        <a:spcAft>
                          <a:spcPts val="800"/>
                        </a:spcAft>
                      </a:pPr>
                      <a:r>
                        <a:rPr lang="en-IN" sz="1200" kern="100">
                          <a:effectLst/>
                        </a:rPr>
                        <a:t>14</a:t>
                      </a:r>
                      <a:endParaRPr lang="en-IN" sz="1200" kern="100">
                        <a:effectLst/>
                        <a:latin typeface="Aptos" panose="020B0004020202020204" pitchFamily="34" charset="0"/>
                        <a:ea typeface="Aptos" panose="020B0004020202020204" pitchFamily="34" charset="0"/>
                        <a:cs typeface="Times New Roman" panose="02020603050405020304" pitchFamily="18" charset="0"/>
                      </a:endParaRPr>
                    </a:p>
                  </a:txBody>
                  <a:tcPr marL="95250" marR="95250" marT="133350" marB="133350" anchor="ctr"/>
                </a:tc>
                <a:tc>
                  <a:txBody>
                    <a:bodyPr/>
                    <a:lstStyle/>
                    <a:p>
                      <a:pPr>
                        <a:lnSpc>
                          <a:spcPct val="115000"/>
                        </a:lnSpc>
                        <a:spcAft>
                          <a:spcPts val="800"/>
                        </a:spcAft>
                      </a:pPr>
                      <a:r>
                        <a:rPr lang="en-IN" sz="1200" kern="100" dirty="0">
                          <a:effectLst/>
                        </a:rPr>
                        <a:t>Delhi</a:t>
                      </a:r>
                      <a:endParaRPr lang="en-IN" sz="1200" kern="100" dirty="0">
                        <a:effectLst/>
                        <a:latin typeface="Aptos" panose="020B0004020202020204" pitchFamily="34" charset="0"/>
                        <a:ea typeface="Aptos" panose="020B0004020202020204" pitchFamily="34" charset="0"/>
                        <a:cs typeface="Times New Roman" panose="02020603050405020304" pitchFamily="18" charset="0"/>
                      </a:endParaRPr>
                    </a:p>
                  </a:txBody>
                  <a:tcPr marL="95250" marR="95250" marT="133350" marB="133350" anchor="ctr"/>
                </a:tc>
                <a:extLst>
                  <a:ext uri="{0D108BD9-81ED-4DB2-BD59-A6C34878D82A}">
                    <a16:rowId xmlns:a16="http://schemas.microsoft.com/office/drawing/2014/main" val="800290382"/>
                  </a:ext>
                </a:extLst>
              </a:tr>
            </a:tbl>
          </a:graphicData>
        </a:graphic>
      </p:graphicFrame>
      <p:sp>
        <p:nvSpPr>
          <p:cNvPr id="8" name="TextBox 7">
            <a:extLst>
              <a:ext uri="{FF2B5EF4-FFF2-40B4-BE49-F238E27FC236}">
                <a16:creationId xmlns:a16="http://schemas.microsoft.com/office/drawing/2014/main" id="{BB3B5C36-3A42-4693-7BD1-9615AEB86737}"/>
              </a:ext>
            </a:extLst>
          </p:cNvPr>
          <p:cNvSpPr txBox="1"/>
          <p:nvPr/>
        </p:nvSpPr>
        <p:spPr>
          <a:xfrm>
            <a:off x="895264" y="5229695"/>
            <a:ext cx="11268000" cy="923330"/>
          </a:xfrm>
          <a:prstGeom prst="rect">
            <a:avLst/>
          </a:prstGeom>
          <a:noFill/>
        </p:spPr>
        <p:txBody>
          <a:bodyPr wrap="square">
            <a:spAutoFit/>
          </a:bodyPr>
          <a:lstStyle/>
          <a:p>
            <a:r>
              <a:rPr lang="en-IN" sz="1800" dirty="0">
                <a:effectLst/>
                <a:latin typeface="Roboto Medium" panose="02000000000000000000" pitchFamily="2" charset="0"/>
                <a:ea typeface="Roboto Medium" panose="02000000000000000000" pitchFamily="2" charset="0"/>
                <a:cs typeface="Roboto Medium" panose="02000000000000000000" pitchFamily="2" charset="0"/>
              </a:rPr>
              <a:t>In the above tables, the DNO of Table 1 is the foreign key, and DNO in Table 2 is the primary key. DNO = 22 in the foreign key of Table 1 is not allowed because DNO = 22 is not defined in the primary key of table 2. </a:t>
            </a:r>
          </a:p>
          <a:p>
            <a:r>
              <a:rPr lang="en-IN" sz="1800" dirty="0">
                <a:effectLst/>
                <a:latin typeface="Roboto Medium" panose="02000000000000000000" pitchFamily="2" charset="0"/>
                <a:ea typeface="Roboto Medium" panose="02000000000000000000" pitchFamily="2" charset="0"/>
                <a:cs typeface="Roboto Medium" panose="02000000000000000000" pitchFamily="2" charset="0"/>
              </a:rPr>
              <a:t>Therefore, Referential integrity constraints are violated here.</a:t>
            </a:r>
            <a:endParaRPr lang="en-IN" dirty="0">
              <a:latin typeface="Roboto Medium" panose="02000000000000000000" pitchFamily="2" charset="0"/>
              <a:ea typeface="Roboto Medium" panose="02000000000000000000" pitchFamily="2" charset="0"/>
              <a:cs typeface="Roboto Medium" panose="02000000000000000000" pitchFamily="2" charset="0"/>
            </a:endParaRPr>
          </a:p>
        </p:txBody>
      </p:sp>
    </p:spTree>
    <p:extLst>
      <p:ext uri="{BB962C8B-B14F-4D97-AF65-F5344CB8AC3E}">
        <p14:creationId xmlns:p14="http://schemas.microsoft.com/office/powerpoint/2010/main" val="3775558921"/>
      </p:ext>
    </p:extLst>
  </p:cSld>
  <p:clrMapOvr>
    <a:masterClrMapping/>
  </p:clrMapOvr>
</p:sld>
</file>

<file path=ppt/slides/slide17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4A7778D-90C2-B1CB-8F80-CC14A0C4EBA0}"/>
            </a:ext>
          </a:extLst>
        </p:cNvPr>
        <p:cNvGrpSpPr/>
        <p:nvPr/>
      </p:nvGrpSpPr>
      <p:grpSpPr>
        <a:xfrm>
          <a:off x="0" y="0"/>
          <a:ext cx="0" cy="0"/>
          <a:chOff x="0" y="0"/>
          <a:chExt cx="0" cy="0"/>
        </a:xfrm>
      </p:grpSpPr>
      <p:sp>
        <p:nvSpPr>
          <p:cNvPr id="2" name="Slide Number Placeholder 1">
            <a:extLst>
              <a:ext uri="{FF2B5EF4-FFF2-40B4-BE49-F238E27FC236}">
                <a16:creationId xmlns:a16="http://schemas.microsoft.com/office/drawing/2014/main" id="{116FDBA6-9646-EC18-6971-E6498767AD13}"/>
              </a:ext>
            </a:extLst>
          </p:cNvPr>
          <p:cNvSpPr>
            <a:spLocks noGrp="1"/>
          </p:cNvSpPr>
          <p:nvPr>
            <p:ph type="sldNum" sz="quarter" idx="14"/>
          </p:nvPr>
        </p:nvSpPr>
        <p:spPr/>
        <p:txBody>
          <a:bodyPr/>
          <a:lstStyle/>
          <a:p>
            <a:fld id="{45A3C14A-F937-4231-B6F1-40B429FAFB2F}" type="slidenum">
              <a:rPr lang="en-NZ" smtClean="0"/>
              <a:pPr/>
              <a:t>173</a:t>
            </a:fld>
            <a:endParaRPr lang="en-NZ" dirty="0"/>
          </a:p>
        </p:txBody>
      </p:sp>
      <p:sp>
        <p:nvSpPr>
          <p:cNvPr id="3" name="Title 2">
            <a:extLst>
              <a:ext uri="{FF2B5EF4-FFF2-40B4-BE49-F238E27FC236}">
                <a16:creationId xmlns:a16="http://schemas.microsoft.com/office/drawing/2014/main" id="{DD305E20-45BE-8772-456E-6B7EE6FED50E}"/>
              </a:ext>
            </a:extLst>
          </p:cNvPr>
          <p:cNvSpPr>
            <a:spLocks noGrp="1"/>
          </p:cNvSpPr>
          <p:nvPr>
            <p:ph type="title"/>
          </p:nvPr>
        </p:nvSpPr>
        <p:spPr/>
        <p:txBody>
          <a:bodyPr/>
          <a:lstStyle/>
          <a:p>
            <a:br>
              <a:rPr lang="en-US" b="1" dirty="0"/>
            </a:br>
            <a:endParaRPr lang="en-US" b="1" dirty="0"/>
          </a:p>
        </p:txBody>
      </p:sp>
      <p:sp>
        <p:nvSpPr>
          <p:cNvPr id="4" name="Text Placeholder 3">
            <a:extLst>
              <a:ext uri="{FF2B5EF4-FFF2-40B4-BE49-F238E27FC236}">
                <a16:creationId xmlns:a16="http://schemas.microsoft.com/office/drawing/2014/main" id="{7FAE0458-8398-16A7-47FB-1D8898CF3198}"/>
              </a:ext>
            </a:extLst>
          </p:cNvPr>
          <p:cNvSpPr>
            <a:spLocks noGrp="1"/>
          </p:cNvSpPr>
          <p:nvPr>
            <p:ph type="body" sz="quarter" idx="17"/>
          </p:nvPr>
        </p:nvSpPr>
        <p:spPr>
          <a:xfrm>
            <a:off x="407368" y="476672"/>
            <a:ext cx="10801201" cy="4320480"/>
          </a:xfrm>
        </p:spPr>
        <p:txBody>
          <a:bodyPr/>
          <a:lstStyle/>
          <a:p>
            <a:pPr marL="0" indent="0">
              <a:buNone/>
            </a:pPr>
            <a:endParaRPr lang="en-US" dirty="0"/>
          </a:p>
          <a:p>
            <a:pPr marL="0" indent="0">
              <a:buNone/>
            </a:pPr>
            <a:endParaRPr lang="en-US" dirty="0"/>
          </a:p>
          <a:p>
            <a:pPr marL="0" indent="0">
              <a:buNone/>
            </a:pPr>
            <a:endParaRPr lang="en-US" dirty="0"/>
          </a:p>
          <a:p>
            <a:pPr marL="0" indent="0">
              <a:buNone/>
            </a:pPr>
            <a:endParaRPr lang="en-US" dirty="0"/>
          </a:p>
          <a:p>
            <a:pPr marL="0" indent="0" algn="ctr">
              <a:buNone/>
            </a:pPr>
            <a:r>
              <a:rPr lang="en-US" sz="9600" dirty="0"/>
              <a:t>THANK YOU</a:t>
            </a:r>
          </a:p>
        </p:txBody>
      </p:sp>
    </p:spTree>
    <p:extLst>
      <p:ext uri="{BB962C8B-B14F-4D97-AF65-F5344CB8AC3E}">
        <p14:creationId xmlns:p14="http://schemas.microsoft.com/office/powerpoint/2010/main" val="4220088557"/>
      </p:ext>
    </p:extLst>
  </p:cSld>
  <p:clrMapOvr>
    <a:masterClrMapping/>
  </p:clrMapOvr>
</p:sld>
</file>

<file path=ppt/theme/theme1.xml><?xml version="1.0" encoding="utf-8"?>
<a:theme xmlns:a="http://schemas.openxmlformats.org/drawingml/2006/main" name="REVA Powerpoint Template - NEW">
  <a:themeElements>
    <a:clrScheme name="Lexus 3">
      <a:dk1>
        <a:srgbClr val="000000"/>
      </a:dk1>
      <a:lt1>
        <a:srgbClr val="FFFFFF"/>
      </a:lt1>
      <a:dk2>
        <a:srgbClr val="44546A"/>
      </a:dk2>
      <a:lt2>
        <a:srgbClr val="E7E6E6"/>
      </a:lt2>
      <a:accent1>
        <a:srgbClr val="5B9BD5"/>
      </a:accent1>
      <a:accent2>
        <a:srgbClr val="0082B2"/>
      </a:accent2>
      <a:accent3>
        <a:srgbClr val="70AD47"/>
      </a:accent3>
      <a:accent4>
        <a:srgbClr val="A8B654"/>
      </a:accent4>
      <a:accent5>
        <a:srgbClr val="F8F8AD"/>
      </a:accent5>
      <a:accent6>
        <a:srgbClr val="CAB6D8"/>
      </a:accent6>
      <a:hlink>
        <a:srgbClr val="48367D"/>
      </a:hlink>
      <a:folHlink>
        <a:srgbClr val="A5A5A5"/>
      </a:folHlink>
    </a:clrScheme>
    <a:fontScheme name="ユーザー定義 1">
      <a:majorFont>
        <a:latin typeface="Nobel-Book"/>
        <a:ea typeface="レクサスロダン Pro L"/>
        <a:cs typeface=""/>
      </a:majorFont>
      <a:minorFont>
        <a:latin typeface="Nobel-Book"/>
        <a:ea typeface="レクサスロダン Pro L"/>
        <a:cs typeface=""/>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hiroko_LI master PPT template vs6_17 May" id="{612B838A-5E32-418B-B7C4-7EB4F3A298E7}" vid="{DD7C752D-2EC0-456A-A201-074024275761}"/>
    </a:ext>
  </a:extLst>
</a:theme>
</file>

<file path=ppt/theme/theme2.xml><?xml version="1.0" encoding="utf-8"?>
<a:theme xmlns:a="http://schemas.openxmlformats.org/drawingml/2006/main" name="Agenda">
  <a:themeElements>
    <a:clrScheme name="Lexus 3">
      <a:dk1>
        <a:srgbClr val="000000"/>
      </a:dk1>
      <a:lt1>
        <a:srgbClr val="FFFFFF"/>
      </a:lt1>
      <a:dk2>
        <a:srgbClr val="44546A"/>
      </a:dk2>
      <a:lt2>
        <a:srgbClr val="E7E6E6"/>
      </a:lt2>
      <a:accent1>
        <a:srgbClr val="5B9BD5"/>
      </a:accent1>
      <a:accent2>
        <a:srgbClr val="0082B2"/>
      </a:accent2>
      <a:accent3>
        <a:srgbClr val="70AD47"/>
      </a:accent3>
      <a:accent4>
        <a:srgbClr val="A8B654"/>
      </a:accent4>
      <a:accent5>
        <a:srgbClr val="F8F8AD"/>
      </a:accent5>
      <a:accent6>
        <a:srgbClr val="CAB6D8"/>
      </a:accent6>
      <a:hlink>
        <a:srgbClr val="48367D"/>
      </a:hlink>
      <a:folHlink>
        <a:srgbClr val="A5A5A5"/>
      </a:folHlink>
    </a:clrScheme>
    <a:fontScheme name="ユーザー定義 1">
      <a:majorFont>
        <a:latin typeface="Nobel-Book"/>
        <a:ea typeface="レクサスロダン Pro L"/>
        <a:cs typeface=""/>
      </a:majorFont>
      <a:minorFont>
        <a:latin typeface="Nobel-Book"/>
        <a:ea typeface="レクサスロダン Pro L"/>
        <a:cs typeface=""/>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3.xml><?xml version="1.0" encoding="utf-8"?>
<a:theme xmlns:a="http://schemas.openxmlformats.org/drawingml/2006/main" name="Divider">
  <a:themeElements>
    <a:clrScheme name="Lexus 3">
      <a:dk1>
        <a:srgbClr val="000000"/>
      </a:dk1>
      <a:lt1>
        <a:srgbClr val="FFFFFF"/>
      </a:lt1>
      <a:dk2>
        <a:srgbClr val="44546A"/>
      </a:dk2>
      <a:lt2>
        <a:srgbClr val="E7E6E6"/>
      </a:lt2>
      <a:accent1>
        <a:srgbClr val="5B9BD5"/>
      </a:accent1>
      <a:accent2>
        <a:srgbClr val="0082B2"/>
      </a:accent2>
      <a:accent3>
        <a:srgbClr val="70AD47"/>
      </a:accent3>
      <a:accent4>
        <a:srgbClr val="A8B654"/>
      </a:accent4>
      <a:accent5>
        <a:srgbClr val="F8F8AD"/>
      </a:accent5>
      <a:accent6>
        <a:srgbClr val="CAB6D8"/>
      </a:accent6>
      <a:hlink>
        <a:srgbClr val="48367D"/>
      </a:hlink>
      <a:folHlink>
        <a:srgbClr val="A5A5A5"/>
      </a:folHlink>
    </a:clrScheme>
    <a:fontScheme name="ユーザー定義 1">
      <a:majorFont>
        <a:latin typeface="Nobel-Book"/>
        <a:ea typeface="レクサスロダン Pro L"/>
        <a:cs typeface=""/>
      </a:majorFont>
      <a:minorFont>
        <a:latin typeface="Nobel-Book"/>
        <a:ea typeface="レクサスロダン Pro L"/>
        <a:cs typeface=""/>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4.xml><?xml version="1.0" encoding="utf-8"?>
<a:theme xmlns:a="http://schemas.openxmlformats.org/drawingml/2006/main" name="Media / Video Slide">
  <a:themeElements>
    <a:clrScheme name="Lexus 3">
      <a:dk1>
        <a:srgbClr val="000000"/>
      </a:dk1>
      <a:lt1>
        <a:srgbClr val="FFFFFF"/>
      </a:lt1>
      <a:dk2>
        <a:srgbClr val="44546A"/>
      </a:dk2>
      <a:lt2>
        <a:srgbClr val="E7E6E6"/>
      </a:lt2>
      <a:accent1>
        <a:srgbClr val="5B9BD5"/>
      </a:accent1>
      <a:accent2>
        <a:srgbClr val="0082B2"/>
      </a:accent2>
      <a:accent3>
        <a:srgbClr val="70AD47"/>
      </a:accent3>
      <a:accent4>
        <a:srgbClr val="A8B654"/>
      </a:accent4>
      <a:accent5>
        <a:srgbClr val="F8F8AD"/>
      </a:accent5>
      <a:accent6>
        <a:srgbClr val="CAB6D8"/>
      </a:accent6>
      <a:hlink>
        <a:srgbClr val="48367D"/>
      </a:hlink>
      <a:folHlink>
        <a:srgbClr val="A5A5A5"/>
      </a:folHlink>
    </a:clrScheme>
    <a:fontScheme name="ユーザー定義 1">
      <a:majorFont>
        <a:latin typeface="Nobel-Book"/>
        <a:ea typeface="レクサスロダン Pro L"/>
        <a:cs typeface=""/>
      </a:majorFont>
      <a:minorFont>
        <a:latin typeface="Nobel-Book"/>
        <a:ea typeface="レクサスロダン Pro L"/>
        <a:cs typeface=""/>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5.xml><?xml version="1.0" encoding="utf-8"?>
<a:theme xmlns:a="http://schemas.openxmlformats.org/drawingml/2006/main" name="Copy Slides">
  <a:themeElements>
    <a:clrScheme name="Lexus 3">
      <a:dk1>
        <a:srgbClr val="000000"/>
      </a:dk1>
      <a:lt1>
        <a:srgbClr val="FFFFFF"/>
      </a:lt1>
      <a:dk2>
        <a:srgbClr val="44546A"/>
      </a:dk2>
      <a:lt2>
        <a:srgbClr val="E7E6E6"/>
      </a:lt2>
      <a:accent1>
        <a:srgbClr val="5B9BD5"/>
      </a:accent1>
      <a:accent2>
        <a:srgbClr val="0082B2"/>
      </a:accent2>
      <a:accent3>
        <a:srgbClr val="70AD47"/>
      </a:accent3>
      <a:accent4>
        <a:srgbClr val="A8B654"/>
      </a:accent4>
      <a:accent5>
        <a:srgbClr val="F8F8AD"/>
      </a:accent5>
      <a:accent6>
        <a:srgbClr val="CAB6D8"/>
      </a:accent6>
      <a:hlink>
        <a:srgbClr val="48367D"/>
      </a:hlink>
      <a:folHlink>
        <a:srgbClr val="A5A5A5"/>
      </a:folHlink>
    </a:clrScheme>
    <a:fontScheme name="ユーザー定義 1">
      <a:majorFont>
        <a:latin typeface="Nobel-Book"/>
        <a:ea typeface="レクサスロダン Pro L"/>
        <a:cs typeface=""/>
      </a:majorFont>
      <a:minorFont>
        <a:latin typeface="Nobel-Book"/>
        <a:ea typeface="レクサスロダン Pro L"/>
        <a:cs typeface=""/>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6.xml><?xml version="1.0" encoding="utf-8"?>
<a:theme xmlns:a="http://schemas.openxmlformats.org/drawingml/2006/main" name="Copy and Image">
  <a:themeElements>
    <a:clrScheme name="Lexus 3">
      <a:dk1>
        <a:srgbClr val="000000"/>
      </a:dk1>
      <a:lt1>
        <a:srgbClr val="FFFFFF"/>
      </a:lt1>
      <a:dk2>
        <a:srgbClr val="44546A"/>
      </a:dk2>
      <a:lt2>
        <a:srgbClr val="E7E6E6"/>
      </a:lt2>
      <a:accent1>
        <a:srgbClr val="5B9BD5"/>
      </a:accent1>
      <a:accent2>
        <a:srgbClr val="0082B2"/>
      </a:accent2>
      <a:accent3>
        <a:srgbClr val="70AD47"/>
      </a:accent3>
      <a:accent4>
        <a:srgbClr val="A8B654"/>
      </a:accent4>
      <a:accent5>
        <a:srgbClr val="F8F8AD"/>
      </a:accent5>
      <a:accent6>
        <a:srgbClr val="CAB6D8"/>
      </a:accent6>
      <a:hlink>
        <a:srgbClr val="48367D"/>
      </a:hlink>
      <a:folHlink>
        <a:srgbClr val="A5A5A5"/>
      </a:folHlink>
    </a:clrScheme>
    <a:fontScheme name="ユーザー定義 1">
      <a:majorFont>
        <a:latin typeface="Nobel-Book"/>
        <a:ea typeface="レクサスロダン Pro L"/>
        <a:cs typeface=""/>
      </a:majorFont>
      <a:minorFont>
        <a:latin typeface="Nobel-Book"/>
        <a:ea typeface="レクサスロダン Pro L"/>
        <a:cs typeface=""/>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7.xml><?xml version="1.0" encoding="utf-8"?>
<a:theme xmlns:a="http://schemas.openxmlformats.org/drawingml/2006/main" name="Table &amp; Graphs Slide">
  <a:themeElements>
    <a:clrScheme name="Lexus 3">
      <a:dk1>
        <a:srgbClr val="000000"/>
      </a:dk1>
      <a:lt1>
        <a:srgbClr val="FFFFFF"/>
      </a:lt1>
      <a:dk2>
        <a:srgbClr val="44546A"/>
      </a:dk2>
      <a:lt2>
        <a:srgbClr val="E7E6E6"/>
      </a:lt2>
      <a:accent1>
        <a:srgbClr val="5B9BD5"/>
      </a:accent1>
      <a:accent2>
        <a:srgbClr val="0082B2"/>
      </a:accent2>
      <a:accent3>
        <a:srgbClr val="70AD47"/>
      </a:accent3>
      <a:accent4>
        <a:srgbClr val="A8B654"/>
      </a:accent4>
      <a:accent5>
        <a:srgbClr val="F8F8AD"/>
      </a:accent5>
      <a:accent6>
        <a:srgbClr val="CAB6D8"/>
      </a:accent6>
      <a:hlink>
        <a:srgbClr val="48367D"/>
      </a:hlink>
      <a:folHlink>
        <a:srgbClr val="A5A5A5"/>
      </a:folHlink>
    </a:clrScheme>
    <a:fontScheme name="ユーザー定義 1">
      <a:majorFont>
        <a:latin typeface="Nobel-Book"/>
        <a:ea typeface="レクサスロダン Pro L"/>
        <a:cs typeface=""/>
      </a:majorFont>
      <a:minorFont>
        <a:latin typeface="Nobel-Book"/>
        <a:ea typeface="レクサスロダン Pro L"/>
        <a:cs typeface=""/>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8.xml><?xml version="1.0" encoding="utf-8"?>
<a:theme xmlns:a="http://schemas.openxmlformats.org/drawingml/2006/main" name="Flow Slides">
  <a:themeElements>
    <a:clrScheme name="Lexus 3">
      <a:dk1>
        <a:srgbClr val="000000"/>
      </a:dk1>
      <a:lt1>
        <a:srgbClr val="FFFFFF"/>
      </a:lt1>
      <a:dk2>
        <a:srgbClr val="44546A"/>
      </a:dk2>
      <a:lt2>
        <a:srgbClr val="E7E6E6"/>
      </a:lt2>
      <a:accent1>
        <a:srgbClr val="5B9BD5"/>
      </a:accent1>
      <a:accent2>
        <a:srgbClr val="0082B2"/>
      </a:accent2>
      <a:accent3>
        <a:srgbClr val="70AD47"/>
      </a:accent3>
      <a:accent4>
        <a:srgbClr val="A8B654"/>
      </a:accent4>
      <a:accent5>
        <a:srgbClr val="F8F8AD"/>
      </a:accent5>
      <a:accent6>
        <a:srgbClr val="CAB6D8"/>
      </a:accent6>
      <a:hlink>
        <a:srgbClr val="48367D"/>
      </a:hlink>
      <a:folHlink>
        <a:srgbClr val="A5A5A5"/>
      </a:folHlink>
    </a:clrScheme>
    <a:fontScheme name="ユーザー定義 1">
      <a:majorFont>
        <a:latin typeface="Nobel-Book"/>
        <a:ea typeface="レクサスロダン Pro L"/>
        <a:cs typeface=""/>
      </a:majorFont>
      <a:minorFont>
        <a:latin typeface="Nobel-Book"/>
        <a:ea typeface="レクサスロダン Pro L"/>
        <a:cs typeface=""/>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9.xml><?xml version="1.0" encoding="utf-8"?>
<a:theme xmlns:a="http://schemas.openxmlformats.org/drawingml/2006/main" name="Thank You ">
  <a:themeElements>
    <a:clrScheme name="Lexus 3">
      <a:dk1>
        <a:srgbClr val="000000"/>
      </a:dk1>
      <a:lt1>
        <a:srgbClr val="FFFFFF"/>
      </a:lt1>
      <a:dk2>
        <a:srgbClr val="44546A"/>
      </a:dk2>
      <a:lt2>
        <a:srgbClr val="E7E6E6"/>
      </a:lt2>
      <a:accent1>
        <a:srgbClr val="5B9BD5"/>
      </a:accent1>
      <a:accent2>
        <a:srgbClr val="0082B2"/>
      </a:accent2>
      <a:accent3>
        <a:srgbClr val="70AD47"/>
      </a:accent3>
      <a:accent4>
        <a:srgbClr val="A8B654"/>
      </a:accent4>
      <a:accent5>
        <a:srgbClr val="F8F8AD"/>
      </a:accent5>
      <a:accent6>
        <a:srgbClr val="CAB6D8"/>
      </a:accent6>
      <a:hlink>
        <a:srgbClr val="48367D"/>
      </a:hlink>
      <a:folHlink>
        <a:srgbClr val="A5A5A5"/>
      </a:folHlink>
    </a:clrScheme>
    <a:fontScheme name="ユーザー定義 1">
      <a:majorFont>
        <a:latin typeface="Nobel-Book"/>
        <a:ea typeface="レクサスロダン Pro L"/>
        <a:cs typeface=""/>
      </a:majorFont>
      <a:minorFont>
        <a:latin typeface="Nobel-Book"/>
        <a:ea typeface="レクサスロダン Pro L"/>
        <a:cs typeface=""/>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10.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MSP_Nobel">
      <a:majorFont>
        <a:latin typeface="Nobel-Book"/>
        <a:ea typeface="ＭＳ Ｐゴシック"/>
        <a:cs typeface=""/>
      </a:majorFont>
      <a:minorFont>
        <a:latin typeface="Nobel-Book"/>
        <a:ea typeface="ＭＳ Ｐゴシック"/>
        <a:cs typeface=""/>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1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MSP_Nobel">
      <a:majorFont>
        <a:latin typeface="Nobel-Book"/>
        <a:ea typeface="ＭＳ Ｐゴシック"/>
        <a:cs typeface=""/>
      </a:majorFont>
      <a:minorFont>
        <a:latin typeface="Nobel-Book"/>
        <a:ea typeface="ＭＳ Ｐゴシック"/>
        <a:cs typeface=""/>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Override1.xml><?xml version="1.0" encoding="utf-8"?>
<a:themeOverride xmlns:a="http://schemas.openxmlformats.org/drawingml/2006/main">
  <a:clrScheme name="Lexus 3">
    <a:dk1>
      <a:srgbClr val="000000"/>
    </a:dk1>
    <a:lt1>
      <a:srgbClr val="FFFFFF"/>
    </a:lt1>
    <a:dk2>
      <a:srgbClr val="44546A"/>
    </a:dk2>
    <a:lt2>
      <a:srgbClr val="E7E6E6"/>
    </a:lt2>
    <a:accent1>
      <a:srgbClr val="5B9BD5"/>
    </a:accent1>
    <a:accent2>
      <a:srgbClr val="0082B2"/>
    </a:accent2>
    <a:accent3>
      <a:srgbClr val="70AD47"/>
    </a:accent3>
    <a:accent4>
      <a:srgbClr val="A8B654"/>
    </a:accent4>
    <a:accent5>
      <a:srgbClr val="F8F8AD"/>
    </a:accent5>
    <a:accent6>
      <a:srgbClr val="CAB6D8"/>
    </a:accent6>
    <a:hlink>
      <a:srgbClr val="48367D"/>
    </a:hlink>
    <a:folHlink>
      <a:srgbClr val="A5A5A5"/>
    </a:folHlink>
  </a:clrScheme>
</a:themeOverride>
</file>

<file path=ppt/theme/themeOverride2.xml><?xml version="1.0" encoding="utf-8"?>
<a:themeOverride xmlns:a="http://schemas.openxmlformats.org/drawingml/2006/main">
  <a:clrScheme name="Lexus 3">
    <a:dk1>
      <a:srgbClr val="000000"/>
    </a:dk1>
    <a:lt1>
      <a:srgbClr val="FFFFFF"/>
    </a:lt1>
    <a:dk2>
      <a:srgbClr val="44546A"/>
    </a:dk2>
    <a:lt2>
      <a:srgbClr val="E7E6E6"/>
    </a:lt2>
    <a:accent1>
      <a:srgbClr val="5B9BD5"/>
    </a:accent1>
    <a:accent2>
      <a:srgbClr val="0082B2"/>
    </a:accent2>
    <a:accent3>
      <a:srgbClr val="70AD47"/>
    </a:accent3>
    <a:accent4>
      <a:srgbClr val="A8B654"/>
    </a:accent4>
    <a:accent5>
      <a:srgbClr val="F8F8AD"/>
    </a:accent5>
    <a:accent6>
      <a:srgbClr val="CAB6D8"/>
    </a:accent6>
    <a:hlink>
      <a:srgbClr val="48367D"/>
    </a:hlink>
    <a:folHlink>
      <a:srgbClr val="A5A5A5"/>
    </a:folHlink>
  </a:clrScheme>
</a:themeOverride>
</file>

<file path=customXml/_rels/item1.xml.rels><?xml version="1.0" encoding="UTF-8" standalone="yes"?>
<Relationships xmlns="http://schemas.openxmlformats.org/package/2006/relationships"><Relationship Id="rId1" Type="http://schemas.openxmlformats.org/officeDocument/2006/relationships/customXmlProps" Target="itemProps1.xml"/></Relationships>
</file>

<file path=customXml/_rels/item2.xml.rels><?xml version="1.0" encoding="UTF-8" standalone="yes"?>
<Relationships xmlns="http://schemas.openxmlformats.org/package/2006/relationships"><Relationship Id="rId1" Type="http://schemas.openxmlformats.org/officeDocument/2006/relationships/customXmlProps" Target="itemProps2.xml"/></Relationships>
</file>

<file path=customXml/_rels/item3.xml.rels><?xml version="1.0" encoding="UTF-8" standalone="yes"?>
<Relationships xmlns="http://schemas.openxmlformats.org/package/2006/relationships"><Relationship Id="rId1" Type="http://schemas.openxmlformats.org/officeDocument/2006/relationships/customXmlProps" Target="itemProps3.xml"/></Relationships>
</file>

<file path=customXml/item1.xml><?xml version="1.0" encoding="utf-8"?>
<p:properties xmlns:p="http://schemas.microsoft.com/office/2006/metadata/properties" xmlns:xsi="http://www.w3.org/2001/XMLSchema-instance" xmlns:pc="http://schemas.microsoft.com/office/infopath/2007/PartnerControls">
  <documentManagement/>
</p:properties>
</file>

<file path=customXml/item2.xml><?xml version="1.0" encoding="utf-8"?>
<ct:contentTypeSchema xmlns:ct="http://schemas.microsoft.com/office/2006/metadata/contentType" xmlns:ma="http://schemas.microsoft.com/office/2006/metadata/properties/metaAttributes" ct:_="" ma:_="" ma:contentTypeName="Document" ma:contentTypeID="0x010100B60ADC236C7AC742BB0BFCA0FFECEA3A" ma:contentTypeVersion="0" ma:contentTypeDescription="Create a new document." ma:contentTypeScope="" ma:versionID="6b302963b2d4f2b039b5a5db900d0a6b">
  <xsd:schema xmlns:xsd="http://www.w3.org/2001/XMLSchema" xmlns:xs="http://www.w3.org/2001/XMLSchema" xmlns:p="http://schemas.microsoft.com/office/2006/metadata/properties" targetNamespace="http://schemas.microsoft.com/office/2006/metadata/properties" ma:root="true" ma:fieldsID="1b05d82d297216baf5b26c55225140df">
    <xsd:element name="properties">
      <xsd:complexType>
        <xsd:sequence>
          <xsd:element name="documentManagement">
            <xsd:complexType>
              <xsd:all/>
            </xsd:complexType>
          </xsd:element>
        </xsd:sequence>
      </xsd:complexType>
    </xsd:element>
  </xsd:schema>
  <xsd:schema xmlns="http://schemas.openxmlformats.org/package/2006/metadata/core-properties" xmlns:xsd="http://www.w3.org/2001/XMLSchema" xmlns:xsi="http://www.w3.org/2001/XMLSchema-instance" xmlns:dc="http://purl.org/dc/elements/1.1/" xmlns:dcterms="http://purl.org/dc/terms/" xmlns:odoc="http://schemas.microsoft.com/internal/obd" targetNamespace="http://schemas.openxmlformats.org/package/2006/metadata/core-properties" elementFormDefault="qualified" attributeFormDefault="unqualified" blockDefault="#all">
    <xsd:import namespace="http://purl.org/dc/elements/1.1/" schemaLocation="http://dublincore.org/schemas/xmls/qdc/2003/04/02/dc.xsd"/>
    <xsd:import namespace="http://purl.org/dc/terms/" schemaLocation="http://dublincore.org/schemas/xmls/qdc/2003/04/02/dcterms.xsd"/>
    <xsd:element name="coreProperties" type="CT_coreProperties"/>
    <xsd:complexType name="CT_coreProperties">
      <xsd:all>
        <xsd:element ref="dc:creator" minOccurs="0" maxOccurs="1"/>
        <xsd:element ref="dcterms:created" minOccurs="0" maxOccurs="1"/>
        <xsd:element ref="dc:identifier" minOccurs="0" maxOccurs="1"/>
        <xsd:element name="contentType" minOccurs="0" maxOccurs="1" type="xsd:string" ma:index="0" ma:displayName="Content Type"/>
        <xsd:element ref="dc:title" minOccurs="0" maxOccurs="1" ma:index="4" ma:displayName="Title"/>
        <xsd:element ref="dc:subject" minOccurs="0" maxOccurs="1"/>
        <xsd:element ref="dc:description" minOccurs="0" maxOccurs="1"/>
        <xsd:element name="keywords" minOccurs="0" maxOccurs="1" type="xsd:string"/>
        <xsd:element ref="dc:language" minOccurs="0" maxOccurs="1"/>
        <xsd:element name="category" minOccurs="0" maxOccurs="1" type="xsd:string"/>
        <xsd:element name="version" minOccurs="0" maxOccurs="1" type="xsd:string"/>
        <xsd:element name="revision" minOccurs="0" maxOccurs="1" type="xsd:string">
          <xsd:annotation>
            <xsd:documentation>
                        This value indicates the number of saves or revisions. The application is responsible for updating this value after each revision.
                    </xsd:documentation>
          </xsd:annotation>
        </xsd:element>
        <xsd:element name="lastModifiedBy" minOccurs="0" maxOccurs="1" type="xsd:string"/>
        <xsd:element ref="dcterms:modified" minOccurs="0" maxOccurs="1"/>
        <xsd:element name="contentStatus" minOccurs="0" maxOccurs="1" type="xsd:string"/>
      </xsd:all>
    </xsd:complexType>
  </xsd:schema>
  <xs:schema xmlns:pc="http://schemas.microsoft.com/office/infopath/2007/PartnerControls" xmlns:xs="http://www.w3.org/2001/XMLSchema" targetNamespace="http://schemas.microsoft.com/office/infopath/2007/PartnerControls" elementFormDefault="qualified" attributeFormDefault="unqualified">
    <xs:element name="Person">
      <xs:complexType>
        <xs:sequence>
          <xs:element ref="pc:DisplayName" minOccurs="0"/>
          <xs:element ref="pc:AccountId" minOccurs="0"/>
          <xs:element ref="pc:AccountType" minOccurs="0"/>
        </xs:sequence>
      </xs:complexType>
    </xs:element>
    <xs:element name="DisplayName" type="xs:string"/>
    <xs:element name="AccountId" type="xs:string"/>
    <xs:element name="AccountType" type="xs:string"/>
    <xs:element name="BDCAssociatedEntity">
      <xs:complexType>
        <xs:sequence>
          <xs:element ref="pc:BDCEntity" minOccurs="0" maxOccurs="unbounded"/>
        </xs:sequence>
        <xs:attribute ref="pc:EntityNamespace"/>
        <xs:attribute ref="pc:EntityName"/>
        <xs:attribute ref="pc:SystemInstanceName"/>
        <xs:attribute ref="pc:AssociationName"/>
      </xs:complexType>
    </xs:element>
    <xs:attribute name="EntityNamespace" type="xs:string"/>
    <xs:attribute name="EntityName" type="xs:string"/>
    <xs:attribute name="SystemInstanceName" type="xs:string"/>
    <xs:attribute name="AssociationName" type="xs:string"/>
    <xs:element name="BDCEntity">
      <xs:complexType>
        <xs:sequence>
          <xs:element ref="pc:EntityDisplayName" minOccurs="0"/>
          <xs:element ref="pc:EntityInstanceReference" minOccurs="0"/>
          <xs:element ref="pc:EntityId1" minOccurs="0"/>
          <xs:element ref="pc:EntityId2" minOccurs="0"/>
          <xs:element ref="pc:EntityId3" minOccurs="0"/>
          <xs:element ref="pc:EntityId4" minOccurs="0"/>
          <xs:element ref="pc:EntityId5" minOccurs="0"/>
        </xs:sequence>
      </xs:complexType>
    </xs:element>
    <xs:element name="EntityDisplayName" type="xs:string"/>
    <xs:element name="EntityInstanceReference" type="xs:string"/>
    <xs:element name="EntityId1" type="xs:string"/>
    <xs:element name="EntityId2" type="xs:string"/>
    <xs:element name="EntityId3" type="xs:string"/>
    <xs:element name="EntityId4" type="xs:string"/>
    <xs:element name="EntityId5" type="xs:string"/>
    <xs:element name="Terms">
      <xs:complexType>
        <xs:sequence>
          <xs:element ref="pc:TermInfo" minOccurs="0" maxOccurs="unbounded"/>
        </xs:sequence>
      </xs:complexType>
    </xs:element>
    <xs:element name="TermInfo">
      <xs:complexType>
        <xs:sequence>
          <xs:element ref="pc:TermName" minOccurs="0"/>
          <xs:element ref="pc:TermId" minOccurs="0"/>
        </xs:sequence>
      </xs:complexType>
    </xs:element>
    <xs:element name="TermName" type="xs:string"/>
    <xs:element name="TermId" type="xs:string"/>
  </xs:schema>
</ct:contentTypeSchema>
</file>

<file path=customXml/item3.xml><?xml version="1.0" encoding="utf-8"?>
<?mso-contentType ?>
<FormTemplates xmlns="http://schemas.microsoft.com/sharepoint/v3/contenttype/forms">
  <Display>DocumentLibraryForm</Display>
  <Edit>DocumentLibraryForm</Edit>
  <New>DocumentLibraryForm</New>
</FormTemplates>
</file>

<file path=customXml/itemProps1.xml><?xml version="1.0" encoding="utf-8"?>
<ds:datastoreItem xmlns:ds="http://schemas.openxmlformats.org/officeDocument/2006/customXml" ds:itemID="{74916671-0E7D-4594-8037-60C70BF44351}">
  <ds:schemaRefs>
    <ds:schemaRef ds:uri="http://schemas.microsoft.com/office/2006/metadata/properties"/>
    <ds:schemaRef ds:uri="http://purl.org/dc/dcmitype/"/>
    <ds:schemaRef ds:uri="http://www.w3.org/XML/1998/namespace"/>
    <ds:schemaRef ds:uri="http://schemas.microsoft.com/office/2006/documentManagement/types"/>
    <ds:schemaRef ds:uri="http://schemas.microsoft.com/office/infopath/2007/PartnerControls"/>
    <ds:schemaRef ds:uri="http://purl.org/dc/elements/1.1/"/>
    <ds:schemaRef ds:uri="http://schemas.openxmlformats.org/package/2006/metadata/core-properties"/>
    <ds:schemaRef ds:uri="http://purl.org/dc/terms/"/>
  </ds:schemaRefs>
</ds:datastoreItem>
</file>

<file path=customXml/itemProps2.xml><?xml version="1.0" encoding="utf-8"?>
<ds:datastoreItem xmlns:ds="http://schemas.openxmlformats.org/officeDocument/2006/customXml" ds:itemID="{5A6C91B7-41B2-43A3-A2C0-738920E68A3E}">
  <ds:schemaRefs>
    <ds:schemaRef ds:uri="http://schemas.microsoft.com/office/2006/metadata/contentType"/>
    <ds:schemaRef ds:uri="http://schemas.microsoft.com/office/2006/metadata/properties/metaAttributes"/>
    <ds:schemaRef ds:uri="http://www.w3.org/2001/XMLSchema"/>
    <ds:schemaRef ds:uri="http://schemas.microsoft.com/office/2006/metadata/properties"/>
    <ds:schemaRef ds:uri="http://schemas.openxmlformats.org/package/2006/metadata/core-properties"/>
    <ds:schemaRef ds:uri="http://purl.org/dc/elements/1.1/"/>
    <ds:schemaRef ds:uri="http://purl.org/dc/terms/"/>
    <ds:schemaRef ds:uri="http://schemas.microsoft.com/internal/obd"/>
    <ds:schemaRef ds:uri="http://schemas.microsoft.com/office/infopath/2007/PartnerControls"/>
  </ds:schemaRefs>
</ds:datastoreItem>
</file>

<file path=customXml/itemProps3.xml><?xml version="1.0" encoding="utf-8"?>
<ds:datastoreItem xmlns:ds="http://schemas.openxmlformats.org/officeDocument/2006/customXml" ds:itemID="{F9AE24FE-195A-4977-9740-21B0E7B6E428}">
  <ds:schemaRefs>
    <ds:schemaRef ds:uri="http://schemas.microsoft.com/sharepoint/v3/contenttype/forms"/>
  </ds:schemaRefs>
</ds:datastoreItem>
</file>

<file path=docProps/app.xml><?xml version="1.0" encoding="utf-8"?>
<Properties xmlns="http://schemas.openxmlformats.org/officeDocument/2006/extended-properties" xmlns:vt="http://schemas.openxmlformats.org/officeDocument/2006/docPropsVTypes">
  <Template>REVA REVISED PPT TEMPLATE</Template>
  <TotalTime>10094</TotalTime>
  <Words>15081</Words>
  <Application>Microsoft Office PowerPoint</Application>
  <PresentationFormat>Widescreen</PresentationFormat>
  <Paragraphs>1686</Paragraphs>
  <Slides>173</Slides>
  <Notes>3</Notes>
  <HiddenSlides>7</HiddenSlides>
  <MMClips>0</MMClips>
  <ScaleCrop>false</ScaleCrop>
  <HeadingPairs>
    <vt:vector size="8" baseType="variant">
      <vt:variant>
        <vt:lpstr>Fonts Used</vt:lpstr>
      </vt:variant>
      <vt:variant>
        <vt:i4>16</vt:i4>
      </vt:variant>
      <vt:variant>
        <vt:lpstr>Theme</vt:lpstr>
      </vt:variant>
      <vt:variant>
        <vt:i4>9</vt:i4>
      </vt:variant>
      <vt:variant>
        <vt:lpstr>Embedded OLE Servers</vt:lpstr>
      </vt:variant>
      <vt:variant>
        <vt:i4>1</vt:i4>
      </vt:variant>
      <vt:variant>
        <vt:lpstr>Slide Titles</vt:lpstr>
      </vt:variant>
      <vt:variant>
        <vt:i4>173</vt:i4>
      </vt:variant>
    </vt:vector>
  </HeadingPairs>
  <TitlesOfParts>
    <vt:vector size="199" baseType="lpstr">
      <vt:lpstr>Aptos</vt:lpstr>
      <vt:lpstr>Aptos Narrow</vt:lpstr>
      <vt:lpstr>Arial</vt:lpstr>
      <vt:lpstr>Arial Unicode MS</vt:lpstr>
      <vt:lpstr>Calibri</vt:lpstr>
      <vt:lpstr>Courier New</vt:lpstr>
      <vt:lpstr>JetBrains Sans</vt:lpstr>
      <vt:lpstr>Montserrat</vt:lpstr>
      <vt:lpstr>Nobel-Book</vt:lpstr>
      <vt:lpstr>Nunito</vt:lpstr>
      <vt:lpstr>Roboto Medium</vt:lpstr>
      <vt:lpstr>Source Sans 3</vt:lpstr>
      <vt:lpstr>Symbol</vt:lpstr>
      <vt:lpstr>Times New Roman</vt:lpstr>
      <vt:lpstr>urw-din</vt:lpstr>
      <vt:lpstr>Wingdings</vt:lpstr>
      <vt:lpstr>REVA Powerpoint Template - NEW</vt:lpstr>
      <vt:lpstr>Agenda</vt:lpstr>
      <vt:lpstr>Divider</vt:lpstr>
      <vt:lpstr>Media / Video Slide</vt:lpstr>
      <vt:lpstr>Copy Slides</vt:lpstr>
      <vt:lpstr>Copy and Image</vt:lpstr>
      <vt:lpstr>Table &amp; Graphs Slide</vt:lpstr>
      <vt:lpstr>Flow Slides</vt:lpstr>
      <vt:lpstr>Thank You </vt:lpstr>
      <vt:lpstr>Worksheet</vt:lpstr>
      <vt:lpstr>RELATIONAL DATABASE MANAGEMENT SYSTEM  Course Code:M23DE0103</vt:lpstr>
      <vt:lpstr>UNIT 1</vt:lpstr>
      <vt:lpstr>PowerPoint Presentation</vt:lpstr>
      <vt:lpstr>Samples of database- overview</vt:lpstr>
      <vt:lpstr>definitions</vt:lpstr>
      <vt:lpstr>Definition</vt:lpstr>
      <vt:lpstr>DBMS - AN INTRODUCTION</vt:lpstr>
      <vt:lpstr>FUNCTIONS OF DBMS</vt:lpstr>
      <vt:lpstr>Features of DBMS</vt:lpstr>
      <vt:lpstr>Simplified database system environment</vt:lpstr>
      <vt:lpstr>Simplified database system environment</vt:lpstr>
      <vt:lpstr>Main Characteristics of the Database Approach</vt:lpstr>
      <vt:lpstr>Main Characteristics of the Database Approach</vt:lpstr>
      <vt:lpstr>Main Characteristics of the Database Approach</vt:lpstr>
      <vt:lpstr>Main Characteristics of the Database Approach</vt:lpstr>
      <vt:lpstr>Advantages of Using the Database Approach</vt:lpstr>
      <vt:lpstr>Database Users</vt:lpstr>
      <vt:lpstr>Database Users</vt:lpstr>
      <vt:lpstr>Database Users</vt:lpstr>
      <vt:lpstr>Database Users</vt:lpstr>
      <vt:lpstr>Database Users</vt:lpstr>
      <vt:lpstr>Database Users</vt:lpstr>
      <vt:lpstr>Database Users</vt:lpstr>
      <vt:lpstr>Difference between File System and DBMS </vt:lpstr>
      <vt:lpstr>Difference between File System and DBMS </vt:lpstr>
      <vt:lpstr>Difference between File System and DBMS</vt:lpstr>
      <vt:lpstr> DATABASE APPLICATIONS </vt:lpstr>
      <vt:lpstr>DBMS Architecture </vt:lpstr>
      <vt:lpstr>1-Tier Architecture </vt:lpstr>
      <vt:lpstr>1-Tier Architecture </vt:lpstr>
      <vt:lpstr>2-Tier Architecture </vt:lpstr>
      <vt:lpstr>2-Tier Architecture </vt:lpstr>
      <vt:lpstr>2-Tier Architecture </vt:lpstr>
      <vt:lpstr>3-Tier Architecture </vt:lpstr>
      <vt:lpstr>3-Tier Architecture </vt:lpstr>
      <vt:lpstr>3-Tier Architecture </vt:lpstr>
      <vt:lpstr>Key Differences Between Architectures: </vt:lpstr>
      <vt:lpstr>Interfaces in DBMS </vt:lpstr>
      <vt:lpstr>Interfaces in DBMS-Types </vt:lpstr>
      <vt:lpstr>Interfaces in DBMS-Types</vt:lpstr>
      <vt:lpstr>Interfaces in DBMS-Types</vt:lpstr>
      <vt:lpstr>Interfaces in DBMS-Types</vt:lpstr>
      <vt:lpstr>database languages</vt:lpstr>
      <vt:lpstr>1. Data-Definition Language (DDL):</vt:lpstr>
      <vt:lpstr>Data-Definition Language (DDL):</vt:lpstr>
      <vt:lpstr>Data-Definition Language (DDL):</vt:lpstr>
      <vt:lpstr>Data-Definition Language (DDL):</vt:lpstr>
      <vt:lpstr>Data-Definition Language (DDL):</vt:lpstr>
      <vt:lpstr>Data-Definition Language (DDL):</vt:lpstr>
      <vt:lpstr>Data-Definition Language (DDL):</vt:lpstr>
      <vt:lpstr>Data-Definition Language (DDL):</vt:lpstr>
      <vt:lpstr>2. DML (Data Manipulation Language)</vt:lpstr>
      <vt:lpstr>2. DML (Data Manipulation Language)</vt:lpstr>
      <vt:lpstr>Data manipulation language</vt:lpstr>
      <vt:lpstr>database languages</vt:lpstr>
      <vt:lpstr>database languages</vt:lpstr>
      <vt:lpstr>Three schema Architecture </vt:lpstr>
      <vt:lpstr>Three schema Architecture </vt:lpstr>
      <vt:lpstr>Three schema Architecture </vt:lpstr>
      <vt:lpstr>Three schema Architecture </vt:lpstr>
      <vt:lpstr>Three schema Architecture </vt:lpstr>
      <vt:lpstr>Objectives of Three schema Architecture </vt:lpstr>
      <vt:lpstr>Mapping between Views </vt:lpstr>
      <vt:lpstr>Mapping between Views </vt:lpstr>
      <vt:lpstr>Data Models</vt:lpstr>
      <vt:lpstr>1.Conceptual Data Model</vt:lpstr>
      <vt:lpstr>2. Logical Data Model</vt:lpstr>
      <vt:lpstr>2. Logical Data Model</vt:lpstr>
      <vt:lpstr>3. Physical Data Model</vt:lpstr>
      <vt:lpstr>3. Physical Data Model</vt:lpstr>
      <vt:lpstr>4. Hierarchical Data Model</vt:lpstr>
      <vt:lpstr>4. Hierarchical Data Model</vt:lpstr>
      <vt:lpstr>5. Entity-Relationship (ER) Model</vt:lpstr>
      <vt:lpstr>Entity Relationship Model( E-R Model)</vt:lpstr>
      <vt:lpstr>Network Database Model</vt:lpstr>
      <vt:lpstr> Relational Model</vt:lpstr>
      <vt:lpstr>Advantages of database system</vt:lpstr>
      <vt:lpstr>Object Model</vt:lpstr>
      <vt:lpstr>Schema in RDBMS</vt:lpstr>
      <vt:lpstr>Schema in RDBMS</vt:lpstr>
      <vt:lpstr>schema  </vt:lpstr>
      <vt:lpstr>schema  </vt:lpstr>
      <vt:lpstr>Types of Schema </vt:lpstr>
      <vt:lpstr>Instance </vt:lpstr>
      <vt:lpstr>Practical Use Cases of CRUD:  </vt:lpstr>
      <vt:lpstr>Instances in RDBMS</vt:lpstr>
      <vt:lpstr>Instances in RDBMS</vt:lpstr>
      <vt:lpstr> Database States</vt:lpstr>
      <vt:lpstr> Schema,instance AND state</vt:lpstr>
      <vt:lpstr>Difference Between Schema and Instance in DBMS </vt:lpstr>
      <vt:lpstr>Data Independence </vt:lpstr>
      <vt:lpstr>1. Logical Data Independence </vt:lpstr>
      <vt:lpstr>1. Logical Data Independence </vt:lpstr>
      <vt:lpstr>2. Physical Data Independence </vt:lpstr>
      <vt:lpstr>2. Physical Data Independence </vt:lpstr>
      <vt:lpstr>Components MODULES of a dbms and their interactions(database system environment) </vt:lpstr>
      <vt:lpstr>database system environment </vt:lpstr>
      <vt:lpstr>database system environment :  </vt:lpstr>
      <vt:lpstr>database system environment </vt:lpstr>
      <vt:lpstr>Database System Utilities </vt:lpstr>
      <vt:lpstr>CLIENT SERVER ARCHITECTURE </vt:lpstr>
      <vt:lpstr>CLIENT SERVER ARCHITECTURE </vt:lpstr>
      <vt:lpstr>CLIENT SERVER ARCHITECTURE </vt:lpstr>
      <vt:lpstr>Types of Client-Server Architecture </vt:lpstr>
      <vt:lpstr>Types of Client-Server Architecture </vt:lpstr>
      <vt:lpstr>Advantages of Client-Server Architecture  </vt:lpstr>
      <vt:lpstr>Relational Databases Introduction</vt:lpstr>
      <vt:lpstr>Relational Model in DBMS</vt:lpstr>
      <vt:lpstr>Relational Model Terminologies:</vt:lpstr>
      <vt:lpstr>Relational Model Terminologies:</vt:lpstr>
      <vt:lpstr>Relational Model Terminologies:</vt:lpstr>
      <vt:lpstr>Relational Database: Example </vt:lpstr>
      <vt:lpstr>Introduction to Database Design</vt:lpstr>
      <vt:lpstr>Database Design  example: a University</vt:lpstr>
      <vt:lpstr>Example continued..</vt:lpstr>
      <vt:lpstr>Example – University Database Schema </vt:lpstr>
      <vt:lpstr>Schema of the university database</vt:lpstr>
      <vt:lpstr>Schema of the university database CONTINUED..</vt:lpstr>
      <vt:lpstr>Relational Query Languages</vt:lpstr>
      <vt:lpstr>Relational Operations</vt:lpstr>
      <vt:lpstr>Relational Operations continued..</vt:lpstr>
      <vt:lpstr>Relational algebra operations</vt:lpstr>
      <vt:lpstr>Relational algebra operations continued..</vt:lpstr>
      <vt:lpstr>Relational algebra operations continued..</vt:lpstr>
      <vt:lpstr>Relational algebra operations continued..</vt:lpstr>
      <vt:lpstr>Relational algebra operations continued..</vt:lpstr>
      <vt:lpstr>Relational algebra operations continued..</vt:lpstr>
      <vt:lpstr>Relational algebra operations continued..</vt:lpstr>
      <vt:lpstr>Relational algebra operations continued..</vt:lpstr>
      <vt:lpstr>Relational algebra operations continued..</vt:lpstr>
      <vt:lpstr>Relational algebra operations continued..</vt:lpstr>
      <vt:lpstr>Relational algebra operations continued..</vt:lpstr>
      <vt:lpstr>Relational algebra operations continued..</vt:lpstr>
      <vt:lpstr>Relational algebra operations continued..</vt:lpstr>
      <vt:lpstr>Relational algebra operations continued..</vt:lpstr>
      <vt:lpstr>Relational algebra Operations continued..</vt:lpstr>
      <vt:lpstr>Relational algebra operations continued..</vt:lpstr>
      <vt:lpstr>Relational algebra operations continued..</vt:lpstr>
      <vt:lpstr>Relational algebra operations continued..</vt:lpstr>
      <vt:lpstr>Relational algebra operations continued..</vt:lpstr>
      <vt:lpstr>Relational algebra operations continued..</vt:lpstr>
      <vt:lpstr>1. Domain constraints </vt:lpstr>
      <vt:lpstr>Entity integrity constraints </vt:lpstr>
      <vt:lpstr>Referential Integrity Constraints </vt:lpstr>
      <vt:lpstr>Key constraints </vt:lpstr>
      <vt:lpstr>Centralized and Client-Server Architectures  </vt:lpstr>
      <vt:lpstr>Centralized and Client-Server Architectures  </vt:lpstr>
      <vt:lpstr>Centralized and Client-Server Architectures  </vt:lpstr>
      <vt:lpstr>Centralized and Client-Server Architectures  </vt:lpstr>
      <vt:lpstr>Centralized and Client-Server Architectures  </vt:lpstr>
      <vt:lpstr>Classification of DBMS  </vt:lpstr>
      <vt:lpstr>Classification of DBMS  </vt:lpstr>
      <vt:lpstr>Classification of DBMS  </vt:lpstr>
      <vt:lpstr>Classification of DBMS  </vt:lpstr>
      <vt:lpstr>Classification of DBMS  </vt:lpstr>
      <vt:lpstr>Classification of DBMS  </vt:lpstr>
      <vt:lpstr>3. Classification Based on User Count  </vt:lpstr>
      <vt:lpstr>4. Classification Based on Usage  </vt:lpstr>
      <vt:lpstr>4. Classification Based on Usage  </vt:lpstr>
      <vt:lpstr>4. Classification Based on Usage  </vt:lpstr>
      <vt:lpstr>4. Classification Based on Usage  </vt:lpstr>
      <vt:lpstr>4. Classification Based on Usage  </vt:lpstr>
      <vt:lpstr>4. Classification Based on Usage  </vt:lpstr>
      <vt:lpstr>4. Classification Based on Usage  </vt:lpstr>
      <vt:lpstr>Difference Between OLAP and OLTP   </vt:lpstr>
      <vt:lpstr>Difference Between OLAP and OLTP   </vt:lpstr>
      <vt:lpstr>    Constraints on Relational Database Model    </vt:lpstr>
      <vt:lpstr>    Constraints on Relational Database Model    </vt:lpstr>
      <vt:lpstr>  1.Domain constraints  </vt:lpstr>
      <vt:lpstr>2. Key Constraints or Uniqueness Constraints </vt:lpstr>
      <vt:lpstr>3. Entity Integrity Constraints </vt:lpstr>
      <vt:lpstr>4. Referential Integrity Constraints </vt:lpstr>
      <vt:lpstr> </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RELATIONAL DATABASE MANAGEMENT SYSTEM  Course Code: B20CA3040</dc:title>
  <dc:creator>Shuaib</dc:creator>
  <cp:lastModifiedBy>Nagaraj C</cp:lastModifiedBy>
  <cp:revision>162</cp:revision>
  <cp:lastPrinted>2018-09-28T07:11:06Z</cp:lastPrinted>
  <dcterms:created xsi:type="dcterms:W3CDTF">2022-09-13T06:54:20Z</dcterms:created>
  <dcterms:modified xsi:type="dcterms:W3CDTF">2025-01-24T07:19:28Z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ContentTypeId">
    <vt:lpwstr>0x010100B60ADC236C7AC742BB0BFCA0FFECEA3A</vt:lpwstr>
  </property>
</Properties>
</file>